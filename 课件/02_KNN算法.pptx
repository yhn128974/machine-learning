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3.svg" ContentType="image/svg+xml"/>
  <Override PartName="/ppt/media/image5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74" r:id="rId8"/>
  </p:sldMasterIdLst>
  <p:notesMasterIdLst>
    <p:notesMasterId r:id="rId13"/>
  </p:notesMasterIdLst>
  <p:handoutMasterIdLst>
    <p:handoutMasterId r:id="rId62"/>
  </p:handoutMasterIdLst>
  <p:sldIdLst>
    <p:sldId id="1224" r:id="rId9"/>
    <p:sldId id="463" r:id="rId10"/>
    <p:sldId id="464" r:id="rId11"/>
    <p:sldId id="554" r:id="rId12"/>
    <p:sldId id="1127" r:id="rId14"/>
    <p:sldId id="1128" r:id="rId15"/>
    <p:sldId id="1143" r:id="rId16"/>
    <p:sldId id="1129" r:id="rId17"/>
    <p:sldId id="1190" r:id="rId18"/>
    <p:sldId id="1193" r:id="rId19"/>
    <p:sldId id="1189" r:id="rId20"/>
    <p:sldId id="1174" r:id="rId21"/>
    <p:sldId id="1204" r:id="rId22"/>
    <p:sldId id="461" r:id="rId23"/>
    <p:sldId id="1131" r:id="rId24"/>
    <p:sldId id="1191" r:id="rId25"/>
    <p:sldId id="1175" r:id="rId26"/>
    <p:sldId id="1205" r:id="rId27"/>
    <p:sldId id="1133" r:id="rId28"/>
    <p:sldId id="1134" r:id="rId29"/>
    <p:sldId id="1135" r:id="rId30"/>
    <p:sldId id="1136" r:id="rId31"/>
    <p:sldId id="1192" r:id="rId32"/>
    <p:sldId id="1177" r:id="rId33"/>
    <p:sldId id="1207" r:id="rId34"/>
    <p:sldId id="1157" r:id="rId35"/>
    <p:sldId id="1158" r:id="rId36"/>
    <p:sldId id="1159" r:id="rId37"/>
    <p:sldId id="1161" r:id="rId38"/>
    <p:sldId id="1162" r:id="rId39"/>
    <p:sldId id="1172" r:id="rId40"/>
    <p:sldId id="1200" r:id="rId41"/>
    <p:sldId id="1164" r:id="rId42"/>
    <p:sldId id="1165" r:id="rId43"/>
    <p:sldId id="1166" r:id="rId44"/>
    <p:sldId id="1168" r:id="rId45"/>
    <p:sldId id="1170" r:id="rId46"/>
    <p:sldId id="1171" r:id="rId47"/>
    <p:sldId id="1201" r:id="rId48"/>
    <p:sldId id="1178" r:id="rId49"/>
    <p:sldId id="1208" r:id="rId50"/>
    <p:sldId id="1179" r:id="rId51"/>
    <p:sldId id="1180" r:id="rId52"/>
    <p:sldId id="1181" r:id="rId53"/>
    <p:sldId id="1223" r:id="rId54"/>
    <p:sldId id="1202" r:id="rId55"/>
    <p:sldId id="1185" r:id="rId56"/>
    <p:sldId id="1184" r:id="rId57"/>
    <p:sldId id="1186" r:id="rId58"/>
    <p:sldId id="1187" r:id="rId59"/>
    <p:sldId id="1188" r:id="rId60"/>
    <p:sldId id="1225" r:id="rId61"/>
  </p:sldIdLst>
  <p:sldSz cx="12192000" cy="6858000"/>
  <p:notesSz cx="6858000" cy="9144000"/>
  <p:custDataLst>
    <p:tags r:id="rId6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D2A26"/>
    <a:srgbClr val="B60206"/>
    <a:srgbClr val="8A8A8A"/>
    <a:srgbClr val="4C5252"/>
    <a:srgbClr val="F9F9F9"/>
    <a:srgbClr val="48504F"/>
    <a:srgbClr val="AD2B26"/>
    <a:srgbClr val="49504F"/>
    <a:srgbClr val="B70006"/>
    <a:srgbClr val="FFFF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471" autoAdjust="0"/>
    <p:restoredTop sz="92519" autoAdjust="0"/>
  </p:normalViewPr>
  <p:slideViewPr>
    <p:cSldViewPr snapToGrid="0">
      <p:cViewPr varScale="1">
        <p:scale>
          <a:sx n="126" d="100"/>
          <a:sy n="126" d="100"/>
        </p:scale>
        <p:origin x="28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7" d="100"/>
          <a:sy n="97" d="100"/>
        </p:scale>
        <p:origin x="3416" y="19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1.xml"/><Relationship Id="rId8" Type="http://schemas.openxmlformats.org/officeDocument/2006/relationships/slideMaster" Target="slideMasters/slideMaster7.xml"/><Relationship Id="rId7" Type="http://schemas.openxmlformats.org/officeDocument/2006/relationships/slideMaster" Target="slideMasters/slideMaster6.xml"/><Relationship Id="rId66" Type="http://schemas.openxmlformats.org/officeDocument/2006/relationships/tags" Target="tags/tag2.xml"/><Relationship Id="rId65" Type="http://schemas.openxmlformats.org/officeDocument/2006/relationships/tableStyles" Target="tableStyles.xml"/><Relationship Id="rId64" Type="http://schemas.openxmlformats.org/officeDocument/2006/relationships/viewProps" Target="viewProps.xml"/><Relationship Id="rId63" Type="http://schemas.openxmlformats.org/officeDocument/2006/relationships/presProps" Target="presProps.xml"/><Relationship Id="rId62" Type="http://schemas.openxmlformats.org/officeDocument/2006/relationships/handoutMaster" Target="handoutMasters/handoutMaster1.xml"/><Relationship Id="rId61" Type="http://schemas.openxmlformats.org/officeDocument/2006/relationships/slide" Target="slides/slide52.xml"/><Relationship Id="rId60" Type="http://schemas.openxmlformats.org/officeDocument/2006/relationships/slide" Target="slides/slide51.xml"/><Relationship Id="rId6" Type="http://schemas.openxmlformats.org/officeDocument/2006/relationships/slideMaster" Target="slideMasters/slideMaster5.xml"/><Relationship Id="rId59" Type="http://schemas.openxmlformats.org/officeDocument/2006/relationships/slide" Target="slides/slide50.xml"/><Relationship Id="rId58" Type="http://schemas.openxmlformats.org/officeDocument/2006/relationships/slide" Target="slides/slide49.xml"/><Relationship Id="rId57" Type="http://schemas.openxmlformats.org/officeDocument/2006/relationships/slide" Target="slides/slide48.xml"/><Relationship Id="rId56" Type="http://schemas.openxmlformats.org/officeDocument/2006/relationships/slide" Target="slides/slide47.xml"/><Relationship Id="rId55" Type="http://schemas.openxmlformats.org/officeDocument/2006/relationships/slide" Target="slides/slide46.xml"/><Relationship Id="rId54" Type="http://schemas.openxmlformats.org/officeDocument/2006/relationships/slide" Target="slides/slide45.xml"/><Relationship Id="rId53" Type="http://schemas.openxmlformats.org/officeDocument/2006/relationships/slide" Target="slides/slide44.xml"/><Relationship Id="rId52" Type="http://schemas.openxmlformats.org/officeDocument/2006/relationships/slide" Target="slides/slide43.xml"/><Relationship Id="rId51" Type="http://schemas.openxmlformats.org/officeDocument/2006/relationships/slide" Target="slides/slide42.xml"/><Relationship Id="rId50" Type="http://schemas.openxmlformats.org/officeDocument/2006/relationships/slide" Target="slides/slide41.xml"/><Relationship Id="rId5" Type="http://schemas.openxmlformats.org/officeDocument/2006/relationships/slideMaster" Target="slideMasters/slideMaster4.xml"/><Relationship Id="rId49" Type="http://schemas.openxmlformats.org/officeDocument/2006/relationships/slide" Target="slides/slide40.xml"/><Relationship Id="rId48" Type="http://schemas.openxmlformats.org/officeDocument/2006/relationships/slide" Target="slides/slide39.xml"/><Relationship Id="rId47" Type="http://schemas.openxmlformats.org/officeDocument/2006/relationships/slide" Target="slides/slide38.xml"/><Relationship Id="rId46" Type="http://schemas.openxmlformats.org/officeDocument/2006/relationships/slide" Target="slides/slide37.xml"/><Relationship Id="rId45" Type="http://schemas.openxmlformats.org/officeDocument/2006/relationships/slide" Target="slides/slide36.xml"/><Relationship Id="rId44" Type="http://schemas.openxmlformats.org/officeDocument/2006/relationships/slide" Target="slides/slide35.xml"/><Relationship Id="rId43" Type="http://schemas.openxmlformats.org/officeDocument/2006/relationships/slide" Target="slides/slide34.xml"/><Relationship Id="rId42" Type="http://schemas.openxmlformats.org/officeDocument/2006/relationships/slide" Target="slides/slide33.xml"/><Relationship Id="rId41" Type="http://schemas.openxmlformats.org/officeDocument/2006/relationships/slide" Target="slides/slide32.xml"/><Relationship Id="rId40" Type="http://schemas.openxmlformats.org/officeDocument/2006/relationships/slide" Target="slides/slide31.xml"/><Relationship Id="rId4" Type="http://schemas.openxmlformats.org/officeDocument/2006/relationships/slideMaster" Target="slideMasters/slideMaster3.xml"/><Relationship Id="rId39" Type="http://schemas.openxmlformats.org/officeDocument/2006/relationships/slide" Target="slides/slide30.xml"/><Relationship Id="rId38" Type="http://schemas.openxmlformats.org/officeDocument/2006/relationships/slide" Target="slides/slide29.xml"/><Relationship Id="rId37" Type="http://schemas.openxmlformats.org/officeDocument/2006/relationships/slide" Target="slides/slide28.xml"/><Relationship Id="rId36" Type="http://schemas.openxmlformats.org/officeDocument/2006/relationships/slide" Target="slides/slide27.xml"/><Relationship Id="rId35" Type="http://schemas.openxmlformats.org/officeDocument/2006/relationships/slide" Target="slides/slide26.xml"/><Relationship Id="rId34" Type="http://schemas.openxmlformats.org/officeDocument/2006/relationships/slide" Target="slides/slide25.xml"/><Relationship Id="rId33" Type="http://schemas.openxmlformats.org/officeDocument/2006/relationships/slide" Target="slides/slide24.xml"/><Relationship Id="rId32" Type="http://schemas.openxmlformats.org/officeDocument/2006/relationships/slide" Target="slides/slide23.xml"/><Relationship Id="rId31" Type="http://schemas.openxmlformats.org/officeDocument/2006/relationships/slide" Target="slides/slide22.xml"/><Relationship Id="rId30" Type="http://schemas.openxmlformats.org/officeDocument/2006/relationships/slide" Target="slides/slide21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0.xml"/><Relationship Id="rId28" Type="http://schemas.openxmlformats.org/officeDocument/2006/relationships/slide" Target="slides/slide19.xml"/><Relationship Id="rId27" Type="http://schemas.openxmlformats.org/officeDocument/2006/relationships/slide" Target="slides/slide18.xml"/><Relationship Id="rId26" Type="http://schemas.openxmlformats.org/officeDocument/2006/relationships/slide" Target="slides/slide17.xml"/><Relationship Id="rId25" Type="http://schemas.openxmlformats.org/officeDocument/2006/relationships/slide" Target="slides/slide16.xml"/><Relationship Id="rId24" Type="http://schemas.openxmlformats.org/officeDocument/2006/relationships/slide" Target="slides/slide15.xml"/><Relationship Id="rId23" Type="http://schemas.openxmlformats.org/officeDocument/2006/relationships/slide" Target="slides/slide14.xml"/><Relationship Id="rId22" Type="http://schemas.openxmlformats.org/officeDocument/2006/relationships/slide" Target="slides/slide13.xml"/><Relationship Id="rId21" Type="http://schemas.openxmlformats.org/officeDocument/2006/relationships/slide" Target="slides/slide12.xml"/><Relationship Id="rId20" Type="http://schemas.openxmlformats.org/officeDocument/2006/relationships/slide" Target="slides/slide11.xml"/><Relationship Id="rId2" Type="http://schemas.openxmlformats.org/officeDocument/2006/relationships/theme" Target="theme/theme1.xml"/><Relationship Id="rId19" Type="http://schemas.openxmlformats.org/officeDocument/2006/relationships/slide" Target="slides/slide10.xml"/><Relationship Id="rId18" Type="http://schemas.openxmlformats.org/officeDocument/2006/relationships/slide" Target="slides/slide9.xml"/><Relationship Id="rId17" Type="http://schemas.openxmlformats.org/officeDocument/2006/relationships/slide" Target="slides/slide8.xml"/><Relationship Id="rId16" Type="http://schemas.openxmlformats.org/officeDocument/2006/relationships/slide" Target="slides/slide7.xml"/><Relationship Id="rId15" Type="http://schemas.openxmlformats.org/officeDocument/2006/relationships/slide" Target="slides/slide6.xml"/><Relationship Id="rId14" Type="http://schemas.openxmlformats.org/officeDocument/2006/relationships/slide" Target="slides/slide5.xml"/><Relationship Id="rId13" Type="http://schemas.openxmlformats.org/officeDocument/2006/relationships/notesMaster" Target="notesMasters/notesMaster1.xml"/><Relationship Id="rId12" Type="http://schemas.openxmlformats.org/officeDocument/2006/relationships/slide" Target="slides/slide4.xml"/><Relationship Id="rId11" Type="http://schemas.openxmlformats.org/officeDocument/2006/relationships/slide" Target="slides/slide3.xml"/><Relationship Id="rId10" Type="http://schemas.openxmlformats.org/officeDocument/2006/relationships/slide" Target="slides/slide2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18.wmf"/><Relationship Id="rId1" Type="http://schemas.openxmlformats.org/officeDocument/2006/relationships/image" Target="../media/image17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6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3DFD10-C36A-A44C-AC52-E91D9A58CF7E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F0B397-CD8F-1C4C-97BB-ADF18DDD1C00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E7ACF5-0677-4CC5-89ED-AE83D3F5859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C63F50-FC71-46DD-9BDC-11F985EF414C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9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0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</a:pPr>
            <a:r>
              <a:rPr lang="zh-CN" altLang="en-US" sz="1200" dirty="0">
                <a:latin typeface="Roboto" panose="02000000000000000000" pitchFamily="2" charset="0"/>
              </a:rPr>
              <a:t>线性模型是指</a:t>
            </a:r>
            <a:r>
              <a:rPr lang="en-US" altLang="zh-CN" sz="1200" dirty="0">
                <a:latin typeface="Roboto" panose="02000000000000000000" pitchFamily="2" charset="0"/>
              </a:rPr>
              <a:t>h(w)</a:t>
            </a:r>
            <a:r>
              <a:rPr lang="zh-CN" altLang="en-US" sz="1200" dirty="0">
                <a:latin typeface="Roboto" panose="02000000000000000000" pitchFamily="2" charset="0"/>
              </a:rPr>
              <a:t>是关于</a:t>
            </a:r>
            <a:r>
              <a:rPr lang="en-US" altLang="zh-CN" sz="1200" dirty="0">
                <a:latin typeface="Roboto" panose="02000000000000000000" pitchFamily="2" charset="0"/>
              </a:rPr>
              <a:t>w</a:t>
            </a:r>
            <a:r>
              <a:rPr lang="zh-CN" altLang="en-US" sz="1200" dirty="0">
                <a:latin typeface="Roboto" panose="02000000000000000000" pitchFamily="2" charset="0"/>
              </a:rPr>
              <a:t>的函数，权重参数</a:t>
            </a:r>
            <a:r>
              <a:rPr lang="en-US" altLang="zh-CN" sz="1200" dirty="0">
                <a:latin typeface="Roboto" panose="02000000000000000000" pitchFamily="2" charset="0"/>
              </a:rPr>
              <a:t>w1</a:t>
            </a:r>
            <a:r>
              <a:rPr lang="zh-CN" altLang="en-US" sz="1200" dirty="0">
                <a:latin typeface="Roboto" panose="02000000000000000000" pitchFamily="2" charset="0"/>
              </a:rPr>
              <a:t>、</a:t>
            </a:r>
            <a:r>
              <a:rPr lang="en-US" altLang="zh-CN" sz="1200" dirty="0">
                <a:latin typeface="Roboto" panose="02000000000000000000" pitchFamily="2" charset="0"/>
              </a:rPr>
              <a:t>w2</a:t>
            </a:r>
            <a:r>
              <a:rPr lang="zh-CN" altLang="en-US" sz="1200" dirty="0">
                <a:latin typeface="Roboto" panose="02000000000000000000" pitchFamily="2" charset="0"/>
              </a:rPr>
              <a:t>、</a:t>
            </a:r>
            <a:r>
              <a:rPr lang="en-US" altLang="zh-CN" sz="1200" dirty="0">
                <a:latin typeface="Roboto" panose="02000000000000000000" pitchFamily="2" charset="0"/>
              </a:rPr>
              <a:t>w3</a:t>
            </a:r>
            <a:r>
              <a:rPr lang="zh-CN" altLang="en-US" sz="1200" dirty="0">
                <a:latin typeface="Roboto" panose="02000000000000000000" pitchFamily="2" charset="0"/>
              </a:rPr>
              <a:t>是</a:t>
            </a:r>
            <a:r>
              <a:rPr lang="en-US" altLang="zh-CN" sz="1200" dirty="0">
                <a:solidFill>
                  <a:srgbClr val="C00000"/>
                </a:solidFill>
                <a:latin typeface="Roboto" panose="02000000000000000000" pitchFamily="2" charset="0"/>
              </a:rPr>
              <a:t>1</a:t>
            </a:r>
            <a:r>
              <a:rPr lang="zh-CN" altLang="en-US" sz="1200" dirty="0">
                <a:solidFill>
                  <a:srgbClr val="C00000"/>
                </a:solidFill>
                <a:latin typeface="Roboto" panose="02000000000000000000" pitchFamily="2" charset="0"/>
              </a:rPr>
              <a:t>次幂（比如 </a:t>
            </a:r>
            <a:r>
              <a:rPr lang="en-US" altLang="zh-CN" sz="1200" dirty="0">
                <a:solidFill>
                  <a:srgbClr val="C00000"/>
                </a:solidFill>
                <a:latin typeface="Roboto" panose="02000000000000000000" pitchFamily="2" charset="0"/>
              </a:rPr>
              <a:t>0.4</a:t>
            </a:r>
            <a:r>
              <a:rPr lang="zh-CN" altLang="en-US" sz="1200" dirty="0">
                <a:solidFill>
                  <a:srgbClr val="C00000"/>
                </a:solidFill>
                <a:latin typeface="Roboto" panose="02000000000000000000" pitchFamily="2" charset="0"/>
              </a:rPr>
              <a:t> </a:t>
            </a:r>
            <a:r>
              <a:rPr lang="en-US" altLang="zh-CN" sz="1200" dirty="0">
                <a:solidFill>
                  <a:srgbClr val="C00000"/>
                </a:solidFill>
                <a:latin typeface="Roboto" panose="02000000000000000000" pitchFamily="2" charset="0"/>
              </a:rPr>
              <a:t>0.3</a:t>
            </a:r>
            <a:r>
              <a:rPr lang="zh-CN" altLang="en-US" sz="1200" dirty="0">
                <a:solidFill>
                  <a:srgbClr val="C00000"/>
                </a:solidFill>
                <a:latin typeface="Roboto" panose="02000000000000000000" pitchFamily="2" charset="0"/>
              </a:rPr>
              <a:t> </a:t>
            </a:r>
            <a:r>
              <a:rPr lang="en-US" altLang="zh-CN" sz="1200" dirty="0">
                <a:solidFill>
                  <a:srgbClr val="C00000"/>
                </a:solidFill>
                <a:latin typeface="Roboto" panose="02000000000000000000" pitchFamily="2" charset="0"/>
              </a:rPr>
              <a:t>0.2</a:t>
            </a:r>
            <a:r>
              <a:rPr lang="zh-CN" altLang="en-US" sz="1200" dirty="0">
                <a:solidFill>
                  <a:srgbClr val="C00000"/>
                </a:solidFill>
                <a:latin typeface="Roboto" panose="02000000000000000000" pitchFamily="2" charset="0"/>
              </a:rPr>
              <a:t>）</a:t>
            </a:r>
            <a:endParaRPr lang="en-US" altLang="zh-CN" sz="1200" dirty="0">
              <a:latin typeface="Roboto" panose="02000000000000000000" pitchFamily="2" charset="0"/>
            </a:endParaRPr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</a:pPr>
            <a:r>
              <a:rPr lang="zh-CN" altLang="en-US" sz="1200" dirty="0">
                <a:latin typeface="Roboto" panose="02000000000000000000" pitchFamily="2" charset="0"/>
              </a:rPr>
              <a:t>线性模型是指</a:t>
            </a:r>
            <a:r>
              <a:rPr lang="en-US" altLang="zh-CN" sz="1200" dirty="0">
                <a:latin typeface="Roboto" panose="02000000000000000000" pitchFamily="2" charset="0"/>
              </a:rPr>
              <a:t>h(w)</a:t>
            </a:r>
            <a:r>
              <a:rPr lang="zh-CN" altLang="en-US" sz="1200" dirty="0">
                <a:latin typeface="Roboto" panose="02000000000000000000" pitchFamily="2" charset="0"/>
              </a:rPr>
              <a:t>是关于</a:t>
            </a:r>
            <a:r>
              <a:rPr lang="en-US" altLang="zh-CN" sz="1200" dirty="0">
                <a:latin typeface="Roboto" panose="02000000000000000000" pitchFamily="2" charset="0"/>
              </a:rPr>
              <a:t>w</a:t>
            </a:r>
            <a:r>
              <a:rPr lang="zh-CN" altLang="en-US" sz="1200" dirty="0">
                <a:latin typeface="Roboto" panose="02000000000000000000" pitchFamily="2" charset="0"/>
              </a:rPr>
              <a:t>的函数，权重参数</a:t>
            </a:r>
            <a:r>
              <a:rPr lang="en-US" altLang="zh-CN" sz="1200" dirty="0">
                <a:latin typeface="Roboto" panose="02000000000000000000" pitchFamily="2" charset="0"/>
              </a:rPr>
              <a:t>w1</a:t>
            </a:r>
            <a:r>
              <a:rPr lang="zh-CN" altLang="en-US" sz="1200" dirty="0">
                <a:latin typeface="Roboto" panose="02000000000000000000" pitchFamily="2" charset="0"/>
              </a:rPr>
              <a:t>、</a:t>
            </a:r>
            <a:r>
              <a:rPr lang="en-US" altLang="zh-CN" sz="1200" dirty="0">
                <a:latin typeface="Roboto" panose="02000000000000000000" pitchFamily="2" charset="0"/>
              </a:rPr>
              <a:t>w2</a:t>
            </a:r>
            <a:r>
              <a:rPr lang="zh-CN" altLang="en-US" sz="1200" dirty="0">
                <a:latin typeface="Roboto" panose="02000000000000000000" pitchFamily="2" charset="0"/>
              </a:rPr>
              <a:t>、</a:t>
            </a:r>
            <a:r>
              <a:rPr lang="en-US" altLang="zh-CN" sz="1200" dirty="0">
                <a:latin typeface="Roboto" panose="02000000000000000000" pitchFamily="2" charset="0"/>
              </a:rPr>
              <a:t>w3</a:t>
            </a:r>
            <a:r>
              <a:rPr lang="zh-CN" altLang="en-US" sz="1200" dirty="0">
                <a:latin typeface="Roboto" panose="02000000000000000000" pitchFamily="2" charset="0"/>
              </a:rPr>
              <a:t>是</a:t>
            </a:r>
            <a:r>
              <a:rPr lang="en-US" altLang="zh-CN" sz="1200" dirty="0">
                <a:solidFill>
                  <a:srgbClr val="C00000"/>
                </a:solidFill>
                <a:latin typeface="Roboto" panose="02000000000000000000" pitchFamily="2" charset="0"/>
              </a:rPr>
              <a:t>1</a:t>
            </a:r>
            <a:r>
              <a:rPr lang="zh-CN" altLang="en-US" sz="1200" dirty="0">
                <a:solidFill>
                  <a:srgbClr val="C00000"/>
                </a:solidFill>
                <a:latin typeface="Roboto" panose="02000000000000000000" pitchFamily="2" charset="0"/>
              </a:rPr>
              <a:t>次幂（比如 </a:t>
            </a:r>
            <a:r>
              <a:rPr lang="en-US" altLang="zh-CN" sz="1200" dirty="0">
                <a:solidFill>
                  <a:srgbClr val="C00000"/>
                </a:solidFill>
                <a:latin typeface="Roboto" panose="02000000000000000000" pitchFamily="2" charset="0"/>
              </a:rPr>
              <a:t>0.4</a:t>
            </a:r>
            <a:r>
              <a:rPr lang="zh-CN" altLang="en-US" sz="1200" dirty="0">
                <a:solidFill>
                  <a:srgbClr val="C00000"/>
                </a:solidFill>
                <a:latin typeface="Roboto" panose="02000000000000000000" pitchFamily="2" charset="0"/>
              </a:rPr>
              <a:t> </a:t>
            </a:r>
            <a:r>
              <a:rPr lang="en-US" altLang="zh-CN" sz="1200" dirty="0">
                <a:solidFill>
                  <a:srgbClr val="C00000"/>
                </a:solidFill>
                <a:latin typeface="Roboto" panose="02000000000000000000" pitchFamily="2" charset="0"/>
              </a:rPr>
              <a:t>0.3</a:t>
            </a:r>
            <a:r>
              <a:rPr lang="zh-CN" altLang="en-US" sz="1200" dirty="0">
                <a:solidFill>
                  <a:srgbClr val="C00000"/>
                </a:solidFill>
                <a:latin typeface="Roboto" panose="02000000000000000000" pitchFamily="2" charset="0"/>
              </a:rPr>
              <a:t> </a:t>
            </a:r>
            <a:r>
              <a:rPr lang="en-US" altLang="zh-CN" sz="1200" dirty="0">
                <a:solidFill>
                  <a:srgbClr val="C00000"/>
                </a:solidFill>
                <a:latin typeface="Roboto" panose="02000000000000000000" pitchFamily="2" charset="0"/>
              </a:rPr>
              <a:t>0.2</a:t>
            </a:r>
            <a:r>
              <a:rPr lang="zh-CN" altLang="en-US" sz="1200" dirty="0">
                <a:solidFill>
                  <a:srgbClr val="C00000"/>
                </a:solidFill>
                <a:latin typeface="Roboto" panose="02000000000000000000" pitchFamily="2" charset="0"/>
              </a:rPr>
              <a:t>）</a:t>
            </a:r>
            <a:endParaRPr lang="en-US" altLang="zh-CN" sz="1200" dirty="0">
              <a:latin typeface="Roboto" panose="02000000000000000000" pitchFamily="2" charset="0"/>
            </a:endParaRPr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</a:pPr>
            <a:r>
              <a:rPr lang="zh-CN" altLang="en-US" sz="1200" dirty="0">
                <a:latin typeface="Roboto" panose="02000000000000000000" pitchFamily="2" charset="0"/>
              </a:rPr>
              <a:t>线性模型是指</a:t>
            </a:r>
            <a:r>
              <a:rPr lang="en-US" altLang="zh-CN" sz="1200" dirty="0">
                <a:latin typeface="Roboto" panose="02000000000000000000" pitchFamily="2" charset="0"/>
              </a:rPr>
              <a:t>h(w)</a:t>
            </a:r>
            <a:r>
              <a:rPr lang="zh-CN" altLang="en-US" sz="1200" dirty="0">
                <a:latin typeface="Roboto" panose="02000000000000000000" pitchFamily="2" charset="0"/>
              </a:rPr>
              <a:t>是关于</a:t>
            </a:r>
            <a:r>
              <a:rPr lang="en-US" altLang="zh-CN" sz="1200" dirty="0">
                <a:latin typeface="Roboto" panose="02000000000000000000" pitchFamily="2" charset="0"/>
              </a:rPr>
              <a:t>w</a:t>
            </a:r>
            <a:r>
              <a:rPr lang="zh-CN" altLang="en-US" sz="1200" dirty="0">
                <a:latin typeface="Roboto" panose="02000000000000000000" pitchFamily="2" charset="0"/>
              </a:rPr>
              <a:t>的函数，权重参数</a:t>
            </a:r>
            <a:r>
              <a:rPr lang="en-US" altLang="zh-CN" sz="1200" dirty="0">
                <a:latin typeface="Roboto" panose="02000000000000000000" pitchFamily="2" charset="0"/>
              </a:rPr>
              <a:t>w1</a:t>
            </a:r>
            <a:r>
              <a:rPr lang="zh-CN" altLang="en-US" sz="1200" dirty="0">
                <a:latin typeface="Roboto" panose="02000000000000000000" pitchFamily="2" charset="0"/>
              </a:rPr>
              <a:t>、</a:t>
            </a:r>
            <a:r>
              <a:rPr lang="en-US" altLang="zh-CN" sz="1200" dirty="0">
                <a:latin typeface="Roboto" panose="02000000000000000000" pitchFamily="2" charset="0"/>
              </a:rPr>
              <a:t>w2</a:t>
            </a:r>
            <a:r>
              <a:rPr lang="zh-CN" altLang="en-US" sz="1200" dirty="0">
                <a:latin typeface="Roboto" panose="02000000000000000000" pitchFamily="2" charset="0"/>
              </a:rPr>
              <a:t>、</a:t>
            </a:r>
            <a:r>
              <a:rPr lang="en-US" altLang="zh-CN" sz="1200" dirty="0">
                <a:latin typeface="Roboto" panose="02000000000000000000" pitchFamily="2" charset="0"/>
              </a:rPr>
              <a:t>w3</a:t>
            </a:r>
            <a:r>
              <a:rPr lang="zh-CN" altLang="en-US" sz="1200" dirty="0">
                <a:latin typeface="Roboto" panose="02000000000000000000" pitchFamily="2" charset="0"/>
              </a:rPr>
              <a:t>是</a:t>
            </a:r>
            <a:r>
              <a:rPr lang="en-US" altLang="zh-CN" sz="1200" dirty="0">
                <a:solidFill>
                  <a:srgbClr val="C00000"/>
                </a:solidFill>
                <a:latin typeface="Roboto" panose="02000000000000000000" pitchFamily="2" charset="0"/>
              </a:rPr>
              <a:t>1</a:t>
            </a:r>
            <a:r>
              <a:rPr lang="zh-CN" altLang="en-US" sz="1200" dirty="0">
                <a:solidFill>
                  <a:srgbClr val="C00000"/>
                </a:solidFill>
                <a:latin typeface="Roboto" panose="02000000000000000000" pitchFamily="2" charset="0"/>
              </a:rPr>
              <a:t>次幂（比如 </a:t>
            </a:r>
            <a:r>
              <a:rPr lang="en-US" altLang="zh-CN" sz="1200" dirty="0">
                <a:solidFill>
                  <a:srgbClr val="C00000"/>
                </a:solidFill>
                <a:latin typeface="Roboto" panose="02000000000000000000" pitchFamily="2" charset="0"/>
              </a:rPr>
              <a:t>0.4</a:t>
            </a:r>
            <a:r>
              <a:rPr lang="zh-CN" altLang="en-US" sz="1200" dirty="0">
                <a:solidFill>
                  <a:srgbClr val="C00000"/>
                </a:solidFill>
                <a:latin typeface="Roboto" panose="02000000000000000000" pitchFamily="2" charset="0"/>
              </a:rPr>
              <a:t> </a:t>
            </a:r>
            <a:r>
              <a:rPr lang="en-US" altLang="zh-CN" sz="1200" dirty="0">
                <a:solidFill>
                  <a:srgbClr val="C00000"/>
                </a:solidFill>
                <a:latin typeface="Roboto" panose="02000000000000000000" pitchFamily="2" charset="0"/>
              </a:rPr>
              <a:t>0.3</a:t>
            </a:r>
            <a:r>
              <a:rPr lang="zh-CN" altLang="en-US" sz="1200" dirty="0">
                <a:solidFill>
                  <a:srgbClr val="C00000"/>
                </a:solidFill>
                <a:latin typeface="Roboto" panose="02000000000000000000" pitchFamily="2" charset="0"/>
              </a:rPr>
              <a:t> </a:t>
            </a:r>
            <a:r>
              <a:rPr lang="en-US" altLang="zh-CN" sz="1200" dirty="0">
                <a:solidFill>
                  <a:srgbClr val="C00000"/>
                </a:solidFill>
                <a:latin typeface="Roboto" panose="02000000000000000000" pitchFamily="2" charset="0"/>
              </a:rPr>
              <a:t>0.2</a:t>
            </a:r>
            <a:r>
              <a:rPr lang="zh-CN" altLang="en-US" sz="1200" dirty="0">
                <a:solidFill>
                  <a:srgbClr val="C00000"/>
                </a:solidFill>
                <a:latin typeface="Roboto" panose="02000000000000000000" pitchFamily="2" charset="0"/>
              </a:rPr>
              <a:t>）</a:t>
            </a:r>
            <a:endParaRPr lang="en-US" altLang="zh-CN" sz="1200" dirty="0">
              <a:latin typeface="Roboto" panose="02000000000000000000" pitchFamily="2" charset="0"/>
            </a:endParaRPr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CC63F50-FC71-46DD-9BDC-11F985EF41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</a:pPr>
            <a:r>
              <a:rPr lang="zh-CN" altLang="en-US" sz="1200" dirty="0">
                <a:latin typeface="Roboto" panose="02000000000000000000" pitchFamily="2" charset="0"/>
              </a:rPr>
              <a:t>线性模型是指</a:t>
            </a:r>
            <a:r>
              <a:rPr lang="en-US" altLang="zh-CN" sz="1200" dirty="0">
                <a:latin typeface="Roboto" panose="02000000000000000000" pitchFamily="2" charset="0"/>
              </a:rPr>
              <a:t>h(w)</a:t>
            </a:r>
            <a:r>
              <a:rPr lang="zh-CN" altLang="en-US" sz="1200" dirty="0">
                <a:latin typeface="Roboto" panose="02000000000000000000" pitchFamily="2" charset="0"/>
              </a:rPr>
              <a:t>是关于</a:t>
            </a:r>
            <a:r>
              <a:rPr lang="en-US" altLang="zh-CN" sz="1200" dirty="0">
                <a:latin typeface="Roboto" panose="02000000000000000000" pitchFamily="2" charset="0"/>
              </a:rPr>
              <a:t>w</a:t>
            </a:r>
            <a:r>
              <a:rPr lang="zh-CN" altLang="en-US" sz="1200" dirty="0">
                <a:latin typeface="Roboto" panose="02000000000000000000" pitchFamily="2" charset="0"/>
              </a:rPr>
              <a:t>的函数，权重参数</a:t>
            </a:r>
            <a:r>
              <a:rPr lang="en-US" altLang="zh-CN" sz="1200" dirty="0">
                <a:latin typeface="Roboto" panose="02000000000000000000" pitchFamily="2" charset="0"/>
              </a:rPr>
              <a:t>w1</a:t>
            </a:r>
            <a:r>
              <a:rPr lang="zh-CN" altLang="en-US" sz="1200" dirty="0">
                <a:latin typeface="Roboto" panose="02000000000000000000" pitchFamily="2" charset="0"/>
              </a:rPr>
              <a:t>、</a:t>
            </a:r>
            <a:r>
              <a:rPr lang="en-US" altLang="zh-CN" sz="1200" dirty="0">
                <a:latin typeface="Roboto" panose="02000000000000000000" pitchFamily="2" charset="0"/>
              </a:rPr>
              <a:t>w2</a:t>
            </a:r>
            <a:r>
              <a:rPr lang="zh-CN" altLang="en-US" sz="1200" dirty="0">
                <a:latin typeface="Roboto" panose="02000000000000000000" pitchFamily="2" charset="0"/>
              </a:rPr>
              <a:t>、</a:t>
            </a:r>
            <a:r>
              <a:rPr lang="en-US" altLang="zh-CN" sz="1200" dirty="0">
                <a:latin typeface="Roboto" panose="02000000000000000000" pitchFamily="2" charset="0"/>
              </a:rPr>
              <a:t>w3</a:t>
            </a:r>
            <a:r>
              <a:rPr lang="zh-CN" altLang="en-US" sz="1200" dirty="0">
                <a:latin typeface="Roboto" panose="02000000000000000000" pitchFamily="2" charset="0"/>
              </a:rPr>
              <a:t>是</a:t>
            </a:r>
            <a:r>
              <a:rPr lang="en-US" altLang="zh-CN" sz="1200" dirty="0">
                <a:solidFill>
                  <a:srgbClr val="C00000"/>
                </a:solidFill>
                <a:latin typeface="Roboto" panose="02000000000000000000" pitchFamily="2" charset="0"/>
              </a:rPr>
              <a:t>1</a:t>
            </a:r>
            <a:r>
              <a:rPr lang="zh-CN" altLang="en-US" sz="1200" dirty="0">
                <a:solidFill>
                  <a:srgbClr val="C00000"/>
                </a:solidFill>
                <a:latin typeface="Roboto" panose="02000000000000000000" pitchFamily="2" charset="0"/>
              </a:rPr>
              <a:t>次幂（比如 </a:t>
            </a:r>
            <a:r>
              <a:rPr lang="en-US" altLang="zh-CN" sz="1200" dirty="0">
                <a:solidFill>
                  <a:srgbClr val="C00000"/>
                </a:solidFill>
                <a:latin typeface="Roboto" panose="02000000000000000000" pitchFamily="2" charset="0"/>
              </a:rPr>
              <a:t>0.4</a:t>
            </a:r>
            <a:r>
              <a:rPr lang="zh-CN" altLang="en-US" sz="1200" dirty="0">
                <a:solidFill>
                  <a:srgbClr val="C00000"/>
                </a:solidFill>
                <a:latin typeface="Roboto" panose="02000000000000000000" pitchFamily="2" charset="0"/>
              </a:rPr>
              <a:t> </a:t>
            </a:r>
            <a:r>
              <a:rPr lang="en-US" altLang="zh-CN" sz="1200" dirty="0">
                <a:solidFill>
                  <a:srgbClr val="C00000"/>
                </a:solidFill>
                <a:latin typeface="Roboto" panose="02000000000000000000" pitchFamily="2" charset="0"/>
              </a:rPr>
              <a:t>0.3</a:t>
            </a:r>
            <a:r>
              <a:rPr lang="zh-CN" altLang="en-US" sz="1200" dirty="0">
                <a:solidFill>
                  <a:srgbClr val="C00000"/>
                </a:solidFill>
                <a:latin typeface="Roboto" panose="02000000000000000000" pitchFamily="2" charset="0"/>
              </a:rPr>
              <a:t> </a:t>
            </a:r>
            <a:r>
              <a:rPr lang="en-US" altLang="zh-CN" sz="1200" dirty="0">
                <a:solidFill>
                  <a:srgbClr val="C00000"/>
                </a:solidFill>
                <a:latin typeface="Roboto" panose="02000000000000000000" pitchFamily="2" charset="0"/>
              </a:rPr>
              <a:t>0.2</a:t>
            </a:r>
            <a:r>
              <a:rPr lang="zh-CN" altLang="en-US" sz="1200" dirty="0">
                <a:solidFill>
                  <a:srgbClr val="C00000"/>
                </a:solidFill>
                <a:latin typeface="Roboto" panose="02000000000000000000" pitchFamily="2" charset="0"/>
              </a:rPr>
              <a:t>）</a:t>
            </a:r>
            <a:endParaRPr lang="en-US" altLang="zh-CN" sz="1200" dirty="0">
              <a:latin typeface="Roboto" panose="02000000000000000000" pitchFamily="2" charset="0"/>
            </a:endParaRPr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</a:pPr>
            <a:r>
              <a:rPr lang="zh-CN" altLang="en-US" sz="1200" dirty="0">
                <a:latin typeface="Roboto" panose="02000000000000000000" pitchFamily="2" charset="0"/>
              </a:rPr>
              <a:t>线性模型是指</a:t>
            </a:r>
            <a:r>
              <a:rPr lang="en-US" altLang="zh-CN" sz="1200" dirty="0">
                <a:latin typeface="Roboto" panose="02000000000000000000" pitchFamily="2" charset="0"/>
              </a:rPr>
              <a:t>h(w)</a:t>
            </a:r>
            <a:r>
              <a:rPr lang="zh-CN" altLang="en-US" sz="1200" dirty="0">
                <a:latin typeface="Roboto" panose="02000000000000000000" pitchFamily="2" charset="0"/>
              </a:rPr>
              <a:t>是关于</a:t>
            </a:r>
            <a:r>
              <a:rPr lang="en-US" altLang="zh-CN" sz="1200" dirty="0">
                <a:latin typeface="Roboto" panose="02000000000000000000" pitchFamily="2" charset="0"/>
              </a:rPr>
              <a:t>w</a:t>
            </a:r>
            <a:r>
              <a:rPr lang="zh-CN" altLang="en-US" sz="1200" dirty="0">
                <a:latin typeface="Roboto" panose="02000000000000000000" pitchFamily="2" charset="0"/>
              </a:rPr>
              <a:t>的函数，权重参数</a:t>
            </a:r>
            <a:r>
              <a:rPr lang="en-US" altLang="zh-CN" sz="1200" dirty="0">
                <a:latin typeface="Roboto" panose="02000000000000000000" pitchFamily="2" charset="0"/>
              </a:rPr>
              <a:t>w1</a:t>
            </a:r>
            <a:r>
              <a:rPr lang="zh-CN" altLang="en-US" sz="1200" dirty="0">
                <a:latin typeface="Roboto" panose="02000000000000000000" pitchFamily="2" charset="0"/>
              </a:rPr>
              <a:t>、</a:t>
            </a:r>
            <a:r>
              <a:rPr lang="en-US" altLang="zh-CN" sz="1200" dirty="0">
                <a:latin typeface="Roboto" panose="02000000000000000000" pitchFamily="2" charset="0"/>
              </a:rPr>
              <a:t>w2</a:t>
            </a:r>
            <a:r>
              <a:rPr lang="zh-CN" altLang="en-US" sz="1200" dirty="0">
                <a:latin typeface="Roboto" panose="02000000000000000000" pitchFamily="2" charset="0"/>
              </a:rPr>
              <a:t>、</a:t>
            </a:r>
            <a:r>
              <a:rPr lang="en-US" altLang="zh-CN" sz="1200" dirty="0">
                <a:latin typeface="Roboto" panose="02000000000000000000" pitchFamily="2" charset="0"/>
              </a:rPr>
              <a:t>w3</a:t>
            </a:r>
            <a:r>
              <a:rPr lang="zh-CN" altLang="en-US" sz="1200" dirty="0">
                <a:latin typeface="Roboto" panose="02000000000000000000" pitchFamily="2" charset="0"/>
              </a:rPr>
              <a:t>是</a:t>
            </a:r>
            <a:r>
              <a:rPr lang="en-US" altLang="zh-CN" sz="1200" dirty="0">
                <a:solidFill>
                  <a:srgbClr val="C00000"/>
                </a:solidFill>
                <a:latin typeface="Roboto" panose="02000000000000000000" pitchFamily="2" charset="0"/>
              </a:rPr>
              <a:t>1</a:t>
            </a:r>
            <a:r>
              <a:rPr lang="zh-CN" altLang="en-US" sz="1200" dirty="0">
                <a:solidFill>
                  <a:srgbClr val="C00000"/>
                </a:solidFill>
                <a:latin typeface="Roboto" panose="02000000000000000000" pitchFamily="2" charset="0"/>
              </a:rPr>
              <a:t>次幂（比如 </a:t>
            </a:r>
            <a:r>
              <a:rPr lang="en-US" altLang="zh-CN" sz="1200" dirty="0">
                <a:solidFill>
                  <a:srgbClr val="C00000"/>
                </a:solidFill>
                <a:latin typeface="Roboto" panose="02000000000000000000" pitchFamily="2" charset="0"/>
              </a:rPr>
              <a:t>0.4</a:t>
            </a:r>
            <a:r>
              <a:rPr lang="zh-CN" altLang="en-US" sz="1200" dirty="0">
                <a:solidFill>
                  <a:srgbClr val="C00000"/>
                </a:solidFill>
                <a:latin typeface="Roboto" panose="02000000000000000000" pitchFamily="2" charset="0"/>
              </a:rPr>
              <a:t> </a:t>
            </a:r>
            <a:r>
              <a:rPr lang="en-US" altLang="zh-CN" sz="1200" dirty="0">
                <a:solidFill>
                  <a:srgbClr val="C00000"/>
                </a:solidFill>
                <a:latin typeface="Roboto" panose="02000000000000000000" pitchFamily="2" charset="0"/>
              </a:rPr>
              <a:t>0.3</a:t>
            </a:r>
            <a:r>
              <a:rPr lang="zh-CN" altLang="en-US" sz="1200" dirty="0">
                <a:solidFill>
                  <a:srgbClr val="C00000"/>
                </a:solidFill>
                <a:latin typeface="Roboto" panose="02000000000000000000" pitchFamily="2" charset="0"/>
              </a:rPr>
              <a:t> </a:t>
            </a:r>
            <a:r>
              <a:rPr lang="en-US" altLang="zh-CN" sz="1200" dirty="0">
                <a:solidFill>
                  <a:srgbClr val="C00000"/>
                </a:solidFill>
                <a:latin typeface="Roboto" panose="02000000000000000000" pitchFamily="2" charset="0"/>
              </a:rPr>
              <a:t>0.2</a:t>
            </a:r>
            <a:r>
              <a:rPr lang="zh-CN" altLang="en-US" sz="1200" dirty="0">
                <a:solidFill>
                  <a:srgbClr val="C00000"/>
                </a:solidFill>
                <a:latin typeface="Roboto" panose="02000000000000000000" pitchFamily="2" charset="0"/>
              </a:rPr>
              <a:t>）</a:t>
            </a:r>
            <a:endParaRPr lang="en-US" altLang="zh-CN" sz="1200" dirty="0">
              <a:latin typeface="Roboto" panose="02000000000000000000" pitchFamily="2" charset="0"/>
            </a:endParaRPr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</a:pPr>
            <a:r>
              <a:rPr lang="zh-CN" altLang="en-US" sz="1200" dirty="0">
                <a:latin typeface="Roboto" panose="02000000000000000000" pitchFamily="2" charset="0"/>
              </a:rPr>
              <a:t>线性模型是指</a:t>
            </a:r>
            <a:r>
              <a:rPr lang="en-US" altLang="zh-CN" sz="1200" dirty="0">
                <a:latin typeface="Roboto" panose="02000000000000000000" pitchFamily="2" charset="0"/>
              </a:rPr>
              <a:t>h(w)</a:t>
            </a:r>
            <a:r>
              <a:rPr lang="zh-CN" altLang="en-US" sz="1200" dirty="0">
                <a:latin typeface="Roboto" panose="02000000000000000000" pitchFamily="2" charset="0"/>
              </a:rPr>
              <a:t>是关于</a:t>
            </a:r>
            <a:r>
              <a:rPr lang="en-US" altLang="zh-CN" sz="1200" dirty="0">
                <a:latin typeface="Roboto" panose="02000000000000000000" pitchFamily="2" charset="0"/>
              </a:rPr>
              <a:t>w</a:t>
            </a:r>
            <a:r>
              <a:rPr lang="zh-CN" altLang="en-US" sz="1200" dirty="0">
                <a:latin typeface="Roboto" panose="02000000000000000000" pitchFamily="2" charset="0"/>
              </a:rPr>
              <a:t>的函数，权重参数</a:t>
            </a:r>
            <a:r>
              <a:rPr lang="en-US" altLang="zh-CN" sz="1200" dirty="0">
                <a:latin typeface="Roboto" panose="02000000000000000000" pitchFamily="2" charset="0"/>
              </a:rPr>
              <a:t>w1</a:t>
            </a:r>
            <a:r>
              <a:rPr lang="zh-CN" altLang="en-US" sz="1200" dirty="0">
                <a:latin typeface="Roboto" panose="02000000000000000000" pitchFamily="2" charset="0"/>
              </a:rPr>
              <a:t>、</a:t>
            </a:r>
            <a:r>
              <a:rPr lang="en-US" altLang="zh-CN" sz="1200" dirty="0">
                <a:latin typeface="Roboto" panose="02000000000000000000" pitchFamily="2" charset="0"/>
              </a:rPr>
              <a:t>w2</a:t>
            </a:r>
            <a:r>
              <a:rPr lang="zh-CN" altLang="en-US" sz="1200" dirty="0">
                <a:latin typeface="Roboto" panose="02000000000000000000" pitchFamily="2" charset="0"/>
              </a:rPr>
              <a:t>、</a:t>
            </a:r>
            <a:r>
              <a:rPr lang="en-US" altLang="zh-CN" sz="1200" dirty="0">
                <a:latin typeface="Roboto" panose="02000000000000000000" pitchFamily="2" charset="0"/>
              </a:rPr>
              <a:t>w3</a:t>
            </a:r>
            <a:r>
              <a:rPr lang="zh-CN" altLang="en-US" sz="1200" dirty="0">
                <a:latin typeface="Roboto" panose="02000000000000000000" pitchFamily="2" charset="0"/>
              </a:rPr>
              <a:t>是</a:t>
            </a:r>
            <a:r>
              <a:rPr lang="en-US" altLang="zh-CN" sz="1200" dirty="0">
                <a:solidFill>
                  <a:srgbClr val="C00000"/>
                </a:solidFill>
                <a:latin typeface="Roboto" panose="02000000000000000000" pitchFamily="2" charset="0"/>
              </a:rPr>
              <a:t>1</a:t>
            </a:r>
            <a:r>
              <a:rPr lang="zh-CN" altLang="en-US" sz="1200" dirty="0">
                <a:solidFill>
                  <a:srgbClr val="C00000"/>
                </a:solidFill>
                <a:latin typeface="Roboto" panose="02000000000000000000" pitchFamily="2" charset="0"/>
              </a:rPr>
              <a:t>次幂（比如 </a:t>
            </a:r>
            <a:r>
              <a:rPr lang="en-US" altLang="zh-CN" sz="1200" dirty="0">
                <a:solidFill>
                  <a:srgbClr val="C00000"/>
                </a:solidFill>
                <a:latin typeface="Roboto" panose="02000000000000000000" pitchFamily="2" charset="0"/>
              </a:rPr>
              <a:t>0.4</a:t>
            </a:r>
            <a:r>
              <a:rPr lang="zh-CN" altLang="en-US" sz="1200" dirty="0">
                <a:solidFill>
                  <a:srgbClr val="C00000"/>
                </a:solidFill>
                <a:latin typeface="Roboto" panose="02000000000000000000" pitchFamily="2" charset="0"/>
              </a:rPr>
              <a:t> </a:t>
            </a:r>
            <a:r>
              <a:rPr lang="en-US" altLang="zh-CN" sz="1200" dirty="0">
                <a:solidFill>
                  <a:srgbClr val="C00000"/>
                </a:solidFill>
                <a:latin typeface="Roboto" panose="02000000000000000000" pitchFamily="2" charset="0"/>
              </a:rPr>
              <a:t>0.3</a:t>
            </a:r>
            <a:r>
              <a:rPr lang="zh-CN" altLang="en-US" sz="1200" dirty="0">
                <a:solidFill>
                  <a:srgbClr val="C00000"/>
                </a:solidFill>
                <a:latin typeface="Roboto" panose="02000000000000000000" pitchFamily="2" charset="0"/>
              </a:rPr>
              <a:t> </a:t>
            </a:r>
            <a:r>
              <a:rPr lang="en-US" altLang="zh-CN" sz="1200" dirty="0">
                <a:solidFill>
                  <a:srgbClr val="C00000"/>
                </a:solidFill>
                <a:latin typeface="Roboto" panose="02000000000000000000" pitchFamily="2" charset="0"/>
              </a:rPr>
              <a:t>0.2</a:t>
            </a:r>
            <a:r>
              <a:rPr lang="zh-CN" altLang="en-US" sz="1200" dirty="0">
                <a:solidFill>
                  <a:srgbClr val="C00000"/>
                </a:solidFill>
                <a:latin typeface="Roboto" panose="02000000000000000000" pitchFamily="2" charset="0"/>
              </a:rPr>
              <a:t>）</a:t>
            </a:r>
            <a:endParaRPr lang="en-US" altLang="zh-CN" sz="1200" dirty="0">
              <a:latin typeface="Roboto" panose="02000000000000000000" pitchFamily="2" charset="0"/>
            </a:endParaRPr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CC63F50-FC71-46DD-9BDC-11F985EF41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</a:pPr>
            <a:r>
              <a:rPr lang="zh-CN" altLang="en-US" sz="1200" dirty="0">
                <a:latin typeface="Roboto" panose="02000000000000000000" pitchFamily="2" charset="0"/>
              </a:rPr>
              <a:t>线性模型是指</a:t>
            </a:r>
            <a:r>
              <a:rPr lang="en-US" altLang="zh-CN" sz="1200" dirty="0">
                <a:latin typeface="Roboto" panose="02000000000000000000" pitchFamily="2" charset="0"/>
              </a:rPr>
              <a:t>h(w)</a:t>
            </a:r>
            <a:r>
              <a:rPr lang="zh-CN" altLang="en-US" sz="1200" dirty="0">
                <a:latin typeface="Roboto" panose="02000000000000000000" pitchFamily="2" charset="0"/>
              </a:rPr>
              <a:t>是关于</a:t>
            </a:r>
            <a:r>
              <a:rPr lang="en-US" altLang="zh-CN" sz="1200" dirty="0">
                <a:latin typeface="Roboto" panose="02000000000000000000" pitchFamily="2" charset="0"/>
              </a:rPr>
              <a:t>w</a:t>
            </a:r>
            <a:r>
              <a:rPr lang="zh-CN" altLang="en-US" sz="1200" dirty="0">
                <a:latin typeface="Roboto" panose="02000000000000000000" pitchFamily="2" charset="0"/>
              </a:rPr>
              <a:t>的函数，权重参数</a:t>
            </a:r>
            <a:r>
              <a:rPr lang="en-US" altLang="zh-CN" sz="1200" dirty="0">
                <a:latin typeface="Roboto" panose="02000000000000000000" pitchFamily="2" charset="0"/>
              </a:rPr>
              <a:t>w1</a:t>
            </a:r>
            <a:r>
              <a:rPr lang="zh-CN" altLang="en-US" sz="1200" dirty="0">
                <a:latin typeface="Roboto" panose="02000000000000000000" pitchFamily="2" charset="0"/>
              </a:rPr>
              <a:t>、</a:t>
            </a:r>
            <a:r>
              <a:rPr lang="en-US" altLang="zh-CN" sz="1200" dirty="0">
                <a:latin typeface="Roboto" panose="02000000000000000000" pitchFamily="2" charset="0"/>
              </a:rPr>
              <a:t>w2</a:t>
            </a:r>
            <a:r>
              <a:rPr lang="zh-CN" altLang="en-US" sz="1200" dirty="0">
                <a:latin typeface="Roboto" panose="02000000000000000000" pitchFamily="2" charset="0"/>
              </a:rPr>
              <a:t>、</a:t>
            </a:r>
            <a:r>
              <a:rPr lang="en-US" altLang="zh-CN" sz="1200" dirty="0">
                <a:latin typeface="Roboto" panose="02000000000000000000" pitchFamily="2" charset="0"/>
              </a:rPr>
              <a:t>w3</a:t>
            </a:r>
            <a:r>
              <a:rPr lang="zh-CN" altLang="en-US" sz="1200" dirty="0">
                <a:latin typeface="Roboto" panose="02000000000000000000" pitchFamily="2" charset="0"/>
              </a:rPr>
              <a:t>是</a:t>
            </a:r>
            <a:r>
              <a:rPr lang="en-US" altLang="zh-CN" sz="1200" dirty="0">
                <a:solidFill>
                  <a:srgbClr val="C00000"/>
                </a:solidFill>
                <a:latin typeface="Roboto" panose="02000000000000000000" pitchFamily="2" charset="0"/>
              </a:rPr>
              <a:t>1</a:t>
            </a:r>
            <a:r>
              <a:rPr lang="zh-CN" altLang="en-US" sz="1200" dirty="0">
                <a:solidFill>
                  <a:srgbClr val="C00000"/>
                </a:solidFill>
                <a:latin typeface="Roboto" panose="02000000000000000000" pitchFamily="2" charset="0"/>
              </a:rPr>
              <a:t>次幂（比如 </a:t>
            </a:r>
            <a:r>
              <a:rPr lang="en-US" altLang="zh-CN" sz="1200" dirty="0">
                <a:solidFill>
                  <a:srgbClr val="C00000"/>
                </a:solidFill>
                <a:latin typeface="Roboto" panose="02000000000000000000" pitchFamily="2" charset="0"/>
              </a:rPr>
              <a:t>0.4</a:t>
            </a:r>
            <a:r>
              <a:rPr lang="zh-CN" altLang="en-US" sz="1200" dirty="0">
                <a:solidFill>
                  <a:srgbClr val="C00000"/>
                </a:solidFill>
                <a:latin typeface="Roboto" panose="02000000000000000000" pitchFamily="2" charset="0"/>
              </a:rPr>
              <a:t> </a:t>
            </a:r>
            <a:r>
              <a:rPr lang="en-US" altLang="zh-CN" sz="1200" dirty="0">
                <a:solidFill>
                  <a:srgbClr val="C00000"/>
                </a:solidFill>
                <a:latin typeface="Roboto" panose="02000000000000000000" pitchFamily="2" charset="0"/>
              </a:rPr>
              <a:t>0.3</a:t>
            </a:r>
            <a:r>
              <a:rPr lang="zh-CN" altLang="en-US" sz="1200" dirty="0">
                <a:solidFill>
                  <a:srgbClr val="C00000"/>
                </a:solidFill>
                <a:latin typeface="Roboto" panose="02000000000000000000" pitchFamily="2" charset="0"/>
              </a:rPr>
              <a:t> </a:t>
            </a:r>
            <a:r>
              <a:rPr lang="en-US" altLang="zh-CN" sz="1200" dirty="0">
                <a:solidFill>
                  <a:srgbClr val="C00000"/>
                </a:solidFill>
                <a:latin typeface="Roboto" panose="02000000000000000000" pitchFamily="2" charset="0"/>
              </a:rPr>
              <a:t>0.2</a:t>
            </a:r>
            <a:r>
              <a:rPr lang="zh-CN" altLang="en-US" sz="1200" dirty="0">
                <a:solidFill>
                  <a:srgbClr val="C00000"/>
                </a:solidFill>
                <a:latin typeface="Roboto" panose="02000000000000000000" pitchFamily="2" charset="0"/>
              </a:rPr>
              <a:t>）</a:t>
            </a:r>
            <a:endParaRPr lang="en-US" altLang="zh-CN" sz="1200" dirty="0">
              <a:latin typeface="Roboto" panose="02000000000000000000" pitchFamily="2" charset="0"/>
            </a:endParaRPr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CC63F50-FC71-46DD-9BDC-11F985EF41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</a:pPr>
            <a:r>
              <a:rPr lang="zh-CN" altLang="en-US" sz="1200" dirty="0">
                <a:latin typeface="Roboto" panose="02000000000000000000" pitchFamily="2" charset="0"/>
              </a:rPr>
              <a:t>线性模型是指</a:t>
            </a:r>
            <a:r>
              <a:rPr lang="en-US" altLang="zh-CN" sz="1200" dirty="0">
                <a:latin typeface="Roboto" panose="02000000000000000000" pitchFamily="2" charset="0"/>
              </a:rPr>
              <a:t>h(w)</a:t>
            </a:r>
            <a:r>
              <a:rPr lang="zh-CN" altLang="en-US" sz="1200" dirty="0">
                <a:latin typeface="Roboto" panose="02000000000000000000" pitchFamily="2" charset="0"/>
              </a:rPr>
              <a:t>是关于</a:t>
            </a:r>
            <a:r>
              <a:rPr lang="en-US" altLang="zh-CN" sz="1200" dirty="0">
                <a:latin typeface="Roboto" panose="02000000000000000000" pitchFamily="2" charset="0"/>
              </a:rPr>
              <a:t>w</a:t>
            </a:r>
            <a:r>
              <a:rPr lang="zh-CN" altLang="en-US" sz="1200" dirty="0">
                <a:latin typeface="Roboto" panose="02000000000000000000" pitchFamily="2" charset="0"/>
              </a:rPr>
              <a:t>的函数，权重参数</a:t>
            </a:r>
            <a:r>
              <a:rPr lang="en-US" altLang="zh-CN" sz="1200" dirty="0">
                <a:latin typeface="Roboto" panose="02000000000000000000" pitchFamily="2" charset="0"/>
              </a:rPr>
              <a:t>w1</a:t>
            </a:r>
            <a:r>
              <a:rPr lang="zh-CN" altLang="en-US" sz="1200" dirty="0">
                <a:latin typeface="Roboto" panose="02000000000000000000" pitchFamily="2" charset="0"/>
              </a:rPr>
              <a:t>、</a:t>
            </a:r>
            <a:r>
              <a:rPr lang="en-US" altLang="zh-CN" sz="1200" dirty="0">
                <a:latin typeface="Roboto" panose="02000000000000000000" pitchFamily="2" charset="0"/>
              </a:rPr>
              <a:t>w2</a:t>
            </a:r>
            <a:r>
              <a:rPr lang="zh-CN" altLang="en-US" sz="1200" dirty="0">
                <a:latin typeface="Roboto" panose="02000000000000000000" pitchFamily="2" charset="0"/>
              </a:rPr>
              <a:t>、</a:t>
            </a:r>
            <a:r>
              <a:rPr lang="en-US" altLang="zh-CN" sz="1200" dirty="0">
                <a:latin typeface="Roboto" panose="02000000000000000000" pitchFamily="2" charset="0"/>
              </a:rPr>
              <a:t>w3</a:t>
            </a:r>
            <a:r>
              <a:rPr lang="zh-CN" altLang="en-US" sz="1200" dirty="0">
                <a:latin typeface="Roboto" panose="02000000000000000000" pitchFamily="2" charset="0"/>
              </a:rPr>
              <a:t>是</a:t>
            </a:r>
            <a:r>
              <a:rPr lang="en-US" altLang="zh-CN" sz="1200" dirty="0">
                <a:solidFill>
                  <a:srgbClr val="C00000"/>
                </a:solidFill>
                <a:latin typeface="Roboto" panose="02000000000000000000" pitchFamily="2" charset="0"/>
              </a:rPr>
              <a:t>1</a:t>
            </a:r>
            <a:r>
              <a:rPr lang="zh-CN" altLang="en-US" sz="1200" dirty="0">
                <a:solidFill>
                  <a:srgbClr val="C00000"/>
                </a:solidFill>
                <a:latin typeface="Roboto" panose="02000000000000000000" pitchFamily="2" charset="0"/>
              </a:rPr>
              <a:t>次幂（比如 </a:t>
            </a:r>
            <a:r>
              <a:rPr lang="en-US" altLang="zh-CN" sz="1200" dirty="0">
                <a:solidFill>
                  <a:srgbClr val="C00000"/>
                </a:solidFill>
                <a:latin typeface="Roboto" panose="02000000000000000000" pitchFamily="2" charset="0"/>
              </a:rPr>
              <a:t>0.4</a:t>
            </a:r>
            <a:r>
              <a:rPr lang="zh-CN" altLang="en-US" sz="1200" dirty="0">
                <a:solidFill>
                  <a:srgbClr val="C00000"/>
                </a:solidFill>
                <a:latin typeface="Roboto" panose="02000000000000000000" pitchFamily="2" charset="0"/>
              </a:rPr>
              <a:t> </a:t>
            </a:r>
            <a:r>
              <a:rPr lang="en-US" altLang="zh-CN" sz="1200" dirty="0">
                <a:solidFill>
                  <a:srgbClr val="C00000"/>
                </a:solidFill>
                <a:latin typeface="Roboto" panose="02000000000000000000" pitchFamily="2" charset="0"/>
              </a:rPr>
              <a:t>0.3</a:t>
            </a:r>
            <a:r>
              <a:rPr lang="zh-CN" altLang="en-US" sz="1200" dirty="0">
                <a:solidFill>
                  <a:srgbClr val="C00000"/>
                </a:solidFill>
                <a:latin typeface="Roboto" panose="02000000000000000000" pitchFamily="2" charset="0"/>
              </a:rPr>
              <a:t> </a:t>
            </a:r>
            <a:r>
              <a:rPr lang="en-US" altLang="zh-CN" sz="1200" dirty="0">
                <a:solidFill>
                  <a:srgbClr val="C00000"/>
                </a:solidFill>
                <a:latin typeface="Roboto" panose="02000000000000000000" pitchFamily="2" charset="0"/>
              </a:rPr>
              <a:t>0.2</a:t>
            </a:r>
            <a:r>
              <a:rPr lang="zh-CN" altLang="en-US" sz="1200" dirty="0">
                <a:solidFill>
                  <a:srgbClr val="C00000"/>
                </a:solidFill>
                <a:latin typeface="Roboto" panose="02000000000000000000" pitchFamily="2" charset="0"/>
              </a:rPr>
              <a:t>）</a:t>
            </a:r>
            <a:endParaRPr lang="en-US" altLang="zh-CN" sz="1200" dirty="0">
              <a:latin typeface="Roboto" panose="02000000000000000000" pitchFamily="2" charset="0"/>
            </a:endParaRPr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CC63F50-FC71-46DD-9BDC-11F985EF41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</a:pPr>
            <a:r>
              <a:rPr lang="zh-CN" altLang="en-US" sz="1200" dirty="0">
                <a:latin typeface="Roboto" panose="02000000000000000000" pitchFamily="2" charset="0"/>
              </a:rPr>
              <a:t>线性模型是指</a:t>
            </a:r>
            <a:r>
              <a:rPr lang="en-US" altLang="zh-CN" sz="1200" dirty="0">
                <a:latin typeface="Roboto" panose="02000000000000000000" pitchFamily="2" charset="0"/>
              </a:rPr>
              <a:t>h(w)</a:t>
            </a:r>
            <a:r>
              <a:rPr lang="zh-CN" altLang="en-US" sz="1200" dirty="0">
                <a:latin typeface="Roboto" panose="02000000000000000000" pitchFamily="2" charset="0"/>
              </a:rPr>
              <a:t>是关于</a:t>
            </a:r>
            <a:r>
              <a:rPr lang="en-US" altLang="zh-CN" sz="1200" dirty="0">
                <a:latin typeface="Roboto" panose="02000000000000000000" pitchFamily="2" charset="0"/>
              </a:rPr>
              <a:t>w</a:t>
            </a:r>
            <a:r>
              <a:rPr lang="zh-CN" altLang="en-US" sz="1200" dirty="0">
                <a:latin typeface="Roboto" panose="02000000000000000000" pitchFamily="2" charset="0"/>
              </a:rPr>
              <a:t>的函数，权重参数</a:t>
            </a:r>
            <a:r>
              <a:rPr lang="en-US" altLang="zh-CN" sz="1200" dirty="0">
                <a:latin typeface="Roboto" panose="02000000000000000000" pitchFamily="2" charset="0"/>
              </a:rPr>
              <a:t>w1</a:t>
            </a:r>
            <a:r>
              <a:rPr lang="zh-CN" altLang="en-US" sz="1200" dirty="0">
                <a:latin typeface="Roboto" panose="02000000000000000000" pitchFamily="2" charset="0"/>
              </a:rPr>
              <a:t>、</a:t>
            </a:r>
            <a:r>
              <a:rPr lang="en-US" altLang="zh-CN" sz="1200" dirty="0">
                <a:latin typeface="Roboto" panose="02000000000000000000" pitchFamily="2" charset="0"/>
              </a:rPr>
              <a:t>w2</a:t>
            </a:r>
            <a:r>
              <a:rPr lang="zh-CN" altLang="en-US" sz="1200" dirty="0">
                <a:latin typeface="Roboto" panose="02000000000000000000" pitchFamily="2" charset="0"/>
              </a:rPr>
              <a:t>、</a:t>
            </a:r>
            <a:r>
              <a:rPr lang="en-US" altLang="zh-CN" sz="1200" dirty="0">
                <a:latin typeface="Roboto" panose="02000000000000000000" pitchFamily="2" charset="0"/>
              </a:rPr>
              <a:t>w3</a:t>
            </a:r>
            <a:r>
              <a:rPr lang="zh-CN" altLang="en-US" sz="1200" dirty="0">
                <a:latin typeface="Roboto" panose="02000000000000000000" pitchFamily="2" charset="0"/>
              </a:rPr>
              <a:t>是</a:t>
            </a:r>
            <a:r>
              <a:rPr lang="en-US" altLang="zh-CN" sz="1200" dirty="0">
                <a:solidFill>
                  <a:srgbClr val="C00000"/>
                </a:solidFill>
                <a:latin typeface="Roboto" panose="02000000000000000000" pitchFamily="2" charset="0"/>
              </a:rPr>
              <a:t>1</a:t>
            </a:r>
            <a:r>
              <a:rPr lang="zh-CN" altLang="en-US" sz="1200" dirty="0">
                <a:solidFill>
                  <a:srgbClr val="C00000"/>
                </a:solidFill>
                <a:latin typeface="Roboto" panose="02000000000000000000" pitchFamily="2" charset="0"/>
              </a:rPr>
              <a:t>次幂（比如 </a:t>
            </a:r>
            <a:r>
              <a:rPr lang="en-US" altLang="zh-CN" sz="1200" dirty="0">
                <a:solidFill>
                  <a:srgbClr val="C00000"/>
                </a:solidFill>
                <a:latin typeface="Roboto" panose="02000000000000000000" pitchFamily="2" charset="0"/>
              </a:rPr>
              <a:t>0.4</a:t>
            </a:r>
            <a:r>
              <a:rPr lang="zh-CN" altLang="en-US" sz="1200" dirty="0">
                <a:solidFill>
                  <a:srgbClr val="C00000"/>
                </a:solidFill>
                <a:latin typeface="Roboto" panose="02000000000000000000" pitchFamily="2" charset="0"/>
              </a:rPr>
              <a:t> </a:t>
            </a:r>
            <a:r>
              <a:rPr lang="en-US" altLang="zh-CN" sz="1200" dirty="0">
                <a:solidFill>
                  <a:srgbClr val="C00000"/>
                </a:solidFill>
                <a:latin typeface="Roboto" panose="02000000000000000000" pitchFamily="2" charset="0"/>
              </a:rPr>
              <a:t>0.3</a:t>
            </a:r>
            <a:r>
              <a:rPr lang="zh-CN" altLang="en-US" sz="1200" dirty="0">
                <a:solidFill>
                  <a:srgbClr val="C00000"/>
                </a:solidFill>
                <a:latin typeface="Roboto" panose="02000000000000000000" pitchFamily="2" charset="0"/>
              </a:rPr>
              <a:t> </a:t>
            </a:r>
            <a:r>
              <a:rPr lang="en-US" altLang="zh-CN" sz="1200" dirty="0">
                <a:solidFill>
                  <a:srgbClr val="C00000"/>
                </a:solidFill>
                <a:latin typeface="Roboto" panose="02000000000000000000" pitchFamily="2" charset="0"/>
              </a:rPr>
              <a:t>0.2</a:t>
            </a:r>
            <a:r>
              <a:rPr lang="zh-CN" altLang="en-US" sz="1200" dirty="0">
                <a:solidFill>
                  <a:srgbClr val="C00000"/>
                </a:solidFill>
                <a:latin typeface="Roboto" panose="02000000000000000000" pitchFamily="2" charset="0"/>
              </a:rPr>
              <a:t>）</a:t>
            </a:r>
            <a:endParaRPr lang="en-US" altLang="zh-CN" sz="1200" dirty="0">
              <a:latin typeface="Roboto" panose="02000000000000000000" pitchFamily="2" charset="0"/>
            </a:endParaRPr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CC63F50-FC71-46DD-9BDC-11F985EF41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</a:pPr>
            <a:r>
              <a:rPr lang="zh-CN" altLang="en-US" sz="1200" dirty="0">
                <a:latin typeface="Roboto" panose="02000000000000000000" pitchFamily="2" charset="0"/>
              </a:rPr>
              <a:t>线性模型是指</a:t>
            </a:r>
            <a:r>
              <a:rPr lang="en-US" altLang="zh-CN" sz="1200" dirty="0">
                <a:latin typeface="Roboto" panose="02000000000000000000" pitchFamily="2" charset="0"/>
              </a:rPr>
              <a:t>h(w)</a:t>
            </a:r>
            <a:r>
              <a:rPr lang="zh-CN" altLang="en-US" sz="1200" dirty="0">
                <a:latin typeface="Roboto" panose="02000000000000000000" pitchFamily="2" charset="0"/>
              </a:rPr>
              <a:t>是关于</a:t>
            </a:r>
            <a:r>
              <a:rPr lang="en-US" altLang="zh-CN" sz="1200" dirty="0">
                <a:latin typeface="Roboto" panose="02000000000000000000" pitchFamily="2" charset="0"/>
              </a:rPr>
              <a:t>w</a:t>
            </a:r>
            <a:r>
              <a:rPr lang="zh-CN" altLang="en-US" sz="1200" dirty="0">
                <a:latin typeface="Roboto" panose="02000000000000000000" pitchFamily="2" charset="0"/>
              </a:rPr>
              <a:t>的函数，权重参数</a:t>
            </a:r>
            <a:r>
              <a:rPr lang="en-US" altLang="zh-CN" sz="1200" dirty="0">
                <a:latin typeface="Roboto" panose="02000000000000000000" pitchFamily="2" charset="0"/>
              </a:rPr>
              <a:t>w1</a:t>
            </a:r>
            <a:r>
              <a:rPr lang="zh-CN" altLang="en-US" sz="1200" dirty="0">
                <a:latin typeface="Roboto" panose="02000000000000000000" pitchFamily="2" charset="0"/>
              </a:rPr>
              <a:t>、</a:t>
            </a:r>
            <a:r>
              <a:rPr lang="en-US" altLang="zh-CN" sz="1200" dirty="0">
                <a:latin typeface="Roboto" panose="02000000000000000000" pitchFamily="2" charset="0"/>
              </a:rPr>
              <a:t>w2</a:t>
            </a:r>
            <a:r>
              <a:rPr lang="zh-CN" altLang="en-US" sz="1200" dirty="0">
                <a:latin typeface="Roboto" panose="02000000000000000000" pitchFamily="2" charset="0"/>
              </a:rPr>
              <a:t>、</a:t>
            </a:r>
            <a:r>
              <a:rPr lang="en-US" altLang="zh-CN" sz="1200" dirty="0">
                <a:latin typeface="Roboto" panose="02000000000000000000" pitchFamily="2" charset="0"/>
              </a:rPr>
              <a:t>w3</a:t>
            </a:r>
            <a:r>
              <a:rPr lang="zh-CN" altLang="en-US" sz="1200" dirty="0">
                <a:latin typeface="Roboto" panose="02000000000000000000" pitchFamily="2" charset="0"/>
              </a:rPr>
              <a:t>是</a:t>
            </a:r>
            <a:r>
              <a:rPr lang="en-US" altLang="zh-CN" sz="1200" dirty="0">
                <a:solidFill>
                  <a:srgbClr val="C00000"/>
                </a:solidFill>
                <a:latin typeface="Roboto" panose="02000000000000000000" pitchFamily="2" charset="0"/>
              </a:rPr>
              <a:t>1</a:t>
            </a:r>
            <a:r>
              <a:rPr lang="zh-CN" altLang="en-US" sz="1200" dirty="0">
                <a:solidFill>
                  <a:srgbClr val="C00000"/>
                </a:solidFill>
                <a:latin typeface="Roboto" panose="02000000000000000000" pitchFamily="2" charset="0"/>
              </a:rPr>
              <a:t>次幂（比如 </a:t>
            </a:r>
            <a:r>
              <a:rPr lang="en-US" altLang="zh-CN" sz="1200" dirty="0">
                <a:solidFill>
                  <a:srgbClr val="C00000"/>
                </a:solidFill>
                <a:latin typeface="Roboto" panose="02000000000000000000" pitchFamily="2" charset="0"/>
              </a:rPr>
              <a:t>0.4</a:t>
            </a:r>
            <a:r>
              <a:rPr lang="zh-CN" altLang="en-US" sz="1200" dirty="0">
                <a:solidFill>
                  <a:srgbClr val="C00000"/>
                </a:solidFill>
                <a:latin typeface="Roboto" panose="02000000000000000000" pitchFamily="2" charset="0"/>
              </a:rPr>
              <a:t> </a:t>
            </a:r>
            <a:r>
              <a:rPr lang="en-US" altLang="zh-CN" sz="1200" dirty="0">
                <a:solidFill>
                  <a:srgbClr val="C00000"/>
                </a:solidFill>
                <a:latin typeface="Roboto" panose="02000000000000000000" pitchFamily="2" charset="0"/>
              </a:rPr>
              <a:t>0.3</a:t>
            </a:r>
            <a:r>
              <a:rPr lang="zh-CN" altLang="en-US" sz="1200" dirty="0">
                <a:solidFill>
                  <a:srgbClr val="C00000"/>
                </a:solidFill>
                <a:latin typeface="Roboto" panose="02000000000000000000" pitchFamily="2" charset="0"/>
              </a:rPr>
              <a:t> </a:t>
            </a:r>
            <a:r>
              <a:rPr lang="en-US" altLang="zh-CN" sz="1200" dirty="0">
                <a:solidFill>
                  <a:srgbClr val="C00000"/>
                </a:solidFill>
                <a:latin typeface="Roboto" panose="02000000000000000000" pitchFamily="2" charset="0"/>
              </a:rPr>
              <a:t>0.2</a:t>
            </a:r>
            <a:r>
              <a:rPr lang="zh-CN" altLang="en-US" sz="1200" dirty="0">
                <a:solidFill>
                  <a:srgbClr val="C00000"/>
                </a:solidFill>
                <a:latin typeface="Roboto" panose="02000000000000000000" pitchFamily="2" charset="0"/>
              </a:rPr>
              <a:t>）</a:t>
            </a:r>
            <a:endParaRPr lang="en-US" altLang="zh-CN" sz="1200" dirty="0">
              <a:latin typeface="Roboto" panose="02000000000000000000" pitchFamily="2" charset="0"/>
            </a:endParaRPr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CC63F50-FC71-46DD-9BDC-11F985EF41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</a:pPr>
            <a:r>
              <a:rPr lang="zh-CN" altLang="en-US" sz="1200" dirty="0">
                <a:latin typeface="Roboto" panose="02000000000000000000" pitchFamily="2" charset="0"/>
              </a:rPr>
              <a:t>线性模型是指</a:t>
            </a:r>
            <a:r>
              <a:rPr lang="en-US" altLang="zh-CN" sz="1200" dirty="0">
                <a:latin typeface="Roboto" panose="02000000000000000000" pitchFamily="2" charset="0"/>
              </a:rPr>
              <a:t>h(w)</a:t>
            </a:r>
            <a:r>
              <a:rPr lang="zh-CN" altLang="en-US" sz="1200" dirty="0">
                <a:latin typeface="Roboto" panose="02000000000000000000" pitchFamily="2" charset="0"/>
              </a:rPr>
              <a:t>是关于</a:t>
            </a:r>
            <a:r>
              <a:rPr lang="en-US" altLang="zh-CN" sz="1200" dirty="0">
                <a:latin typeface="Roboto" panose="02000000000000000000" pitchFamily="2" charset="0"/>
              </a:rPr>
              <a:t>w</a:t>
            </a:r>
            <a:r>
              <a:rPr lang="zh-CN" altLang="en-US" sz="1200" dirty="0">
                <a:latin typeface="Roboto" panose="02000000000000000000" pitchFamily="2" charset="0"/>
              </a:rPr>
              <a:t>的函数，权重参数</a:t>
            </a:r>
            <a:r>
              <a:rPr lang="en-US" altLang="zh-CN" sz="1200" dirty="0">
                <a:latin typeface="Roboto" panose="02000000000000000000" pitchFamily="2" charset="0"/>
              </a:rPr>
              <a:t>w1</a:t>
            </a:r>
            <a:r>
              <a:rPr lang="zh-CN" altLang="en-US" sz="1200" dirty="0">
                <a:latin typeface="Roboto" panose="02000000000000000000" pitchFamily="2" charset="0"/>
              </a:rPr>
              <a:t>、</a:t>
            </a:r>
            <a:r>
              <a:rPr lang="en-US" altLang="zh-CN" sz="1200" dirty="0">
                <a:latin typeface="Roboto" panose="02000000000000000000" pitchFamily="2" charset="0"/>
              </a:rPr>
              <a:t>w2</a:t>
            </a:r>
            <a:r>
              <a:rPr lang="zh-CN" altLang="en-US" sz="1200" dirty="0">
                <a:latin typeface="Roboto" panose="02000000000000000000" pitchFamily="2" charset="0"/>
              </a:rPr>
              <a:t>、</a:t>
            </a:r>
            <a:r>
              <a:rPr lang="en-US" altLang="zh-CN" sz="1200" dirty="0">
                <a:latin typeface="Roboto" panose="02000000000000000000" pitchFamily="2" charset="0"/>
              </a:rPr>
              <a:t>w3</a:t>
            </a:r>
            <a:r>
              <a:rPr lang="zh-CN" altLang="en-US" sz="1200" dirty="0">
                <a:latin typeface="Roboto" panose="02000000000000000000" pitchFamily="2" charset="0"/>
              </a:rPr>
              <a:t>是</a:t>
            </a:r>
            <a:r>
              <a:rPr lang="en-US" altLang="zh-CN" sz="1200" dirty="0">
                <a:solidFill>
                  <a:srgbClr val="C00000"/>
                </a:solidFill>
                <a:latin typeface="Roboto" panose="02000000000000000000" pitchFamily="2" charset="0"/>
              </a:rPr>
              <a:t>1</a:t>
            </a:r>
            <a:r>
              <a:rPr lang="zh-CN" altLang="en-US" sz="1200" dirty="0">
                <a:solidFill>
                  <a:srgbClr val="C00000"/>
                </a:solidFill>
                <a:latin typeface="Roboto" panose="02000000000000000000" pitchFamily="2" charset="0"/>
              </a:rPr>
              <a:t>次幂（比如 </a:t>
            </a:r>
            <a:r>
              <a:rPr lang="en-US" altLang="zh-CN" sz="1200" dirty="0">
                <a:solidFill>
                  <a:srgbClr val="C00000"/>
                </a:solidFill>
                <a:latin typeface="Roboto" panose="02000000000000000000" pitchFamily="2" charset="0"/>
              </a:rPr>
              <a:t>0.4</a:t>
            </a:r>
            <a:r>
              <a:rPr lang="zh-CN" altLang="en-US" sz="1200" dirty="0">
                <a:solidFill>
                  <a:srgbClr val="C00000"/>
                </a:solidFill>
                <a:latin typeface="Roboto" panose="02000000000000000000" pitchFamily="2" charset="0"/>
              </a:rPr>
              <a:t> </a:t>
            </a:r>
            <a:r>
              <a:rPr lang="en-US" altLang="zh-CN" sz="1200" dirty="0">
                <a:solidFill>
                  <a:srgbClr val="C00000"/>
                </a:solidFill>
                <a:latin typeface="Roboto" panose="02000000000000000000" pitchFamily="2" charset="0"/>
              </a:rPr>
              <a:t>0.3</a:t>
            </a:r>
            <a:r>
              <a:rPr lang="zh-CN" altLang="en-US" sz="1200" dirty="0">
                <a:solidFill>
                  <a:srgbClr val="C00000"/>
                </a:solidFill>
                <a:latin typeface="Roboto" panose="02000000000000000000" pitchFamily="2" charset="0"/>
              </a:rPr>
              <a:t> </a:t>
            </a:r>
            <a:r>
              <a:rPr lang="en-US" altLang="zh-CN" sz="1200" dirty="0">
                <a:solidFill>
                  <a:srgbClr val="C00000"/>
                </a:solidFill>
                <a:latin typeface="Roboto" panose="02000000000000000000" pitchFamily="2" charset="0"/>
              </a:rPr>
              <a:t>0.2</a:t>
            </a:r>
            <a:r>
              <a:rPr lang="zh-CN" altLang="en-US" sz="1200" dirty="0">
                <a:solidFill>
                  <a:srgbClr val="C00000"/>
                </a:solidFill>
                <a:latin typeface="Roboto" panose="02000000000000000000" pitchFamily="2" charset="0"/>
              </a:rPr>
              <a:t>）</a:t>
            </a:r>
            <a:endParaRPr lang="en-US" altLang="zh-CN" sz="1200" dirty="0">
              <a:latin typeface="Roboto" panose="02000000000000000000" pitchFamily="2" charset="0"/>
            </a:endParaRPr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CC63F50-FC71-46DD-9BDC-11F985EF41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</a:pPr>
            <a:r>
              <a:rPr lang="zh-CN" altLang="en-US" sz="1200" dirty="0">
                <a:latin typeface="Roboto" panose="02000000000000000000" pitchFamily="2" charset="0"/>
              </a:rPr>
              <a:t>线性模型是指</a:t>
            </a:r>
            <a:r>
              <a:rPr lang="en-US" altLang="zh-CN" sz="1200" dirty="0">
                <a:latin typeface="Roboto" panose="02000000000000000000" pitchFamily="2" charset="0"/>
              </a:rPr>
              <a:t>h(w)</a:t>
            </a:r>
            <a:r>
              <a:rPr lang="zh-CN" altLang="en-US" sz="1200" dirty="0">
                <a:latin typeface="Roboto" panose="02000000000000000000" pitchFamily="2" charset="0"/>
              </a:rPr>
              <a:t>是关于</a:t>
            </a:r>
            <a:r>
              <a:rPr lang="en-US" altLang="zh-CN" sz="1200" dirty="0">
                <a:latin typeface="Roboto" panose="02000000000000000000" pitchFamily="2" charset="0"/>
              </a:rPr>
              <a:t>w</a:t>
            </a:r>
            <a:r>
              <a:rPr lang="zh-CN" altLang="en-US" sz="1200" dirty="0">
                <a:latin typeface="Roboto" panose="02000000000000000000" pitchFamily="2" charset="0"/>
              </a:rPr>
              <a:t>的函数，权重参数</a:t>
            </a:r>
            <a:r>
              <a:rPr lang="en-US" altLang="zh-CN" sz="1200" dirty="0">
                <a:latin typeface="Roboto" panose="02000000000000000000" pitchFamily="2" charset="0"/>
              </a:rPr>
              <a:t>w1</a:t>
            </a:r>
            <a:r>
              <a:rPr lang="zh-CN" altLang="en-US" sz="1200" dirty="0">
                <a:latin typeface="Roboto" panose="02000000000000000000" pitchFamily="2" charset="0"/>
              </a:rPr>
              <a:t>、</a:t>
            </a:r>
            <a:r>
              <a:rPr lang="en-US" altLang="zh-CN" sz="1200" dirty="0">
                <a:latin typeface="Roboto" panose="02000000000000000000" pitchFamily="2" charset="0"/>
              </a:rPr>
              <a:t>w2</a:t>
            </a:r>
            <a:r>
              <a:rPr lang="zh-CN" altLang="en-US" sz="1200" dirty="0">
                <a:latin typeface="Roboto" panose="02000000000000000000" pitchFamily="2" charset="0"/>
              </a:rPr>
              <a:t>、</a:t>
            </a:r>
            <a:r>
              <a:rPr lang="en-US" altLang="zh-CN" sz="1200" dirty="0">
                <a:latin typeface="Roboto" panose="02000000000000000000" pitchFamily="2" charset="0"/>
              </a:rPr>
              <a:t>w3</a:t>
            </a:r>
            <a:r>
              <a:rPr lang="zh-CN" altLang="en-US" sz="1200" dirty="0">
                <a:latin typeface="Roboto" panose="02000000000000000000" pitchFamily="2" charset="0"/>
              </a:rPr>
              <a:t>是</a:t>
            </a:r>
            <a:r>
              <a:rPr lang="en-US" altLang="zh-CN" sz="1200" dirty="0">
                <a:solidFill>
                  <a:srgbClr val="C00000"/>
                </a:solidFill>
                <a:latin typeface="Roboto" panose="02000000000000000000" pitchFamily="2" charset="0"/>
              </a:rPr>
              <a:t>1</a:t>
            </a:r>
            <a:r>
              <a:rPr lang="zh-CN" altLang="en-US" sz="1200" dirty="0">
                <a:solidFill>
                  <a:srgbClr val="C00000"/>
                </a:solidFill>
                <a:latin typeface="Roboto" panose="02000000000000000000" pitchFamily="2" charset="0"/>
              </a:rPr>
              <a:t>次幂（比如 </a:t>
            </a:r>
            <a:r>
              <a:rPr lang="en-US" altLang="zh-CN" sz="1200" dirty="0">
                <a:solidFill>
                  <a:srgbClr val="C00000"/>
                </a:solidFill>
                <a:latin typeface="Roboto" panose="02000000000000000000" pitchFamily="2" charset="0"/>
              </a:rPr>
              <a:t>0.4</a:t>
            </a:r>
            <a:r>
              <a:rPr lang="zh-CN" altLang="en-US" sz="1200" dirty="0">
                <a:solidFill>
                  <a:srgbClr val="C00000"/>
                </a:solidFill>
                <a:latin typeface="Roboto" panose="02000000000000000000" pitchFamily="2" charset="0"/>
              </a:rPr>
              <a:t> </a:t>
            </a:r>
            <a:r>
              <a:rPr lang="en-US" altLang="zh-CN" sz="1200" dirty="0">
                <a:solidFill>
                  <a:srgbClr val="C00000"/>
                </a:solidFill>
                <a:latin typeface="Roboto" panose="02000000000000000000" pitchFamily="2" charset="0"/>
              </a:rPr>
              <a:t>0.3</a:t>
            </a:r>
            <a:r>
              <a:rPr lang="zh-CN" altLang="en-US" sz="1200" dirty="0">
                <a:solidFill>
                  <a:srgbClr val="C00000"/>
                </a:solidFill>
                <a:latin typeface="Roboto" panose="02000000000000000000" pitchFamily="2" charset="0"/>
              </a:rPr>
              <a:t> </a:t>
            </a:r>
            <a:r>
              <a:rPr lang="en-US" altLang="zh-CN" sz="1200" dirty="0">
                <a:solidFill>
                  <a:srgbClr val="C00000"/>
                </a:solidFill>
                <a:latin typeface="Roboto" panose="02000000000000000000" pitchFamily="2" charset="0"/>
              </a:rPr>
              <a:t>0.2</a:t>
            </a:r>
            <a:r>
              <a:rPr lang="zh-CN" altLang="en-US" sz="1200" dirty="0">
                <a:solidFill>
                  <a:srgbClr val="C00000"/>
                </a:solidFill>
                <a:latin typeface="Roboto" panose="02000000000000000000" pitchFamily="2" charset="0"/>
              </a:rPr>
              <a:t>）</a:t>
            </a:r>
            <a:endParaRPr lang="en-US" altLang="zh-CN" sz="1200" dirty="0">
              <a:latin typeface="Roboto" panose="02000000000000000000" pitchFamily="2" charset="0"/>
            </a:endParaRPr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CC63F50-FC71-46DD-9BDC-11F985EF41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</a:pPr>
            <a:r>
              <a:rPr lang="zh-CN" altLang="en-US" sz="1200" dirty="0">
                <a:latin typeface="Roboto" panose="02000000000000000000" pitchFamily="2" charset="0"/>
              </a:rPr>
              <a:t>线性模型是指</a:t>
            </a:r>
            <a:r>
              <a:rPr lang="en-US" altLang="zh-CN" sz="1200" dirty="0">
                <a:latin typeface="Roboto" panose="02000000000000000000" pitchFamily="2" charset="0"/>
              </a:rPr>
              <a:t>h(w)</a:t>
            </a:r>
            <a:r>
              <a:rPr lang="zh-CN" altLang="en-US" sz="1200" dirty="0">
                <a:latin typeface="Roboto" panose="02000000000000000000" pitchFamily="2" charset="0"/>
              </a:rPr>
              <a:t>是关于</a:t>
            </a:r>
            <a:r>
              <a:rPr lang="en-US" altLang="zh-CN" sz="1200" dirty="0">
                <a:latin typeface="Roboto" panose="02000000000000000000" pitchFamily="2" charset="0"/>
              </a:rPr>
              <a:t>w</a:t>
            </a:r>
            <a:r>
              <a:rPr lang="zh-CN" altLang="en-US" sz="1200" dirty="0">
                <a:latin typeface="Roboto" panose="02000000000000000000" pitchFamily="2" charset="0"/>
              </a:rPr>
              <a:t>的函数，权重参数</a:t>
            </a:r>
            <a:r>
              <a:rPr lang="en-US" altLang="zh-CN" sz="1200" dirty="0">
                <a:latin typeface="Roboto" panose="02000000000000000000" pitchFamily="2" charset="0"/>
              </a:rPr>
              <a:t>w1</a:t>
            </a:r>
            <a:r>
              <a:rPr lang="zh-CN" altLang="en-US" sz="1200" dirty="0">
                <a:latin typeface="Roboto" panose="02000000000000000000" pitchFamily="2" charset="0"/>
              </a:rPr>
              <a:t>、</a:t>
            </a:r>
            <a:r>
              <a:rPr lang="en-US" altLang="zh-CN" sz="1200" dirty="0">
                <a:latin typeface="Roboto" panose="02000000000000000000" pitchFamily="2" charset="0"/>
              </a:rPr>
              <a:t>w2</a:t>
            </a:r>
            <a:r>
              <a:rPr lang="zh-CN" altLang="en-US" sz="1200" dirty="0">
                <a:latin typeface="Roboto" panose="02000000000000000000" pitchFamily="2" charset="0"/>
              </a:rPr>
              <a:t>、</a:t>
            </a:r>
            <a:r>
              <a:rPr lang="en-US" altLang="zh-CN" sz="1200" dirty="0">
                <a:latin typeface="Roboto" panose="02000000000000000000" pitchFamily="2" charset="0"/>
              </a:rPr>
              <a:t>w3</a:t>
            </a:r>
            <a:r>
              <a:rPr lang="zh-CN" altLang="en-US" sz="1200" dirty="0">
                <a:latin typeface="Roboto" panose="02000000000000000000" pitchFamily="2" charset="0"/>
              </a:rPr>
              <a:t>是</a:t>
            </a:r>
            <a:r>
              <a:rPr lang="en-US" altLang="zh-CN" sz="1200" dirty="0">
                <a:solidFill>
                  <a:srgbClr val="C00000"/>
                </a:solidFill>
                <a:latin typeface="Roboto" panose="02000000000000000000" pitchFamily="2" charset="0"/>
              </a:rPr>
              <a:t>1</a:t>
            </a:r>
            <a:r>
              <a:rPr lang="zh-CN" altLang="en-US" sz="1200" dirty="0">
                <a:solidFill>
                  <a:srgbClr val="C00000"/>
                </a:solidFill>
                <a:latin typeface="Roboto" panose="02000000000000000000" pitchFamily="2" charset="0"/>
              </a:rPr>
              <a:t>次幂（比如 </a:t>
            </a:r>
            <a:r>
              <a:rPr lang="en-US" altLang="zh-CN" sz="1200" dirty="0">
                <a:solidFill>
                  <a:srgbClr val="C00000"/>
                </a:solidFill>
                <a:latin typeface="Roboto" panose="02000000000000000000" pitchFamily="2" charset="0"/>
              </a:rPr>
              <a:t>0.4</a:t>
            </a:r>
            <a:r>
              <a:rPr lang="zh-CN" altLang="en-US" sz="1200" dirty="0">
                <a:solidFill>
                  <a:srgbClr val="C00000"/>
                </a:solidFill>
                <a:latin typeface="Roboto" panose="02000000000000000000" pitchFamily="2" charset="0"/>
              </a:rPr>
              <a:t> </a:t>
            </a:r>
            <a:r>
              <a:rPr lang="en-US" altLang="zh-CN" sz="1200" dirty="0">
                <a:solidFill>
                  <a:srgbClr val="C00000"/>
                </a:solidFill>
                <a:latin typeface="Roboto" panose="02000000000000000000" pitchFamily="2" charset="0"/>
              </a:rPr>
              <a:t>0.3</a:t>
            </a:r>
            <a:r>
              <a:rPr lang="zh-CN" altLang="en-US" sz="1200" dirty="0">
                <a:solidFill>
                  <a:srgbClr val="C00000"/>
                </a:solidFill>
                <a:latin typeface="Roboto" panose="02000000000000000000" pitchFamily="2" charset="0"/>
              </a:rPr>
              <a:t> </a:t>
            </a:r>
            <a:r>
              <a:rPr lang="en-US" altLang="zh-CN" sz="1200" dirty="0">
                <a:solidFill>
                  <a:srgbClr val="C00000"/>
                </a:solidFill>
                <a:latin typeface="Roboto" panose="02000000000000000000" pitchFamily="2" charset="0"/>
              </a:rPr>
              <a:t>0.2</a:t>
            </a:r>
            <a:r>
              <a:rPr lang="zh-CN" altLang="en-US" sz="1200" dirty="0">
                <a:solidFill>
                  <a:srgbClr val="C00000"/>
                </a:solidFill>
                <a:latin typeface="Roboto" panose="02000000000000000000" pitchFamily="2" charset="0"/>
              </a:rPr>
              <a:t>）</a:t>
            </a:r>
            <a:endParaRPr lang="en-US" altLang="zh-CN" sz="1200" dirty="0">
              <a:latin typeface="Roboto" panose="02000000000000000000" pitchFamily="2" charset="0"/>
            </a:endParaRPr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CC63F50-FC71-46DD-9BDC-11F985EF41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</a:pPr>
            <a:r>
              <a:rPr lang="zh-CN" altLang="en-US" sz="1200" dirty="0">
                <a:latin typeface="Roboto" panose="02000000000000000000" pitchFamily="2" charset="0"/>
              </a:rPr>
              <a:t>线性模型是指</a:t>
            </a:r>
            <a:r>
              <a:rPr lang="en-US" altLang="zh-CN" sz="1200" dirty="0">
                <a:latin typeface="Roboto" panose="02000000000000000000" pitchFamily="2" charset="0"/>
              </a:rPr>
              <a:t>h(w)</a:t>
            </a:r>
            <a:r>
              <a:rPr lang="zh-CN" altLang="en-US" sz="1200" dirty="0">
                <a:latin typeface="Roboto" panose="02000000000000000000" pitchFamily="2" charset="0"/>
              </a:rPr>
              <a:t>是关于</a:t>
            </a:r>
            <a:r>
              <a:rPr lang="en-US" altLang="zh-CN" sz="1200" dirty="0">
                <a:latin typeface="Roboto" panose="02000000000000000000" pitchFamily="2" charset="0"/>
              </a:rPr>
              <a:t>w</a:t>
            </a:r>
            <a:r>
              <a:rPr lang="zh-CN" altLang="en-US" sz="1200" dirty="0">
                <a:latin typeface="Roboto" panose="02000000000000000000" pitchFamily="2" charset="0"/>
              </a:rPr>
              <a:t>的函数，权重参数</a:t>
            </a:r>
            <a:r>
              <a:rPr lang="en-US" altLang="zh-CN" sz="1200" dirty="0">
                <a:latin typeface="Roboto" panose="02000000000000000000" pitchFamily="2" charset="0"/>
              </a:rPr>
              <a:t>w1</a:t>
            </a:r>
            <a:r>
              <a:rPr lang="zh-CN" altLang="en-US" sz="1200" dirty="0">
                <a:latin typeface="Roboto" panose="02000000000000000000" pitchFamily="2" charset="0"/>
              </a:rPr>
              <a:t>、</a:t>
            </a:r>
            <a:r>
              <a:rPr lang="en-US" altLang="zh-CN" sz="1200" dirty="0">
                <a:latin typeface="Roboto" panose="02000000000000000000" pitchFamily="2" charset="0"/>
              </a:rPr>
              <a:t>w2</a:t>
            </a:r>
            <a:r>
              <a:rPr lang="zh-CN" altLang="en-US" sz="1200" dirty="0">
                <a:latin typeface="Roboto" panose="02000000000000000000" pitchFamily="2" charset="0"/>
              </a:rPr>
              <a:t>、</a:t>
            </a:r>
            <a:r>
              <a:rPr lang="en-US" altLang="zh-CN" sz="1200" dirty="0">
                <a:latin typeface="Roboto" panose="02000000000000000000" pitchFamily="2" charset="0"/>
              </a:rPr>
              <a:t>w3</a:t>
            </a:r>
            <a:r>
              <a:rPr lang="zh-CN" altLang="en-US" sz="1200" dirty="0">
                <a:latin typeface="Roboto" panose="02000000000000000000" pitchFamily="2" charset="0"/>
              </a:rPr>
              <a:t>是</a:t>
            </a:r>
            <a:r>
              <a:rPr lang="en-US" altLang="zh-CN" sz="1200" dirty="0">
                <a:solidFill>
                  <a:srgbClr val="C00000"/>
                </a:solidFill>
                <a:latin typeface="Roboto" panose="02000000000000000000" pitchFamily="2" charset="0"/>
              </a:rPr>
              <a:t>1</a:t>
            </a:r>
            <a:r>
              <a:rPr lang="zh-CN" altLang="en-US" sz="1200" dirty="0">
                <a:solidFill>
                  <a:srgbClr val="C00000"/>
                </a:solidFill>
                <a:latin typeface="Roboto" panose="02000000000000000000" pitchFamily="2" charset="0"/>
              </a:rPr>
              <a:t>次幂（比如 </a:t>
            </a:r>
            <a:r>
              <a:rPr lang="en-US" altLang="zh-CN" sz="1200" dirty="0">
                <a:solidFill>
                  <a:srgbClr val="C00000"/>
                </a:solidFill>
                <a:latin typeface="Roboto" panose="02000000000000000000" pitchFamily="2" charset="0"/>
              </a:rPr>
              <a:t>0.4</a:t>
            </a:r>
            <a:r>
              <a:rPr lang="zh-CN" altLang="en-US" sz="1200" dirty="0">
                <a:solidFill>
                  <a:srgbClr val="C00000"/>
                </a:solidFill>
                <a:latin typeface="Roboto" panose="02000000000000000000" pitchFamily="2" charset="0"/>
              </a:rPr>
              <a:t> </a:t>
            </a:r>
            <a:r>
              <a:rPr lang="en-US" altLang="zh-CN" sz="1200" dirty="0">
                <a:solidFill>
                  <a:srgbClr val="C00000"/>
                </a:solidFill>
                <a:latin typeface="Roboto" panose="02000000000000000000" pitchFamily="2" charset="0"/>
              </a:rPr>
              <a:t>0.3</a:t>
            </a:r>
            <a:r>
              <a:rPr lang="zh-CN" altLang="en-US" sz="1200" dirty="0">
                <a:solidFill>
                  <a:srgbClr val="C00000"/>
                </a:solidFill>
                <a:latin typeface="Roboto" panose="02000000000000000000" pitchFamily="2" charset="0"/>
              </a:rPr>
              <a:t> </a:t>
            </a:r>
            <a:r>
              <a:rPr lang="en-US" altLang="zh-CN" sz="1200" dirty="0">
                <a:solidFill>
                  <a:srgbClr val="C00000"/>
                </a:solidFill>
                <a:latin typeface="Roboto" panose="02000000000000000000" pitchFamily="2" charset="0"/>
              </a:rPr>
              <a:t>0.2</a:t>
            </a:r>
            <a:r>
              <a:rPr lang="zh-CN" altLang="en-US" sz="1200" dirty="0">
                <a:solidFill>
                  <a:srgbClr val="C00000"/>
                </a:solidFill>
                <a:latin typeface="Roboto" panose="02000000000000000000" pitchFamily="2" charset="0"/>
              </a:rPr>
              <a:t>）</a:t>
            </a:r>
            <a:endParaRPr lang="en-US" altLang="zh-CN" sz="1200" dirty="0">
              <a:latin typeface="Roboto" panose="02000000000000000000" pitchFamily="2" charset="0"/>
            </a:endParaRPr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CC63F50-FC71-46DD-9BDC-11F985EF41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CC63F50-FC71-46DD-9BDC-11F985EF41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CC63F50-FC71-46DD-9BDC-11F985EF41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CC63F50-FC71-46DD-9BDC-11F985EF41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CC63F50-FC71-46DD-9BDC-11F985EF41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CC63F50-FC71-46DD-9BDC-11F985EF41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CC63F50-FC71-46DD-9BDC-11F985EF41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</a:pPr>
            <a:r>
              <a:rPr lang="zh-CN" altLang="en-US" sz="1200" dirty="0">
                <a:latin typeface="Roboto" panose="02000000000000000000" pitchFamily="2" charset="0"/>
              </a:rPr>
              <a:t>线性模型是指</a:t>
            </a:r>
            <a:r>
              <a:rPr lang="en-US" altLang="zh-CN" sz="1200" dirty="0">
                <a:latin typeface="Roboto" panose="02000000000000000000" pitchFamily="2" charset="0"/>
              </a:rPr>
              <a:t>h(w)</a:t>
            </a:r>
            <a:r>
              <a:rPr lang="zh-CN" altLang="en-US" sz="1200" dirty="0">
                <a:latin typeface="Roboto" panose="02000000000000000000" pitchFamily="2" charset="0"/>
              </a:rPr>
              <a:t>是关于</a:t>
            </a:r>
            <a:r>
              <a:rPr lang="en-US" altLang="zh-CN" sz="1200" dirty="0">
                <a:latin typeface="Roboto" panose="02000000000000000000" pitchFamily="2" charset="0"/>
              </a:rPr>
              <a:t>w</a:t>
            </a:r>
            <a:r>
              <a:rPr lang="zh-CN" altLang="en-US" sz="1200" dirty="0">
                <a:latin typeface="Roboto" panose="02000000000000000000" pitchFamily="2" charset="0"/>
              </a:rPr>
              <a:t>的函数，权重参数</a:t>
            </a:r>
            <a:r>
              <a:rPr lang="en-US" altLang="zh-CN" sz="1200" dirty="0">
                <a:latin typeface="Roboto" panose="02000000000000000000" pitchFamily="2" charset="0"/>
              </a:rPr>
              <a:t>w1</a:t>
            </a:r>
            <a:r>
              <a:rPr lang="zh-CN" altLang="en-US" sz="1200" dirty="0">
                <a:latin typeface="Roboto" panose="02000000000000000000" pitchFamily="2" charset="0"/>
              </a:rPr>
              <a:t>、</a:t>
            </a:r>
            <a:r>
              <a:rPr lang="en-US" altLang="zh-CN" sz="1200" dirty="0">
                <a:latin typeface="Roboto" panose="02000000000000000000" pitchFamily="2" charset="0"/>
              </a:rPr>
              <a:t>w2</a:t>
            </a:r>
            <a:r>
              <a:rPr lang="zh-CN" altLang="en-US" sz="1200" dirty="0">
                <a:latin typeface="Roboto" panose="02000000000000000000" pitchFamily="2" charset="0"/>
              </a:rPr>
              <a:t>、</a:t>
            </a:r>
            <a:r>
              <a:rPr lang="en-US" altLang="zh-CN" sz="1200" dirty="0">
                <a:latin typeface="Roboto" panose="02000000000000000000" pitchFamily="2" charset="0"/>
              </a:rPr>
              <a:t>w3</a:t>
            </a:r>
            <a:r>
              <a:rPr lang="zh-CN" altLang="en-US" sz="1200" dirty="0">
                <a:latin typeface="Roboto" panose="02000000000000000000" pitchFamily="2" charset="0"/>
              </a:rPr>
              <a:t>是</a:t>
            </a:r>
            <a:r>
              <a:rPr lang="en-US" altLang="zh-CN" sz="1200" dirty="0">
                <a:solidFill>
                  <a:srgbClr val="C00000"/>
                </a:solidFill>
                <a:latin typeface="Roboto" panose="02000000000000000000" pitchFamily="2" charset="0"/>
              </a:rPr>
              <a:t>1</a:t>
            </a:r>
            <a:r>
              <a:rPr lang="zh-CN" altLang="en-US" sz="1200" dirty="0">
                <a:solidFill>
                  <a:srgbClr val="C00000"/>
                </a:solidFill>
                <a:latin typeface="Roboto" panose="02000000000000000000" pitchFamily="2" charset="0"/>
              </a:rPr>
              <a:t>次幂（比如 </a:t>
            </a:r>
            <a:r>
              <a:rPr lang="en-US" altLang="zh-CN" sz="1200" dirty="0">
                <a:solidFill>
                  <a:srgbClr val="C00000"/>
                </a:solidFill>
                <a:latin typeface="Roboto" panose="02000000000000000000" pitchFamily="2" charset="0"/>
              </a:rPr>
              <a:t>0.4</a:t>
            </a:r>
            <a:r>
              <a:rPr lang="zh-CN" altLang="en-US" sz="1200" dirty="0">
                <a:solidFill>
                  <a:srgbClr val="C00000"/>
                </a:solidFill>
                <a:latin typeface="Roboto" panose="02000000000000000000" pitchFamily="2" charset="0"/>
              </a:rPr>
              <a:t> </a:t>
            </a:r>
            <a:r>
              <a:rPr lang="en-US" altLang="zh-CN" sz="1200" dirty="0">
                <a:solidFill>
                  <a:srgbClr val="C00000"/>
                </a:solidFill>
                <a:latin typeface="Roboto" panose="02000000000000000000" pitchFamily="2" charset="0"/>
              </a:rPr>
              <a:t>0.3</a:t>
            </a:r>
            <a:r>
              <a:rPr lang="zh-CN" altLang="en-US" sz="1200" dirty="0">
                <a:solidFill>
                  <a:srgbClr val="C00000"/>
                </a:solidFill>
                <a:latin typeface="Roboto" panose="02000000000000000000" pitchFamily="2" charset="0"/>
              </a:rPr>
              <a:t> </a:t>
            </a:r>
            <a:r>
              <a:rPr lang="en-US" altLang="zh-CN" sz="1200" dirty="0">
                <a:solidFill>
                  <a:srgbClr val="C00000"/>
                </a:solidFill>
                <a:latin typeface="Roboto" panose="02000000000000000000" pitchFamily="2" charset="0"/>
              </a:rPr>
              <a:t>0.2</a:t>
            </a:r>
            <a:r>
              <a:rPr lang="zh-CN" altLang="en-US" sz="1200" dirty="0">
                <a:solidFill>
                  <a:srgbClr val="C00000"/>
                </a:solidFill>
                <a:latin typeface="Roboto" panose="02000000000000000000" pitchFamily="2" charset="0"/>
              </a:rPr>
              <a:t>）</a:t>
            </a:r>
            <a:endParaRPr lang="en-US" altLang="zh-CN" sz="1200" dirty="0">
              <a:latin typeface="Roboto" panose="02000000000000000000" pitchFamily="2" charset="0"/>
            </a:endParaRPr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CC63F50-FC71-46DD-9BDC-11F985EF41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</a:pPr>
            <a:r>
              <a:rPr lang="zh-CN" altLang="en-US" sz="1200" dirty="0">
                <a:latin typeface="Roboto" panose="02000000000000000000" pitchFamily="2" charset="0"/>
              </a:rPr>
              <a:t>线性模型是指</a:t>
            </a:r>
            <a:r>
              <a:rPr lang="en-US" altLang="zh-CN" sz="1200" dirty="0">
                <a:latin typeface="Roboto" panose="02000000000000000000" pitchFamily="2" charset="0"/>
              </a:rPr>
              <a:t>h(w)</a:t>
            </a:r>
            <a:r>
              <a:rPr lang="zh-CN" altLang="en-US" sz="1200" dirty="0">
                <a:latin typeface="Roboto" panose="02000000000000000000" pitchFamily="2" charset="0"/>
              </a:rPr>
              <a:t>是关于</a:t>
            </a:r>
            <a:r>
              <a:rPr lang="en-US" altLang="zh-CN" sz="1200" dirty="0">
                <a:latin typeface="Roboto" panose="02000000000000000000" pitchFamily="2" charset="0"/>
              </a:rPr>
              <a:t>w</a:t>
            </a:r>
            <a:r>
              <a:rPr lang="zh-CN" altLang="en-US" sz="1200" dirty="0">
                <a:latin typeface="Roboto" panose="02000000000000000000" pitchFamily="2" charset="0"/>
              </a:rPr>
              <a:t>的函数，权重参数</a:t>
            </a:r>
            <a:r>
              <a:rPr lang="en-US" altLang="zh-CN" sz="1200" dirty="0">
                <a:latin typeface="Roboto" panose="02000000000000000000" pitchFamily="2" charset="0"/>
              </a:rPr>
              <a:t>w1</a:t>
            </a:r>
            <a:r>
              <a:rPr lang="zh-CN" altLang="en-US" sz="1200" dirty="0">
                <a:latin typeface="Roboto" panose="02000000000000000000" pitchFamily="2" charset="0"/>
              </a:rPr>
              <a:t>、</a:t>
            </a:r>
            <a:r>
              <a:rPr lang="en-US" altLang="zh-CN" sz="1200" dirty="0">
                <a:latin typeface="Roboto" panose="02000000000000000000" pitchFamily="2" charset="0"/>
              </a:rPr>
              <a:t>w2</a:t>
            </a:r>
            <a:r>
              <a:rPr lang="zh-CN" altLang="en-US" sz="1200" dirty="0">
                <a:latin typeface="Roboto" panose="02000000000000000000" pitchFamily="2" charset="0"/>
              </a:rPr>
              <a:t>、</a:t>
            </a:r>
            <a:r>
              <a:rPr lang="en-US" altLang="zh-CN" sz="1200" dirty="0">
                <a:latin typeface="Roboto" panose="02000000000000000000" pitchFamily="2" charset="0"/>
              </a:rPr>
              <a:t>w3</a:t>
            </a:r>
            <a:r>
              <a:rPr lang="zh-CN" altLang="en-US" sz="1200" dirty="0">
                <a:latin typeface="Roboto" panose="02000000000000000000" pitchFamily="2" charset="0"/>
              </a:rPr>
              <a:t>是</a:t>
            </a:r>
            <a:r>
              <a:rPr lang="en-US" altLang="zh-CN" sz="1200" dirty="0">
                <a:solidFill>
                  <a:srgbClr val="C00000"/>
                </a:solidFill>
                <a:latin typeface="Roboto" panose="02000000000000000000" pitchFamily="2" charset="0"/>
              </a:rPr>
              <a:t>1</a:t>
            </a:r>
            <a:r>
              <a:rPr lang="zh-CN" altLang="en-US" sz="1200" dirty="0">
                <a:solidFill>
                  <a:srgbClr val="C00000"/>
                </a:solidFill>
                <a:latin typeface="Roboto" panose="02000000000000000000" pitchFamily="2" charset="0"/>
              </a:rPr>
              <a:t>次幂（比如 </a:t>
            </a:r>
            <a:r>
              <a:rPr lang="en-US" altLang="zh-CN" sz="1200" dirty="0">
                <a:solidFill>
                  <a:srgbClr val="C00000"/>
                </a:solidFill>
                <a:latin typeface="Roboto" panose="02000000000000000000" pitchFamily="2" charset="0"/>
              </a:rPr>
              <a:t>0.4</a:t>
            </a:r>
            <a:r>
              <a:rPr lang="zh-CN" altLang="en-US" sz="1200" dirty="0">
                <a:solidFill>
                  <a:srgbClr val="C00000"/>
                </a:solidFill>
                <a:latin typeface="Roboto" panose="02000000000000000000" pitchFamily="2" charset="0"/>
              </a:rPr>
              <a:t> </a:t>
            </a:r>
            <a:r>
              <a:rPr lang="en-US" altLang="zh-CN" sz="1200" dirty="0">
                <a:solidFill>
                  <a:srgbClr val="C00000"/>
                </a:solidFill>
                <a:latin typeface="Roboto" panose="02000000000000000000" pitchFamily="2" charset="0"/>
              </a:rPr>
              <a:t>0.3</a:t>
            </a:r>
            <a:r>
              <a:rPr lang="zh-CN" altLang="en-US" sz="1200" dirty="0">
                <a:solidFill>
                  <a:srgbClr val="C00000"/>
                </a:solidFill>
                <a:latin typeface="Roboto" panose="02000000000000000000" pitchFamily="2" charset="0"/>
              </a:rPr>
              <a:t> </a:t>
            </a:r>
            <a:r>
              <a:rPr lang="en-US" altLang="zh-CN" sz="1200" dirty="0">
                <a:solidFill>
                  <a:srgbClr val="C00000"/>
                </a:solidFill>
                <a:latin typeface="Roboto" panose="02000000000000000000" pitchFamily="2" charset="0"/>
              </a:rPr>
              <a:t>0.2</a:t>
            </a:r>
            <a:r>
              <a:rPr lang="zh-CN" altLang="en-US" sz="1200" dirty="0">
                <a:solidFill>
                  <a:srgbClr val="C00000"/>
                </a:solidFill>
                <a:latin typeface="Roboto" panose="02000000000000000000" pitchFamily="2" charset="0"/>
              </a:rPr>
              <a:t>）</a:t>
            </a:r>
            <a:endParaRPr lang="en-US" altLang="zh-CN" sz="1200" dirty="0">
              <a:latin typeface="Roboto" panose="02000000000000000000" pitchFamily="2" charset="0"/>
            </a:endParaRPr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CC63F50-FC71-46DD-9BDC-11F985EF41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</a:pPr>
            <a:r>
              <a:rPr lang="zh-CN" altLang="en-US" sz="1200" dirty="0">
                <a:latin typeface="Roboto" panose="02000000000000000000" pitchFamily="2" charset="0"/>
              </a:rPr>
              <a:t>线性模型是指</a:t>
            </a:r>
            <a:r>
              <a:rPr lang="en-US" altLang="zh-CN" sz="1200" dirty="0">
                <a:latin typeface="Roboto" panose="02000000000000000000" pitchFamily="2" charset="0"/>
              </a:rPr>
              <a:t>h(w)</a:t>
            </a:r>
            <a:r>
              <a:rPr lang="zh-CN" altLang="en-US" sz="1200" dirty="0">
                <a:latin typeface="Roboto" panose="02000000000000000000" pitchFamily="2" charset="0"/>
              </a:rPr>
              <a:t>是关于</a:t>
            </a:r>
            <a:r>
              <a:rPr lang="en-US" altLang="zh-CN" sz="1200" dirty="0">
                <a:latin typeface="Roboto" panose="02000000000000000000" pitchFamily="2" charset="0"/>
              </a:rPr>
              <a:t>w</a:t>
            </a:r>
            <a:r>
              <a:rPr lang="zh-CN" altLang="en-US" sz="1200" dirty="0">
                <a:latin typeface="Roboto" panose="02000000000000000000" pitchFamily="2" charset="0"/>
              </a:rPr>
              <a:t>的函数，权重参数</a:t>
            </a:r>
            <a:r>
              <a:rPr lang="en-US" altLang="zh-CN" sz="1200" dirty="0">
                <a:latin typeface="Roboto" panose="02000000000000000000" pitchFamily="2" charset="0"/>
              </a:rPr>
              <a:t>w1</a:t>
            </a:r>
            <a:r>
              <a:rPr lang="zh-CN" altLang="en-US" sz="1200" dirty="0">
                <a:latin typeface="Roboto" panose="02000000000000000000" pitchFamily="2" charset="0"/>
              </a:rPr>
              <a:t>、</a:t>
            </a:r>
            <a:r>
              <a:rPr lang="en-US" altLang="zh-CN" sz="1200" dirty="0">
                <a:latin typeface="Roboto" panose="02000000000000000000" pitchFamily="2" charset="0"/>
              </a:rPr>
              <a:t>w2</a:t>
            </a:r>
            <a:r>
              <a:rPr lang="zh-CN" altLang="en-US" sz="1200" dirty="0">
                <a:latin typeface="Roboto" panose="02000000000000000000" pitchFamily="2" charset="0"/>
              </a:rPr>
              <a:t>、</a:t>
            </a:r>
            <a:r>
              <a:rPr lang="en-US" altLang="zh-CN" sz="1200" dirty="0">
                <a:latin typeface="Roboto" panose="02000000000000000000" pitchFamily="2" charset="0"/>
              </a:rPr>
              <a:t>w3</a:t>
            </a:r>
            <a:r>
              <a:rPr lang="zh-CN" altLang="en-US" sz="1200" dirty="0">
                <a:latin typeface="Roboto" panose="02000000000000000000" pitchFamily="2" charset="0"/>
              </a:rPr>
              <a:t>是</a:t>
            </a:r>
            <a:r>
              <a:rPr lang="en-US" altLang="zh-CN" sz="1200" dirty="0">
                <a:solidFill>
                  <a:srgbClr val="C00000"/>
                </a:solidFill>
                <a:latin typeface="Roboto" panose="02000000000000000000" pitchFamily="2" charset="0"/>
              </a:rPr>
              <a:t>1</a:t>
            </a:r>
            <a:r>
              <a:rPr lang="zh-CN" altLang="en-US" sz="1200" dirty="0">
                <a:solidFill>
                  <a:srgbClr val="C00000"/>
                </a:solidFill>
                <a:latin typeface="Roboto" panose="02000000000000000000" pitchFamily="2" charset="0"/>
              </a:rPr>
              <a:t>次幂（比如 </a:t>
            </a:r>
            <a:r>
              <a:rPr lang="en-US" altLang="zh-CN" sz="1200" dirty="0">
                <a:solidFill>
                  <a:srgbClr val="C00000"/>
                </a:solidFill>
                <a:latin typeface="Roboto" panose="02000000000000000000" pitchFamily="2" charset="0"/>
              </a:rPr>
              <a:t>0.4</a:t>
            </a:r>
            <a:r>
              <a:rPr lang="zh-CN" altLang="en-US" sz="1200" dirty="0">
                <a:solidFill>
                  <a:srgbClr val="C00000"/>
                </a:solidFill>
                <a:latin typeface="Roboto" panose="02000000000000000000" pitchFamily="2" charset="0"/>
              </a:rPr>
              <a:t> </a:t>
            </a:r>
            <a:r>
              <a:rPr lang="en-US" altLang="zh-CN" sz="1200" dirty="0">
                <a:solidFill>
                  <a:srgbClr val="C00000"/>
                </a:solidFill>
                <a:latin typeface="Roboto" panose="02000000000000000000" pitchFamily="2" charset="0"/>
              </a:rPr>
              <a:t>0.3</a:t>
            </a:r>
            <a:r>
              <a:rPr lang="zh-CN" altLang="en-US" sz="1200" dirty="0">
                <a:solidFill>
                  <a:srgbClr val="C00000"/>
                </a:solidFill>
                <a:latin typeface="Roboto" panose="02000000000000000000" pitchFamily="2" charset="0"/>
              </a:rPr>
              <a:t> </a:t>
            </a:r>
            <a:r>
              <a:rPr lang="en-US" altLang="zh-CN" sz="1200" dirty="0">
                <a:solidFill>
                  <a:srgbClr val="C00000"/>
                </a:solidFill>
                <a:latin typeface="Roboto" panose="02000000000000000000" pitchFamily="2" charset="0"/>
              </a:rPr>
              <a:t>0.2</a:t>
            </a:r>
            <a:r>
              <a:rPr lang="zh-CN" altLang="en-US" sz="1200" dirty="0">
                <a:solidFill>
                  <a:srgbClr val="C00000"/>
                </a:solidFill>
                <a:latin typeface="Roboto" panose="02000000000000000000" pitchFamily="2" charset="0"/>
              </a:rPr>
              <a:t>）</a:t>
            </a:r>
            <a:endParaRPr lang="en-US" altLang="zh-CN" sz="1200" dirty="0">
              <a:latin typeface="Roboto" panose="02000000000000000000" pitchFamily="2" charset="0"/>
            </a:endParaRPr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CC63F50-FC71-46DD-9BDC-11F985EF41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CC63F50-FC71-46DD-9BDC-11F985EF41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CC63F50-FC71-46DD-9BDC-11F985EF41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CC63F50-FC71-46DD-9BDC-11F985EF41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CC63F50-FC71-46DD-9BDC-11F985EF41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CC63F50-FC71-46DD-9BDC-11F985EF41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CC63F50-FC71-46DD-9BDC-11F985EF41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6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6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6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2244725"/>
            <a:ext cx="10541000" cy="1158875"/>
          </a:xfrm>
          <a:prstGeom prst="rect">
            <a:avLst/>
          </a:prstGeom>
        </p:spPr>
        <p:txBody>
          <a:bodyPr anchor="ctr"/>
          <a:lstStyle>
            <a:lvl1pPr>
              <a:defRPr sz="7200" b="0" i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kumimoji="1" lang="zh-CN" altLang="en-US" dirty="0"/>
              <a:t>主标题</a:t>
            </a:r>
            <a:endParaRPr kumimoji="1" lang="zh-CN" altLang="en-US" dirty="0"/>
          </a:p>
        </p:txBody>
      </p:sp>
      <p:sp>
        <p:nvSpPr>
          <p:cNvPr id="3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3454401"/>
            <a:ext cx="10540999" cy="630237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2400" b="0" i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</a:lstStyle>
          <a:p>
            <a:pPr lvl="0"/>
            <a:r>
              <a:rPr kumimoji="1" lang="zh-CN" altLang="en-US" dirty="0"/>
              <a:t>副标题内容，如若没有可以删除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5019358" y="1006475"/>
            <a:ext cx="5973761" cy="4256405"/>
          </a:xfrm>
          <a:prstGeom prst="rect">
            <a:avLst/>
          </a:prstGeom>
        </p:spPr>
        <p:txBody>
          <a:bodyPr anchor="ctr"/>
          <a:lstStyle>
            <a:lvl1pPr marL="457200" marR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marL="457200" marR="0" lvl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>
              <a:buNone/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  <a:lvl4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4pPr>
            <a:lvl5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 hasCustomPrompt="1"/>
          </p:nvPr>
        </p:nvSpPr>
        <p:spPr>
          <a:xfrm>
            <a:off x="5232400" y="2766218"/>
            <a:ext cx="6654800" cy="1325563"/>
          </a:xfrm>
          <a:prstGeom prst="rect">
            <a:avLst/>
          </a:prstGeom>
        </p:spPr>
        <p:txBody>
          <a:bodyPr/>
          <a:lstStyle>
            <a:lvl1pPr>
              <a:defRPr sz="3200" b="0" i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kumimoji="1" lang="zh-CN" altLang="en-US" dirty="0"/>
              <a:t>章节标题，右侧章节数字需自行设置</a:t>
            </a:r>
            <a:endParaRPr kumimoji="1" lang="zh-CN" altLang="en-US" dirty="0"/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0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24204"/>
            <a:ext cx="10698800" cy="386122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590102"/>
            <a:ext cx="10749598" cy="3850540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119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03185"/>
            <a:ext cx="10719120" cy="3819718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3"/>
            <a:ext cx="10719119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28517"/>
            <a:ext cx="10748057" cy="3922461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12212"/>
            <a:ext cx="9845675" cy="454780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0749"/>
            <a:ext cx="9845675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719119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598036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3"/>
            <a:ext cx="10748057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18707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744805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105625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案例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344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>
              <a:spcBef>
                <a:spcPct val="0"/>
              </a:spcBef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3280"/>
            <a:ext cx="9214230" cy="376237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pic>
        <p:nvPicPr>
          <p:cNvPr id="13" name="图形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46948"/>
            <a:ext cx="201682" cy="20168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步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1060146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步骤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7332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marL="0" lvl="0" indent="0">
              <a:spcBef>
                <a:spcPct val="0"/>
              </a:spcBef>
              <a:buNone/>
            </a:pPr>
            <a:r>
              <a:rPr lang="zh-CN" altLang="en-US" dirty="0"/>
              <a:t>步骤标题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7172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pic>
        <p:nvPicPr>
          <p:cNvPr id="13" name="图形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50840"/>
            <a:ext cx="201682" cy="20168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1054782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练习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1968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marL="0" lvl="0" indent="0">
              <a:spcBef>
                <a:spcPct val="0"/>
              </a:spcBef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1808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pic>
        <p:nvPicPr>
          <p:cNvPr id="13" name="图形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45476"/>
            <a:ext cx="201682" cy="20168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5069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5274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8826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149103"/>
            <a:ext cx="566610" cy="488457"/>
          </a:xfrm>
          <a:prstGeom prst="hexagon">
            <a:avLst/>
          </a:prstGeom>
          <a:solidFill>
            <a:srgbClr val="AD2B26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126436"/>
            <a:ext cx="298934" cy="257702"/>
          </a:xfrm>
          <a:prstGeom prst="hexagon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385265"/>
            <a:ext cx="566612" cy="488459"/>
          </a:xfrm>
          <a:prstGeom prst="hexagon">
            <a:avLst/>
          </a:prstGeom>
          <a:noFill/>
          <a:ln w="1905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7150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81309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1013943" y="3138371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0" name="泪珠形 19"/>
          <p:cNvSpPr/>
          <p:nvPr userDrawn="1"/>
        </p:nvSpPr>
        <p:spPr>
          <a:xfrm>
            <a:off x="1645363" y="2308178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B6020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2" name="标题占位符 1"/>
          <p:cNvSpPr txBox="1">
            <a:spLocks noChangeArrowheads="1"/>
          </p:cNvSpPr>
          <p:nvPr userDrawn="1"/>
        </p:nvSpPr>
        <p:spPr bwMode="auto">
          <a:xfrm>
            <a:off x="1938193" y="2553627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思路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泪珠形 22"/>
          <p:cNvSpPr/>
          <p:nvPr userDrawn="1"/>
        </p:nvSpPr>
        <p:spPr>
          <a:xfrm>
            <a:off x="3663313" y="3963112"/>
            <a:ext cx="439924" cy="439924"/>
          </a:xfrm>
          <a:prstGeom prst="teardrop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4" name="泪珠形 23"/>
          <p:cNvSpPr/>
          <p:nvPr userDrawn="1"/>
        </p:nvSpPr>
        <p:spPr>
          <a:xfrm>
            <a:off x="2152487" y="1924996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5" name="泪珠形 24"/>
          <p:cNvSpPr/>
          <p:nvPr userDrawn="1"/>
        </p:nvSpPr>
        <p:spPr>
          <a:xfrm>
            <a:off x="844996" y="3255023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2953096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3896183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003998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111232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025081"/>
            <a:ext cx="361655" cy="361655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401118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543117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329809"/>
            <a:ext cx="263657" cy="263657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4" Type="http://schemas.openxmlformats.org/officeDocument/2006/relationships/theme" Target="../theme/theme3.xml"/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5.xml"/></Relationships>
</file>

<file path=ppt/slideMasters/_rels/slideMaster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1.xml"/><Relationship Id="rId5" Type="http://schemas.openxmlformats.org/officeDocument/2006/relationships/slideLayout" Target="../slideLayouts/slideLayout10.xml"/><Relationship Id="rId4" Type="http://schemas.openxmlformats.org/officeDocument/2006/relationships/slideLayout" Target="../slideLayouts/slideLayout9.xml"/><Relationship Id="rId3" Type="http://schemas.openxmlformats.org/officeDocument/2006/relationships/slideLayout" Target="../slideLayouts/slideLayout8.xml"/><Relationship Id="rId2" Type="http://schemas.openxmlformats.org/officeDocument/2006/relationships/slideLayout" Target="../slideLayouts/slideLayout7.xml"/><Relationship Id="rId18" Type="http://schemas.openxmlformats.org/officeDocument/2006/relationships/theme" Target="../theme/theme6.xml"/><Relationship Id="rId17" Type="http://schemas.openxmlformats.org/officeDocument/2006/relationships/image" Target="../media/image7.svg"/><Relationship Id="rId16" Type="http://schemas.openxmlformats.org/officeDocument/2006/relationships/image" Target="../media/image6.png"/><Relationship Id="rId15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15.xml"/><Relationship Id="rId1" Type="http://schemas.openxmlformats.org/officeDocument/2006/relationships/slideLayout" Target="../slideLayouts/slideLayout6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theme" Target="../theme/theme7.xm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六边形 29"/>
          <p:cNvSpPr/>
          <p:nvPr userDrawn="1"/>
        </p:nvSpPr>
        <p:spPr>
          <a:xfrm rot="5400000">
            <a:off x="8672366" y="-244234"/>
            <a:ext cx="1034350" cy="1136649"/>
          </a:xfrm>
          <a:custGeom>
            <a:avLst/>
            <a:gdLst>
              <a:gd name="connsiteX0" fmla="*/ 0 w 1318512"/>
              <a:gd name="connsiteY0" fmla="*/ 568325 h 1136649"/>
              <a:gd name="connsiteX1" fmla="*/ 284162 w 1318512"/>
              <a:gd name="connsiteY1" fmla="*/ 0 h 1136649"/>
              <a:gd name="connsiteX2" fmla="*/ 1034350 w 1318512"/>
              <a:gd name="connsiteY2" fmla="*/ 0 h 1136649"/>
              <a:gd name="connsiteX3" fmla="*/ 1318512 w 1318512"/>
              <a:gd name="connsiteY3" fmla="*/ 568325 h 1136649"/>
              <a:gd name="connsiteX4" fmla="*/ 1034350 w 1318512"/>
              <a:gd name="connsiteY4" fmla="*/ 1136649 h 1136649"/>
              <a:gd name="connsiteX5" fmla="*/ 284162 w 1318512"/>
              <a:gd name="connsiteY5" fmla="*/ 1136649 h 1136649"/>
              <a:gd name="connsiteX6" fmla="*/ 0 w 1318512"/>
              <a:gd name="connsiteY6" fmla="*/ 568325 h 1136649"/>
              <a:gd name="connsiteX0-1" fmla="*/ 0 w 1034350"/>
              <a:gd name="connsiteY0-2" fmla="*/ 1136649 h 1136649"/>
              <a:gd name="connsiteX1-3" fmla="*/ 0 w 1034350"/>
              <a:gd name="connsiteY1-4" fmla="*/ 0 h 1136649"/>
              <a:gd name="connsiteX2-5" fmla="*/ 750188 w 1034350"/>
              <a:gd name="connsiteY2-6" fmla="*/ 0 h 1136649"/>
              <a:gd name="connsiteX3-7" fmla="*/ 1034350 w 1034350"/>
              <a:gd name="connsiteY3-8" fmla="*/ 568325 h 1136649"/>
              <a:gd name="connsiteX4-9" fmla="*/ 750188 w 1034350"/>
              <a:gd name="connsiteY4-10" fmla="*/ 1136649 h 1136649"/>
              <a:gd name="connsiteX5-11" fmla="*/ 0 w 1034350"/>
              <a:gd name="connsiteY5-12" fmla="*/ 1136649 h 113664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1034350" h="1136649">
                <a:moveTo>
                  <a:pt x="0" y="1136649"/>
                </a:moveTo>
                <a:lnTo>
                  <a:pt x="0" y="0"/>
                </a:lnTo>
                <a:lnTo>
                  <a:pt x="750188" y="0"/>
                </a:lnTo>
                <a:lnTo>
                  <a:pt x="1034350" y="568325"/>
                </a:lnTo>
                <a:lnTo>
                  <a:pt x="750188" y="1136649"/>
                </a:lnTo>
                <a:lnTo>
                  <a:pt x="0" y="1136649"/>
                </a:lnTo>
                <a:close/>
              </a:path>
            </a:pathLst>
          </a:cu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1" name="六边形 30"/>
          <p:cNvSpPr/>
          <p:nvPr userDrawn="1"/>
        </p:nvSpPr>
        <p:spPr>
          <a:xfrm rot="5400000">
            <a:off x="9521078" y="753888"/>
            <a:ext cx="523072" cy="450925"/>
          </a:xfrm>
          <a:prstGeom prst="hexagon">
            <a:avLst/>
          </a:prstGeom>
          <a:solidFill>
            <a:srgbClr val="49504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2" name="六边形 31"/>
          <p:cNvSpPr/>
          <p:nvPr userDrawn="1"/>
        </p:nvSpPr>
        <p:spPr>
          <a:xfrm rot="5400000">
            <a:off x="8027944" y="996957"/>
            <a:ext cx="523072" cy="450925"/>
          </a:xfrm>
          <a:prstGeom prst="hexagon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3" name="六边形 32"/>
          <p:cNvSpPr/>
          <p:nvPr userDrawn="1"/>
        </p:nvSpPr>
        <p:spPr>
          <a:xfrm rot="5400000">
            <a:off x="10287577" y="140894"/>
            <a:ext cx="196767" cy="169627"/>
          </a:xfrm>
          <a:prstGeom prst="hexagon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4" name="六边形 33"/>
          <p:cNvSpPr/>
          <p:nvPr userDrawn="1"/>
        </p:nvSpPr>
        <p:spPr>
          <a:xfrm rot="5400000">
            <a:off x="3684719" y="893697"/>
            <a:ext cx="886529" cy="764250"/>
          </a:xfrm>
          <a:prstGeom prst="hexagon">
            <a:avLst/>
          </a:prstGeom>
          <a:noFill/>
          <a:ln w="9525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5" name="六边形 34"/>
          <p:cNvSpPr/>
          <p:nvPr userDrawn="1"/>
        </p:nvSpPr>
        <p:spPr>
          <a:xfrm rot="5400000">
            <a:off x="11266257" y="1225116"/>
            <a:ext cx="206955" cy="178410"/>
          </a:xfrm>
          <a:prstGeom prst="hexagon">
            <a:avLst/>
          </a:prstGeom>
          <a:noFill/>
          <a:ln w="9525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6" name="六边形 35"/>
          <p:cNvSpPr/>
          <p:nvPr userDrawn="1"/>
        </p:nvSpPr>
        <p:spPr>
          <a:xfrm rot="5400000">
            <a:off x="918490" y="676500"/>
            <a:ext cx="206955" cy="178410"/>
          </a:xfrm>
          <a:prstGeom prst="hexagon">
            <a:avLst/>
          </a:prstGeom>
          <a:solidFill>
            <a:srgbClr val="AD2B2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7" name="六边形 36"/>
          <p:cNvSpPr/>
          <p:nvPr userDrawn="1"/>
        </p:nvSpPr>
        <p:spPr>
          <a:xfrm rot="5400000">
            <a:off x="4564916" y="775592"/>
            <a:ext cx="369001" cy="318105"/>
          </a:xfrm>
          <a:prstGeom prst="hexagon">
            <a:avLst/>
          </a:prstGeom>
          <a:solidFill>
            <a:schemeClr val="bg1">
              <a:lumMod val="9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3" name="直线连接符 2"/>
          <p:cNvCxnSpPr/>
          <p:nvPr userDrawn="1"/>
        </p:nvCxnSpPr>
        <p:spPr>
          <a:xfrm>
            <a:off x="9997213" y="1131213"/>
            <a:ext cx="647089" cy="396648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线连接符 40"/>
          <p:cNvCxnSpPr/>
          <p:nvPr userDrawn="1"/>
        </p:nvCxnSpPr>
        <p:spPr>
          <a:xfrm>
            <a:off x="3898416" y="466240"/>
            <a:ext cx="691948" cy="366317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图片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3018" y="5296483"/>
            <a:ext cx="3565964" cy="58207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5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6096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12192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8288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24384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grpSp>
        <p:nvGrpSpPr>
          <p:cNvPr id="5" name="组合 4"/>
          <p:cNvGrpSpPr/>
          <p:nvPr userDrawn="1"/>
        </p:nvGrpSpPr>
        <p:grpSpPr>
          <a:xfrm>
            <a:off x="2126595" y="2260317"/>
            <a:ext cx="2280944" cy="1168683"/>
            <a:chOff x="1984355" y="1223746"/>
            <a:chExt cx="2280944" cy="1168683"/>
          </a:xfrm>
        </p:grpSpPr>
        <p:sp>
          <p:nvSpPr>
            <p:cNvPr id="20" name="文本框 19"/>
            <p:cNvSpPr txBox="1"/>
            <p:nvPr/>
          </p:nvSpPr>
          <p:spPr>
            <a:xfrm>
              <a:off x="2549296" y="1223746"/>
              <a:ext cx="1245854" cy="7386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4200" b="1" i="0" dirty="0"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目录</a:t>
              </a:r>
              <a:endPara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1984355" y="1869209"/>
              <a:ext cx="1833941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>
                  <a:solidFill>
                    <a:schemeClr val="bg1">
                      <a:lumMod val="8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阿里巴巴普惠体" panose="00020600040101010101" pitchFamily="18" charset="-122"/>
                </a:rPr>
                <a:t>Contents</a:t>
              </a:r>
              <a:endParaRPr lang="zh-CN" altLang="en-US" sz="28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cxnSp>
          <p:nvCxnSpPr>
            <p:cNvPr id="23" name="直接连接符 2"/>
            <p:cNvCxnSpPr/>
            <p:nvPr/>
          </p:nvCxnSpPr>
          <p:spPr>
            <a:xfrm>
              <a:off x="4265299" y="1300145"/>
              <a:ext cx="0" cy="1062261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六边形 24"/>
            <p:cNvSpPr/>
            <p:nvPr/>
          </p:nvSpPr>
          <p:spPr>
            <a:xfrm rot="5400000">
              <a:off x="2142134" y="1404577"/>
              <a:ext cx="437322" cy="377002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6" name="六边形 25"/>
            <p:cNvSpPr/>
            <p:nvPr/>
          </p:nvSpPr>
          <p:spPr>
            <a:xfrm rot="5400000">
              <a:off x="2037082" y="1610051"/>
              <a:ext cx="246109" cy="212163"/>
            </a:xfrm>
            <a:prstGeom prst="hexagon">
              <a:avLst/>
            </a:prstGeom>
            <a:solidFill>
              <a:srgbClr val="D9D9D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图形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/>
          <p:cNvSpPr/>
          <p:nvPr userDrawn="1"/>
        </p:nvSpPr>
        <p:spPr>
          <a:xfrm rot="5400000">
            <a:off x="3779834" y="2429461"/>
            <a:ext cx="1318512" cy="1136649"/>
          </a:xfrm>
          <a:prstGeom prst="hexagon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六边形 7"/>
          <p:cNvSpPr/>
          <p:nvPr userDrawn="1"/>
        </p:nvSpPr>
        <p:spPr>
          <a:xfrm rot="5400000">
            <a:off x="3567036" y="3257393"/>
            <a:ext cx="429253" cy="370046"/>
          </a:xfrm>
          <a:prstGeom prst="hexagon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/>
          <p:cNvSpPr/>
          <p:nvPr userDrawn="1"/>
        </p:nvSpPr>
        <p:spPr>
          <a:xfrm rot="5400000">
            <a:off x="3779834" y="2429461"/>
            <a:ext cx="1318512" cy="1136649"/>
          </a:xfrm>
          <a:prstGeom prst="hexagon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六边形 10"/>
          <p:cNvSpPr/>
          <p:nvPr userDrawn="1"/>
        </p:nvSpPr>
        <p:spPr>
          <a:xfrm rot="5400000">
            <a:off x="3567036" y="3257393"/>
            <a:ext cx="429253" cy="370046"/>
          </a:xfrm>
          <a:prstGeom prst="hexagon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/>
          <p:cNvSpPr/>
          <p:nvPr userDrawn="1"/>
        </p:nvSpPr>
        <p:spPr>
          <a:xfrm>
            <a:off x="4504267" y="260138"/>
            <a:ext cx="7687727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100" dirty="0">
                <a:solidFill>
                  <a:srgbClr val="49504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Alibaba PuHuiTi" pitchFamily="18" charset="-122"/>
              </a:rPr>
              <a:t>多一句没有，少一句不行，用更短时间，教会更实用的技术！</a:t>
            </a:r>
            <a:endParaRPr lang="zh-CN" altLang="en-US" sz="2100" dirty="0">
              <a:solidFill>
                <a:srgbClr val="49504F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Alibaba PuHuiTi" pitchFamily="18" charset="-122"/>
            </a:endParaRPr>
          </a:p>
        </p:txBody>
      </p:sp>
      <p:sp>
        <p:nvSpPr>
          <p:cNvPr id="21" name="矩形 20"/>
          <p:cNvSpPr/>
          <p:nvPr userDrawn="1"/>
        </p:nvSpPr>
        <p:spPr>
          <a:xfrm>
            <a:off x="-52550" y="0"/>
            <a:ext cx="224790" cy="694841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矩形 21"/>
          <p:cNvSpPr/>
          <p:nvPr userDrawn="1"/>
        </p:nvSpPr>
        <p:spPr>
          <a:xfrm>
            <a:off x="-52550" y="719892"/>
            <a:ext cx="223200" cy="315311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3" name="矩形 22"/>
          <p:cNvSpPr/>
          <p:nvPr userDrawn="1"/>
        </p:nvSpPr>
        <p:spPr>
          <a:xfrm>
            <a:off x="2567066" y="719635"/>
            <a:ext cx="7023600" cy="21600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4" name="矩形 23"/>
          <p:cNvSpPr/>
          <p:nvPr userDrawn="1"/>
        </p:nvSpPr>
        <p:spPr>
          <a:xfrm>
            <a:off x="9481902" y="719635"/>
            <a:ext cx="2163600" cy="21600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任意形状 24"/>
          <p:cNvSpPr/>
          <p:nvPr userDrawn="1"/>
        </p:nvSpPr>
        <p:spPr>
          <a:xfrm>
            <a:off x="9612588" y="6582369"/>
            <a:ext cx="400898" cy="208765"/>
          </a:xfrm>
          <a:custGeom>
            <a:avLst/>
            <a:gdLst>
              <a:gd name="connsiteX0" fmla="*/ 200449 w 400898"/>
              <a:gd name="connsiteY0" fmla="*/ 0 h 208765"/>
              <a:gd name="connsiteX1" fmla="*/ 400898 w 400898"/>
              <a:gd name="connsiteY1" fmla="*/ 200449 h 208765"/>
              <a:gd name="connsiteX2" fmla="*/ 392582 w 400898"/>
              <a:gd name="connsiteY2" fmla="*/ 208765 h 208765"/>
              <a:gd name="connsiteX3" fmla="*/ 8316 w 400898"/>
              <a:gd name="connsiteY3" fmla="*/ 208765 h 208765"/>
              <a:gd name="connsiteX4" fmla="*/ 0 w 400898"/>
              <a:gd name="connsiteY4" fmla="*/ 200449 h 208765"/>
              <a:gd name="connsiteX5" fmla="*/ 200449 w 400898"/>
              <a:gd name="connsiteY5" fmla="*/ 0 h 208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00898" h="208765">
                <a:moveTo>
                  <a:pt x="200449" y="0"/>
                </a:moveTo>
                <a:lnTo>
                  <a:pt x="400898" y="200449"/>
                </a:lnTo>
                <a:lnTo>
                  <a:pt x="392582" y="208765"/>
                </a:lnTo>
                <a:lnTo>
                  <a:pt x="8316" y="208765"/>
                </a:lnTo>
                <a:lnTo>
                  <a:pt x="0" y="200449"/>
                </a:lnTo>
                <a:lnTo>
                  <a:pt x="200449" y="0"/>
                </a:lnTo>
                <a:close/>
              </a:path>
            </a:pathLst>
          </a:custGeom>
          <a:solidFill>
            <a:srgbClr val="68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26" name="矩形 22"/>
          <p:cNvSpPr>
            <a:spLocks noChangeArrowheads="1"/>
          </p:cNvSpPr>
          <p:nvPr userDrawn="1"/>
        </p:nvSpPr>
        <p:spPr bwMode="auto">
          <a:xfrm>
            <a:off x="-10583" y="6779344"/>
            <a:ext cx="10057936" cy="110793"/>
          </a:xfrm>
          <a:prstGeom prst="rect">
            <a:avLst/>
          </a:prstGeom>
          <a:solidFill>
            <a:srgbClr val="49504F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7" name="矩形 14"/>
          <p:cNvSpPr/>
          <p:nvPr userDrawn="1"/>
        </p:nvSpPr>
        <p:spPr bwMode="auto">
          <a:xfrm>
            <a:off x="9813037" y="6582369"/>
            <a:ext cx="2378963" cy="307767"/>
          </a:xfrm>
          <a:custGeom>
            <a:avLst/>
            <a:gdLst>
              <a:gd name="connsiteX0" fmla="*/ 0 w 2202525"/>
              <a:gd name="connsiteY0" fmla="*/ 0 h 275631"/>
              <a:gd name="connsiteX1" fmla="*/ 2202525 w 2202525"/>
              <a:gd name="connsiteY1" fmla="*/ 0 h 275631"/>
              <a:gd name="connsiteX2" fmla="*/ 2202525 w 2202525"/>
              <a:gd name="connsiteY2" fmla="*/ 275631 h 275631"/>
              <a:gd name="connsiteX3" fmla="*/ 0 w 2202525"/>
              <a:gd name="connsiteY3" fmla="*/ 275631 h 275631"/>
              <a:gd name="connsiteX4" fmla="*/ 0 w 2202525"/>
              <a:gd name="connsiteY4" fmla="*/ 0 h 275631"/>
              <a:gd name="connsiteX0-1" fmla="*/ 0 w 2202525"/>
              <a:gd name="connsiteY0-2" fmla="*/ 0 h 275631"/>
              <a:gd name="connsiteX1-3" fmla="*/ 2202525 w 2202525"/>
              <a:gd name="connsiteY1-4" fmla="*/ 0 h 275631"/>
              <a:gd name="connsiteX2-5" fmla="*/ 2202525 w 2202525"/>
              <a:gd name="connsiteY2-6" fmla="*/ 275631 h 275631"/>
              <a:gd name="connsiteX3-7" fmla="*/ 104775 w 2202525"/>
              <a:gd name="connsiteY3-8" fmla="*/ 272456 h 275631"/>
              <a:gd name="connsiteX4-9" fmla="*/ 0 w 2202525"/>
              <a:gd name="connsiteY4-10" fmla="*/ 0 h 27563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202525" h="275631">
                <a:moveTo>
                  <a:pt x="0" y="0"/>
                </a:moveTo>
                <a:lnTo>
                  <a:pt x="2202525" y="0"/>
                </a:lnTo>
                <a:lnTo>
                  <a:pt x="2202525" y="275631"/>
                </a:lnTo>
                <a:lnTo>
                  <a:pt x="104775" y="272456"/>
                </a:lnTo>
                <a:lnTo>
                  <a:pt x="0" y="0"/>
                </a:lnTo>
                <a:close/>
              </a:path>
            </a:pathLst>
          </a:custGeom>
          <a:solidFill>
            <a:srgbClr val="B6000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8" name="矩形 27"/>
          <p:cNvSpPr/>
          <p:nvPr userDrawn="1"/>
        </p:nvSpPr>
        <p:spPr>
          <a:xfrm>
            <a:off x="9950236" y="6535935"/>
            <a:ext cx="2241763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Alibaba PuHuiTi" pitchFamily="18" charset="-122"/>
              </a:rPr>
              <a:t>高级软件人才培训专家</a:t>
            </a:r>
            <a:endParaRPr lang="zh-CN" altLang="en-US" sz="1600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Alibaba PuHuiTi" pitchFamily="18" charset="-122"/>
            </a:endParaRPr>
          </a:p>
        </p:txBody>
      </p:sp>
      <p:pic>
        <p:nvPicPr>
          <p:cNvPr id="12" name="图形 11"/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89871" y="-85784"/>
            <a:ext cx="2666725" cy="117454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11989" y="2322246"/>
            <a:ext cx="3168023" cy="130846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5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6096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12192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8288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24384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2.xml"/><Relationship Id="rId8" Type="http://schemas.openxmlformats.org/officeDocument/2006/relationships/slideLayout" Target="../slideLayouts/slideLayout10.xml"/><Relationship Id="rId7" Type="http://schemas.openxmlformats.org/officeDocument/2006/relationships/image" Target="../media/image16.png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3.xml"/><Relationship Id="rId6" Type="http://schemas.openxmlformats.org/officeDocument/2006/relationships/vmlDrawing" Target="../drawings/vmlDrawing1.vml"/><Relationship Id="rId5" Type="http://schemas.openxmlformats.org/officeDocument/2006/relationships/slideLayout" Target="../slideLayouts/slideLayout10.xml"/><Relationship Id="rId4" Type="http://schemas.openxmlformats.org/officeDocument/2006/relationships/image" Target="../media/image18.wmf"/><Relationship Id="rId3" Type="http://schemas.openxmlformats.org/officeDocument/2006/relationships/oleObject" Target="../embeddings/oleObject2.bin"/><Relationship Id="rId2" Type="http://schemas.openxmlformats.org/officeDocument/2006/relationships/image" Target="../media/image17.wmf"/><Relationship Id="rId1" Type="http://schemas.openxmlformats.org/officeDocument/2006/relationships/oleObject" Target="../embeddings/oleObject1.bin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6.xml"/><Relationship Id="rId1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6.xml"/><Relationship Id="rId1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6.xml"/><Relationship Id="rId1" Type="http://schemas.openxmlformats.org/officeDocument/2006/relationships/image" Target="../media/image20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image" Target="../media/image23.png"/><Relationship Id="rId8" Type="http://schemas.openxmlformats.org/officeDocument/2006/relationships/image" Target="../media/image16.png"/><Relationship Id="rId7" Type="http://schemas.openxmlformats.org/officeDocument/2006/relationships/image" Target="../media/image15.png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3" Type="http://schemas.openxmlformats.org/officeDocument/2006/relationships/image" Target="../media/image11.png"/><Relationship Id="rId2" Type="http://schemas.openxmlformats.org/officeDocument/2006/relationships/image" Target="../media/image22.png"/><Relationship Id="rId11" Type="http://schemas.openxmlformats.org/officeDocument/2006/relationships/notesSlide" Target="../notesSlides/notesSlide6.xml"/><Relationship Id="rId10" Type="http://schemas.openxmlformats.org/officeDocument/2006/relationships/slideLayout" Target="../slideLayouts/slideLayout10.xml"/><Relationship Id="rId1" Type="http://schemas.openxmlformats.org/officeDocument/2006/relationships/image" Target="../media/image21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7.xml"/><Relationship Id="rId7" Type="http://schemas.openxmlformats.org/officeDocument/2006/relationships/slideLayout" Target="../slideLayouts/slideLayout10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image" Target="../media/image24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8.xml"/><Relationship Id="rId7" Type="http://schemas.openxmlformats.org/officeDocument/2006/relationships/slideLayout" Target="../slideLayouts/slideLayout10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image" Target="../media/image30.png"/></Relationships>
</file>

<file path=ppt/slides/_rels/slide2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vmlDrawing" Target="../drawings/vmlDrawing2.vml"/><Relationship Id="rId3" Type="http://schemas.openxmlformats.org/officeDocument/2006/relationships/slideLayout" Target="../slideLayouts/slideLayout10.xml"/><Relationship Id="rId2" Type="http://schemas.openxmlformats.org/officeDocument/2006/relationships/image" Target="../media/image36.wmf"/><Relationship Id="rId1" Type="http://schemas.openxmlformats.org/officeDocument/2006/relationships/oleObject" Target="../embeddings/oleObject3.bin"/></Relationships>
</file>

<file path=ppt/slides/_rels/slide2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6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image" Target="../media/image20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1.xml"/><Relationship Id="rId7" Type="http://schemas.openxmlformats.org/officeDocument/2006/relationships/slideLayout" Target="../slideLayouts/slideLayout10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image" Target="../media/image41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47.png"/></Relationships>
</file>

<file path=ppt/slides/_rels/slide30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4.xml"/><Relationship Id="rId6" Type="http://schemas.openxmlformats.org/officeDocument/2006/relationships/slideLayout" Target="../slideLayouts/slideLayout10.xml"/><Relationship Id="rId5" Type="http://schemas.openxmlformats.org/officeDocument/2006/relationships/image" Target="../media/image52.png"/><Relationship Id="rId4" Type="http://schemas.openxmlformats.org/officeDocument/2006/relationships/image" Target="../media/image51.png"/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image" Target="../media/image48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0.xml"/></Relationships>
</file>

<file path=ppt/slides/_rels/slide3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6.xml"/><Relationship Id="rId4" Type="http://schemas.openxmlformats.org/officeDocument/2006/relationships/image" Target="../media/image55.png"/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image" Target="../media/image20.png"/></Relationships>
</file>

<file path=ppt/slides/_rels/slide3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6.xml"/><Relationship Id="rId3" Type="http://schemas.openxmlformats.org/officeDocument/2006/relationships/slideLayout" Target="../slideLayouts/slideLayout14.xml"/><Relationship Id="rId2" Type="http://schemas.openxmlformats.org/officeDocument/2006/relationships/image" Target="../media/image57.png"/><Relationship Id="rId1" Type="http://schemas.openxmlformats.org/officeDocument/2006/relationships/image" Target="../media/image56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4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14.xml"/><Relationship Id="rId1" Type="http://schemas.openxmlformats.org/officeDocument/2006/relationships/image" Target="../media/image58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4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59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0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60.pn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4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6.xml"/><Relationship Id="rId1" Type="http://schemas.openxmlformats.org/officeDocument/2006/relationships/image" Target="../media/image20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14.xml"/><Relationship Id="rId1" Type="http://schemas.openxmlformats.org/officeDocument/2006/relationships/image" Target="../media/image61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14.xml"/><Relationship Id="rId1" Type="http://schemas.openxmlformats.org/officeDocument/2006/relationships/image" Target="../media/image62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14.xml"/><Relationship Id="rId1" Type="http://schemas.openxmlformats.org/officeDocument/2006/relationships/image" Target="../media/image63.png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4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4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KNN</a:t>
            </a:r>
            <a:r>
              <a:rPr kumimoji="1" lang="zh-CN" altLang="en-US" dirty="0"/>
              <a:t>算法</a:t>
            </a:r>
            <a:endParaRPr kumimoji="1" lang="zh-CN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4777215" y="656475"/>
            <a:ext cx="6104167" cy="5545050"/>
          </a:xfrm>
        </p:spPr>
        <p:txBody>
          <a:bodyPr/>
          <a:lstStyle/>
          <a:p>
            <a:r>
              <a:rPr lang="en-US" altLang="zh-CN" dirty="0">
                <a:solidFill>
                  <a:schemeClr val="accent2">
                    <a:lumMod val="7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KNN</a:t>
            </a:r>
            <a:r>
              <a:rPr lang="zh-CN" altLang="en-US" dirty="0">
                <a:solidFill>
                  <a:schemeClr val="accent2">
                    <a:lumMod val="7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算法简介</a:t>
            </a:r>
            <a:endParaRPr lang="en-US" altLang="zh-CN" dirty="0">
              <a:solidFill>
                <a:schemeClr val="accent2">
                  <a:lumMod val="7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lvl="1"/>
            <a:r>
              <a:rPr lang="en-US" altLang="zh-CN" sz="1600" b="0" dirty="0">
                <a:solidFill>
                  <a:schemeClr val="accent2">
                    <a:lumMod val="7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KNN</a:t>
            </a:r>
            <a:r>
              <a:rPr lang="zh-CN" altLang="en-US" sz="1600" b="0" dirty="0">
                <a:solidFill>
                  <a:schemeClr val="accent2">
                    <a:lumMod val="7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思想、分类和回归问题处理流程</a:t>
            </a:r>
            <a:endParaRPr lang="en-US" altLang="zh-CN" sz="1600" b="0" dirty="0">
              <a:solidFill>
                <a:schemeClr val="accent2">
                  <a:lumMod val="7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KNN</a:t>
            </a: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算法</a:t>
            </a:r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API</a:t>
            </a: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介绍</a:t>
            </a:r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lvl="1"/>
            <a:r>
              <a:rPr kumimoji="1" lang="zh-CN" altLang="en-US" sz="16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分类、回归实现</a:t>
            </a:r>
            <a:endParaRPr kumimoji="1" lang="en-US" altLang="zh-CN" sz="1600" b="0" dirty="0">
              <a:solidFill>
                <a:schemeClr val="tx1">
                  <a:lumMod val="85000"/>
                  <a:lumOff val="1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距离度量</a:t>
            </a:r>
            <a:endParaRPr kumimoji="1" lang="en-US" altLang="zh-CN" dirty="0">
              <a:solidFill>
                <a:schemeClr val="tx1">
                  <a:lumMod val="85000"/>
                  <a:lumOff val="1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lvl="1"/>
            <a:r>
              <a:rPr kumimoji="1" lang="zh-CN" altLang="en-US" sz="16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常用距离计算方法</a:t>
            </a:r>
            <a:endParaRPr kumimoji="1" lang="zh-CN" altLang="en-US" sz="1600" b="0" dirty="0">
              <a:solidFill>
                <a:schemeClr val="tx1">
                  <a:lumMod val="85000"/>
                  <a:lumOff val="1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特征预处理</a:t>
            </a:r>
            <a:endParaRPr kumimoji="1" lang="en-US" altLang="zh-CN" dirty="0">
              <a:solidFill>
                <a:schemeClr val="tx1">
                  <a:lumMod val="85000"/>
                  <a:lumOff val="1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lvl="1"/>
            <a:r>
              <a:rPr kumimoji="1" lang="zh-CN" altLang="en-US" sz="16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归一化、标准化、鸢尾花识别案例</a:t>
            </a:r>
            <a:endParaRPr kumimoji="1" lang="en-US" altLang="zh-CN" sz="1600" b="0" dirty="0">
              <a:solidFill>
                <a:schemeClr val="tx1">
                  <a:lumMod val="85000"/>
                  <a:lumOff val="1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超参数选择方法</a:t>
            </a:r>
            <a:endParaRPr kumimoji="1" lang="en-US" altLang="zh-CN" dirty="0">
              <a:solidFill>
                <a:schemeClr val="tx1">
                  <a:lumMod val="85000"/>
                  <a:lumOff val="1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lvl="1"/>
            <a:r>
              <a:rPr kumimoji="1" lang="zh-CN" altLang="en-US" sz="16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交叉验证、网格搜索、手写数字识别案例</a:t>
            </a:r>
            <a:endParaRPr lang="en-US" altLang="zh-CN" sz="1600" b="0" dirty="0">
              <a:solidFill>
                <a:schemeClr val="tx1">
                  <a:lumMod val="85000"/>
                  <a:lumOff val="1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tx1"/>
                </a:solidFill>
              </a:rPr>
              <a:t>理解</a:t>
            </a:r>
            <a:r>
              <a:rPr lang="en-US" altLang="zh-CN" dirty="0">
                <a:solidFill>
                  <a:schemeClr val="tx1"/>
                </a:solidFill>
              </a:rPr>
              <a:t>K</a:t>
            </a:r>
            <a:r>
              <a:rPr lang="zh-CN" altLang="en-US" dirty="0">
                <a:solidFill>
                  <a:schemeClr val="tx1"/>
                </a:solidFill>
              </a:rPr>
              <a:t>近邻算法的思想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kumimoji="1" lang="zh-CN" altLang="en-US" dirty="0">
                <a:solidFill>
                  <a:schemeClr val="tx1"/>
                </a:solidFill>
              </a:rPr>
              <a:t>知道</a:t>
            </a:r>
            <a:r>
              <a:rPr lang="en-US" altLang="zh-CN" dirty="0">
                <a:solidFill>
                  <a:schemeClr val="tx1"/>
                </a:solidFill>
              </a:rPr>
              <a:t>K</a:t>
            </a:r>
            <a:r>
              <a:rPr lang="zh-CN" altLang="en-US" dirty="0">
                <a:solidFill>
                  <a:schemeClr val="tx1"/>
                </a:solidFill>
              </a:rPr>
              <a:t>近邻算法分类流程</a:t>
            </a:r>
            <a:endParaRPr kumimoji="1" lang="en-US" altLang="zh-CN" dirty="0">
              <a:solidFill>
                <a:schemeClr val="tx1"/>
              </a:solidFill>
            </a:endParaRPr>
          </a:p>
          <a:p>
            <a:r>
              <a:rPr kumimoji="1" lang="zh-CN" altLang="en-US" dirty="0">
                <a:solidFill>
                  <a:schemeClr val="tx1"/>
                </a:solidFill>
              </a:rPr>
              <a:t>知道</a:t>
            </a:r>
            <a:r>
              <a:rPr lang="en-US" altLang="zh-CN" dirty="0">
                <a:solidFill>
                  <a:schemeClr val="tx1"/>
                </a:solidFill>
              </a:rPr>
              <a:t>K</a:t>
            </a:r>
            <a:r>
              <a:rPr lang="zh-CN" altLang="en-US" dirty="0">
                <a:solidFill>
                  <a:schemeClr val="tx1"/>
                </a:solidFill>
              </a:rPr>
              <a:t>近邻算法回归流程</a:t>
            </a:r>
            <a:endParaRPr kumimoji="1" lang="en-US" altLang="zh-CN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zh-CN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10880" y="839979"/>
            <a:ext cx="8364294" cy="517190"/>
          </a:xfrm>
        </p:spPr>
        <p:txBody>
          <a:bodyPr/>
          <a:lstStyle/>
          <a:p>
            <a:r>
              <a:rPr kumimoji="1" lang="en-US" altLang="zh-CN" dirty="0">
                <a:solidFill>
                  <a:srgbClr val="595959"/>
                </a:solidFill>
              </a:rPr>
              <a:t>KNN</a:t>
            </a:r>
            <a:endParaRPr kumimoji="1" lang="zh-CN" altLang="en-US" dirty="0">
              <a:solidFill>
                <a:srgbClr val="595959"/>
              </a:solidFill>
            </a:endParaRPr>
          </a:p>
        </p:txBody>
      </p:sp>
      <p:sp>
        <p:nvSpPr>
          <p:cNvPr id="4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841504" y="1292883"/>
            <a:ext cx="9791931" cy="499578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latin typeface="Roboto" panose="02000000000000000000" pitchFamily="2" charset="0"/>
              </a:rPr>
              <a:t>K-</a:t>
            </a:r>
            <a:r>
              <a:rPr lang="zh-CN" altLang="en-US" dirty="0">
                <a:latin typeface="Roboto" panose="02000000000000000000" pitchFamily="2" charset="0"/>
              </a:rPr>
              <a:t>近邻算法（</a:t>
            </a:r>
            <a:r>
              <a:rPr lang="en-GB" altLang="zh-CN" b="0" i="0" dirty="0">
                <a:solidFill>
                  <a:schemeClr val="accent2">
                    <a:lumMod val="75000"/>
                  </a:schemeClr>
                </a:solidFill>
                <a:effectLst/>
                <a:latin typeface="Helvetica Neue" panose="02000503000000020004" pitchFamily="2" charset="0"/>
              </a:rPr>
              <a:t>K Nearest Neighbor</a:t>
            </a:r>
            <a:r>
              <a:rPr lang="zh-CN" altLang="en-US" dirty="0">
                <a:solidFill>
                  <a:srgbClr val="333333"/>
                </a:solidFill>
                <a:latin typeface="Helvetica Neue" panose="02000503000000020004" pitchFamily="2" charset="0"/>
              </a:rPr>
              <a:t>，简称</a:t>
            </a:r>
            <a:r>
              <a:rPr lang="en-US" altLang="zh-CN" dirty="0">
                <a:solidFill>
                  <a:srgbClr val="333333"/>
                </a:solidFill>
                <a:latin typeface="Helvetica Neue" panose="02000503000000020004" pitchFamily="2" charset="0"/>
              </a:rPr>
              <a:t>KNN</a:t>
            </a:r>
            <a:r>
              <a:rPr lang="zh-CN" altLang="en-US" dirty="0">
                <a:latin typeface="Roboto" panose="02000000000000000000" pitchFamily="2" charset="0"/>
              </a:rPr>
              <a:t>）。</a:t>
            </a:r>
            <a:r>
              <a:rPr lang="zh-CN" altLang="en-US" sz="1400" dirty="0">
                <a:latin typeface="Roboto" panose="02000000000000000000" pitchFamily="2" charset="0"/>
              </a:rPr>
              <a:t>比如：根据你的“邻居”来推断出你的类别</a:t>
            </a:r>
            <a:endParaRPr lang="en-US" altLang="zh-CN" dirty="0">
              <a:latin typeface="Roboto" panose="02000000000000000000" pitchFamily="2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34668" y="1810073"/>
            <a:ext cx="6499845" cy="3977629"/>
          </a:xfrm>
          <a:prstGeom prst="rect">
            <a:avLst/>
          </a:prstGeom>
        </p:spPr>
      </p:pic>
      <p:sp>
        <p:nvSpPr>
          <p:cNvPr id="5" name="文本占位符 2"/>
          <p:cNvSpPr txBox="1"/>
          <p:nvPr/>
        </p:nvSpPr>
        <p:spPr>
          <a:xfrm>
            <a:off x="946770" y="5867189"/>
            <a:ext cx="9941189" cy="499578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latin typeface="Roboto" panose="02000000000000000000" pitchFamily="2" charset="0"/>
              </a:rPr>
              <a:t>KNN</a:t>
            </a:r>
            <a:r>
              <a:rPr lang="zh-CN" altLang="en-US" dirty="0">
                <a:latin typeface="Roboto" panose="02000000000000000000" pitchFamily="2" charset="0"/>
              </a:rPr>
              <a:t>算法思想：</a:t>
            </a:r>
            <a:r>
              <a:rPr lang="zh-CN" altLang="en-US" sz="1200" b="0" i="0" u="none" strike="noStrike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如果一个样本在特征空间中的 </a:t>
            </a:r>
            <a:r>
              <a:rPr lang="en-GB" altLang="zh-CN" sz="1200" b="0" i="0" u="none" strike="noStrike" dirty="0">
                <a:solidFill>
                  <a:schemeClr val="accent2">
                    <a:lumMod val="75000"/>
                  </a:schemeClr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k </a:t>
            </a:r>
            <a:r>
              <a:rPr lang="zh-CN" altLang="en-US" sz="1200" b="0" i="0" u="none" strike="noStrike" dirty="0">
                <a:solidFill>
                  <a:schemeClr val="accent2">
                    <a:lumMod val="75000"/>
                  </a:schemeClr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个最相似的样本</a:t>
            </a:r>
            <a:r>
              <a:rPr lang="zh-CN" altLang="en-US" sz="1200" b="0" i="0" u="none" strike="noStrike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中的大多数属于某一个类别，则该样本也属于这个类别 </a:t>
            </a:r>
            <a:endParaRPr lang="zh-CN" altLang="en-US" sz="1200" dirty="0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>
              <a:latin typeface="Roboto" panose="02000000000000000000" pitchFamily="2" charset="0"/>
            </a:endParaRPr>
          </a:p>
        </p:txBody>
      </p:sp>
      <p:sp>
        <p:nvSpPr>
          <p:cNvPr id="6" name="文本占位符 2"/>
          <p:cNvSpPr txBox="1"/>
          <p:nvPr/>
        </p:nvSpPr>
        <p:spPr>
          <a:xfrm>
            <a:off x="3729248" y="6286680"/>
            <a:ext cx="3887608" cy="499578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>
                <a:latin typeface="Roboto" panose="02000000000000000000" pitchFamily="2" charset="0"/>
              </a:rPr>
              <a:t>思考：如何确定样本的相似性？</a:t>
            </a:r>
            <a:endParaRPr lang="en-US" altLang="zh-CN" dirty="0">
              <a:latin typeface="Roboto" panose="02000000000000000000" pitchFamily="2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10880" y="839979"/>
            <a:ext cx="8364294" cy="517190"/>
          </a:xfrm>
        </p:spPr>
        <p:txBody>
          <a:bodyPr/>
          <a:lstStyle/>
          <a:p>
            <a:r>
              <a:rPr kumimoji="1" lang="en-GB" altLang="zh-CN" dirty="0">
                <a:solidFill>
                  <a:srgbClr val="595959"/>
                </a:solidFill>
              </a:rPr>
              <a:t>K-</a:t>
            </a:r>
            <a:r>
              <a:rPr kumimoji="1" lang="zh-CN" altLang="en-US" dirty="0">
                <a:solidFill>
                  <a:srgbClr val="595959"/>
                </a:solidFill>
              </a:rPr>
              <a:t>近邻算法</a:t>
            </a:r>
            <a:endParaRPr kumimoji="1" lang="zh-CN" altLang="en-US" dirty="0">
              <a:solidFill>
                <a:srgbClr val="595959"/>
              </a:solidFill>
            </a:endParaRPr>
          </a:p>
        </p:txBody>
      </p:sp>
      <p:sp>
        <p:nvSpPr>
          <p:cNvPr id="4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1029313" y="1206561"/>
            <a:ext cx="7159739" cy="692611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样本相似性：样本都是属于一个任务</a:t>
            </a:r>
            <a:r>
              <a:rPr lang="zh-CN" altLang="en-US" sz="1400" dirty="0">
                <a:solidFill>
                  <a:schemeClr val="accent2">
                    <a:lumMod val="7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数据集</a:t>
            </a:r>
            <a:r>
              <a:rPr lang="zh-CN" altLang="en-US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的。样本距离</a:t>
            </a:r>
            <a:r>
              <a:rPr lang="zh-CN" altLang="en-US" sz="1400" dirty="0">
                <a:solidFill>
                  <a:schemeClr val="accent2">
                    <a:lumMod val="7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越近则越相似</a:t>
            </a:r>
            <a:r>
              <a:rPr lang="zh-CN" altLang="en-US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。</a:t>
            </a:r>
            <a:endParaRPr lang="en-US" altLang="zh-CN" sz="1400" dirty="0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利用</a:t>
            </a:r>
            <a:r>
              <a:rPr kumimoji="1" lang="en-GB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K</a:t>
            </a:r>
            <a:r>
              <a:rPr kumimoji="1" lang="zh-CN" altLang="en-US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近邻算法预测电影类型</a:t>
            </a:r>
            <a:endParaRPr lang="en-US" altLang="zh-CN" sz="1400" dirty="0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graphicFrame>
        <p:nvGraphicFramePr>
          <p:cNvPr id="7" name="表格 6"/>
          <p:cNvGraphicFramePr/>
          <p:nvPr/>
        </p:nvGraphicFramePr>
        <p:xfrm>
          <a:off x="888639" y="2066545"/>
          <a:ext cx="5972460" cy="30831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3904"/>
                <a:gridCol w="1265173"/>
                <a:gridCol w="953375"/>
                <a:gridCol w="1037617"/>
                <a:gridCol w="996009"/>
                <a:gridCol w="1066382"/>
              </a:tblGrid>
              <a:tr h="26372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015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序号</a:t>
                      </a:r>
                      <a:endParaRPr lang="zh-CN" altLang="en-US" sz="1015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015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电影名称</a:t>
                      </a:r>
                      <a:endParaRPr lang="zh-CN" altLang="en-US" sz="1015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015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搞笑镜头</a:t>
                      </a:r>
                      <a:endParaRPr lang="zh-CN" altLang="en-US" sz="1015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015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拥抱镜头</a:t>
                      </a:r>
                      <a:endParaRPr lang="zh-CN" altLang="en-US" sz="1015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015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打斗镜头</a:t>
                      </a:r>
                      <a:endParaRPr lang="zh-CN" altLang="en-US" sz="1015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015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电影类型</a:t>
                      </a:r>
                      <a:endParaRPr lang="zh-CN" altLang="en-US" sz="1015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34290" marB="34290"/>
                </a:tc>
              </a:tr>
              <a:tr h="25392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>
                          <a:solidFill>
                            <a:schemeClr val="tx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en-US" altLang="zh-CN" sz="1400">
                        <a:solidFill>
                          <a:schemeClr val="tx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 dirty="0">
                          <a:solidFill>
                            <a:schemeClr val="tx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功夫熊猫</a:t>
                      </a:r>
                      <a:endParaRPr lang="zh-CN" altLang="en-US" sz="1400" dirty="0">
                        <a:solidFill>
                          <a:schemeClr val="tx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>
                          <a:solidFill>
                            <a:schemeClr val="tx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39</a:t>
                      </a:r>
                      <a:endParaRPr lang="en-US" altLang="zh-CN" sz="1400">
                        <a:solidFill>
                          <a:schemeClr val="tx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dirty="0">
                          <a:solidFill>
                            <a:schemeClr val="tx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en-US" altLang="zh-CN" sz="1400" dirty="0">
                        <a:solidFill>
                          <a:schemeClr val="tx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dirty="0">
                          <a:solidFill>
                            <a:schemeClr val="tx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31</a:t>
                      </a:r>
                      <a:endParaRPr lang="en-US" altLang="zh-CN" sz="1400" dirty="0">
                        <a:solidFill>
                          <a:schemeClr val="tx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>
                          <a:solidFill>
                            <a:schemeClr val="tx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喜剧片</a:t>
                      </a:r>
                      <a:endParaRPr lang="zh-CN" altLang="en-US" sz="1400">
                        <a:solidFill>
                          <a:schemeClr val="tx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34290" marB="34290"/>
                </a:tc>
              </a:tr>
              <a:tr h="25443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>
                          <a:solidFill>
                            <a:schemeClr val="tx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endParaRPr lang="en-US" altLang="zh-CN" sz="1400">
                        <a:solidFill>
                          <a:schemeClr val="tx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 dirty="0">
                          <a:solidFill>
                            <a:schemeClr val="tx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叶问</a:t>
                      </a:r>
                      <a:r>
                        <a:rPr lang="en-US" altLang="zh-CN" sz="1400" dirty="0">
                          <a:solidFill>
                            <a:schemeClr val="tx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3</a:t>
                      </a:r>
                      <a:endParaRPr lang="en-US" altLang="zh-CN" sz="1400" dirty="0">
                        <a:solidFill>
                          <a:schemeClr val="tx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dirty="0">
                          <a:solidFill>
                            <a:schemeClr val="tx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endParaRPr lang="en-US" altLang="zh-CN" sz="1400" dirty="0">
                        <a:solidFill>
                          <a:schemeClr val="tx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dirty="0">
                          <a:solidFill>
                            <a:schemeClr val="tx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endParaRPr lang="en-US" altLang="zh-CN" sz="1400" dirty="0">
                        <a:solidFill>
                          <a:schemeClr val="tx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dirty="0">
                          <a:solidFill>
                            <a:schemeClr val="tx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65</a:t>
                      </a:r>
                      <a:endParaRPr lang="en-US" altLang="zh-CN" sz="1400" dirty="0">
                        <a:solidFill>
                          <a:schemeClr val="tx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>
                          <a:solidFill>
                            <a:schemeClr val="tx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动作片</a:t>
                      </a:r>
                      <a:endParaRPr lang="zh-CN" altLang="en-US" sz="1400">
                        <a:solidFill>
                          <a:schemeClr val="tx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34290" marB="34290"/>
                </a:tc>
              </a:tr>
              <a:tr h="25392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>
                          <a:solidFill>
                            <a:schemeClr val="tx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endParaRPr lang="en-US" altLang="zh-CN" sz="1400">
                        <a:solidFill>
                          <a:schemeClr val="tx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 dirty="0">
                          <a:solidFill>
                            <a:schemeClr val="tx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伦敦陷落</a:t>
                      </a:r>
                      <a:endParaRPr lang="zh-CN" altLang="en-US" sz="1400" dirty="0">
                        <a:solidFill>
                          <a:schemeClr val="tx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sym typeface="+mn-ea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>
                          <a:solidFill>
                            <a:schemeClr val="tx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endParaRPr lang="en-US" altLang="zh-CN" sz="1400">
                        <a:solidFill>
                          <a:schemeClr val="tx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dirty="0">
                          <a:solidFill>
                            <a:schemeClr val="tx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endParaRPr lang="en-US" altLang="zh-CN" sz="1400" dirty="0">
                        <a:solidFill>
                          <a:schemeClr val="tx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dirty="0">
                          <a:solidFill>
                            <a:schemeClr val="tx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55</a:t>
                      </a:r>
                      <a:endParaRPr lang="en-US" altLang="zh-CN" sz="1400" dirty="0">
                        <a:solidFill>
                          <a:schemeClr val="tx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>
                          <a:solidFill>
                            <a:schemeClr val="tx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动作片</a:t>
                      </a:r>
                      <a:endParaRPr lang="zh-CN" altLang="en-US" sz="1400">
                        <a:solidFill>
                          <a:schemeClr val="tx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34290" marB="34290"/>
                </a:tc>
              </a:tr>
              <a:tr h="25340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>
                          <a:solidFill>
                            <a:schemeClr val="tx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</a:t>
                      </a:r>
                      <a:endParaRPr lang="en-US" altLang="zh-CN" sz="1400">
                        <a:solidFill>
                          <a:schemeClr val="tx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 dirty="0">
                          <a:solidFill>
                            <a:schemeClr val="tx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代理情人</a:t>
                      </a:r>
                      <a:endParaRPr lang="zh-CN" altLang="en-US" sz="1400" dirty="0">
                        <a:solidFill>
                          <a:schemeClr val="tx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>
                          <a:solidFill>
                            <a:schemeClr val="tx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</a:t>
                      </a:r>
                      <a:endParaRPr lang="en-US" altLang="zh-CN" sz="1400">
                        <a:solidFill>
                          <a:schemeClr val="tx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dirty="0">
                          <a:solidFill>
                            <a:schemeClr val="tx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38</a:t>
                      </a:r>
                      <a:endParaRPr lang="en-US" altLang="zh-CN" sz="1400" dirty="0">
                        <a:solidFill>
                          <a:schemeClr val="tx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dirty="0">
                          <a:solidFill>
                            <a:schemeClr val="tx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endParaRPr lang="en-US" altLang="zh-CN" sz="1400" dirty="0">
                        <a:solidFill>
                          <a:schemeClr val="tx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>
                          <a:solidFill>
                            <a:schemeClr val="tx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爱情片</a:t>
                      </a:r>
                      <a:endParaRPr lang="zh-CN" altLang="en-US" sz="1400">
                        <a:solidFill>
                          <a:schemeClr val="tx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34290" marB="34290"/>
                </a:tc>
              </a:tr>
              <a:tr h="25392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>
                          <a:solidFill>
                            <a:schemeClr val="tx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</a:t>
                      </a:r>
                      <a:endParaRPr lang="en-US" altLang="zh-CN" sz="1400">
                        <a:solidFill>
                          <a:schemeClr val="tx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>
                          <a:solidFill>
                            <a:schemeClr val="tx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新步步惊心</a:t>
                      </a:r>
                      <a:endParaRPr lang="zh-CN" altLang="en-US" sz="1400">
                        <a:solidFill>
                          <a:schemeClr val="tx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>
                          <a:solidFill>
                            <a:schemeClr val="tx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</a:t>
                      </a:r>
                      <a:endParaRPr lang="en-US" altLang="zh-CN" sz="1400">
                        <a:solidFill>
                          <a:schemeClr val="tx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dirty="0">
                          <a:solidFill>
                            <a:schemeClr val="tx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34</a:t>
                      </a:r>
                      <a:endParaRPr lang="en-US" altLang="zh-CN" sz="1400" dirty="0">
                        <a:solidFill>
                          <a:schemeClr val="tx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>
                          <a:solidFill>
                            <a:schemeClr val="tx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17</a:t>
                      </a:r>
                      <a:endParaRPr lang="en-US" altLang="zh-CN" sz="1400">
                        <a:solidFill>
                          <a:schemeClr val="tx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>
                          <a:solidFill>
                            <a:schemeClr val="tx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爱情片</a:t>
                      </a:r>
                      <a:endParaRPr lang="zh-CN" altLang="en-US" sz="1400">
                        <a:solidFill>
                          <a:schemeClr val="tx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34290" marB="34290"/>
                </a:tc>
              </a:tr>
              <a:tr h="25340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>
                          <a:solidFill>
                            <a:schemeClr val="tx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</a:t>
                      </a:r>
                      <a:endParaRPr lang="en-US" altLang="zh-CN" sz="1400">
                        <a:solidFill>
                          <a:schemeClr val="tx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>
                          <a:solidFill>
                            <a:schemeClr val="tx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谍影重重</a:t>
                      </a:r>
                      <a:endParaRPr lang="zh-CN" altLang="en-US" sz="1400">
                        <a:solidFill>
                          <a:schemeClr val="tx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>
                          <a:solidFill>
                            <a:schemeClr val="tx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</a:t>
                      </a:r>
                      <a:endParaRPr lang="en-US" altLang="zh-CN" sz="1400">
                        <a:solidFill>
                          <a:schemeClr val="tx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dirty="0">
                          <a:solidFill>
                            <a:schemeClr val="tx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endParaRPr lang="en-US" altLang="zh-CN" sz="1400" dirty="0">
                        <a:solidFill>
                          <a:schemeClr val="tx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>
                          <a:solidFill>
                            <a:schemeClr val="tx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57</a:t>
                      </a:r>
                      <a:endParaRPr lang="en-US" altLang="zh-CN" sz="1400">
                        <a:solidFill>
                          <a:schemeClr val="tx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>
                          <a:solidFill>
                            <a:schemeClr val="tx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动作片</a:t>
                      </a:r>
                      <a:endParaRPr lang="zh-CN" altLang="en-US" sz="1400">
                        <a:solidFill>
                          <a:schemeClr val="tx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34290" marB="34290"/>
                </a:tc>
              </a:tr>
              <a:tr h="25392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>
                          <a:solidFill>
                            <a:schemeClr val="tx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</a:t>
                      </a:r>
                      <a:endParaRPr lang="en-US" altLang="zh-CN" sz="1400">
                        <a:solidFill>
                          <a:schemeClr val="tx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>
                          <a:solidFill>
                            <a:schemeClr val="tx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功夫熊猫</a:t>
                      </a:r>
                      <a:endParaRPr lang="zh-CN" altLang="en-US" sz="1400">
                        <a:solidFill>
                          <a:schemeClr val="tx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>
                          <a:solidFill>
                            <a:schemeClr val="tx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39</a:t>
                      </a:r>
                      <a:endParaRPr lang="en-US" altLang="zh-CN" sz="1400">
                        <a:solidFill>
                          <a:schemeClr val="tx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dirty="0">
                          <a:solidFill>
                            <a:schemeClr val="tx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en-US" altLang="zh-CN" sz="1400" dirty="0">
                        <a:solidFill>
                          <a:schemeClr val="tx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>
                          <a:solidFill>
                            <a:schemeClr val="tx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31</a:t>
                      </a:r>
                      <a:endParaRPr lang="en-US" altLang="zh-CN" sz="1400">
                        <a:solidFill>
                          <a:schemeClr val="tx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>
                          <a:solidFill>
                            <a:schemeClr val="tx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喜剧片</a:t>
                      </a:r>
                      <a:endParaRPr lang="zh-CN" altLang="en-US" sz="1400">
                        <a:solidFill>
                          <a:schemeClr val="tx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34290" marB="34290"/>
                </a:tc>
              </a:tr>
              <a:tr h="25443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>
                          <a:solidFill>
                            <a:schemeClr val="tx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</a:t>
                      </a:r>
                      <a:endParaRPr lang="en-US" altLang="zh-CN" sz="1400">
                        <a:solidFill>
                          <a:schemeClr val="tx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>
                          <a:solidFill>
                            <a:schemeClr val="tx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美人鱼</a:t>
                      </a:r>
                      <a:endParaRPr lang="zh-CN" altLang="en-US" sz="1400">
                        <a:solidFill>
                          <a:schemeClr val="tx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>
                          <a:solidFill>
                            <a:schemeClr val="tx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21</a:t>
                      </a:r>
                      <a:endParaRPr lang="en-US" altLang="zh-CN" sz="1400">
                        <a:solidFill>
                          <a:schemeClr val="tx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dirty="0">
                          <a:solidFill>
                            <a:schemeClr val="tx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17</a:t>
                      </a:r>
                      <a:endParaRPr lang="en-US" altLang="zh-CN" sz="1400" dirty="0">
                        <a:solidFill>
                          <a:schemeClr val="tx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>
                          <a:solidFill>
                            <a:schemeClr val="tx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</a:t>
                      </a:r>
                      <a:endParaRPr lang="en-US" altLang="zh-CN" sz="1400">
                        <a:solidFill>
                          <a:schemeClr val="tx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>
                          <a:solidFill>
                            <a:schemeClr val="tx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喜剧片</a:t>
                      </a:r>
                      <a:endParaRPr lang="zh-CN" altLang="en-US" sz="1400">
                        <a:solidFill>
                          <a:schemeClr val="tx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34290" marB="34290"/>
                </a:tc>
              </a:tr>
              <a:tr h="25392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>
                          <a:solidFill>
                            <a:schemeClr val="tx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</a:t>
                      </a:r>
                      <a:endParaRPr lang="en-US" altLang="zh-CN" sz="1400">
                        <a:solidFill>
                          <a:schemeClr val="tx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>
                          <a:solidFill>
                            <a:schemeClr val="tx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宝贝当家</a:t>
                      </a:r>
                      <a:endParaRPr lang="zh-CN" altLang="en-US" sz="1400">
                        <a:solidFill>
                          <a:schemeClr val="tx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>
                          <a:solidFill>
                            <a:schemeClr val="tx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45</a:t>
                      </a:r>
                      <a:endParaRPr lang="en-US" altLang="zh-CN" sz="1400">
                        <a:solidFill>
                          <a:schemeClr val="tx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dirty="0">
                          <a:solidFill>
                            <a:schemeClr val="tx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endParaRPr lang="en-US" altLang="zh-CN" sz="1400" dirty="0">
                        <a:solidFill>
                          <a:schemeClr val="tx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>
                          <a:solidFill>
                            <a:schemeClr val="tx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</a:t>
                      </a:r>
                      <a:endParaRPr lang="en-US" altLang="zh-CN" sz="1400">
                        <a:solidFill>
                          <a:schemeClr val="tx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>
                          <a:solidFill>
                            <a:schemeClr val="tx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喜剧片</a:t>
                      </a:r>
                      <a:endParaRPr lang="zh-CN" altLang="en-US" sz="1400">
                        <a:solidFill>
                          <a:schemeClr val="tx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34290" marB="34290"/>
                </a:tc>
              </a:tr>
              <a:tr h="25340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>
                          <a:solidFill>
                            <a:schemeClr val="tx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</a:t>
                      </a:r>
                      <a:endParaRPr lang="en-US" altLang="zh-CN" sz="1400">
                        <a:solidFill>
                          <a:schemeClr val="tx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34290" marB="3429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>
                          <a:solidFill>
                            <a:schemeClr val="tx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唐人街探案</a:t>
                      </a:r>
                      <a:endParaRPr lang="zh-CN" altLang="en-US" sz="1400">
                        <a:solidFill>
                          <a:schemeClr val="tx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34290" marB="3429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dirty="0">
                          <a:solidFill>
                            <a:schemeClr val="tx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23</a:t>
                      </a:r>
                      <a:endParaRPr lang="en-US" altLang="zh-CN" sz="1400" dirty="0">
                        <a:solidFill>
                          <a:schemeClr val="tx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34290" marB="3429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dirty="0">
                          <a:solidFill>
                            <a:schemeClr val="tx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endParaRPr lang="en-US" altLang="zh-CN" sz="1400" dirty="0">
                        <a:solidFill>
                          <a:schemeClr val="tx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34290" marB="3429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dirty="0">
                          <a:solidFill>
                            <a:schemeClr val="tx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17</a:t>
                      </a:r>
                      <a:endParaRPr lang="en-US" altLang="zh-CN" sz="1400" dirty="0">
                        <a:solidFill>
                          <a:schemeClr val="tx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34290" marB="3429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？</a:t>
                      </a:r>
                      <a:endParaRPr lang="zh-CN" altLang="en-US" sz="1400" dirty="0">
                        <a:solidFill>
                          <a:srgbClr val="FF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34290" marB="3429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29975" y="2021194"/>
            <a:ext cx="3838519" cy="2911657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091" y="5208812"/>
            <a:ext cx="3574249" cy="318396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2214" y="5139399"/>
            <a:ext cx="2410504" cy="366646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1953" y="5642909"/>
            <a:ext cx="3958472" cy="383078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96225" y="5534153"/>
            <a:ext cx="3211390" cy="390169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6190" y="6076401"/>
            <a:ext cx="5421575" cy="372320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43852" y="6018420"/>
            <a:ext cx="1645200" cy="50158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10880" y="839979"/>
            <a:ext cx="8364294" cy="517190"/>
          </a:xfrm>
        </p:spPr>
        <p:txBody>
          <a:bodyPr/>
          <a:lstStyle/>
          <a:p>
            <a:r>
              <a:rPr kumimoji="1" lang="en-GB" altLang="zh-CN" dirty="0">
                <a:solidFill>
                  <a:srgbClr val="595959"/>
                </a:solidFill>
              </a:rPr>
              <a:t>K-</a:t>
            </a:r>
            <a:r>
              <a:rPr kumimoji="1" lang="zh-CN" altLang="en-US" dirty="0">
                <a:solidFill>
                  <a:srgbClr val="595959"/>
                </a:solidFill>
              </a:rPr>
              <a:t>近邻算法</a:t>
            </a:r>
            <a:endParaRPr kumimoji="1" lang="zh-CN" altLang="en-US" dirty="0">
              <a:solidFill>
                <a:srgbClr val="595959"/>
              </a:solidFill>
            </a:endParaRPr>
          </a:p>
        </p:txBody>
      </p:sp>
      <p:graphicFrame>
        <p:nvGraphicFramePr>
          <p:cNvPr id="2" name="对象 11"/>
          <p:cNvGraphicFramePr/>
          <p:nvPr/>
        </p:nvGraphicFramePr>
        <p:xfrm>
          <a:off x="8305015" y="2072112"/>
          <a:ext cx="2272291" cy="90286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5" name="" r:id="rId1" imgW="1193800" imgH="482600" progId="Equation.KSEE3">
                  <p:embed/>
                </p:oleObj>
              </mc:Choice>
              <mc:Fallback>
                <p:oleObj name="" r:id="rId1" imgW="1193800" imgH="482600" progId="Equation.KSEE3">
                  <p:embed/>
                  <p:pic>
                    <p:nvPicPr>
                      <p:cNvPr id="0" name="对象 11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8305015" y="2072112"/>
                        <a:ext cx="2272291" cy="902861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5" name="直接箭头连接符 4"/>
          <p:cNvCxnSpPr/>
          <p:nvPr/>
        </p:nvCxnSpPr>
        <p:spPr>
          <a:xfrm>
            <a:off x="8729364" y="3077166"/>
            <a:ext cx="3572" cy="70366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对象 1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8404009" y="3743062"/>
          <a:ext cx="2900191" cy="9986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6" name="" r:id="rId3" imgW="1993900" imgH="685800" progId="Equation.KSEE3">
                  <p:embed/>
                </p:oleObj>
              </mc:Choice>
              <mc:Fallback>
                <p:oleObj name="" r:id="rId3" imgW="1993900" imgH="685800" progId="Equation.KSEE3">
                  <p:embed/>
                  <p:pic>
                    <p:nvPicPr>
                      <p:cNvPr id="0" name="对象 1">
                        <a:hlinkClick r:id="" action="ppaction://ole?verb=0"/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404009" y="3743062"/>
                        <a:ext cx="2900191" cy="99862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文本框 5"/>
          <p:cNvSpPr txBox="1"/>
          <p:nvPr/>
        </p:nvSpPr>
        <p:spPr>
          <a:xfrm>
            <a:off x="8932757" y="3157384"/>
            <a:ext cx="2184797" cy="577081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050" b="1" dirty="0">
                <a:solidFill>
                  <a:schemeClr val="tx2"/>
                </a:solidFill>
                <a:latin typeface="Lato Light" charset="0"/>
              </a:rPr>
              <a:t>《唐人街探案》</a:t>
            </a:r>
            <a:endParaRPr lang="en-US" altLang="zh-CN" sz="1050" b="1" dirty="0">
              <a:solidFill>
                <a:schemeClr val="tx2"/>
              </a:solidFill>
              <a:latin typeface="Lato Light" charset="0"/>
            </a:endParaRPr>
          </a:p>
          <a:p>
            <a:r>
              <a:rPr lang="zh-CN" altLang="en-US" sz="1050" b="1" dirty="0">
                <a:solidFill>
                  <a:schemeClr val="tx2"/>
                </a:solidFill>
                <a:latin typeface="Lato Light" charset="0"/>
              </a:rPr>
              <a:t>    </a:t>
            </a:r>
            <a:r>
              <a:rPr lang="en-US" altLang="zh-CN" sz="1050" b="1" dirty="0">
                <a:solidFill>
                  <a:schemeClr val="tx2"/>
                </a:solidFill>
                <a:latin typeface="Lato Light" charset="0"/>
              </a:rPr>
              <a:t>VS</a:t>
            </a:r>
            <a:endParaRPr lang="en-US" altLang="zh-CN" sz="1050" b="1" dirty="0">
              <a:solidFill>
                <a:schemeClr val="tx2"/>
              </a:solidFill>
              <a:latin typeface="Lato Light" charset="0"/>
            </a:endParaRPr>
          </a:p>
          <a:p>
            <a:r>
              <a:rPr lang="zh-CN" altLang="en-US" sz="1050" b="1" dirty="0">
                <a:solidFill>
                  <a:schemeClr val="tx2"/>
                </a:solidFill>
                <a:latin typeface="Lato Light" charset="0"/>
              </a:rPr>
              <a:t>《伦敦陷落》</a:t>
            </a:r>
            <a:endParaRPr lang="zh-CN" altLang="en-US" sz="1050" b="1" dirty="0">
              <a:solidFill>
                <a:schemeClr val="tx2"/>
              </a:solidFill>
              <a:latin typeface="Lato Light" charset="0"/>
            </a:endParaRPr>
          </a:p>
        </p:txBody>
      </p:sp>
      <p:sp>
        <p:nvSpPr>
          <p:cNvPr id="21" name="标题 2"/>
          <p:cNvSpPr txBox="1"/>
          <p:nvPr/>
        </p:nvSpPr>
        <p:spPr>
          <a:xfrm>
            <a:off x="1155177" y="5436619"/>
            <a:ext cx="7248832" cy="808626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000" b="0" i="0" kern="120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kumimoji="1" lang="zh-CN" altLang="en-US" sz="1600" dirty="0">
                <a:solidFill>
                  <a:schemeClr val="accent2">
                    <a:lumMod val="75000"/>
                  </a:schemeClr>
                </a:solidFill>
              </a:rPr>
              <a:t>分别计算</a:t>
            </a:r>
            <a:r>
              <a:rPr kumimoji="1" lang="en-US" altLang="zh-CN" sz="1600" dirty="0">
                <a:solidFill>
                  <a:srgbClr val="595959"/>
                </a:solidFill>
              </a:rPr>
              <a:t>10</a:t>
            </a:r>
            <a:r>
              <a:rPr kumimoji="1" lang="zh-CN" altLang="en-US" sz="1600" dirty="0">
                <a:solidFill>
                  <a:srgbClr val="595959"/>
                </a:solidFill>
              </a:rPr>
              <a:t>号电影与前</a:t>
            </a:r>
            <a:r>
              <a:rPr kumimoji="1" lang="en-US" altLang="zh-CN" sz="1600" dirty="0">
                <a:solidFill>
                  <a:srgbClr val="595959"/>
                </a:solidFill>
              </a:rPr>
              <a:t>9</a:t>
            </a:r>
            <a:r>
              <a:rPr kumimoji="1" lang="zh-CN" altLang="en-US" sz="1600" dirty="0">
                <a:solidFill>
                  <a:srgbClr val="595959"/>
                </a:solidFill>
              </a:rPr>
              <a:t>个电影的距离</a:t>
            </a:r>
            <a:endParaRPr kumimoji="1" lang="en-US" altLang="zh-CN" sz="1600" dirty="0">
              <a:solidFill>
                <a:srgbClr val="595959"/>
              </a:solidFill>
            </a:endParaRPr>
          </a:p>
          <a:p>
            <a:pPr>
              <a:lnSpc>
                <a:spcPct val="150000"/>
              </a:lnSpc>
            </a:pPr>
            <a:r>
              <a:rPr kumimoji="1" lang="en-US" altLang="zh-CN" sz="1600" dirty="0">
                <a:solidFill>
                  <a:srgbClr val="595959"/>
                </a:solidFill>
              </a:rPr>
              <a:t>k=5</a:t>
            </a:r>
            <a:r>
              <a:rPr kumimoji="1" lang="zh-CN" altLang="en-US" sz="1600" dirty="0">
                <a:solidFill>
                  <a:srgbClr val="595959"/>
                </a:solidFill>
              </a:rPr>
              <a:t>找到最相似的电影类别，来决定</a:t>
            </a:r>
            <a:r>
              <a:rPr kumimoji="1" lang="en-US" altLang="zh-CN" sz="1600" dirty="0">
                <a:solidFill>
                  <a:srgbClr val="595959"/>
                </a:solidFill>
              </a:rPr>
              <a:t>10</a:t>
            </a:r>
            <a:r>
              <a:rPr kumimoji="1" lang="zh-CN" altLang="en-US" sz="1600" dirty="0">
                <a:solidFill>
                  <a:srgbClr val="595959"/>
                </a:solidFill>
              </a:rPr>
              <a:t>号电影的类别</a:t>
            </a:r>
            <a:endParaRPr kumimoji="1" lang="en-US" altLang="zh-CN" sz="1600" dirty="0">
              <a:solidFill>
                <a:srgbClr val="595959"/>
              </a:solidFill>
            </a:endParaRPr>
          </a:p>
        </p:txBody>
      </p:sp>
      <p:graphicFrame>
        <p:nvGraphicFramePr>
          <p:cNvPr id="22" name="表格 21"/>
          <p:cNvGraphicFramePr/>
          <p:nvPr/>
        </p:nvGraphicFramePr>
        <p:xfrm>
          <a:off x="887800" y="1800335"/>
          <a:ext cx="6928485" cy="3398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7530"/>
                <a:gridCol w="1070610"/>
                <a:gridCol w="975360"/>
                <a:gridCol w="897255"/>
                <a:gridCol w="869315"/>
                <a:gridCol w="1025525"/>
                <a:gridCol w="786765"/>
                <a:gridCol w="746125"/>
              </a:tblGrid>
              <a:tr h="316865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CN" altLang="en-US" sz="1015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序号</a:t>
                      </a:r>
                      <a:endParaRPr lang="zh-CN" altLang="en-US" sz="1015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CN" altLang="en-US" sz="1015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电影名称</a:t>
                      </a:r>
                      <a:endParaRPr lang="zh-CN" altLang="en-US" sz="1015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CN" altLang="en-US" sz="1015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搞笑镜头</a:t>
                      </a:r>
                      <a:endParaRPr lang="zh-CN" altLang="en-US" sz="1015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CN" altLang="en-US" sz="1015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拥抱镜头</a:t>
                      </a:r>
                      <a:endParaRPr lang="zh-CN" altLang="en-US" sz="1015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CN" altLang="en-US" sz="1015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打斗镜头</a:t>
                      </a:r>
                      <a:endParaRPr lang="zh-CN" altLang="en-US" sz="1015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CN" altLang="en-US" sz="1015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电影类型</a:t>
                      </a:r>
                      <a:endParaRPr lang="zh-CN" altLang="en-US" sz="1015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015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距离</a:t>
                      </a:r>
                      <a:endParaRPr lang="zh-CN" altLang="en-US" sz="1015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15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K=5</a:t>
                      </a:r>
                      <a:r>
                        <a:rPr lang="zh-CN" altLang="en-US" sz="1015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时</a:t>
                      </a:r>
                      <a:endParaRPr lang="zh-CN" altLang="en-US" sz="1015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34290" marB="34290"/>
                </a:tc>
              </a:tr>
              <a:tr h="28511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>
                          <a:solidFill>
                            <a:schemeClr val="tx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en-US" altLang="zh-CN" sz="1400">
                        <a:solidFill>
                          <a:schemeClr val="tx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>
                          <a:solidFill>
                            <a:schemeClr val="tx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功夫熊猫</a:t>
                      </a:r>
                      <a:endParaRPr lang="zh-CN" altLang="en-US" sz="1400">
                        <a:solidFill>
                          <a:schemeClr val="tx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dirty="0">
                          <a:solidFill>
                            <a:schemeClr val="tx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39</a:t>
                      </a:r>
                      <a:endParaRPr lang="en-US" altLang="zh-CN" sz="1400" dirty="0">
                        <a:solidFill>
                          <a:schemeClr val="tx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>
                          <a:solidFill>
                            <a:schemeClr val="tx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en-US" altLang="zh-CN" sz="1400">
                        <a:solidFill>
                          <a:schemeClr val="tx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>
                          <a:solidFill>
                            <a:schemeClr val="tx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31</a:t>
                      </a:r>
                      <a:endParaRPr lang="en-US" altLang="zh-CN" sz="1400">
                        <a:solidFill>
                          <a:schemeClr val="tx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>
                          <a:solidFill>
                            <a:schemeClr val="tx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喜剧片</a:t>
                      </a:r>
                      <a:endParaRPr lang="zh-CN" altLang="en-US" sz="1400">
                        <a:solidFill>
                          <a:schemeClr val="tx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>
                          <a:solidFill>
                            <a:schemeClr val="tx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21.47</a:t>
                      </a:r>
                      <a:endParaRPr lang="en-US" altLang="zh-CN" sz="1400">
                        <a:solidFill>
                          <a:schemeClr val="tx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b="1">
                          <a:solidFill>
                            <a:srgbClr val="FF0000"/>
                          </a:solidFill>
                          <a:latin typeface="Palatino Linotype" panose="02040502050505030304" pitchFamily="18" charset="0"/>
                          <a:ea typeface="微软雅黑" panose="020B0503020204020204" pitchFamily="34" charset="-122"/>
                          <a:cs typeface="Palatino Linotype" panose="02040502050505030304" pitchFamily="18" charset="0"/>
                        </a:rPr>
                        <a:t>√</a:t>
                      </a:r>
                      <a:endParaRPr lang="en-US" altLang="zh-CN" sz="1400" b="1">
                        <a:solidFill>
                          <a:srgbClr val="FF0000"/>
                        </a:solidFill>
                        <a:latin typeface="Palatino Linotype" panose="02040502050505030304" pitchFamily="18" charset="0"/>
                        <a:ea typeface="微软雅黑" panose="020B0503020204020204" pitchFamily="34" charset="-122"/>
                        <a:cs typeface="Palatino Linotype" panose="02040502050505030304" pitchFamily="18" charset="0"/>
                      </a:endParaRPr>
                    </a:p>
                  </a:txBody>
                  <a:tcPr marL="68580" marR="68580" marT="34290" marB="34290"/>
                </a:tc>
              </a:tr>
              <a:tr h="284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>
                          <a:solidFill>
                            <a:schemeClr val="tx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endParaRPr lang="en-US" altLang="zh-CN" sz="1400">
                        <a:solidFill>
                          <a:schemeClr val="tx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>
                          <a:solidFill>
                            <a:schemeClr val="tx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叶问</a:t>
                      </a:r>
                      <a:r>
                        <a:rPr lang="en-US" altLang="zh-CN" sz="1400">
                          <a:solidFill>
                            <a:schemeClr val="tx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3</a:t>
                      </a:r>
                      <a:endParaRPr lang="en-US" altLang="zh-CN" sz="1400">
                        <a:solidFill>
                          <a:schemeClr val="tx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>
                          <a:solidFill>
                            <a:schemeClr val="tx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endParaRPr lang="en-US" altLang="zh-CN" sz="1400">
                        <a:solidFill>
                          <a:schemeClr val="tx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>
                          <a:solidFill>
                            <a:schemeClr val="tx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endParaRPr lang="en-US" altLang="zh-CN" sz="1400">
                        <a:solidFill>
                          <a:schemeClr val="tx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>
                          <a:solidFill>
                            <a:schemeClr val="tx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65</a:t>
                      </a:r>
                      <a:endParaRPr lang="en-US" altLang="zh-CN" sz="1400">
                        <a:solidFill>
                          <a:schemeClr val="tx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>
                          <a:solidFill>
                            <a:schemeClr val="tx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动作片</a:t>
                      </a:r>
                      <a:endParaRPr lang="zh-CN" altLang="en-US" sz="1400">
                        <a:solidFill>
                          <a:schemeClr val="tx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>
                          <a:solidFill>
                            <a:schemeClr val="tx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52.01</a:t>
                      </a:r>
                      <a:endParaRPr lang="en-US" altLang="zh-CN" sz="1400">
                        <a:solidFill>
                          <a:schemeClr val="tx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zh-CN" sz="14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34290" marB="34290"/>
                </a:tc>
              </a:tr>
              <a:tr h="28511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>
                          <a:solidFill>
                            <a:schemeClr val="tx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endParaRPr lang="en-US" altLang="zh-CN" sz="1400">
                        <a:solidFill>
                          <a:schemeClr val="tx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>
                          <a:solidFill>
                            <a:schemeClr val="tx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伦敦陷落</a:t>
                      </a:r>
                      <a:endParaRPr lang="zh-CN" altLang="en-US" sz="1400">
                        <a:solidFill>
                          <a:schemeClr val="tx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sym typeface="+mn-ea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>
                          <a:solidFill>
                            <a:schemeClr val="tx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endParaRPr lang="en-US" altLang="zh-CN" sz="1400">
                        <a:solidFill>
                          <a:schemeClr val="tx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>
                          <a:solidFill>
                            <a:schemeClr val="tx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endParaRPr lang="en-US" altLang="zh-CN" sz="1400">
                        <a:solidFill>
                          <a:schemeClr val="tx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dirty="0">
                          <a:solidFill>
                            <a:schemeClr val="tx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55</a:t>
                      </a:r>
                      <a:endParaRPr lang="en-US" altLang="zh-CN" sz="1400" dirty="0">
                        <a:solidFill>
                          <a:schemeClr val="tx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>
                          <a:solidFill>
                            <a:schemeClr val="tx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动作片</a:t>
                      </a:r>
                      <a:endParaRPr lang="zh-CN" altLang="en-US" sz="1400">
                        <a:solidFill>
                          <a:schemeClr val="tx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>
                          <a:solidFill>
                            <a:schemeClr val="tx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43.42</a:t>
                      </a:r>
                      <a:endParaRPr lang="en-US" altLang="zh-CN" sz="1400">
                        <a:solidFill>
                          <a:schemeClr val="tx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zh-CN" sz="14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34290" marB="34290"/>
                </a:tc>
              </a:tr>
              <a:tr h="284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>
                          <a:solidFill>
                            <a:schemeClr val="tx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</a:t>
                      </a:r>
                      <a:endParaRPr lang="en-US" altLang="zh-CN" sz="1400">
                        <a:solidFill>
                          <a:schemeClr val="tx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>
                          <a:solidFill>
                            <a:schemeClr val="tx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代理情人</a:t>
                      </a:r>
                      <a:endParaRPr lang="zh-CN" altLang="en-US" sz="1400">
                        <a:solidFill>
                          <a:schemeClr val="tx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>
                          <a:solidFill>
                            <a:schemeClr val="tx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</a:t>
                      </a:r>
                      <a:endParaRPr lang="en-US" altLang="zh-CN" sz="1400">
                        <a:solidFill>
                          <a:schemeClr val="tx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dirty="0">
                          <a:solidFill>
                            <a:schemeClr val="tx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38</a:t>
                      </a:r>
                      <a:endParaRPr lang="en-US" altLang="zh-CN" sz="1400" dirty="0">
                        <a:solidFill>
                          <a:schemeClr val="tx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dirty="0">
                          <a:solidFill>
                            <a:schemeClr val="tx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endParaRPr lang="en-US" altLang="zh-CN" sz="1400" dirty="0">
                        <a:solidFill>
                          <a:schemeClr val="tx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>
                          <a:solidFill>
                            <a:schemeClr val="tx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爱情片</a:t>
                      </a:r>
                      <a:endParaRPr lang="zh-CN" altLang="en-US" sz="1400">
                        <a:solidFill>
                          <a:schemeClr val="tx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>
                          <a:solidFill>
                            <a:schemeClr val="tx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40.57</a:t>
                      </a:r>
                      <a:endParaRPr lang="en-US" altLang="zh-CN" sz="1400">
                        <a:solidFill>
                          <a:schemeClr val="tx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zh-CN" sz="14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34290" marB="34290"/>
                </a:tc>
              </a:tr>
              <a:tr h="30162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>
                          <a:solidFill>
                            <a:schemeClr val="tx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</a:t>
                      </a:r>
                      <a:endParaRPr lang="en-US" altLang="zh-CN" sz="1400">
                        <a:solidFill>
                          <a:schemeClr val="tx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>
                          <a:solidFill>
                            <a:schemeClr val="tx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新步步惊心</a:t>
                      </a:r>
                      <a:endParaRPr lang="zh-CN" altLang="en-US" sz="1400">
                        <a:solidFill>
                          <a:schemeClr val="tx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>
                          <a:solidFill>
                            <a:schemeClr val="tx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</a:t>
                      </a:r>
                      <a:endParaRPr lang="en-US" altLang="zh-CN" sz="1400">
                        <a:solidFill>
                          <a:schemeClr val="tx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>
                          <a:solidFill>
                            <a:schemeClr val="tx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34</a:t>
                      </a:r>
                      <a:endParaRPr lang="en-US" altLang="zh-CN" sz="1400">
                        <a:solidFill>
                          <a:schemeClr val="tx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>
                          <a:solidFill>
                            <a:schemeClr val="tx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17</a:t>
                      </a:r>
                      <a:endParaRPr lang="en-US" altLang="zh-CN" sz="1400">
                        <a:solidFill>
                          <a:schemeClr val="tx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 dirty="0">
                          <a:solidFill>
                            <a:schemeClr val="tx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爱情片</a:t>
                      </a:r>
                      <a:endParaRPr lang="zh-CN" altLang="en-US" sz="1400" dirty="0">
                        <a:solidFill>
                          <a:schemeClr val="tx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>
                          <a:solidFill>
                            <a:schemeClr val="tx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34.44</a:t>
                      </a:r>
                      <a:endParaRPr lang="en-US" altLang="zh-CN" sz="1400">
                        <a:solidFill>
                          <a:schemeClr val="tx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b="1">
                          <a:solidFill>
                            <a:srgbClr val="FF0000"/>
                          </a:solidFill>
                          <a:latin typeface="Palatino Linotype" panose="02040502050505030304" pitchFamily="18" charset="0"/>
                          <a:ea typeface="微软雅黑" panose="020B0503020204020204" pitchFamily="34" charset="-122"/>
                          <a:cs typeface="Palatino Linotype" panose="02040502050505030304" pitchFamily="18" charset="0"/>
                          <a:sym typeface="+mn-ea"/>
                        </a:rPr>
                        <a:t>√</a:t>
                      </a:r>
                      <a:endParaRPr lang="en-US" altLang="zh-CN" sz="1400" b="1">
                        <a:solidFill>
                          <a:srgbClr val="FF0000"/>
                        </a:solidFill>
                        <a:latin typeface="Palatino Linotype" panose="02040502050505030304" pitchFamily="18" charset="0"/>
                        <a:ea typeface="微软雅黑" panose="020B0503020204020204" pitchFamily="34" charset="-122"/>
                        <a:cs typeface="Palatino Linotype" panose="02040502050505030304" pitchFamily="18" charset="0"/>
                        <a:sym typeface="+mn-ea"/>
                      </a:endParaRPr>
                    </a:p>
                  </a:txBody>
                  <a:tcPr marL="68580" marR="68580" marT="34290" marB="34290"/>
                </a:tc>
              </a:tr>
              <a:tr h="284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>
                          <a:solidFill>
                            <a:schemeClr val="tx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</a:t>
                      </a:r>
                      <a:endParaRPr lang="en-US" altLang="zh-CN" sz="1400">
                        <a:solidFill>
                          <a:schemeClr val="tx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>
                          <a:solidFill>
                            <a:schemeClr val="tx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谍影重重</a:t>
                      </a:r>
                      <a:endParaRPr lang="zh-CN" altLang="en-US" sz="1400">
                        <a:solidFill>
                          <a:schemeClr val="tx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dirty="0">
                          <a:solidFill>
                            <a:schemeClr val="tx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</a:t>
                      </a:r>
                      <a:endParaRPr lang="en-US" altLang="zh-CN" sz="1400" dirty="0">
                        <a:solidFill>
                          <a:schemeClr val="tx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>
                          <a:solidFill>
                            <a:schemeClr val="tx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endParaRPr lang="en-US" altLang="zh-CN" sz="1400">
                        <a:solidFill>
                          <a:schemeClr val="tx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>
                          <a:solidFill>
                            <a:schemeClr val="tx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57</a:t>
                      </a:r>
                      <a:endParaRPr lang="en-US" altLang="zh-CN" sz="1400">
                        <a:solidFill>
                          <a:schemeClr val="tx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>
                          <a:solidFill>
                            <a:schemeClr val="tx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动作片</a:t>
                      </a:r>
                      <a:endParaRPr lang="zh-CN" altLang="en-US" sz="1400">
                        <a:solidFill>
                          <a:schemeClr val="tx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>
                          <a:solidFill>
                            <a:schemeClr val="tx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43.87</a:t>
                      </a:r>
                      <a:endParaRPr lang="en-US" altLang="zh-CN" sz="1400">
                        <a:solidFill>
                          <a:schemeClr val="tx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zh-CN" sz="14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34290" marB="34290"/>
                </a:tc>
              </a:tr>
              <a:tr h="2819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>
                          <a:solidFill>
                            <a:schemeClr val="tx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</a:t>
                      </a:r>
                      <a:endParaRPr lang="en-US" altLang="zh-CN" sz="1400">
                        <a:solidFill>
                          <a:schemeClr val="tx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>
                          <a:solidFill>
                            <a:schemeClr val="tx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功夫熊猫</a:t>
                      </a:r>
                      <a:endParaRPr lang="zh-CN" altLang="en-US" sz="1400">
                        <a:solidFill>
                          <a:schemeClr val="tx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dirty="0">
                          <a:solidFill>
                            <a:schemeClr val="tx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39</a:t>
                      </a:r>
                      <a:endParaRPr lang="en-US" altLang="zh-CN" sz="1400" dirty="0">
                        <a:solidFill>
                          <a:schemeClr val="tx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>
                          <a:solidFill>
                            <a:schemeClr val="tx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en-US" altLang="zh-CN" sz="1400">
                        <a:solidFill>
                          <a:schemeClr val="tx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>
                          <a:solidFill>
                            <a:schemeClr val="tx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31</a:t>
                      </a:r>
                      <a:endParaRPr lang="en-US" altLang="zh-CN" sz="1400">
                        <a:solidFill>
                          <a:schemeClr val="tx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>
                          <a:solidFill>
                            <a:schemeClr val="tx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喜剧片</a:t>
                      </a:r>
                      <a:endParaRPr lang="zh-CN" altLang="en-US" sz="1400">
                        <a:solidFill>
                          <a:schemeClr val="tx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>
                          <a:solidFill>
                            <a:schemeClr val="tx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21.47</a:t>
                      </a:r>
                      <a:endParaRPr lang="en-US" altLang="zh-CN" sz="1400">
                        <a:solidFill>
                          <a:schemeClr val="tx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b="1">
                          <a:solidFill>
                            <a:srgbClr val="FF0000"/>
                          </a:solidFill>
                          <a:latin typeface="Palatino Linotype" panose="02040502050505030304" pitchFamily="18" charset="0"/>
                          <a:ea typeface="微软雅黑" panose="020B0503020204020204" pitchFamily="34" charset="-122"/>
                          <a:cs typeface="Palatino Linotype" panose="02040502050505030304" pitchFamily="18" charset="0"/>
                          <a:sym typeface="+mn-ea"/>
                        </a:rPr>
                        <a:t>√</a:t>
                      </a:r>
                      <a:endParaRPr lang="en-US" altLang="zh-CN" sz="1400" b="1">
                        <a:solidFill>
                          <a:srgbClr val="FF0000"/>
                        </a:solidFill>
                        <a:latin typeface="Palatino Linotype" panose="02040502050505030304" pitchFamily="18" charset="0"/>
                        <a:ea typeface="微软雅黑" panose="020B0503020204020204" pitchFamily="34" charset="-122"/>
                        <a:cs typeface="Palatino Linotype" panose="02040502050505030304" pitchFamily="18" charset="0"/>
                        <a:sym typeface="+mn-ea"/>
                      </a:endParaRPr>
                    </a:p>
                  </a:txBody>
                  <a:tcPr marL="68580" marR="68580" marT="34290" marB="34290"/>
                </a:tc>
              </a:tr>
              <a:tr h="28511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>
                          <a:solidFill>
                            <a:schemeClr val="tx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</a:t>
                      </a:r>
                      <a:endParaRPr lang="en-US" altLang="zh-CN" sz="1400">
                        <a:solidFill>
                          <a:schemeClr val="tx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>
                          <a:solidFill>
                            <a:schemeClr val="tx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美人鱼</a:t>
                      </a:r>
                      <a:endParaRPr lang="zh-CN" altLang="en-US" sz="1400">
                        <a:solidFill>
                          <a:schemeClr val="tx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dirty="0">
                          <a:solidFill>
                            <a:schemeClr val="tx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21</a:t>
                      </a:r>
                      <a:endParaRPr lang="en-US" altLang="zh-CN" sz="1400" dirty="0">
                        <a:solidFill>
                          <a:schemeClr val="tx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>
                          <a:solidFill>
                            <a:schemeClr val="tx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17</a:t>
                      </a:r>
                      <a:endParaRPr lang="en-US" altLang="zh-CN" sz="1400">
                        <a:solidFill>
                          <a:schemeClr val="tx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>
                          <a:solidFill>
                            <a:schemeClr val="tx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</a:t>
                      </a:r>
                      <a:endParaRPr lang="en-US" altLang="zh-CN" sz="1400">
                        <a:solidFill>
                          <a:schemeClr val="tx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>
                          <a:solidFill>
                            <a:schemeClr val="tx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喜剧片</a:t>
                      </a:r>
                      <a:endParaRPr lang="zh-CN" altLang="en-US" sz="1400">
                        <a:solidFill>
                          <a:schemeClr val="tx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>
                          <a:solidFill>
                            <a:schemeClr val="tx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18.55</a:t>
                      </a:r>
                      <a:endParaRPr lang="en-US" altLang="zh-CN" sz="1400">
                        <a:solidFill>
                          <a:schemeClr val="tx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b="1">
                          <a:solidFill>
                            <a:srgbClr val="FF0000"/>
                          </a:solidFill>
                          <a:latin typeface="Palatino Linotype" panose="02040502050505030304" pitchFamily="18" charset="0"/>
                          <a:ea typeface="微软雅黑" panose="020B0503020204020204" pitchFamily="34" charset="-122"/>
                          <a:cs typeface="Palatino Linotype" panose="02040502050505030304" pitchFamily="18" charset="0"/>
                          <a:sym typeface="+mn-ea"/>
                        </a:rPr>
                        <a:t>√</a:t>
                      </a:r>
                      <a:endParaRPr lang="en-US" altLang="zh-CN" sz="1400" b="1">
                        <a:solidFill>
                          <a:srgbClr val="FF0000"/>
                        </a:solidFill>
                        <a:latin typeface="Palatino Linotype" panose="02040502050505030304" pitchFamily="18" charset="0"/>
                        <a:ea typeface="微软雅黑" panose="020B0503020204020204" pitchFamily="34" charset="-122"/>
                        <a:cs typeface="Palatino Linotype" panose="02040502050505030304" pitchFamily="18" charset="0"/>
                        <a:sym typeface="+mn-ea"/>
                      </a:endParaRPr>
                    </a:p>
                  </a:txBody>
                  <a:tcPr marL="68580" marR="68580" marT="34290" marB="34290"/>
                </a:tc>
              </a:tr>
              <a:tr h="32448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>
                          <a:solidFill>
                            <a:schemeClr val="tx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</a:t>
                      </a:r>
                      <a:endParaRPr lang="en-US" altLang="zh-CN" sz="1400">
                        <a:solidFill>
                          <a:schemeClr val="tx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>
                          <a:solidFill>
                            <a:schemeClr val="tx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宝贝当家</a:t>
                      </a:r>
                      <a:endParaRPr lang="zh-CN" altLang="en-US" sz="1400">
                        <a:solidFill>
                          <a:schemeClr val="tx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dirty="0">
                          <a:solidFill>
                            <a:schemeClr val="tx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45</a:t>
                      </a:r>
                      <a:endParaRPr lang="en-US" altLang="zh-CN" sz="1400" dirty="0">
                        <a:solidFill>
                          <a:schemeClr val="tx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>
                          <a:solidFill>
                            <a:schemeClr val="tx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endParaRPr lang="en-US" altLang="zh-CN" sz="1400">
                        <a:solidFill>
                          <a:schemeClr val="tx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>
                          <a:solidFill>
                            <a:schemeClr val="tx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</a:t>
                      </a:r>
                      <a:endParaRPr lang="en-US" altLang="zh-CN" sz="1400">
                        <a:solidFill>
                          <a:schemeClr val="tx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>
                          <a:solidFill>
                            <a:schemeClr val="tx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喜剧片</a:t>
                      </a:r>
                      <a:endParaRPr lang="zh-CN" altLang="en-US" sz="1400">
                        <a:solidFill>
                          <a:schemeClr val="tx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>
                          <a:solidFill>
                            <a:schemeClr val="tx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23.43</a:t>
                      </a:r>
                      <a:endParaRPr lang="en-US" altLang="zh-CN" sz="1400">
                        <a:solidFill>
                          <a:schemeClr val="tx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b="1">
                          <a:solidFill>
                            <a:srgbClr val="FF0000"/>
                          </a:solidFill>
                          <a:latin typeface="Palatino Linotype" panose="02040502050505030304" pitchFamily="18" charset="0"/>
                          <a:ea typeface="微软雅黑" panose="020B0503020204020204" pitchFamily="34" charset="-122"/>
                          <a:cs typeface="Palatino Linotype" panose="02040502050505030304" pitchFamily="18" charset="0"/>
                          <a:sym typeface="+mn-ea"/>
                        </a:rPr>
                        <a:t>√</a:t>
                      </a:r>
                      <a:endParaRPr lang="en-US" altLang="zh-CN" sz="1400" b="1">
                        <a:solidFill>
                          <a:srgbClr val="FF0000"/>
                        </a:solidFill>
                        <a:latin typeface="Palatino Linotype" panose="02040502050505030304" pitchFamily="18" charset="0"/>
                        <a:ea typeface="微软雅黑" panose="020B0503020204020204" pitchFamily="34" charset="-122"/>
                        <a:cs typeface="Palatino Linotype" panose="02040502050505030304" pitchFamily="18" charset="0"/>
                        <a:sym typeface="+mn-ea"/>
                      </a:endParaRPr>
                    </a:p>
                  </a:txBody>
                  <a:tcPr marL="68580" marR="68580" marT="34290" marB="34290"/>
                </a:tc>
              </a:tr>
              <a:tr h="4648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>
                          <a:solidFill>
                            <a:schemeClr val="tx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</a:t>
                      </a:r>
                      <a:endParaRPr lang="en-US" altLang="zh-CN" sz="1400">
                        <a:solidFill>
                          <a:schemeClr val="tx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34290" marB="3429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>
                          <a:solidFill>
                            <a:schemeClr val="tx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唐人街探案</a:t>
                      </a:r>
                      <a:endParaRPr lang="zh-CN" altLang="en-US" sz="1400">
                        <a:solidFill>
                          <a:schemeClr val="tx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34290" marB="3429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dirty="0">
                          <a:solidFill>
                            <a:schemeClr val="tx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23</a:t>
                      </a:r>
                      <a:endParaRPr lang="en-US" altLang="zh-CN" sz="1400" dirty="0">
                        <a:solidFill>
                          <a:schemeClr val="tx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34290" marB="3429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dirty="0">
                          <a:solidFill>
                            <a:schemeClr val="tx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endParaRPr lang="en-US" altLang="zh-CN" sz="1400" dirty="0">
                        <a:solidFill>
                          <a:schemeClr val="tx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34290" marB="3429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>
                          <a:solidFill>
                            <a:schemeClr val="tx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17</a:t>
                      </a:r>
                      <a:endParaRPr lang="en-US" altLang="zh-CN" sz="1400">
                        <a:solidFill>
                          <a:schemeClr val="tx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34290" marB="3429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？</a:t>
                      </a:r>
                      <a:endParaRPr lang="zh-CN" altLang="en-US" sz="1400">
                        <a:solidFill>
                          <a:srgbClr val="FF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34290" marB="3429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——</a:t>
                      </a:r>
                      <a:endParaRPr lang="en-US" altLang="zh-CN" sz="14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34290" marB="3429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？</a:t>
                      </a:r>
                      <a:endParaRPr lang="zh-CN" altLang="en-US" sz="1400" dirty="0">
                        <a:solidFill>
                          <a:srgbClr val="FF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34290" marB="3429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10880" y="839979"/>
            <a:ext cx="8364294" cy="517190"/>
          </a:xfrm>
        </p:spPr>
        <p:txBody>
          <a:bodyPr/>
          <a:lstStyle/>
          <a:p>
            <a:r>
              <a:rPr kumimoji="1" lang="en-US" altLang="zh-CN" dirty="0">
                <a:solidFill>
                  <a:schemeClr val="tx1"/>
                </a:solidFill>
              </a:rPr>
              <a:t>K</a:t>
            </a:r>
            <a:r>
              <a:rPr kumimoji="1" lang="zh-CN" altLang="en-US" dirty="0">
                <a:solidFill>
                  <a:schemeClr val="tx1"/>
                </a:solidFill>
              </a:rPr>
              <a:t>值选择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5" name="文本占位符 2"/>
          <p:cNvSpPr txBox="1"/>
          <p:nvPr/>
        </p:nvSpPr>
        <p:spPr>
          <a:xfrm>
            <a:off x="933358" y="4248295"/>
            <a:ext cx="5711282" cy="517190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rgbClr val="333333"/>
                </a:solidFill>
                <a:latin typeface="Helvetica Neue" panose="02000503000000020004" pitchFamily="2" charset="0"/>
              </a:rPr>
              <a:t>K</a:t>
            </a:r>
            <a:r>
              <a:rPr lang="zh-CN" altLang="en-US" dirty="0">
                <a:solidFill>
                  <a:srgbClr val="333333"/>
                </a:solidFill>
                <a:latin typeface="Helvetica Neue" panose="02000503000000020004" pitchFamily="2" charset="0"/>
              </a:rPr>
              <a:t>值过小：</a:t>
            </a:r>
            <a:r>
              <a:rPr lang="zh-CN" altLang="en-US" sz="1600" b="0" i="0" dirty="0">
                <a:solidFill>
                  <a:srgbClr val="333333"/>
                </a:solidFill>
                <a:effectLst/>
                <a:latin typeface="Helvetica Neue" panose="02000503000000020004" pitchFamily="2" charset="0"/>
              </a:rPr>
              <a:t>用</a:t>
            </a:r>
            <a:r>
              <a:rPr lang="zh-CN" altLang="en-US" sz="1600" b="0" i="0" dirty="0">
                <a:solidFill>
                  <a:schemeClr val="accent2">
                    <a:lumMod val="75000"/>
                  </a:schemeClr>
                </a:solidFill>
                <a:effectLst/>
                <a:latin typeface="Helvetica Neue" panose="02000503000000020004" pitchFamily="2" charset="0"/>
              </a:rPr>
              <a:t>较小</a:t>
            </a:r>
            <a:r>
              <a:rPr lang="zh-CN" altLang="en-US" dirty="0">
                <a:solidFill>
                  <a:schemeClr val="accent2">
                    <a:lumMod val="75000"/>
                  </a:schemeClr>
                </a:solidFill>
                <a:latin typeface="Helvetica Neue" panose="02000503000000020004" pitchFamily="2" charset="0"/>
              </a:rPr>
              <a:t>邻域</a:t>
            </a:r>
            <a:r>
              <a:rPr lang="zh-CN" altLang="en-US" sz="1600" b="0" i="0" dirty="0">
                <a:solidFill>
                  <a:schemeClr val="accent2">
                    <a:lumMod val="75000"/>
                  </a:schemeClr>
                </a:solidFill>
                <a:effectLst/>
                <a:latin typeface="Helvetica Neue" panose="02000503000000020004" pitchFamily="2" charset="0"/>
              </a:rPr>
              <a:t>中的训练实例</a:t>
            </a:r>
            <a:r>
              <a:rPr lang="zh-CN" altLang="en-US" sz="1600" b="0" i="0" dirty="0">
                <a:solidFill>
                  <a:srgbClr val="333333"/>
                </a:solidFill>
                <a:effectLst/>
                <a:latin typeface="Helvetica Neue" panose="02000503000000020004" pitchFamily="2" charset="0"/>
              </a:rPr>
              <a:t>进行预测</a:t>
            </a:r>
            <a:endParaRPr lang="en-US" altLang="zh-CN" sz="1600" b="0" i="0" dirty="0">
              <a:solidFill>
                <a:srgbClr val="333333"/>
              </a:solidFill>
              <a:effectLst/>
              <a:latin typeface="Helvetica Neue" panose="02000503000000020004" pitchFamily="2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8" name="文本框 2"/>
          <p:cNvSpPr txBox="1"/>
          <p:nvPr/>
        </p:nvSpPr>
        <p:spPr>
          <a:xfrm flipH="1">
            <a:off x="1602103" y="4683353"/>
            <a:ext cx="4493897" cy="708399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容易受到</a:t>
            </a:r>
            <a:r>
              <a:rPr lang="zh-CN" altLang="en-US" sz="1400" i="0" dirty="0">
                <a:solidFill>
                  <a:schemeClr val="accent2">
                    <a:lumMod val="75000"/>
                  </a:schemeClr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异常点</a:t>
            </a:r>
            <a:r>
              <a:rPr lang="zh-CN" altLang="en-US" sz="140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的影响</a:t>
            </a:r>
            <a:endParaRPr lang="en-US" altLang="zh-CN" sz="1400" i="0" dirty="0">
              <a:solidFill>
                <a:srgbClr val="333333"/>
              </a:solidFill>
              <a:effectLst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>
              <a:lnSpc>
                <a:spcPct val="150000"/>
              </a:lnSpc>
            </a:pPr>
            <a:r>
              <a:rPr lang="en-GB" altLang="zh-CN" sz="140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K</a:t>
            </a:r>
            <a:r>
              <a:rPr lang="zh-CN" altLang="en-US" sz="140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值的减小就意味着整体模型变得复杂，容易发生</a:t>
            </a:r>
            <a:r>
              <a:rPr lang="zh-CN" altLang="en-US" sz="1400" i="0" dirty="0">
                <a:solidFill>
                  <a:schemeClr val="accent2">
                    <a:lumMod val="75000"/>
                  </a:schemeClr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过拟合</a:t>
            </a:r>
            <a:endParaRPr lang="zh-CN" altLang="en-US" sz="1400" i="0" dirty="0">
              <a:solidFill>
                <a:schemeClr val="accent2">
                  <a:lumMod val="75000"/>
                </a:schemeClr>
              </a:solidFill>
              <a:effectLst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13" name="文本占位符 2"/>
          <p:cNvSpPr txBox="1"/>
          <p:nvPr/>
        </p:nvSpPr>
        <p:spPr>
          <a:xfrm>
            <a:off x="6860246" y="4248295"/>
            <a:ext cx="5230153" cy="517190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rgbClr val="333333"/>
                </a:solidFill>
                <a:latin typeface="Helvetica Neue" panose="02000503000000020004" pitchFamily="2" charset="0"/>
              </a:rPr>
              <a:t>K</a:t>
            </a:r>
            <a:r>
              <a:rPr lang="zh-CN" altLang="en-US" dirty="0">
                <a:solidFill>
                  <a:srgbClr val="333333"/>
                </a:solidFill>
                <a:latin typeface="Helvetica Neue" panose="02000503000000020004" pitchFamily="2" charset="0"/>
              </a:rPr>
              <a:t>值过大：</a:t>
            </a:r>
            <a:r>
              <a:rPr lang="zh-CN" altLang="en-US" sz="1600" b="0" i="0" dirty="0">
                <a:solidFill>
                  <a:srgbClr val="333333"/>
                </a:solidFill>
                <a:effectLst/>
                <a:latin typeface="Helvetica Neue" panose="02000503000000020004" pitchFamily="2" charset="0"/>
              </a:rPr>
              <a:t>用</a:t>
            </a:r>
            <a:r>
              <a:rPr lang="zh-CN" altLang="en-US" sz="1600" b="0" i="0" dirty="0">
                <a:solidFill>
                  <a:schemeClr val="accent2">
                    <a:lumMod val="75000"/>
                  </a:schemeClr>
                </a:solidFill>
                <a:effectLst/>
                <a:latin typeface="Helvetica Neue" panose="02000503000000020004" pitchFamily="2" charset="0"/>
              </a:rPr>
              <a:t>较大</a:t>
            </a:r>
            <a:r>
              <a:rPr lang="zh-CN" altLang="en-US" dirty="0">
                <a:solidFill>
                  <a:schemeClr val="accent2">
                    <a:lumMod val="75000"/>
                  </a:schemeClr>
                </a:solidFill>
                <a:latin typeface="Helvetica Neue" panose="02000503000000020004" pitchFamily="2" charset="0"/>
              </a:rPr>
              <a:t>邻域</a:t>
            </a:r>
            <a:r>
              <a:rPr lang="zh-CN" altLang="en-US" sz="1600" b="0" i="0" dirty="0">
                <a:solidFill>
                  <a:schemeClr val="accent2">
                    <a:lumMod val="75000"/>
                  </a:schemeClr>
                </a:solidFill>
                <a:effectLst/>
                <a:latin typeface="Helvetica Neue" panose="02000503000000020004" pitchFamily="2" charset="0"/>
              </a:rPr>
              <a:t>中的训练实例</a:t>
            </a:r>
            <a:r>
              <a:rPr lang="zh-CN" altLang="en-US" sz="1600" b="0" i="0" dirty="0">
                <a:solidFill>
                  <a:srgbClr val="333333"/>
                </a:solidFill>
                <a:effectLst/>
                <a:latin typeface="Helvetica Neue" panose="02000503000000020004" pitchFamily="2" charset="0"/>
              </a:rPr>
              <a:t>进行预测</a:t>
            </a:r>
            <a:endParaRPr lang="en-US" altLang="zh-CN" sz="1600" b="0" i="0" dirty="0">
              <a:solidFill>
                <a:srgbClr val="333333"/>
              </a:solidFill>
              <a:effectLst/>
              <a:latin typeface="Helvetica Neue" panose="02000503000000020004" pitchFamily="2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14" name="文本框 2"/>
          <p:cNvSpPr txBox="1"/>
          <p:nvPr/>
        </p:nvSpPr>
        <p:spPr>
          <a:xfrm flipH="1">
            <a:off x="7419046" y="4674045"/>
            <a:ext cx="4640873" cy="708399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受到样本均衡的问题</a:t>
            </a:r>
            <a:endParaRPr lang="zh-CN" altLang="en-US" sz="1400" i="0" dirty="0">
              <a:solidFill>
                <a:srgbClr val="333333"/>
              </a:solidFill>
              <a:effectLst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40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且</a:t>
            </a:r>
            <a:r>
              <a:rPr lang="en-GB" altLang="zh-CN" sz="140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K</a:t>
            </a:r>
            <a:r>
              <a:rPr lang="zh-CN" altLang="en-US" sz="140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值的增大就意味着整体的</a:t>
            </a:r>
            <a:r>
              <a:rPr lang="zh-CN" altLang="en-US" sz="1400" i="0" dirty="0">
                <a:solidFill>
                  <a:schemeClr val="accent2">
                    <a:lumMod val="75000"/>
                  </a:schemeClr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模型变得简单</a:t>
            </a:r>
            <a:r>
              <a:rPr lang="zh-CN" altLang="en-US" sz="140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，欠拟合</a:t>
            </a:r>
            <a:endParaRPr lang="zh-CN" altLang="en-US" sz="1400" i="0" dirty="0">
              <a:solidFill>
                <a:srgbClr val="333333"/>
              </a:solidFill>
              <a:effectLst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15" name="文本占位符 2"/>
          <p:cNvSpPr txBox="1"/>
          <p:nvPr/>
        </p:nvSpPr>
        <p:spPr>
          <a:xfrm>
            <a:off x="1022766" y="5553587"/>
            <a:ext cx="4268562" cy="517190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333333"/>
                </a:solidFill>
                <a:latin typeface="Helvetica Neue" panose="02000503000000020004" pitchFamily="2" charset="0"/>
              </a:rPr>
              <a:t>举例：</a:t>
            </a:r>
            <a:r>
              <a:rPr lang="en-GB" altLang="zh-CN" dirty="0">
                <a:solidFill>
                  <a:srgbClr val="333333"/>
                </a:solidFill>
                <a:latin typeface="Helvetica Neue" panose="02000503000000020004" pitchFamily="2" charset="0"/>
              </a:rPr>
              <a:t>K=N</a:t>
            </a:r>
            <a:r>
              <a:rPr lang="zh-CN" altLang="en-GB" dirty="0">
                <a:solidFill>
                  <a:srgbClr val="333333"/>
                </a:solidFill>
                <a:latin typeface="Helvetica Neue" panose="02000503000000020004" pitchFamily="2" charset="0"/>
              </a:rPr>
              <a:t>（</a:t>
            </a:r>
            <a:r>
              <a:rPr lang="en-GB" altLang="zh-CN" dirty="0">
                <a:solidFill>
                  <a:srgbClr val="333333"/>
                </a:solidFill>
                <a:latin typeface="Helvetica Neue" panose="02000503000000020004" pitchFamily="2" charset="0"/>
              </a:rPr>
              <a:t>N</a:t>
            </a:r>
            <a:r>
              <a:rPr lang="zh-CN" altLang="en-US" dirty="0">
                <a:solidFill>
                  <a:srgbClr val="333333"/>
                </a:solidFill>
                <a:latin typeface="Helvetica Neue" panose="02000503000000020004" pitchFamily="2" charset="0"/>
              </a:rPr>
              <a:t>为训练样本个数）</a:t>
            </a:r>
            <a:endParaRPr lang="en-US" altLang="zh-CN" sz="1600" b="0" i="0" dirty="0">
              <a:solidFill>
                <a:srgbClr val="333333"/>
              </a:solidFill>
              <a:effectLst/>
              <a:latin typeface="Helvetica Neue" panose="02000503000000020004" pitchFamily="2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70760" y="1371003"/>
            <a:ext cx="6131560" cy="2734883"/>
          </a:xfrm>
          <a:prstGeom prst="rect">
            <a:avLst/>
          </a:prstGeom>
        </p:spPr>
      </p:pic>
      <p:sp>
        <p:nvSpPr>
          <p:cNvPr id="19" name="文本框 2"/>
          <p:cNvSpPr txBox="1"/>
          <p:nvPr/>
        </p:nvSpPr>
        <p:spPr>
          <a:xfrm flipH="1">
            <a:off x="1495312" y="6018021"/>
            <a:ext cx="5047727" cy="697242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b="0" i="0" dirty="0">
                <a:solidFill>
                  <a:srgbClr val="333333"/>
                </a:solidFill>
                <a:effectLst/>
                <a:latin typeface="Helvetica Neue" panose="02000503000000020004" pitchFamily="2" charset="0"/>
              </a:rPr>
              <a:t>无论输入实例是什么，只会按训练集中最多的类别进行预测</a:t>
            </a:r>
            <a:r>
              <a:rPr lang="en-US" altLang="zh-CN" sz="1400" b="0" i="0" dirty="0">
                <a:solidFill>
                  <a:srgbClr val="333333"/>
                </a:solidFill>
                <a:effectLst/>
                <a:latin typeface="Helvetica Neue" panose="02000503000000020004" pitchFamily="2" charset="0"/>
              </a:rPr>
              <a:t>,</a:t>
            </a:r>
            <a:endParaRPr lang="en-US" altLang="zh-CN" sz="1400" b="0" i="0" dirty="0">
              <a:solidFill>
                <a:srgbClr val="333333"/>
              </a:solidFill>
              <a:effectLst/>
              <a:latin typeface="Helvetica Neue" panose="02000503000000020004" pitchFamily="2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400" b="0" i="0" dirty="0">
                <a:solidFill>
                  <a:schemeClr val="accent2">
                    <a:lumMod val="75000"/>
                  </a:schemeClr>
                </a:solidFill>
                <a:effectLst/>
                <a:latin typeface="Helvetica Neue" panose="02000503000000020004" pitchFamily="2" charset="0"/>
              </a:rPr>
              <a:t>受到样本均衡的影响</a:t>
            </a:r>
            <a:endParaRPr lang="en-US" altLang="zh-CN" sz="1400" b="0" i="0" dirty="0">
              <a:solidFill>
                <a:schemeClr val="accent2">
                  <a:lumMod val="75000"/>
                </a:schemeClr>
              </a:solidFill>
              <a:effectLst/>
              <a:latin typeface="Helvetica Neue" panose="02000503000000020004" pitchFamily="2" charset="0"/>
            </a:endParaRPr>
          </a:p>
        </p:txBody>
      </p:sp>
      <p:sp>
        <p:nvSpPr>
          <p:cNvPr id="21" name="文本占位符 2"/>
          <p:cNvSpPr txBox="1"/>
          <p:nvPr/>
        </p:nvSpPr>
        <p:spPr>
          <a:xfrm>
            <a:off x="6860246" y="5500831"/>
            <a:ext cx="4268562" cy="517190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333333"/>
                </a:solidFill>
                <a:latin typeface="Helvetica Neue" panose="02000503000000020004" pitchFamily="2" charset="0"/>
              </a:rPr>
              <a:t>如何对</a:t>
            </a:r>
            <a:r>
              <a:rPr lang="en-US" altLang="zh-CN" dirty="0">
                <a:solidFill>
                  <a:srgbClr val="333333"/>
                </a:solidFill>
                <a:latin typeface="Helvetica Neue" panose="02000503000000020004" pitchFamily="2" charset="0"/>
              </a:rPr>
              <a:t>K</a:t>
            </a:r>
            <a:r>
              <a:rPr lang="zh-CN" altLang="en-US" dirty="0">
                <a:solidFill>
                  <a:srgbClr val="333333"/>
                </a:solidFill>
                <a:latin typeface="Helvetica Neue" panose="02000503000000020004" pitchFamily="2" charset="0"/>
              </a:rPr>
              <a:t>超参数进行调优？</a:t>
            </a:r>
            <a:endParaRPr lang="en-US" altLang="zh-CN" sz="1600" b="0" i="0" dirty="0">
              <a:solidFill>
                <a:srgbClr val="333333"/>
              </a:solidFill>
              <a:effectLst/>
              <a:latin typeface="Helvetica Neue" panose="02000503000000020004" pitchFamily="2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22" name="文本框 2"/>
          <p:cNvSpPr txBox="1"/>
          <p:nvPr/>
        </p:nvSpPr>
        <p:spPr>
          <a:xfrm flipH="1">
            <a:off x="7449526" y="5933885"/>
            <a:ext cx="4640873" cy="708399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b="0" i="0" u="none" strike="noStrike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需要一些方法来寻找这个最合适的</a:t>
            </a:r>
            <a:r>
              <a:rPr lang="en-GB" altLang="zh-CN" sz="1400" b="0" i="0" u="none" strike="noStrike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K</a:t>
            </a:r>
            <a:r>
              <a:rPr lang="zh-CN" altLang="en-US" sz="1400" b="0" i="0" u="none" strike="noStrike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值</a:t>
            </a:r>
            <a:endParaRPr lang="en-US" altLang="zh-CN" sz="1400" b="0" i="0" u="none" strike="noStrike" dirty="0">
              <a:solidFill>
                <a:srgbClr val="333333"/>
              </a:solidFill>
              <a:effectLst/>
              <a:latin typeface="Open Sans" panose="020B0606030504020204" pitchFamily="34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rgbClr val="333333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交叉验证、网格搜索</a:t>
            </a:r>
            <a:endParaRPr lang="en-US" altLang="zh-CN" sz="1400" dirty="0">
              <a:solidFill>
                <a:srgbClr val="333333"/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/>
      <p:bldP spid="13" grpId="0"/>
      <p:bldP spid="14" grpId="0"/>
      <p:bldP spid="15" grpId="0"/>
      <p:bldP spid="19" grpId="0"/>
      <p:bldP spid="21" grpId="0"/>
      <p:bldP spid="2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10880" y="839979"/>
            <a:ext cx="8364294" cy="517190"/>
          </a:xfrm>
        </p:spPr>
        <p:txBody>
          <a:bodyPr/>
          <a:lstStyle/>
          <a:p>
            <a:r>
              <a:rPr kumimoji="1" lang="en-GB" altLang="zh-CN" dirty="0">
                <a:solidFill>
                  <a:schemeClr val="tx1"/>
                </a:solidFill>
              </a:rPr>
              <a:t>KNN</a:t>
            </a:r>
            <a:r>
              <a:rPr kumimoji="1" lang="zh-CN" altLang="en-GB" dirty="0">
                <a:solidFill>
                  <a:schemeClr val="tx1"/>
                </a:solidFill>
              </a:rPr>
              <a:t>算法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2" name="对角圆角矩形 1"/>
          <p:cNvSpPr/>
          <p:nvPr/>
        </p:nvSpPr>
        <p:spPr>
          <a:xfrm>
            <a:off x="6702844" y="3137243"/>
            <a:ext cx="3776133" cy="2826392"/>
          </a:xfrm>
          <a:prstGeom prst="round2DiagRect">
            <a:avLst/>
          </a:prstGeom>
          <a:solidFill>
            <a:srgbClr val="FFFFFF"/>
          </a:solidFill>
          <a:ln w="6350" cap="flat">
            <a:solidFill>
              <a:schemeClr val="bg1">
                <a:lumMod val="75000"/>
              </a:schemeClr>
            </a:solidFill>
            <a:prstDash val="solid"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sz="120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对角圆角矩形 3"/>
          <p:cNvSpPr/>
          <p:nvPr/>
        </p:nvSpPr>
        <p:spPr>
          <a:xfrm>
            <a:off x="1724443" y="3137243"/>
            <a:ext cx="4070940" cy="2826392"/>
          </a:xfrm>
          <a:prstGeom prst="round2DiagRect">
            <a:avLst/>
          </a:prstGeom>
          <a:solidFill>
            <a:srgbClr val="FFFFFF"/>
          </a:solidFill>
          <a:ln w="6350" cap="flat">
            <a:solidFill>
              <a:schemeClr val="bg1">
                <a:lumMod val="75000"/>
              </a:schemeClr>
            </a:solidFill>
            <a:prstDash val="solid"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sz="120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5" name="对角圆角矩形 4"/>
          <p:cNvSpPr/>
          <p:nvPr/>
        </p:nvSpPr>
        <p:spPr>
          <a:xfrm>
            <a:off x="1625600" y="3037583"/>
            <a:ext cx="4070940" cy="2826392"/>
          </a:xfrm>
          <a:prstGeom prst="round2DiagRect">
            <a:avLst/>
          </a:prstGeom>
          <a:solidFill>
            <a:srgbClr val="FFFFFF"/>
          </a:solidFill>
          <a:ln w="25400" cap="flat">
            <a:solidFill>
              <a:srgbClr val="AD2A26"/>
            </a:solidFill>
            <a:prstDash val="solid"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sz="120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Rectangle 10"/>
          <p:cNvSpPr>
            <a:spLocks noChangeArrowheads="1"/>
          </p:cNvSpPr>
          <p:nvPr/>
        </p:nvSpPr>
        <p:spPr bwMode="auto">
          <a:xfrm>
            <a:off x="2171648" y="2767585"/>
            <a:ext cx="2880000" cy="540000"/>
          </a:xfrm>
          <a:prstGeom prst="rect">
            <a:avLst/>
          </a:prstGeom>
          <a:solidFill>
            <a:srgbClr val="AD2A26"/>
          </a:solidFill>
          <a:ln w="254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  <a:sym typeface="Arial" panose="020B0604020202020204" pitchFamily="34" charset="0"/>
              </a:rPr>
              <a:t>分类流程</a:t>
            </a:r>
            <a:endParaRPr lang="zh-CN" altLang="en-US" sz="2000" dirty="0">
              <a:solidFill>
                <a:schemeClr val="bg1"/>
              </a:solidFill>
              <a:latin typeface="Alibaba PuHuiTi B" pitchFamily="18" charset="-122"/>
              <a:ea typeface="Alibaba PuHuiTi B" pitchFamily="18" charset="-122"/>
              <a:cs typeface="Alibaba PuHuiTi B" pitchFamily="18" charset="-122"/>
              <a:sym typeface="Arial" panose="020B0604020202020204" pitchFamily="34" charset="0"/>
            </a:endParaRPr>
          </a:p>
        </p:txBody>
      </p:sp>
      <p:sp>
        <p:nvSpPr>
          <p:cNvPr id="7" name="TextBox 17"/>
          <p:cNvSpPr txBox="1"/>
          <p:nvPr/>
        </p:nvSpPr>
        <p:spPr>
          <a:xfrm>
            <a:off x="1811867" y="3497878"/>
            <a:ext cx="3606800" cy="23660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400" b="0" i="0" u="none" strike="noStrike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计算未知样本到每一个训练样本的距离</a:t>
            </a:r>
            <a:endParaRPr lang="zh-CN" altLang="en-US" sz="1400" b="0" i="0" u="none" strike="noStrike" dirty="0">
              <a:solidFill>
                <a:srgbClr val="333333"/>
              </a:solidFill>
              <a:effectLst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algn="l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400" b="0" i="0" u="none" strike="noStrike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将训练样本根据距离大小升序排列</a:t>
            </a:r>
            <a:endParaRPr lang="zh-CN" altLang="en-US" sz="1400" b="0" i="0" u="none" strike="noStrike" dirty="0">
              <a:solidFill>
                <a:srgbClr val="333333"/>
              </a:solidFill>
              <a:effectLst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algn="l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400" b="0" i="0" u="none" strike="noStrike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取出距离最近的 </a:t>
            </a:r>
            <a:r>
              <a:rPr lang="en-GB" altLang="zh-CN" sz="1400" b="0" i="0" u="none" strike="noStrike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K </a:t>
            </a:r>
            <a:r>
              <a:rPr lang="zh-CN" altLang="en-US" sz="1400" b="0" i="0" u="none" strike="noStrike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个训练样本</a:t>
            </a:r>
            <a:endParaRPr lang="zh-CN" altLang="en-US" sz="1400" b="0" i="0" u="none" strike="noStrike" dirty="0">
              <a:solidFill>
                <a:srgbClr val="333333"/>
              </a:solidFill>
              <a:effectLst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algn="l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400" b="0" i="0" u="none" strike="noStrike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进行</a:t>
            </a:r>
            <a:r>
              <a:rPr lang="zh-CN" altLang="en-US" sz="1400" b="0" i="0" u="none" strike="noStrike" dirty="0">
                <a:solidFill>
                  <a:schemeClr val="accent2">
                    <a:lumMod val="75000"/>
                  </a:schemeClr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多数表决</a:t>
            </a:r>
            <a:r>
              <a:rPr lang="zh-CN" altLang="en-US" sz="1400" b="0" i="0" u="none" strike="noStrike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，统计 </a:t>
            </a:r>
            <a:r>
              <a:rPr lang="en-GB" altLang="zh-CN" sz="1400" b="0" i="0" u="none" strike="noStrike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K </a:t>
            </a:r>
            <a:r>
              <a:rPr lang="zh-CN" altLang="en-US" sz="1400" b="0" i="0" u="none" strike="noStrike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个样本中哪个类别的样本个数最多</a:t>
            </a:r>
            <a:endParaRPr lang="zh-CN" altLang="en-US" sz="1400" b="0" i="0" u="none" strike="noStrike" dirty="0">
              <a:solidFill>
                <a:srgbClr val="333333"/>
              </a:solidFill>
              <a:effectLst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algn="l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400" b="0" i="0" u="none" strike="noStrike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将未知的样本归属到</a:t>
            </a:r>
            <a:r>
              <a:rPr lang="zh-CN" altLang="en-US" sz="1400" b="0" i="0" u="none" strike="noStrike" dirty="0">
                <a:solidFill>
                  <a:schemeClr val="accent2">
                    <a:lumMod val="75000"/>
                  </a:schemeClr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出现次数最多的类别</a:t>
            </a:r>
            <a:endParaRPr lang="zh-CN" altLang="en-US" sz="1400" b="0" i="0" u="none" strike="noStrike" dirty="0">
              <a:solidFill>
                <a:schemeClr val="accent2">
                  <a:lumMod val="75000"/>
                </a:schemeClr>
              </a:solidFill>
              <a:effectLst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Arial" panose="020B0604020202020204" pitchFamily="34" charset="0"/>
            </a:endParaRPr>
          </a:p>
        </p:txBody>
      </p:sp>
      <p:sp>
        <p:nvSpPr>
          <p:cNvPr id="8" name="对角圆角矩形 7"/>
          <p:cNvSpPr/>
          <p:nvPr/>
        </p:nvSpPr>
        <p:spPr>
          <a:xfrm>
            <a:off x="6604000" y="3037583"/>
            <a:ext cx="3776133" cy="2826392"/>
          </a:xfrm>
          <a:prstGeom prst="round2DiagRect">
            <a:avLst/>
          </a:prstGeom>
          <a:solidFill>
            <a:srgbClr val="FFFFFF"/>
          </a:solidFill>
          <a:ln w="25400" cap="flat">
            <a:solidFill>
              <a:srgbClr val="48504F"/>
            </a:solidFill>
            <a:prstDash val="solid"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sz="140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Rectangle 10"/>
          <p:cNvSpPr>
            <a:spLocks noChangeArrowheads="1"/>
          </p:cNvSpPr>
          <p:nvPr/>
        </p:nvSpPr>
        <p:spPr bwMode="auto">
          <a:xfrm>
            <a:off x="7150048" y="2767585"/>
            <a:ext cx="2880000" cy="540000"/>
          </a:xfrm>
          <a:prstGeom prst="rect">
            <a:avLst/>
          </a:prstGeom>
          <a:solidFill>
            <a:srgbClr val="48504F"/>
          </a:solidFill>
          <a:ln w="254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  <a:sym typeface="Arial" panose="020B0604020202020204" pitchFamily="34" charset="0"/>
              </a:rPr>
              <a:t>回归流程</a:t>
            </a:r>
            <a:endParaRPr lang="zh-CN" altLang="en-US" sz="2000" dirty="0">
              <a:solidFill>
                <a:schemeClr val="bg1"/>
              </a:solidFill>
              <a:latin typeface="Alibaba PuHuiTi B" pitchFamily="18" charset="-122"/>
              <a:ea typeface="Alibaba PuHuiTi B" pitchFamily="18" charset="-122"/>
              <a:cs typeface="Alibaba PuHuiTi B" pitchFamily="18" charset="-122"/>
              <a:sym typeface="Arial" panose="020B0604020202020204" pitchFamily="34" charset="0"/>
            </a:endParaRPr>
          </a:p>
        </p:txBody>
      </p:sp>
      <p:sp>
        <p:nvSpPr>
          <p:cNvPr id="10" name="TextBox 17"/>
          <p:cNvSpPr txBox="1"/>
          <p:nvPr/>
        </p:nvSpPr>
        <p:spPr>
          <a:xfrm>
            <a:off x="6790267" y="3497878"/>
            <a:ext cx="3606800" cy="16778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400" b="0" i="0" u="none" strike="noStrike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计算未知样本到每一个训练样本的距离</a:t>
            </a:r>
            <a:endParaRPr lang="zh-CN" altLang="en-US" sz="1400" b="0" i="0" u="none" strike="noStrike" dirty="0">
              <a:solidFill>
                <a:srgbClr val="333333"/>
              </a:solidFill>
              <a:effectLst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algn="l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400" b="0" i="0" u="none" strike="noStrike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将训练样本根据距离大小升序排列</a:t>
            </a:r>
            <a:endParaRPr lang="zh-CN" altLang="en-US" sz="1400" b="0" i="0" u="none" strike="noStrike" dirty="0">
              <a:solidFill>
                <a:srgbClr val="333333"/>
              </a:solidFill>
              <a:effectLst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algn="l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400" b="0" i="0" u="none" strike="noStrike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取出距离最近的 </a:t>
            </a:r>
            <a:r>
              <a:rPr lang="en-GB" altLang="zh-CN" sz="1400" b="0" i="0" u="none" strike="noStrike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K </a:t>
            </a:r>
            <a:r>
              <a:rPr lang="zh-CN" altLang="en-US" sz="1400" b="0" i="0" u="none" strike="noStrike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个训练样本</a:t>
            </a:r>
            <a:endParaRPr lang="zh-CN" altLang="en-US" sz="1400" b="0" i="0" u="none" strike="noStrike" dirty="0">
              <a:solidFill>
                <a:srgbClr val="333333"/>
              </a:solidFill>
              <a:effectLst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algn="l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400" b="0" i="0" u="none" strike="noStrike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把这个 </a:t>
            </a:r>
            <a:r>
              <a:rPr lang="en-GB" altLang="zh-CN" sz="1400" b="0" i="0" u="none" strike="noStrike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K </a:t>
            </a:r>
            <a:r>
              <a:rPr lang="zh-CN" altLang="en-US" sz="1400" b="0" i="0" u="none" strike="noStrike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个样本的目标值</a:t>
            </a:r>
            <a:r>
              <a:rPr lang="zh-CN" altLang="en-US" sz="1400" b="0" i="0" u="none" strike="noStrike" dirty="0">
                <a:solidFill>
                  <a:schemeClr val="accent2">
                    <a:lumMod val="75000"/>
                  </a:schemeClr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计算其平均值</a:t>
            </a:r>
            <a:endParaRPr lang="zh-CN" altLang="en-US" sz="1400" b="0" i="0" u="none" strike="noStrike" dirty="0">
              <a:solidFill>
                <a:schemeClr val="accent2">
                  <a:lumMod val="75000"/>
                </a:schemeClr>
              </a:solidFill>
              <a:effectLst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algn="l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400" b="0" i="0" u="none" strike="noStrike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作为将未知的样本预测的值</a:t>
            </a:r>
            <a:endParaRPr lang="zh-CN" altLang="en-US" sz="1400" b="0" i="0" u="none" strike="noStrike" dirty="0">
              <a:solidFill>
                <a:srgbClr val="333333"/>
              </a:solidFill>
              <a:effectLst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11" name="文本占位符 2"/>
          <p:cNvSpPr txBox="1"/>
          <p:nvPr/>
        </p:nvSpPr>
        <p:spPr>
          <a:xfrm>
            <a:off x="1738274" y="1358803"/>
            <a:ext cx="8857454" cy="1309122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>
                <a:latin typeface="Roboto" panose="02000000000000000000" pitchFamily="2" charset="0"/>
              </a:rPr>
              <a:t> 解决问题：</a:t>
            </a:r>
            <a:r>
              <a:rPr lang="zh-CN" altLang="en-US" sz="1400" dirty="0">
                <a:solidFill>
                  <a:schemeClr val="accent2">
                    <a:lumMod val="75000"/>
                  </a:schemeClr>
                </a:solidFill>
                <a:latin typeface="Roboto" panose="02000000000000000000" pitchFamily="2" charset="0"/>
              </a:rPr>
              <a:t>分类问题、回归问题</a:t>
            </a:r>
            <a:endParaRPr lang="en-US" altLang="zh-CN" sz="1400" dirty="0">
              <a:solidFill>
                <a:schemeClr val="accent2">
                  <a:lumMod val="75000"/>
                </a:schemeClr>
              </a:solidFill>
              <a:latin typeface="Roboto" panose="02000000000000000000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>
                <a:latin typeface="Roboto" panose="02000000000000000000" pitchFamily="2" charset="0"/>
              </a:rPr>
              <a:t>算法思想：</a:t>
            </a:r>
            <a:r>
              <a:rPr lang="zh-CN" altLang="en-US" sz="1400" dirty="0">
                <a:latin typeface="Roboto" panose="02000000000000000000" pitchFamily="2" charset="0"/>
              </a:rPr>
              <a:t>若一个样本在特征空间中的 </a:t>
            </a:r>
            <a:r>
              <a:rPr lang="en-GB" altLang="zh-CN" sz="1400" dirty="0">
                <a:latin typeface="Roboto" panose="02000000000000000000" pitchFamily="2" charset="0"/>
              </a:rPr>
              <a:t>k </a:t>
            </a:r>
            <a:r>
              <a:rPr lang="zh-CN" altLang="en-US" sz="1400" dirty="0">
                <a:latin typeface="Roboto" panose="02000000000000000000" pitchFamily="2" charset="0"/>
              </a:rPr>
              <a:t>个最相似的样本大多数属于某一个类别，则该样本也属于这个类别</a:t>
            </a:r>
            <a:endParaRPr lang="en-US" altLang="zh-CN" sz="1400" dirty="0">
              <a:latin typeface="Roboto" panose="02000000000000000000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 dirty="0">
                <a:latin typeface="Roboto" panose="02000000000000000000" pitchFamily="2" charset="0"/>
              </a:rPr>
              <a:t>相似性：欧氏距离</a:t>
            </a:r>
            <a:endParaRPr lang="en-US" altLang="zh-CN" sz="1400" dirty="0">
              <a:latin typeface="Roboto" panose="02000000000000000000" pitchFamily="2" charset="0"/>
            </a:endParaRPr>
          </a:p>
          <a:p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4331911" y="923080"/>
            <a:ext cx="55923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1</a:t>
            </a:r>
            <a:r>
              <a:rPr kumimoji="1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</a:t>
            </a:r>
            <a:r>
              <a:rPr kumimoji="1" lang="en-US" altLang="zh-CN" b="1" dirty="0">
                <a:solidFill>
                  <a:prstClr val="black">
                    <a:lumMod val="65000"/>
                    <a:lumOff val="35000"/>
                  </a:prst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KNN</a:t>
            </a:r>
            <a:r>
              <a:rPr kumimoji="1" lang="zh-CN" altLang="en-US" b="1" dirty="0">
                <a:solidFill>
                  <a:prstClr val="black">
                    <a:lumMod val="65000"/>
                    <a:lumOff val="35000"/>
                  </a:prst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概念 </a:t>
            </a:r>
            <a:r>
              <a:rPr kumimoji="1" lang="en-GB" altLang="zh-CN" b="1" dirty="0">
                <a:solidFill>
                  <a:prstClr val="black">
                    <a:lumMod val="65000"/>
                    <a:lumOff val="35000"/>
                  </a:prst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K Nearest Neighbor</a:t>
            </a:r>
            <a:r>
              <a:rPr kumimoji="1" lang="zh-CN" altLang="en-US" b="1" dirty="0">
                <a:solidFill>
                  <a:prstClr val="black">
                    <a:lumMod val="65000"/>
                    <a:lumOff val="35000"/>
                  </a:prst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</a:t>
            </a:r>
            <a:endParaRPr kumimoji="1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12" name="文本占位符 1"/>
          <p:cNvSpPr txBox="1"/>
          <p:nvPr/>
        </p:nvSpPr>
        <p:spPr>
          <a:xfrm>
            <a:off x="86125" y="181128"/>
            <a:ext cx="7036395" cy="761341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lang="zh-CN" altLang="en-US" sz="1400" b="0" i="0" kern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9410" marR="0" lvl="1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endParaRPr kumimoji="1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sp>
        <p:nvSpPr>
          <p:cNvPr id="2" name="TextBox 6"/>
          <p:cNvSpPr txBox="1"/>
          <p:nvPr/>
        </p:nvSpPr>
        <p:spPr>
          <a:xfrm>
            <a:off x="4845178" y="1289440"/>
            <a:ext cx="7188326" cy="38529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rgbClr val="333333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一个样本最相似的 </a:t>
            </a:r>
            <a:r>
              <a:rPr lang="en-GB" altLang="zh-CN" sz="1400" dirty="0">
                <a:solidFill>
                  <a:srgbClr val="333333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k </a:t>
            </a:r>
            <a:r>
              <a:rPr lang="zh-CN" altLang="en-US" sz="1400" dirty="0">
                <a:solidFill>
                  <a:srgbClr val="333333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个样本中的大多数属于某一个类别，则该样本也属于这个类别 </a:t>
            </a:r>
            <a:endParaRPr kumimoji="1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350737" y="1837043"/>
            <a:ext cx="21478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b="1" dirty="0">
                <a:solidFill>
                  <a:prstClr val="black">
                    <a:lumMod val="65000"/>
                    <a:lumOff val="35000"/>
                  </a:prst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2</a:t>
            </a:r>
            <a:r>
              <a:rPr kumimoji="1" lang="zh-CN" altLang="en-US" b="1" dirty="0">
                <a:solidFill>
                  <a:prstClr val="black">
                    <a:lumMod val="65000"/>
                    <a:lumOff val="35000"/>
                  </a:prst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</a:t>
            </a:r>
            <a:r>
              <a:rPr kumimoji="1" lang="en-US" altLang="zh-CN" b="1" dirty="0">
                <a:solidFill>
                  <a:prstClr val="black">
                    <a:lumMod val="65000"/>
                    <a:lumOff val="35000"/>
                  </a:prst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KNN</a:t>
            </a:r>
            <a:r>
              <a:rPr kumimoji="1" lang="zh-CN" altLang="en-US" b="1" dirty="0">
                <a:solidFill>
                  <a:prstClr val="black">
                    <a:lumMod val="65000"/>
                    <a:lumOff val="35000"/>
                  </a:prst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分类流程</a:t>
            </a:r>
            <a:r>
              <a:rPr kumimoji="1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</a:t>
            </a:r>
            <a:endParaRPr kumimoji="1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Calibri" panose="020F050202020403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5" name="TextBox 6"/>
          <p:cNvSpPr txBox="1"/>
          <p:nvPr/>
        </p:nvSpPr>
        <p:spPr>
          <a:xfrm>
            <a:off x="6474307" y="1802925"/>
            <a:ext cx="5462225" cy="167789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zh-CN" altLang="en-US" sz="1400" dirty="0">
                <a:solidFill>
                  <a:srgbClr val="333333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计算未知样本到每一个训练样本的距离</a:t>
            </a:r>
            <a:endParaRPr lang="zh-CN" altLang="en-US" sz="1400" dirty="0">
              <a:solidFill>
                <a:srgbClr val="333333"/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zh-CN" altLang="en-US" sz="1400" dirty="0">
                <a:solidFill>
                  <a:srgbClr val="333333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将训练样本根据距离大小升序排列</a:t>
            </a:r>
            <a:endParaRPr lang="zh-CN" altLang="en-US" sz="1400" dirty="0">
              <a:solidFill>
                <a:srgbClr val="333333"/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zh-CN" altLang="en-US" sz="1400" dirty="0">
                <a:solidFill>
                  <a:srgbClr val="333333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取出距离最近的 </a:t>
            </a:r>
            <a:r>
              <a:rPr lang="en-GB" altLang="zh-CN" sz="1400" dirty="0">
                <a:solidFill>
                  <a:srgbClr val="333333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K </a:t>
            </a:r>
            <a:r>
              <a:rPr lang="zh-CN" altLang="en-US" sz="1400" dirty="0">
                <a:solidFill>
                  <a:srgbClr val="333333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个训练样本</a:t>
            </a:r>
            <a:endParaRPr lang="zh-CN" altLang="en-US" sz="1400" dirty="0">
              <a:solidFill>
                <a:srgbClr val="333333"/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zh-CN" altLang="en-US" sz="1400" dirty="0">
                <a:solidFill>
                  <a:srgbClr val="333333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进行多数表决，</a:t>
            </a:r>
            <a:r>
              <a:rPr lang="zh-CN" altLang="en-US" sz="1400" dirty="0">
                <a:solidFill>
                  <a:schemeClr val="accent2">
                    <a:lumMod val="7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统计 </a:t>
            </a:r>
            <a:r>
              <a:rPr lang="en-GB" altLang="zh-CN" sz="1400" dirty="0">
                <a:solidFill>
                  <a:schemeClr val="accent2">
                    <a:lumMod val="7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K </a:t>
            </a:r>
            <a:r>
              <a:rPr lang="zh-CN" altLang="en-US" sz="1400" dirty="0">
                <a:solidFill>
                  <a:schemeClr val="accent2">
                    <a:lumMod val="7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个样本中哪个类别的样本个数最多</a:t>
            </a:r>
            <a:endParaRPr lang="zh-CN" altLang="en-US" sz="1400" dirty="0">
              <a:solidFill>
                <a:schemeClr val="accent2">
                  <a:lumMod val="7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zh-CN" altLang="en-US" sz="1400" dirty="0">
                <a:solidFill>
                  <a:srgbClr val="333333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将未知的样本归属到出现次数最多的类别</a:t>
            </a:r>
            <a:endParaRPr kumimoji="0" lang="en-GB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404645" y="3409221"/>
            <a:ext cx="21666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b="1" dirty="0">
                <a:solidFill>
                  <a:prstClr val="black">
                    <a:lumMod val="65000"/>
                    <a:lumOff val="35000"/>
                  </a:prst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3</a:t>
            </a:r>
            <a:r>
              <a:rPr kumimoji="1" lang="zh-CN" altLang="en-US" b="1" dirty="0">
                <a:solidFill>
                  <a:prstClr val="black">
                    <a:lumMod val="65000"/>
                    <a:lumOff val="35000"/>
                  </a:prst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</a:t>
            </a:r>
            <a:r>
              <a:rPr kumimoji="1" lang="en-US" altLang="zh-CN" b="1" dirty="0">
                <a:solidFill>
                  <a:prstClr val="black">
                    <a:lumMod val="65000"/>
                    <a:lumOff val="35000"/>
                  </a:prst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KNN</a:t>
            </a:r>
            <a:r>
              <a:rPr kumimoji="1" lang="zh-CN" altLang="en-US" b="1" dirty="0">
                <a:solidFill>
                  <a:prstClr val="black">
                    <a:lumMod val="65000"/>
                    <a:lumOff val="35000"/>
                  </a:prst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回归流程</a:t>
            </a:r>
            <a:endParaRPr kumimoji="1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Calibri" panose="020F050202020403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9" name="TextBox 6"/>
          <p:cNvSpPr txBox="1"/>
          <p:nvPr/>
        </p:nvSpPr>
        <p:spPr>
          <a:xfrm>
            <a:off x="6474307" y="3480820"/>
            <a:ext cx="4064440" cy="167789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计算未知样本到每一个训练样本的距离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将训练样本根据距离大小升序排列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取出距离最近的 </a:t>
            </a:r>
            <a:r>
              <a:rPr lang="en-GB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K 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个训练样本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把这个 </a:t>
            </a:r>
            <a:r>
              <a:rPr lang="en-GB" altLang="zh-CN" sz="1400" dirty="0">
                <a:solidFill>
                  <a:schemeClr val="accent2">
                    <a:lumMod val="7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K </a:t>
            </a:r>
            <a:r>
              <a:rPr lang="zh-CN" altLang="en-US" sz="1400" dirty="0">
                <a:solidFill>
                  <a:schemeClr val="accent2">
                    <a:lumMod val="7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个样本的目标值计算其平均值</a:t>
            </a:r>
            <a:endParaRPr lang="zh-CN" altLang="en-US" sz="1400" dirty="0">
              <a:solidFill>
                <a:schemeClr val="accent2">
                  <a:lumMod val="7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将未知的样本预测的值了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4404645" y="5230314"/>
            <a:ext cx="21666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b="1" dirty="0">
                <a:solidFill>
                  <a:prstClr val="black">
                    <a:lumMod val="65000"/>
                    <a:lumOff val="35000"/>
                  </a:prst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4</a:t>
            </a:r>
            <a:r>
              <a:rPr kumimoji="1" lang="zh-CN" altLang="en-US" b="1" dirty="0">
                <a:solidFill>
                  <a:prstClr val="black">
                    <a:lumMod val="65000"/>
                    <a:lumOff val="35000"/>
                  </a:prst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</a:t>
            </a:r>
            <a:r>
              <a:rPr kumimoji="1" lang="en-US" altLang="zh-CN" b="1" dirty="0">
                <a:solidFill>
                  <a:prstClr val="black">
                    <a:lumMod val="65000"/>
                    <a:lumOff val="35000"/>
                  </a:prst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K</a:t>
            </a:r>
            <a:r>
              <a:rPr kumimoji="1" lang="zh-CN" altLang="en-US" b="1" dirty="0">
                <a:solidFill>
                  <a:prstClr val="black">
                    <a:lumMod val="65000"/>
                    <a:lumOff val="35000"/>
                  </a:prst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值的选择</a:t>
            </a:r>
            <a:endParaRPr kumimoji="1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Calibri" panose="020F050202020403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6014168" y="5383894"/>
            <a:ext cx="612407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rgbClr val="333333"/>
                </a:solidFill>
                <a:latin typeface="Helvetica Neue" panose="02000503000000020004" pitchFamily="2" charset="0"/>
              </a:rPr>
              <a:t>K</a:t>
            </a:r>
            <a:r>
              <a:rPr lang="zh-CN" altLang="en-US" dirty="0">
                <a:solidFill>
                  <a:srgbClr val="333333"/>
                </a:solidFill>
                <a:latin typeface="Helvetica Neue" panose="02000503000000020004" pitchFamily="2" charset="0"/>
              </a:rPr>
              <a:t>值过小：过拟合</a:t>
            </a:r>
            <a:endParaRPr lang="en-US" altLang="zh-CN" dirty="0">
              <a:solidFill>
                <a:srgbClr val="333333"/>
              </a:solidFill>
              <a:latin typeface="Helvetica Neue" panose="02000503000000020004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800" b="0" i="0" dirty="0">
                <a:solidFill>
                  <a:srgbClr val="333333"/>
                </a:solidFill>
                <a:effectLst/>
                <a:latin typeface="Helvetica Neue" panose="02000503000000020004" pitchFamily="2" charset="0"/>
              </a:rPr>
              <a:t>K</a:t>
            </a:r>
            <a:r>
              <a:rPr lang="zh-CN" altLang="en-US" sz="1800" b="0" i="0" dirty="0">
                <a:solidFill>
                  <a:srgbClr val="333333"/>
                </a:solidFill>
                <a:effectLst/>
                <a:latin typeface="Helvetica Neue" panose="02000503000000020004" pitchFamily="2" charset="0"/>
              </a:rPr>
              <a:t>值过大：欠拟合</a:t>
            </a:r>
            <a:endParaRPr lang="en-US" altLang="zh-CN" sz="1800" b="0" i="0" dirty="0">
              <a:solidFill>
                <a:srgbClr val="333333"/>
              </a:solidFill>
              <a:effectLst/>
              <a:latin typeface="Helvetica Neue" panose="02000503000000020004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1800" b="0" i="0" dirty="0">
              <a:solidFill>
                <a:srgbClr val="333333"/>
              </a:solidFill>
              <a:effectLst/>
              <a:latin typeface="Helvetica Neue" panose="02000503000000020004" pitchFamily="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  <p:bldP spid="9" grpId="0"/>
      <p:bldP spid="1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 descr="01 (82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05900" y="5174812"/>
            <a:ext cx="1481455" cy="148145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2324912" y="1877365"/>
            <a:ext cx="46538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dirty="0">
                <a:solidFill>
                  <a:prstClr val="black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1</a:t>
            </a:r>
            <a:r>
              <a:rPr lang="zh-CN" altLang="en-US" sz="1400" dirty="0">
                <a:solidFill>
                  <a:prstClr val="black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、有关</a:t>
            </a:r>
            <a:r>
              <a:rPr lang="en-US" altLang="zh-CN" sz="1400" dirty="0">
                <a:solidFill>
                  <a:prstClr val="black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KNN</a:t>
            </a:r>
            <a:r>
              <a:rPr lang="zh-CN" altLang="en-US" sz="1400" dirty="0">
                <a:solidFill>
                  <a:prstClr val="black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的</a:t>
            </a:r>
            <a:r>
              <a:rPr lang="en-US" altLang="zh-CN" sz="1400" dirty="0">
                <a:solidFill>
                  <a:prstClr val="black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K</a:t>
            </a:r>
            <a:r>
              <a:rPr lang="zh-CN" altLang="en-US" sz="1400" dirty="0">
                <a:solidFill>
                  <a:prstClr val="black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值选择，以下说法中正确的是？（</a:t>
            </a:r>
            <a:r>
              <a:rPr lang="zh-CN" altLang="en-US" sz="1400" b="1" dirty="0">
                <a:solidFill>
                  <a:prstClr val="black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多选</a:t>
            </a:r>
            <a:r>
              <a:rPr lang="zh-CN" altLang="en-US" sz="1400" dirty="0">
                <a:solidFill>
                  <a:prstClr val="black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）</a:t>
            </a:r>
            <a:endParaRPr lang="zh-CN" altLang="en-US" sz="1400" dirty="0">
              <a:solidFill>
                <a:prstClr val="black"/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654686" y="2305615"/>
            <a:ext cx="812304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A</a:t>
            </a:r>
            <a:r>
              <a:rPr lang="zh-CN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）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若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k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值过小，意味着模型更易受到异常点影响，更易学习到嘈杂数据，模型有过拟合的风险。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B</a:t>
            </a:r>
            <a:r>
              <a:rPr lang="zh-CN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）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若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k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值过大，模型会变的相对简单，结果更容易受到异常值的影响。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C</a:t>
            </a:r>
            <a:r>
              <a:rPr lang="zh-CN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）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若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k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值与训练集样本数相同，会导致最终模型的结果都是指向训练集中类别数</a:t>
            </a:r>
            <a:endParaRPr lang="en-US" altLang="zh-CN" sz="1400" dirty="0">
              <a:solidFill>
                <a:schemeClr val="tx1">
                  <a:lumMod val="65000"/>
                  <a:lumOff val="3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  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最多的那一类，忽略了数据当中其它的重要信息，模型会过于简单。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D</a:t>
            </a:r>
            <a:r>
              <a:rPr lang="zh-CN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）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实际工作中经常使用交叉验证的方式去选取最优的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k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值，而且一般情况下，</a:t>
            </a:r>
            <a:endParaRPr lang="en-US" altLang="zh-CN" sz="1400" dirty="0">
              <a:solidFill>
                <a:schemeClr val="tx1">
                  <a:lumMod val="65000"/>
                  <a:lumOff val="3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  k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值都是比较小的数值。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6683988" y="4867035"/>
            <a:ext cx="11272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400" b="1" dirty="0">
                <a:solidFill>
                  <a:schemeClr val="accent2">
                    <a:lumMod val="7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答案 </a:t>
            </a:r>
            <a:r>
              <a:rPr lang="en-US" altLang="zh-CN" sz="1400" b="1" dirty="0">
                <a:solidFill>
                  <a:schemeClr val="accent2">
                    <a:lumMod val="7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ACD</a:t>
            </a:r>
            <a:r>
              <a:rPr lang="zh-CN" altLang="en-US" sz="1400" b="1" dirty="0">
                <a:solidFill>
                  <a:schemeClr val="accent2">
                    <a:lumMod val="7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。</a:t>
            </a:r>
            <a:endParaRPr lang="zh-CN" altLang="en-US" sz="1400" b="1" dirty="0">
              <a:solidFill>
                <a:schemeClr val="accent2">
                  <a:lumMod val="7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 descr="01 (82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05900" y="5174812"/>
            <a:ext cx="1481455" cy="1481455"/>
          </a:xfrm>
          <a:prstGeom prst="rect">
            <a:avLst/>
          </a:prstGeom>
        </p:spPr>
      </p:pic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KNN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解决什么问题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2660631" y="1925011"/>
            <a:ext cx="8069838" cy="19902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1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）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KNN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：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K Nearest Neighbor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。</a:t>
            </a: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即解决的是寻找与未知样本 </a:t>
            </a:r>
            <a:r>
              <a:rPr lang="en-US" altLang="zh-CN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_______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的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K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个样本，并对未知样本所属的分类或者属性进行预测的问题。</a:t>
            </a: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lvl="0">
              <a:lnSpc>
                <a:spcPct val="130000"/>
              </a:lnSpc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2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）距离度量：</a:t>
            </a: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lvl="0">
              <a:lnSpc>
                <a:spcPct val="130000"/>
              </a:lnSpc>
            </a:pP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lvl="0">
              <a:lnSpc>
                <a:spcPct val="130000"/>
              </a:lnSpc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空间中两个样本的距离通过 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_________ 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来度量的。</a:t>
            </a:r>
            <a:endParaRPr lang="zh-CN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2660631" y="4727932"/>
            <a:ext cx="377674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400" b="1" dirty="0">
                <a:solidFill>
                  <a:schemeClr val="accent2">
                    <a:lumMod val="7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答案解析：① 最近邻；② 欧氏距离</a:t>
            </a:r>
            <a:endParaRPr lang="zh-CN" altLang="en-US" sz="1400" b="1" dirty="0">
              <a:solidFill>
                <a:schemeClr val="accent2">
                  <a:lumMod val="7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4888728" y="795460"/>
            <a:ext cx="6104167" cy="5545050"/>
          </a:xfrm>
        </p:spPr>
        <p:txBody>
          <a:bodyPr/>
          <a:lstStyle/>
          <a:p>
            <a:r>
              <a:rPr lang="en-US" altLang="zh-CN" dirty="0">
                <a:solidFill>
                  <a:schemeClr val="tx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KNN</a:t>
            </a:r>
            <a:r>
              <a:rPr lang="zh-CN" altLang="en-US" dirty="0">
                <a:solidFill>
                  <a:schemeClr val="tx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算法简介</a:t>
            </a:r>
            <a:endParaRPr lang="en-US" altLang="zh-CN" dirty="0">
              <a:solidFill>
                <a:schemeClr val="tx1"/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lvl="1"/>
            <a:r>
              <a:rPr lang="en-US" altLang="zh-CN" sz="1600" b="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KNN</a:t>
            </a:r>
            <a:r>
              <a:rPr lang="zh-CN" altLang="en-US" sz="1600" b="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思想、分类和回归问题处理流程</a:t>
            </a:r>
            <a:endParaRPr lang="en-US" altLang="zh-CN" sz="1600" b="0" dirty="0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r>
              <a:rPr lang="en-US" altLang="zh-CN" dirty="0">
                <a:solidFill>
                  <a:srgbClr val="C00000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KNN</a:t>
            </a:r>
            <a:r>
              <a:rPr lang="zh-CN" altLang="en-US" dirty="0">
                <a:solidFill>
                  <a:srgbClr val="C00000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算法</a:t>
            </a:r>
            <a:r>
              <a:rPr lang="en-US" altLang="zh-CN" dirty="0">
                <a:solidFill>
                  <a:srgbClr val="C00000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API</a:t>
            </a:r>
            <a:r>
              <a:rPr lang="zh-CN" altLang="en-US" dirty="0">
                <a:solidFill>
                  <a:srgbClr val="C00000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介绍</a:t>
            </a:r>
            <a:endParaRPr lang="en-US" altLang="zh-CN" dirty="0">
              <a:solidFill>
                <a:srgbClr val="C00000"/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lvl="1"/>
            <a:r>
              <a:rPr kumimoji="1" lang="zh-CN" altLang="en-US" sz="1600" b="0" dirty="0">
                <a:solidFill>
                  <a:srgbClr val="C00000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分类、回归实现</a:t>
            </a:r>
            <a:endParaRPr kumimoji="1" lang="en-US" altLang="zh-CN" sz="1600" b="0" dirty="0">
              <a:solidFill>
                <a:srgbClr val="C00000"/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距离度量</a:t>
            </a:r>
            <a:endParaRPr kumimoji="1" lang="en-US" altLang="zh-CN" dirty="0">
              <a:solidFill>
                <a:schemeClr val="tx1">
                  <a:lumMod val="85000"/>
                  <a:lumOff val="1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lvl="1"/>
            <a:r>
              <a:rPr kumimoji="1" lang="zh-CN" altLang="en-US" sz="16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常用距离计算方法</a:t>
            </a:r>
            <a:endParaRPr kumimoji="1" lang="zh-CN" altLang="en-US" sz="1600" b="0" dirty="0">
              <a:solidFill>
                <a:schemeClr val="tx1">
                  <a:lumMod val="85000"/>
                  <a:lumOff val="1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特征预处理</a:t>
            </a:r>
            <a:endParaRPr kumimoji="1" lang="en-US" altLang="zh-CN" dirty="0">
              <a:solidFill>
                <a:schemeClr val="tx1">
                  <a:lumMod val="85000"/>
                  <a:lumOff val="1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lvl="1"/>
            <a:r>
              <a:rPr kumimoji="1" lang="zh-CN" altLang="en-US" sz="16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归一化、标准化、鸢尾花识别案例</a:t>
            </a:r>
            <a:endParaRPr kumimoji="1" lang="en-US" altLang="zh-CN" sz="1600" b="0" dirty="0">
              <a:solidFill>
                <a:schemeClr val="tx1">
                  <a:lumMod val="85000"/>
                  <a:lumOff val="1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超参数选择方法</a:t>
            </a:r>
            <a:endParaRPr kumimoji="1" lang="en-US" altLang="zh-CN" dirty="0">
              <a:solidFill>
                <a:schemeClr val="tx1">
                  <a:lumMod val="85000"/>
                  <a:lumOff val="1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lvl="1"/>
            <a:r>
              <a:rPr kumimoji="1" lang="zh-CN" altLang="en-US" sz="16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交叉验证、网格搜索、手写数字识别案例</a:t>
            </a:r>
            <a:endParaRPr lang="en-US" altLang="zh-CN" sz="1600" b="0" dirty="0">
              <a:solidFill>
                <a:schemeClr val="tx1">
                  <a:lumMod val="85000"/>
                  <a:lumOff val="1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>
          <a:xfrm>
            <a:off x="4915085" y="365860"/>
            <a:ext cx="6298881" cy="4855845"/>
          </a:xfrm>
        </p:spPr>
        <p:txBody>
          <a:bodyPr/>
          <a:lstStyle/>
          <a:p>
            <a:r>
              <a:rPr lang="zh-CN" altLang="en-US" dirty="0">
                <a:solidFill>
                  <a:schemeClr val="tx1"/>
                </a:solidFill>
              </a:rPr>
              <a:t>掌握</a:t>
            </a:r>
            <a:r>
              <a:rPr lang="en-US" altLang="zh-CN" dirty="0">
                <a:solidFill>
                  <a:schemeClr val="tx1"/>
                </a:solidFill>
              </a:rPr>
              <a:t>KNN</a:t>
            </a:r>
            <a:r>
              <a:rPr lang="zh-CN" altLang="en-US" dirty="0">
                <a:solidFill>
                  <a:schemeClr val="tx1"/>
                </a:solidFill>
              </a:rPr>
              <a:t>算法分类</a:t>
            </a:r>
            <a:r>
              <a:rPr lang="en-US" altLang="zh-CN" dirty="0">
                <a:solidFill>
                  <a:schemeClr val="tx1"/>
                </a:solidFill>
              </a:rPr>
              <a:t>API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zh-CN" altLang="en-US" dirty="0">
                <a:solidFill>
                  <a:schemeClr val="tx1"/>
                </a:solidFill>
              </a:rPr>
              <a:t>掌握</a:t>
            </a:r>
            <a:r>
              <a:rPr lang="en-US" altLang="zh-CN" dirty="0">
                <a:solidFill>
                  <a:schemeClr val="tx1"/>
                </a:solidFill>
              </a:rPr>
              <a:t>KNN</a:t>
            </a: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算法回归</a:t>
            </a:r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API</a:t>
            </a:r>
            <a:endParaRPr kumimoji="1" lang="en-US" altLang="zh-CN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占位符 5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</a:rPr>
              <a:t>KNN</a:t>
            </a: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算法</a:t>
            </a:r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API</a:t>
            </a: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使用 </a:t>
            </a:r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</a:rPr>
              <a:t>-</a:t>
            </a: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分类问题</a:t>
            </a:r>
            <a:endParaRPr lang="zh-CN" alt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1"/>
          </p:nvPr>
        </p:nvSpPr>
        <p:spPr>
          <a:xfrm>
            <a:off x="2195450" y="1741809"/>
            <a:ext cx="8532253" cy="1491586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zh-CN" altLang="en-US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</a:t>
            </a:r>
            <a:r>
              <a:rPr lang="en-GB" altLang="zh-CN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KNN</a:t>
            </a:r>
            <a:r>
              <a:rPr lang="zh-CN" altLang="en-US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分类</a:t>
            </a:r>
            <a:r>
              <a:rPr lang="en-GB" altLang="zh-CN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API</a:t>
            </a:r>
            <a:endParaRPr lang="en-GB" altLang="zh-CN" dirty="0"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r>
              <a:rPr lang="zh-CN" altLang="en-US" sz="1400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     </a:t>
            </a:r>
            <a:r>
              <a:rPr lang="en-GB" altLang="zh-CN" sz="1400" b="0" i="0" dirty="0" err="1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sklearn.neighbors.KNeighborsClassifier</a:t>
            </a:r>
            <a:r>
              <a:rPr lang="en-GB" altLang="zh-CN" sz="1400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(</a:t>
            </a:r>
            <a:r>
              <a:rPr lang="en-GB" altLang="zh-CN" sz="1400" b="0" i="0" dirty="0" err="1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n_neighbors</a:t>
            </a:r>
            <a:r>
              <a:rPr lang="en-GB" altLang="zh-CN" sz="1400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=5)</a:t>
            </a:r>
            <a:r>
              <a:rPr lang="zh-CN" altLang="en-US" sz="1400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</a:t>
            </a:r>
            <a:endParaRPr lang="en-GB" altLang="zh-CN" sz="1400" b="0" i="0" dirty="0">
              <a:solidFill>
                <a:srgbClr val="333333"/>
              </a:solidFill>
              <a:effectLst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r>
              <a:rPr lang="zh-CN" altLang="en-US" sz="1400" dirty="0">
                <a:solidFill>
                  <a:srgbClr val="333333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     </a:t>
            </a:r>
            <a:r>
              <a:rPr lang="en-GB" altLang="zh-CN" sz="1400" b="0" i="0" dirty="0" err="1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n_neighbors</a:t>
            </a:r>
            <a:r>
              <a:rPr lang="zh-CN" altLang="en-GB" sz="1400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：</a:t>
            </a:r>
            <a:r>
              <a:rPr lang="en-GB" altLang="zh-CN" sz="1400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int,</a:t>
            </a:r>
            <a:r>
              <a:rPr lang="zh-CN" altLang="en-US" sz="1400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可选（默认</a:t>
            </a:r>
            <a:r>
              <a:rPr lang="en-US" altLang="zh-CN" sz="1400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= 5</a:t>
            </a:r>
            <a:r>
              <a:rPr lang="zh-CN" altLang="en-US" sz="1400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），</a:t>
            </a:r>
            <a:r>
              <a:rPr lang="en-GB" altLang="zh-CN" sz="1400" b="0" i="0" dirty="0" err="1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k_neighbors</a:t>
            </a:r>
            <a:r>
              <a:rPr lang="zh-CN" altLang="en-US" sz="1400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查询默认使用的邻居数</a:t>
            </a:r>
            <a:endParaRPr lang="en-US" altLang="zh-CN" sz="1400" b="0" i="0" dirty="0">
              <a:solidFill>
                <a:srgbClr val="333333"/>
              </a:solidFill>
              <a:effectLst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8" name="TextBox 3"/>
          <p:cNvSpPr txBox="1"/>
          <p:nvPr/>
        </p:nvSpPr>
        <p:spPr>
          <a:xfrm>
            <a:off x="2412672" y="3309840"/>
            <a:ext cx="7223699" cy="2644250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GB" altLang="zh-CN" sz="1400" dirty="0">
                <a:solidFill>
                  <a:srgbClr val="0033B3"/>
                </a:solidFill>
                <a:effectLst/>
              </a:rPr>
              <a:t>from </a:t>
            </a:r>
            <a:r>
              <a:rPr lang="en-GB" altLang="zh-CN" sz="1400" dirty="0" err="1"/>
              <a:t>sklearn.neighbors</a:t>
            </a:r>
            <a:r>
              <a:rPr lang="en-GB" altLang="zh-CN" sz="1400" dirty="0"/>
              <a:t> </a:t>
            </a:r>
            <a:r>
              <a:rPr lang="en-GB" altLang="zh-CN" sz="1400" dirty="0">
                <a:solidFill>
                  <a:srgbClr val="0033B3"/>
                </a:solidFill>
                <a:effectLst/>
              </a:rPr>
              <a:t>import </a:t>
            </a:r>
            <a:r>
              <a:rPr lang="en-GB" altLang="zh-CN" sz="1400" dirty="0" err="1"/>
              <a:t>KNeighborsClassifier</a:t>
            </a:r>
            <a:br>
              <a:rPr lang="en-GB" altLang="zh-CN" sz="1400" dirty="0"/>
            </a:br>
            <a:r>
              <a:rPr lang="en-GB" altLang="zh-CN" sz="1400" dirty="0">
                <a:solidFill>
                  <a:srgbClr val="0033B3"/>
                </a:solidFill>
                <a:effectLst/>
              </a:rPr>
              <a:t>def </a:t>
            </a:r>
            <a:r>
              <a:rPr lang="en-GB" altLang="zh-CN" sz="1400" dirty="0">
                <a:solidFill>
                  <a:srgbClr val="00627A"/>
                </a:solidFill>
                <a:effectLst/>
              </a:rPr>
              <a:t>dm01_knnapi_</a:t>
            </a:r>
            <a:r>
              <a:rPr lang="zh-CN" altLang="en-US" sz="1400" dirty="0">
                <a:solidFill>
                  <a:srgbClr val="00627A"/>
                </a:solidFill>
                <a:effectLst/>
              </a:rPr>
              <a:t>分类</a:t>
            </a:r>
            <a:r>
              <a:rPr lang="en-US" altLang="zh-CN" sz="1400" dirty="0"/>
              <a:t>():</a:t>
            </a:r>
            <a:br>
              <a:rPr lang="en-US" altLang="zh-CN" sz="1400" dirty="0"/>
            </a:br>
            <a:r>
              <a:rPr lang="en-US" altLang="zh-CN" sz="1400" dirty="0"/>
              <a:t>    </a:t>
            </a:r>
            <a:r>
              <a:rPr lang="en-GB" altLang="zh-CN" sz="1400" dirty="0"/>
              <a:t>estimator =  </a:t>
            </a:r>
            <a:r>
              <a:rPr lang="en-GB" altLang="zh-CN" sz="1400" dirty="0" err="1"/>
              <a:t>KNeighborsClassifier</a:t>
            </a:r>
            <a:r>
              <a:rPr lang="en-GB" altLang="zh-CN" sz="1400" dirty="0"/>
              <a:t>(</a:t>
            </a:r>
            <a:r>
              <a:rPr lang="en-GB" altLang="zh-CN" sz="1400" dirty="0" err="1">
                <a:solidFill>
                  <a:srgbClr val="660099"/>
                </a:solidFill>
                <a:effectLst/>
              </a:rPr>
              <a:t>n_neighbors</a:t>
            </a:r>
            <a:r>
              <a:rPr lang="en-GB" altLang="zh-CN" sz="1400" dirty="0"/>
              <a:t>=</a:t>
            </a:r>
            <a:r>
              <a:rPr lang="en-GB" altLang="zh-CN" sz="1400" dirty="0">
                <a:solidFill>
                  <a:srgbClr val="1750EB"/>
                </a:solidFill>
                <a:effectLst/>
              </a:rPr>
              <a:t>1</a:t>
            </a:r>
            <a:r>
              <a:rPr lang="en-GB" altLang="zh-CN" sz="1400" dirty="0"/>
              <a:t>)</a:t>
            </a:r>
            <a:br>
              <a:rPr lang="en-GB" altLang="zh-CN" sz="1400" dirty="0"/>
            </a:br>
            <a:r>
              <a:rPr lang="en-GB" altLang="zh-CN" sz="1400" dirty="0"/>
              <a:t>    X = [[</a:t>
            </a:r>
            <a:r>
              <a:rPr lang="en-GB" altLang="zh-CN" sz="1400" dirty="0">
                <a:solidFill>
                  <a:srgbClr val="1750EB"/>
                </a:solidFill>
                <a:effectLst/>
              </a:rPr>
              <a:t>0</a:t>
            </a:r>
            <a:r>
              <a:rPr lang="en-GB" altLang="zh-CN" sz="1400" dirty="0"/>
              <a:t>], [</a:t>
            </a:r>
            <a:r>
              <a:rPr lang="en-GB" altLang="zh-CN" sz="1400" dirty="0">
                <a:solidFill>
                  <a:srgbClr val="1750EB"/>
                </a:solidFill>
                <a:effectLst/>
              </a:rPr>
              <a:t>1</a:t>
            </a:r>
            <a:r>
              <a:rPr lang="en-GB" altLang="zh-CN" sz="1400" dirty="0"/>
              <a:t>], [</a:t>
            </a:r>
            <a:r>
              <a:rPr lang="en-GB" altLang="zh-CN" sz="1400" dirty="0">
                <a:solidFill>
                  <a:srgbClr val="1750EB"/>
                </a:solidFill>
                <a:effectLst/>
              </a:rPr>
              <a:t>2</a:t>
            </a:r>
            <a:r>
              <a:rPr lang="en-GB" altLang="zh-CN" sz="1400" dirty="0"/>
              <a:t>], [</a:t>
            </a:r>
            <a:r>
              <a:rPr lang="en-GB" altLang="zh-CN" sz="1400" dirty="0">
                <a:solidFill>
                  <a:srgbClr val="1750EB"/>
                </a:solidFill>
                <a:effectLst/>
              </a:rPr>
              <a:t>3</a:t>
            </a:r>
            <a:r>
              <a:rPr lang="en-GB" altLang="zh-CN" sz="1400" dirty="0"/>
              <a:t>]]</a:t>
            </a:r>
            <a:br>
              <a:rPr lang="en-GB" altLang="zh-CN" sz="1400" dirty="0"/>
            </a:br>
            <a:r>
              <a:rPr lang="en-GB" altLang="zh-CN" sz="1400" dirty="0"/>
              <a:t>    y = [</a:t>
            </a:r>
            <a:r>
              <a:rPr lang="en-GB" altLang="zh-CN" sz="1400" dirty="0">
                <a:solidFill>
                  <a:srgbClr val="1750EB"/>
                </a:solidFill>
                <a:effectLst/>
              </a:rPr>
              <a:t>0</a:t>
            </a:r>
            <a:r>
              <a:rPr lang="en-GB" altLang="zh-CN" sz="1400" dirty="0"/>
              <a:t>, </a:t>
            </a:r>
            <a:r>
              <a:rPr lang="en-GB" altLang="zh-CN" sz="1400" dirty="0">
                <a:solidFill>
                  <a:srgbClr val="1750EB"/>
                </a:solidFill>
                <a:effectLst/>
              </a:rPr>
              <a:t>0</a:t>
            </a:r>
            <a:r>
              <a:rPr lang="en-GB" altLang="zh-CN" sz="1400" dirty="0"/>
              <a:t>, </a:t>
            </a:r>
            <a:r>
              <a:rPr lang="en-GB" altLang="zh-CN" sz="1400" dirty="0">
                <a:solidFill>
                  <a:srgbClr val="1750EB"/>
                </a:solidFill>
                <a:effectLst/>
              </a:rPr>
              <a:t>1</a:t>
            </a:r>
            <a:r>
              <a:rPr lang="en-GB" altLang="zh-CN" sz="1400" dirty="0"/>
              <a:t>, </a:t>
            </a:r>
            <a:r>
              <a:rPr lang="en-GB" altLang="zh-CN" sz="1400" dirty="0">
                <a:solidFill>
                  <a:srgbClr val="1750EB"/>
                </a:solidFill>
                <a:effectLst/>
              </a:rPr>
              <a:t>1</a:t>
            </a:r>
            <a:r>
              <a:rPr lang="en-GB" altLang="zh-CN" sz="1400" dirty="0"/>
              <a:t>]</a:t>
            </a:r>
            <a:br>
              <a:rPr lang="en-GB" altLang="zh-CN" sz="1400" dirty="0"/>
            </a:br>
            <a:r>
              <a:rPr lang="en-GB" altLang="zh-CN" sz="1400" dirty="0"/>
              <a:t>    </a:t>
            </a:r>
            <a:r>
              <a:rPr lang="en-GB" altLang="zh-CN" sz="1400" dirty="0" err="1"/>
              <a:t>estimator.fit</a:t>
            </a:r>
            <a:r>
              <a:rPr lang="en-GB" altLang="zh-CN" sz="1400" dirty="0"/>
              <a:t>(X, y)</a:t>
            </a:r>
            <a:br>
              <a:rPr lang="en-GB" altLang="zh-CN" sz="1400" dirty="0"/>
            </a:br>
            <a:r>
              <a:rPr lang="en-GB" altLang="zh-CN" sz="1400" dirty="0"/>
              <a:t>    </a:t>
            </a:r>
            <a:r>
              <a:rPr lang="en-GB" altLang="zh-CN" sz="1400" dirty="0" err="1"/>
              <a:t>myret</a:t>
            </a:r>
            <a:r>
              <a:rPr lang="en-GB" altLang="zh-CN" sz="1400" dirty="0"/>
              <a:t> = </a:t>
            </a:r>
            <a:r>
              <a:rPr lang="en-GB" altLang="zh-CN" sz="1400" dirty="0" err="1"/>
              <a:t>estimator.predict</a:t>
            </a:r>
            <a:r>
              <a:rPr lang="en-GB" altLang="zh-CN" sz="1400" dirty="0"/>
              <a:t>([[</a:t>
            </a:r>
            <a:r>
              <a:rPr lang="en-GB" altLang="zh-CN" sz="1400" dirty="0">
                <a:solidFill>
                  <a:srgbClr val="1750EB"/>
                </a:solidFill>
                <a:effectLst/>
              </a:rPr>
              <a:t>4</a:t>
            </a:r>
            <a:r>
              <a:rPr lang="en-GB" altLang="zh-CN" sz="1400" dirty="0"/>
              <a:t>]])</a:t>
            </a:r>
            <a:br>
              <a:rPr lang="en-GB" altLang="zh-CN" sz="1400" dirty="0"/>
            </a:br>
            <a:r>
              <a:rPr lang="en-GB" altLang="zh-CN" sz="1400" dirty="0"/>
              <a:t>    </a:t>
            </a:r>
            <a:r>
              <a:rPr lang="en-GB" altLang="zh-CN" sz="1400" dirty="0">
                <a:solidFill>
                  <a:srgbClr val="000080"/>
                </a:solidFill>
                <a:effectLst/>
              </a:rPr>
              <a:t>print</a:t>
            </a:r>
            <a:r>
              <a:rPr lang="en-GB" altLang="zh-CN" sz="1400" dirty="0"/>
              <a:t>(</a:t>
            </a:r>
            <a:r>
              <a:rPr lang="en-GB" altLang="zh-CN" sz="1400" dirty="0">
                <a:solidFill>
                  <a:srgbClr val="067D17"/>
                </a:solidFill>
                <a:effectLst/>
              </a:rPr>
              <a:t>'</a:t>
            </a:r>
            <a:r>
              <a:rPr lang="en-GB" altLang="zh-CN" sz="1400" dirty="0" err="1">
                <a:solidFill>
                  <a:srgbClr val="067D17"/>
                </a:solidFill>
                <a:effectLst/>
              </a:rPr>
              <a:t>myret</a:t>
            </a:r>
            <a:r>
              <a:rPr lang="en-GB" altLang="zh-CN" sz="1400" dirty="0">
                <a:solidFill>
                  <a:srgbClr val="067D17"/>
                </a:solidFill>
                <a:effectLst/>
              </a:rPr>
              <a:t>--&gt;'</a:t>
            </a:r>
            <a:r>
              <a:rPr lang="en-GB" altLang="zh-CN" sz="1400" dirty="0"/>
              <a:t>, </a:t>
            </a:r>
            <a:r>
              <a:rPr lang="en-GB" altLang="zh-CN" sz="1400" dirty="0" err="1"/>
              <a:t>myret</a:t>
            </a:r>
            <a:r>
              <a:rPr lang="en-GB" altLang="zh-CN" sz="1400" dirty="0"/>
              <a:t>)</a:t>
            </a:r>
            <a:endParaRPr lang="en-US" altLang="zh-CN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占位符 5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</a:rPr>
              <a:t>KNN</a:t>
            </a: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算法</a:t>
            </a:r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API</a:t>
            </a: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使用 </a:t>
            </a:r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</a:rPr>
              <a:t>-</a:t>
            </a: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回归问题</a:t>
            </a:r>
            <a:endParaRPr lang="zh-CN" alt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195448" y="2758202"/>
            <a:ext cx="7223699" cy="3613746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GB" altLang="zh-CN" sz="1400" dirty="0">
                <a:solidFill>
                  <a:srgbClr val="0033B3"/>
                </a:solidFill>
                <a:effectLst/>
              </a:rPr>
              <a:t>from </a:t>
            </a:r>
            <a:r>
              <a:rPr lang="en-GB" altLang="zh-CN" sz="1400" dirty="0" err="1"/>
              <a:t>sklearn.neighbors</a:t>
            </a:r>
            <a:r>
              <a:rPr lang="en-GB" altLang="zh-CN" sz="1400" dirty="0"/>
              <a:t> </a:t>
            </a:r>
            <a:r>
              <a:rPr lang="en-GB" altLang="zh-CN" sz="1400" dirty="0">
                <a:solidFill>
                  <a:srgbClr val="0033B3"/>
                </a:solidFill>
                <a:effectLst/>
              </a:rPr>
              <a:t>import </a:t>
            </a:r>
            <a:r>
              <a:rPr lang="en-GB" altLang="zh-CN" sz="1400" dirty="0" err="1"/>
              <a:t>KNeighborsRegressor</a:t>
            </a:r>
            <a:br>
              <a:rPr lang="en-GB" altLang="zh-CN" sz="1400" dirty="0"/>
            </a:br>
            <a:r>
              <a:rPr lang="en-GB" altLang="zh-CN" sz="1400" dirty="0">
                <a:solidFill>
                  <a:srgbClr val="0033B3"/>
                </a:solidFill>
                <a:effectLst/>
              </a:rPr>
              <a:t>def </a:t>
            </a:r>
            <a:r>
              <a:rPr lang="en-GB" altLang="zh-CN" sz="1400" dirty="0">
                <a:solidFill>
                  <a:srgbClr val="00627A"/>
                </a:solidFill>
                <a:effectLst/>
              </a:rPr>
              <a:t>dm02_knnapi_</a:t>
            </a:r>
            <a:r>
              <a:rPr lang="zh-CN" altLang="en-US" sz="1400" dirty="0">
                <a:solidFill>
                  <a:srgbClr val="00627A"/>
                </a:solidFill>
                <a:effectLst/>
              </a:rPr>
              <a:t>回归</a:t>
            </a:r>
            <a:r>
              <a:rPr lang="en-US" altLang="zh-CN" sz="1400" dirty="0"/>
              <a:t>():</a:t>
            </a:r>
            <a:br>
              <a:rPr lang="zh-CN" altLang="en-US" sz="1400" i="1" dirty="0">
                <a:solidFill>
                  <a:srgbClr val="8C8C8C"/>
                </a:solidFill>
                <a:effectLst/>
              </a:rPr>
            </a:br>
            <a:r>
              <a:rPr lang="zh-CN" altLang="en-US" sz="1400" i="1" dirty="0">
                <a:solidFill>
                  <a:srgbClr val="8C8C8C"/>
                </a:solidFill>
              </a:rPr>
              <a:t>    </a:t>
            </a:r>
            <a:r>
              <a:rPr lang="en-GB" altLang="zh-CN" sz="1400" dirty="0"/>
              <a:t>estimator =  </a:t>
            </a:r>
            <a:r>
              <a:rPr lang="en-GB" altLang="zh-CN" sz="1400" dirty="0" err="1"/>
              <a:t>KNeighborsRegressor</a:t>
            </a:r>
            <a:r>
              <a:rPr lang="en-GB" altLang="zh-CN" sz="1400" dirty="0"/>
              <a:t>(</a:t>
            </a:r>
            <a:r>
              <a:rPr lang="en-GB" altLang="zh-CN" sz="1400" dirty="0" err="1">
                <a:solidFill>
                  <a:srgbClr val="660099"/>
                </a:solidFill>
                <a:effectLst/>
              </a:rPr>
              <a:t>n_neighbors</a:t>
            </a:r>
            <a:r>
              <a:rPr lang="en-GB" altLang="zh-CN" sz="1400" dirty="0"/>
              <a:t>=</a:t>
            </a:r>
            <a:r>
              <a:rPr lang="en-GB" altLang="zh-CN" sz="1400" dirty="0">
                <a:solidFill>
                  <a:srgbClr val="1750EB"/>
                </a:solidFill>
                <a:effectLst/>
              </a:rPr>
              <a:t>2</a:t>
            </a:r>
            <a:r>
              <a:rPr lang="en-GB" altLang="zh-CN" sz="1400" dirty="0"/>
              <a:t>)</a:t>
            </a:r>
            <a:br>
              <a:rPr lang="en-GB" altLang="zh-CN" sz="1400" dirty="0"/>
            </a:br>
            <a:r>
              <a:rPr lang="en-GB" altLang="zh-CN" sz="1400" dirty="0"/>
              <a:t>    X = [[</a:t>
            </a:r>
            <a:r>
              <a:rPr lang="en-GB" altLang="zh-CN" sz="1400" dirty="0">
                <a:solidFill>
                  <a:srgbClr val="1750EB"/>
                </a:solidFill>
                <a:effectLst/>
              </a:rPr>
              <a:t>0</a:t>
            </a:r>
            <a:r>
              <a:rPr lang="en-GB" altLang="zh-CN" sz="1400" dirty="0"/>
              <a:t>, </a:t>
            </a:r>
            <a:r>
              <a:rPr lang="en-GB" altLang="zh-CN" sz="1400" dirty="0">
                <a:solidFill>
                  <a:srgbClr val="1750EB"/>
                </a:solidFill>
                <a:effectLst/>
              </a:rPr>
              <a:t>0</a:t>
            </a:r>
            <a:r>
              <a:rPr lang="en-GB" altLang="zh-CN" sz="1400" dirty="0"/>
              <a:t>, </a:t>
            </a:r>
            <a:r>
              <a:rPr lang="en-GB" altLang="zh-CN" sz="1400" dirty="0">
                <a:solidFill>
                  <a:srgbClr val="1750EB"/>
                </a:solidFill>
                <a:effectLst/>
              </a:rPr>
              <a:t>1</a:t>
            </a:r>
            <a:r>
              <a:rPr lang="en-GB" altLang="zh-CN" sz="1400" dirty="0"/>
              <a:t>],</a:t>
            </a:r>
            <a:br>
              <a:rPr lang="en-GB" altLang="zh-CN" sz="1400" dirty="0"/>
            </a:br>
            <a:r>
              <a:rPr lang="en-GB" altLang="zh-CN" sz="1400" dirty="0"/>
              <a:t>         [</a:t>
            </a:r>
            <a:r>
              <a:rPr lang="en-GB" altLang="zh-CN" sz="1400" dirty="0">
                <a:solidFill>
                  <a:srgbClr val="1750EB"/>
                </a:solidFill>
                <a:effectLst/>
              </a:rPr>
              <a:t>1</a:t>
            </a:r>
            <a:r>
              <a:rPr lang="en-GB" altLang="zh-CN" sz="1400" dirty="0"/>
              <a:t>, </a:t>
            </a:r>
            <a:r>
              <a:rPr lang="en-GB" altLang="zh-CN" sz="1400" dirty="0">
                <a:solidFill>
                  <a:srgbClr val="1750EB"/>
                </a:solidFill>
                <a:effectLst/>
              </a:rPr>
              <a:t>1</a:t>
            </a:r>
            <a:r>
              <a:rPr lang="en-GB" altLang="zh-CN" sz="1400" dirty="0"/>
              <a:t>, </a:t>
            </a:r>
            <a:r>
              <a:rPr lang="en-GB" altLang="zh-CN" sz="1400" dirty="0">
                <a:solidFill>
                  <a:srgbClr val="1750EB"/>
                </a:solidFill>
                <a:effectLst/>
              </a:rPr>
              <a:t>0</a:t>
            </a:r>
            <a:r>
              <a:rPr lang="en-GB" altLang="zh-CN" sz="1400" dirty="0"/>
              <a:t>],</a:t>
            </a:r>
            <a:br>
              <a:rPr lang="en-GB" altLang="zh-CN" sz="1400" dirty="0"/>
            </a:br>
            <a:r>
              <a:rPr lang="en-GB" altLang="zh-CN" sz="1400" dirty="0"/>
              <a:t>         [</a:t>
            </a:r>
            <a:r>
              <a:rPr lang="en-GB" altLang="zh-CN" sz="1400" dirty="0">
                <a:solidFill>
                  <a:srgbClr val="1750EB"/>
                </a:solidFill>
                <a:effectLst/>
              </a:rPr>
              <a:t>3</a:t>
            </a:r>
            <a:r>
              <a:rPr lang="en-GB" altLang="zh-CN" sz="1400" dirty="0"/>
              <a:t>, </a:t>
            </a:r>
            <a:r>
              <a:rPr lang="en-GB" altLang="zh-CN" sz="1400" dirty="0">
                <a:solidFill>
                  <a:srgbClr val="1750EB"/>
                </a:solidFill>
                <a:effectLst/>
              </a:rPr>
              <a:t>10</a:t>
            </a:r>
            <a:r>
              <a:rPr lang="en-GB" altLang="zh-CN" sz="1400" dirty="0"/>
              <a:t>, </a:t>
            </a:r>
            <a:r>
              <a:rPr lang="en-GB" altLang="zh-CN" sz="1400" dirty="0">
                <a:solidFill>
                  <a:srgbClr val="1750EB"/>
                </a:solidFill>
                <a:effectLst/>
              </a:rPr>
              <a:t>10</a:t>
            </a:r>
            <a:r>
              <a:rPr lang="en-GB" altLang="zh-CN" sz="1400" dirty="0"/>
              <a:t>],</a:t>
            </a:r>
            <a:br>
              <a:rPr lang="en-GB" altLang="zh-CN" sz="1400" dirty="0"/>
            </a:br>
            <a:r>
              <a:rPr lang="en-GB" altLang="zh-CN" sz="1400" dirty="0"/>
              <a:t>         [</a:t>
            </a:r>
            <a:r>
              <a:rPr lang="en-GB" altLang="zh-CN" sz="1400" dirty="0">
                <a:solidFill>
                  <a:srgbClr val="1750EB"/>
                </a:solidFill>
                <a:effectLst/>
              </a:rPr>
              <a:t>4</a:t>
            </a:r>
            <a:r>
              <a:rPr lang="en-GB" altLang="zh-CN" sz="1400" dirty="0"/>
              <a:t>, </a:t>
            </a:r>
            <a:r>
              <a:rPr lang="en-GB" altLang="zh-CN" sz="1400" dirty="0">
                <a:solidFill>
                  <a:srgbClr val="1750EB"/>
                </a:solidFill>
                <a:effectLst/>
              </a:rPr>
              <a:t>11</a:t>
            </a:r>
            <a:r>
              <a:rPr lang="en-GB" altLang="zh-CN" sz="1400" dirty="0"/>
              <a:t>, </a:t>
            </a:r>
            <a:r>
              <a:rPr lang="en-GB" altLang="zh-CN" sz="1400" dirty="0">
                <a:solidFill>
                  <a:srgbClr val="1750EB"/>
                </a:solidFill>
                <a:effectLst/>
              </a:rPr>
              <a:t>12</a:t>
            </a:r>
            <a:r>
              <a:rPr lang="en-GB" altLang="zh-CN" sz="1400" dirty="0"/>
              <a:t>]]</a:t>
            </a:r>
            <a:br>
              <a:rPr lang="en-GB" altLang="zh-CN" sz="1400" dirty="0"/>
            </a:br>
            <a:r>
              <a:rPr lang="en-GB" altLang="zh-CN" sz="1400" dirty="0"/>
              <a:t>    y = [</a:t>
            </a:r>
            <a:r>
              <a:rPr lang="en-GB" altLang="zh-CN" sz="1400" dirty="0">
                <a:solidFill>
                  <a:srgbClr val="1750EB"/>
                </a:solidFill>
                <a:effectLst/>
              </a:rPr>
              <a:t>0.1</a:t>
            </a:r>
            <a:r>
              <a:rPr lang="en-GB" altLang="zh-CN" sz="1400" dirty="0"/>
              <a:t>, </a:t>
            </a:r>
            <a:r>
              <a:rPr lang="en-GB" altLang="zh-CN" sz="1400" dirty="0">
                <a:solidFill>
                  <a:srgbClr val="1750EB"/>
                </a:solidFill>
                <a:effectLst/>
              </a:rPr>
              <a:t>0.2</a:t>
            </a:r>
            <a:r>
              <a:rPr lang="en-GB" altLang="zh-CN" sz="1400" dirty="0"/>
              <a:t>, </a:t>
            </a:r>
            <a:r>
              <a:rPr lang="en-GB" altLang="zh-CN" sz="1400" dirty="0">
                <a:solidFill>
                  <a:srgbClr val="1750EB"/>
                </a:solidFill>
                <a:effectLst/>
              </a:rPr>
              <a:t>0.3</a:t>
            </a:r>
            <a:r>
              <a:rPr lang="en-GB" altLang="zh-CN" sz="1400" dirty="0"/>
              <a:t>, </a:t>
            </a:r>
            <a:r>
              <a:rPr lang="en-GB" altLang="zh-CN" sz="1400" dirty="0">
                <a:solidFill>
                  <a:srgbClr val="1750EB"/>
                </a:solidFill>
                <a:effectLst/>
              </a:rPr>
              <a:t>0.4</a:t>
            </a:r>
            <a:r>
              <a:rPr lang="en-GB" altLang="zh-CN" sz="1400" dirty="0"/>
              <a:t>]</a:t>
            </a:r>
            <a:br>
              <a:rPr lang="en-GB" altLang="zh-CN" sz="1400" dirty="0"/>
            </a:br>
            <a:r>
              <a:rPr lang="en-GB" altLang="zh-CN" sz="1400" dirty="0"/>
              <a:t>    </a:t>
            </a:r>
            <a:r>
              <a:rPr lang="en-GB" altLang="zh-CN" sz="1400" dirty="0" err="1"/>
              <a:t>estimator.fit</a:t>
            </a:r>
            <a:r>
              <a:rPr lang="en-GB" altLang="zh-CN" sz="1400" dirty="0"/>
              <a:t>(X, y)</a:t>
            </a:r>
            <a:br>
              <a:rPr lang="en-GB" altLang="zh-CN" sz="1400" dirty="0"/>
            </a:br>
            <a:r>
              <a:rPr lang="en-GB" altLang="zh-CN" sz="1400" dirty="0"/>
              <a:t>    </a:t>
            </a:r>
            <a:r>
              <a:rPr lang="en-GB" altLang="zh-CN" sz="1400" dirty="0" err="1"/>
              <a:t>myret</a:t>
            </a:r>
            <a:r>
              <a:rPr lang="en-GB" altLang="zh-CN" sz="1400" dirty="0"/>
              <a:t> = </a:t>
            </a:r>
            <a:r>
              <a:rPr lang="en-GB" altLang="zh-CN" sz="1400" dirty="0" err="1"/>
              <a:t>estimator.predict</a:t>
            </a:r>
            <a:r>
              <a:rPr lang="en-GB" altLang="zh-CN" sz="1400" dirty="0"/>
              <a:t>([[</a:t>
            </a:r>
            <a:r>
              <a:rPr lang="en-GB" altLang="zh-CN" sz="1400" dirty="0">
                <a:solidFill>
                  <a:srgbClr val="1750EB"/>
                </a:solidFill>
                <a:effectLst/>
              </a:rPr>
              <a:t>3</a:t>
            </a:r>
            <a:r>
              <a:rPr lang="en-GB" altLang="zh-CN" sz="1400" dirty="0"/>
              <a:t>, </a:t>
            </a:r>
            <a:r>
              <a:rPr lang="en-GB" altLang="zh-CN" sz="1400" dirty="0">
                <a:solidFill>
                  <a:srgbClr val="1750EB"/>
                </a:solidFill>
                <a:effectLst/>
              </a:rPr>
              <a:t>11</a:t>
            </a:r>
            <a:r>
              <a:rPr lang="en-GB" altLang="zh-CN" sz="1400" dirty="0"/>
              <a:t>, </a:t>
            </a:r>
            <a:r>
              <a:rPr lang="en-GB" altLang="zh-CN" sz="1400" dirty="0">
                <a:solidFill>
                  <a:srgbClr val="1750EB"/>
                </a:solidFill>
                <a:effectLst/>
              </a:rPr>
              <a:t>10</a:t>
            </a:r>
            <a:r>
              <a:rPr lang="en-GB" altLang="zh-CN" sz="1400" dirty="0"/>
              <a:t>]])</a:t>
            </a:r>
            <a:br>
              <a:rPr lang="en-GB" altLang="zh-CN" sz="1400" dirty="0"/>
            </a:br>
            <a:r>
              <a:rPr lang="en-GB" altLang="zh-CN" sz="1400" dirty="0"/>
              <a:t>    </a:t>
            </a:r>
            <a:r>
              <a:rPr lang="en-GB" altLang="zh-CN" sz="1400" dirty="0">
                <a:solidFill>
                  <a:srgbClr val="000080"/>
                </a:solidFill>
                <a:effectLst/>
              </a:rPr>
              <a:t>print</a:t>
            </a:r>
            <a:r>
              <a:rPr lang="en-GB" altLang="zh-CN" sz="1400" dirty="0"/>
              <a:t>(</a:t>
            </a:r>
            <a:r>
              <a:rPr lang="en-GB" altLang="zh-CN" sz="1400" dirty="0">
                <a:solidFill>
                  <a:srgbClr val="067D17"/>
                </a:solidFill>
                <a:effectLst/>
              </a:rPr>
              <a:t>'</a:t>
            </a:r>
            <a:r>
              <a:rPr lang="en-GB" altLang="zh-CN" sz="1400" dirty="0" err="1">
                <a:solidFill>
                  <a:srgbClr val="067D17"/>
                </a:solidFill>
                <a:effectLst/>
              </a:rPr>
              <a:t>myret</a:t>
            </a:r>
            <a:r>
              <a:rPr lang="en-GB" altLang="zh-CN" sz="1400" dirty="0">
                <a:solidFill>
                  <a:srgbClr val="067D17"/>
                </a:solidFill>
                <a:effectLst/>
              </a:rPr>
              <a:t>--&gt;'</a:t>
            </a:r>
            <a:r>
              <a:rPr lang="en-GB" altLang="zh-CN" sz="1400" dirty="0"/>
              <a:t>, </a:t>
            </a:r>
            <a:r>
              <a:rPr lang="en-GB" altLang="zh-CN" sz="1400" dirty="0" err="1"/>
              <a:t>myret</a:t>
            </a:r>
            <a:r>
              <a:rPr lang="en-GB" altLang="zh-CN" sz="1400" dirty="0"/>
              <a:t>)</a:t>
            </a:r>
            <a:endParaRPr lang="en-US" altLang="zh-CN" sz="1400" dirty="0"/>
          </a:p>
        </p:txBody>
      </p:sp>
      <p:sp>
        <p:nvSpPr>
          <p:cNvPr id="5" name="文本框 4"/>
          <p:cNvSpPr txBox="1"/>
          <p:nvPr/>
        </p:nvSpPr>
        <p:spPr>
          <a:xfrm>
            <a:off x="2195449" y="1646595"/>
            <a:ext cx="722369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altLang="zh-CN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KNN</a:t>
            </a:r>
            <a:r>
              <a:rPr lang="zh-CN" altLang="en-US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回归</a:t>
            </a:r>
            <a:r>
              <a:rPr lang="en-GB" altLang="zh-CN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API</a:t>
            </a:r>
            <a:r>
              <a:rPr lang="zh-CN" altLang="en-US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：</a:t>
            </a:r>
            <a:endParaRPr lang="en-GB" altLang="zh-CN" i="1" dirty="0">
              <a:solidFill>
                <a:srgbClr val="212529"/>
              </a:solidFill>
              <a:latin typeface="-apple-system"/>
            </a:endParaRPr>
          </a:p>
          <a:p>
            <a:r>
              <a:rPr lang="en-GB" altLang="zh-CN" b="0" i="0" dirty="0" err="1">
                <a:solidFill>
                  <a:srgbClr val="212529"/>
                </a:solidFill>
                <a:effectLst/>
                <a:latin typeface="Courier New" panose="02070309020205020404" pitchFamily="49" charset="0"/>
              </a:rPr>
              <a:t>sklearn.neighbors.KNeighborsRegressor</a:t>
            </a:r>
            <a:r>
              <a:rPr lang="en-GB" altLang="zh-CN" b="0" i="0" dirty="0">
                <a:solidFill>
                  <a:srgbClr val="212529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GB" altLang="zh-CN" b="0" i="0" dirty="0" err="1">
                <a:solidFill>
                  <a:srgbClr val="212529"/>
                </a:solidFill>
                <a:effectLst/>
                <a:latin typeface="Courier New" panose="02070309020205020404" pitchFamily="49" charset="0"/>
              </a:rPr>
              <a:t>n_neighbors</a:t>
            </a:r>
            <a:r>
              <a:rPr lang="en-GB" altLang="zh-CN" b="0" i="0" dirty="0">
                <a:solidFill>
                  <a:srgbClr val="212529"/>
                </a:solidFill>
                <a:effectLst/>
                <a:latin typeface="Courier New" panose="02070309020205020404" pitchFamily="49" charset="0"/>
              </a:rPr>
              <a:t>=5)</a:t>
            </a:r>
            <a:endParaRPr lang="zh-CN" alt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 descr="01 (82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05900" y="5174812"/>
            <a:ext cx="1481455" cy="1481455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2041858" y="2024501"/>
            <a:ext cx="8464042" cy="37569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1</a:t>
            </a:r>
            <a:r>
              <a:rPr lang="zh-CN" altLang="en-US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）导入算法对象：</a:t>
            </a:r>
            <a:endParaRPr lang="en-US" altLang="zh-CN" sz="1400" dirty="0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  from </a:t>
            </a:r>
            <a:r>
              <a:rPr lang="en-US" altLang="zh-CN" sz="14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sklearn.neighbors</a:t>
            </a:r>
            <a:r>
              <a:rPr lang="en-US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import </a:t>
            </a:r>
            <a:r>
              <a:rPr lang="en-US" altLang="zh-CN" sz="14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KNeighborsClassifier</a:t>
            </a:r>
            <a:r>
              <a:rPr lang="en-US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----------------- </a:t>
            </a:r>
            <a:r>
              <a:rPr lang="en-US" altLang="zh-CN" sz="1400" b="1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A</a:t>
            </a:r>
            <a:endParaRPr lang="en-US" altLang="zh-CN" sz="1400" b="1" dirty="0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>
              <a:lnSpc>
                <a:spcPct val="130000"/>
              </a:lnSpc>
            </a:pPr>
            <a:endParaRPr lang="en-US" altLang="zh-CN" sz="1400" dirty="0">
              <a:solidFill>
                <a:srgbClr val="FF0000"/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2</a:t>
            </a:r>
            <a:r>
              <a:rPr lang="zh-CN" altLang="en-US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）构造数据：</a:t>
            </a:r>
            <a:endParaRPr lang="en-US" altLang="zh-CN" sz="1400" dirty="0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  </a:t>
            </a:r>
            <a:r>
              <a:rPr lang="es-ES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x = [[0], [1], [2], [3]]</a:t>
            </a:r>
            <a:endParaRPr lang="es-ES" altLang="zh-CN" sz="1400" dirty="0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>
              <a:lnSpc>
                <a:spcPct val="130000"/>
              </a:lnSpc>
            </a:pPr>
            <a:r>
              <a:rPr lang="es-ES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  y = [0, 0, 1, 1]</a:t>
            </a:r>
            <a:endParaRPr lang="es-ES" altLang="zh-CN" sz="1400" dirty="0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>
              <a:lnSpc>
                <a:spcPct val="130000"/>
              </a:lnSpc>
            </a:pPr>
            <a:endParaRPr lang="es-ES" altLang="zh-CN" sz="1400" dirty="0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>
              <a:lnSpc>
                <a:spcPct val="130000"/>
              </a:lnSpc>
            </a:pPr>
            <a:r>
              <a:rPr lang="es-ES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3</a:t>
            </a:r>
            <a:r>
              <a:rPr lang="zh-CN" altLang="en-US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）实例化算法</a:t>
            </a:r>
            <a:r>
              <a:rPr lang="en-US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API</a:t>
            </a:r>
            <a:r>
              <a:rPr lang="zh-CN" altLang="en-US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：</a:t>
            </a:r>
            <a:endParaRPr lang="en-US" altLang="zh-CN" sz="1400" dirty="0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 estimator = </a:t>
            </a:r>
            <a:r>
              <a:rPr lang="en-US" altLang="zh-CN" sz="14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KNeighborsClassifier</a:t>
            </a:r>
            <a:r>
              <a:rPr lang="en-US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(</a:t>
            </a:r>
            <a:r>
              <a:rPr lang="en-US" altLang="zh-CN" sz="14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n_neighbors</a:t>
            </a:r>
            <a:r>
              <a:rPr lang="en-US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=2)  --------------------- </a:t>
            </a:r>
            <a:r>
              <a:rPr lang="en-US" altLang="zh-CN" sz="1400" b="1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B</a:t>
            </a:r>
            <a:endParaRPr lang="en-US" altLang="zh-CN" sz="1400" b="1" dirty="0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>
              <a:lnSpc>
                <a:spcPct val="130000"/>
              </a:lnSpc>
            </a:pPr>
            <a:endParaRPr lang="en-US" altLang="zh-CN" sz="1400" dirty="0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4</a:t>
            </a:r>
            <a:r>
              <a:rPr lang="zh-CN" altLang="en-US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）训练模型并预测：</a:t>
            </a:r>
            <a:endParaRPr lang="en-US" altLang="zh-CN" sz="1400" dirty="0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  </a:t>
            </a:r>
            <a:r>
              <a:rPr lang="es-ES" altLang="zh-CN" sz="14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estimator.fit</a:t>
            </a:r>
            <a:r>
              <a:rPr lang="es-ES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(x, y)  </a:t>
            </a:r>
            <a:r>
              <a:rPr lang="en-US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------------------------------------------------------- </a:t>
            </a:r>
            <a:r>
              <a:rPr lang="en-US" altLang="zh-CN" sz="1400" b="1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C</a:t>
            </a:r>
            <a:endParaRPr lang="es-ES" altLang="zh-CN" sz="1400" b="1" dirty="0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>
              <a:lnSpc>
                <a:spcPct val="130000"/>
              </a:lnSpc>
            </a:pPr>
            <a:r>
              <a:rPr lang="es-ES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  </a:t>
            </a:r>
            <a:r>
              <a:rPr lang="es-ES" altLang="zh-CN" sz="14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estimator.predict</a:t>
            </a:r>
            <a:r>
              <a:rPr lang="es-ES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([1])  </a:t>
            </a:r>
            <a:r>
              <a:rPr lang="en-US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--------------------------------------------------- </a:t>
            </a:r>
            <a:r>
              <a:rPr lang="en-US" altLang="zh-CN" sz="1400" b="1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D</a:t>
            </a:r>
            <a:endParaRPr lang="en-US" altLang="zh-CN" sz="1400" b="1" dirty="0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041858" y="1627039"/>
            <a:ext cx="415851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600" dirty="0">
                <a:solidFill>
                  <a:prstClr val="black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以下关于</a:t>
            </a:r>
            <a:r>
              <a:rPr lang="en-US" altLang="zh-CN" sz="1600" dirty="0">
                <a:solidFill>
                  <a:prstClr val="black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KNN</a:t>
            </a:r>
            <a:r>
              <a:rPr lang="zh-CN" altLang="en-US" sz="1600" dirty="0">
                <a:solidFill>
                  <a:prstClr val="black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算法</a:t>
            </a:r>
            <a:r>
              <a:rPr lang="en-US" altLang="zh-CN" sz="1600" dirty="0">
                <a:solidFill>
                  <a:prstClr val="black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API</a:t>
            </a:r>
            <a:r>
              <a:rPr lang="zh-CN" altLang="en-US" sz="1600" dirty="0">
                <a:solidFill>
                  <a:prstClr val="black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的使用有误的一项是？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2424416" y="6064958"/>
            <a:ext cx="464903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400" b="1" dirty="0">
                <a:solidFill>
                  <a:schemeClr val="accent2">
                    <a:lumMod val="7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答案解析：</a:t>
            </a:r>
            <a:r>
              <a:rPr lang="en-US" altLang="zh-CN" sz="1400" b="1" dirty="0">
                <a:solidFill>
                  <a:schemeClr val="accent2">
                    <a:lumMod val="7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D</a:t>
            </a:r>
            <a:r>
              <a:rPr lang="zh-CN" altLang="en-US" sz="1400" b="1" dirty="0">
                <a:solidFill>
                  <a:schemeClr val="accent2">
                    <a:lumMod val="7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。正确代码应为：</a:t>
            </a:r>
            <a:r>
              <a:rPr lang="en-US" altLang="zh-CN" sz="1400" b="1" dirty="0" err="1">
                <a:solidFill>
                  <a:schemeClr val="accent2">
                    <a:lumMod val="7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estimator.predict</a:t>
            </a:r>
            <a:r>
              <a:rPr lang="en-US" altLang="zh-CN" sz="1400" b="1" dirty="0">
                <a:solidFill>
                  <a:schemeClr val="accent2">
                    <a:lumMod val="7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([[1]]) </a:t>
            </a:r>
            <a:endParaRPr lang="zh-CN" altLang="en-US" sz="1400" b="1" dirty="0">
              <a:solidFill>
                <a:schemeClr val="accent2">
                  <a:lumMod val="7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4888728" y="795460"/>
            <a:ext cx="6104167" cy="5545050"/>
          </a:xfrm>
        </p:spPr>
        <p:txBody>
          <a:bodyPr/>
          <a:lstStyle/>
          <a:p>
            <a:r>
              <a:rPr lang="en-US" altLang="zh-CN" dirty="0">
                <a:solidFill>
                  <a:schemeClr val="tx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KNN</a:t>
            </a:r>
            <a:r>
              <a:rPr lang="zh-CN" altLang="en-US" dirty="0">
                <a:solidFill>
                  <a:schemeClr val="tx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算法简介</a:t>
            </a:r>
            <a:endParaRPr lang="en-US" altLang="zh-CN" dirty="0">
              <a:solidFill>
                <a:schemeClr val="tx1"/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lvl="1"/>
            <a:r>
              <a:rPr lang="en-US" altLang="zh-CN" sz="1600" b="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KNN</a:t>
            </a:r>
            <a:r>
              <a:rPr lang="zh-CN" altLang="en-US" sz="1600" b="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思想、分类和回归问题处理流程</a:t>
            </a:r>
            <a:endParaRPr lang="en-US" altLang="zh-CN" sz="1600" b="0" dirty="0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r>
              <a:rPr lang="en-US" altLang="zh-CN" dirty="0">
                <a:solidFill>
                  <a:schemeClr val="tx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KNN</a:t>
            </a:r>
            <a:r>
              <a:rPr lang="zh-CN" altLang="en-US" dirty="0">
                <a:solidFill>
                  <a:schemeClr val="tx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算法</a:t>
            </a:r>
            <a:r>
              <a:rPr lang="en-US" altLang="zh-CN" dirty="0">
                <a:solidFill>
                  <a:schemeClr val="tx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API</a:t>
            </a:r>
            <a:r>
              <a:rPr lang="zh-CN" altLang="en-US" dirty="0">
                <a:solidFill>
                  <a:schemeClr val="tx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介绍</a:t>
            </a:r>
            <a:endParaRPr lang="en-US" altLang="zh-CN" dirty="0">
              <a:solidFill>
                <a:schemeClr val="tx1"/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lvl="1"/>
            <a:r>
              <a:rPr kumimoji="1" lang="zh-CN" altLang="en-US" sz="1600" b="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分类、回归实现</a:t>
            </a:r>
            <a:endParaRPr kumimoji="1" lang="en-US" altLang="zh-CN" sz="1600" b="0" dirty="0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r>
              <a:rPr kumimoji="1" lang="zh-CN" altLang="en-US" dirty="0">
                <a:solidFill>
                  <a:srgbClr val="C00000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距离度量</a:t>
            </a:r>
            <a:endParaRPr kumimoji="1" lang="en-US" altLang="zh-CN" dirty="0">
              <a:solidFill>
                <a:srgbClr val="C00000"/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lvl="1"/>
            <a:r>
              <a:rPr kumimoji="1" lang="zh-CN" altLang="en-US" sz="1600" b="0" dirty="0">
                <a:solidFill>
                  <a:srgbClr val="C00000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常用距离计算方法</a:t>
            </a:r>
            <a:endParaRPr kumimoji="1" lang="zh-CN" altLang="en-US" sz="1600" b="0" dirty="0">
              <a:solidFill>
                <a:srgbClr val="C00000"/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特征预处理</a:t>
            </a:r>
            <a:endParaRPr kumimoji="1" lang="en-US" altLang="zh-CN" dirty="0">
              <a:solidFill>
                <a:schemeClr val="tx1">
                  <a:lumMod val="85000"/>
                  <a:lumOff val="1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lvl="1"/>
            <a:r>
              <a:rPr kumimoji="1" lang="zh-CN" altLang="en-US" sz="16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归一化、标准化、鸢尾花识别案例</a:t>
            </a:r>
            <a:endParaRPr kumimoji="1" lang="en-US" altLang="zh-CN" sz="1600" b="0" dirty="0">
              <a:solidFill>
                <a:schemeClr val="tx1">
                  <a:lumMod val="85000"/>
                  <a:lumOff val="1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超参数选择方法</a:t>
            </a:r>
            <a:endParaRPr kumimoji="1" lang="en-US" altLang="zh-CN" dirty="0">
              <a:solidFill>
                <a:schemeClr val="tx1">
                  <a:lumMod val="85000"/>
                  <a:lumOff val="1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lvl="1"/>
            <a:r>
              <a:rPr kumimoji="1" lang="zh-CN" altLang="en-US" sz="16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交叉验证、网格搜索、手写数字识别案例</a:t>
            </a:r>
            <a:endParaRPr lang="en-US" altLang="zh-CN" sz="1600" b="0" dirty="0">
              <a:solidFill>
                <a:schemeClr val="tx1">
                  <a:lumMod val="85000"/>
                  <a:lumOff val="1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>
          <a:xfrm>
            <a:off x="4818832" y="389923"/>
            <a:ext cx="6298881" cy="4855845"/>
          </a:xfrm>
        </p:spPr>
        <p:txBody>
          <a:bodyPr/>
          <a:lstStyle/>
          <a:p>
            <a:r>
              <a:rPr lang="zh-CN" altLang="en-US" dirty="0">
                <a:solidFill>
                  <a:schemeClr val="tx1"/>
                </a:solidFill>
              </a:rPr>
              <a:t>掌握欧氏距离的计算方法 </a:t>
            </a:r>
            <a:endParaRPr lang="zh-CN" altLang="en-US" dirty="0">
              <a:solidFill>
                <a:schemeClr val="tx1"/>
              </a:solidFill>
            </a:endParaRPr>
          </a:p>
          <a:p>
            <a:r>
              <a:rPr lang="zh-CN" altLang="en-US" dirty="0">
                <a:solidFill>
                  <a:schemeClr val="tx1"/>
                </a:solidFill>
              </a:rPr>
              <a:t>掌握曼哈顿距离的计算方法</a:t>
            </a:r>
            <a:endParaRPr lang="zh-CN" altLang="en-US" dirty="0">
              <a:solidFill>
                <a:schemeClr val="tx1"/>
              </a:solidFill>
            </a:endParaRPr>
          </a:p>
          <a:p>
            <a:r>
              <a:rPr lang="zh-CN" altLang="en-US" dirty="0">
                <a:solidFill>
                  <a:schemeClr val="tx1"/>
                </a:solidFill>
              </a:rPr>
              <a:t>了解切比雪夫距离的计算方法</a:t>
            </a:r>
            <a:endParaRPr lang="zh-CN" altLang="en-US" dirty="0">
              <a:solidFill>
                <a:schemeClr val="tx1"/>
              </a:solidFill>
            </a:endParaRPr>
          </a:p>
          <a:p>
            <a:r>
              <a:rPr lang="zh-CN" altLang="en-US" dirty="0">
                <a:solidFill>
                  <a:schemeClr val="tx1"/>
                </a:solidFill>
              </a:rPr>
              <a:t>了解闵可夫斯基距离的计算方法</a:t>
            </a:r>
            <a:endParaRPr lang="en-US" altLang="zh-CN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10880" y="839979"/>
            <a:ext cx="8364294" cy="517190"/>
          </a:xfrm>
        </p:spPr>
        <p:txBody>
          <a:bodyPr/>
          <a:lstStyle/>
          <a:p>
            <a:r>
              <a:rPr kumimoji="1" lang="zh-CN" altLang="en-US" dirty="0">
                <a:solidFill>
                  <a:schemeClr val="tx1"/>
                </a:solidFill>
              </a:rPr>
              <a:t>距离度量 </a:t>
            </a:r>
            <a:r>
              <a:rPr kumimoji="1" lang="en-GB" altLang="zh-CN" dirty="0">
                <a:solidFill>
                  <a:schemeClr val="tx1"/>
                </a:solidFill>
              </a:rPr>
              <a:t>distance measure</a:t>
            </a:r>
            <a:r>
              <a:rPr kumimoji="1" lang="zh-CN" altLang="en-US" dirty="0">
                <a:solidFill>
                  <a:schemeClr val="tx1"/>
                </a:solidFill>
              </a:rPr>
              <a:t> </a:t>
            </a:r>
            <a:r>
              <a:rPr kumimoji="1" lang="en-US" altLang="zh-CN" dirty="0">
                <a:solidFill>
                  <a:schemeClr val="tx1"/>
                </a:solidFill>
              </a:rPr>
              <a:t>–</a:t>
            </a:r>
            <a:r>
              <a:rPr kumimoji="1" lang="zh-CN" altLang="en-US" dirty="0">
                <a:solidFill>
                  <a:schemeClr val="tx1"/>
                </a:solidFill>
              </a:rPr>
              <a:t> 常见距离公式 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11" name="文本占位符 2"/>
          <p:cNvSpPr txBox="1"/>
          <p:nvPr/>
        </p:nvSpPr>
        <p:spPr>
          <a:xfrm>
            <a:off x="999368" y="1294245"/>
            <a:ext cx="8483997" cy="451100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欧氏距离 </a:t>
            </a:r>
            <a:r>
              <a:rPr lang="en-GB" altLang="zh-CN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Euclidean Distance</a:t>
            </a:r>
            <a:endParaRPr lang="en-US" altLang="zh-CN" dirty="0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4" name="文本框 2"/>
          <p:cNvSpPr txBox="1"/>
          <p:nvPr/>
        </p:nvSpPr>
        <p:spPr>
          <a:xfrm flipH="1">
            <a:off x="1590665" y="1638557"/>
            <a:ext cx="3632597" cy="708399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直观的距离度量方法，</a:t>
            </a: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fontAlgn="auto"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两个点在空间中的距离</a:t>
            </a:r>
            <a:r>
              <a:rPr lang="zh-CN" altLang="en-US" sz="1400" dirty="0">
                <a:solidFill>
                  <a:schemeClr val="accent2">
                    <a:lumMod val="7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一般都是指欧氏距离</a:t>
            </a:r>
            <a:endParaRPr lang="zh-CN" altLang="en-US" sz="1400" dirty="0">
              <a:solidFill>
                <a:schemeClr val="accent2">
                  <a:lumMod val="7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pic>
        <p:nvPicPr>
          <p:cNvPr id="5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35535" y="2394905"/>
            <a:ext cx="2027797" cy="1912766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8739" y="1664442"/>
            <a:ext cx="3122693" cy="2511032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0257" y="4451152"/>
            <a:ext cx="3574249" cy="318396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56369" y="4447728"/>
            <a:ext cx="2410504" cy="366646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00119" y="4809834"/>
            <a:ext cx="3958472" cy="38307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54871" y="4757639"/>
            <a:ext cx="3211390" cy="390169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44356" y="5262181"/>
            <a:ext cx="5421575" cy="372320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61858" y="5109931"/>
            <a:ext cx="1645200" cy="501586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7" name="文本框 16"/>
              <p:cNvSpPr txBox="1"/>
              <p:nvPr/>
            </p:nvSpPr>
            <p:spPr>
              <a:xfrm>
                <a:off x="1399460" y="5687734"/>
                <a:ext cx="7840901" cy="100604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举个例子：</a:t>
                </a:r>
                <a:r>
                  <a:rPr lang="en-US" altLang="zh-CN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ABCD</a:t>
                </a:r>
                <a:r>
                  <a:rPr lang="zh-CN" altLang="en-US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四点 </a:t>
                </a:r>
                <a:r>
                  <a:rPr lang="en-GB" altLang="zh-CN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X=[[1,1],[2,2],[3,3],[4,4]]</a:t>
                </a:r>
                <a:r>
                  <a:rPr lang="zh-CN" altLang="en-US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，计算</a:t>
                </a:r>
                <a:r>
                  <a:rPr lang="en-US" altLang="zh-CN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AB</a:t>
                </a:r>
                <a:r>
                  <a:rPr lang="zh-CN" altLang="en-US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lang="en-US" altLang="zh-CN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AC</a:t>
                </a:r>
                <a:r>
                  <a:rPr lang="zh-CN" altLang="en-US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lang="en-US" altLang="zh-CN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AD</a:t>
                </a:r>
                <a:r>
                  <a:rPr lang="zh-CN" altLang="en-US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lang="en-US" altLang="zh-CN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BC</a:t>
                </a:r>
                <a:r>
                  <a:rPr lang="zh-CN" altLang="en-US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lang="en-US" altLang="zh-CN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BD</a:t>
                </a:r>
                <a:r>
                  <a:rPr lang="zh-CN" altLang="en-US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距离</a:t>
                </a:r>
                <a:endParaRPr lang="en-GB" altLang="zh-CN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libaba PuHuiTi" pitchFamily="18" charset="-122"/>
                  <a:ea typeface="Alibaba PuHuiTi" pitchFamily="18" charset="-122"/>
                  <a:cs typeface="Alibaba PuHuiTi" pitchFamily="18" charset="-122"/>
                </a:endParaRPr>
              </a:p>
              <a:p>
                <a:r>
                  <a:rPr lang="zh-CN" altLang="en-US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     </a:t>
                </a:r>
                <a:r>
                  <a:rPr lang="en-US" altLang="zh-CN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	</a:t>
                </a:r>
                <a:r>
                  <a:rPr lang="zh-CN" altLang="en-US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经计算得</a:t>
                </a:r>
                <a:r>
                  <a:rPr lang="en-US" altLang="zh-CN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: AB</a:t>
                </a:r>
                <a:r>
                  <a:rPr lang="zh-CN" altLang="en-US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lang="en-US" altLang="zh-CN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=</a:t>
                </a:r>
                <a:r>
                  <a:rPr lang="zh-CN" altLang="en-US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zh-CN" altLang="en-US" sz="160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GB" altLang="zh-CN" sz="1600" i="1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1600" b="0" i="1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sz="1600" b="0" i="1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altLang="zh-CN" sz="1600" b="0" i="1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sz="1600" b="0" i="1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altLang="zh-CN" sz="1600" b="0" i="1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GB" altLang="zh-CN" sz="1600" i="1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zh-CN" altLang="en-US" sz="1600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sz="1600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GB" altLang="zh-CN" sz="1600" i="1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1600" i="1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sz="1600" i="1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altLang="zh-CN" sz="1600" i="1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sz="1600" i="1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altLang="zh-CN" sz="1600" i="1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GB" altLang="zh-CN" sz="1600" i="1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lang="zh-CN" altLang="en-US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 </a:t>
                </a:r>
                <a:r>
                  <a:rPr lang="en-US" altLang="zh-CN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=</a:t>
                </a:r>
                <a:r>
                  <a:rPr lang="zh-CN" altLang="en-US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zh-CN" altLang="en-US" sz="1600" i="1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zh-CN" altLang="en-US" sz="1600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sz="1600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zh-CN" altLang="en-US" sz="1600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rad>
                  </m:oMath>
                </a14:m>
                <a:r>
                  <a:rPr lang="zh-CN" altLang="en-US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lang="en-US" altLang="zh-CN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=</a:t>
                </a:r>
                <a:r>
                  <a:rPr lang="zh-CN" altLang="en-US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lang="en-US" altLang="zh-CN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1.414</a:t>
                </a:r>
                <a:endParaRPr lang="en-US" altLang="zh-CN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libaba PuHuiTi" pitchFamily="18" charset="-122"/>
                  <a:ea typeface="Alibaba PuHuiTi" pitchFamily="18" charset="-122"/>
                  <a:cs typeface="Alibaba PuHuiTi" pitchFamily="18" charset="-122"/>
                </a:endParaRPr>
              </a:p>
              <a:p>
                <a:r>
                  <a:rPr lang="zh-CN" altLang="en-US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      </a:t>
                </a:r>
                <a:r>
                  <a:rPr lang="en-US" altLang="zh-CN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	</a:t>
                </a:r>
                <a:r>
                  <a:rPr lang="en-GB" altLang="zh-CN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d = 1.4142 </a:t>
                </a:r>
                <a:r>
                  <a:rPr lang="en-US" altLang="zh-CN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	</a:t>
                </a:r>
                <a:r>
                  <a:rPr lang="en-GB" altLang="zh-CN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2.8284 	4.2426 	1.4142 	2.8284 	1.4142</a:t>
                </a:r>
                <a:endParaRPr lang="zh-CN" alt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libaba PuHuiTi" pitchFamily="18" charset="-122"/>
                  <a:ea typeface="Alibaba PuHuiTi" pitchFamily="18" charset="-122"/>
                  <a:cs typeface="Alibaba PuHuiTi" pitchFamily="18" charset="-122"/>
                </a:endParaRPr>
              </a:p>
            </p:txBody>
          </p:sp>
        </mc:Choice>
        <mc:Fallback>
          <p:sp>
            <p:nvSpPr>
              <p:cNvPr id="17" name="文本框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9460" y="5687734"/>
                <a:ext cx="7840901" cy="1006045"/>
              </a:xfrm>
              <a:prstGeom prst="rect">
                <a:avLst/>
              </a:prstGeom>
              <a:blipFill rotWithShape="1">
                <a:blip r:embed="rId9"/>
                <a:stretch>
                  <a:fillRect l="-7" t="-4" r="6" b="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10880" y="839979"/>
            <a:ext cx="8364294" cy="517190"/>
          </a:xfrm>
        </p:spPr>
        <p:txBody>
          <a:bodyPr/>
          <a:lstStyle/>
          <a:p>
            <a:r>
              <a:rPr kumimoji="1" lang="zh-CN" altLang="en-US" dirty="0">
                <a:solidFill>
                  <a:schemeClr val="tx1"/>
                </a:solidFill>
              </a:rPr>
              <a:t>距离度量 </a:t>
            </a:r>
            <a:r>
              <a:rPr kumimoji="1" lang="en-GB" altLang="zh-CN" dirty="0">
                <a:solidFill>
                  <a:schemeClr val="tx1"/>
                </a:solidFill>
              </a:rPr>
              <a:t>distance measure</a:t>
            </a:r>
            <a:r>
              <a:rPr kumimoji="1" lang="zh-CN" altLang="en-US" dirty="0">
                <a:solidFill>
                  <a:schemeClr val="tx1"/>
                </a:solidFill>
              </a:rPr>
              <a:t> </a:t>
            </a:r>
            <a:r>
              <a:rPr kumimoji="1" lang="en-US" altLang="zh-CN" dirty="0">
                <a:solidFill>
                  <a:schemeClr val="tx1"/>
                </a:solidFill>
              </a:rPr>
              <a:t>–</a:t>
            </a:r>
            <a:r>
              <a:rPr kumimoji="1" lang="zh-CN" altLang="en-US" dirty="0">
                <a:solidFill>
                  <a:schemeClr val="tx1"/>
                </a:solidFill>
              </a:rPr>
              <a:t> 常见距离公式 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11" name="文本占位符 2"/>
          <p:cNvSpPr txBox="1"/>
          <p:nvPr/>
        </p:nvSpPr>
        <p:spPr>
          <a:xfrm>
            <a:off x="999368" y="1294245"/>
            <a:ext cx="8483997" cy="451100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曼哈顿距离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(Manhattan Distance)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4" name="文本框 2"/>
          <p:cNvSpPr txBox="1"/>
          <p:nvPr/>
        </p:nvSpPr>
        <p:spPr>
          <a:xfrm flipH="1">
            <a:off x="1416979" y="1686506"/>
            <a:ext cx="8143580" cy="380873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400" dirty="0">
                <a:solidFill>
                  <a:srgbClr val="333333"/>
                </a:solidFill>
                <a:latin typeface="Helvetica Neue" panose="02000503000000020004" pitchFamily="2" charset="0"/>
              </a:rPr>
              <a:t>     </a:t>
            </a:r>
            <a:r>
              <a:rPr lang="zh-CN" altLang="en-US" sz="1400" b="0" i="0" dirty="0">
                <a:solidFill>
                  <a:srgbClr val="333333"/>
                </a:solidFill>
                <a:effectLst/>
                <a:latin typeface="Helvetica Neue" panose="02000503000000020004" pitchFamily="2" charset="0"/>
              </a:rPr>
              <a:t>也称为“</a:t>
            </a:r>
            <a:r>
              <a:rPr lang="zh-CN" altLang="en-US" sz="1400" b="0" i="0" dirty="0">
                <a:solidFill>
                  <a:schemeClr val="accent2">
                    <a:lumMod val="75000"/>
                  </a:schemeClr>
                </a:solidFill>
                <a:effectLst/>
                <a:latin typeface="Helvetica Neue" panose="02000503000000020004" pitchFamily="2" charset="0"/>
              </a:rPr>
              <a:t>城市街区距离</a:t>
            </a:r>
            <a:r>
              <a:rPr lang="zh-CN" altLang="en-US" sz="1400" b="0" i="0" dirty="0">
                <a:solidFill>
                  <a:srgbClr val="333333"/>
                </a:solidFill>
                <a:effectLst/>
                <a:latin typeface="Helvetica Neue" panose="02000503000000020004" pitchFamily="2" charset="0"/>
              </a:rPr>
              <a:t>”</a:t>
            </a:r>
            <a:r>
              <a:rPr lang="en-US" altLang="zh-CN" sz="1400" b="0" i="0" dirty="0">
                <a:solidFill>
                  <a:srgbClr val="333333"/>
                </a:solidFill>
                <a:effectLst/>
                <a:latin typeface="Helvetica Neue" panose="02000503000000020004" pitchFamily="2" charset="0"/>
              </a:rPr>
              <a:t>(</a:t>
            </a:r>
            <a:r>
              <a:rPr lang="en-GB" altLang="zh-CN" sz="1400" b="0" i="0" dirty="0">
                <a:solidFill>
                  <a:srgbClr val="333333"/>
                </a:solidFill>
                <a:effectLst/>
                <a:latin typeface="Helvetica Neue" panose="02000503000000020004" pitchFamily="2" charset="0"/>
              </a:rPr>
              <a:t>City Block distance)</a:t>
            </a:r>
            <a:r>
              <a:rPr lang="zh-CN" altLang="en-US" sz="1400" dirty="0">
                <a:solidFill>
                  <a:srgbClr val="333333"/>
                </a:solidFill>
                <a:latin typeface="Helvetica Neue" panose="02000503000000020004" pitchFamily="2" charset="0"/>
              </a:rPr>
              <a:t>，</a:t>
            </a:r>
            <a:r>
              <a:rPr lang="zh-CN" altLang="en-US" sz="1400" b="0" i="0" dirty="0">
                <a:solidFill>
                  <a:srgbClr val="333333"/>
                </a:solidFill>
                <a:effectLst/>
                <a:latin typeface="Helvetica Neue" panose="02000503000000020004" pitchFamily="2" charset="0"/>
              </a:rPr>
              <a:t>曼哈顿城市特点：</a:t>
            </a:r>
            <a:r>
              <a:rPr lang="zh-CN" altLang="en-US" sz="1400" b="0" i="0" dirty="0">
                <a:solidFill>
                  <a:schemeClr val="accent2">
                    <a:lumMod val="75000"/>
                  </a:schemeClr>
                </a:solidFill>
                <a:effectLst/>
                <a:latin typeface="Helvetica Neue" panose="02000503000000020004" pitchFamily="2" charset="0"/>
              </a:rPr>
              <a:t>横平竖直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accent2">
                  <a:lumMod val="75000"/>
                </a:scheme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文本框 16"/>
              <p:cNvSpPr txBox="1"/>
              <p:nvPr/>
            </p:nvSpPr>
            <p:spPr>
              <a:xfrm>
                <a:off x="8200428" y="2346750"/>
                <a:ext cx="3879811" cy="218521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举个例子：</a:t>
                </a:r>
                <a:endParaRPr kumimoji="0" lang="en-US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libaba PuHuiTi" pitchFamily="18" charset="-122"/>
                  <a:ea typeface="Alibaba PuHuiTi" pitchFamily="18" charset="-122"/>
                  <a:cs typeface="Alibaba PuHuiTi" pitchFamily="18" charset="-122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ABCD</a:t>
                </a:r>
                <a:r>
                  <a:rPr kumimoji="0" lang="zh-CN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四点 </a:t>
                </a:r>
                <a:r>
                  <a:rPr kumimoji="0" lang="en-GB" altLang="zh-CN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X=[</a:t>
                </a:r>
                <a:r>
                  <a:rPr kumimoji="0" lang="zh-CN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kumimoji="0" lang="en-GB" altLang="zh-CN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[1,1],</a:t>
                </a:r>
                <a:r>
                  <a:rPr kumimoji="0" lang="zh-CN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kumimoji="0" lang="en-GB" altLang="zh-CN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[2,2],</a:t>
                </a:r>
                <a:r>
                  <a:rPr kumimoji="0" lang="zh-CN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kumimoji="0" lang="en-GB" altLang="zh-CN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[3,3],</a:t>
                </a:r>
                <a:r>
                  <a:rPr kumimoji="0" lang="zh-CN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kumimoji="0" lang="en-GB" altLang="zh-CN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[4,4]</a:t>
                </a:r>
                <a:r>
                  <a:rPr kumimoji="0" lang="zh-CN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kumimoji="0" lang="en-GB" altLang="zh-CN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]</a:t>
                </a:r>
                <a:r>
                  <a:rPr kumimoji="0" lang="zh-CN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，</a:t>
                </a:r>
                <a:endParaRPr kumimoji="0" lang="en-US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libaba PuHuiTi" pitchFamily="18" charset="-122"/>
                  <a:ea typeface="Alibaba PuHuiTi" pitchFamily="18" charset="-122"/>
                  <a:cs typeface="Alibaba PuHuiTi" pitchFamily="18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kumimoji="0" lang="zh-CN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计算</a:t>
                </a:r>
                <a:r>
                  <a:rPr kumimoji="0" lang="en-US" altLang="zh-CN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AB</a:t>
                </a:r>
                <a:r>
                  <a:rPr kumimoji="0" lang="zh-CN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kumimoji="0" lang="en-US" altLang="zh-CN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AC</a:t>
                </a:r>
                <a:r>
                  <a:rPr kumimoji="0" lang="zh-CN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kumimoji="0" lang="en-US" altLang="zh-CN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AD</a:t>
                </a:r>
                <a:r>
                  <a:rPr kumimoji="0" lang="zh-CN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kumimoji="0" lang="en-US" altLang="zh-CN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BC</a:t>
                </a:r>
                <a:r>
                  <a:rPr kumimoji="0" lang="zh-CN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kumimoji="0" lang="en-US" altLang="zh-CN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BD</a:t>
                </a:r>
                <a:r>
                  <a:rPr lang="zh-CN" altLang="en-US" sz="1600" dirty="0"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曼哈顿距离</a:t>
                </a:r>
                <a:endParaRPr kumimoji="0" lang="en-GB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libaba PuHuiTi" pitchFamily="18" charset="-122"/>
                  <a:ea typeface="Alibaba PuHuiTi" pitchFamily="18" charset="-122"/>
                  <a:cs typeface="Alibaba PuHuiTi" pitchFamily="18" charset="-122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     </a:t>
                </a:r>
                <a:r>
                  <a:rPr kumimoji="0" lang="en-US" altLang="zh-CN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	</a:t>
                </a:r>
                <a:endParaRPr kumimoji="0" lang="en-US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libaba PuHuiTi" pitchFamily="18" charset="-122"/>
                  <a:ea typeface="Alibaba PuHuiTi" pitchFamily="18" charset="-122"/>
                  <a:cs typeface="Alibaba PuHuiTi" pitchFamily="18" charset="-122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经计算得</a:t>
                </a:r>
                <a:r>
                  <a:rPr kumimoji="0" lang="en-US" altLang="zh-CN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: AB</a:t>
                </a:r>
                <a:r>
                  <a:rPr kumimoji="0" lang="zh-CN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kumimoji="0" lang="en-US" altLang="zh-CN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=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kumimoji="0" lang="en-US" altLang="zh-CN" sz="16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>
                                <a:lumMod val="75000"/>
                                <a:lumOff val="2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dPr>
                      <m:e>
                        <m:r>
                          <a:rPr kumimoji="0" lang="en-US" altLang="zh-CN" sz="16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>
                                <a:lumMod val="75000"/>
                                <a:lumOff val="2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2</m:t>
                        </m:r>
                        <m:r>
                          <a:rPr kumimoji="0" lang="en-US" altLang="zh-CN" sz="16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>
                                <a:lumMod val="75000"/>
                                <a:lumOff val="2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−</m:t>
                        </m:r>
                        <m:r>
                          <a:rPr kumimoji="0" lang="en-US" altLang="zh-CN" sz="16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>
                                <a:lumMod val="75000"/>
                                <a:lumOff val="2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1</m:t>
                        </m:r>
                      </m:e>
                    </m:d>
                    <m:r>
                      <a:rPr kumimoji="0" lang="en-US" altLang="zh-CN" sz="16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+</m:t>
                    </m:r>
                    <m:r>
                      <a:rPr kumimoji="0" lang="zh-CN" altLang="en-US" sz="16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 </m:t>
                    </m:r>
                    <m:d>
                      <m:dPr>
                        <m:begChr m:val="⌈"/>
                        <m:endChr m:val="⌉"/>
                        <m:ctrlPr>
                          <a:rPr kumimoji="0" lang="zh-CN" altLang="en-US" sz="16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>
                                <a:lumMod val="75000"/>
                                <a:lumOff val="2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dPr>
                      <m:e>
                        <m:r>
                          <a:rPr kumimoji="0" lang="en-US" altLang="zh-CN" sz="16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>
                                <a:lumMod val="75000"/>
                                <a:lumOff val="2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2</m:t>
                        </m:r>
                        <m:r>
                          <a:rPr kumimoji="0" lang="en-US" altLang="zh-CN" sz="16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>
                                <a:lumMod val="75000"/>
                                <a:lumOff val="2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−</m:t>
                        </m:r>
                        <m:r>
                          <a:rPr kumimoji="0" lang="en-US" altLang="zh-CN" sz="16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>
                                <a:lumMod val="75000"/>
                                <a:lumOff val="2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1</m:t>
                        </m:r>
                      </m:e>
                    </m:d>
                  </m:oMath>
                </a14:m>
                <a:r>
                  <a:rPr kumimoji="0" lang="en-US" altLang="zh-CN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=</a:t>
                </a:r>
                <a:r>
                  <a:rPr kumimoji="0" lang="zh-CN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kumimoji="0" lang="en-US" altLang="zh-CN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2</a:t>
                </a:r>
                <a:r>
                  <a:rPr kumimoji="0" lang="zh-CN" altLang="en-US" sz="1600" b="0" i="0" u="none" strike="noStrike" kern="1200" cap="none" spc="0" normalizeH="0" noProof="0" dirty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endParaRPr kumimoji="0" lang="en-US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libaba PuHuiTi" pitchFamily="18" charset="-122"/>
                  <a:ea typeface="Alibaba PuHuiTi" pitchFamily="18" charset="-122"/>
                  <a:cs typeface="Alibaba PuHuiTi" pitchFamily="18" charset="-122"/>
                </a:endParaRPr>
              </a:p>
              <a:p>
                <a:pPr lvl="0"/>
                <a:r>
                  <a:rPr kumimoji="0" lang="zh-CN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       </a:t>
                </a:r>
                <a:endParaRPr kumimoji="0" lang="en-US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libaba PuHuiTi" pitchFamily="18" charset="-122"/>
                  <a:ea typeface="Alibaba PuHuiTi" pitchFamily="18" charset="-122"/>
                  <a:cs typeface="Alibaba PuHuiTi" pitchFamily="18" charset="-122"/>
                </a:endParaRPr>
              </a:p>
              <a:p>
                <a:pPr lvl="0"/>
                <a:r>
                  <a:rPr kumimoji="0" lang="en-GB" altLang="zh-CN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d = </a:t>
                </a:r>
                <a:r>
                  <a:rPr lang="en-US" altLang="zh-CN" sz="1600" dirty="0"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2</a:t>
                </a:r>
                <a:r>
                  <a:rPr lang="zh-CN" altLang="en-US" sz="1600" dirty="0"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lang="en-US" altLang="zh-CN" sz="1600" dirty="0"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4</a:t>
                </a:r>
                <a:r>
                  <a:rPr lang="zh-CN" altLang="en-US" sz="1600" dirty="0"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kumimoji="0" lang="en-US" altLang="zh-CN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6</a:t>
                </a:r>
                <a:r>
                  <a:rPr kumimoji="0" lang="zh-CN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lang="en-US" altLang="zh-CN" sz="1600" dirty="0"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2</a:t>
                </a:r>
                <a:r>
                  <a:rPr lang="zh-CN" altLang="en-US" sz="1600" dirty="0"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lang="en-US" altLang="zh-CN" sz="1600" dirty="0"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4</a:t>
                </a:r>
                <a:r>
                  <a:rPr lang="zh-CN" altLang="en-US" sz="1600" dirty="0"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lang="en-US" altLang="zh-CN" sz="1600" dirty="0"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2</a:t>
                </a:r>
                <a:endPara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libaba PuHuiTi" pitchFamily="18" charset="-122"/>
                  <a:ea typeface="Alibaba PuHuiTi" pitchFamily="18" charset="-122"/>
                  <a:cs typeface="Alibaba PuHuiTi" pitchFamily="18" charset="-122"/>
                </a:endParaRPr>
              </a:p>
            </p:txBody>
          </p:sp>
        </mc:Choice>
        <mc:Fallback>
          <p:sp>
            <p:nvSpPr>
              <p:cNvPr id="17" name="文本框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00428" y="2346750"/>
                <a:ext cx="3879811" cy="2185214"/>
              </a:xfrm>
              <a:prstGeom prst="rect">
                <a:avLst/>
              </a:prstGeom>
              <a:blipFill rotWithShape="1">
                <a:blip r:embed="rId1"/>
                <a:stretch>
                  <a:fillRect l="-1" t="-19" r="16" b="-1365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368" y="2199611"/>
            <a:ext cx="6686270" cy="3069853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9048" y="5418091"/>
            <a:ext cx="4068067" cy="473837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39617" y="5438115"/>
            <a:ext cx="2155767" cy="322417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8888" y="6041014"/>
            <a:ext cx="4974590" cy="337063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73958" y="5913533"/>
            <a:ext cx="1787714" cy="62703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10880" y="839979"/>
            <a:ext cx="8364294" cy="517190"/>
          </a:xfrm>
        </p:spPr>
        <p:txBody>
          <a:bodyPr/>
          <a:lstStyle/>
          <a:p>
            <a:r>
              <a:rPr kumimoji="1" lang="zh-CN" altLang="en-US" dirty="0">
                <a:solidFill>
                  <a:schemeClr val="tx1"/>
                </a:solidFill>
              </a:rPr>
              <a:t>距离度量 </a:t>
            </a:r>
            <a:r>
              <a:rPr kumimoji="1" lang="en-GB" altLang="zh-CN" dirty="0">
                <a:solidFill>
                  <a:schemeClr val="tx1"/>
                </a:solidFill>
              </a:rPr>
              <a:t>distance measure</a:t>
            </a:r>
            <a:r>
              <a:rPr kumimoji="1" lang="zh-CN" altLang="en-US" dirty="0">
                <a:solidFill>
                  <a:schemeClr val="tx1"/>
                </a:solidFill>
              </a:rPr>
              <a:t> </a:t>
            </a:r>
            <a:r>
              <a:rPr kumimoji="1" lang="en-US" altLang="zh-CN" dirty="0">
                <a:solidFill>
                  <a:schemeClr val="tx1"/>
                </a:solidFill>
              </a:rPr>
              <a:t>–</a:t>
            </a:r>
            <a:r>
              <a:rPr kumimoji="1" lang="zh-CN" altLang="en-US" dirty="0">
                <a:solidFill>
                  <a:schemeClr val="tx1"/>
                </a:solidFill>
              </a:rPr>
              <a:t> 常见距离公式 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11" name="文本占位符 2"/>
          <p:cNvSpPr txBox="1"/>
          <p:nvPr/>
        </p:nvSpPr>
        <p:spPr>
          <a:xfrm>
            <a:off x="999368" y="1294245"/>
            <a:ext cx="8483997" cy="451100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切比雪夫距离 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Chebyshev Distance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4" name="文本框 2"/>
          <p:cNvSpPr txBox="1"/>
          <p:nvPr/>
        </p:nvSpPr>
        <p:spPr>
          <a:xfrm flipH="1">
            <a:off x="1416979" y="1686506"/>
            <a:ext cx="8143580" cy="704039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400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国际象棋中，国王可以直行、横行、斜行，所以国王走一步可以移动到相邻</a:t>
            </a:r>
            <a:r>
              <a:rPr lang="en-US" altLang="zh-CN" sz="1400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8</a:t>
            </a:r>
            <a:r>
              <a:rPr lang="zh-CN" altLang="en-US" sz="1400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个方格中的任意一个。</a:t>
            </a:r>
            <a:endParaRPr lang="en-US" altLang="zh-CN" sz="1400" b="0" i="0" dirty="0">
              <a:solidFill>
                <a:srgbClr val="333333"/>
              </a:solidFill>
              <a:effectLst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400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国王从格子</a:t>
            </a:r>
            <a:r>
              <a:rPr lang="en-US" altLang="zh-CN" sz="1400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(</a:t>
            </a:r>
            <a:r>
              <a:rPr lang="en-GB" altLang="zh-CN" sz="1400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x1,y1)</a:t>
            </a:r>
            <a:r>
              <a:rPr lang="zh-CN" altLang="en-US" sz="1400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走到格子</a:t>
            </a:r>
            <a:r>
              <a:rPr lang="en-US" altLang="zh-CN" sz="1400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(</a:t>
            </a:r>
            <a:r>
              <a:rPr lang="en-GB" altLang="zh-CN" sz="1400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x2,y2)</a:t>
            </a:r>
            <a:r>
              <a:rPr lang="zh-CN" altLang="en-US" sz="1400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最少需要多少步？这个距离就叫切比雪夫距离。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文本框 16"/>
              <p:cNvSpPr txBox="1"/>
              <p:nvPr/>
            </p:nvSpPr>
            <p:spPr>
              <a:xfrm>
                <a:off x="8200428" y="2346750"/>
                <a:ext cx="3879811" cy="255333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举个例子：</a:t>
                </a:r>
                <a:endParaRPr kumimoji="0" lang="en-US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libaba PuHuiTi" pitchFamily="18" charset="-122"/>
                  <a:ea typeface="Alibaba PuHuiTi" pitchFamily="18" charset="-122"/>
                  <a:cs typeface="Alibaba PuHuiTi" pitchFamily="18" charset="-122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ABCD</a:t>
                </a:r>
                <a:r>
                  <a:rPr kumimoji="0" lang="zh-CN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四点 </a:t>
                </a:r>
                <a:r>
                  <a:rPr kumimoji="0" lang="en-GB" altLang="zh-CN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X=[</a:t>
                </a:r>
                <a:r>
                  <a:rPr kumimoji="0" lang="zh-CN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kumimoji="0" lang="en-GB" altLang="zh-CN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[1,1],</a:t>
                </a:r>
                <a:r>
                  <a:rPr kumimoji="0" lang="zh-CN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kumimoji="0" lang="en-GB" altLang="zh-CN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[2,2],</a:t>
                </a:r>
                <a:r>
                  <a:rPr kumimoji="0" lang="zh-CN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kumimoji="0" lang="en-GB" altLang="zh-CN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[3,3],</a:t>
                </a:r>
                <a:r>
                  <a:rPr kumimoji="0" lang="zh-CN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kumimoji="0" lang="en-GB" altLang="zh-CN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[4,4]</a:t>
                </a:r>
                <a:r>
                  <a:rPr kumimoji="0" lang="zh-CN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kumimoji="0" lang="en-GB" altLang="zh-CN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]</a:t>
                </a:r>
                <a:r>
                  <a:rPr kumimoji="0" lang="zh-CN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，</a:t>
                </a:r>
                <a:endParaRPr kumimoji="0" lang="en-US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libaba PuHuiTi" pitchFamily="18" charset="-122"/>
                  <a:ea typeface="Alibaba PuHuiTi" pitchFamily="18" charset="-122"/>
                  <a:cs typeface="Alibaba PuHuiTi" pitchFamily="18" charset="-122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计算</a:t>
                </a:r>
                <a:r>
                  <a:rPr kumimoji="0" lang="en-US" altLang="zh-CN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AB</a:t>
                </a:r>
                <a:r>
                  <a:rPr kumimoji="0" lang="zh-CN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kumimoji="0" lang="en-US" altLang="zh-CN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AC</a:t>
                </a:r>
                <a:r>
                  <a:rPr kumimoji="0" lang="zh-CN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kumimoji="0" lang="en-US" altLang="zh-CN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AD</a:t>
                </a:r>
                <a:r>
                  <a:rPr kumimoji="0" lang="zh-CN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kumimoji="0" lang="en-US" altLang="zh-CN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BC</a:t>
                </a:r>
                <a:r>
                  <a:rPr kumimoji="0" lang="zh-CN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kumimoji="0" lang="en-US" altLang="zh-CN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BD</a:t>
                </a:r>
                <a:r>
                  <a:rPr kumimoji="0" lang="zh-CN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切比雪夫距离</a:t>
                </a:r>
                <a:endParaRPr kumimoji="0" lang="en-GB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libaba PuHuiTi" pitchFamily="18" charset="-122"/>
                  <a:ea typeface="Alibaba PuHuiTi" pitchFamily="18" charset="-122"/>
                  <a:cs typeface="Alibaba PuHuiTi" pitchFamily="18" charset="-122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     </a:t>
                </a:r>
                <a:r>
                  <a:rPr kumimoji="0" lang="en-US" altLang="zh-CN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	</a:t>
                </a:r>
                <a:endParaRPr kumimoji="0" lang="en-US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libaba PuHuiTi" pitchFamily="18" charset="-122"/>
                  <a:ea typeface="Alibaba PuHuiTi" pitchFamily="18" charset="-122"/>
                  <a:cs typeface="Alibaba PuHuiTi" pitchFamily="18" charset="-122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经计算得</a:t>
                </a:r>
                <a:r>
                  <a:rPr kumimoji="0" lang="en-US" altLang="zh-CN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: AB</a:t>
                </a:r>
                <a:r>
                  <a:rPr kumimoji="0" lang="zh-CN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kumimoji="0" lang="en-US" altLang="zh-CN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=max(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kumimoji="0" lang="en-US" altLang="zh-CN" sz="16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>
                                <a:lumMod val="75000"/>
                                <a:lumOff val="2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dPr>
                      <m:e>
                        <m:r>
                          <a:rPr kumimoji="0" lang="en-US" altLang="zh-CN" sz="16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>
                                <a:lumMod val="75000"/>
                                <a:lumOff val="2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2</m:t>
                        </m:r>
                        <m:r>
                          <a:rPr kumimoji="0" lang="en-US" altLang="zh-CN" sz="16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>
                                <a:lumMod val="75000"/>
                                <a:lumOff val="2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−</m:t>
                        </m:r>
                        <m:r>
                          <a:rPr kumimoji="0" lang="en-US" altLang="zh-CN" sz="16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>
                                <a:lumMod val="75000"/>
                                <a:lumOff val="2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1</m:t>
                        </m:r>
                      </m:e>
                    </m:d>
                    <m:r>
                      <a:rPr kumimoji="0" lang="en-US" altLang="zh-CN" sz="16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,</m:t>
                    </m:r>
                    <m:r>
                      <a:rPr kumimoji="0" lang="zh-CN" altLang="en-US" sz="16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 </m:t>
                    </m:r>
                    <m:d>
                      <m:dPr>
                        <m:begChr m:val="⌈"/>
                        <m:endChr m:val="⌉"/>
                        <m:ctrlPr>
                          <a:rPr kumimoji="0" lang="zh-CN" altLang="en-US" sz="16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>
                                <a:lumMod val="75000"/>
                                <a:lumOff val="2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dPr>
                      <m:e>
                        <m:r>
                          <a:rPr kumimoji="0" lang="en-US" altLang="zh-CN" sz="16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>
                                <a:lumMod val="75000"/>
                                <a:lumOff val="2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2</m:t>
                        </m:r>
                        <m:r>
                          <a:rPr kumimoji="0" lang="en-US" altLang="zh-CN" sz="16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>
                                <a:lumMod val="75000"/>
                                <a:lumOff val="2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−</m:t>
                        </m:r>
                        <m:r>
                          <a:rPr kumimoji="0" lang="en-US" altLang="zh-CN" sz="16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>
                                <a:lumMod val="75000"/>
                                <a:lumOff val="25000"/>
                              </a:prst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1</m:t>
                        </m:r>
                      </m:e>
                    </m:d>
                  </m:oMath>
                </a14:m>
                <a:r>
                  <a:rPr kumimoji="0" lang="en-US" altLang="zh-CN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)</a:t>
                </a:r>
                <a:r>
                  <a:rPr kumimoji="0" lang="zh-CN" altLang="en-US" sz="1600" b="0" i="0" u="none" strike="noStrike" kern="1200" cap="none" spc="0" normalizeH="0" noProof="0" dirty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kumimoji="0" lang="en-US" altLang="zh-CN" sz="1600" b="0" i="0" u="none" strike="noStrike" kern="1200" cap="none" spc="0" normalizeH="0" noProof="0" dirty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=</a:t>
                </a:r>
                <a:r>
                  <a:rPr kumimoji="0" lang="zh-CN" altLang="en-US" sz="1600" b="0" i="0" u="none" strike="noStrike" kern="1200" cap="none" spc="0" normalizeH="0" noProof="0" dirty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kumimoji="0" lang="en-US" altLang="zh-CN" sz="1600" b="0" i="0" u="none" strike="noStrike" kern="1200" cap="none" spc="0" normalizeH="0" noProof="0" dirty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1</a:t>
                </a:r>
                <a:r>
                  <a:rPr kumimoji="0" lang="zh-CN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endParaRPr kumimoji="0" lang="en-US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libaba PuHuiTi" pitchFamily="18" charset="-122"/>
                  <a:ea typeface="Alibaba PuHuiTi" pitchFamily="18" charset="-122"/>
                  <a:cs typeface="Alibaba PuHuiTi" pitchFamily="18" charset="-122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       </a:t>
                </a:r>
                <a:endParaRPr kumimoji="0" lang="en-US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libaba PuHuiTi" pitchFamily="18" charset="-122"/>
                  <a:ea typeface="Alibaba PuHuiTi" pitchFamily="18" charset="-122"/>
                  <a:cs typeface="Alibaba PuHuiTi" pitchFamily="18" charset="-122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GB" altLang="zh-CN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d = </a:t>
                </a:r>
                <a:r>
                  <a:rPr lang="en-US" altLang="zh-CN" sz="1600" dirty="0"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1</a:t>
                </a:r>
                <a:r>
                  <a:rPr kumimoji="0" lang="zh-CN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lang="en-US" altLang="zh-CN" sz="1600" dirty="0"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2</a:t>
                </a:r>
                <a:r>
                  <a:rPr kumimoji="0" lang="zh-CN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lang="en-US" altLang="zh-CN" sz="1600" dirty="0"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3</a:t>
                </a:r>
                <a:r>
                  <a:rPr kumimoji="0" lang="zh-CN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lang="en-US" altLang="zh-CN" sz="1600" dirty="0"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1</a:t>
                </a:r>
                <a:r>
                  <a:rPr kumimoji="0" lang="zh-CN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lang="en-US" altLang="zh-CN" sz="1600" dirty="0"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2</a:t>
                </a:r>
                <a:r>
                  <a:rPr kumimoji="0" lang="zh-CN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lang="en-US" altLang="zh-CN" sz="1600" dirty="0"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1</a:t>
                </a:r>
                <a:endPara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libaba PuHuiTi" pitchFamily="18" charset="-122"/>
                  <a:ea typeface="Alibaba PuHuiTi" pitchFamily="18" charset="-122"/>
                  <a:cs typeface="Alibaba PuHuiTi" pitchFamily="18" charset="-122"/>
                </a:endParaRPr>
              </a:p>
            </p:txBody>
          </p:sp>
        </mc:Choice>
        <mc:Fallback>
          <p:sp>
            <p:nvSpPr>
              <p:cNvPr id="17" name="文本框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00428" y="2346750"/>
                <a:ext cx="3879811" cy="2553335"/>
              </a:xfrm>
              <a:prstGeom prst="rect">
                <a:avLst/>
              </a:prstGeom>
              <a:blipFill rotWithShape="1">
                <a:blip r:embed="rId1"/>
                <a:stretch>
                  <a:fillRect l="-1" t="-17" r="16" b="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6979" y="2460639"/>
            <a:ext cx="6578941" cy="2954659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6979" y="5656598"/>
            <a:ext cx="3632541" cy="39370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16979" y="6120148"/>
            <a:ext cx="3856061" cy="34290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49328" y="5624321"/>
            <a:ext cx="2472570" cy="39370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24586" y="6120148"/>
            <a:ext cx="2405872" cy="41480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10880" y="839979"/>
            <a:ext cx="8364294" cy="517190"/>
          </a:xfrm>
        </p:spPr>
        <p:txBody>
          <a:bodyPr/>
          <a:lstStyle/>
          <a:p>
            <a:r>
              <a:rPr kumimoji="1" lang="zh-CN" altLang="en-US" dirty="0">
                <a:solidFill>
                  <a:schemeClr val="tx1"/>
                </a:solidFill>
              </a:rPr>
              <a:t>距离度量 </a:t>
            </a:r>
            <a:r>
              <a:rPr kumimoji="1" lang="en-GB" altLang="zh-CN" dirty="0">
                <a:solidFill>
                  <a:schemeClr val="tx1"/>
                </a:solidFill>
              </a:rPr>
              <a:t>distance measure</a:t>
            </a:r>
            <a:r>
              <a:rPr kumimoji="1" lang="zh-CN" altLang="en-US" dirty="0">
                <a:solidFill>
                  <a:schemeClr val="tx1"/>
                </a:solidFill>
              </a:rPr>
              <a:t> </a:t>
            </a:r>
            <a:r>
              <a:rPr kumimoji="1" lang="en-US" altLang="zh-CN" dirty="0">
                <a:solidFill>
                  <a:schemeClr val="tx1"/>
                </a:solidFill>
              </a:rPr>
              <a:t>–</a:t>
            </a:r>
            <a:r>
              <a:rPr kumimoji="1" lang="zh-CN" altLang="en-US" dirty="0">
                <a:solidFill>
                  <a:schemeClr val="tx1"/>
                </a:solidFill>
              </a:rPr>
              <a:t> 常见距离公式 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11" name="文本占位符 2"/>
          <p:cNvSpPr txBox="1"/>
          <p:nvPr/>
        </p:nvSpPr>
        <p:spPr>
          <a:xfrm>
            <a:off x="999369" y="1395844"/>
            <a:ext cx="6797094" cy="1289905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闵可夫斯基距离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</a:t>
            </a:r>
            <a:r>
              <a:rPr kumimoji="0" lang="en-US" altLang="zh-CN" i="0" u="none" strike="noStrike" kern="1200" cap="none" spc="0" normalizeH="0" baseline="0" noProof="0" dirty="0" err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Minkowski</a:t>
            </a:r>
            <a:r>
              <a:rPr kumimoji="0" lang="en-US" altLang="zh-CN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Distance</a:t>
            </a:r>
            <a:r>
              <a:rPr kumimoji="0" lang="zh-CN" altLang="en-US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</a:t>
            </a:r>
            <a:r>
              <a:rPr kumimoji="0" lang="zh-CN" altLang="en-US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闵</a:t>
            </a:r>
            <a:r>
              <a:rPr lang="zh-CN" altLang="en-US" dirty="0">
                <a:solidFill>
                  <a:schemeClr val="accent2">
                    <a:lumMod val="7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氏距离</a:t>
            </a:r>
            <a:endParaRPr lang="en-US" altLang="zh-CN" dirty="0">
              <a:solidFill>
                <a:schemeClr val="accent2">
                  <a:lumMod val="7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12763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不是一种新的距离的度量方式。</a:t>
            </a:r>
            <a:endParaRPr lang="zh-CN" altLang="en-US" sz="1600" b="0" dirty="0">
              <a:solidFill>
                <a:schemeClr val="accent2">
                  <a:lumMod val="7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12763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是对多个距离度量公式的概括性的表述</a:t>
            </a:r>
            <a:endParaRPr lang="en-US" altLang="zh-CN" dirty="0">
              <a:solidFill>
                <a:prstClr val="black">
                  <a:lumMod val="85000"/>
                  <a:lumOff val="15000"/>
                </a:prst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12763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kumimoji="0" lang="en-US" altLang="zh-CN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graphicFrame>
        <p:nvGraphicFramePr>
          <p:cNvPr id="12" name="对象 6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1452880" y="4415790"/>
          <a:ext cx="3411220" cy="12719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9" name="" r:id="rId1" imgW="1295400" imgH="482600" progId="Equation.KSEE3">
                  <p:embed/>
                </p:oleObj>
              </mc:Choice>
              <mc:Fallback>
                <p:oleObj name="" r:id="rId1" imgW="1295400" imgH="482600" progId="Equation.KSEE3">
                  <p:embed/>
                  <p:pic>
                    <p:nvPicPr>
                      <p:cNvPr id="0" name="对象 6">
                        <a:hlinkClick r:id="" action="ppaction://ole?verb=0"/>
                      </p:cNvPr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452880" y="4415790"/>
                        <a:ext cx="3411220" cy="127190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文本占位符 2"/>
          <p:cNvSpPr txBox="1"/>
          <p:nvPr/>
        </p:nvSpPr>
        <p:spPr>
          <a:xfrm>
            <a:off x="901700" y="2865120"/>
            <a:ext cx="7001510" cy="956310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两个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n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维变量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a(x11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,x12,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…,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x1n)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与 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b(x21,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x22,…,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x2n)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defRPr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   间的闵可夫斯基距离定义为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5256996" y="4340061"/>
            <a:ext cx="4492969" cy="1677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其中</a:t>
            </a:r>
            <a:r>
              <a:rPr lang="en-GB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p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是一个变参数：</a:t>
            </a:r>
            <a:endParaRPr lang="zh-CN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    当 </a:t>
            </a:r>
            <a:r>
              <a:rPr lang="en-GB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p=1 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时，就是曼哈顿距离；</a:t>
            </a:r>
            <a:endParaRPr lang="zh-CN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    当 </a:t>
            </a:r>
            <a:r>
              <a:rPr lang="en-GB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p=2 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时，就是欧氏距离；</a:t>
            </a:r>
            <a:endParaRPr lang="zh-CN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    当 </a:t>
            </a:r>
            <a:r>
              <a:rPr lang="en-GB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p→∞ 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时，就是切比雪夫距离</a:t>
            </a: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accent2">
                    <a:lumMod val="7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根据 </a:t>
            </a:r>
            <a:r>
              <a:rPr lang="en-GB" altLang="zh-CN" sz="1400" dirty="0">
                <a:solidFill>
                  <a:schemeClr val="accent2">
                    <a:lumMod val="7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p </a:t>
            </a:r>
            <a:r>
              <a:rPr lang="zh-CN" altLang="en-US" sz="1400" dirty="0">
                <a:solidFill>
                  <a:schemeClr val="accent2">
                    <a:lumMod val="7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的不同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，闵氏距离可表示某一类种的距离</a:t>
            </a:r>
            <a:endParaRPr lang="zh-CN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 descr="01 (82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05900" y="5174812"/>
            <a:ext cx="1481455" cy="148145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2320729" y="1910932"/>
            <a:ext cx="6299200" cy="7372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400" dirty="0">
                <a:solidFill>
                  <a:prstClr val="black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对于</a:t>
            </a:r>
            <a:r>
              <a:rPr lang="en-US" altLang="zh-CN" sz="1400" dirty="0">
                <a:solidFill>
                  <a:prstClr val="black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n</a:t>
            </a:r>
            <a:r>
              <a:rPr lang="zh-CN" altLang="en-US" sz="1400" dirty="0">
                <a:solidFill>
                  <a:prstClr val="black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维空间中的两个点 </a:t>
            </a:r>
            <a:r>
              <a:rPr lang="en-US" altLang="zh-CN" sz="1400" dirty="0">
                <a:solidFill>
                  <a:prstClr val="black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a(x</a:t>
            </a:r>
            <a:r>
              <a:rPr lang="en-US" altLang="zh-CN" sz="1400" baseline="-25000" dirty="0">
                <a:solidFill>
                  <a:prstClr val="black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11</a:t>
            </a:r>
            <a:r>
              <a:rPr lang="en-US" altLang="zh-CN" sz="1400" dirty="0">
                <a:solidFill>
                  <a:prstClr val="black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, x</a:t>
            </a:r>
            <a:r>
              <a:rPr lang="en-US" altLang="zh-CN" sz="1400" baseline="-25000" dirty="0">
                <a:solidFill>
                  <a:prstClr val="black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12</a:t>
            </a:r>
            <a:r>
              <a:rPr lang="en-US" altLang="zh-CN" sz="1400" dirty="0">
                <a:solidFill>
                  <a:prstClr val="black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, …, x</a:t>
            </a:r>
            <a:r>
              <a:rPr lang="en-US" altLang="zh-CN" sz="1400" baseline="-25000" dirty="0">
                <a:solidFill>
                  <a:prstClr val="black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1n</a:t>
            </a:r>
            <a:r>
              <a:rPr lang="en-US" altLang="zh-CN" sz="1400" dirty="0">
                <a:solidFill>
                  <a:prstClr val="black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) </a:t>
            </a:r>
            <a:r>
              <a:rPr lang="zh-CN" altLang="en-US" sz="1400" dirty="0">
                <a:solidFill>
                  <a:prstClr val="black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和 </a:t>
            </a:r>
            <a:r>
              <a:rPr lang="en-US" altLang="zh-CN" sz="1400" dirty="0">
                <a:solidFill>
                  <a:prstClr val="black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b(x</a:t>
            </a:r>
            <a:r>
              <a:rPr lang="en-US" altLang="zh-CN" sz="1400" baseline="-25000" dirty="0">
                <a:solidFill>
                  <a:prstClr val="black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21</a:t>
            </a:r>
            <a:r>
              <a:rPr lang="en-US" altLang="zh-CN" sz="1400" dirty="0">
                <a:solidFill>
                  <a:prstClr val="black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, x</a:t>
            </a:r>
            <a:r>
              <a:rPr lang="en-US" altLang="zh-CN" sz="1400" baseline="-25000" dirty="0">
                <a:solidFill>
                  <a:prstClr val="black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22</a:t>
            </a:r>
            <a:r>
              <a:rPr lang="en-US" altLang="zh-CN" sz="1400" dirty="0">
                <a:solidFill>
                  <a:prstClr val="black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, …, x</a:t>
            </a:r>
            <a:r>
              <a:rPr lang="en-US" altLang="zh-CN" sz="1400" baseline="-25000" dirty="0">
                <a:solidFill>
                  <a:prstClr val="black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2n</a:t>
            </a:r>
            <a:r>
              <a:rPr lang="en-US" altLang="zh-CN" sz="1400" dirty="0">
                <a:solidFill>
                  <a:prstClr val="black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) </a:t>
            </a:r>
            <a:r>
              <a:rPr lang="zh-CN" altLang="en-US" sz="1400" dirty="0">
                <a:solidFill>
                  <a:prstClr val="black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来说，</a:t>
            </a:r>
            <a:endParaRPr lang="en-US" altLang="zh-CN" sz="1400" dirty="0">
              <a:solidFill>
                <a:prstClr val="black"/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400" dirty="0">
                <a:solidFill>
                  <a:prstClr val="black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</a:t>
            </a:r>
            <a:r>
              <a:rPr lang="zh-CN" altLang="en-US" sz="1400" dirty="0">
                <a:solidFill>
                  <a:prstClr val="black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下列哪个公式是闵可夫斯基距离的一般表达式？</a:t>
            </a:r>
            <a:endParaRPr lang="zh-CN" altLang="en-US" sz="1400" dirty="0">
              <a:solidFill>
                <a:prstClr val="black"/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3" name="矩形: 圆角 7"/>
          <p:cNvSpPr/>
          <p:nvPr/>
        </p:nvSpPr>
        <p:spPr>
          <a:xfrm>
            <a:off x="2539183" y="3082377"/>
            <a:ext cx="573711" cy="45234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A</a:t>
            </a:r>
            <a:r>
              <a:rPr lang="zh-CN" altLang="en-US" sz="140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：</a:t>
            </a:r>
            <a:endParaRPr lang="zh-CN" altLang="en-US" sz="1400" dirty="0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6850" y="2928318"/>
            <a:ext cx="1515680" cy="750970"/>
          </a:xfrm>
          <a:prstGeom prst="rect">
            <a:avLst/>
          </a:prstGeom>
        </p:spPr>
      </p:pic>
      <p:sp>
        <p:nvSpPr>
          <p:cNvPr id="8" name="矩形: 圆角 9"/>
          <p:cNvSpPr/>
          <p:nvPr/>
        </p:nvSpPr>
        <p:spPr>
          <a:xfrm>
            <a:off x="2539183" y="4173701"/>
            <a:ext cx="573711" cy="45234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B</a:t>
            </a:r>
            <a:r>
              <a:rPr lang="zh-CN" altLang="en-US" sz="140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：</a:t>
            </a:r>
            <a:endParaRPr lang="zh-CN" altLang="en-US" sz="1400" dirty="0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8080" y="4058782"/>
            <a:ext cx="1515680" cy="682182"/>
          </a:xfrm>
          <a:prstGeom prst="rect">
            <a:avLst/>
          </a:prstGeom>
        </p:spPr>
      </p:pic>
      <p:sp>
        <p:nvSpPr>
          <p:cNvPr id="10" name="矩形: 圆角 11"/>
          <p:cNvSpPr/>
          <p:nvPr/>
        </p:nvSpPr>
        <p:spPr>
          <a:xfrm>
            <a:off x="5778368" y="3071570"/>
            <a:ext cx="571335" cy="46446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C</a:t>
            </a:r>
            <a:r>
              <a:rPr lang="zh-CN" altLang="en-US" sz="140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：</a:t>
            </a:r>
            <a:endParaRPr lang="zh-CN" altLang="en-US" sz="1400" dirty="0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2464" y="3082377"/>
            <a:ext cx="1656184" cy="452343"/>
          </a:xfrm>
          <a:prstGeom prst="rect">
            <a:avLst/>
          </a:prstGeom>
        </p:spPr>
      </p:pic>
      <p:sp>
        <p:nvSpPr>
          <p:cNvPr id="12" name="矩形: 圆角 17"/>
          <p:cNvSpPr/>
          <p:nvPr/>
        </p:nvSpPr>
        <p:spPr>
          <a:xfrm>
            <a:off x="5778368" y="4173701"/>
            <a:ext cx="573711" cy="45234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D</a:t>
            </a:r>
            <a:r>
              <a:rPr lang="zh-CN" altLang="en-US" sz="140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：</a:t>
            </a:r>
            <a:endParaRPr lang="zh-CN" altLang="en-US" sz="1400" dirty="0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98894" y="4082297"/>
            <a:ext cx="1743323" cy="637567"/>
          </a:xfrm>
          <a:prstGeom prst="rect">
            <a:avLst/>
          </a:prstGeom>
        </p:spPr>
      </p:pic>
      <p:sp>
        <p:nvSpPr>
          <p:cNvPr id="15" name="文本框 14"/>
          <p:cNvSpPr txBox="1"/>
          <p:nvPr/>
        </p:nvSpPr>
        <p:spPr>
          <a:xfrm>
            <a:off x="2720384" y="5100885"/>
            <a:ext cx="467147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400" dirty="0">
                <a:solidFill>
                  <a:schemeClr val="accent2">
                    <a:lumMod val="7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其中</a:t>
            </a:r>
            <a:r>
              <a:rPr lang="en-US" altLang="zh-CN" sz="1400" dirty="0">
                <a:solidFill>
                  <a:schemeClr val="accent2">
                    <a:lumMod val="7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A</a:t>
            </a:r>
            <a:r>
              <a:rPr lang="zh-CN" altLang="en-US" sz="1400" dirty="0">
                <a:solidFill>
                  <a:schemeClr val="accent2">
                    <a:lumMod val="7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是</a:t>
            </a:r>
            <a:r>
              <a:rPr lang="en-US" altLang="zh-CN" sz="1400" dirty="0">
                <a:solidFill>
                  <a:schemeClr val="accent2">
                    <a:lumMod val="7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Boston</a:t>
            </a:r>
            <a:r>
              <a:rPr lang="zh-CN" altLang="en-US" sz="1400" dirty="0">
                <a:solidFill>
                  <a:schemeClr val="accent2">
                    <a:lumMod val="7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距离，</a:t>
            </a:r>
            <a:r>
              <a:rPr lang="en-US" altLang="zh-CN" sz="1400" dirty="0">
                <a:solidFill>
                  <a:schemeClr val="accent2">
                    <a:lumMod val="7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B</a:t>
            </a:r>
            <a:r>
              <a:rPr lang="zh-CN" altLang="en-US" sz="1400" dirty="0">
                <a:solidFill>
                  <a:schemeClr val="accent2">
                    <a:lumMod val="7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是欧氏距离，</a:t>
            </a:r>
            <a:r>
              <a:rPr lang="en-US" altLang="zh-CN" sz="1400" dirty="0">
                <a:solidFill>
                  <a:schemeClr val="accent2">
                    <a:lumMod val="7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C</a:t>
            </a:r>
            <a:r>
              <a:rPr lang="zh-CN" altLang="en-US" sz="1400" dirty="0">
                <a:solidFill>
                  <a:schemeClr val="accent2">
                    <a:lumMod val="7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是切比雪夫距离。</a:t>
            </a:r>
            <a:endParaRPr lang="zh-CN" altLang="en-US" sz="1400" dirty="0">
              <a:solidFill>
                <a:schemeClr val="accent2">
                  <a:lumMod val="7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7523257" y="5113852"/>
            <a:ext cx="119455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400" dirty="0">
                <a:solidFill>
                  <a:schemeClr val="accent2">
                    <a:lumMod val="7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正确答案：</a:t>
            </a:r>
            <a:r>
              <a:rPr lang="en-US" altLang="zh-CN" sz="1400" dirty="0">
                <a:solidFill>
                  <a:schemeClr val="accent2">
                    <a:lumMod val="7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D</a:t>
            </a:r>
            <a:endParaRPr lang="zh-CN" altLang="en-US" sz="1400" dirty="0">
              <a:solidFill>
                <a:schemeClr val="accent2">
                  <a:lumMod val="7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4888728" y="795460"/>
            <a:ext cx="6104167" cy="5545050"/>
          </a:xfrm>
        </p:spPr>
        <p:txBody>
          <a:bodyPr/>
          <a:lstStyle/>
          <a:p>
            <a:r>
              <a:rPr lang="en-US" altLang="zh-CN" dirty="0">
                <a:solidFill>
                  <a:schemeClr val="tx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KNN</a:t>
            </a:r>
            <a:r>
              <a:rPr lang="zh-CN" altLang="en-US" dirty="0">
                <a:solidFill>
                  <a:schemeClr val="tx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算法简介</a:t>
            </a:r>
            <a:endParaRPr lang="en-US" altLang="zh-CN" dirty="0">
              <a:solidFill>
                <a:schemeClr val="tx1"/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lvl="1"/>
            <a:r>
              <a:rPr lang="en-US" altLang="zh-CN" sz="1600" b="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KNN</a:t>
            </a:r>
            <a:r>
              <a:rPr lang="zh-CN" altLang="en-US" sz="1600" b="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思想、分类和回归问题处理流程</a:t>
            </a:r>
            <a:endParaRPr lang="en-US" altLang="zh-CN" sz="1600" b="0" dirty="0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r>
              <a:rPr lang="en-US" altLang="zh-CN" dirty="0">
                <a:solidFill>
                  <a:schemeClr val="tx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KNN</a:t>
            </a:r>
            <a:r>
              <a:rPr lang="zh-CN" altLang="en-US" dirty="0">
                <a:solidFill>
                  <a:schemeClr val="tx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算法</a:t>
            </a:r>
            <a:r>
              <a:rPr lang="en-US" altLang="zh-CN" dirty="0">
                <a:solidFill>
                  <a:schemeClr val="tx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API</a:t>
            </a:r>
            <a:r>
              <a:rPr lang="zh-CN" altLang="en-US" dirty="0">
                <a:solidFill>
                  <a:schemeClr val="tx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介绍</a:t>
            </a:r>
            <a:endParaRPr lang="en-US" altLang="zh-CN" dirty="0">
              <a:solidFill>
                <a:schemeClr val="tx1"/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lvl="1"/>
            <a:r>
              <a:rPr kumimoji="1" lang="zh-CN" altLang="en-US" sz="1600" b="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分类、回归实现</a:t>
            </a:r>
            <a:endParaRPr kumimoji="1" lang="en-US" altLang="zh-CN" sz="1600" b="0" dirty="0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r>
              <a:rPr kumimoji="1" lang="zh-CN" altLang="en-US" dirty="0">
                <a:solidFill>
                  <a:schemeClr val="tx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距离度量</a:t>
            </a:r>
            <a:endParaRPr kumimoji="1" lang="en-US" altLang="zh-CN" dirty="0">
              <a:solidFill>
                <a:schemeClr val="tx1"/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lvl="1"/>
            <a:r>
              <a:rPr kumimoji="1" lang="zh-CN" altLang="en-US" sz="1600" b="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常用距离计算方法</a:t>
            </a:r>
            <a:endParaRPr kumimoji="1" lang="zh-CN" altLang="en-US" sz="1600" b="0" dirty="0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r>
              <a:rPr kumimoji="1" lang="zh-CN" altLang="en-US" dirty="0">
                <a:solidFill>
                  <a:srgbClr val="C00000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特征预处理</a:t>
            </a:r>
            <a:endParaRPr kumimoji="1" lang="en-US" altLang="zh-CN" dirty="0">
              <a:solidFill>
                <a:srgbClr val="C00000"/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lvl="1"/>
            <a:r>
              <a:rPr kumimoji="1" lang="zh-CN" altLang="en-US" sz="1600" b="0" dirty="0">
                <a:solidFill>
                  <a:srgbClr val="C00000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归一化、标准化、鸢尾花识别案例</a:t>
            </a:r>
            <a:endParaRPr kumimoji="1" lang="en-US" altLang="zh-CN" sz="1600" b="0" dirty="0">
              <a:solidFill>
                <a:srgbClr val="C00000"/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超参数选择方法</a:t>
            </a:r>
            <a:endParaRPr kumimoji="1" lang="en-US" altLang="zh-CN" dirty="0">
              <a:solidFill>
                <a:schemeClr val="tx1">
                  <a:lumMod val="85000"/>
                  <a:lumOff val="1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lvl="1"/>
            <a:r>
              <a:rPr kumimoji="1" lang="zh-CN" altLang="en-US" sz="16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交叉验证、网格搜索、手写数字识别案例</a:t>
            </a:r>
            <a:endParaRPr lang="en-US" altLang="zh-CN" sz="1600" b="0" dirty="0">
              <a:solidFill>
                <a:schemeClr val="tx1">
                  <a:lumMod val="85000"/>
                  <a:lumOff val="1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>
          <a:xfrm>
            <a:off x="4650141" y="541000"/>
            <a:ext cx="6298881" cy="4855845"/>
          </a:xfrm>
        </p:spPr>
        <p:txBody>
          <a:bodyPr/>
          <a:lstStyle/>
          <a:p>
            <a:r>
              <a:rPr lang="zh-CN" altLang="en-US" dirty="0">
                <a:solidFill>
                  <a:schemeClr val="tx1"/>
                </a:solidFill>
              </a:rPr>
              <a:t>知道为什么进行归一化、标准化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zh-CN" altLang="en-US" dirty="0">
                <a:solidFill>
                  <a:schemeClr val="tx1"/>
                </a:solidFill>
              </a:rPr>
              <a:t>能应用归一化</a:t>
            </a:r>
            <a:r>
              <a:rPr lang="en-US" altLang="zh-CN" dirty="0">
                <a:solidFill>
                  <a:schemeClr val="tx1"/>
                </a:solidFill>
              </a:rPr>
              <a:t>API</a:t>
            </a:r>
            <a:r>
              <a:rPr lang="zh-CN" altLang="en-US" dirty="0">
                <a:solidFill>
                  <a:schemeClr val="tx1"/>
                </a:solidFill>
              </a:rPr>
              <a:t>处理数据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zh-CN" altLang="en-US" dirty="0">
                <a:solidFill>
                  <a:schemeClr val="tx1"/>
                </a:solidFill>
              </a:rPr>
              <a:t>能应用标准化</a:t>
            </a:r>
            <a:r>
              <a:rPr lang="en-US" altLang="zh-CN" dirty="0">
                <a:solidFill>
                  <a:schemeClr val="tx1"/>
                </a:solidFill>
              </a:rPr>
              <a:t>API</a:t>
            </a:r>
            <a:r>
              <a:rPr lang="zh-CN" altLang="en-US" dirty="0">
                <a:solidFill>
                  <a:schemeClr val="tx1"/>
                </a:solidFill>
              </a:rPr>
              <a:t>处理数据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zh-CN" altLang="en-US" dirty="0">
                <a:solidFill>
                  <a:schemeClr val="tx1"/>
                </a:solidFill>
              </a:rPr>
              <a:t>使用</a:t>
            </a:r>
            <a:r>
              <a:rPr lang="en-US" altLang="zh-CN" dirty="0">
                <a:solidFill>
                  <a:schemeClr val="tx1"/>
                </a:solidFill>
              </a:rPr>
              <a:t>KNN</a:t>
            </a:r>
            <a:r>
              <a:rPr lang="zh-CN" altLang="en-US" dirty="0">
                <a:solidFill>
                  <a:schemeClr val="tx1"/>
                </a:solidFill>
              </a:rPr>
              <a:t>算法进行鸢尾花分类</a:t>
            </a:r>
            <a:endParaRPr lang="en-US" altLang="zh-CN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10880" y="839979"/>
            <a:ext cx="8364294" cy="517190"/>
          </a:xfrm>
        </p:spPr>
        <p:txBody>
          <a:bodyPr/>
          <a:lstStyle/>
          <a:p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特征预处理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4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841504" y="1292883"/>
            <a:ext cx="6650677" cy="499578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b="0" i="0" dirty="0">
                <a:effectLst/>
                <a:latin typeface="Roboto" panose="02000000000000000000" pitchFamily="2" charset="0"/>
              </a:rPr>
              <a:t>为什么做归一化和标准化</a:t>
            </a:r>
            <a:r>
              <a:rPr lang="zh-CN" altLang="en-US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</a:t>
            </a:r>
            <a:r>
              <a:rPr lang="en-US" altLang="zh-CN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?</a:t>
            </a:r>
            <a:endParaRPr lang="en-US" altLang="zh-CN" dirty="0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2" name="文本框 2"/>
          <p:cNvSpPr txBox="1"/>
          <p:nvPr/>
        </p:nvSpPr>
        <p:spPr>
          <a:xfrm flipH="1">
            <a:off x="1616056" y="1781058"/>
            <a:ext cx="7980118" cy="704039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400" b="0" i="0" u="none" strike="noStrike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特征的</a:t>
            </a:r>
            <a:r>
              <a:rPr lang="zh-CN" altLang="en-US" sz="1400" b="1" i="0" u="none" strike="noStrike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单位或者大小相差较大，或者某特征的方差相比其他的特征要大出几个数量级</a:t>
            </a:r>
            <a:r>
              <a:rPr lang="zh-CN" altLang="en-US" sz="1400" b="0" i="0" u="none" strike="noStrike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，</a:t>
            </a:r>
            <a:r>
              <a:rPr lang="zh-CN" altLang="en-US" sz="1400" b="1" i="0" u="none" strike="noStrike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容易影响（支配）目标结果</a:t>
            </a:r>
            <a:r>
              <a:rPr lang="zh-CN" altLang="en-US" sz="1400" b="0" i="0" u="none" strike="noStrike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，使得一些模型（算法）无法学习到其它的特征。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graphicFrame>
        <p:nvGraphicFramePr>
          <p:cNvPr id="5" name="表格 4"/>
          <p:cNvGraphicFramePr/>
          <p:nvPr>
            <p:custDataLst>
              <p:tags r:id="rId1"/>
            </p:custDataLst>
          </p:nvPr>
        </p:nvGraphicFramePr>
        <p:xfrm>
          <a:off x="2430551" y="2797528"/>
          <a:ext cx="5350444" cy="26460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0305"/>
                <a:gridCol w="962700"/>
                <a:gridCol w="916763"/>
                <a:gridCol w="1168953"/>
                <a:gridCol w="1591723"/>
              </a:tblGrid>
              <a:tr h="398454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1400" b="0" dirty="0">
                          <a:solidFill>
                            <a:schemeClr val="bg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</a:rPr>
                        <a:t>编</a:t>
                      </a:r>
                      <a:endParaRPr lang="en-US" altLang="zh-CN" sz="1400" b="0" dirty="0">
                        <a:solidFill>
                          <a:schemeClr val="bg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</a:endParaRPr>
                    </a:p>
                    <a:p>
                      <a:pPr indent="0" algn="ctr">
                        <a:buNone/>
                      </a:pPr>
                      <a:r>
                        <a:rPr lang="zh-CN" altLang="en-US" sz="1400" b="0" dirty="0">
                          <a:solidFill>
                            <a:schemeClr val="bg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</a:rPr>
                        <a:t>号</a:t>
                      </a:r>
                      <a:endParaRPr lang="en-US" altLang="zh-CN" sz="1400" b="0" dirty="0">
                        <a:solidFill>
                          <a:schemeClr val="bg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1400" b="0" dirty="0">
                          <a:solidFill>
                            <a:schemeClr val="bg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</a:rPr>
                        <a:t>身高</a:t>
                      </a:r>
                      <a:endParaRPr lang="en-US" altLang="zh-CN" sz="1400" b="0" dirty="0">
                        <a:solidFill>
                          <a:schemeClr val="bg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</a:endParaRPr>
                    </a:p>
                    <a:p>
                      <a:pPr indent="0" algn="ctr">
                        <a:buNone/>
                      </a:pPr>
                      <a:r>
                        <a:rPr lang="en-US" altLang="zh-CN" sz="1400" b="0" dirty="0">
                          <a:solidFill>
                            <a:schemeClr val="bg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</a:rPr>
                        <a:t>m</a:t>
                      </a:r>
                      <a:endParaRPr lang="zh-CN" altLang="en-US" sz="1400" b="0" dirty="0">
                        <a:solidFill>
                          <a:schemeClr val="bg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1400" b="0" dirty="0">
                          <a:solidFill>
                            <a:schemeClr val="bg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</a:rPr>
                        <a:t>体重</a:t>
                      </a:r>
                      <a:endParaRPr lang="en-US" altLang="zh-CN" sz="1400" b="0" dirty="0">
                        <a:solidFill>
                          <a:schemeClr val="bg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</a:endParaRPr>
                    </a:p>
                    <a:p>
                      <a:pPr indent="0" algn="ctr">
                        <a:buNone/>
                      </a:pPr>
                      <a:r>
                        <a:rPr lang="en-US" altLang="zh-CN" sz="1400" b="0" dirty="0">
                          <a:solidFill>
                            <a:schemeClr val="bg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</a:rPr>
                        <a:t>kg</a:t>
                      </a:r>
                      <a:endParaRPr lang="en-US" altLang="zh-CN" sz="1400" b="0" dirty="0">
                        <a:solidFill>
                          <a:schemeClr val="bg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1400" b="0" dirty="0">
                          <a:solidFill>
                            <a:schemeClr val="bg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</a:rPr>
                        <a:t>视力</a:t>
                      </a:r>
                      <a:endParaRPr lang="en-US" altLang="zh-CN" sz="1400" b="0" dirty="0">
                        <a:solidFill>
                          <a:schemeClr val="bg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</a:endParaRPr>
                    </a:p>
                    <a:p>
                      <a:pPr indent="0" algn="ctr">
                        <a:buNone/>
                      </a:pPr>
                      <a:r>
                        <a:rPr lang="en-US" altLang="zh-CN" sz="1400" b="0" dirty="0">
                          <a:solidFill>
                            <a:schemeClr val="bg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</a:rPr>
                        <a:t>0.2-2.0</a:t>
                      </a:r>
                      <a:endParaRPr lang="zh-CN" altLang="en-US" sz="1400" b="0" dirty="0">
                        <a:solidFill>
                          <a:schemeClr val="bg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1400" b="0" dirty="0">
                          <a:solidFill>
                            <a:schemeClr val="bg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</a:rPr>
                        <a:t>健康</a:t>
                      </a:r>
                      <a:endParaRPr lang="en-US" altLang="zh-CN" sz="1400" b="0" dirty="0">
                        <a:solidFill>
                          <a:schemeClr val="bg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</a:endParaRPr>
                    </a:p>
                    <a:p>
                      <a:pPr indent="0" algn="ctr">
                        <a:buNone/>
                      </a:pPr>
                      <a:r>
                        <a:rPr lang="zh-CN" altLang="en-US" sz="1400" b="0" dirty="0">
                          <a:solidFill>
                            <a:schemeClr val="bg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</a:rPr>
                        <a:t>状况</a:t>
                      </a:r>
                      <a:endParaRPr lang="en-US" altLang="zh-CN" sz="1400" b="0" dirty="0">
                        <a:solidFill>
                          <a:schemeClr val="bg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</a:tr>
              <a:tr h="332081"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1</a:t>
                      </a:r>
                      <a:endParaRPr lang="zh-CN" sz="1400" b="0" dirty="0">
                        <a:solidFill>
                          <a:schemeClr val="tx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1219200" rtl="0" eaLnBrk="1" latinLnBrk="0" hangingPunct="1">
                        <a:buClrTx/>
                        <a:buSzTx/>
                        <a:buFontTx/>
                        <a:buNone/>
                      </a:pPr>
                      <a:r>
                        <a:rPr lang="en-US" altLang="zh-CN" sz="1400" b="0" kern="1200" dirty="0">
                          <a:solidFill>
                            <a:schemeClr val="tx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1.70</a:t>
                      </a:r>
                      <a:endParaRPr lang="zh-CN" altLang="en-US" sz="1400" b="0" kern="1200" dirty="0">
                        <a:solidFill>
                          <a:schemeClr val="tx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1219200" rtl="0" eaLnBrk="1" latinLnBrk="0" hangingPunct="1">
                        <a:buClrTx/>
                        <a:buSzTx/>
                        <a:buFontTx/>
                        <a:buNone/>
                      </a:pPr>
                      <a:r>
                        <a:rPr lang="en-US" altLang="zh-CN" sz="1400" b="0" kern="1200" dirty="0">
                          <a:solidFill>
                            <a:schemeClr val="tx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 67</a:t>
                      </a:r>
                      <a:endParaRPr lang="zh-CN" altLang="en-US" sz="1400" b="0" kern="1200" dirty="0">
                        <a:solidFill>
                          <a:schemeClr val="tx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1219200" rtl="0" eaLnBrk="1" latinLnBrk="0" hangingPunct="1">
                        <a:buClrTx/>
                        <a:buSzTx/>
                        <a:buFontTx/>
                        <a:buNone/>
                      </a:pPr>
                      <a:r>
                        <a:rPr lang="en-US" altLang="zh-CN" sz="1400" b="0" kern="1200" dirty="0">
                          <a:solidFill>
                            <a:schemeClr val="tx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 1.5</a:t>
                      </a:r>
                      <a:endParaRPr lang="zh-CN" altLang="en-US" sz="1400" b="0" kern="1200" dirty="0">
                        <a:solidFill>
                          <a:schemeClr val="tx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1219200" rtl="0" eaLnBrk="1" latinLnBrk="0" hangingPunct="1">
                        <a:buClrTx/>
                        <a:buSzTx/>
                        <a:buFontTx/>
                        <a:buNone/>
                      </a:pPr>
                      <a:r>
                        <a:rPr lang="en-US" altLang="zh-CN" sz="1400" b="0" kern="1200" dirty="0">
                          <a:solidFill>
                            <a:schemeClr val="tx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1</a:t>
                      </a:r>
                      <a:endParaRPr lang="zh-CN" altLang="en-US" sz="1400" b="0" kern="1200" dirty="0">
                        <a:solidFill>
                          <a:schemeClr val="tx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8644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2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1.71</a:t>
                      </a:r>
                      <a:endParaRPr lang="zh-CN" sz="1400" b="0" dirty="0">
                        <a:solidFill>
                          <a:schemeClr val="tx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80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0.8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2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8644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3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1.75</a:t>
                      </a:r>
                      <a:endParaRPr lang="zh-CN" sz="1400" b="0" dirty="0">
                        <a:solidFill>
                          <a:schemeClr val="tx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</a:rPr>
                        <a:t>70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1.5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1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8644">
                <a:tc>
                  <a:txBody>
                    <a:bodyPr/>
                    <a:lstStyle/>
                    <a:p>
                      <a:pPr marL="0" marR="0" lvl="0" indent="0" algn="ctr" defTabSz="1219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4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1.76</a:t>
                      </a:r>
                      <a:endParaRPr lang="zh-CN" sz="1400" b="0" dirty="0">
                        <a:solidFill>
                          <a:schemeClr val="tx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</a:rPr>
                        <a:t>68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1.2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1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8644">
                <a:tc>
                  <a:txBody>
                    <a:bodyPr/>
                    <a:lstStyle/>
                    <a:p>
                      <a:pPr marL="0" marR="0" lvl="0" indent="0" algn="ctr" defTabSz="1219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5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1.80</a:t>
                      </a:r>
                      <a:endParaRPr lang="zh-CN" sz="1400" b="0" dirty="0">
                        <a:solidFill>
                          <a:schemeClr val="tx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</a:rPr>
                        <a:t>80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1.8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1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8644">
                <a:tc>
                  <a:txBody>
                    <a:bodyPr/>
                    <a:lstStyle/>
                    <a:p>
                      <a:pPr marL="0" marR="0" lvl="0" indent="0" algn="ctr" defTabSz="1219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6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1.81</a:t>
                      </a:r>
                      <a:endParaRPr lang="zh-CN" sz="1400" b="0" dirty="0">
                        <a:solidFill>
                          <a:schemeClr val="tx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</a:rPr>
                        <a:t>90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0.6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2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8644">
                <a:tc gridSpan="5">
                  <a:txBody>
                    <a:bodyPr/>
                    <a:lstStyle/>
                    <a:p>
                      <a:pPr marL="0" marR="0" lvl="0" indent="0" algn="ctr" defTabSz="1219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b="0" dirty="0">
                          <a:solidFill>
                            <a:schemeClr val="tx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男子身高体重视力与健康关系表 健康为</a:t>
                      </a: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1 </a:t>
                      </a:r>
                      <a:r>
                        <a:rPr lang="zh-CN" altLang="en-US" sz="1400" b="0" dirty="0">
                          <a:solidFill>
                            <a:schemeClr val="tx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不健康为</a:t>
                      </a: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2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10880" y="839979"/>
            <a:ext cx="8364294" cy="517190"/>
          </a:xfrm>
        </p:spPr>
        <p:txBody>
          <a:bodyPr/>
          <a:lstStyle/>
          <a:p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特征预处理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4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678702" y="1326810"/>
            <a:ext cx="8364294" cy="490416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>
                <a:latin typeface="Roboto" panose="02000000000000000000" pitchFamily="2" charset="0"/>
                <a:ea typeface="Alibaba PuHuiTi" pitchFamily="18" charset="-122"/>
                <a:cs typeface="Alibaba PuHuiTi" pitchFamily="18" charset="-122"/>
              </a:rPr>
              <a:t>归一化：</a:t>
            </a:r>
            <a:r>
              <a:rPr lang="zh-CN" altLang="en-US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通过对原始数据进行变换</a:t>
            </a:r>
            <a:r>
              <a:rPr lang="zh-CN" altLang="en-US" dirty="0">
                <a:solidFill>
                  <a:schemeClr val="accent2">
                    <a:lumMod val="7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把数据映射到</a:t>
            </a:r>
            <a:r>
              <a:rPr lang="en-US" altLang="zh-CN" dirty="0">
                <a:solidFill>
                  <a:schemeClr val="accent2">
                    <a:lumMod val="7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【</a:t>
            </a:r>
            <a:r>
              <a:rPr lang="en-US" altLang="zh-CN" dirty="0" err="1">
                <a:solidFill>
                  <a:schemeClr val="accent2">
                    <a:lumMod val="7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mi,mx</a:t>
            </a:r>
            <a:r>
              <a:rPr lang="en-US" altLang="zh-CN" dirty="0">
                <a:solidFill>
                  <a:schemeClr val="accent2">
                    <a:lumMod val="7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】(</a:t>
            </a:r>
            <a:r>
              <a:rPr lang="zh-CN" altLang="en-US" dirty="0">
                <a:solidFill>
                  <a:schemeClr val="accent2">
                    <a:lumMod val="7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默认为</a:t>
            </a:r>
            <a:r>
              <a:rPr lang="en-US" altLang="zh-CN" dirty="0">
                <a:solidFill>
                  <a:schemeClr val="accent2">
                    <a:lumMod val="7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[0,1])</a:t>
            </a:r>
            <a:r>
              <a:rPr lang="zh-CN" altLang="en-US" dirty="0">
                <a:solidFill>
                  <a:schemeClr val="accent2">
                    <a:lumMod val="7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之间</a:t>
            </a:r>
            <a:endParaRPr lang="en-US" altLang="zh-CN" dirty="0">
              <a:solidFill>
                <a:schemeClr val="accent2">
                  <a:lumMod val="7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6055" y="1857595"/>
            <a:ext cx="1887795" cy="612596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3911" y="1972315"/>
            <a:ext cx="2876550" cy="54610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1234" y="3163920"/>
            <a:ext cx="2464897" cy="1223890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6243" y="2938951"/>
            <a:ext cx="2733136" cy="1611270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7852" y="4587427"/>
            <a:ext cx="2509918" cy="409457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79492" y="3014373"/>
            <a:ext cx="2930395" cy="1460425"/>
          </a:xfrm>
          <a:prstGeom prst="rect">
            <a:avLst/>
          </a:prstGeom>
        </p:spPr>
      </p:pic>
      <p:sp>
        <p:nvSpPr>
          <p:cNvPr id="16" name="右箭头 15"/>
          <p:cNvSpPr/>
          <p:nvPr/>
        </p:nvSpPr>
        <p:spPr>
          <a:xfrm>
            <a:off x="4050464" y="3752234"/>
            <a:ext cx="429401" cy="276213"/>
          </a:xfrm>
          <a:prstGeom prst="rightArrow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8" name="右箭头 17"/>
          <p:cNvSpPr/>
          <p:nvPr/>
        </p:nvSpPr>
        <p:spPr>
          <a:xfrm>
            <a:off x="7427063" y="3678011"/>
            <a:ext cx="429401" cy="276213"/>
          </a:xfrm>
          <a:prstGeom prst="rightArrow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10880" y="839979"/>
            <a:ext cx="8364294" cy="517190"/>
          </a:xfrm>
        </p:spPr>
        <p:txBody>
          <a:bodyPr/>
          <a:lstStyle/>
          <a:p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特征预处理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4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841504" y="1290776"/>
            <a:ext cx="7652791" cy="501685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>
                <a:latin typeface="Roboto" panose="02000000000000000000" pitchFamily="2" charset="0"/>
                <a:ea typeface="Alibaba PuHuiTi" pitchFamily="18" charset="-122"/>
                <a:cs typeface="Alibaba PuHuiTi" pitchFamily="18" charset="-122"/>
              </a:rPr>
              <a:t>数据归一化：</a:t>
            </a:r>
            <a:r>
              <a:rPr lang="zh-CN" altLang="en-US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通过对原始数据进行变换把数据映射到</a:t>
            </a:r>
            <a:r>
              <a:rPr lang="en-US" altLang="zh-CN" dirty="0">
                <a:solidFill>
                  <a:schemeClr val="tx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【</a:t>
            </a:r>
            <a:r>
              <a:rPr lang="en-US" altLang="zh-CN" dirty="0" err="1">
                <a:solidFill>
                  <a:schemeClr val="tx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mi,mx</a:t>
            </a:r>
            <a:r>
              <a:rPr lang="en-US" altLang="zh-CN" dirty="0">
                <a:solidFill>
                  <a:schemeClr val="tx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】(</a:t>
            </a:r>
            <a:r>
              <a:rPr lang="zh-CN" altLang="en-US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默认为</a:t>
            </a:r>
            <a:r>
              <a:rPr lang="en-US" altLang="zh-CN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[0,1])</a:t>
            </a:r>
            <a:r>
              <a:rPr lang="zh-CN" altLang="en-US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之间</a:t>
            </a:r>
            <a:endParaRPr lang="en-US" altLang="zh-CN" dirty="0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19" name="TextBox 3"/>
          <p:cNvSpPr txBox="1"/>
          <p:nvPr/>
        </p:nvSpPr>
        <p:spPr>
          <a:xfrm>
            <a:off x="6576134" y="2204730"/>
            <a:ext cx="5375235" cy="3754874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GB" altLang="zh-CN" sz="1400" dirty="0">
                <a:solidFill>
                  <a:srgbClr val="0033B3"/>
                </a:solidFill>
                <a:effectLst/>
              </a:rPr>
              <a:t>import </a:t>
            </a:r>
            <a:r>
              <a:rPr lang="en-GB" altLang="zh-CN" sz="1400" dirty="0" err="1"/>
              <a:t>numpy</a:t>
            </a:r>
            <a:r>
              <a:rPr lang="en-GB" altLang="zh-CN" sz="1400" dirty="0"/>
              <a:t> </a:t>
            </a:r>
            <a:r>
              <a:rPr lang="en-GB" altLang="zh-CN" sz="1400" dirty="0">
                <a:solidFill>
                  <a:srgbClr val="0033B3"/>
                </a:solidFill>
                <a:effectLst/>
              </a:rPr>
              <a:t>as </a:t>
            </a:r>
            <a:r>
              <a:rPr lang="en-GB" altLang="zh-CN" sz="1400" dirty="0"/>
              <a:t>np</a:t>
            </a:r>
            <a:br>
              <a:rPr lang="en-GB" altLang="zh-CN" sz="1400" dirty="0"/>
            </a:br>
            <a:r>
              <a:rPr lang="en-GB" altLang="zh-CN" sz="1400" dirty="0">
                <a:solidFill>
                  <a:srgbClr val="0033B3"/>
                </a:solidFill>
                <a:effectLst/>
              </a:rPr>
              <a:t>from </a:t>
            </a:r>
            <a:r>
              <a:rPr lang="en-GB" altLang="zh-CN" sz="1400" dirty="0" err="1"/>
              <a:t>sklearn.preprocessing</a:t>
            </a:r>
            <a:r>
              <a:rPr lang="en-GB" altLang="zh-CN" sz="1400" dirty="0"/>
              <a:t> </a:t>
            </a:r>
            <a:r>
              <a:rPr lang="en-GB" altLang="zh-CN" sz="1400" dirty="0">
                <a:solidFill>
                  <a:srgbClr val="0033B3"/>
                </a:solidFill>
                <a:effectLst/>
              </a:rPr>
              <a:t>import </a:t>
            </a:r>
            <a:r>
              <a:rPr lang="en-GB" altLang="zh-CN" sz="1400" dirty="0" err="1"/>
              <a:t>MinMaxScaler</a:t>
            </a:r>
            <a:endParaRPr lang="en-GB" altLang="zh-CN" sz="1400" dirty="0"/>
          </a:p>
          <a:p>
            <a:pPr>
              <a:defRPr/>
            </a:pPr>
            <a:br>
              <a:rPr lang="en-GB" altLang="zh-CN" sz="1400" dirty="0"/>
            </a:br>
            <a:r>
              <a:rPr lang="en-GB" altLang="zh-CN" sz="1400" dirty="0">
                <a:solidFill>
                  <a:srgbClr val="0033B3"/>
                </a:solidFill>
                <a:effectLst/>
              </a:rPr>
              <a:t>def </a:t>
            </a:r>
            <a:r>
              <a:rPr lang="en-GB" altLang="zh-CN" sz="1400" dirty="0">
                <a:solidFill>
                  <a:srgbClr val="00627A"/>
                </a:solidFill>
                <a:effectLst/>
              </a:rPr>
              <a:t>dm01_MinMaxScaler</a:t>
            </a:r>
            <a:r>
              <a:rPr lang="en-GB" altLang="zh-CN" sz="1400" dirty="0"/>
              <a:t>():</a:t>
            </a:r>
            <a:br>
              <a:rPr lang="en-GB" altLang="zh-CN" sz="1400" dirty="0"/>
            </a:br>
            <a:r>
              <a:rPr lang="zh-CN" altLang="en-US" sz="1400" dirty="0"/>
              <a:t> </a:t>
            </a:r>
            <a:r>
              <a:rPr lang="en-US" altLang="zh-CN" sz="1400" dirty="0"/>
              <a:t># 1. </a:t>
            </a:r>
            <a:r>
              <a:rPr lang="zh-CN" altLang="en-US" sz="1400" dirty="0"/>
              <a:t>准备数据</a:t>
            </a:r>
            <a:endParaRPr lang="zh-CN" altLang="en-US" sz="1400" dirty="0"/>
          </a:p>
          <a:p>
            <a:pPr>
              <a:defRPr/>
            </a:pPr>
            <a:r>
              <a:rPr lang="zh-CN" altLang="en-US" sz="1400" dirty="0"/>
              <a:t>    </a:t>
            </a:r>
            <a:r>
              <a:rPr lang="en-GB" altLang="zh-CN" sz="1400" dirty="0"/>
              <a:t>data = [[90, 2, 10, 40],</a:t>
            </a:r>
            <a:endParaRPr lang="en-GB" altLang="zh-CN" sz="1400" dirty="0"/>
          </a:p>
          <a:p>
            <a:pPr>
              <a:defRPr/>
            </a:pPr>
            <a:r>
              <a:rPr lang="en-GB" altLang="zh-CN" sz="1400" dirty="0"/>
              <a:t>            [60, 4, 15, 45],</a:t>
            </a:r>
            <a:endParaRPr lang="en-GB" altLang="zh-CN" sz="1400" dirty="0"/>
          </a:p>
          <a:p>
            <a:pPr>
              <a:defRPr/>
            </a:pPr>
            <a:r>
              <a:rPr lang="en-GB" altLang="zh-CN" sz="1400" dirty="0"/>
              <a:t>            [75, 3, 13, 46]]</a:t>
            </a:r>
            <a:endParaRPr lang="en-GB" altLang="zh-CN" sz="1400" dirty="0"/>
          </a:p>
          <a:p>
            <a:pPr>
              <a:defRPr/>
            </a:pPr>
            <a:endParaRPr lang="en-GB" altLang="zh-CN" sz="1400" dirty="0"/>
          </a:p>
          <a:p>
            <a:pPr>
              <a:defRPr/>
            </a:pPr>
            <a:r>
              <a:rPr lang="en-GB" altLang="zh-CN" sz="1400" dirty="0"/>
              <a:t>    # 2. </a:t>
            </a:r>
            <a:r>
              <a:rPr lang="zh-CN" altLang="en-US" sz="1400" dirty="0"/>
              <a:t>初始化归一化对象</a:t>
            </a:r>
            <a:endParaRPr lang="zh-CN" altLang="en-US" sz="1400" dirty="0"/>
          </a:p>
          <a:p>
            <a:pPr>
              <a:defRPr/>
            </a:pPr>
            <a:r>
              <a:rPr lang="zh-CN" altLang="en-US" sz="1400" dirty="0"/>
              <a:t>    </a:t>
            </a:r>
            <a:r>
              <a:rPr lang="en-GB" altLang="zh-CN" sz="1400" dirty="0"/>
              <a:t>transformer = </a:t>
            </a:r>
            <a:r>
              <a:rPr lang="en-GB" altLang="zh-CN" sz="1400" dirty="0" err="1"/>
              <a:t>MinMaxScaler</a:t>
            </a:r>
            <a:r>
              <a:rPr lang="en-GB" altLang="zh-CN" sz="1400" dirty="0"/>
              <a:t>()</a:t>
            </a:r>
            <a:endParaRPr lang="en-GB" altLang="zh-CN" sz="1400" dirty="0"/>
          </a:p>
          <a:p>
            <a:pPr>
              <a:defRPr/>
            </a:pPr>
            <a:endParaRPr lang="en-GB" altLang="zh-CN" sz="1400" dirty="0"/>
          </a:p>
          <a:p>
            <a:pPr>
              <a:defRPr/>
            </a:pPr>
            <a:r>
              <a:rPr lang="en-GB" altLang="zh-CN" sz="1400" dirty="0"/>
              <a:t>    # 3. </a:t>
            </a:r>
            <a:r>
              <a:rPr lang="zh-CN" altLang="en-US" sz="1400" dirty="0"/>
              <a:t>对原始特征进行变换</a:t>
            </a:r>
            <a:endParaRPr lang="zh-CN" altLang="en-US" sz="1400" dirty="0"/>
          </a:p>
          <a:p>
            <a:pPr>
              <a:defRPr/>
            </a:pPr>
            <a:r>
              <a:rPr lang="zh-CN" altLang="en-US" sz="1400" dirty="0"/>
              <a:t>    </a:t>
            </a:r>
            <a:r>
              <a:rPr lang="en-GB" altLang="zh-CN" sz="1400" dirty="0"/>
              <a:t>data = </a:t>
            </a:r>
            <a:r>
              <a:rPr lang="en-GB" altLang="zh-CN" sz="1400" dirty="0" err="1"/>
              <a:t>transformer.fit_transform</a:t>
            </a:r>
            <a:r>
              <a:rPr lang="en-GB" altLang="zh-CN" sz="1400" dirty="0"/>
              <a:t>(data)</a:t>
            </a:r>
            <a:endParaRPr lang="en-GB" altLang="zh-CN" sz="1400" dirty="0"/>
          </a:p>
          <a:p>
            <a:pPr>
              <a:defRPr/>
            </a:pPr>
            <a:endParaRPr lang="en-GB" altLang="zh-CN" sz="1400" dirty="0"/>
          </a:p>
          <a:p>
            <a:pPr>
              <a:defRPr/>
            </a:pPr>
            <a:r>
              <a:rPr lang="en-GB" altLang="zh-CN" sz="1400" dirty="0"/>
              <a:t>    # 4. </a:t>
            </a:r>
            <a:r>
              <a:rPr lang="zh-CN" altLang="en-US" sz="1400" dirty="0"/>
              <a:t>打印归一化后的结果</a:t>
            </a:r>
            <a:endParaRPr lang="zh-CN" altLang="en-US" sz="1400" dirty="0"/>
          </a:p>
          <a:p>
            <a:pPr>
              <a:defRPr/>
            </a:pPr>
            <a:r>
              <a:rPr lang="zh-CN" altLang="en-US" sz="1400" dirty="0"/>
              <a:t>    </a:t>
            </a:r>
            <a:r>
              <a:rPr lang="en-GB" altLang="zh-CN" sz="1400" dirty="0"/>
              <a:t>print(data)</a:t>
            </a:r>
            <a:endParaRPr lang="en-US" altLang="zh-CN" sz="1400" dirty="0"/>
          </a:p>
        </p:txBody>
      </p:sp>
      <p:sp>
        <p:nvSpPr>
          <p:cNvPr id="8" name="文本框 2"/>
          <p:cNvSpPr txBox="1"/>
          <p:nvPr/>
        </p:nvSpPr>
        <p:spPr>
          <a:xfrm flipH="1">
            <a:off x="710880" y="2916552"/>
            <a:ext cx="5694629" cy="1024896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1.</a:t>
            </a:r>
            <a:r>
              <a:rPr lang="en-GB" altLang="zh-CN" sz="14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sklearn.preprocessing.MinMaxScaler</a:t>
            </a:r>
            <a:r>
              <a:rPr lang="en-GB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(</a:t>
            </a:r>
            <a:r>
              <a:rPr lang="en-GB" altLang="zh-CN" sz="14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feature_range</a:t>
            </a:r>
            <a:r>
              <a:rPr lang="en-GB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=(0,1)… )</a:t>
            </a:r>
            <a:endParaRPr lang="en-GB" altLang="zh-CN" sz="1400" dirty="0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lvl="0">
              <a:lnSpc>
                <a:spcPct val="150000"/>
              </a:lnSpc>
            </a:pPr>
            <a:r>
              <a:rPr lang="zh-CN" altLang="en-US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   </a:t>
            </a:r>
            <a:r>
              <a:rPr lang="en-GB" altLang="zh-CN" sz="14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feature_range</a:t>
            </a:r>
            <a:r>
              <a:rPr lang="en-GB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</a:t>
            </a:r>
            <a:r>
              <a:rPr lang="zh-CN" altLang="en-US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缩放区间</a:t>
            </a:r>
            <a:endParaRPr lang="en-US" altLang="zh-CN" sz="1400" dirty="0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lvl="0">
              <a:lnSpc>
                <a:spcPct val="150000"/>
              </a:lnSpc>
            </a:pPr>
            <a:r>
              <a:rPr lang="en-US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2.</a:t>
            </a:r>
            <a:r>
              <a:rPr lang="zh-CN" altLang="en-US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</a:t>
            </a:r>
            <a:r>
              <a:rPr lang="en-GB" altLang="zh-CN" sz="14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fit_transform</a:t>
            </a:r>
            <a:r>
              <a:rPr lang="en-GB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(X) </a:t>
            </a:r>
            <a:r>
              <a:rPr lang="zh-CN" altLang="en-US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将特征进行归一化缩放</a:t>
            </a:r>
            <a:endParaRPr lang="zh-CN" altLang="en-US" sz="1400" dirty="0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9" name="文本占位符 2"/>
          <p:cNvSpPr txBox="1"/>
          <p:nvPr/>
        </p:nvSpPr>
        <p:spPr>
          <a:xfrm>
            <a:off x="710880" y="2508078"/>
            <a:ext cx="5375235" cy="501685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>
                <a:latin typeface="Roboto" panose="02000000000000000000" pitchFamily="2" charset="0"/>
                <a:ea typeface="Alibaba PuHuiTi" pitchFamily="18" charset="-122"/>
                <a:cs typeface="Alibaba PuHuiTi" pitchFamily="18" charset="-122"/>
              </a:rPr>
              <a:t>数据归一化</a:t>
            </a:r>
            <a:r>
              <a:rPr lang="en-US" altLang="zh-CN" dirty="0">
                <a:latin typeface="Roboto" panose="02000000000000000000" pitchFamily="2" charset="0"/>
                <a:ea typeface="Alibaba PuHuiTi" pitchFamily="18" charset="-122"/>
                <a:cs typeface="Alibaba PuHuiTi" pitchFamily="18" charset="-122"/>
              </a:rPr>
              <a:t>API</a:t>
            </a:r>
            <a:r>
              <a:rPr lang="zh-CN" altLang="en-US" dirty="0">
                <a:latin typeface="Roboto" panose="02000000000000000000" pitchFamily="2" charset="0"/>
                <a:ea typeface="Alibaba PuHuiTi" pitchFamily="18" charset="-122"/>
                <a:cs typeface="Alibaba PuHuiTi" pitchFamily="18" charset="-122"/>
              </a:rPr>
              <a:t>：</a:t>
            </a:r>
            <a:endParaRPr lang="en-US" altLang="zh-CN" dirty="0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10880" y="839979"/>
            <a:ext cx="8364294" cy="517190"/>
          </a:xfrm>
        </p:spPr>
        <p:txBody>
          <a:bodyPr/>
          <a:lstStyle/>
          <a:p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特征预处理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4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841504" y="1179476"/>
            <a:ext cx="9072517" cy="517190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>
                <a:latin typeface="Roboto" panose="02000000000000000000" pitchFamily="2" charset="0"/>
                <a:ea typeface="Alibaba PuHuiTi" pitchFamily="18" charset="-122"/>
                <a:cs typeface="Alibaba PuHuiTi" pitchFamily="18" charset="-122"/>
              </a:rPr>
              <a:t>数据标准化：</a:t>
            </a:r>
            <a:r>
              <a:rPr lang="zh-CN" altLang="en-US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通过对原始数据进行标准化，转换为均值为</a:t>
            </a:r>
            <a:r>
              <a:rPr lang="en-US" altLang="zh-CN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0</a:t>
            </a:r>
            <a:r>
              <a:rPr lang="zh-CN" altLang="en-US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标准差为</a:t>
            </a:r>
            <a:r>
              <a:rPr lang="en-US" altLang="zh-CN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1</a:t>
            </a:r>
            <a:r>
              <a:rPr lang="zh-CN" altLang="en-US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的标准正态分布的数据</a:t>
            </a:r>
            <a:endParaRPr lang="en-US" altLang="zh-CN" dirty="0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4262755" y="1638551"/>
            <a:ext cx="2534061" cy="6203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mean </a:t>
            </a:r>
            <a:r>
              <a:rPr lang="zh-CN" altLang="en-US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为特征的平均值</a:t>
            </a:r>
            <a:endParaRPr lang="zh-CN" altLang="en-US" sz="1200" dirty="0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>
              <a:lnSpc>
                <a:spcPct val="150000"/>
              </a:lnSpc>
            </a:pPr>
            <a:r>
              <a:rPr lang="el-GR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σ </a:t>
            </a:r>
            <a:r>
              <a:rPr lang="zh-CN" altLang="en-US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为特征的标准差</a:t>
            </a:r>
            <a:endParaRPr lang="zh-CN" altLang="en-US" sz="1200" dirty="0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2071" y="1750678"/>
            <a:ext cx="2055288" cy="499578"/>
          </a:xfrm>
          <a:prstGeom prst="rect">
            <a:avLst/>
          </a:prstGeom>
        </p:spPr>
      </p:pic>
      <p:sp>
        <p:nvSpPr>
          <p:cNvPr id="5" name="TextBox 3"/>
          <p:cNvSpPr txBox="1"/>
          <p:nvPr/>
        </p:nvSpPr>
        <p:spPr>
          <a:xfrm>
            <a:off x="6096000" y="2633603"/>
            <a:ext cx="4805670" cy="3600986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GB" altLang="zh-CN" sz="1200" dirty="0">
                <a:solidFill>
                  <a:srgbClr val="0033B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from </a:t>
            </a:r>
            <a:r>
              <a:rPr lang="en-GB" altLang="zh-CN" sz="12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sklearn.preprocessing</a:t>
            </a: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</a:t>
            </a:r>
            <a:r>
              <a:rPr lang="en-GB" altLang="zh-CN" sz="1200" dirty="0">
                <a:solidFill>
                  <a:srgbClr val="0033B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import </a:t>
            </a:r>
            <a:r>
              <a:rPr lang="en-GB" altLang="zh-CN" sz="12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StandardScaler</a:t>
            </a:r>
            <a:endParaRPr lang="en-GB" altLang="zh-CN" sz="1200" dirty="0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>
              <a:defRPr/>
            </a:pPr>
            <a:r>
              <a:rPr lang="en-GB" altLang="zh-CN" sz="1200" dirty="0">
                <a:solidFill>
                  <a:srgbClr val="0033B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def </a:t>
            </a:r>
            <a:r>
              <a:rPr lang="en-GB" altLang="zh-CN" sz="1200" dirty="0">
                <a:solidFill>
                  <a:srgbClr val="00627A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dm03_StandardScaler</a:t>
            </a: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():</a:t>
            </a:r>
            <a:r>
              <a:rPr lang="zh-CN" altLang="en-US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  </a:t>
            </a:r>
            <a:r>
              <a:rPr lang="en-US" altLang="zh-CN" sz="1200" i="1" dirty="0">
                <a:solidFill>
                  <a:srgbClr val="8C8C8C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# </a:t>
            </a:r>
            <a:r>
              <a:rPr lang="zh-CN" altLang="en-US" sz="1200" i="1" dirty="0">
                <a:solidFill>
                  <a:srgbClr val="8C8C8C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对特征值进行标准化</a:t>
            </a:r>
            <a:b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zh-CN" altLang="en-US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</a:t>
            </a: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</a:t>
            </a:r>
            <a:r>
              <a:rPr lang="en-US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# 1. </a:t>
            </a:r>
            <a:r>
              <a:rPr lang="zh-CN" altLang="en-US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准备数据</a:t>
            </a:r>
            <a:endParaRPr lang="zh-CN" altLang="en-US" sz="1200" dirty="0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>
              <a:defRPr/>
            </a:pPr>
            <a:r>
              <a:rPr lang="zh-CN" altLang="en-US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</a:t>
            </a: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data = [[90, 2, 10, 40],</a:t>
            </a:r>
            <a:endParaRPr lang="en-GB" altLang="zh-CN" sz="1200" dirty="0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>
              <a:defRPr/>
            </a:pP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        [60, 4, 15, 45],</a:t>
            </a:r>
            <a:endParaRPr lang="en-GB" altLang="zh-CN" sz="1200" dirty="0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>
              <a:defRPr/>
            </a:pP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        [75, 3, 13, 46]]</a:t>
            </a:r>
            <a:endParaRPr lang="en-GB" altLang="zh-CN" sz="1200" dirty="0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>
              <a:defRPr/>
            </a:pPr>
            <a:endParaRPr lang="en-GB" altLang="zh-CN" sz="1200" dirty="0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>
              <a:defRPr/>
            </a:pP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# 2. </a:t>
            </a:r>
            <a:r>
              <a:rPr lang="zh-CN" altLang="en-US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初始化标准化对象</a:t>
            </a:r>
            <a:endParaRPr lang="zh-CN" altLang="en-US" sz="1200" dirty="0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>
              <a:defRPr/>
            </a:pPr>
            <a:r>
              <a:rPr lang="zh-CN" altLang="en-US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</a:t>
            </a: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transformer = </a:t>
            </a:r>
            <a:r>
              <a:rPr lang="en-GB" altLang="zh-CN" sz="12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StandardScaler</a:t>
            </a: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()</a:t>
            </a:r>
            <a:endParaRPr lang="en-GB" altLang="zh-CN" sz="1200" dirty="0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>
              <a:defRPr/>
            </a:pPr>
            <a:endParaRPr lang="en-GB" altLang="zh-CN" sz="1200" dirty="0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>
              <a:defRPr/>
            </a:pP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# 3. </a:t>
            </a:r>
            <a:r>
              <a:rPr lang="zh-CN" altLang="en-US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对原始特征进行变换</a:t>
            </a:r>
            <a:endParaRPr lang="zh-CN" altLang="en-US" sz="1200" dirty="0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>
              <a:defRPr/>
            </a:pPr>
            <a:r>
              <a:rPr lang="zh-CN" altLang="en-US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</a:t>
            </a: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data = </a:t>
            </a:r>
            <a:r>
              <a:rPr lang="en-GB" altLang="zh-CN" sz="12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transformer.fit_transform</a:t>
            </a: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(data)</a:t>
            </a:r>
            <a:endParaRPr lang="en-GB" altLang="zh-CN" sz="1200" dirty="0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>
              <a:defRPr/>
            </a:pPr>
            <a:endParaRPr lang="en-GB" altLang="zh-CN" sz="1200" dirty="0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>
              <a:defRPr/>
            </a:pP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# 4. </a:t>
            </a:r>
            <a:r>
              <a:rPr lang="zh-CN" altLang="en-US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打印归一化后的结果</a:t>
            </a:r>
            <a:endParaRPr lang="zh-CN" altLang="en-US" sz="1200" dirty="0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>
              <a:defRPr/>
            </a:pPr>
            <a:r>
              <a:rPr lang="zh-CN" altLang="en-US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</a:t>
            </a: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print(data)</a:t>
            </a:r>
            <a:endParaRPr lang="en-GB" altLang="zh-CN" sz="1200" dirty="0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>
              <a:defRPr/>
            </a:pPr>
            <a:b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</a:t>
            </a:r>
            <a:r>
              <a:rPr lang="en-GB" altLang="zh-CN" sz="1200" i="1" dirty="0">
                <a:solidFill>
                  <a:srgbClr val="8C8C8C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# </a:t>
            </a:r>
            <a:r>
              <a:rPr lang="en-US" altLang="zh-CN" sz="1200" i="1" dirty="0">
                <a:solidFill>
                  <a:srgbClr val="8C8C8C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5</a:t>
            </a:r>
            <a:r>
              <a:rPr lang="zh-CN" altLang="en-US" sz="1200" i="1" dirty="0">
                <a:solidFill>
                  <a:srgbClr val="8C8C8C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打印每</a:t>
            </a:r>
            <a:r>
              <a:rPr lang="en-US" altLang="zh-CN" sz="1200" i="1" dirty="0">
                <a:solidFill>
                  <a:srgbClr val="8C8C8C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1</a:t>
            </a:r>
            <a:r>
              <a:rPr lang="zh-CN" altLang="en-US" sz="1200" i="1" dirty="0">
                <a:solidFill>
                  <a:srgbClr val="8C8C8C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列数据的均值和标准差</a:t>
            </a:r>
            <a:br>
              <a:rPr lang="zh-CN" altLang="en-US" sz="1200" i="1" dirty="0">
                <a:solidFill>
                  <a:srgbClr val="8C8C8C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zh-CN" altLang="en-US" sz="1200" i="1" dirty="0">
                <a:solidFill>
                  <a:srgbClr val="8C8C8C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</a:t>
            </a:r>
            <a:r>
              <a:rPr lang="en-GB" altLang="zh-CN" sz="1200" dirty="0">
                <a:solidFill>
                  <a:srgbClr val="000080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print</a:t>
            </a: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(</a:t>
            </a:r>
            <a:r>
              <a:rPr lang="en-GB" altLang="zh-CN" sz="1200" dirty="0">
                <a:solidFill>
                  <a:srgbClr val="067D17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'</a:t>
            </a:r>
            <a:r>
              <a:rPr lang="en-GB" altLang="zh-CN" sz="1200" dirty="0" err="1">
                <a:solidFill>
                  <a:srgbClr val="067D17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transfer.mean</a:t>
            </a:r>
            <a:r>
              <a:rPr lang="en-GB" altLang="zh-CN" sz="1200" dirty="0">
                <a:solidFill>
                  <a:srgbClr val="067D17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_--&gt;'</a:t>
            </a: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, </a:t>
            </a:r>
            <a:r>
              <a:rPr lang="en-GB" altLang="zh-CN" sz="12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transfer.mean</a:t>
            </a: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_)</a:t>
            </a:r>
            <a:b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</a:t>
            </a:r>
            <a:r>
              <a:rPr lang="en-GB" altLang="zh-CN" sz="1200" dirty="0">
                <a:solidFill>
                  <a:srgbClr val="000080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print</a:t>
            </a: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(</a:t>
            </a:r>
            <a:r>
              <a:rPr lang="en-GB" altLang="zh-CN" sz="1200" dirty="0">
                <a:solidFill>
                  <a:srgbClr val="067D17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'</a:t>
            </a:r>
            <a:r>
              <a:rPr lang="en-GB" altLang="zh-CN" sz="1200" dirty="0" err="1">
                <a:solidFill>
                  <a:srgbClr val="067D17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transfer.var</a:t>
            </a:r>
            <a:r>
              <a:rPr lang="en-GB" altLang="zh-CN" sz="1200" dirty="0">
                <a:solidFill>
                  <a:srgbClr val="067D17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_--&gt;'</a:t>
            </a: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, </a:t>
            </a:r>
            <a:r>
              <a:rPr lang="en-GB" altLang="zh-CN" sz="12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transfer.var</a:t>
            </a: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_)</a:t>
            </a:r>
            <a:endParaRPr lang="en-US" altLang="zh-CN" sz="1200" dirty="0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8" name="文本框 2"/>
          <p:cNvSpPr txBox="1"/>
          <p:nvPr/>
        </p:nvSpPr>
        <p:spPr>
          <a:xfrm flipH="1">
            <a:off x="620044" y="3604325"/>
            <a:ext cx="5694629" cy="708399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1.</a:t>
            </a:r>
            <a:r>
              <a:rPr lang="en-GB" altLang="zh-CN" sz="14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sklearn.preprocessing</a:t>
            </a:r>
            <a:r>
              <a:rPr lang="en-GB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. </a:t>
            </a:r>
            <a:r>
              <a:rPr lang="en-GB" altLang="zh-CN" sz="14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StandardScaler</a:t>
            </a:r>
            <a:r>
              <a:rPr lang="en-GB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()</a:t>
            </a:r>
            <a:endParaRPr lang="en-GB" altLang="zh-CN" sz="1400" dirty="0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lvl="0">
              <a:lnSpc>
                <a:spcPct val="150000"/>
              </a:lnSpc>
            </a:pPr>
            <a:r>
              <a:rPr lang="en-US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2.</a:t>
            </a:r>
            <a:r>
              <a:rPr lang="zh-CN" altLang="en-US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</a:t>
            </a:r>
            <a:r>
              <a:rPr lang="en-GB" altLang="zh-CN" sz="14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fit_transform</a:t>
            </a:r>
            <a:r>
              <a:rPr lang="en-GB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(X) </a:t>
            </a:r>
            <a:r>
              <a:rPr lang="zh-CN" altLang="en-US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将特征进行归一化缩放</a:t>
            </a:r>
            <a:endParaRPr lang="zh-CN" altLang="en-US" sz="1400" dirty="0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9" name="文本占位符 2"/>
          <p:cNvSpPr txBox="1"/>
          <p:nvPr/>
        </p:nvSpPr>
        <p:spPr>
          <a:xfrm>
            <a:off x="620044" y="3195851"/>
            <a:ext cx="5375235" cy="501685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>
                <a:latin typeface="Roboto" panose="02000000000000000000" pitchFamily="2" charset="0"/>
                <a:ea typeface="Alibaba PuHuiTi" pitchFamily="18" charset="-122"/>
                <a:cs typeface="Alibaba PuHuiTi" pitchFamily="18" charset="-122"/>
              </a:rPr>
              <a:t>数据标准化</a:t>
            </a:r>
            <a:r>
              <a:rPr lang="en-US" altLang="zh-CN" dirty="0">
                <a:latin typeface="Roboto" panose="02000000000000000000" pitchFamily="2" charset="0"/>
                <a:ea typeface="Alibaba PuHuiTi" pitchFamily="18" charset="-122"/>
                <a:cs typeface="Alibaba PuHuiTi" pitchFamily="18" charset="-122"/>
              </a:rPr>
              <a:t>API</a:t>
            </a:r>
            <a:r>
              <a:rPr lang="zh-CN" altLang="en-US" dirty="0">
                <a:latin typeface="Roboto" panose="02000000000000000000" pitchFamily="2" charset="0"/>
                <a:ea typeface="Alibaba PuHuiTi" pitchFamily="18" charset="-122"/>
                <a:cs typeface="Alibaba PuHuiTi" pitchFamily="18" charset="-122"/>
              </a:rPr>
              <a:t>：</a:t>
            </a:r>
            <a:endParaRPr lang="en-US" altLang="zh-CN" dirty="0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10880" y="839979"/>
            <a:ext cx="8364294" cy="517190"/>
          </a:xfrm>
        </p:spPr>
        <p:txBody>
          <a:bodyPr/>
          <a:lstStyle/>
          <a:p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特征预处理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4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963434" y="1332211"/>
            <a:ext cx="6188561" cy="499578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正态分布是一种概率分布，大自然很多数据符合正态分布</a:t>
            </a:r>
            <a:endParaRPr lang="en-US" altLang="zh-CN" dirty="0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6" name="文本占位符 2"/>
          <p:cNvSpPr txBox="1"/>
          <p:nvPr/>
        </p:nvSpPr>
        <p:spPr>
          <a:xfrm>
            <a:off x="963434" y="5197689"/>
            <a:ext cx="4137994" cy="499578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正态分布的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3</a:t>
            </a:r>
            <a:r>
              <a:rPr kumimoji="0" lang="el-GR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σ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法则（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68-95-99.7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法则） 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511654" y="1791865"/>
            <a:ext cx="4830152" cy="8973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也叫高斯分布，钟形分布。正态分布记作</a:t>
            </a: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N(</a:t>
            </a:r>
            <a:r>
              <a:rPr lang="el-GR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μ</a:t>
            </a:r>
            <a:r>
              <a:rPr lang="zh-CN" altLang="el-GR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，</a:t>
            </a:r>
            <a:r>
              <a:rPr lang="el-GR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σ )</a:t>
            </a:r>
            <a:endParaRPr lang="en-US" altLang="zh-CN" sz="1200" dirty="0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>
              <a:lnSpc>
                <a:spcPct val="150000"/>
              </a:lnSpc>
            </a:pPr>
            <a:r>
              <a:rPr lang="el-GR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μ</a:t>
            </a:r>
            <a:r>
              <a:rPr lang="zh-CN" altLang="en-US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决定了其位置，其标准差</a:t>
            </a:r>
            <a:r>
              <a:rPr lang="el-GR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σ</a:t>
            </a:r>
            <a:r>
              <a:rPr lang="zh-CN" altLang="en-US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决定了分布的幅度</a:t>
            </a:r>
            <a:endParaRPr lang="en-US" altLang="zh-CN" sz="1200" dirty="0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当</a:t>
            </a:r>
            <a:r>
              <a:rPr lang="el-GR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μ = 0,</a:t>
            </a:r>
            <a:r>
              <a:rPr lang="zh-CN" altLang="en-US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</a:t>
            </a:r>
            <a:r>
              <a:rPr lang="el-GR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σ = 1</a:t>
            </a:r>
            <a:r>
              <a:rPr lang="zh-CN" altLang="en-US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时的正态分布是标准正态分布</a:t>
            </a:r>
            <a:endParaRPr lang="en-US" altLang="zh-CN" sz="1200" dirty="0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本框 4"/>
              <p:cNvSpPr txBox="1"/>
              <p:nvPr/>
            </p:nvSpPr>
            <p:spPr>
              <a:xfrm>
                <a:off x="963434" y="2843462"/>
                <a:ext cx="5329208" cy="71564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sz="1400" b="1" i="0" dirty="0">
                    <a:solidFill>
                      <a:srgbClr val="333333"/>
                    </a:solidFill>
                    <a:effectLst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方差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400" b="1" i="1" smtClean="0">
                            <a:solidFill>
                              <a:srgbClr val="333333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zh-CN" altLang="en-US" sz="1400" b="1" dirty="0">
                            <a:solidFill>
                              <a:srgbClr val="333333"/>
                            </a:solidFill>
                            <a:latin typeface="Alibaba PuHuiTi" pitchFamily="18" charset="-122"/>
                            <a:ea typeface="Alibaba PuHuiTi" pitchFamily="18" charset="-122"/>
                            <a:cs typeface="Alibaba PuHuiTi" pitchFamily="18" charset="-122"/>
                          </a:rPr>
                          <m:t>𝞼</m:t>
                        </m:r>
                      </m:e>
                      <m:sup>
                        <m:r>
                          <a:rPr lang="en-US" altLang="zh-CN" sz="1400" b="1" i="1" smtClean="0">
                            <a:solidFill>
                              <a:srgbClr val="333333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zh-CN" altLang="en-US" sz="1400" b="0" i="0" dirty="0">
                    <a:solidFill>
                      <a:srgbClr val="333333"/>
                    </a:solidFill>
                    <a:effectLst/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是在概率论和统计方差衡量一组数据时离散程度的度量</a:t>
                </a:r>
                <a:endParaRPr lang="en-US" altLang="zh-CN" sz="1400" b="0" i="0" dirty="0">
                  <a:solidFill>
                    <a:srgbClr val="333333"/>
                  </a:solidFill>
                  <a:effectLst/>
                  <a:latin typeface="Alibaba PuHuiTi" pitchFamily="18" charset="-122"/>
                  <a:ea typeface="Alibaba PuHuiTi" pitchFamily="18" charset="-122"/>
                  <a:cs typeface="Alibaba PuHuiTi" pitchFamily="18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1400" dirty="0">
                    <a:solidFill>
                      <a:srgbClr val="333333"/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              其中</a:t>
                </a:r>
                <a:r>
                  <a:rPr lang="en-US" altLang="zh-CN" sz="1400" dirty="0">
                    <a:solidFill>
                      <a:srgbClr val="333333"/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M</a:t>
                </a:r>
                <a:r>
                  <a:rPr lang="zh-CN" altLang="en-US" sz="1400" dirty="0">
                    <a:solidFill>
                      <a:srgbClr val="333333"/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为均值  </a:t>
                </a:r>
                <a:r>
                  <a:rPr lang="en-US" altLang="zh-CN" sz="1400" dirty="0">
                    <a:solidFill>
                      <a:srgbClr val="333333"/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n</a:t>
                </a:r>
                <a:r>
                  <a:rPr lang="zh-CN" altLang="en-US" sz="1400" dirty="0">
                    <a:solidFill>
                      <a:srgbClr val="333333"/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为数据总数</a:t>
                </a:r>
                <a:endParaRPr lang="en-US" altLang="zh-CN" sz="1400" dirty="0">
                  <a:latin typeface="Alibaba PuHuiTi" pitchFamily="18" charset="-122"/>
                  <a:ea typeface="Alibaba PuHuiTi" pitchFamily="18" charset="-122"/>
                  <a:cs typeface="Alibaba PuHuiTi" pitchFamily="18" charset="-122"/>
                </a:endParaRPr>
              </a:p>
            </p:txBody>
          </p:sp>
        </mc:Choice>
        <mc:Fallback>
          <p:sp>
            <p:nvSpPr>
              <p:cNvPr id="5" name="文本框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3434" y="2843462"/>
                <a:ext cx="5329208" cy="715645"/>
              </a:xfrm>
              <a:prstGeom prst="rect">
                <a:avLst/>
              </a:prstGeom>
              <a:blipFill rotWithShape="1">
                <a:blip r:embed="rId1"/>
                <a:stretch>
                  <a:fillRect l="-3" t="-79" r="8" b="7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3802" y="3498981"/>
            <a:ext cx="3872886" cy="603472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963434" y="4092787"/>
            <a:ext cx="4236147" cy="3852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l-GR" sz="1400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标准</a:t>
            </a:r>
            <a:r>
              <a:rPr lang="zh-CN" altLang="en-US" sz="1400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差</a:t>
            </a:r>
            <a:r>
              <a:rPr lang="el-GR" altLang="zh-CN" sz="1400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σ</a:t>
            </a:r>
            <a:r>
              <a:rPr lang="zh-CN" altLang="en-US" sz="1400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是方差开根号</a:t>
            </a:r>
            <a:endParaRPr lang="en-US" altLang="zh-CN" sz="1400" dirty="0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646" y="4534018"/>
            <a:ext cx="2725116" cy="511654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1956" y="1198052"/>
            <a:ext cx="4225918" cy="2299811"/>
          </a:xfrm>
          <a:prstGeom prst="rect">
            <a:avLst/>
          </a:prstGeom>
        </p:spPr>
      </p:pic>
      <p:pic>
        <p:nvPicPr>
          <p:cNvPr id="19" name="图片 1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74307" y="3866482"/>
            <a:ext cx="4809392" cy="2206517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10880" y="839979"/>
            <a:ext cx="8364294" cy="517190"/>
          </a:xfrm>
        </p:spPr>
        <p:txBody>
          <a:bodyPr/>
          <a:lstStyle/>
          <a:p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特征预处理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5" name="对角圆角矩形 4"/>
          <p:cNvSpPr/>
          <p:nvPr/>
        </p:nvSpPr>
        <p:spPr>
          <a:xfrm>
            <a:off x="6732413" y="2854649"/>
            <a:ext cx="4714456" cy="858932"/>
          </a:xfrm>
          <a:prstGeom prst="round2DiagRect">
            <a:avLst/>
          </a:prstGeom>
          <a:solidFill>
            <a:srgbClr val="FFFFFF"/>
          </a:solidFill>
          <a:ln w="6350" cap="flat">
            <a:solidFill>
              <a:schemeClr val="bg1">
                <a:lumMod val="75000"/>
              </a:schemeClr>
            </a:solidFill>
            <a:prstDash val="solid"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sz="120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对角圆角矩形 5"/>
          <p:cNvSpPr/>
          <p:nvPr/>
        </p:nvSpPr>
        <p:spPr>
          <a:xfrm>
            <a:off x="901797" y="2854649"/>
            <a:ext cx="4937553" cy="935934"/>
          </a:xfrm>
          <a:prstGeom prst="round2DiagRect">
            <a:avLst/>
          </a:prstGeom>
          <a:solidFill>
            <a:srgbClr val="FFFFFF"/>
          </a:solidFill>
          <a:ln w="6350" cap="flat">
            <a:solidFill>
              <a:schemeClr val="bg1">
                <a:lumMod val="75000"/>
              </a:schemeClr>
            </a:solidFill>
            <a:prstDash val="solid"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sz="120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对角圆角矩形 6"/>
          <p:cNvSpPr/>
          <p:nvPr/>
        </p:nvSpPr>
        <p:spPr>
          <a:xfrm>
            <a:off x="814375" y="2754988"/>
            <a:ext cx="5092858" cy="2520397"/>
          </a:xfrm>
          <a:prstGeom prst="round2DiagRect">
            <a:avLst/>
          </a:prstGeom>
          <a:solidFill>
            <a:srgbClr val="FFFFFF"/>
          </a:solidFill>
          <a:ln w="25400" cap="flat">
            <a:solidFill>
              <a:srgbClr val="AD2A26"/>
            </a:solidFill>
            <a:prstDash val="solid"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sz="120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Rectangle 10"/>
          <p:cNvSpPr>
            <a:spLocks noChangeArrowheads="1"/>
          </p:cNvSpPr>
          <p:nvPr/>
        </p:nvSpPr>
        <p:spPr bwMode="auto">
          <a:xfrm>
            <a:off x="1728309" y="2406507"/>
            <a:ext cx="2880000" cy="540000"/>
          </a:xfrm>
          <a:prstGeom prst="rect">
            <a:avLst/>
          </a:prstGeom>
          <a:solidFill>
            <a:srgbClr val="AD2A26"/>
          </a:solidFill>
          <a:ln w="254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  <a:sym typeface="Arial" panose="020B0604020202020204" pitchFamily="34" charset="0"/>
              </a:rPr>
              <a:t>数据归一化</a:t>
            </a:r>
            <a:endParaRPr lang="zh-CN" altLang="en-US" sz="2000" dirty="0">
              <a:solidFill>
                <a:schemeClr val="bg1"/>
              </a:solidFill>
              <a:latin typeface="Alibaba PuHuiTi B" pitchFamily="18" charset="-122"/>
              <a:ea typeface="Alibaba PuHuiTi B" pitchFamily="18" charset="-122"/>
              <a:cs typeface="Alibaba PuHuiTi B" pitchFamily="18" charset="-122"/>
              <a:sym typeface="Arial" panose="020B0604020202020204" pitchFamily="34" charset="0"/>
            </a:endParaRPr>
          </a:p>
        </p:txBody>
      </p:sp>
      <p:sp>
        <p:nvSpPr>
          <p:cNvPr id="9" name="TextBox 17"/>
          <p:cNvSpPr txBox="1"/>
          <p:nvPr/>
        </p:nvSpPr>
        <p:spPr>
          <a:xfrm>
            <a:off x="1040236" y="3162977"/>
            <a:ext cx="4641135" cy="23242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1400" b="0" i="0" u="none" strike="noStrike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如果</a:t>
            </a:r>
            <a:r>
              <a:rPr lang="zh-CN" altLang="en-US" sz="1400" b="0" i="0" u="none" strike="noStrike" dirty="0">
                <a:solidFill>
                  <a:schemeClr val="accent2">
                    <a:lumMod val="75000"/>
                  </a:schemeClr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出现异常点，影响了最大值和最小值</a:t>
            </a:r>
            <a:r>
              <a:rPr lang="zh-CN" altLang="en-US" sz="1400" b="0" i="0" u="none" strike="noStrike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，那么结果显然会发生改变</a:t>
            </a:r>
            <a:endParaRPr lang="en-US" altLang="zh-CN" sz="1400" b="0" i="0" u="none" strike="noStrike" dirty="0">
              <a:solidFill>
                <a:srgbClr val="333333"/>
              </a:solidFill>
              <a:effectLst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Arial" panose="020B0604020202020204" pitchFamily="34" charset="0"/>
              </a:rPr>
              <a:t>应用场景：最大值与最小值非常容易受异常点影响，             鲁棒性较差，只适合传统精确小数据场景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  <a:sym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Arial" panose="020B0604020202020204" pitchFamily="34" charset="0"/>
              </a:rPr>
              <a:t>sklearn.preprocessing.MinMaxScaler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Arial" panose="020B0604020202020204" pitchFamily="34" charset="0"/>
              </a:rPr>
              <a:t> (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Arial" panose="020B0604020202020204" pitchFamily="34" charset="0"/>
              </a:rPr>
              <a:t>feature_range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Arial" panose="020B0604020202020204" pitchFamily="34" charset="0"/>
              </a:rPr>
              <a:t>=(0,1)… )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  <a:sym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  <a:sym typeface="Arial" panose="020B0604020202020204" pitchFamily="34" charset="0"/>
            </a:endParaRPr>
          </a:p>
        </p:txBody>
      </p:sp>
      <p:sp>
        <p:nvSpPr>
          <p:cNvPr id="10" name="对角圆角矩形 9"/>
          <p:cNvSpPr/>
          <p:nvPr/>
        </p:nvSpPr>
        <p:spPr>
          <a:xfrm>
            <a:off x="6633568" y="2754988"/>
            <a:ext cx="5092858" cy="2520396"/>
          </a:xfrm>
          <a:prstGeom prst="round2DiagRect">
            <a:avLst/>
          </a:prstGeom>
          <a:solidFill>
            <a:srgbClr val="FFFFFF"/>
          </a:solidFill>
          <a:ln w="25400" cap="flat">
            <a:solidFill>
              <a:srgbClr val="48504F"/>
            </a:solidFill>
            <a:prstDash val="solid"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sz="140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7179617" y="2407991"/>
            <a:ext cx="2880000" cy="540000"/>
          </a:xfrm>
          <a:prstGeom prst="rect">
            <a:avLst/>
          </a:prstGeom>
          <a:solidFill>
            <a:srgbClr val="48504F"/>
          </a:solidFill>
          <a:ln w="254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  <a:sym typeface="Arial" panose="020B0604020202020204" pitchFamily="34" charset="0"/>
              </a:rPr>
              <a:t>数据标准化</a:t>
            </a:r>
            <a:endParaRPr lang="zh-CN" altLang="en-US" sz="2000" dirty="0">
              <a:solidFill>
                <a:schemeClr val="bg1"/>
              </a:solidFill>
              <a:latin typeface="Alibaba PuHuiTi B" pitchFamily="18" charset="-122"/>
              <a:ea typeface="Alibaba PuHuiTi B" pitchFamily="18" charset="-122"/>
              <a:cs typeface="Alibaba PuHuiTi B" pitchFamily="18" charset="-122"/>
              <a:sym typeface="Arial" panose="020B0604020202020204" pitchFamily="34" charset="0"/>
            </a:endParaRPr>
          </a:p>
        </p:txBody>
      </p:sp>
      <p:sp>
        <p:nvSpPr>
          <p:cNvPr id="12" name="TextBox 17"/>
          <p:cNvSpPr txBox="1"/>
          <p:nvPr/>
        </p:nvSpPr>
        <p:spPr>
          <a:xfrm>
            <a:off x="6732413" y="3176238"/>
            <a:ext cx="4416278" cy="16778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1400" b="0" i="0" u="none" strike="noStrike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如果出现异常点，由于具有一定数据量，少量的异常点对于</a:t>
            </a:r>
            <a:r>
              <a:rPr lang="zh-CN" altLang="en-US" sz="1400" b="0" i="0" u="none" strike="noStrike" dirty="0">
                <a:solidFill>
                  <a:schemeClr val="accent2">
                    <a:lumMod val="75000"/>
                  </a:schemeClr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平均值的影响并不大</a:t>
            </a:r>
            <a:endParaRPr lang="en-US" altLang="zh-CN" sz="1400" dirty="0">
              <a:solidFill>
                <a:schemeClr val="accent2">
                  <a:lumMod val="7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  <a:sym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1400" dirty="0">
                <a:solidFill>
                  <a:srgbClr val="333333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Arial" panose="020B0604020202020204" pitchFamily="34" charset="0"/>
              </a:rPr>
              <a:t>应用场景：</a:t>
            </a:r>
            <a:r>
              <a:rPr lang="zh-CN" altLang="en-US" sz="1400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适合现代嘈杂大数据场景。</a:t>
            </a:r>
            <a:r>
              <a:rPr lang="en-US" altLang="zh-CN" sz="1400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(</a:t>
            </a:r>
            <a:r>
              <a:rPr lang="zh-CN" altLang="en-US" sz="1400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以后就是用你了</a:t>
            </a:r>
            <a:r>
              <a:rPr lang="zh-CN" altLang="en-US" sz="1400" dirty="0">
                <a:solidFill>
                  <a:srgbClr val="333333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Arial" panose="020B0604020202020204" pitchFamily="34" charset="0"/>
              </a:rPr>
              <a:t>）</a:t>
            </a:r>
            <a:endParaRPr lang="en-US" altLang="zh-CN" sz="1400" dirty="0">
              <a:solidFill>
                <a:srgbClr val="333333"/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  <a:sym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Arial" panose="020B0604020202020204" pitchFamily="34" charset="0"/>
              </a:rPr>
              <a:t>sklearn.preprocessing.StandardScaler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Arial" panose="020B0604020202020204" pitchFamily="34" charset="0"/>
              </a:rPr>
              <a:t>( )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  <a:sym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 descr="01 (82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05900" y="5174812"/>
            <a:ext cx="1481455" cy="1481455"/>
          </a:xfrm>
          <a:prstGeom prst="rect">
            <a:avLst/>
          </a:prstGeom>
        </p:spPr>
      </p:pic>
      <p:sp>
        <p:nvSpPr>
          <p:cNvPr id="2" name="矩形: 圆角 7"/>
          <p:cNvSpPr/>
          <p:nvPr/>
        </p:nvSpPr>
        <p:spPr>
          <a:xfrm>
            <a:off x="2723074" y="2604921"/>
            <a:ext cx="1706880" cy="43142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归一化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1630" y="2125749"/>
            <a:ext cx="2160240" cy="688626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1680" y="2964809"/>
            <a:ext cx="2751569" cy="353287"/>
          </a:xfrm>
          <a:prstGeom prst="rect">
            <a:avLst/>
          </a:prstGeom>
        </p:spPr>
      </p:pic>
      <p:sp>
        <p:nvSpPr>
          <p:cNvPr id="8" name="左大括号 7"/>
          <p:cNvSpPr/>
          <p:nvPr/>
        </p:nvSpPr>
        <p:spPr>
          <a:xfrm>
            <a:off x="4619657" y="2499270"/>
            <a:ext cx="311078" cy="647432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: 圆角 11"/>
          <p:cNvSpPr/>
          <p:nvPr/>
        </p:nvSpPr>
        <p:spPr>
          <a:xfrm>
            <a:off x="2723074" y="4221260"/>
            <a:ext cx="1706880" cy="40486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标准化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63880" y="4098959"/>
            <a:ext cx="2019500" cy="649466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2641940" y="4810160"/>
            <a:ext cx="6298519" cy="7005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 </a:t>
            </a:r>
            <a:r>
              <a:rPr lang="en-US" altLang="zh-CN" sz="1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__________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的情况下，异常值对样本的均值和标准差的影响可以忽略不计。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（提示：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样本数量小   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样本数量大）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2600862" y="3601712"/>
            <a:ext cx="80201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度量值 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X’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容易受到样本中 </a:t>
            </a:r>
            <a:r>
              <a:rPr lang="en-US" altLang="zh-CN" sz="1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__________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的影响，鲁棒性差。（提示：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分布  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最大值最小值 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方差）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3" name="直接箭头连接符 4"/>
          <p:cNvCxnSpPr>
            <a:stCxn id="9" idx="3"/>
            <a:endCxn id="10" idx="1"/>
          </p:cNvCxnSpPr>
          <p:nvPr/>
        </p:nvCxnSpPr>
        <p:spPr>
          <a:xfrm>
            <a:off x="4429954" y="4423692"/>
            <a:ext cx="93392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框 14"/>
          <p:cNvSpPr txBox="1"/>
          <p:nvPr/>
        </p:nvSpPr>
        <p:spPr>
          <a:xfrm>
            <a:off x="2141688" y="1915751"/>
            <a:ext cx="7232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填空：</a:t>
            </a:r>
            <a:endParaRPr lang="zh-CN" altLang="en-US" sz="1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2698832" y="5694772"/>
            <a:ext cx="3168650" cy="2755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200" b="1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答案：① 最大值最小值；② 样本数量较大。</a:t>
            </a:r>
            <a:endParaRPr lang="zh-CN" altLang="en-US" sz="1200" b="1" dirty="0">
              <a:solidFill>
                <a:schemeClr val="accent2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标题 2"/>
          <p:cNvSpPr txBox="1"/>
          <p:nvPr/>
        </p:nvSpPr>
        <p:spPr>
          <a:xfrm>
            <a:off x="2172295" y="985966"/>
            <a:ext cx="8364294" cy="51719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利用</a:t>
            </a: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KNN</a:t>
            </a:r>
            <a:r>
              <a:rPr kumimoji="1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算法对鸢尾花分类</a:t>
            </a: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j-cs"/>
              </a:rPr>
              <a:t>  </a:t>
            </a:r>
            <a:endParaRPr kumimoji="1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j-cs"/>
            </a:endParaRPr>
          </a:p>
        </p:txBody>
      </p:sp>
      <p:sp>
        <p:nvSpPr>
          <p:cNvPr id="18" name="三角形 17"/>
          <p:cNvSpPr/>
          <p:nvPr/>
        </p:nvSpPr>
        <p:spPr>
          <a:xfrm rot="2651319">
            <a:off x="3473471" y="1954238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黑体" panose="02010609060101010101" pitchFamily="49" charset="-122"/>
              <a:cs typeface="+mn-cs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7065" y="1709224"/>
            <a:ext cx="5717337" cy="2275373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2141" y="4047660"/>
            <a:ext cx="3769429" cy="2668100"/>
          </a:xfrm>
          <a:prstGeom prst="rect">
            <a:avLst/>
          </a:prstGeom>
        </p:spPr>
      </p:pic>
      <p:sp>
        <p:nvSpPr>
          <p:cNvPr id="11" name="文本占位符 5"/>
          <p:cNvSpPr txBox="1"/>
          <p:nvPr/>
        </p:nvSpPr>
        <p:spPr>
          <a:xfrm>
            <a:off x="7974345" y="2846910"/>
            <a:ext cx="2895646" cy="2066652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实现流程：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# 1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获取数据集</a:t>
            </a:r>
            <a:b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</a:b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# 2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数据基本处理</a:t>
            </a:r>
            <a:b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</a:b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# 3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数据集预处理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-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数据标准化</a:t>
            </a:r>
            <a:b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</a:b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# 4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机器学习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(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模型训练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)</a:t>
            </a:r>
            <a:b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</a:b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# 5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模型评估</a:t>
            </a:r>
            <a:b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</a:b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# 6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模型预测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标题 2"/>
          <p:cNvSpPr txBox="1"/>
          <p:nvPr/>
        </p:nvSpPr>
        <p:spPr>
          <a:xfrm>
            <a:off x="2172295" y="985966"/>
            <a:ext cx="8364294" cy="517190"/>
          </a:xfrm>
          <a:prstGeom prst="rect">
            <a:avLst/>
          </a:prstGeom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r>
              <a:rPr kumimoji="1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利用</a:t>
            </a: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KNN</a:t>
            </a:r>
            <a:r>
              <a:rPr kumimoji="1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算法对鸢尾花分类 </a:t>
            </a: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-</a:t>
            </a:r>
            <a:r>
              <a:rPr kumimoji="1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加载鸢尾花数据集</a:t>
            </a:r>
            <a:endParaRPr kumimoji="1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j-cs"/>
            </a:endParaRPr>
          </a:p>
        </p:txBody>
      </p:sp>
      <p:sp>
        <p:nvSpPr>
          <p:cNvPr id="18" name="三角形 17"/>
          <p:cNvSpPr/>
          <p:nvPr/>
        </p:nvSpPr>
        <p:spPr>
          <a:xfrm rot="2651319">
            <a:off x="3473471" y="1954238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9" name="TextBox 3"/>
          <p:cNvSpPr txBox="1"/>
          <p:nvPr/>
        </p:nvSpPr>
        <p:spPr>
          <a:xfrm>
            <a:off x="2693162" y="1503156"/>
            <a:ext cx="5375235" cy="4616648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pPr>
              <a:defRPr/>
            </a:pPr>
            <a:br>
              <a:rPr lang="en-GB" altLang="zh-CN" sz="1400" dirty="0"/>
            </a:br>
            <a:r>
              <a:rPr lang="en-GB" altLang="zh-CN" sz="1400" dirty="0">
                <a:solidFill>
                  <a:srgbClr val="0033B3"/>
                </a:solidFill>
                <a:effectLst/>
              </a:rPr>
              <a:t>from </a:t>
            </a:r>
            <a:r>
              <a:rPr lang="en-GB" altLang="zh-CN" sz="1400" dirty="0" err="1"/>
              <a:t>sklearn.datasets</a:t>
            </a:r>
            <a:r>
              <a:rPr lang="en-GB" altLang="zh-CN" sz="1400" dirty="0"/>
              <a:t> </a:t>
            </a:r>
            <a:r>
              <a:rPr lang="en-GB" altLang="zh-CN" sz="1400" dirty="0">
                <a:solidFill>
                  <a:srgbClr val="0033B3"/>
                </a:solidFill>
                <a:effectLst/>
              </a:rPr>
              <a:t>import </a:t>
            </a:r>
            <a:r>
              <a:rPr lang="en-GB" altLang="zh-CN" sz="1400" dirty="0" err="1"/>
              <a:t>load_iris</a:t>
            </a:r>
            <a:br>
              <a:rPr lang="en-GB" altLang="zh-CN" sz="1400"/>
            </a:br>
            <a:endParaRPr lang="en-US" altLang="zh-CN" sz="1400" i="1" dirty="0">
              <a:solidFill>
                <a:srgbClr val="8C8C8C"/>
              </a:solidFill>
              <a:effectLst/>
            </a:endParaRPr>
          </a:p>
          <a:p>
            <a:pPr>
              <a:defRPr/>
            </a:pPr>
            <a:r>
              <a:rPr lang="en-US" altLang="zh-CN" sz="1400" i="1" dirty="0">
                <a:solidFill>
                  <a:srgbClr val="8C8C8C"/>
                </a:solidFill>
                <a:effectLst/>
              </a:rPr>
              <a:t># </a:t>
            </a:r>
            <a:r>
              <a:rPr lang="zh-CN" altLang="en-US" sz="1400" i="1" dirty="0">
                <a:solidFill>
                  <a:srgbClr val="8C8C8C"/>
                </a:solidFill>
                <a:effectLst/>
              </a:rPr>
              <a:t>加载鸢尾花数据集</a:t>
            </a:r>
            <a:r>
              <a:rPr lang="en-US" altLang="zh-CN" sz="1400" i="1" dirty="0">
                <a:solidFill>
                  <a:srgbClr val="8C8C8C"/>
                </a:solidFill>
                <a:effectLst/>
              </a:rPr>
              <a:t>, </a:t>
            </a:r>
            <a:r>
              <a:rPr lang="zh-CN" altLang="en-US" sz="1400" i="1" dirty="0">
                <a:solidFill>
                  <a:srgbClr val="8C8C8C"/>
                </a:solidFill>
                <a:effectLst/>
              </a:rPr>
              <a:t>并显示属性 </a:t>
            </a:r>
            <a:r>
              <a:rPr lang="en-GB" altLang="zh-CN" sz="1400" i="1" dirty="0" err="1">
                <a:solidFill>
                  <a:srgbClr val="8C8C8C"/>
                </a:solidFill>
                <a:effectLst/>
              </a:rPr>
              <a:t>dataset.data</a:t>
            </a:r>
            <a:r>
              <a:rPr lang="en-GB" altLang="zh-CN" sz="1400" i="1" dirty="0">
                <a:solidFill>
                  <a:srgbClr val="8C8C8C"/>
                </a:solidFill>
                <a:effectLst/>
              </a:rPr>
              <a:t> .target .</a:t>
            </a:r>
            <a:r>
              <a:rPr lang="en-GB" altLang="zh-CN" sz="1400" i="1" dirty="0" err="1">
                <a:solidFill>
                  <a:srgbClr val="8C8C8C"/>
                </a:solidFill>
                <a:effectLst/>
              </a:rPr>
              <a:t>target_names</a:t>
            </a:r>
            <a:r>
              <a:rPr lang="en-GB" altLang="zh-CN" sz="1400" i="1" dirty="0">
                <a:solidFill>
                  <a:srgbClr val="8C8C8C"/>
                </a:solidFill>
                <a:effectLst/>
              </a:rPr>
              <a:t> .</a:t>
            </a:r>
            <a:r>
              <a:rPr lang="en-GB" altLang="zh-CN" sz="1400" i="1" dirty="0" err="1">
                <a:solidFill>
                  <a:srgbClr val="8C8C8C"/>
                </a:solidFill>
                <a:effectLst/>
              </a:rPr>
              <a:t>feature_names</a:t>
            </a:r>
            <a:r>
              <a:rPr lang="en-GB" altLang="zh-CN" sz="1400" i="1" dirty="0">
                <a:solidFill>
                  <a:srgbClr val="8C8C8C"/>
                </a:solidFill>
                <a:effectLst/>
              </a:rPr>
              <a:t> .DESCR</a:t>
            </a:r>
            <a:br>
              <a:rPr lang="en-GB" altLang="zh-CN" sz="1400" i="1" dirty="0">
                <a:solidFill>
                  <a:srgbClr val="8C8C8C"/>
                </a:solidFill>
                <a:effectLst/>
              </a:rPr>
            </a:br>
            <a:r>
              <a:rPr lang="en-GB" altLang="zh-CN" sz="1400" dirty="0">
                <a:solidFill>
                  <a:srgbClr val="0033B3"/>
                </a:solidFill>
                <a:effectLst/>
              </a:rPr>
              <a:t>def </a:t>
            </a:r>
            <a:r>
              <a:rPr lang="en-GB" altLang="zh-CN" sz="1400" dirty="0">
                <a:solidFill>
                  <a:srgbClr val="00627A"/>
                </a:solidFill>
                <a:effectLst/>
              </a:rPr>
              <a:t>dm01_loadiris</a:t>
            </a:r>
            <a:r>
              <a:rPr lang="en-GB" altLang="zh-CN" sz="1400" dirty="0"/>
              <a:t>():</a:t>
            </a:r>
            <a:br>
              <a:rPr lang="en-GB" altLang="zh-CN" sz="1400" dirty="0"/>
            </a:br>
            <a:br>
              <a:rPr lang="en-GB" altLang="zh-CN" sz="1400" dirty="0"/>
            </a:br>
            <a:r>
              <a:rPr lang="en-GB" altLang="zh-CN" sz="1400" dirty="0"/>
              <a:t>    </a:t>
            </a:r>
            <a:r>
              <a:rPr lang="en-GB" altLang="zh-CN" sz="1400" i="1" dirty="0">
                <a:solidFill>
                  <a:srgbClr val="8C8C8C"/>
                </a:solidFill>
                <a:effectLst/>
              </a:rPr>
              <a:t># </a:t>
            </a:r>
            <a:r>
              <a:rPr lang="zh-CN" altLang="en-US" sz="1400" i="1" dirty="0">
                <a:solidFill>
                  <a:srgbClr val="8C8C8C"/>
                </a:solidFill>
                <a:effectLst/>
              </a:rPr>
              <a:t>加载数据集</a:t>
            </a:r>
            <a:br>
              <a:rPr lang="zh-CN" altLang="en-US" sz="1400" i="1" dirty="0">
                <a:solidFill>
                  <a:srgbClr val="8C8C8C"/>
                </a:solidFill>
                <a:effectLst/>
              </a:rPr>
            </a:br>
            <a:r>
              <a:rPr lang="zh-CN" altLang="en-US" sz="1400" i="1" dirty="0">
                <a:solidFill>
                  <a:srgbClr val="8C8C8C"/>
                </a:solidFill>
                <a:effectLst/>
              </a:rPr>
              <a:t>    </a:t>
            </a:r>
            <a:r>
              <a:rPr lang="en-GB" altLang="zh-CN" sz="1400" dirty="0" err="1"/>
              <a:t>mydataset</a:t>
            </a:r>
            <a:r>
              <a:rPr lang="en-GB" altLang="zh-CN" sz="1400" dirty="0"/>
              <a:t> = </a:t>
            </a:r>
            <a:r>
              <a:rPr lang="en-GB" altLang="zh-CN" sz="1400" dirty="0" err="1"/>
              <a:t>load_iris</a:t>
            </a:r>
            <a:r>
              <a:rPr lang="en-GB" altLang="zh-CN" sz="1400" dirty="0"/>
              <a:t>()</a:t>
            </a:r>
            <a:br>
              <a:rPr lang="en-GB" altLang="zh-CN" sz="1400" dirty="0"/>
            </a:br>
            <a:r>
              <a:rPr lang="en-GB" altLang="zh-CN" sz="1400" dirty="0"/>
              <a:t>    </a:t>
            </a:r>
            <a:r>
              <a:rPr lang="en-GB" altLang="zh-CN" sz="1400" i="1" dirty="0">
                <a:solidFill>
                  <a:srgbClr val="8C8C8C"/>
                </a:solidFill>
                <a:effectLst/>
              </a:rPr>
              <a:t># </a:t>
            </a:r>
            <a:r>
              <a:rPr lang="zh-CN" altLang="en-US" sz="1400" i="1" dirty="0">
                <a:solidFill>
                  <a:srgbClr val="8C8C8C"/>
                </a:solidFill>
                <a:effectLst/>
              </a:rPr>
              <a:t>查看数据集信息</a:t>
            </a:r>
            <a:br>
              <a:rPr lang="zh-CN" altLang="en-US" sz="1400" i="1" dirty="0">
                <a:solidFill>
                  <a:srgbClr val="8C8C8C"/>
                </a:solidFill>
                <a:effectLst/>
              </a:rPr>
            </a:br>
            <a:r>
              <a:rPr lang="zh-CN" altLang="en-US" sz="1400" i="1" dirty="0">
                <a:solidFill>
                  <a:srgbClr val="8C8C8C"/>
                </a:solidFill>
                <a:effectLst/>
              </a:rPr>
              <a:t>    </a:t>
            </a:r>
            <a:r>
              <a:rPr lang="en-GB" altLang="zh-CN" sz="1400" dirty="0">
                <a:solidFill>
                  <a:srgbClr val="000080"/>
                </a:solidFill>
                <a:effectLst/>
              </a:rPr>
              <a:t>print</a:t>
            </a:r>
            <a:r>
              <a:rPr lang="en-GB" altLang="zh-CN" sz="1400" dirty="0"/>
              <a:t>(</a:t>
            </a:r>
            <a:r>
              <a:rPr lang="en-GB" altLang="zh-CN" sz="1400" dirty="0">
                <a:solidFill>
                  <a:srgbClr val="067D17"/>
                </a:solidFill>
                <a:effectLst/>
              </a:rPr>
              <a:t>'</a:t>
            </a:r>
            <a:r>
              <a:rPr lang="en-GB" altLang="zh-CN" sz="1400" dirty="0">
                <a:solidFill>
                  <a:srgbClr val="0037A6"/>
                </a:solidFill>
                <a:effectLst/>
              </a:rPr>
              <a:t>\n</a:t>
            </a:r>
            <a:r>
              <a:rPr lang="zh-CN" altLang="en-US" sz="1400" dirty="0">
                <a:solidFill>
                  <a:srgbClr val="067D17"/>
                </a:solidFill>
                <a:effectLst/>
              </a:rPr>
              <a:t>查看数据集信息</a:t>
            </a:r>
            <a:r>
              <a:rPr lang="en-US" altLang="zh-CN" sz="1400" dirty="0">
                <a:solidFill>
                  <a:srgbClr val="067D17"/>
                </a:solidFill>
                <a:effectLst/>
              </a:rPr>
              <a:t>--&gt;</a:t>
            </a:r>
            <a:r>
              <a:rPr lang="en-US" altLang="zh-CN" sz="1400" dirty="0">
                <a:solidFill>
                  <a:srgbClr val="0037A6"/>
                </a:solidFill>
                <a:effectLst/>
              </a:rPr>
              <a:t>\</a:t>
            </a:r>
            <a:r>
              <a:rPr lang="en-GB" altLang="zh-CN" sz="1400" dirty="0">
                <a:solidFill>
                  <a:srgbClr val="0037A6"/>
                </a:solidFill>
                <a:effectLst/>
              </a:rPr>
              <a:t>n</a:t>
            </a:r>
            <a:r>
              <a:rPr lang="en-GB" altLang="zh-CN" sz="1400" dirty="0">
                <a:solidFill>
                  <a:srgbClr val="067D17"/>
                </a:solidFill>
                <a:effectLst/>
              </a:rPr>
              <a:t>'</a:t>
            </a:r>
            <a:r>
              <a:rPr lang="en-GB" altLang="zh-CN" sz="1400" dirty="0"/>
              <a:t>, </a:t>
            </a:r>
            <a:r>
              <a:rPr lang="en-GB" altLang="zh-CN" sz="1400" dirty="0" err="1"/>
              <a:t>mydataset.data</a:t>
            </a:r>
            <a:r>
              <a:rPr lang="en-GB" altLang="zh-CN" sz="1400" dirty="0"/>
              <a:t>[:</a:t>
            </a:r>
            <a:r>
              <a:rPr lang="en-GB" altLang="zh-CN" sz="1400" dirty="0">
                <a:solidFill>
                  <a:srgbClr val="1750EB"/>
                </a:solidFill>
                <a:effectLst/>
              </a:rPr>
              <a:t>5</a:t>
            </a:r>
            <a:r>
              <a:rPr lang="en-GB" altLang="zh-CN" sz="1400" dirty="0"/>
              <a:t>])</a:t>
            </a:r>
            <a:br>
              <a:rPr lang="en-GB" altLang="zh-CN" sz="1400" dirty="0"/>
            </a:br>
            <a:r>
              <a:rPr lang="en-GB" altLang="zh-CN" sz="1400" dirty="0"/>
              <a:t>    </a:t>
            </a:r>
            <a:r>
              <a:rPr lang="en-GB" altLang="zh-CN" sz="1400" i="1" dirty="0">
                <a:solidFill>
                  <a:srgbClr val="8C8C8C"/>
                </a:solidFill>
                <a:effectLst/>
              </a:rPr>
              <a:t># </a:t>
            </a:r>
            <a:r>
              <a:rPr lang="zh-CN" altLang="en-US" sz="1400" i="1" dirty="0">
                <a:solidFill>
                  <a:srgbClr val="8C8C8C"/>
                </a:solidFill>
                <a:effectLst/>
              </a:rPr>
              <a:t>查看目标值</a:t>
            </a:r>
            <a:br>
              <a:rPr lang="zh-CN" altLang="en-US" sz="1400" i="1" dirty="0">
                <a:solidFill>
                  <a:srgbClr val="8C8C8C"/>
                </a:solidFill>
                <a:effectLst/>
              </a:rPr>
            </a:br>
            <a:r>
              <a:rPr lang="zh-CN" altLang="en-US" sz="1400" i="1" dirty="0">
                <a:solidFill>
                  <a:srgbClr val="8C8C8C"/>
                </a:solidFill>
                <a:effectLst/>
              </a:rPr>
              <a:t>    </a:t>
            </a:r>
            <a:r>
              <a:rPr lang="en-GB" altLang="zh-CN" sz="1400" dirty="0">
                <a:solidFill>
                  <a:srgbClr val="000080"/>
                </a:solidFill>
                <a:effectLst/>
              </a:rPr>
              <a:t>print</a:t>
            </a:r>
            <a:r>
              <a:rPr lang="en-GB" altLang="zh-CN" sz="1400" dirty="0"/>
              <a:t>(</a:t>
            </a:r>
            <a:r>
              <a:rPr lang="en-GB" altLang="zh-CN" sz="1400" dirty="0">
                <a:solidFill>
                  <a:srgbClr val="067D17"/>
                </a:solidFill>
                <a:effectLst/>
              </a:rPr>
              <a:t>'</a:t>
            </a:r>
            <a:r>
              <a:rPr lang="en-GB" altLang="zh-CN" sz="1400" dirty="0" err="1">
                <a:solidFill>
                  <a:srgbClr val="067D17"/>
                </a:solidFill>
                <a:effectLst/>
              </a:rPr>
              <a:t>mydataset.target</a:t>
            </a:r>
            <a:r>
              <a:rPr lang="en-GB" altLang="zh-CN" sz="1400" dirty="0">
                <a:solidFill>
                  <a:srgbClr val="067D17"/>
                </a:solidFill>
                <a:effectLst/>
              </a:rPr>
              <a:t>--&gt;</a:t>
            </a:r>
            <a:r>
              <a:rPr lang="en-GB" altLang="zh-CN" sz="1400" dirty="0">
                <a:solidFill>
                  <a:srgbClr val="0037A6"/>
                </a:solidFill>
                <a:effectLst/>
              </a:rPr>
              <a:t>\n</a:t>
            </a:r>
            <a:r>
              <a:rPr lang="en-GB" altLang="zh-CN" sz="1400" dirty="0">
                <a:solidFill>
                  <a:srgbClr val="067D17"/>
                </a:solidFill>
                <a:effectLst/>
              </a:rPr>
              <a:t>'</a:t>
            </a:r>
            <a:r>
              <a:rPr lang="en-GB" altLang="zh-CN" sz="1400" dirty="0"/>
              <a:t>, </a:t>
            </a:r>
            <a:r>
              <a:rPr lang="en-GB" altLang="zh-CN" sz="1400" dirty="0" err="1"/>
              <a:t>mydataset.target</a:t>
            </a:r>
            <a:r>
              <a:rPr lang="en-GB" altLang="zh-CN" sz="1400" dirty="0"/>
              <a:t>)</a:t>
            </a:r>
            <a:br>
              <a:rPr lang="en-GB" altLang="zh-CN" sz="1400" dirty="0"/>
            </a:br>
            <a:r>
              <a:rPr lang="en-GB" altLang="zh-CN" sz="1400" dirty="0"/>
              <a:t>    </a:t>
            </a:r>
            <a:r>
              <a:rPr lang="en-GB" altLang="zh-CN" sz="1400" i="1" dirty="0">
                <a:solidFill>
                  <a:srgbClr val="8C8C8C"/>
                </a:solidFill>
                <a:effectLst/>
              </a:rPr>
              <a:t># </a:t>
            </a:r>
            <a:r>
              <a:rPr lang="zh-CN" altLang="en-US" sz="1400" i="1" dirty="0">
                <a:solidFill>
                  <a:srgbClr val="8C8C8C"/>
                </a:solidFill>
                <a:effectLst/>
              </a:rPr>
              <a:t>查看目标值名字</a:t>
            </a:r>
            <a:br>
              <a:rPr lang="zh-CN" altLang="en-US" sz="1400" i="1" dirty="0">
                <a:solidFill>
                  <a:srgbClr val="8C8C8C"/>
                </a:solidFill>
                <a:effectLst/>
              </a:rPr>
            </a:br>
            <a:r>
              <a:rPr lang="zh-CN" altLang="en-US" sz="1400" i="1" dirty="0">
                <a:solidFill>
                  <a:srgbClr val="8C8C8C"/>
                </a:solidFill>
                <a:effectLst/>
              </a:rPr>
              <a:t>    </a:t>
            </a:r>
            <a:r>
              <a:rPr lang="en-GB" altLang="zh-CN" sz="1400" dirty="0">
                <a:solidFill>
                  <a:srgbClr val="000080"/>
                </a:solidFill>
                <a:effectLst/>
              </a:rPr>
              <a:t>print</a:t>
            </a:r>
            <a:r>
              <a:rPr lang="en-GB" altLang="zh-CN" sz="1400" dirty="0"/>
              <a:t>(</a:t>
            </a:r>
            <a:r>
              <a:rPr lang="en-GB" altLang="zh-CN" sz="1400" dirty="0">
                <a:solidFill>
                  <a:srgbClr val="067D17"/>
                </a:solidFill>
                <a:effectLst/>
              </a:rPr>
              <a:t>'</a:t>
            </a:r>
            <a:r>
              <a:rPr lang="en-GB" altLang="zh-CN" sz="1400" dirty="0" err="1">
                <a:solidFill>
                  <a:srgbClr val="067D17"/>
                </a:solidFill>
                <a:effectLst/>
              </a:rPr>
              <a:t>mydataset.target_names</a:t>
            </a:r>
            <a:r>
              <a:rPr lang="en-GB" altLang="zh-CN" sz="1400" dirty="0">
                <a:solidFill>
                  <a:srgbClr val="067D17"/>
                </a:solidFill>
                <a:effectLst/>
              </a:rPr>
              <a:t>--&gt;</a:t>
            </a:r>
            <a:r>
              <a:rPr lang="en-GB" altLang="zh-CN" sz="1400" dirty="0">
                <a:solidFill>
                  <a:srgbClr val="0037A6"/>
                </a:solidFill>
                <a:effectLst/>
              </a:rPr>
              <a:t>\n</a:t>
            </a:r>
            <a:r>
              <a:rPr lang="en-GB" altLang="zh-CN" sz="1400" dirty="0">
                <a:solidFill>
                  <a:srgbClr val="067D17"/>
                </a:solidFill>
                <a:effectLst/>
              </a:rPr>
              <a:t>'</a:t>
            </a:r>
            <a:r>
              <a:rPr lang="en-GB" altLang="zh-CN" sz="1400" dirty="0"/>
              <a:t>, </a:t>
            </a:r>
            <a:r>
              <a:rPr lang="en-GB" altLang="zh-CN" sz="1400" dirty="0" err="1"/>
              <a:t>mydataset.target_names</a:t>
            </a:r>
            <a:r>
              <a:rPr lang="en-GB" altLang="zh-CN" sz="1400" dirty="0"/>
              <a:t>)</a:t>
            </a:r>
            <a:br>
              <a:rPr lang="en-GB" altLang="zh-CN" sz="1400" dirty="0"/>
            </a:br>
            <a:r>
              <a:rPr lang="en-GB" altLang="zh-CN" sz="1400" dirty="0"/>
              <a:t>    </a:t>
            </a:r>
            <a:r>
              <a:rPr lang="en-GB" altLang="zh-CN" sz="1400" i="1" dirty="0">
                <a:solidFill>
                  <a:srgbClr val="8C8C8C"/>
                </a:solidFill>
                <a:effectLst/>
              </a:rPr>
              <a:t># </a:t>
            </a:r>
            <a:r>
              <a:rPr lang="zh-CN" altLang="en-US" sz="1400" i="1" dirty="0">
                <a:solidFill>
                  <a:srgbClr val="8C8C8C"/>
                </a:solidFill>
                <a:effectLst/>
              </a:rPr>
              <a:t>查看特征名</a:t>
            </a:r>
            <a:br>
              <a:rPr lang="zh-CN" altLang="en-US" sz="1400" i="1" dirty="0">
                <a:solidFill>
                  <a:srgbClr val="8C8C8C"/>
                </a:solidFill>
                <a:effectLst/>
              </a:rPr>
            </a:br>
            <a:r>
              <a:rPr lang="zh-CN" altLang="en-US" sz="1400" i="1" dirty="0">
                <a:solidFill>
                  <a:srgbClr val="8C8C8C"/>
                </a:solidFill>
                <a:effectLst/>
              </a:rPr>
              <a:t>    </a:t>
            </a:r>
            <a:r>
              <a:rPr lang="en-GB" altLang="zh-CN" sz="1400" dirty="0">
                <a:solidFill>
                  <a:srgbClr val="000080"/>
                </a:solidFill>
                <a:effectLst/>
              </a:rPr>
              <a:t>print</a:t>
            </a:r>
            <a:r>
              <a:rPr lang="en-GB" altLang="zh-CN" sz="1400" dirty="0"/>
              <a:t>(</a:t>
            </a:r>
            <a:r>
              <a:rPr lang="en-GB" altLang="zh-CN" sz="1400" dirty="0">
                <a:solidFill>
                  <a:srgbClr val="067D17"/>
                </a:solidFill>
                <a:effectLst/>
              </a:rPr>
              <a:t>'</a:t>
            </a:r>
            <a:r>
              <a:rPr lang="en-GB" altLang="zh-CN" sz="1400" dirty="0" err="1">
                <a:solidFill>
                  <a:srgbClr val="067D17"/>
                </a:solidFill>
                <a:effectLst/>
              </a:rPr>
              <a:t>mydataset.feature_names</a:t>
            </a:r>
            <a:r>
              <a:rPr lang="en-GB" altLang="zh-CN" sz="1400" dirty="0">
                <a:solidFill>
                  <a:srgbClr val="067D17"/>
                </a:solidFill>
                <a:effectLst/>
              </a:rPr>
              <a:t>--&gt;</a:t>
            </a:r>
            <a:r>
              <a:rPr lang="en-GB" altLang="zh-CN" sz="1400" dirty="0">
                <a:solidFill>
                  <a:srgbClr val="0037A6"/>
                </a:solidFill>
                <a:effectLst/>
              </a:rPr>
              <a:t>\n</a:t>
            </a:r>
            <a:r>
              <a:rPr lang="en-GB" altLang="zh-CN" sz="1400" dirty="0">
                <a:solidFill>
                  <a:srgbClr val="067D17"/>
                </a:solidFill>
                <a:effectLst/>
              </a:rPr>
              <a:t>'</a:t>
            </a:r>
            <a:r>
              <a:rPr lang="en-GB" altLang="zh-CN" sz="1400" dirty="0"/>
              <a:t>, </a:t>
            </a:r>
            <a:r>
              <a:rPr lang="en-GB" altLang="zh-CN" sz="1400" dirty="0" err="1"/>
              <a:t>mydataset.feature_names</a:t>
            </a:r>
            <a:r>
              <a:rPr lang="en-GB" altLang="zh-CN" sz="1400" dirty="0"/>
              <a:t>)</a:t>
            </a:r>
            <a:br>
              <a:rPr lang="en-GB" altLang="zh-CN" sz="1400" dirty="0"/>
            </a:br>
            <a:r>
              <a:rPr lang="en-GB" altLang="zh-CN" sz="1400" dirty="0"/>
              <a:t>    </a:t>
            </a:r>
            <a:r>
              <a:rPr lang="en-GB" altLang="zh-CN" sz="1400" i="1" dirty="0">
                <a:solidFill>
                  <a:srgbClr val="8C8C8C"/>
                </a:solidFill>
                <a:effectLst/>
              </a:rPr>
              <a:t># </a:t>
            </a:r>
            <a:r>
              <a:rPr lang="zh-CN" altLang="en-US" sz="1400" i="1" dirty="0">
                <a:solidFill>
                  <a:srgbClr val="8C8C8C"/>
                </a:solidFill>
                <a:effectLst/>
              </a:rPr>
              <a:t>查看数据集描述</a:t>
            </a:r>
            <a:br>
              <a:rPr lang="zh-CN" altLang="en-US" sz="1400" i="1" dirty="0">
                <a:solidFill>
                  <a:srgbClr val="8C8C8C"/>
                </a:solidFill>
                <a:effectLst/>
              </a:rPr>
            </a:br>
            <a:r>
              <a:rPr lang="zh-CN" altLang="en-US" sz="1400" i="1" dirty="0">
                <a:solidFill>
                  <a:srgbClr val="8C8C8C"/>
                </a:solidFill>
                <a:effectLst/>
              </a:rPr>
              <a:t>    </a:t>
            </a:r>
            <a:r>
              <a:rPr lang="en-GB" altLang="zh-CN" sz="1400" dirty="0">
                <a:solidFill>
                  <a:srgbClr val="000080"/>
                </a:solidFill>
                <a:effectLst/>
              </a:rPr>
              <a:t>print</a:t>
            </a:r>
            <a:r>
              <a:rPr lang="en-GB" altLang="zh-CN" sz="1400" dirty="0"/>
              <a:t>(</a:t>
            </a:r>
            <a:r>
              <a:rPr lang="en-GB" altLang="zh-CN" sz="1400" dirty="0">
                <a:solidFill>
                  <a:srgbClr val="067D17"/>
                </a:solidFill>
                <a:effectLst/>
              </a:rPr>
              <a:t>'</a:t>
            </a:r>
            <a:r>
              <a:rPr lang="en-GB" altLang="zh-CN" sz="1400" dirty="0">
                <a:solidFill>
                  <a:srgbClr val="0037A6"/>
                </a:solidFill>
                <a:effectLst/>
              </a:rPr>
              <a:t>\</a:t>
            </a:r>
            <a:r>
              <a:rPr lang="en-GB" altLang="zh-CN" sz="1400" dirty="0" err="1">
                <a:solidFill>
                  <a:srgbClr val="0037A6"/>
                </a:solidFill>
                <a:effectLst/>
              </a:rPr>
              <a:t>n</a:t>
            </a:r>
            <a:r>
              <a:rPr lang="en-GB" altLang="zh-CN" sz="1400" dirty="0" err="1">
                <a:solidFill>
                  <a:srgbClr val="067D17"/>
                </a:solidFill>
                <a:effectLst/>
              </a:rPr>
              <a:t>mydataset.DESCR</a:t>
            </a:r>
            <a:r>
              <a:rPr lang="en-GB" altLang="zh-CN" sz="1400" dirty="0">
                <a:solidFill>
                  <a:srgbClr val="067D17"/>
                </a:solidFill>
                <a:effectLst/>
              </a:rPr>
              <a:t>--&gt;</a:t>
            </a:r>
            <a:r>
              <a:rPr lang="en-GB" altLang="zh-CN" sz="1400" dirty="0">
                <a:solidFill>
                  <a:srgbClr val="0037A6"/>
                </a:solidFill>
                <a:effectLst/>
              </a:rPr>
              <a:t>\n</a:t>
            </a:r>
            <a:r>
              <a:rPr lang="en-GB" altLang="zh-CN" sz="1400" dirty="0">
                <a:solidFill>
                  <a:srgbClr val="067D17"/>
                </a:solidFill>
                <a:effectLst/>
              </a:rPr>
              <a:t>'</a:t>
            </a:r>
            <a:r>
              <a:rPr lang="en-GB" altLang="zh-CN" sz="1400" dirty="0"/>
              <a:t>, </a:t>
            </a:r>
            <a:r>
              <a:rPr lang="en-GB" altLang="zh-CN" sz="1400" dirty="0" err="1"/>
              <a:t>mydataset.DESCR</a:t>
            </a:r>
            <a:r>
              <a:rPr lang="en-GB" altLang="zh-CN" sz="1400" dirty="0"/>
              <a:t>)</a:t>
            </a:r>
            <a:br>
              <a:rPr lang="en-GB" altLang="zh-CN" sz="1400" dirty="0"/>
            </a:br>
            <a:r>
              <a:rPr lang="en-GB" altLang="zh-CN" sz="1400" dirty="0"/>
              <a:t>    </a:t>
            </a:r>
            <a:r>
              <a:rPr lang="en-GB" altLang="zh-CN" sz="1400" i="1" dirty="0">
                <a:solidFill>
                  <a:srgbClr val="8C8C8C"/>
                </a:solidFill>
                <a:effectLst/>
              </a:rPr>
              <a:t># </a:t>
            </a:r>
            <a:r>
              <a:rPr lang="zh-CN" altLang="en-US" sz="1400" i="1" dirty="0">
                <a:solidFill>
                  <a:srgbClr val="8C8C8C"/>
                </a:solidFill>
                <a:effectLst/>
              </a:rPr>
              <a:t>数据文件路径</a:t>
            </a:r>
            <a:br>
              <a:rPr lang="zh-CN" altLang="en-US" sz="1400" i="1" dirty="0">
                <a:solidFill>
                  <a:srgbClr val="8C8C8C"/>
                </a:solidFill>
                <a:effectLst/>
              </a:rPr>
            </a:br>
            <a:r>
              <a:rPr lang="zh-CN" altLang="en-US" sz="1400" i="1" dirty="0">
                <a:solidFill>
                  <a:srgbClr val="8C8C8C"/>
                </a:solidFill>
                <a:effectLst/>
              </a:rPr>
              <a:t>    </a:t>
            </a:r>
            <a:r>
              <a:rPr lang="en-GB" altLang="zh-CN" sz="1400" dirty="0">
                <a:solidFill>
                  <a:srgbClr val="000080"/>
                </a:solidFill>
                <a:effectLst/>
              </a:rPr>
              <a:t>print</a:t>
            </a:r>
            <a:r>
              <a:rPr lang="en-GB" altLang="zh-CN" sz="1400" dirty="0"/>
              <a:t>(</a:t>
            </a:r>
            <a:r>
              <a:rPr lang="en-GB" altLang="zh-CN" sz="1400" dirty="0">
                <a:solidFill>
                  <a:srgbClr val="067D17"/>
                </a:solidFill>
                <a:effectLst/>
              </a:rPr>
              <a:t>'</a:t>
            </a:r>
            <a:r>
              <a:rPr lang="en-GB" altLang="zh-CN" sz="1400" dirty="0" err="1">
                <a:solidFill>
                  <a:srgbClr val="067D17"/>
                </a:solidFill>
                <a:effectLst/>
              </a:rPr>
              <a:t>mydataset.filename</a:t>
            </a:r>
            <a:r>
              <a:rPr lang="en-GB" altLang="zh-CN" sz="1400" dirty="0">
                <a:solidFill>
                  <a:srgbClr val="067D17"/>
                </a:solidFill>
                <a:effectLst/>
              </a:rPr>
              <a:t>--&gt;</a:t>
            </a:r>
            <a:r>
              <a:rPr lang="en-GB" altLang="zh-CN" sz="1400" dirty="0">
                <a:solidFill>
                  <a:srgbClr val="0037A6"/>
                </a:solidFill>
                <a:effectLst/>
              </a:rPr>
              <a:t>\n</a:t>
            </a:r>
            <a:r>
              <a:rPr lang="en-GB" altLang="zh-CN" sz="1400" dirty="0">
                <a:solidFill>
                  <a:srgbClr val="067D17"/>
                </a:solidFill>
                <a:effectLst/>
              </a:rPr>
              <a:t>'</a:t>
            </a:r>
            <a:r>
              <a:rPr lang="en-GB" altLang="zh-CN" sz="1400" dirty="0"/>
              <a:t>, </a:t>
            </a:r>
            <a:r>
              <a:rPr lang="en-GB" altLang="zh-CN" sz="1400" dirty="0" err="1"/>
              <a:t>mydataset.filename</a:t>
            </a:r>
            <a:r>
              <a:rPr lang="en-GB" altLang="zh-CN" sz="1400" dirty="0"/>
              <a:t>)</a:t>
            </a:r>
            <a:endParaRPr lang="en-US" altLang="zh-CN" sz="14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标题 2"/>
          <p:cNvSpPr txBox="1"/>
          <p:nvPr/>
        </p:nvSpPr>
        <p:spPr>
          <a:xfrm>
            <a:off x="2172295" y="985966"/>
            <a:ext cx="8364294" cy="517190"/>
          </a:xfrm>
          <a:prstGeom prst="rect">
            <a:avLst/>
          </a:prstGeom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利用</a:t>
            </a: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KNN</a:t>
            </a:r>
            <a:r>
              <a:rPr kumimoji="1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算法对鸢尾花分类 </a:t>
            </a: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-</a:t>
            </a:r>
            <a:r>
              <a:rPr kumimoji="1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加载鸢尾花数据集</a:t>
            </a:r>
            <a:endParaRPr kumimoji="1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j-cs"/>
            </a:endParaRPr>
          </a:p>
        </p:txBody>
      </p:sp>
      <p:sp>
        <p:nvSpPr>
          <p:cNvPr id="18" name="三角形 17"/>
          <p:cNvSpPr/>
          <p:nvPr/>
        </p:nvSpPr>
        <p:spPr>
          <a:xfrm rot="2651319">
            <a:off x="3473471" y="1954238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9" name="TextBox 3"/>
          <p:cNvSpPr txBox="1"/>
          <p:nvPr/>
        </p:nvSpPr>
        <p:spPr>
          <a:xfrm>
            <a:off x="648598" y="1723608"/>
            <a:ext cx="6167161" cy="4524315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altLang="zh-CN" sz="1200" dirty="0">
                <a:solidFill>
                  <a:srgbClr val="0033B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import </a:t>
            </a: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seaborn </a:t>
            </a:r>
            <a:r>
              <a:rPr lang="en-GB" altLang="zh-CN" sz="1200" dirty="0">
                <a:solidFill>
                  <a:srgbClr val="0033B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as </a:t>
            </a:r>
            <a:r>
              <a:rPr lang="en-GB" altLang="zh-CN" sz="12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sns</a:t>
            </a:r>
            <a:b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en-GB" altLang="zh-CN" sz="1200" dirty="0">
                <a:solidFill>
                  <a:srgbClr val="0033B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import </a:t>
            </a:r>
            <a:r>
              <a:rPr lang="en-GB" altLang="zh-CN" sz="12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matplotlib.pyplot</a:t>
            </a: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</a:t>
            </a:r>
            <a:r>
              <a:rPr lang="en-GB" altLang="zh-CN" sz="1200" dirty="0">
                <a:solidFill>
                  <a:srgbClr val="0033B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as </a:t>
            </a:r>
            <a:r>
              <a:rPr lang="en-GB" altLang="zh-CN" sz="12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plt</a:t>
            </a:r>
            <a:b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en-GB" altLang="zh-CN" sz="1200" dirty="0">
                <a:solidFill>
                  <a:srgbClr val="0033B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import </a:t>
            </a: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pandas </a:t>
            </a:r>
            <a:r>
              <a:rPr lang="en-GB" altLang="zh-CN" sz="1200" dirty="0">
                <a:solidFill>
                  <a:srgbClr val="0033B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as </a:t>
            </a: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pd</a:t>
            </a:r>
            <a:b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b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en-GB" altLang="zh-CN" sz="1200" i="1" dirty="0">
                <a:solidFill>
                  <a:srgbClr val="8C8C8C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# </a:t>
            </a:r>
            <a:r>
              <a:rPr lang="zh-CN" altLang="en-US" sz="1200" i="1" dirty="0">
                <a:solidFill>
                  <a:srgbClr val="8C8C8C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显示鸢尾花数据</a:t>
            </a:r>
            <a:br>
              <a:rPr lang="zh-CN" altLang="en-US" sz="1200" i="1" dirty="0">
                <a:solidFill>
                  <a:srgbClr val="8C8C8C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en-GB" altLang="zh-CN" sz="1200" dirty="0">
                <a:solidFill>
                  <a:srgbClr val="0033B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def </a:t>
            </a:r>
            <a:r>
              <a:rPr lang="en-GB" altLang="zh-CN" sz="1200" dirty="0">
                <a:solidFill>
                  <a:srgbClr val="00627A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dm02_showiris</a:t>
            </a: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():</a:t>
            </a:r>
            <a:b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b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</a:t>
            </a:r>
            <a:r>
              <a:rPr lang="en-GB" altLang="zh-CN" sz="1200" i="1" dirty="0">
                <a:solidFill>
                  <a:srgbClr val="8C8C8C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# 1 </a:t>
            </a:r>
            <a:r>
              <a:rPr lang="zh-CN" altLang="en-US" sz="1200" i="1" dirty="0">
                <a:solidFill>
                  <a:srgbClr val="8C8C8C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载入鸢尾花数据集 并显示特征名称</a:t>
            </a:r>
            <a:r>
              <a:rPr lang="en-US" altLang="zh-CN" sz="1200" i="1" dirty="0">
                <a:solidFill>
                  <a:srgbClr val="8C8C8C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.</a:t>
            </a:r>
            <a:r>
              <a:rPr lang="en-GB" altLang="zh-CN" sz="1200" i="1" dirty="0" err="1">
                <a:solidFill>
                  <a:srgbClr val="8C8C8C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feature_names</a:t>
            </a:r>
            <a:br>
              <a:rPr lang="en-GB" altLang="zh-CN" sz="1200" i="1" dirty="0">
                <a:solidFill>
                  <a:srgbClr val="8C8C8C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en-GB" altLang="zh-CN" sz="1200" i="1" dirty="0">
                <a:solidFill>
                  <a:srgbClr val="8C8C8C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</a:t>
            </a:r>
            <a:r>
              <a:rPr lang="en-GB" altLang="zh-CN" sz="12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mydataset</a:t>
            </a: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= </a:t>
            </a:r>
            <a:r>
              <a:rPr lang="en-GB" altLang="zh-CN" sz="12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load_iris</a:t>
            </a: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()</a:t>
            </a:r>
            <a:b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</a:t>
            </a:r>
            <a:r>
              <a:rPr lang="en-GB" altLang="zh-CN" sz="1200" dirty="0">
                <a:solidFill>
                  <a:srgbClr val="000080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print</a:t>
            </a: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(</a:t>
            </a:r>
            <a:r>
              <a:rPr lang="en-GB" altLang="zh-CN" sz="12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mydataset.feature_names</a:t>
            </a: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)</a:t>
            </a:r>
            <a:b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b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</a:t>
            </a:r>
            <a:r>
              <a:rPr lang="en-GB" altLang="zh-CN" sz="1200" i="1" dirty="0">
                <a:solidFill>
                  <a:srgbClr val="8C8C8C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# 2 </a:t>
            </a:r>
            <a:r>
              <a:rPr lang="zh-CN" altLang="en-US" sz="1200" i="1" dirty="0">
                <a:solidFill>
                  <a:srgbClr val="8C8C8C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把数据转换成</a:t>
            </a:r>
            <a:r>
              <a:rPr lang="en-GB" altLang="zh-CN" sz="1200" i="1" dirty="0" err="1">
                <a:solidFill>
                  <a:srgbClr val="8C8C8C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dataframe</a:t>
            </a:r>
            <a:r>
              <a:rPr lang="zh-CN" altLang="en-US" sz="1200" i="1" dirty="0">
                <a:solidFill>
                  <a:srgbClr val="8C8C8C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格式 设置</a:t>
            </a:r>
            <a:r>
              <a:rPr lang="en-GB" altLang="zh-CN" sz="1200" i="1" dirty="0">
                <a:solidFill>
                  <a:srgbClr val="8C8C8C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data, columns</a:t>
            </a:r>
            <a:r>
              <a:rPr lang="zh-CN" altLang="en-US" sz="1200" i="1" dirty="0">
                <a:solidFill>
                  <a:srgbClr val="8C8C8C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属性 目标值名称</a:t>
            </a:r>
            <a:br>
              <a:rPr lang="zh-CN" altLang="en-US" sz="1200" i="1" dirty="0">
                <a:solidFill>
                  <a:srgbClr val="8C8C8C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zh-CN" altLang="en-US" sz="1200" i="1" dirty="0">
                <a:solidFill>
                  <a:srgbClr val="8C8C8C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</a:t>
            </a:r>
            <a:r>
              <a:rPr lang="en-GB" altLang="zh-CN" sz="12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iris_d</a:t>
            </a: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= </a:t>
            </a:r>
            <a:r>
              <a:rPr lang="en-GB" altLang="zh-CN" sz="12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pd.DataFrame</a:t>
            </a: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(</a:t>
            </a:r>
            <a:r>
              <a:rPr lang="en-GB" altLang="zh-CN" sz="12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mydataset</a:t>
            </a: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[</a:t>
            </a:r>
            <a:r>
              <a:rPr lang="en-GB" altLang="zh-CN" sz="1200" dirty="0">
                <a:solidFill>
                  <a:srgbClr val="067D17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'data'</a:t>
            </a: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], </a:t>
            </a:r>
            <a:r>
              <a:rPr lang="en-GB" altLang="zh-CN" sz="1200" dirty="0">
                <a:solidFill>
                  <a:srgbClr val="660099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columns</a:t>
            </a: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=</a:t>
            </a:r>
            <a:r>
              <a:rPr lang="en-GB" altLang="zh-CN" sz="12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mydataset.feature_names</a:t>
            </a: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)</a:t>
            </a:r>
            <a:b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</a:t>
            </a:r>
            <a:r>
              <a:rPr lang="en-GB" altLang="zh-CN" sz="12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iris_d</a:t>
            </a: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[</a:t>
            </a:r>
            <a:r>
              <a:rPr lang="en-GB" altLang="zh-CN" sz="1200" dirty="0">
                <a:solidFill>
                  <a:srgbClr val="067D17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'Species'</a:t>
            </a: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] = </a:t>
            </a:r>
            <a:r>
              <a:rPr lang="en-GB" altLang="zh-CN" sz="12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mydataset.target</a:t>
            </a:r>
            <a:b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</a:t>
            </a:r>
            <a:r>
              <a:rPr lang="en-GB" altLang="zh-CN" sz="1200" dirty="0">
                <a:solidFill>
                  <a:srgbClr val="000080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print</a:t>
            </a: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(</a:t>
            </a:r>
            <a:r>
              <a:rPr lang="en-GB" altLang="zh-CN" sz="1200" dirty="0">
                <a:solidFill>
                  <a:srgbClr val="067D17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'</a:t>
            </a:r>
            <a:r>
              <a:rPr lang="en-GB" altLang="zh-CN" sz="1200" dirty="0">
                <a:solidFill>
                  <a:srgbClr val="0037A6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\</a:t>
            </a:r>
            <a:r>
              <a:rPr lang="en-GB" altLang="zh-CN" sz="1200" dirty="0" err="1">
                <a:solidFill>
                  <a:srgbClr val="0037A6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n</a:t>
            </a:r>
            <a:r>
              <a:rPr lang="en-GB" altLang="zh-CN" sz="1200" dirty="0" err="1">
                <a:solidFill>
                  <a:srgbClr val="067D17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iris_d</a:t>
            </a:r>
            <a:r>
              <a:rPr lang="en-GB" altLang="zh-CN" sz="1200" dirty="0">
                <a:solidFill>
                  <a:srgbClr val="067D17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--&gt;</a:t>
            </a:r>
            <a:r>
              <a:rPr lang="en-GB" altLang="zh-CN" sz="1200" dirty="0">
                <a:solidFill>
                  <a:srgbClr val="0037A6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\n</a:t>
            </a:r>
            <a:r>
              <a:rPr lang="en-GB" altLang="zh-CN" sz="1200" dirty="0">
                <a:solidFill>
                  <a:srgbClr val="067D17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'</a:t>
            </a: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, </a:t>
            </a:r>
            <a:r>
              <a:rPr lang="en-GB" altLang="zh-CN" sz="12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iris_d</a:t>
            </a: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)</a:t>
            </a:r>
            <a:b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col1 = </a:t>
            </a:r>
            <a:r>
              <a:rPr lang="en-GB" altLang="zh-CN" sz="1200" dirty="0">
                <a:solidFill>
                  <a:srgbClr val="067D17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'sepal length (cm)'</a:t>
            </a:r>
            <a:br>
              <a:rPr lang="en-GB" altLang="zh-CN" sz="1200" dirty="0">
                <a:solidFill>
                  <a:srgbClr val="067D17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en-GB" altLang="zh-CN" sz="1200" dirty="0">
                <a:solidFill>
                  <a:srgbClr val="067D17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</a:t>
            </a: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col2 = </a:t>
            </a:r>
            <a:r>
              <a:rPr lang="en-GB" altLang="zh-CN" sz="1200" dirty="0">
                <a:solidFill>
                  <a:srgbClr val="067D17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'petal width (cm)'</a:t>
            </a:r>
            <a:br>
              <a:rPr lang="en-GB" altLang="zh-CN" sz="1200" dirty="0">
                <a:solidFill>
                  <a:srgbClr val="067D17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br>
              <a:rPr lang="en-GB" altLang="zh-CN" sz="1200" dirty="0">
                <a:solidFill>
                  <a:srgbClr val="067D17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en-GB" altLang="zh-CN" sz="1200" dirty="0">
                <a:solidFill>
                  <a:srgbClr val="067D17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</a:t>
            </a:r>
            <a:r>
              <a:rPr lang="en-GB" altLang="zh-CN" sz="1200" i="1" dirty="0">
                <a:solidFill>
                  <a:srgbClr val="8C8C8C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# 3 </a:t>
            </a:r>
            <a:r>
              <a:rPr lang="en-GB" altLang="zh-CN" sz="1200" i="1" dirty="0" err="1">
                <a:solidFill>
                  <a:srgbClr val="8C8C8C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sns.lmplot</a:t>
            </a:r>
            <a:r>
              <a:rPr lang="en-GB" altLang="zh-CN" sz="1200" i="1" dirty="0">
                <a:solidFill>
                  <a:srgbClr val="8C8C8C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()</a:t>
            </a:r>
            <a:r>
              <a:rPr lang="zh-CN" altLang="en-US" sz="1200" i="1" dirty="0">
                <a:solidFill>
                  <a:srgbClr val="8C8C8C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显示</a:t>
            </a:r>
            <a:br>
              <a:rPr lang="zh-CN" altLang="en-US" sz="1200" i="1" dirty="0">
                <a:solidFill>
                  <a:srgbClr val="8C8C8C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zh-CN" altLang="en-US" sz="1200" i="1" dirty="0">
                <a:solidFill>
                  <a:srgbClr val="8C8C8C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</a:t>
            </a:r>
            <a:r>
              <a:rPr lang="en-GB" altLang="zh-CN" sz="12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sns.lmplot</a:t>
            </a: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(</a:t>
            </a:r>
            <a:r>
              <a:rPr lang="en-GB" altLang="zh-CN" sz="1200" dirty="0">
                <a:solidFill>
                  <a:srgbClr val="660099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x</a:t>
            </a: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=col1, </a:t>
            </a:r>
            <a:r>
              <a:rPr lang="en-GB" altLang="zh-CN" sz="1200" dirty="0">
                <a:solidFill>
                  <a:srgbClr val="660099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y</a:t>
            </a: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=col2, </a:t>
            </a:r>
            <a:r>
              <a:rPr lang="en-GB" altLang="zh-CN" sz="1200" dirty="0">
                <a:solidFill>
                  <a:srgbClr val="660099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data</a:t>
            </a: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=</a:t>
            </a:r>
            <a:r>
              <a:rPr lang="en-GB" altLang="zh-CN" sz="12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iris_d</a:t>
            </a: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, </a:t>
            </a:r>
            <a:r>
              <a:rPr lang="en-GB" altLang="zh-CN" sz="1200" dirty="0">
                <a:solidFill>
                  <a:srgbClr val="660099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hue</a:t>
            </a: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=</a:t>
            </a:r>
            <a:r>
              <a:rPr lang="en-GB" altLang="zh-CN" sz="1200" dirty="0">
                <a:solidFill>
                  <a:srgbClr val="067D17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'Species'</a:t>
            </a: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, </a:t>
            </a:r>
            <a:r>
              <a:rPr lang="en-GB" altLang="zh-CN" sz="1200" dirty="0" err="1">
                <a:solidFill>
                  <a:srgbClr val="660099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fit_reg</a:t>
            </a: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=</a:t>
            </a:r>
            <a:r>
              <a:rPr lang="en-GB" altLang="zh-CN" sz="1200" dirty="0">
                <a:solidFill>
                  <a:srgbClr val="0033B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False</a:t>
            </a: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)</a:t>
            </a:r>
            <a:b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</a:t>
            </a:r>
            <a:r>
              <a:rPr lang="en-GB" altLang="zh-CN" sz="12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plt.xlabel</a:t>
            </a: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(col1)</a:t>
            </a:r>
            <a:b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</a:t>
            </a:r>
            <a:r>
              <a:rPr lang="en-GB" altLang="zh-CN" sz="12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plt.ylabel</a:t>
            </a: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(col2)</a:t>
            </a:r>
            <a:b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</a:t>
            </a:r>
            <a:r>
              <a:rPr lang="en-GB" altLang="zh-CN" sz="12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plt.title</a:t>
            </a: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(</a:t>
            </a:r>
            <a:r>
              <a:rPr lang="en-GB" altLang="zh-CN" sz="1200" dirty="0">
                <a:solidFill>
                  <a:srgbClr val="067D17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'iris'</a:t>
            </a: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)</a:t>
            </a:r>
            <a:b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</a:t>
            </a:r>
            <a:r>
              <a:rPr lang="en-GB" altLang="zh-CN" sz="12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plt.show</a:t>
            </a: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()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15072" y="2180491"/>
            <a:ext cx="4401105" cy="3868127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标题 2"/>
          <p:cNvSpPr txBox="1"/>
          <p:nvPr/>
        </p:nvSpPr>
        <p:spPr>
          <a:xfrm>
            <a:off x="2159043" y="1139652"/>
            <a:ext cx="8364294" cy="517190"/>
          </a:xfrm>
          <a:prstGeom prst="rect">
            <a:avLst/>
          </a:prstGeom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利用</a:t>
            </a: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KNN</a:t>
            </a:r>
            <a:r>
              <a:rPr kumimoji="1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算法对鸢尾花分类 </a:t>
            </a: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-</a:t>
            </a:r>
            <a:r>
              <a:rPr kumimoji="1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数据集划分</a:t>
            </a:r>
            <a:endParaRPr kumimoji="1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j-cs"/>
            </a:endParaRPr>
          </a:p>
        </p:txBody>
      </p:sp>
      <p:sp>
        <p:nvSpPr>
          <p:cNvPr id="18" name="三角形 17"/>
          <p:cNvSpPr/>
          <p:nvPr/>
        </p:nvSpPr>
        <p:spPr>
          <a:xfrm rot="2651319">
            <a:off x="3473471" y="1954238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9" name="TextBox 3"/>
          <p:cNvSpPr txBox="1"/>
          <p:nvPr/>
        </p:nvSpPr>
        <p:spPr>
          <a:xfrm>
            <a:off x="2537094" y="2072054"/>
            <a:ext cx="6244571" cy="3231654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altLang="zh-CN" sz="1200" dirty="0">
                <a:solidFill>
                  <a:srgbClr val="0033B3"/>
                </a:solidFill>
                <a:effectLst/>
              </a:rPr>
              <a:t>from </a:t>
            </a:r>
            <a:r>
              <a:rPr lang="en-GB" altLang="zh-CN" sz="1200" dirty="0" err="1"/>
              <a:t>sklearn.model_selection</a:t>
            </a:r>
            <a:r>
              <a:rPr lang="en-GB" altLang="zh-CN" sz="1200" dirty="0"/>
              <a:t> </a:t>
            </a:r>
            <a:r>
              <a:rPr lang="en-GB" altLang="zh-CN" sz="1200" dirty="0">
                <a:solidFill>
                  <a:srgbClr val="0033B3"/>
                </a:solidFill>
                <a:effectLst/>
              </a:rPr>
              <a:t>import </a:t>
            </a:r>
            <a:r>
              <a:rPr lang="en-GB" altLang="zh-CN" sz="1200" dirty="0" err="1"/>
              <a:t>train_test_split</a:t>
            </a:r>
            <a:endParaRPr kumimoji="0" lang="en-US" altLang="zh-CN" sz="1200" b="0" i="1" u="none" strike="noStrike" kern="1200" cap="none" spc="0" normalizeH="0" baseline="0" noProof="0" dirty="0">
              <a:ln>
                <a:noFill/>
              </a:ln>
              <a:solidFill>
                <a:srgbClr val="8C8C8C"/>
              </a:solidFill>
              <a:effectLst/>
              <a:uLnTx/>
              <a:uFillTx/>
              <a:latin typeface="Calibri" panose="020F0502020204030204"/>
              <a:ea typeface="黑体" panose="02010609060101010101" pitchFamily="49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1" u="none" strike="noStrike" kern="1200" cap="none" spc="0" normalizeH="0" baseline="0" noProof="0" dirty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# </a:t>
            </a:r>
            <a:r>
              <a: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数据集划分</a:t>
            </a:r>
            <a:br>
              <a: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</a:b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def 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627A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dm03_traintest_split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():</a:t>
            </a:r>
            <a:b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</a:br>
            <a:b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</a:b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    </a:t>
            </a:r>
            <a:r>
              <a:rPr kumimoji="0" lang="en-GB" altLang="zh-CN" sz="1200" b="0" i="1" u="none" strike="noStrike" kern="1200" cap="none" spc="0" normalizeH="0" baseline="0" noProof="0" dirty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# 1 </a:t>
            </a:r>
            <a:r>
              <a: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加载数据集</a:t>
            </a:r>
            <a:br>
              <a: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</a:br>
            <a:r>
              <a: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    </a:t>
            </a:r>
            <a:r>
              <a:rPr kumimoji="0" lang="en-GB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mydataset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 = </a:t>
            </a:r>
            <a:r>
              <a:rPr kumimoji="0" lang="en-GB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load_iris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()</a:t>
            </a:r>
            <a:b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</a:br>
            <a:b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</a:b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    </a:t>
            </a:r>
            <a:r>
              <a:rPr kumimoji="0" lang="en-GB" altLang="zh-CN" sz="1200" b="0" i="1" u="none" strike="noStrike" kern="1200" cap="none" spc="0" normalizeH="0" baseline="0" noProof="0" dirty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# 2 </a:t>
            </a:r>
            <a:r>
              <a: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划分数据集</a:t>
            </a:r>
            <a:br>
              <a: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</a:br>
            <a:r>
              <a: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    </a:t>
            </a:r>
            <a:r>
              <a:rPr kumimoji="0" lang="en-GB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X_train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, </a:t>
            </a:r>
            <a:r>
              <a:rPr kumimoji="0" lang="en-GB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X_test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, </a:t>
            </a:r>
            <a:r>
              <a:rPr kumimoji="0" lang="en-GB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y_train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, </a:t>
            </a:r>
            <a:r>
              <a:rPr kumimoji="0" lang="en-GB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y_test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 =  </a:t>
            </a:r>
            <a:r>
              <a:rPr kumimoji="0" lang="en-GB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train_test_split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(</a:t>
            </a:r>
            <a:r>
              <a:rPr kumimoji="0" lang="en-GB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mydataset.data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, </a:t>
            </a:r>
            <a:r>
              <a:rPr kumimoji="0" lang="en-GB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mydataset.target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, </a:t>
            </a:r>
            <a:r>
              <a:rPr kumimoji="0" lang="en-GB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660099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test_size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=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1750EB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0.3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, </a:t>
            </a:r>
            <a:r>
              <a:rPr kumimoji="0" lang="en-GB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660099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random_state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=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1750EB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22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)</a:t>
            </a:r>
            <a:b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</a:br>
            <a:br>
              <a:rPr kumimoji="0" lang="en-GB" altLang="zh-CN" sz="1200" b="0" i="1" u="none" strike="noStrike" kern="1200" cap="none" spc="0" normalizeH="0" baseline="0" noProof="0" dirty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</a:br>
            <a:br>
              <a:rPr kumimoji="0" lang="en-GB" altLang="zh-CN" sz="1200" b="0" i="1" u="none" strike="noStrike" kern="1200" cap="none" spc="0" normalizeH="0" baseline="0" noProof="0" dirty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</a:br>
            <a:r>
              <a:rPr kumimoji="0" lang="en-GB" altLang="zh-CN" sz="1200" b="0" i="1" u="none" strike="noStrike" kern="1200" cap="none" spc="0" normalizeH="0" baseline="0" noProof="0" dirty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    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print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(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67D17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'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67D17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数据总数量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67D17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'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, </a:t>
            </a:r>
            <a:r>
              <a:rPr kumimoji="0" lang="en-GB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len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(</a:t>
            </a:r>
            <a:r>
              <a:rPr kumimoji="0" lang="en-GB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mydataset.data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))</a:t>
            </a:r>
            <a:b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</a:b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    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print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(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67D17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'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67D17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训练集中的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67D17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x-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67D17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特征值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67D17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'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, </a:t>
            </a:r>
            <a:r>
              <a:rPr kumimoji="0" lang="en-GB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len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(</a:t>
            </a:r>
            <a:r>
              <a:rPr kumimoji="0" lang="en-GB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X_train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))</a:t>
            </a:r>
            <a:b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</a:b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    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print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(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67D17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'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67D17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测试集中的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67D17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x-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67D17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特征值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67D17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'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, </a:t>
            </a:r>
            <a:r>
              <a:rPr kumimoji="0" lang="en-GB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len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(</a:t>
            </a:r>
            <a:r>
              <a:rPr kumimoji="0" lang="en-GB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X_test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))</a:t>
            </a:r>
            <a:b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</a:b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    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print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(</a:t>
            </a:r>
            <a:r>
              <a:rPr kumimoji="0" lang="en-GB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y_train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)</a:t>
            </a:r>
            <a:b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</a:b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  <a:t>    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标题 2"/>
          <p:cNvSpPr txBox="1"/>
          <p:nvPr/>
        </p:nvSpPr>
        <p:spPr>
          <a:xfrm>
            <a:off x="2172295" y="985966"/>
            <a:ext cx="8364294" cy="517190"/>
          </a:xfrm>
          <a:prstGeom prst="rect">
            <a:avLst/>
          </a:prstGeom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利用</a:t>
            </a: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KNN</a:t>
            </a:r>
            <a:r>
              <a:rPr kumimoji="1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算法对鸢尾花分类 </a:t>
            </a: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–</a:t>
            </a:r>
            <a:r>
              <a:rPr kumimoji="1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模型训练</a:t>
            </a:r>
            <a:endParaRPr kumimoji="1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j-cs"/>
            </a:endParaRPr>
          </a:p>
        </p:txBody>
      </p:sp>
      <p:sp>
        <p:nvSpPr>
          <p:cNvPr id="18" name="三角形 17"/>
          <p:cNvSpPr/>
          <p:nvPr/>
        </p:nvSpPr>
        <p:spPr>
          <a:xfrm rot="2651319">
            <a:off x="3473471" y="1954238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2" name="TextBox 3"/>
          <p:cNvSpPr txBox="1"/>
          <p:nvPr/>
        </p:nvSpPr>
        <p:spPr>
          <a:xfrm>
            <a:off x="5100512" y="1503156"/>
            <a:ext cx="6546501" cy="5262979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altLang="zh-CN" sz="1200" dirty="0">
                <a:solidFill>
                  <a:srgbClr val="0033B3"/>
                </a:solidFill>
                <a:effectLst/>
              </a:rPr>
              <a:t>def </a:t>
            </a:r>
            <a:r>
              <a:rPr lang="en-GB" altLang="zh-CN" sz="1200" dirty="0">
                <a:solidFill>
                  <a:srgbClr val="00627A"/>
                </a:solidFill>
                <a:effectLst/>
              </a:rPr>
              <a:t>dm04_</a:t>
            </a:r>
            <a:r>
              <a:rPr lang="zh-CN" altLang="en-US" sz="1200" dirty="0">
                <a:solidFill>
                  <a:srgbClr val="00627A"/>
                </a:solidFill>
                <a:effectLst/>
              </a:rPr>
              <a:t>模型训练和预测</a:t>
            </a:r>
            <a:r>
              <a:rPr lang="en-US" altLang="zh-CN" sz="1200" dirty="0"/>
              <a:t>():</a:t>
            </a:r>
            <a:br>
              <a:rPr lang="en-US" altLang="zh-CN" sz="1200" dirty="0"/>
            </a:br>
            <a:r>
              <a:rPr lang="en-US" altLang="zh-CN" sz="1200" dirty="0"/>
              <a:t>    </a:t>
            </a:r>
            <a:r>
              <a:rPr lang="en-US" altLang="zh-CN" sz="1200" i="1" dirty="0">
                <a:solidFill>
                  <a:srgbClr val="8C8C8C"/>
                </a:solidFill>
                <a:effectLst/>
              </a:rPr>
              <a:t># 1 </a:t>
            </a:r>
            <a:r>
              <a:rPr lang="zh-CN" altLang="en-US" sz="1200" i="1" dirty="0">
                <a:solidFill>
                  <a:srgbClr val="8C8C8C"/>
                </a:solidFill>
                <a:effectLst/>
              </a:rPr>
              <a:t>获取数据集</a:t>
            </a:r>
            <a:br>
              <a:rPr lang="zh-CN" altLang="en-US" sz="1200" i="1" dirty="0">
                <a:solidFill>
                  <a:srgbClr val="8C8C8C"/>
                </a:solidFill>
                <a:effectLst/>
              </a:rPr>
            </a:br>
            <a:r>
              <a:rPr lang="zh-CN" altLang="en-US" sz="1200" i="1" dirty="0">
                <a:solidFill>
                  <a:srgbClr val="8C8C8C"/>
                </a:solidFill>
                <a:effectLst/>
              </a:rPr>
              <a:t>    </a:t>
            </a:r>
            <a:r>
              <a:rPr lang="en-GB" altLang="zh-CN" sz="1200" dirty="0" err="1"/>
              <a:t>mydataset</a:t>
            </a:r>
            <a:r>
              <a:rPr lang="en-GB" altLang="zh-CN" sz="1200" dirty="0"/>
              <a:t> = </a:t>
            </a:r>
            <a:r>
              <a:rPr lang="en-GB" altLang="zh-CN" sz="1200" dirty="0" err="1"/>
              <a:t>load_iris</a:t>
            </a:r>
            <a:r>
              <a:rPr lang="en-GB" altLang="zh-CN" sz="1200" dirty="0"/>
              <a:t>()</a:t>
            </a:r>
            <a:br>
              <a:rPr lang="en-GB" altLang="zh-CN" sz="1200" dirty="0"/>
            </a:br>
            <a:r>
              <a:rPr lang="en-GB" altLang="zh-CN" sz="1200" dirty="0"/>
              <a:t>    </a:t>
            </a:r>
            <a:r>
              <a:rPr lang="en-GB" altLang="zh-CN" sz="1200" i="1" dirty="0">
                <a:solidFill>
                  <a:srgbClr val="8C8C8C"/>
                </a:solidFill>
                <a:effectLst/>
              </a:rPr>
              <a:t># 2 </a:t>
            </a:r>
            <a:r>
              <a:rPr lang="zh-CN" altLang="en-US" sz="1200" i="1" dirty="0">
                <a:solidFill>
                  <a:srgbClr val="8C8C8C"/>
                </a:solidFill>
                <a:effectLst/>
              </a:rPr>
              <a:t>数据基本处理</a:t>
            </a:r>
            <a:br>
              <a:rPr lang="zh-CN" altLang="en-US" sz="1200" i="1" dirty="0">
                <a:solidFill>
                  <a:srgbClr val="8C8C8C"/>
                </a:solidFill>
                <a:effectLst/>
              </a:rPr>
            </a:br>
            <a:r>
              <a:rPr lang="zh-CN" altLang="en-US" sz="1200" i="1" dirty="0">
                <a:solidFill>
                  <a:srgbClr val="8C8C8C"/>
                </a:solidFill>
                <a:effectLst/>
              </a:rPr>
              <a:t>    </a:t>
            </a:r>
            <a:r>
              <a:rPr lang="en-GB" altLang="zh-CN" sz="1200" dirty="0" err="1"/>
              <a:t>x_train</a:t>
            </a:r>
            <a:r>
              <a:rPr lang="en-GB" altLang="zh-CN" sz="1200" dirty="0"/>
              <a:t>, </a:t>
            </a:r>
            <a:r>
              <a:rPr lang="en-GB" altLang="zh-CN" sz="1200" dirty="0" err="1"/>
              <a:t>x_test</a:t>
            </a:r>
            <a:r>
              <a:rPr lang="en-GB" altLang="zh-CN" sz="1200" dirty="0"/>
              <a:t>, </a:t>
            </a:r>
            <a:r>
              <a:rPr lang="en-GB" altLang="zh-CN" sz="1200" dirty="0" err="1"/>
              <a:t>y_train</a:t>
            </a:r>
            <a:r>
              <a:rPr lang="en-GB" altLang="zh-CN" sz="1200" dirty="0"/>
              <a:t>, </a:t>
            </a:r>
            <a:r>
              <a:rPr lang="en-GB" altLang="zh-CN" sz="1200" dirty="0" err="1"/>
              <a:t>y_test</a:t>
            </a:r>
            <a:r>
              <a:rPr lang="en-GB" altLang="zh-CN" sz="1200" dirty="0"/>
              <a:t> =  </a:t>
            </a:r>
            <a:r>
              <a:rPr lang="en-GB" altLang="zh-CN" sz="1200" dirty="0" err="1"/>
              <a:t>train_test_split</a:t>
            </a:r>
            <a:r>
              <a:rPr lang="en-GB" altLang="zh-CN" sz="1200" dirty="0"/>
              <a:t>(</a:t>
            </a:r>
            <a:r>
              <a:rPr lang="en-GB" altLang="zh-CN" sz="1200" dirty="0" err="1"/>
              <a:t>mydataset.data</a:t>
            </a:r>
            <a:r>
              <a:rPr lang="en-GB" altLang="zh-CN" sz="1200" dirty="0"/>
              <a:t>, </a:t>
            </a:r>
            <a:r>
              <a:rPr lang="en-GB" altLang="zh-CN" sz="1200" dirty="0" err="1"/>
              <a:t>mydataset.target</a:t>
            </a:r>
            <a:r>
              <a:rPr lang="en-GB" altLang="zh-CN" sz="1200" dirty="0"/>
              <a:t>, </a:t>
            </a:r>
            <a:r>
              <a:rPr lang="en-GB" altLang="zh-CN" sz="1200" dirty="0" err="1">
                <a:solidFill>
                  <a:srgbClr val="660099"/>
                </a:solidFill>
                <a:effectLst/>
              </a:rPr>
              <a:t>test_size</a:t>
            </a:r>
            <a:r>
              <a:rPr lang="en-GB" altLang="zh-CN" sz="1200" dirty="0"/>
              <a:t>=</a:t>
            </a:r>
            <a:r>
              <a:rPr lang="en-GB" altLang="zh-CN" sz="1200" dirty="0">
                <a:solidFill>
                  <a:srgbClr val="1750EB"/>
                </a:solidFill>
                <a:effectLst/>
              </a:rPr>
              <a:t>0.2</a:t>
            </a:r>
            <a:r>
              <a:rPr lang="en-GB" altLang="zh-CN" sz="1200" dirty="0"/>
              <a:t>, </a:t>
            </a:r>
            <a:r>
              <a:rPr lang="en-GB" altLang="zh-CN" sz="1200" dirty="0" err="1">
                <a:solidFill>
                  <a:srgbClr val="660099"/>
                </a:solidFill>
                <a:effectLst/>
              </a:rPr>
              <a:t>random_state</a:t>
            </a:r>
            <a:r>
              <a:rPr lang="en-GB" altLang="zh-CN" sz="1200" dirty="0"/>
              <a:t>=</a:t>
            </a:r>
            <a:r>
              <a:rPr lang="en-GB" altLang="zh-CN" sz="1200" dirty="0">
                <a:solidFill>
                  <a:srgbClr val="1750EB"/>
                </a:solidFill>
                <a:effectLst/>
              </a:rPr>
              <a:t>22</a:t>
            </a:r>
            <a:r>
              <a:rPr lang="en-GB" altLang="zh-CN" sz="1200" dirty="0"/>
              <a:t>)</a:t>
            </a:r>
            <a:br>
              <a:rPr lang="en-GB" altLang="zh-CN" sz="1200" i="1" dirty="0">
                <a:solidFill>
                  <a:srgbClr val="8C8C8C"/>
                </a:solidFill>
                <a:effectLst/>
              </a:rPr>
            </a:br>
            <a:r>
              <a:rPr lang="en-GB" altLang="zh-CN" sz="1200" i="1" dirty="0">
                <a:solidFill>
                  <a:srgbClr val="8C8C8C"/>
                </a:solidFill>
                <a:effectLst/>
              </a:rPr>
              <a:t>    # 3 </a:t>
            </a:r>
            <a:r>
              <a:rPr lang="zh-CN" altLang="en-US" sz="1200" i="1" dirty="0">
                <a:solidFill>
                  <a:srgbClr val="8C8C8C"/>
                </a:solidFill>
                <a:effectLst/>
              </a:rPr>
              <a:t>数据集预处理</a:t>
            </a:r>
            <a:r>
              <a:rPr lang="en-US" altLang="zh-CN" sz="1200" i="1" dirty="0">
                <a:solidFill>
                  <a:srgbClr val="8C8C8C"/>
                </a:solidFill>
                <a:effectLst/>
              </a:rPr>
              <a:t>-</a:t>
            </a:r>
            <a:r>
              <a:rPr lang="zh-CN" altLang="en-US" sz="1200" i="1" dirty="0">
                <a:solidFill>
                  <a:srgbClr val="8C8C8C"/>
                </a:solidFill>
                <a:effectLst/>
              </a:rPr>
              <a:t>数据标准化</a:t>
            </a:r>
            <a:br>
              <a:rPr lang="zh-CN" altLang="en-US" sz="1200" i="1" dirty="0">
                <a:solidFill>
                  <a:srgbClr val="8C8C8C"/>
                </a:solidFill>
                <a:effectLst/>
              </a:rPr>
            </a:br>
            <a:r>
              <a:rPr lang="zh-CN" altLang="en-US" sz="1200" i="1" dirty="0">
                <a:solidFill>
                  <a:srgbClr val="8C8C8C"/>
                </a:solidFill>
                <a:effectLst/>
              </a:rPr>
              <a:t>    </a:t>
            </a:r>
            <a:r>
              <a:rPr lang="en-GB" altLang="zh-CN" sz="1200" dirty="0"/>
              <a:t>transfer = </a:t>
            </a:r>
            <a:r>
              <a:rPr lang="en-GB" altLang="zh-CN" sz="1200" dirty="0" err="1"/>
              <a:t>StandardScaler</a:t>
            </a:r>
            <a:r>
              <a:rPr lang="en-GB" altLang="zh-CN" sz="1200" dirty="0"/>
              <a:t>()</a:t>
            </a:r>
            <a:br>
              <a:rPr lang="en-GB" altLang="zh-CN" sz="1200" dirty="0"/>
            </a:br>
            <a:r>
              <a:rPr lang="en-GB" altLang="zh-CN" sz="1200" dirty="0"/>
              <a:t>    </a:t>
            </a:r>
            <a:r>
              <a:rPr lang="en-GB" altLang="zh-CN" sz="1200" dirty="0" err="1"/>
              <a:t>x_train</a:t>
            </a:r>
            <a:r>
              <a:rPr lang="en-GB" altLang="zh-CN" sz="1200" dirty="0"/>
              <a:t> = </a:t>
            </a:r>
            <a:r>
              <a:rPr lang="en-GB" altLang="zh-CN" sz="1200" dirty="0" err="1"/>
              <a:t>transfer.fit_transform</a:t>
            </a:r>
            <a:r>
              <a:rPr lang="en-GB" altLang="zh-CN" sz="1200" dirty="0"/>
              <a:t>(</a:t>
            </a:r>
            <a:r>
              <a:rPr lang="en-GB" altLang="zh-CN" sz="1200" dirty="0" err="1"/>
              <a:t>x_train</a:t>
            </a:r>
            <a:r>
              <a:rPr lang="en-GB" altLang="zh-CN" sz="1200" dirty="0"/>
              <a:t>)</a:t>
            </a:r>
            <a:br>
              <a:rPr lang="en-GB" altLang="zh-CN" sz="1200" dirty="0"/>
            </a:br>
            <a:r>
              <a:rPr lang="en-GB" altLang="zh-CN" sz="1200" dirty="0"/>
              <a:t>    </a:t>
            </a:r>
            <a:r>
              <a:rPr lang="en-GB" altLang="zh-CN" sz="1200" i="1" dirty="0">
                <a:solidFill>
                  <a:srgbClr val="8C8C8C"/>
                </a:solidFill>
                <a:effectLst/>
              </a:rPr>
              <a:t># </a:t>
            </a:r>
            <a:r>
              <a:rPr lang="zh-CN" altLang="en-US" sz="1200" i="1" dirty="0">
                <a:solidFill>
                  <a:srgbClr val="8C8C8C"/>
                </a:solidFill>
                <a:effectLst/>
              </a:rPr>
              <a:t>让测试集的均值和方法</a:t>
            </a:r>
            <a:r>
              <a:rPr lang="en-US" altLang="zh-CN" sz="1200" i="1" dirty="0">
                <a:solidFill>
                  <a:srgbClr val="8C8C8C"/>
                </a:solidFill>
                <a:effectLst/>
              </a:rPr>
              <a:t>, </a:t>
            </a:r>
            <a:r>
              <a:rPr lang="zh-CN" altLang="en-US" sz="1200" i="1" dirty="0">
                <a:solidFill>
                  <a:srgbClr val="8C8C8C"/>
                </a:solidFill>
                <a:effectLst/>
              </a:rPr>
              <a:t>转换测试集数据</a:t>
            </a:r>
            <a:r>
              <a:rPr lang="en-US" altLang="zh-CN" sz="1200" i="1" dirty="0">
                <a:solidFill>
                  <a:srgbClr val="8C8C8C"/>
                </a:solidFill>
                <a:effectLst/>
              </a:rPr>
              <a:t>;</a:t>
            </a:r>
            <a:br>
              <a:rPr lang="zh-CN" altLang="en-US" sz="1200" i="1" dirty="0">
                <a:solidFill>
                  <a:srgbClr val="8C8C8C"/>
                </a:solidFill>
                <a:effectLst/>
              </a:rPr>
            </a:br>
            <a:r>
              <a:rPr lang="zh-CN" altLang="en-US" sz="1200" i="1" dirty="0">
                <a:solidFill>
                  <a:srgbClr val="8C8C8C"/>
                </a:solidFill>
                <a:effectLst/>
              </a:rPr>
              <a:t>    </a:t>
            </a:r>
            <a:r>
              <a:rPr lang="en-GB" altLang="zh-CN" sz="1200" dirty="0" err="1"/>
              <a:t>x_test</a:t>
            </a:r>
            <a:r>
              <a:rPr lang="en-GB" altLang="zh-CN" sz="1200" dirty="0"/>
              <a:t> = </a:t>
            </a:r>
            <a:r>
              <a:rPr lang="en-GB" altLang="zh-CN" sz="1200" dirty="0" err="1"/>
              <a:t>transfer.transform</a:t>
            </a:r>
            <a:r>
              <a:rPr lang="en-GB" altLang="zh-CN" sz="1200" dirty="0"/>
              <a:t>(</a:t>
            </a:r>
            <a:r>
              <a:rPr lang="en-GB" altLang="zh-CN" sz="1200" dirty="0" err="1"/>
              <a:t>x_test</a:t>
            </a:r>
            <a:r>
              <a:rPr lang="en-GB" altLang="zh-CN" sz="1200" dirty="0"/>
              <a:t>)</a:t>
            </a:r>
            <a:br>
              <a:rPr lang="en-GB" altLang="zh-CN" sz="1200" dirty="0"/>
            </a:br>
            <a:r>
              <a:rPr lang="en-GB" altLang="zh-CN" sz="1200" dirty="0"/>
              <a:t>    </a:t>
            </a:r>
            <a:r>
              <a:rPr lang="en-GB" altLang="zh-CN" sz="1200" i="1" dirty="0">
                <a:solidFill>
                  <a:srgbClr val="8C8C8C"/>
                </a:solidFill>
                <a:effectLst/>
              </a:rPr>
              <a:t># 4 </a:t>
            </a:r>
            <a:r>
              <a:rPr lang="zh-CN" altLang="en-US" sz="1200" i="1" dirty="0">
                <a:solidFill>
                  <a:srgbClr val="8C8C8C"/>
                </a:solidFill>
                <a:effectLst/>
              </a:rPr>
              <a:t>机器学习</a:t>
            </a:r>
            <a:r>
              <a:rPr lang="en-US" altLang="zh-CN" sz="1200" i="1" dirty="0">
                <a:solidFill>
                  <a:srgbClr val="8C8C8C"/>
                </a:solidFill>
                <a:effectLst/>
              </a:rPr>
              <a:t>(</a:t>
            </a:r>
            <a:r>
              <a:rPr lang="zh-CN" altLang="en-US" sz="1200" i="1" dirty="0">
                <a:solidFill>
                  <a:srgbClr val="8C8C8C"/>
                </a:solidFill>
                <a:effectLst/>
              </a:rPr>
              <a:t>模型训练</a:t>
            </a:r>
            <a:r>
              <a:rPr lang="en-US" altLang="zh-CN" sz="1200" i="1" dirty="0">
                <a:solidFill>
                  <a:srgbClr val="8C8C8C"/>
                </a:solidFill>
                <a:effectLst/>
              </a:rPr>
              <a:t>)</a:t>
            </a:r>
            <a:br>
              <a:rPr lang="en-US" altLang="zh-CN" sz="1200" i="1" dirty="0">
                <a:solidFill>
                  <a:srgbClr val="8C8C8C"/>
                </a:solidFill>
                <a:effectLst/>
              </a:rPr>
            </a:br>
            <a:r>
              <a:rPr lang="en-US" altLang="zh-CN" sz="1200" i="1" dirty="0">
                <a:solidFill>
                  <a:srgbClr val="8C8C8C"/>
                </a:solidFill>
                <a:effectLst/>
              </a:rPr>
              <a:t>    </a:t>
            </a:r>
            <a:r>
              <a:rPr lang="en-GB" altLang="zh-CN" sz="1200" dirty="0"/>
              <a:t>estimator = </a:t>
            </a:r>
            <a:r>
              <a:rPr lang="en-GB" altLang="zh-CN" sz="1200" dirty="0" err="1"/>
              <a:t>KNeighborsClassifier</a:t>
            </a:r>
            <a:r>
              <a:rPr lang="en-GB" altLang="zh-CN" sz="1200" dirty="0"/>
              <a:t>(</a:t>
            </a:r>
            <a:r>
              <a:rPr lang="en-GB" altLang="zh-CN" sz="1200" dirty="0" err="1">
                <a:solidFill>
                  <a:srgbClr val="660099"/>
                </a:solidFill>
                <a:effectLst/>
              </a:rPr>
              <a:t>n_neighbors</a:t>
            </a:r>
            <a:r>
              <a:rPr lang="en-GB" altLang="zh-CN" sz="1200" dirty="0"/>
              <a:t>=</a:t>
            </a:r>
            <a:r>
              <a:rPr lang="en-GB" altLang="zh-CN" sz="1200" dirty="0">
                <a:solidFill>
                  <a:srgbClr val="1750EB"/>
                </a:solidFill>
                <a:effectLst/>
              </a:rPr>
              <a:t>3</a:t>
            </a:r>
            <a:r>
              <a:rPr lang="en-GB" altLang="zh-CN" sz="1200" dirty="0"/>
              <a:t>)</a:t>
            </a:r>
            <a:br>
              <a:rPr lang="en-GB" altLang="zh-CN" sz="1200" dirty="0"/>
            </a:br>
            <a:r>
              <a:rPr lang="en-GB" altLang="zh-CN" sz="1200" dirty="0"/>
              <a:t>    </a:t>
            </a:r>
            <a:r>
              <a:rPr lang="en-GB" altLang="zh-CN" sz="1200" dirty="0" err="1"/>
              <a:t>estimator.fit</a:t>
            </a:r>
            <a:r>
              <a:rPr lang="en-GB" altLang="zh-CN" sz="1200" dirty="0"/>
              <a:t>(</a:t>
            </a:r>
            <a:r>
              <a:rPr lang="en-GB" altLang="zh-CN" sz="1200" dirty="0" err="1"/>
              <a:t>x_train</a:t>
            </a:r>
            <a:r>
              <a:rPr lang="en-GB" altLang="zh-CN" sz="1200" dirty="0"/>
              <a:t>, </a:t>
            </a:r>
            <a:r>
              <a:rPr lang="en-GB" altLang="zh-CN" sz="1200" dirty="0" err="1"/>
              <a:t>y_train</a:t>
            </a:r>
            <a:r>
              <a:rPr lang="en-GB" altLang="zh-CN" sz="1200" dirty="0"/>
              <a:t>)</a:t>
            </a:r>
            <a:br>
              <a:rPr lang="en-GB" altLang="zh-CN" sz="1200" dirty="0"/>
            </a:br>
            <a:r>
              <a:rPr lang="en-GB" altLang="zh-CN" sz="1200" dirty="0"/>
              <a:t>    </a:t>
            </a:r>
            <a:r>
              <a:rPr lang="en-GB" altLang="zh-CN" sz="1200" i="1" dirty="0">
                <a:solidFill>
                  <a:srgbClr val="8C8C8C"/>
                </a:solidFill>
                <a:effectLst/>
              </a:rPr>
              <a:t># 5 </a:t>
            </a:r>
            <a:r>
              <a:rPr lang="zh-CN" altLang="en-US" sz="1200" i="1" dirty="0">
                <a:solidFill>
                  <a:srgbClr val="8C8C8C"/>
                </a:solidFill>
                <a:effectLst/>
              </a:rPr>
              <a:t>模型评估 直接计算准确率 </a:t>
            </a:r>
            <a:r>
              <a:rPr lang="en-US" altLang="zh-CN" sz="1200" i="1" dirty="0">
                <a:solidFill>
                  <a:srgbClr val="8C8C8C"/>
                </a:solidFill>
                <a:effectLst/>
              </a:rPr>
              <a:t>100</a:t>
            </a:r>
            <a:r>
              <a:rPr lang="zh-CN" altLang="en-US" sz="1200" i="1" dirty="0">
                <a:solidFill>
                  <a:srgbClr val="8C8C8C"/>
                </a:solidFill>
                <a:effectLst/>
              </a:rPr>
              <a:t>个样本中模型预测对了多少</a:t>
            </a:r>
            <a:br>
              <a:rPr lang="zh-CN" altLang="en-US" sz="1200" i="1" dirty="0">
                <a:solidFill>
                  <a:srgbClr val="8C8C8C"/>
                </a:solidFill>
                <a:effectLst/>
              </a:rPr>
            </a:br>
            <a:r>
              <a:rPr lang="zh-CN" altLang="en-US" sz="1200" i="1" dirty="0">
                <a:solidFill>
                  <a:srgbClr val="8C8C8C"/>
                </a:solidFill>
                <a:effectLst/>
              </a:rPr>
              <a:t>    </a:t>
            </a:r>
            <a:r>
              <a:rPr lang="en-GB" altLang="zh-CN" sz="1200" dirty="0" err="1"/>
              <a:t>myscore</a:t>
            </a:r>
            <a:r>
              <a:rPr lang="en-GB" altLang="zh-CN" sz="1200" dirty="0"/>
              <a:t> = </a:t>
            </a:r>
            <a:r>
              <a:rPr lang="en-GB" altLang="zh-CN" sz="1200" dirty="0" err="1"/>
              <a:t>estimator.score</a:t>
            </a:r>
            <a:r>
              <a:rPr lang="en-GB" altLang="zh-CN" sz="1200" dirty="0"/>
              <a:t>(</a:t>
            </a:r>
            <a:r>
              <a:rPr lang="en-GB" altLang="zh-CN" sz="1200" dirty="0" err="1"/>
              <a:t>x_test</a:t>
            </a:r>
            <a:r>
              <a:rPr lang="en-GB" altLang="zh-CN" sz="1200" dirty="0"/>
              <a:t>, </a:t>
            </a:r>
            <a:r>
              <a:rPr lang="en-GB" altLang="zh-CN" sz="1200" dirty="0" err="1"/>
              <a:t>y_test</a:t>
            </a:r>
            <a:r>
              <a:rPr lang="en-GB" altLang="zh-CN" sz="1200" dirty="0"/>
              <a:t>)</a:t>
            </a:r>
            <a:br>
              <a:rPr lang="en-GB" altLang="zh-CN" sz="1200" dirty="0"/>
            </a:br>
            <a:r>
              <a:rPr lang="en-GB" altLang="zh-CN" sz="1200" dirty="0"/>
              <a:t>    </a:t>
            </a:r>
            <a:r>
              <a:rPr lang="en-GB" altLang="zh-CN" sz="1200" dirty="0">
                <a:solidFill>
                  <a:srgbClr val="000080"/>
                </a:solidFill>
                <a:effectLst/>
              </a:rPr>
              <a:t>print</a:t>
            </a:r>
            <a:r>
              <a:rPr lang="en-GB" altLang="zh-CN" sz="1200" dirty="0"/>
              <a:t>(</a:t>
            </a:r>
            <a:r>
              <a:rPr lang="en-GB" altLang="zh-CN" sz="1200" dirty="0">
                <a:solidFill>
                  <a:srgbClr val="067D17"/>
                </a:solidFill>
                <a:effectLst/>
              </a:rPr>
              <a:t>‘</a:t>
            </a:r>
            <a:r>
              <a:rPr lang="en-GB" altLang="zh-CN" sz="1200" dirty="0" err="1">
                <a:solidFill>
                  <a:srgbClr val="067D17"/>
                </a:solidFill>
                <a:effectLst/>
              </a:rPr>
              <a:t>myscore</a:t>
            </a:r>
            <a:r>
              <a:rPr lang="en-GB" altLang="zh-CN" sz="1200" dirty="0">
                <a:solidFill>
                  <a:srgbClr val="067D17"/>
                </a:solidFill>
                <a:effectLst/>
              </a:rPr>
              <a:t>--&gt;’</a:t>
            </a:r>
            <a:r>
              <a:rPr lang="en-GB" altLang="zh-CN" sz="1200" dirty="0"/>
              <a:t>, </a:t>
            </a:r>
            <a:r>
              <a:rPr lang="en-GB" altLang="zh-CN" sz="1200" dirty="0" err="1"/>
              <a:t>myscore</a:t>
            </a:r>
            <a:r>
              <a:rPr lang="en-GB" altLang="zh-CN" sz="1200" dirty="0"/>
              <a:t>)</a:t>
            </a:r>
            <a:br>
              <a:rPr lang="en-GB" altLang="zh-CN" sz="1200" dirty="0"/>
            </a:br>
            <a:br>
              <a:rPr lang="en-GB" altLang="zh-CN" sz="1200" dirty="0"/>
            </a:br>
            <a:r>
              <a:rPr lang="en-GB" altLang="zh-CN" sz="1200" dirty="0"/>
              <a:t>    </a:t>
            </a:r>
            <a:r>
              <a:rPr lang="en-GB" altLang="zh-CN" sz="1200" i="1" dirty="0">
                <a:solidFill>
                  <a:srgbClr val="8C8C8C"/>
                </a:solidFill>
                <a:effectLst/>
              </a:rPr>
              <a:t># 6 </a:t>
            </a:r>
            <a:r>
              <a:rPr lang="zh-CN" altLang="en-US" sz="1200" i="1" dirty="0">
                <a:solidFill>
                  <a:srgbClr val="8C8C8C"/>
                </a:solidFill>
                <a:effectLst/>
              </a:rPr>
              <a:t>模型预测  </a:t>
            </a:r>
            <a:r>
              <a:rPr lang="en-US" altLang="zh-CN" sz="1200" i="1" dirty="0">
                <a:solidFill>
                  <a:srgbClr val="8C8C8C"/>
                </a:solidFill>
                <a:effectLst/>
              </a:rPr>
              <a:t># </a:t>
            </a:r>
            <a:r>
              <a:rPr lang="zh-CN" altLang="en-US" sz="1200" i="1" dirty="0">
                <a:solidFill>
                  <a:srgbClr val="8C8C8C"/>
                </a:solidFill>
                <a:effectLst/>
              </a:rPr>
              <a:t>需要对待预测数据</a:t>
            </a:r>
            <a:r>
              <a:rPr lang="en-US" altLang="zh-CN" sz="1200" i="1" dirty="0">
                <a:solidFill>
                  <a:srgbClr val="8C8C8C"/>
                </a:solidFill>
                <a:effectLst/>
              </a:rPr>
              <a:t>,</a:t>
            </a:r>
            <a:r>
              <a:rPr lang="zh-CN" altLang="en-US" sz="1200" i="1" dirty="0">
                <a:solidFill>
                  <a:srgbClr val="8C8C8C"/>
                </a:solidFill>
                <a:effectLst/>
              </a:rPr>
              <a:t>执行标准化</a:t>
            </a:r>
            <a:br>
              <a:rPr lang="zh-CN" altLang="en-US" sz="1200" i="1" dirty="0">
                <a:solidFill>
                  <a:srgbClr val="8C8C8C"/>
                </a:solidFill>
                <a:effectLst/>
              </a:rPr>
            </a:br>
            <a:r>
              <a:rPr lang="zh-CN" altLang="en-US" sz="1200" i="1" dirty="0">
                <a:solidFill>
                  <a:srgbClr val="8C8C8C"/>
                </a:solidFill>
                <a:effectLst/>
              </a:rPr>
              <a:t>    </a:t>
            </a:r>
            <a:r>
              <a:rPr lang="en-GB" altLang="zh-CN" sz="1200" dirty="0">
                <a:solidFill>
                  <a:srgbClr val="000080"/>
                </a:solidFill>
                <a:effectLst/>
              </a:rPr>
              <a:t>print</a:t>
            </a:r>
            <a:r>
              <a:rPr lang="en-GB" altLang="zh-CN" sz="1200" dirty="0"/>
              <a:t>(</a:t>
            </a:r>
            <a:r>
              <a:rPr lang="en-GB" altLang="zh-CN" sz="1200" dirty="0">
                <a:solidFill>
                  <a:srgbClr val="067D17"/>
                </a:solidFill>
                <a:effectLst/>
              </a:rPr>
              <a:t>'</a:t>
            </a:r>
            <a:r>
              <a:rPr lang="zh-CN" altLang="en-US" sz="1200" dirty="0">
                <a:solidFill>
                  <a:srgbClr val="067D17"/>
                </a:solidFill>
                <a:effectLst/>
              </a:rPr>
              <a:t>通过模型查看分类类别</a:t>
            </a:r>
            <a:r>
              <a:rPr lang="en-US" altLang="zh-CN" sz="1200" dirty="0">
                <a:solidFill>
                  <a:srgbClr val="067D17"/>
                </a:solidFill>
                <a:effectLst/>
              </a:rPr>
              <a:t>--&gt;'</a:t>
            </a:r>
            <a:r>
              <a:rPr lang="en-US" altLang="zh-CN" sz="1200" dirty="0"/>
              <a:t>, </a:t>
            </a:r>
            <a:r>
              <a:rPr lang="en-GB" altLang="zh-CN" sz="1200" dirty="0" err="1"/>
              <a:t>estimator.classes</a:t>
            </a:r>
            <a:r>
              <a:rPr lang="en-GB" altLang="zh-CN" sz="1200" dirty="0"/>
              <a:t>_)</a:t>
            </a:r>
            <a:br>
              <a:rPr lang="en-GB" altLang="zh-CN" sz="1200" dirty="0"/>
            </a:br>
            <a:r>
              <a:rPr lang="en-GB" altLang="zh-CN" sz="1200" dirty="0"/>
              <a:t>    </a:t>
            </a:r>
            <a:r>
              <a:rPr lang="en-GB" altLang="zh-CN" sz="1200" dirty="0" err="1"/>
              <a:t>mydata</a:t>
            </a:r>
            <a:r>
              <a:rPr lang="en-GB" altLang="zh-CN" sz="1200" dirty="0"/>
              <a:t> =  [[</a:t>
            </a:r>
            <a:r>
              <a:rPr lang="en-GB" altLang="zh-CN" sz="1200" dirty="0">
                <a:solidFill>
                  <a:srgbClr val="1750EB"/>
                </a:solidFill>
                <a:effectLst/>
              </a:rPr>
              <a:t>5.1</a:t>
            </a:r>
            <a:r>
              <a:rPr lang="en-GB" altLang="zh-CN" sz="1200" dirty="0"/>
              <a:t>, </a:t>
            </a:r>
            <a:r>
              <a:rPr lang="en-GB" altLang="zh-CN" sz="1200" dirty="0">
                <a:solidFill>
                  <a:srgbClr val="1750EB"/>
                </a:solidFill>
                <a:effectLst/>
              </a:rPr>
              <a:t>3.5</a:t>
            </a:r>
            <a:r>
              <a:rPr lang="en-GB" altLang="zh-CN" sz="1200" dirty="0"/>
              <a:t>, </a:t>
            </a:r>
            <a:r>
              <a:rPr lang="en-GB" altLang="zh-CN" sz="1200" dirty="0">
                <a:solidFill>
                  <a:srgbClr val="1750EB"/>
                </a:solidFill>
                <a:effectLst/>
              </a:rPr>
              <a:t>1.4</a:t>
            </a:r>
            <a:r>
              <a:rPr lang="en-GB" altLang="zh-CN" sz="1200" dirty="0"/>
              <a:t>, </a:t>
            </a:r>
            <a:r>
              <a:rPr lang="en-GB" altLang="zh-CN" sz="1200" dirty="0">
                <a:solidFill>
                  <a:srgbClr val="1750EB"/>
                </a:solidFill>
                <a:effectLst/>
              </a:rPr>
              <a:t>0.2</a:t>
            </a:r>
            <a:r>
              <a:rPr lang="en-GB" altLang="zh-CN" sz="1200" dirty="0"/>
              <a:t>],</a:t>
            </a:r>
            <a:br>
              <a:rPr lang="en-GB" altLang="zh-CN" sz="1200" dirty="0"/>
            </a:br>
            <a:r>
              <a:rPr lang="en-GB" altLang="zh-CN" sz="1200" dirty="0"/>
              <a:t>                [</a:t>
            </a:r>
            <a:r>
              <a:rPr lang="en-GB" altLang="zh-CN" sz="1200" dirty="0">
                <a:solidFill>
                  <a:srgbClr val="1750EB"/>
                </a:solidFill>
                <a:effectLst/>
              </a:rPr>
              <a:t>4.6</a:t>
            </a:r>
            <a:r>
              <a:rPr lang="en-GB" altLang="zh-CN" sz="1200" dirty="0"/>
              <a:t>, </a:t>
            </a:r>
            <a:r>
              <a:rPr lang="en-GB" altLang="zh-CN" sz="1200" dirty="0">
                <a:solidFill>
                  <a:srgbClr val="1750EB"/>
                </a:solidFill>
                <a:effectLst/>
              </a:rPr>
              <a:t>3.1</a:t>
            </a:r>
            <a:r>
              <a:rPr lang="en-GB" altLang="zh-CN" sz="1200" dirty="0"/>
              <a:t>, </a:t>
            </a:r>
            <a:r>
              <a:rPr lang="en-GB" altLang="zh-CN" sz="1200" dirty="0">
                <a:solidFill>
                  <a:srgbClr val="1750EB"/>
                </a:solidFill>
                <a:effectLst/>
              </a:rPr>
              <a:t>1.5</a:t>
            </a:r>
            <a:r>
              <a:rPr lang="en-GB" altLang="zh-CN" sz="1200" dirty="0"/>
              <a:t>, </a:t>
            </a:r>
            <a:r>
              <a:rPr lang="en-GB" altLang="zh-CN" sz="1200" dirty="0">
                <a:solidFill>
                  <a:srgbClr val="1750EB"/>
                </a:solidFill>
                <a:effectLst/>
              </a:rPr>
              <a:t>0.2</a:t>
            </a:r>
            <a:r>
              <a:rPr lang="en-GB" altLang="zh-CN" sz="1200" dirty="0"/>
              <a:t>]]</a:t>
            </a:r>
            <a:br>
              <a:rPr lang="en-GB" altLang="zh-CN" sz="1200" dirty="0"/>
            </a:br>
            <a:r>
              <a:rPr lang="en-GB" altLang="zh-CN" sz="1200" dirty="0"/>
              <a:t>    </a:t>
            </a:r>
            <a:r>
              <a:rPr lang="en-GB" altLang="zh-CN" sz="1200" dirty="0" err="1"/>
              <a:t>mydata</a:t>
            </a:r>
            <a:r>
              <a:rPr lang="en-GB" altLang="zh-CN" sz="1200" dirty="0"/>
              <a:t> = </a:t>
            </a:r>
            <a:r>
              <a:rPr lang="en-GB" altLang="zh-CN" sz="1200" dirty="0" err="1"/>
              <a:t>transfer.transform</a:t>
            </a:r>
            <a:r>
              <a:rPr lang="en-GB" altLang="zh-CN" sz="1200" dirty="0"/>
              <a:t>(</a:t>
            </a:r>
            <a:r>
              <a:rPr lang="en-GB" altLang="zh-CN" sz="1200" dirty="0" err="1"/>
              <a:t>mydata</a:t>
            </a:r>
            <a:r>
              <a:rPr lang="en-GB" altLang="zh-CN" sz="1200" dirty="0"/>
              <a:t>)</a:t>
            </a:r>
            <a:br>
              <a:rPr lang="en-GB" altLang="zh-CN" sz="1200" dirty="0"/>
            </a:br>
            <a:r>
              <a:rPr lang="en-GB" altLang="zh-CN" sz="1200" dirty="0"/>
              <a:t>    </a:t>
            </a:r>
            <a:r>
              <a:rPr lang="en-GB" altLang="zh-CN" sz="1200" dirty="0">
                <a:solidFill>
                  <a:srgbClr val="000080"/>
                </a:solidFill>
                <a:effectLst/>
              </a:rPr>
              <a:t>print</a:t>
            </a:r>
            <a:r>
              <a:rPr lang="en-GB" altLang="zh-CN" sz="1200" dirty="0"/>
              <a:t>(</a:t>
            </a:r>
            <a:r>
              <a:rPr lang="en-GB" altLang="zh-CN" sz="1200" dirty="0">
                <a:solidFill>
                  <a:srgbClr val="067D17"/>
                </a:solidFill>
                <a:effectLst/>
              </a:rPr>
              <a:t>'</a:t>
            </a:r>
            <a:r>
              <a:rPr lang="en-GB" altLang="zh-CN" sz="1200" dirty="0" err="1">
                <a:solidFill>
                  <a:srgbClr val="067D17"/>
                </a:solidFill>
                <a:effectLst/>
              </a:rPr>
              <a:t>mydata</a:t>
            </a:r>
            <a:r>
              <a:rPr lang="en-GB" altLang="zh-CN" sz="1200" dirty="0">
                <a:solidFill>
                  <a:srgbClr val="067D17"/>
                </a:solidFill>
                <a:effectLst/>
              </a:rPr>
              <a:t>--&gt;'</a:t>
            </a:r>
            <a:r>
              <a:rPr lang="en-GB" altLang="zh-CN" sz="1200" dirty="0"/>
              <a:t>, </a:t>
            </a:r>
            <a:r>
              <a:rPr lang="en-GB" altLang="zh-CN" sz="1200" dirty="0" err="1"/>
              <a:t>mydata</a:t>
            </a:r>
            <a:r>
              <a:rPr lang="en-GB" altLang="zh-CN" sz="1200" dirty="0"/>
              <a:t>)</a:t>
            </a:r>
            <a:br>
              <a:rPr lang="en-GB" altLang="zh-CN" sz="1200" dirty="0"/>
            </a:br>
            <a:r>
              <a:rPr lang="en-GB" altLang="zh-CN" sz="1200" dirty="0"/>
              <a:t>    </a:t>
            </a:r>
            <a:r>
              <a:rPr lang="en-GB" altLang="zh-CN" sz="1200" dirty="0" err="1"/>
              <a:t>mypred</a:t>
            </a:r>
            <a:r>
              <a:rPr lang="en-GB" altLang="zh-CN" sz="1200" dirty="0"/>
              <a:t> = </a:t>
            </a:r>
            <a:r>
              <a:rPr lang="en-GB" altLang="zh-CN" sz="1200" dirty="0" err="1"/>
              <a:t>estimator.predict</a:t>
            </a:r>
            <a:r>
              <a:rPr lang="en-GB" altLang="zh-CN" sz="1200" dirty="0"/>
              <a:t>(</a:t>
            </a:r>
            <a:r>
              <a:rPr lang="en-GB" altLang="zh-CN" sz="1200" dirty="0" err="1"/>
              <a:t>mydata</a:t>
            </a:r>
            <a:r>
              <a:rPr lang="en-GB" altLang="zh-CN" sz="1200" dirty="0"/>
              <a:t>)</a:t>
            </a:r>
            <a:br>
              <a:rPr lang="en-GB" altLang="zh-CN" sz="1200" dirty="0"/>
            </a:br>
            <a:r>
              <a:rPr lang="en-GB" altLang="zh-CN" sz="1200" dirty="0"/>
              <a:t>    </a:t>
            </a:r>
            <a:r>
              <a:rPr lang="en-GB" altLang="zh-CN" sz="1200" dirty="0">
                <a:solidFill>
                  <a:srgbClr val="000080"/>
                </a:solidFill>
                <a:effectLst/>
              </a:rPr>
              <a:t>print</a:t>
            </a:r>
            <a:r>
              <a:rPr lang="en-GB" altLang="zh-CN" sz="1200" dirty="0"/>
              <a:t>(</a:t>
            </a:r>
            <a:r>
              <a:rPr lang="en-GB" altLang="zh-CN" sz="1200" dirty="0">
                <a:solidFill>
                  <a:srgbClr val="067D17"/>
                </a:solidFill>
                <a:effectLst/>
              </a:rPr>
              <a:t>'</a:t>
            </a:r>
            <a:r>
              <a:rPr lang="en-GB" altLang="zh-CN" sz="1200" dirty="0" err="1">
                <a:solidFill>
                  <a:srgbClr val="067D17"/>
                </a:solidFill>
                <a:effectLst/>
              </a:rPr>
              <a:t>mypred</a:t>
            </a:r>
            <a:r>
              <a:rPr lang="en-GB" altLang="zh-CN" sz="1200" dirty="0">
                <a:solidFill>
                  <a:srgbClr val="067D17"/>
                </a:solidFill>
                <a:effectLst/>
              </a:rPr>
              <a:t>--&gt;</a:t>
            </a:r>
            <a:r>
              <a:rPr lang="en-GB" altLang="zh-CN" sz="1200" dirty="0">
                <a:solidFill>
                  <a:srgbClr val="0037A6"/>
                </a:solidFill>
                <a:effectLst/>
              </a:rPr>
              <a:t>\n</a:t>
            </a:r>
            <a:r>
              <a:rPr lang="en-GB" altLang="zh-CN" sz="1200" dirty="0">
                <a:solidFill>
                  <a:srgbClr val="067D17"/>
                </a:solidFill>
                <a:effectLst/>
              </a:rPr>
              <a:t>'</a:t>
            </a:r>
            <a:r>
              <a:rPr lang="en-GB" altLang="zh-CN" sz="1200" dirty="0"/>
              <a:t>, </a:t>
            </a:r>
            <a:r>
              <a:rPr lang="en-GB" altLang="zh-CN" sz="1200" dirty="0" err="1"/>
              <a:t>mypred</a:t>
            </a:r>
            <a:r>
              <a:rPr lang="en-GB" altLang="zh-CN" sz="1200" dirty="0"/>
              <a:t>)</a:t>
            </a:r>
            <a:br>
              <a:rPr lang="en-GB" altLang="zh-CN" sz="1200" dirty="0"/>
            </a:br>
            <a:r>
              <a:rPr lang="en-GB" altLang="zh-CN" sz="1200" dirty="0"/>
              <a:t>    </a:t>
            </a:r>
            <a:r>
              <a:rPr lang="en-GB" altLang="zh-CN" sz="1200" dirty="0" err="1"/>
              <a:t>mypred</a:t>
            </a:r>
            <a:r>
              <a:rPr lang="en-GB" altLang="zh-CN" sz="1200" dirty="0"/>
              <a:t> = </a:t>
            </a:r>
            <a:r>
              <a:rPr lang="en-GB" altLang="zh-CN" sz="1200" dirty="0" err="1"/>
              <a:t>estimator.predict_proba</a:t>
            </a:r>
            <a:r>
              <a:rPr lang="en-GB" altLang="zh-CN" sz="1200" dirty="0"/>
              <a:t>(</a:t>
            </a:r>
            <a:r>
              <a:rPr lang="en-GB" altLang="zh-CN" sz="1200" dirty="0" err="1"/>
              <a:t>mydata</a:t>
            </a:r>
            <a:r>
              <a:rPr lang="en-GB" altLang="zh-CN" sz="1200" dirty="0"/>
              <a:t>)</a:t>
            </a:r>
            <a:br>
              <a:rPr lang="en-GB" altLang="zh-CN" sz="1200" dirty="0"/>
            </a:br>
            <a:r>
              <a:rPr lang="en-GB" altLang="zh-CN" sz="1200" dirty="0"/>
              <a:t>    </a:t>
            </a:r>
            <a:r>
              <a:rPr lang="en-GB" altLang="zh-CN" sz="1200" dirty="0">
                <a:solidFill>
                  <a:srgbClr val="000080"/>
                </a:solidFill>
                <a:effectLst/>
              </a:rPr>
              <a:t>print</a:t>
            </a:r>
            <a:r>
              <a:rPr lang="en-GB" altLang="zh-CN" sz="1200" dirty="0"/>
              <a:t>(</a:t>
            </a:r>
            <a:r>
              <a:rPr lang="en-GB" altLang="zh-CN" sz="1200" dirty="0">
                <a:solidFill>
                  <a:srgbClr val="067D17"/>
                </a:solidFill>
                <a:effectLst/>
              </a:rPr>
              <a:t>'</a:t>
            </a:r>
            <a:r>
              <a:rPr lang="en-GB" altLang="zh-CN" sz="1200" dirty="0" err="1">
                <a:solidFill>
                  <a:srgbClr val="067D17"/>
                </a:solidFill>
                <a:effectLst/>
              </a:rPr>
              <a:t>mypred</a:t>
            </a:r>
            <a:r>
              <a:rPr lang="en-GB" altLang="zh-CN" sz="1200" dirty="0">
                <a:solidFill>
                  <a:srgbClr val="067D17"/>
                </a:solidFill>
                <a:effectLst/>
              </a:rPr>
              <a:t>--&gt;</a:t>
            </a:r>
            <a:r>
              <a:rPr lang="en-GB" altLang="zh-CN" sz="1200" dirty="0">
                <a:solidFill>
                  <a:srgbClr val="0037A6"/>
                </a:solidFill>
                <a:effectLst/>
              </a:rPr>
              <a:t>\n</a:t>
            </a:r>
            <a:r>
              <a:rPr lang="en-GB" altLang="zh-CN" sz="1200" dirty="0">
                <a:solidFill>
                  <a:srgbClr val="067D17"/>
                </a:solidFill>
                <a:effectLst/>
              </a:rPr>
              <a:t>'</a:t>
            </a:r>
            <a:r>
              <a:rPr lang="en-GB" altLang="zh-CN" sz="1200" dirty="0"/>
              <a:t>, </a:t>
            </a:r>
            <a:r>
              <a:rPr lang="en-GB" altLang="zh-CN" sz="1200" dirty="0" err="1"/>
              <a:t>mypred</a:t>
            </a:r>
            <a:r>
              <a:rPr lang="en-GB" altLang="zh-CN" sz="1200" dirty="0"/>
              <a:t>)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6" name="TextBox 3"/>
          <p:cNvSpPr txBox="1"/>
          <p:nvPr/>
        </p:nvSpPr>
        <p:spPr>
          <a:xfrm>
            <a:off x="340546" y="2006371"/>
            <a:ext cx="4646261" cy="954107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400" dirty="0">
                <a:solidFill>
                  <a:srgbClr val="0033B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#</a:t>
            </a:r>
            <a:r>
              <a:rPr lang="zh-CN" altLang="en-US" sz="1400" dirty="0">
                <a:solidFill>
                  <a:srgbClr val="0033B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导入类库</a:t>
            </a:r>
            <a:endParaRPr lang="en-GB" altLang="zh-CN" sz="1400" dirty="0">
              <a:solidFill>
                <a:srgbClr val="0033B3"/>
              </a:solidFill>
              <a:effectLst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altLang="zh-CN" sz="1400" dirty="0">
                <a:solidFill>
                  <a:srgbClr val="0033B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from </a:t>
            </a:r>
            <a:r>
              <a:rPr lang="en-GB" altLang="zh-CN" sz="14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sklearn.preprocessing</a:t>
            </a:r>
            <a:r>
              <a:rPr lang="en-GB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</a:t>
            </a:r>
            <a:r>
              <a:rPr lang="en-GB" altLang="zh-CN" sz="1400" dirty="0">
                <a:solidFill>
                  <a:srgbClr val="0033B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import </a:t>
            </a:r>
            <a:r>
              <a:rPr lang="en-GB" altLang="zh-CN" sz="14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StandardScaler</a:t>
            </a:r>
            <a:br>
              <a:rPr lang="en-GB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en-GB" altLang="zh-CN" sz="1400" dirty="0">
                <a:solidFill>
                  <a:srgbClr val="0033B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from </a:t>
            </a:r>
            <a:r>
              <a:rPr lang="en-GB" altLang="zh-CN" sz="14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sklearn.model_selection</a:t>
            </a:r>
            <a:r>
              <a:rPr lang="en-GB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</a:t>
            </a:r>
            <a:r>
              <a:rPr lang="en-GB" altLang="zh-CN" sz="1400" dirty="0">
                <a:solidFill>
                  <a:srgbClr val="0033B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import </a:t>
            </a:r>
            <a:r>
              <a:rPr lang="en-GB" altLang="zh-CN" sz="14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train_test_split</a:t>
            </a:r>
            <a:br>
              <a:rPr lang="en-GB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en-GB" altLang="zh-CN" sz="1400" dirty="0">
                <a:solidFill>
                  <a:srgbClr val="0033B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from </a:t>
            </a:r>
            <a:r>
              <a:rPr lang="en-GB" altLang="zh-CN" sz="14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sklearn.neighbors</a:t>
            </a:r>
            <a:r>
              <a:rPr lang="en-GB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</a:t>
            </a:r>
            <a:r>
              <a:rPr lang="en-GB" altLang="zh-CN" sz="1400" dirty="0">
                <a:solidFill>
                  <a:srgbClr val="0033B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import </a:t>
            </a:r>
            <a:r>
              <a:rPr lang="en-GB" altLang="zh-CN" sz="14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KNeighborsClassifier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标题 2"/>
          <p:cNvSpPr txBox="1"/>
          <p:nvPr/>
        </p:nvSpPr>
        <p:spPr>
          <a:xfrm>
            <a:off x="2172295" y="985966"/>
            <a:ext cx="8364294" cy="517190"/>
          </a:xfrm>
          <a:prstGeom prst="rect">
            <a:avLst/>
          </a:prstGeom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利用</a:t>
            </a: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KNN</a:t>
            </a:r>
            <a:r>
              <a:rPr kumimoji="1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算法对鸢尾花分类 </a:t>
            </a: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–</a:t>
            </a:r>
            <a:r>
              <a:rPr kumimoji="1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模型评估</a:t>
            </a:r>
            <a:endParaRPr kumimoji="1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j-cs"/>
            </a:endParaRPr>
          </a:p>
        </p:txBody>
      </p:sp>
      <p:sp>
        <p:nvSpPr>
          <p:cNvPr id="18" name="三角形 17"/>
          <p:cNvSpPr/>
          <p:nvPr/>
        </p:nvSpPr>
        <p:spPr>
          <a:xfrm rot="2651319">
            <a:off x="3473471" y="1954238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2" name="TextBox 3"/>
          <p:cNvSpPr txBox="1"/>
          <p:nvPr/>
        </p:nvSpPr>
        <p:spPr>
          <a:xfrm>
            <a:off x="2172295" y="1914527"/>
            <a:ext cx="9222536" cy="3970318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200" i="1" dirty="0">
                <a:solidFill>
                  <a:srgbClr val="8C8C8C"/>
                </a:solidFill>
                <a:effectLst/>
              </a:rPr>
              <a:t># 1 </a:t>
            </a:r>
            <a:r>
              <a:rPr lang="zh-CN" altLang="en-US" sz="1200" i="1" dirty="0">
                <a:solidFill>
                  <a:srgbClr val="8C8C8C"/>
                </a:solidFill>
                <a:effectLst/>
              </a:rPr>
              <a:t>获取数据集</a:t>
            </a:r>
            <a:br>
              <a:rPr lang="zh-CN" altLang="en-US" sz="1200" i="1" dirty="0">
                <a:solidFill>
                  <a:srgbClr val="8C8C8C"/>
                </a:solidFill>
                <a:effectLst/>
              </a:rPr>
            </a:br>
            <a:r>
              <a:rPr lang="en-GB" altLang="zh-CN" sz="1200" dirty="0" err="1"/>
              <a:t>mydataset</a:t>
            </a:r>
            <a:r>
              <a:rPr lang="en-GB" altLang="zh-CN" sz="1200" dirty="0"/>
              <a:t> = </a:t>
            </a:r>
            <a:r>
              <a:rPr lang="en-GB" altLang="zh-CN" sz="1200" dirty="0" err="1"/>
              <a:t>load_iris</a:t>
            </a:r>
            <a:r>
              <a:rPr lang="en-GB" altLang="zh-CN" sz="1200" dirty="0"/>
              <a:t>()</a:t>
            </a:r>
            <a:br>
              <a:rPr lang="en-GB" altLang="zh-CN" sz="1200" dirty="0"/>
            </a:br>
            <a:r>
              <a:rPr lang="en-GB" altLang="zh-CN" sz="1200" i="1" dirty="0">
                <a:solidFill>
                  <a:srgbClr val="8C8C8C"/>
                </a:solidFill>
                <a:effectLst/>
              </a:rPr>
              <a:t># 2 </a:t>
            </a:r>
            <a:r>
              <a:rPr lang="zh-CN" altLang="en-US" sz="1200" i="1" dirty="0">
                <a:solidFill>
                  <a:srgbClr val="8C8C8C"/>
                </a:solidFill>
                <a:effectLst/>
              </a:rPr>
              <a:t>数据基本处理</a:t>
            </a:r>
            <a:br>
              <a:rPr lang="zh-CN" altLang="en-US" sz="1200" i="1" dirty="0">
                <a:solidFill>
                  <a:srgbClr val="8C8C8C"/>
                </a:solidFill>
                <a:effectLst/>
              </a:rPr>
            </a:br>
            <a:r>
              <a:rPr lang="en-GB" altLang="zh-CN" sz="1200" dirty="0" err="1"/>
              <a:t>x_train</a:t>
            </a:r>
            <a:r>
              <a:rPr lang="en-GB" altLang="zh-CN" sz="1200" dirty="0"/>
              <a:t>, </a:t>
            </a:r>
            <a:r>
              <a:rPr lang="en-GB" altLang="zh-CN" sz="1200" dirty="0" err="1"/>
              <a:t>x_test</a:t>
            </a:r>
            <a:r>
              <a:rPr lang="en-GB" altLang="zh-CN" sz="1200" dirty="0"/>
              <a:t>, </a:t>
            </a:r>
            <a:r>
              <a:rPr lang="en-GB" altLang="zh-CN" sz="1200" dirty="0" err="1"/>
              <a:t>y_train</a:t>
            </a:r>
            <a:r>
              <a:rPr lang="en-GB" altLang="zh-CN" sz="1200" dirty="0"/>
              <a:t>, </a:t>
            </a:r>
            <a:r>
              <a:rPr lang="en-GB" altLang="zh-CN" sz="1200" dirty="0" err="1"/>
              <a:t>y_test</a:t>
            </a:r>
            <a:r>
              <a:rPr lang="en-GB" altLang="zh-CN" sz="1200" dirty="0"/>
              <a:t> = </a:t>
            </a:r>
            <a:r>
              <a:rPr lang="en-GB" altLang="zh-CN" sz="1200" dirty="0" err="1"/>
              <a:t>train_test_split</a:t>
            </a:r>
            <a:r>
              <a:rPr lang="en-GB" altLang="zh-CN" sz="1200" dirty="0"/>
              <a:t>(</a:t>
            </a:r>
            <a:r>
              <a:rPr lang="en-GB" altLang="zh-CN" sz="1200" dirty="0" err="1"/>
              <a:t>mydataset.data</a:t>
            </a:r>
            <a:r>
              <a:rPr lang="en-GB" altLang="zh-CN" sz="1200" dirty="0"/>
              <a:t>, </a:t>
            </a:r>
            <a:r>
              <a:rPr lang="en-GB" altLang="zh-CN" sz="1200" dirty="0" err="1"/>
              <a:t>mydataset.target</a:t>
            </a:r>
            <a:r>
              <a:rPr lang="en-GB" altLang="zh-CN" sz="1200" dirty="0"/>
              <a:t>,</a:t>
            </a:r>
            <a:r>
              <a:rPr lang="zh-CN" altLang="en-US" sz="1200" dirty="0"/>
              <a:t> </a:t>
            </a:r>
            <a:r>
              <a:rPr lang="en-GB" altLang="zh-CN" sz="1200" dirty="0" err="1">
                <a:solidFill>
                  <a:srgbClr val="660099"/>
                </a:solidFill>
                <a:effectLst/>
              </a:rPr>
              <a:t>test_size</a:t>
            </a:r>
            <a:r>
              <a:rPr lang="en-GB" altLang="zh-CN" sz="1200" dirty="0"/>
              <a:t>=</a:t>
            </a:r>
            <a:r>
              <a:rPr lang="en-GB" altLang="zh-CN" sz="1200" dirty="0">
                <a:solidFill>
                  <a:srgbClr val="1750EB"/>
                </a:solidFill>
                <a:effectLst/>
              </a:rPr>
              <a:t>0.2</a:t>
            </a:r>
            <a:r>
              <a:rPr lang="en-GB" altLang="zh-CN" sz="1200" dirty="0"/>
              <a:t>, </a:t>
            </a:r>
            <a:r>
              <a:rPr lang="en-GB" altLang="zh-CN" sz="1200" dirty="0" err="1">
                <a:solidFill>
                  <a:srgbClr val="660099"/>
                </a:solidFill>
                <a:effectLst/>
              </a:rPr>
              <a:t>random_state</a:t>
            </a:r>
            <a:r>
              <a:rPr lang="en-GB" altLang="zh-CN" sz="1200" dirty="0"/>
              <a:t>=</a:t>
            </a:r>
            <a:r>
              <a:rPr lang="en-GB" altLang="zh-CN" sz="1200" dirty="0">
                <a:solidFill>
                  <a:srgbClr val="1750EB"/>
                </a:solidFill>
                <a:effectLst/>
              </a:rPr>
              <a:t>22</a:t>
            </a:r>
            <a:r>
              <a:rPr lang="en-GB" altLang="zh-CN" sz="1200" dirty="0"/>
              <a:t>)</a:t>
            </a:r>
            <a:br>
              <a:rPr lang="en-GB" altLang="zh-CN" sz="1200" i="1" dirty="0">
                <a:solidFill>
                  <a:srgbClr val="8C8C8C"/>
                </a:solidFill>
                <a:effectLst/>
              </a:rPr>
            </a:br>
            <a:r>
              <a:rPr lang="en-GB" altLang="zh-CN" sz="1200" i="1" dirty="0">
                <a:solidFill>
                  <a:srgbClr val="8C8C8C"/>
                </a:solidFill>
                <a:effectLst/>
              </a:rPr>
              <a:t># 3 </a:t>
            </a:r>
            <a:r>
              <a:rPr lang="zh-CN" altLang="en-US" sz="1200" i="1" dirty="0">
                <a:solidFill>
                  <a:srgbClr val="8C8C8C"/>
                </a:solidFill>
                <a:effectLst/>
              </a:rPr>
              <a:t>数据集预处理</a:t>
            </a:r>
            <a:r>
              <a:rPr lang="en-US" altLang="zh-CN" sz="1200" i="1" dirty="0">
                <a:solidFill>
                  <a:srgbClr val="8C8C8C"/>
                </a:solidFill>
                <a:effectLst/>
              </a:rPr>
              <a:t>-</a:t>
            </a:r>
            <a:r>
              <a:rPr lang="zh-CN" altLang="en-US" sz="1200" i="1" dirty="0">
                <a:solidFill>
                  <a:srgbClr val="8C8C8C"/>
                </a:solidFill>
                <a:effectLst/>
              </a:rPr>
              <a:t>数据标准化</a:t>
            </a:r>
            <a:br>
              <a:rPr lang="zh-CN" altLang="en-US" sz="1200" i="1" dirty="0">
                <a:solidFill>
                  <a:srgbClr val="8C8C8C"/>
                </a:solidFill>
                <a:effectLst/>
              </a:rPr>
            </a:br>
            <a:r>
              <a:rPr lang="en-GB" altLang="zh-CN" sz="1200" dirty="0"/>
              <a:t>transfer = </a:t>
            </a:r>
            <a:r>
              <a:rPr lang="en-GB" altLang="zh-CN" sz="1200" dirty="0" err="1"/>
              <a:t>StandardScaler</a:t>
            </a:r>
            <a:r>
              <a:rPr lang="en-GB" altLang="zh-CN" sz="1200" dirty="0"/>
              <a:t>()</a:t>
            </a:r>
            <a:br>
              <a:rPr lang="en-GB" altLang="zh-CN" sz="1200" dirty="0"/>
            </a:br>
            <a:r>
              <a:rPr lang="en-GB" altLang="zh-CN" sz="1200" dirty="0" err="1"/>
              <a:t>x_train</a:t>
            </a:r>
            <a:r>
              <a:rPr lang="en-GB" altLang="zh-CN" sz="1200" dirty="0"/>
              <a:t> = </a:t>
            </a:r>
            <a:r>
              <a:rPr lang="en-GB" altLang="zh-CN" sz="1200" dirty="0" err="1"/>
              <a:t>transfer.fit_transform</a:t>
            </a:r>
            <a:r>
              <a:rPr lang="en-GB" altLang="zh-CN" sz="1200" dirty="0"/>
              <a:t>(</a:t>
            </a:r>
            <a:r>
              <a:rPr lang="en-GB" altLang="zh-CN" sz="1200" dirty="0" err="1"/>
              <a:t>x_train</a:t>
            </a:r>
            <a:r>
              <a:rPr lang="en-GB" altLang="zh-CN" sz="1200" dirty="0"/>
              <a:t>)</a:t>
            </a:r>
            <a:br>
              <a:rPr lang="en-GB" altLang="zh-CN" sz="1200" dirty="0"/>
            </a:br>
            <a:r>
              <a:rPr lang="en-GB" altLang="zh-CN" sz="1200" i="1" dirty="0">
                <a:solidFill>
                  <a:srgbClr val="8C8C8C"/>
                </a:solidFill>
                <a:effectLst/>
              </a:rPr>
              <a:t># </a:t>
            </a:r>
            <a:r>
              <a:rPr lang="zh-CN" altLang="en-US" sz="1200" i="1" dirty="0">
                <a:solidFill>
                  <a:srgbClr val="8C8C8C"/>
                </a:solidFill>
                <a:effectLst/>
              </a:rPr>
              <a:t>让测试集的均值和方法</a:t>
            </a:r>
            <a:r>
              <a:rPr lang="en-US" altLang="zh-CN" sz="1200" i="1" dirty="0">
                <a:solidFill>
                  <a:srgbClr val="8C8C8C"/>
                </a:solidFill>
                <a:effectLst/>
              </a:rPr>
              <a:t>, </a:t>
            </a:r>
            <a:r>
              <a:rPr lang="zh-CN" altLang="en-US" sz="1200" i="1" dirty="0">
                <a:solidFill>
                  <a:srgbClr val="8C8C8C"/>
                </a:solidFill>
                <a:effectLst/>
              </a:rPr>
              <a:t>转换测试集数据</a:t>
            </a:r>
            <a:r>
              <a:rPr lang="en-US" altLang="zh-CN" sz="1200" i="1" dirty="0">
                <a:solidFill>
                  <a:srgbClr val="8C8C8C"/>
                </a:solidFill>
                <a:effectLst/>
              </a:rPr>
              <a:t>;</a:t>
            </a:r>
            <a:br>
              <a:rPr lang="zh-CN" altLang="en-US" sz="1200" i="1" dirty="0">
                <a:solidFill>
                  <a:srgbClr val="8C8C8C"/>
                </a:solidFill>
                <a:effectLst/>
              </a:rPr>
            </a:br>
            <a:r>
              <a:rPr lang="en-GB" altLang="zh-CN" sz="1200" dirty="0" err="1"/>
              <a:t>x_test</a:t>
            </a:r>
            <a:r>
              <a:rPr lang="en-GB" altLang="zh-CN" sz="1200" dirty="0"/>
              <a:t> = </a:t>
            </a:r>
            <a:r>
              <a:rPr lang="en-GB" altLang="zh-CN" sz="1200" dirty="0" err="1"/>
              <a:t>transfer.transform</a:t>
            </a:r>
            <a:r>
              <a:rPr lang="en-GB" altLang="zh-CN" sz="1200" dirty="0"/>
              <a:t>(</a:t>
            </a:r>
            <a:r>
              <a:rPr lang="en-GB" altLang="zh-CN" sz="1200" dirty="0" err="1"/>
              <a:t>x_test</a:t>
            </a:r>
            <a:r>
              <a:rPr lang="en-GB" altLang="zh-CN" sz="1200" dirty="0"/>
              <a:t>)</a:t>
            </a:r>
            <a:br>
              <a:rPr lang="en-GB" altLang="zh-CN" sz="1200" dirty="0"/>
            </a:br>
            <a:br>
              <a:rPr lang="en-GB" altLang="zh-CN" sz="1200" dirty="0"/>
            </a:br>
            <a:r>
              <a:rPr lang="en-GB" altLang="zh-CN" sz="1200" i="1" dirty="0">
                <a:solidFill>
                  <a:srgbClr val="8C8C8C"/>
                </a:solidFill>
                <a:effectLst/>
              </a:rPr>
              <a:t># 4 </a:t>
            </a:r>
            <a:r>
              <a:rPr lang="zh-CN" altLang="en-US" sz="1200" i="1" dirty="0">
                <a:solidFill>
                  <a:srgbClr val="8C8C8C"/>
                </a:solidFill>
                <a:effectLst/>
              </a:rPr>
              <a:t>机器学习</a:t>
            </a:r>
            <a:r>
              <a:rPr lang="en-US" altLang="zh-CN" sz="1200" i="1" dirty="0">
                <a:solidFill>
                  <a:srgbClr val="8C8C8C"/>
                </a:solidFill>
                <a:effectLst/>
              </a:rPr>
              <a:t>(</a:t>
            </a:r>
            <a:r>
              <a:rPr lang="zh-CN" altLang="en-US" sz="1200" i="1" dirty="0">
                <a:solidFill>
                  <a:srgbClr val="8C8C8C"/>
                </a:solidFill>
                <a:effectLst/>
              </a:rPr>
              <a:t>模型训练</a:t>
            </a:r>
            <a:r>
              <a:rPr lang="en-US" altLang="zh-CN" sz="1200" i="1" dirty="0">
                <a:solidFill>
                  <a:srgbClr val="8C8C8C"/>
                </a:solidFill>
                <a:effectLst/>
              </a:rPr>
              <a:t>)</a:t>
            </a:r>
            <a:br>
              <a:rPr lang="en-US" altLang="zh-CN" sz="1200" i="1" dirty="0">
                <a:solidFill>
                  <a:srgbClr val="8C8C8C"/>
                </a:solidFill>
                <a:effectLst/>
              </a:rPr>
            </a:br>
            <a:r>
              <a:rPr lang="en-GB" altLang="zh-CN" sz="1200" dirty="0"/>
              <a:t>estimator = </a:t>
            </a:r>
            <a:r>
              <a:rPr lang="en-GB" altLang="zh-CN" sz="1200" dirty="0" err="1"/>
              <a:t>KNeighborsClassifier</a:t>
            </a:r>
            <a:r>
              <a:rPr lang="en-GB" altLang="zh-CN" sz="1200" dirty="0"/>
              <a:t>(</a:t>
            </a:r>
            <a:r>
              <a:rPr lang="en-GB" altLang="zh-CN" sz="1200" dirty="0" err="1">
                <a:solidFill>
                  <a:srgbClr val="660099"/>
                </a:solidFill>
                <a:effectLst/>
              </a:rPr>
              <a:t>n_neighbors</a:t>
            </a:r>
            <a:r>
              <a:rPr lang="en-GB" altLang="zh-CN" sz="1200" dirty="0"/>
              <a:t>=</a:t>
            </a:r>
            <a:r>
              <a:rPr lang="en-GB" altLang="zh-CN" sz="1200" dirty="0">
                <a:solidFill>
                  <a:srgbClr val="1750EB"/>
                </a:solidFill>
                <a:effectLst/>
              </a:rPr>
              <a:t>3</a:t>
            </a:r>
            <a:r>
              <a:rPr lang="en-GB" altLang="zh-CN" sz="1200" dirty="0"/>
              <a:t>)</a:t>
            </a:r>
            <a:br>
              <a:rPr lang="en-GB" altLang="zh-CN" sz="1200" dirty="0"/>
            </a:br>
            <a:r>
              <a:rPr lang="en-GB" altLang="zh-CN" sz="1200" dirty="0" err="1"/>
              <a:t>estimator.fit</a:t>
            </a:r>
            <a:r>
              <a:rPr lang="en-GB" altLang="zh-CN" sz="1200" dirty="0"/>
              <a:t>(</a:t>
            </a:r>
            <a:r>
              <a:rPr lang="en-GB" altLang="zh-CN" sz="1200" dirty="0" err="1"/>
              <a:t>x_train</a:t>
            </a:r>
            <a:r>
              <a:rPr lang="en-GB" altLang="zh-CN" sz="1200" dirty="0"/>
              <a:t>, </a:t>
            </a:r>
            <a:r>
              <a:rPr lang="en-GB" altLang="zh-CN" sz="1200" dirty="0" err="1"/>
              <a:t>y_train</a:t>
            </a:r>
            <a:r>
              <a:rPr lang="en-GB" altLang="zh-CN" sz="1200" dirty="0"/>
              <a:t>)</a:t>
            </a:r>
            <a:br>
              <a:rPr lang="en-GB" altLang="zh-CN" sz="1200" dirty="0"/>
            </a:br>
            <a:br>
              <a:rPr lang="en-GB" altLang="zh-CN" sz="1200" dirty="0"/>
            </a:br>
            <a:r>
              <a:rPr lang="en-GB" altLang="zh-CN" sz="1200" i="1" dirty="0">
                <a:solidFill>
                  <a:srgbClr val="8C8C8C"/>
                </a:solidFill>
                <a:effectLst/>
              </a:rPr>
              <a:t># 5-1 </a:t>
            </a:r>
            <a:r>
              <a:rPr lang="zh-CN" altLang="en-US" sz="1200" i="1" dirty="0">
                <a:solidFill>
                  <a:srgbClr val="8C8C8C"/>
                </a:solidFill>
                <a:effectLst/>
              </a:rPr>
              <a:t>直接使用</a:t>
            </a:r>
            <a:r>
              <a:rPr lang="en-GB" altLang="zh-CN" sz="1200" i="1" dirty="0">
                <a:solidFill>
                  <a:srgbClr val="8C8C8C"/>
                </a:solidFill>
                <a:effectLst/>
              </a:rPr>
              <a:t>score</a:t>
            </a:r>
            <a:r>
              <a:rPr lang="zh-CN" altLang="en-US" sz="1200" i="1" dirty="0">
                <a:solidFill>
                  <a:srgbClr val="8C8C8C"/>
                </a:solidFill>
                <a:effectLst/>
              </a:rPr>
              <a:t>函数 模型评估 </a:t>
            </a:r>
            <a:r>
              <a:rPr lang="en-US" altLang="zh-CN" sz="1200" i="1" dirty="0">
                <a:solidFill>
                  <a:srgbClr val="8C8C8C"/>
                </a:solidFill>
                <a:effectLst/>
              </a:rPr>
              <a:t>100</a:t>
            </a:r>
            <a:r>
              <a:rPr lang="zh-CN" altLang="en-US" sz="1200" i="1" dirty="0">
                <a:solidFill>
                  <a:srgbClr val="8C8C8C"/>
                </a:solidFill>
                <a:effectLst/>
              </a:rPr>
              <a:t>个样本中模型预测对了多少</a:t>
            </a:r>
            <a:br>
              <a:rPr lang="zh-CN" altLang="en-US" sz="1200" i="1" dirty="0">
                <a:solidFill>
                  <a:srgbClr val="8C8C8C"/>
                </a:solidFill>
                <a:effectLst/>
              </a:rPr>
            </a:br>
            <a:r>
              <a:rPr lang="en-GB" altLang="zh-CN" sz="1200" dirty="0" err="1"/>
              <a:t>myscore</a:t>
            </a:r>
            <a:r>
              <a:rPr lang="en-GB" altLang="zh-CN" sz="1200" dirty="0"/>
              <a:t> = </a:t>
            </a:r>
            <a:r>
              <a:rPr lang="en-GB" altLang="zh-CN" sz="1200" dirty="0" err="1"/>
              <a:t>estimator.score</a:t>
            </a:r>
            <a:r>
              <a:rPr lang="en-GB" altLang="zh-CN" sz="1200" dirty="0"/>
              <a:t>(</a:t>
            </a:r>
            <a:r>
              <a:rPr lang="en-GB" altLang="zh-CN" sz="1200" dirty="0" err="1"/>
              <a:t>x_test</a:t>
            </a:r>
            <a:r>
              <a:rPr lang="en-GB" altLang="zh-CN" sz="1200" dirty="0"/>
              <a:t>, </a:t>
            </a:r>
            <a:r>
              <a:rPr lang="en-GB" altLang="zh-CN" sz="1200" dirty="0" err="1"/>
              <a:t>y_test</a:t>
            </a:r>
            <a:r>
              <a:rPr lang="en-GB" altLang="zh-CN" sz="1200" dirty="0"/>
              <a:t>)</a:t>
            </a:r>
            <a:br>
              <a:rPr lang="en-GB" altLang="zh-CN" sz="1200" dirty="0"/>
            </a:br>
            <a:r>
              <a:rPr lang="en-GB" altLang="zh-CN" sz="1200" dirty="0">
                <a:solidFill>
                  <a:srgbClr val="000080"/>
                </a:solidFill>
                <a:effectLst/>
              </a:rPr>
              <a:t>print</a:t>
            </a:r>
            <a:r>
              <a:rPr lang="en-GB" altLang="zh-CN" sz="1200" dirty="0"/>
              <a:t>(</a:t>
            </a:r>
            <a:r>
              <a:rPr lang="en-GB" altLang="zh-CN" sz="1200" dirty="0">
                <a:solidFill>
                  <a:srgbClr val="067D17"/>
                </a:solidFill>
                <a:effectLst/>
              </a:rPr>
              <a:t>'</a:t>
            </a:r>
            <a:r>
              <a:rPr lang="en-GB" altLang="zh-CN" sz="1200" dirty="0" err="1">
                <a:solidFill>
                  <a:srgbClr val="067D17"/>
                </a:solidFill>
                <a:effectLst/>
              </a:rPr>
              <a:t>myscore</a:t>
            </a:r>
            <a:r>
              <a:rPr lang="en-GB" altLang="zh-CN" sz="1200" dirty="0">
                <a:solidFill>
                  <a:srgbClr val="067D17"/>
                </a:solidFill>
                <a:effectLst/>
              </a:rPr>
              <a:t>--&gt;'</a:t>
            </a:r>
            <a:r>
              <a:rPr lang="en-GB" altLang="zh-CN" sz="1200" dirty="0"/>
              <a:t>, </a:t>
            </a:r>
            <a:r>
              <a:rPr lang="en-GB" altLang="zh-CN" sz="1200" dirty="0" err="1"/>
              <a:t>myscore</a:t>
            </a:r>
            <a:r>
              <a:rPr lang="en-GB" altLang="zh-CN" sz="1200" dirty="0"/>
              <a:t>)</a:t>
            </a:r>
            <a:br>
              <a:rPr lang="en-GB" altLang="zh-CN" sz="1200" dirty="0"/>
            </a:br>
            <a:r>
              <a:rPr lang="en-GB" altLang="zh-CN" sz="1200" i="1" dirty="0">
                <a:solidFill>
                  <a:srgbClr val="8C8C8C"/>
                </a:solidFill>
                <a:effectLst/>
              </a:rPr>
              <a:t># 5-</a:t>
            </a:r>
            <a:r>
              <a:rPr lang="en-US" altLang="zh-CN" sz="1200" i="1" dirty="0">
                <a:solidFill>
                  <a:srgbClr val="8C8C8C"/>
                </a:solidFill>
                <a:effectLst/>
              </a:rPr>
              <a:t>2</a:t>
            </a:r>
            <a:r>
              <a:rPr lang="en-GB" altLang="zh-CN" sz="1200" i="1" dirty="0">
                <a:solidFill>
                  <a:srgbClr val="8C8C8C"/>
                </a:solidFill>
                <a:effectLst/>
              </a:rPr>
              <a:t> </a:t>
            </a:r>
            <a:r>
              <a:rPr lang="zh-CN" altLang="en-US" sz="1200" i="1" dirty="0">
                <a:solidFill>
                  <a:srgbClr val="8C8C8C"/>
                </a:solidFill>
                <a:effectLst/>
              </a:rPr>
              <a:t>利用</a:t>
            </a:r>
            <a:r>
              <a:rPr lang="en-GB" altLang="zh-CN" sz="1200" i="1" dirty="0" err="1">
                <a:solidFill>
                  <a:srgbClr val="8C8C8C"/>
                </a:solidFill>
                <a:effectLst/>
              </a:rPr>
              <a:t>sklearn.metrics</a:t>
            </a:r>
            <a:r>
              <a:rPr lang="zh-CN" altLang="en-US" sz="1200" i="1" dirty="0">
                <a:solidFill>
                  <a:srgbClr val="8C8C8C"/>
                </a:solidFill>
                <a:effectLst/>
              </a:rPr>
              <a:t>包中的 </a:t>
            </a:r>
            <a:r>
              <a:rPr lang="en-GB" altLang="zh-CN" sz="1200" i="1" dirty="0" err="1">
                <a:solidFill>
                  <a:srgbClr val="8C8C8C"/>
                </a:solidFill>
                <a:effectLst/>
              </a:rPr>
              <a:t>accuracy_score</a:t>
            </a:r>
            <a:r>
              <a:rPr lang="en-GB" altLang="zh-CN" sz="1200" i="1" dirty="0">
                <a:solidFill>
                  <a:srgbClr val="8C8C8C"/>
                </a:solidFill>
                <a:effectLst/>
              </a:rPr>
              <a:t> </a:t>
            </a:r>
            <a:r>
              <a:rPr lang="zh-CN" altLang="en-US" sz="1200" i="1" dirty="0">
                <a:solidFill>
                  <a:srgbClr val="8C8C8C"/>
                </a:solidFill>
                <a:effectLst/>
              </a:rPr>
              <a:t>方法</a:t>
            </a:r>
            <a:endParaRPr lang="en-US" altLang="zh-CN" sz="1200" i="1" dirty="0">
              <a:solidFill>
                <a:srgbClr val="8C8C8C"/>
              </a:solidFill>
              <a:effectLst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altLang="zh-CN" sz="1200" dirty="0" err="1"/>
              <a:t>y_predict</a:t>
            </a:r>
            <a:r>
              <a:rPr lang="en-GB" altLang="zh-CN" sz="1200" dirty="0"/>
              <a:t> = </a:t>
            </a:r>
            <a:r>
              <a:rPr lang="en-GB" altLang="zh-CN" sz="1200" dirty="0" err="1"/>
              <a:t>estimator.predict</a:t>
            </a:r>
            <a:r>
              <a:rPr lang="en-GB" altLang="zh-CN" sz="1200" dirty="0"/>
              <a:t>(</a:t>
            </a:r>
            <a:r>
              <a:rPr lang="en-GB" altLang="zh-CN" sz="1200" dirty="0" err="1"/>
              <a:t>x_test</a:t>
            </a:r>
            <a:r>
              <a:rPr lang="en-GB" altLang="zh-CN" sz="1200" dirty="0"/>
              <a:t>)</a:t>
            </a:r>
            <a:br>
              <a:rPr lang="zh-CN" altLang="en-US" sz="1200" i="1" dirty="0">
                <a:solidFill>
                  <a:srgbClr val="8C8C8C"/>
                </a:solidFill>
                <a:effectLst/>
              </a:rPr>
            </a:br>
            <a:r>
              <a:rPr lang="en-GB" altLang="zh-CN" sz="1200" dirty="0" err="1"/>
              <a:t>myresult</a:t>
            </a:r>
            <a:r>
              <a:rPr lang="en-GB" altLang="zh-CN" sz="1200" dirty="0"/>
              <a:t> = </a:t>
            </a:r>
            <a:r>
              <a:rPr lang="en-GB" altLang="zh-CN" sz="1200" dirty="0" err="1"/>
              <a:t>accuracy_score</a:t>
            </a:r>
            <a:r>
              <a:rPr lang="en-GB" altLang="zh-CN" sz="1200" dirty="0"/>
              <a:t>(</a:t>
            </a:r>
            <a:r>
              <a:rPr lang="en-GB" altLang="zh-CN" sz="1200" dirty="0" err="1"/>
              <a:t>y_test</a:t>
            </a:r>
            <a:r>
              <a:rPr lang="en-GB" altLang="zh-CN" sz="1200" dirty="0"/>
              <a:t>, </a:t>
            </a:r>
            <a:r>
              <a:rPr lang="en-GB" altLang="zh-CN" sz="1200" dirty="0" err="1"/>
              <a:t>y_predict</a:t>
            </a:r>
            <a:r>
              <a:rPr lang="en-GB" altLang="zh-CN" sz="1200" dirty="0"/>
              <a:t>)</a:t>
            </a:r>
            <a:br>
              <a:rPr lang="en-GB" altLang="zh-CN" sz="1200" dirty="0"/>
            </a:br>
            <a:r>
              <a:rPr lang="en-GB" altLang="zh-CN" sz="1200" dirty="0">
                <a:solidFill>
                  <a:srgbClr val="000080"/>
                </a:solidFill>
                <a:effectLst/>
              </a:rPr>
              <a:t>print</a:t>
            </a:r>
            <a:r>
              <a:rPr lang="en-GB" altLang="zh-CN" sz="1200" dirty="0"/>
              <a:t>(</a:t>
            </a:r>
            <a:r>
              <a:rPr lang="en-GB" altLang="zh-CN" sz="1200" dirty="0">
                <a:solidFill>
                  <a:srgbClr val="067D17"/>
                </a:solidFill>
                <a:effectLst/>
              </a:rPr>
              <a:t>'</a:t>
            </a:r>
            <a:r>
              <a:rPr lang="en-GB" altLang="zh-CN" sz="1200" dirty="0" err="1">
                <a:solidFill>
                  <a:srgbClr val="067D17"/>
                </a:solidFill>
                <a:effectLst/>
              </a:rPr>
              <a:t>myresult</a:t>
            </a:r>
            <a:r>
              <a:rPr lang="en-GB" altLang="zh-CN" sz="1200" dirty="0">
                <a:solidFill>
                  <a:srgbClr val="067D17"/>
                </a:solidFill>
                <a:effectLst/>
              </a:rPr>
              <a:t>--&gt;'</a:t>
            </a:r>
            <a:r>
              <a:rPr lang="en-GB" altLang="zh-CN" sz="1200" dirty="0"/>
              <a:t>, </a:t>
            </a:r>
            <a:r>
              <a:rPr lang="en-GB" altLang="zh-CN" sz="1200" dirty="0" err="1"/>
              <a:t>myresult</a:t>
            </a:r>
            <a:r>
              <a:rPr lang="en-GB" altLang="zh-CN" sz="1200" dirty="0"/>
              <a:t>)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4331911" y="923080"/>
            <a:ext cx="55923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8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1</a:t>
            </a:r>
            <a:r>
              <a:rPr kumimoji="1" lang="zh-CN" altLang="en-US" sz="18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鸢尾花数据集下载和使用 </a:t>
            </a:r>
            <a:endParaRPr kumimoji="1" lang="en-US" altLang="zh-CN" sz="180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12" name="文本占位符 1"/>
          <p:cNvSpPr txBox="1"/>
          <p:nvPr/>
        </p:nvSpPr>
        <p:spPr>
          <a:xfrm>
            <a:off x="86125" y="181128"/>
            <a:ext cx="7036395" cy="761341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lang="zh-CN" altLang="en-US" sz="1400" b="0" i="0" kern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9410" marR="0" lvl="1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endParaRPr kumimoji="1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sp>
        <p:nvSpPr>
          <p:cNvPr id="2" name="TextBox 6"/>
          <p:cNvSpPr txBox="1"/>
          <p:nvPr/>
        </p:nvSpPr>
        <p:spPr>
          <a:xfrm>
            <a:off x="4845178" y="1238070"/>
            <a:ext cx="6758020" cy="7083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GB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加载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数据集</a:t>
            </a:r>
            <a:r>
              <a:rPr lang="en-GB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mydataset</a:t>
            </a:r>
            <a:r>
              <a:rPr lang="en-GB" altLang="zh-CN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= </a:t>
            </a:r>
            <a:r>
              <a:rPr lang="en-GB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load_iris</a:t>
            </a:r>
            <a:r>
              <a:rPr lang="en-GB" altLang="zh-CN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()</a:t>
            </a:r>
            <a:endParaRPr lang="en-GB" altLang="zh-CN" sz="1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数据集属性</a:t>
            </a:r>
            <a:r>
              <a:rPr lang="zh-CN" altLang="en-GB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dataset.</a:t>
            </a:r>
            <a:r>
              <a:rPr lang="en-US" altLang="zh-CN" sz="1400" dirty="0" err="1">
                <a:solidFill>
                  <a:schemeClr val="accent2">
                    <a:lumMod val="7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data</a:t>
            </a:r>
            <a:r>
              <a:rPr lang="en-US" altLang="zh-CN" sz="1400" dirty="0">
                <a:solidFill>
                  <a:schemeClr val="accent2">
                    <a:lumMod val="7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.target 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.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target_names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.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feature_names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.DESCR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350736" y="2120020"/>
            <a:ext cx="32570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8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2</a:t>
            </a:r>
            <a:r>
              <a:rPr kumimoji="1" lang="zh-CN" altLang="en-US" sz="18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案例的总体处理流程  </a:t>
            </a:r>
            <a:endParaRPr kumimoji="1" lang="zh-CN" altLang="en-US" sz="180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Calibri" panose="020F050202020403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5" name="TextBox 6"/>
          <p:cNvSpPr txBox="1"/>
          <p:nvPr/>
        </p:nvSpPr>
        <p:spPr>
          <a:xfrm>
            <a:off x="4845178" y="2561009"/>
            <a:ext cx="6054470" cy="127727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1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获取数据集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2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数据基本处理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3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特征工程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4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机器学习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(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模型训练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)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5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模型评估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4436079" y="4083490"/>
            <a:ext cx="7229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b="1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3</a:t>
            </a:r>
            <a:r>
              <a:rPr kumimoji="1" lang="zh-CN" alt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</a:t>
            </a:r>
            <a:r>
              <a:rPr lang="zh-CN" altLang="en-US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Helvetica Neue" panose="02000503000000020004" pitchFamily="2" charset="0"/>
              </a:rPr>
              <a:t>使用可视化加载和探索数据，以确定特征是否能将不同类别分开</a:t>
            </a:r>
            <a:endParaRPr kumimoji="1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Calibri" panose="020F050202020403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436079" y="4698031"/>
            <a:ext cx="71671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4</a:t>
            </a:r>
            <a:r>
              <a:rPr kumimoji="1" lang="zh-CN" altLang="en-US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</a:t>
            </a:r>
            <a:r>
              <a:rPr lang="zh-CN" altLang="en-US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Helvetica Neue" panose="02000503000000020004" pitchFamily="2" charset="0"/>
              </a:rPr>
              <a:t>通过标准化特征，并随机抽样到训练集和测试集来准备数据。</a:t>
            </a:r>
            <a:endParaRPr lang="zh-CN" altLang="en-US" b="0" i="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Helvetica Neue" panose="02000503000000020004" pitchFamily="2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Calibri" panose="020F050202020403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436079" y="5344361"/>
            <a:ext cx="7229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b="1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5</a:t>
            </a:r>
            <a:r>
              <a:rPr kumimoji="1" lang="zh-CN" alt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</a:t>
            </a:r>
            <a:r>
              <a:rPr lang="zh-CN" altLang="en-US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Helvetica Neue" panose="02000503000000020004" pitchFamily="2" charset="0"/>
              </a:rPr>
              <a:t>通过统计学，利用准确率评估机器学习模型</a:t>
            </a:r>
            <a:endParaRPr kumimoji="1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Calibri" panose="020F0502020204030204"/>
              <a:ea typeface="黑体" panose="02010609060101010101" pitchFamily="49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4888728" y="795460"/>
            <a:ext cx="6104167" cy="5545050"/>
          </a:xfrm>
        </p:spPr>
        <p:txBody>
          <a:bodyPr/>
          <a:lstStyle/>
          <a:p>
            <a:r>
              <a:rPr lang="en-US" altLang="zh-CN" dirty="0">
                <a:solidFill>
                  <a:schemeClr val="tx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KNN</a:t>
            </a:r>
            <a:r>
              <a:rPr lang="zh-CN" altLang="en-US" dirty="0">
                <a:solidFill>
                  <a:schemeClr val="tx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算法简介</a:t>
            </a:r>
            <a:endParaRPr lang="en-US" altLang="zh-CN" dirty="0">
              <a:solidFill>
                <a:schemeClr val="tx1"/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lvl="1"/>
            <a:r>
              <a:rPr lang="en-US" altLang="zh-CN" sz="1600" b="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KNN</a:t>
            </a:r>
            <a:r>
              <a:rPr lang="zh-CN" altLang="en-US" sz="1600" b="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思想、分类和回归问题处理流程</a:t>
            </a:r>
            <a:endParaRPr lang="en-US" altLang="zh-CN" sz="1600" b="0" dirty="0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r>
              <a:rPr lang="en-US" altLang="zh-CN" dirty="0">
                <a:solidFill>
                  <a:schemeClr val="tx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KNN</a:t>
            </a:r>
            <a:r>
              <a:rPr lang="zh-CN" altLang="en-US" dirty="0">
                <a:solidFill>
                  <a:schemeClr val="tx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算法</a:t>
            </a:r>
            <a:r>
              <a:rPr lang="en-US" altLang="zh-CN" dirty="0">
                <a:solidFill>
                  <a:schemeClr val="tx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API</a:t>
            </a:r>
            <a:r>
              <a:rPr lang="zh-CN" altLang="en-US" dirty="0">
                <a:solidFill>
                  <a:schemeClr val="tx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介绍</a:t>
            </a:r>
            <a:endParaRPr lang="en-US" altLang="zh-CN" dirty="0">
              <a:solidFill>
                <a:schemeClr val="tx1"/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lvl="1"/>
            <a:r>
              <a:rPr kumimoji="1" lang="zh-CN" altLang="en-US" sz="1600" b="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分类、回归实现</a:t>
            </a:r>
            <a:endParaRPr kumimoji="1" lang="en-US" altLang="zh-CN" sz="1600" b="0" dirty="0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r>
              <a:rPr kumimoji="1" lang="zh-CN" altLang="en-US" dirty="0">
                <a:solidFill>
                  <a:schemeClr val="tx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距离度量</a:t>
            </a:r>
            <a:endParaRPr kumimoji="1" lang="en-US" altLang="zh-CN" dirty="0">
              <a:solidFill>
                <a:schemeClr val="tx1"/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lvl="1"/>
            <a:r>
              <a:rPr kumimoji="1" lang="zh-CN" altLang="en-US" sz="1600" b="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常用距离计算方法</a:t>
            </a:r>
            <a:endParaRPr kumimoji="1" lang="zh-CN" altLang="en-US" sz="1600" b="0" dirty="0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特征预处理</a:t>
            </a:r>
            <a:endParaRPr kumimoji="1" lang="en-US" altLang="zh-CN" dirty="0">
              <a:solidFill>
                <a:schemeClr val="tx1">
                  <a:lumMod val="85000"/>
                  <a:lumOff val="1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lvl="1"/>
            <a:r>
              <a:rPr kumimoji="1" lang="zh-CN" altLang="en-US" sz="16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归一化、标准化、鸢尾花识别案例</a:t>
            </a:r>
            <a:endParaRPr kumimoji="1" lang="en-US" altLang="zh-CN" sz="1600" b="0" dirty="0">
              <a:solidFill>
                <a:schemeClr val="tx1">
                  <a:lumMod val="85000"/>
                  <a:lumOff val="1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r>
              <a:rPr kumimoji="1" lang="zh-CN" altLang="en-US" dirty="0">
                <a:solidFill>
                  <a:srgbClr val="C00000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超参数选择方法</a:t>
            </a:r>
            <a:endParaRPr kumimoji="1" lang="en-US" altLang="zh-CN" dirty="0">
              <a:solidFill>
                <a:srgbClr val="C00000"/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lvl="1"/>
            <a:r>
              <a:rPr kumimoji="1" lang="zh-CN" altLang="en-US" sz="1600" b="0" dirty="0">
                <a:solidFill>
                  <a:srgbClr val="C00000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交叉验证、网格搜索、手写数字识别案例</a:t>
            </a:r>
            <a:endParaRPr lang="en-US" altLang="zh-CN" sz="1600" b="0" dirty="0">
              <a:solidFill>
                <a:srgbClr val="C00000"/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>
          <a:xfrm>
            <a:off x="4770705" y="534302"/>
            <a:ext cx="6298881" cy="4855845"/>
          </a:xfrm>
        </p:spPr>
        <p:txBody>
          <a:bodyPr/>
          <a:lstStyle/>
          <a:p>
            <a:r>
              <a:rPr lang="zh-CN" altLang="en-US" dirty="0">
                <a:solidFill>
                  <a:schemeClr val="tx1"/>
                </a:solidFill>
              </a:rPr>
              <a:t>知道交叉验证是什么？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zh-CN" altLang="en-US" dirty="0">
                <a:solidFill>
                  <a:schemeClr val="tx1"/>
                </a:solidFill>
              </a:rPr>
              <a:t>知道网格搜索是什么？</a:t>
            </a:r>
            <a:endParaRPr lang="zh-CN" altLang="en-US" dirty="0">
              <a:solidFill>
                <a:schemeClr val="tx1"/>
              </a:solidFill>
            </a:endParaRPr>
          </a:p>
          <a:p>
            <a:r>
              <a:rPr lang="zh-CN" altLang="en-US" dirty="0">
                <a:solidFill>
                  <a:schemeClr val="tx1"/>
                </a:solidFill>
              </a:rPr>
              <a:t>知道交叉验证网格搜索</a:t>
            </a:r>
            <a:r>
              <a:rPr lang="en-US" altLang="zh-CN" dirty="0">
                <a:solidFill>
                  <a:schemeClr val="tx1"/>
                </a:solidFill>
              </a:rPr>
              <a:t>API</a:t>
            </a:r>
            <a:r>
              <a:rPr lang="zh-CN" altLang="en-US" dirty="0">
                <a:solidFill>
                  <a:schemeClr val="tx1"/>
                </a:solidFill>
              </a:rPr>
              <a:t>函数用法</a:t>
            </a:r>
            <a:endParaRPr lang="zh-CN" altLang="en-US" dirty="0">
              <a:solidFill>
                <a:schemeClr val="tx1"/>
              </a:solidFill>
            </a:endParaRPr>
          </a:p>
          <a:p>
            <a:r>
              <a:rPr lang="zh-CN" altLang="en-US" dirty="0">
                <a:solidFill>
                  <a:schemeClr val="tx1"/>
                </a:solidFill>
              </a:rPr>
              <a:t>能实践交叉验证网格搜索进行模型超参数调优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zh-CN" altLang="en-US" dirty="0">
                <a:solidFill>
                  <a:schemeClr val="tx1"/>
                </a:solidFill>
              </a:rPr>
              <a:t>利用</a:t>
            </a:r>
            <a:r>
              <a:rPr lang="en-GB" altLang="zh-CN" dirty="0">
                <a:solidFill>
                  <a:schemeClr val="tx1"/>
                </a:solidFill>
              </a:rPr>
              <a:t>KNN</a:t>
            </a:r>
            <a:r>
              <a:rPr lang="zh-CN" altLang="en-US" dirty="0">
                <a:solidFill>
                  <a:schemeClr val="tx1"/>
                </a:solidFill>
              </a:rPr>
              <a:t>算法实现手写数字识别</a:t>
            </a:r>
            <a:endParaRPr lang="zh-CN" alt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10880" y="839979"/>
            <a:ext cx="8364294" cy="517190"/>
          </a:xfrm>
        </p:spPr>
        <p:txBody>
          <a:bodyPr/>
          <a:lstStyle/>
          <a:p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交叉验证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4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963434" y="1332211"/>
            <a:ext cx="6188561" cy="499578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什么是交叉验证？</a:t>
            </a:r>
            <a:endParaRPr lang="en-US" altLang="zh-CN" dirty="0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642638" y="1763208"/>
            <a:ext cx="4830152" cy="6203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是一种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数据集的分割方法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，将训练集划分为 </a:t>
            </a:r>
            <a:r>
              <a:rPr lang="en-GB" altLang="zh-CN" sz="1200" dirty="0">
                <a:solidFill>
                  <a:schemeClr val="accent2">
                    <a:lumMod val="7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n</a:t>
            </a:r>
            <a:r>
              <a:rPr kumimoji="0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份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，拿一份做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验证集（测试集）、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其他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n-1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份做训练集 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chemeClr val="accent2">
                  <a:lumMod val="75000"/>
                </a:scheme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21996" y="2686760"/>
            <a:ext cx="4059321" cy="2203200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1278713" y="3680060"/>
            <a:ext cx="6083089" cy="17283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 algn="l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200" b="0" i="0" u="none" strike="noStrike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第一次：把</a:t>
            </a:r>
            <a:r>
              <a:rPr lang="zh-CN" altLang="en-US" sz="1200" b="0" i="0" u="none" strike="noStrike" dirty="0">
                <a:solidFill>
                  <a:schemeClr val="accent2">
                    <a:lumMod val="75000"/>
                  </a:schemeClr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第一份</a:t>
            </a:r>
            <a:r>
              <a:rPr lang="zh-CN" altLang="en-US" sz="1200" b="0" i="0" u="none" strike="noStrike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数据做验证集，其他数据做训练</a:t>
            </a:r>
            <a:endParaRPr lang="zh-CN" altLang="en-US" sz="1200" b="0" i="0" u="none" strike="noStrike" dirty="0">
              <a:solidFill>
                <a:srgbClr val="333333"/>
              </a:solidFill>
              <a:effectLst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742950" lvl="1" indent="-285750" algn="l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200" b="0" i="0" u="none" strike="noStrike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第二次：把</a:t>
            </a:r>
            <a:r>
              <a:rPr lang="zh-CN" altLang="en-US" sz="1200" b="0" i="0" u="none" strike="noStrike" dirty="0">
                <a:solidFill>
                  <a:schemeClr val="accent2">
                    <a:lumMod val="75000"/>
                  </a:schemeClr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第二份</a:t>
            </a:r>
            <a:r>
              <a:rPr lang="zh-CN" altLang="en-US" sz="1200" b="0" i="0" u="none" strike="noStrike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数据做验证集，其他数据做训练</a:t>
            </a:r>
            <a:endParaRPr lang="zh-CN" altLang="en-US" sz="1200" b="0" i="0" u="none" strike="noStrike" dirty="0">
              <a:solidFill>
                <a:srgbClr val="333333"/>
              </a:solidFill>
              <a:effectLst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742950" lvl="1" indent="-285750" algn="l">
              <a:lnSpc>
                <a:spcPct val="150000"/>
              </a:lnSpc>
              <a:buFont typeface="+mj-lt"/>
              <a:buAutoNum type="arabicPeriod"/>
            </a:pPr>
            <a:r>
              <a:rPr lang="en-US" altLang="zh-CN" sz="1200" b="0" i="0" u="none" strike="noStrike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... </a:t>
            </a:r>
            <a:r>
              <a:rPr lang="zh-CN" altLang="en-US" sz="1200" b="0" i="0" u="none" strike="noStrike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以此类推，总共</a:t>
            </a:r>
            <a:r>
              <a:rPr lang="zh-CN" altLang="en-US" sz="1200" b="0" i="0" u="none" strike="noStrike" dirty="0">
                <a:solidFill>
                  <a:schemeClr val="accent2">
                    <a:lumMod val="75000"/>
                  </a:schemeClr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训练</a:t>
            </a:r>
            <a:r>
              <a:rPr lang="en-US" altLang="zh-CN" sz="1200" dirty="0">
                <a:solidFill>
                  <a:schemeClr val="accent2">
                    <a:lumMod val="7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4</a:t>
            </a:r>
            <a:r>
              <a:rPr lang="zh-CN" altLang="en-US" sz="1200" b="0" i="0" u="none" strike="noStrike" dirty="0">
                <a:solidFill>
                  <a:schemeClr val="accent2">
                    <a:lumMod val="75000"/>
                  </a:schemeClr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次，评估</a:t>
            </a:r>
            <a:r>
              <a:rPr lang="en-US" altLang="zh-CN" sz="1200" dirty="0">
                <a:solidFill>
                  <a:schemeClr val="accent2">
                    <a:lumMod val="7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4</a:t>
            </a:r>
            <a:r>
              <a:rPr lang="zh-CN" altLang="en-US" sz="1200" b="0" i="0" u="none" strike="noStrike" dirty="0">
                <a:solidFill>
                  <a:schemeClr val="accent2">
                    <a:lumMod val="75000"/>
                  </a:schemeClr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次</a:t>
            </a:r>
            <a:r>
              <a:rPr lang="zh-CN" altLang="en-US" sz="1200" b="0" i="0" u="none" strike="noStrike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。</a:t>
            </a:r>
            <a:endParaRPr lang="zh-CN" altLang="en-US" sz="1200" b="0" i="0" u="none" strike="noStrike" dirty="0">
              <a:solidFill>
                <a:srgbClr val="333333"/>
              </a:solidFill>
              <a:effectLst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742950" lvl="1" indent="-285750" algn="l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200" b="0" i="0" u="none" strike="noStrike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使用</a:t>
            </a:r>
            <a:r>
              <a:rPr lang="zh-CN" altLang="en-US" sz="1200" b="0" i="0" u="none" strike="noStrike" dirty="0">
                <a:solidFill>
                  <a:schemeClr val="accent2">
                    <a:lumMod val="75000"/>
                  </a:schemeClr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训练集</a:t>
            </a:r>
            <a:r>
              <a:rPr lang="en-US" altLang="zh-CN" sz="1200" b="0" i="0" u="none" strike="noStrike" dirty="0">
                <a:solidFill>
                  <a:schemeClr val="accent2">
                    <a:lumMod val="75000"/>
                  </a:schemeClr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+</a:t>
            </a:r>
            <a:r>
              <a:rPr lang="zh-CN" altLang="en-US" sz="1200" b="0" i="0" u="none" strike="noStrike" dirty="0">
                <a:solidFill>
                  <a:schemeClr val="accent2">
                    <a:lumMod val="75000"/>
                  </a:schemeClr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验证集</a:t>
            </a:r>
            <a:r>
              <a:rPr lang="zh-CN" altLang="en-US" sz="1200" b="0" i="0" u="none" strike="noStrike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多次评估模型，取</a:t>
            </a:r>
            <a:r>
              <a:rPr lang="zh-CN" altLang="en-US" sz="1200" b="0" i="0" u="none" strike="noStrike" dirty="0">
                <a:solidFill>
                  <a:schemeClr val="accent2">
                    <a:lumMod val="75000"/>
                  </a:schemeClr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平均值</a:t>
            </a:r>
            <a:r>
              <a:rPr lang="zh-CN" altLang="en-US" sz="1200" b="0" i="0" u="none" strike="noStrike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做交叉验证为模型得分</a:t>
            </a:r>
            <a:endParaRPr lang="en-US" altLang="zh-CN" sz="1200" dirty="0">
              <a:solidFill>
                <a:srgbClr val="333333"/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685800" lvl="1" indent="-228600" algn="l">
              <a:lnSpc>
                <a:spcPct val="150000"/>
              </a:lnSpc>
              <a:buAutoNum type="arabicPeriod" startAt="5"/>
            </a:pPr>
            <a:r>
              <a:rPr lang="zh-CN" altLang="en-US" sz="1200" dirty="0">
                <a:solidFill>
                  <a:srgbClr val="333333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若</a:t>
            </a:r>
            <a:r>
              <a:rPr lang="en-US" altLang="zh-CN" sz="1200" dirty="0">
                <a:solidFill>
                  <a:srgbClr val="333333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k=5</a:t>
            </a:r>
            <a:r>
              <a:rPr lang="zh-CN" altLang="en-US" sz="1200" dirty="0">
                <a:solidFill>
                  <a:srgbClr val="333333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模型得分最好，再使用</a:t>
            </a:r>
            <a:r>
              <a:rPr lang="zh-CN" altLang="en-US" sz="1200" dirty="0">
                <a:solidFill>
                  <a:schemeClr val="accent2">
                    <a:lumMod val="7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全部训练集</a:t>
            </a:r>
            <a:r>
              <a:rPr lang="en-US" altLang="zh-CN" sz="1200" dirty="0">
                <a:solidFill>
                  <a:srgbClr val="333333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(</a:t>
            </a:r>
            <a:r>
              <a:rPr lang="zh-CN" altLang="en-US" sz="1200" dirty="0">
                <a:solidFill>
                  <a:srgbClr val="333333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训练集</a:t>
            </a:r>
            <a:r>
              <a:rPr lang="en-US" altLang="zh-CN" sz="1200" dirty="0">
                <a:solidFill>
                  <a:srgbClr val="333333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+</a:t>
            </a:r>
            <a:r>
              <a:rPr lang="zh-CN" altLang="en-US" sz="1200" dirty="0">
                <a:solidFill>
                  <a:srgbClr val="333333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验证集</a:t>
            </a:r>
            <a:r>
              <a:rPr lang="en-US" altLang="zh-CN" sz="1200" dirty="0">
                <a:solidFill>
                  <a:srgbClr val="333333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)</a:t>
            </a:r>
            <a:r>
              <a:rPr lang="zh-CN" altLang="en-US" sz="1200" dirty="0">
                <a:solidFill>
                  <a:srgbClr val="333333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对</a:t>
            </a:r>
            <a:r>
              <a:rPr lang="en-US" altLang="zh-CN" sz="1200" dirty="0">
                <a:solidFill>
                  <a:srgbClr val="333333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k=5</a:t>
            </a:r>
            <a:r>
              <a:rPr lang="zh-CN" altLang="en-US" sz="1200" dirty="0">
                <a:solidFill>
                  <a:srgbClr val="333333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模型再训练一边，</a:t>
            </a:r>
            <a:r>
              <a:rPr lang="zh-CN" altLang="en-US" sz="1200" dirty="0">
                <a:solidFill>
                  <a:schemeClr val="accent2">
                    <a:lumMod val="7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再使用测试集对</a:t>
            </a:r>
            <a:r>
              <a:rPr lang="en-US" altLang="zh-CN" sz="1200" dirty="0">
                <a:solidFill>
                  <a:schemeClr val="accent2">
                    <a:lumMod val="7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k=5</a:t>
            </a:r>
            <a:r>
              <a:rPr lang="zh-CN" altLang="en-US" sz="1200" dirty="0">
                <a:solidFill>
                  <a:schemeClr val="accent2">
                    <a:lumMod val="7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模型做评估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chemeClr val="accent2">
                  <a:lumMod val="75000"/>
                </a:scheme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1957191" y="6017172"/>
            <a:ext cx="779446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0" i="0" u="none" strike="noStrike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交叉验证法，是划分数据集的一种方法，目的就是为了得到</a:t>
            </a:r>
            <a:r>
              <a:rPr lang="zh-CN" altLang="en-US" sz="1600" b="0" i="0" u="none" strike="noStrike" dirty="0">
                <a:solidFill>
                  <a:schemeClr val="accent2">
                    <a:lumMod val="75000"/>
                  </a:schemeClr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更加准确可信的模型评分</a:t>
            </a:r>
            <a:r>
              <a:rPr lang="zh-CN" altLang="en-US" sz="1600" b="0" i="0" u="none" strike="noStrike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。</a:t>
            </a:r>
            <a:endParaRPr lang="zh-CN" altLang="en-US" sz="1600" dirty="0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868186" y="3230491"/>
            <a:ext cx="5329208" cy="3852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rgbClr val="333333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交叉验证法原理：将数据集划分为 </a:t>
            </a:r>
            <a:r>
              <a:rPr lang="en-GB" altLang="zh-CN" sz="1400" dirty="0">
                <a:solidFill>
                  <a:srgbClr val="333333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cv=</a:t>
            </a:r>
            <a:r>
              <a:rPr lang="en-US" altLang="zh-CN" sz="1400" dirty="0">
                <a:solidFill>
                  <a:srgbClr val="333333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4</a:t>
            </a:r>
            <a:r>
              <a:rPr lang="en-GB" altLang="zh-CN" sz="1400" dirty="0">
                <a:solidFill>
                  <a:srgbClr val="333333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</a:t>
            </a:r>
            <a:r>
              <a:rPr lang="zh-CN" altLang="en-US" sz="1400" dirty="0">
                <a:solidFill>
                  <a:srgbClr val="333333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份</a:t>
            </a:r>
            <a:endParaRPr lang="zh-CN" altLang="en-US" sz="1400" dirty="0">
              <a:solidFill>
                <a:srgbClr val="333333"/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10880" y="839979"/>
            <a:ext cx="8364294" cy="517190"/>
          </a:xfrm>
        </p:spPr>
        <p:txBody>
          <a:bodyPr/>
          <a:lstStyle/>
          <a:p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网格搜索 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4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963434" y="1332211"/>
            <a:ext cx="6188561" cy="499578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为什么需要网格搜索？</a:t>
            </a:r>
            <a:endParaRPr lang="en-US" altLang="zh-CN" dirty="0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406645" y="1758708"/>
            <a:ext cx="8723944" cy="708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b="0" i="0" u="none" strike="noStrike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模型有很多超参数，其能力也存在很大的差异。需要</a:t>
            </a:r>
            <a:r>
              <a:rPr lang="zh-CN" altLang="en-US" sz="1400" b="0" i="0" u="none" strike="noStrike" dirty="0">
                <a:solidFill>
                  <a:schemeClr val="accent2">
                    <a:lumMod val="75000"/>
                  </a:schemeClr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手动产生很多超参数组合</a:t>
            </a:r>
            <a:r>
              <a:rPr lang="zh-CN" altLang="en-US" sz="1400" b="0" i="0" u="none" strike="noStrike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，来训练模型</a:t>
            </a:r>
            <a:endParaRPr lang="en-US" altLang="zh-CN" sz="1400" b="0" i="0" u="none" strike="noStrike" dirty="0">
              <a:solidFill>
                <a:srgbClr val="333333"/>
              </a:solidFill>
              <a:effectLst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b="0" u="none" strike="noStrike" dirty="0">
                <a:solidFill>
                  <a:srgbClr val="333333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每组超参数都采用</a:t>
            </a:r>
            <a:r>
              <a:rPr lang="zh-CN" altLang="en-US" sz="1400" b="0" u="none" strike="noStrike" dirty="0">
                <a:solidFill>
                  <a:schemeClr val="accent2">
                    <a:lumMod val="7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交叉验证评估</a:t>
            </a:r>
            <a:r>
              <a:rPr lang="zh-CN" altLang="en-US" sz="1400" b="0" u="none" strike="noStrike" dirty="0">
                <a:solidFill>
                  <a:srgbClr val="333333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，最后选出最优参数组合建立模型。</a:t>
            </a:r>
            <a:endParaRPr lang="en-US" altLang="zh-CN" sz="1400" b="0" u="none" strike="noStrike" dirty="0">
              <a:solidFill>
                <a:srgbClr val="333333"/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963434" y="3200150"/>
            <a:ext cx="5638984" cy="3852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网格搜索是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模型调参的有力工具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。寻找最优超参数的工具！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91234" y="3557754"/>
            <a:ext cx="8358091" cy="708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lang="zh-CN" altLang="en-US" sz="1400" b="0" i="0" u="none" strike="noStrike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只需要将</a:t>
            </a:r>
            <a:r>
              <a:rPr lang="zh-CN" altLang="en-US" sz="1400" b="0" i="0" u="none" strike="noStrike" dirty="0">
                <a:solidFill>
                  <a:schemeClr val="accent2">
                    <a:lumMod val="75000"/>
                  </a:schemeClr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若干参数</a:t>
            </a:r>
            <a:r>
              <a:rPr lang="zh-CN" altLang="en-US" sz="1400" b="0" i="0" u="none" strike="noStrike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传递给</a:t>
            </a:r>
            <a:r>
              <a:rPr lang="zh-CN" altLang="en-US" sz="1400" b="0" i="0" u="none" strike="noStrike" dirty="0">
                <a:solidFill>
                  <a:schemeClr val="accent2">
                    <a:lumMod val="75000"/>
                  </a:schemeClr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网格搜索对象</a:t>
            </a:r>
            <a:r>
              <a:rPr lang="zh-CN" altLang="en-US" sz="1400" b="0" i="0" u="none" strike="noStrike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，它自动帮我们完成不同超参数的组合、模型训练、模型评估，最终</a:t>
            </a:r>
            <a:r>
              <a:rPr lang="zh-CN" altLang="en-US" sz="1400" b="0" i="0" u="none" strike="noStrike" dirty="0">
                <a:solidFill>
                  <a:schemeClr val="accent2">
                    <a:lumMod val="75000"/>
                  </a:schemeClr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返回一组最优的超参数</a:t>
            </a:r>
            <a:r>
              <a:rPr lang="zh-CN" altLang="en-US" sz="1400" b="0" i="0" u="none" strike="noStrike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。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963434" y="4719199"/>
            <a:ext cx="5638984" cy="3852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b="1" i="0" u="none" strike="noStrike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网格搜索 </a:t>
            </a:r>
            <a:r>
              <a:rPr lang="en-US" altLang="zh-CN" sz="1400" b="1" i="0" u="none" strike="noStrike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+ </a:t>
            </a:r>
            <a:r>
              <a:rPr lang="zh-CN" altLang="en-US" sz="1400" b="1" i="0" u="none" strike="noStrike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交叉验证的</a:t>
            </a:r>
            <a:r>
              <a:rPr lang="zh-CN" altLang="en-US" sz="1400" b="1" i="0" u="none" strike="noStrike" dirty="0">
                <a:solidFill>
                  <a:schemeClr val="accent2">
                    <a:lumMod val="75000"/>
                  </a:schemeClr>
                </a:solidFill>
                <a:effectLst/>
                <a:latin typeface="Open Sans" panose="020B0606030504020204" pitchFamily="34" charset="0"/>
              </a:rPr>
              <a:t>强力组合 </a:t>
            </a:r>
            <a:r>
              <a:rPr lang="en-US" altLang="zh-CN" sz="1400" b="1" dirty="0">
                <a:solidFill>
                  <a:schemeClr val="accent2">
                    <a:lumMod val="75000"/>
                  </a:schemeClr>
                </a:solidFill>
                <a:latin typeface="Open Sans" panose="020B0606030504020204" pitchFamily="34" charset="0"/>
              </a:rPr>
              <a:t>(</a:t>
            </a:r>
            <a:r>
              <a:rPr lang="zh-CN" altLang="en-US" sz="1400" b="1" dirty="0">
                <a:solidFill>
                  <a:srgbClr val="333333"/>
                </a:solidFill>
                <a:latin typeface="Open Sans" panose="020B0606030504020204" pitchFamily="34" charset="0"/>
              </a:rPr>
              <a:t>模型选择和调优</a:t>
            </a:r>
            <a:r>
              <a:rPr lang="en-US" altLang="zh-CN" sz="1400" b="1" i="0" u="none" strike="noStrike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)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1406645" y="5105767"/>
            <a:ext cx="8242680" cy="10315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sz="1400" dirty="0">
                <a:solidFill>
                  <a:srgbClr val="333333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交叉验证解决</a:t>
            </a:r>
            <a:r>
              <a:rPr lang="zh-CN" altLang="en-US" sz="1400" dirty="0">
                <a:solidFill>
                  <a:schemeClr val="accent2">
                    <a:lumMod val="7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模型的数据输入问题</a:t>
            </a:r>
            <a:r>
              <a:rPr lang="en-US" altLang="zh-CN" sz="1400" dirty="0">
                <a:solidFill>
                  <a:schemeClr val="accent2">
                    <a:lumMod val="7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(</a:t>
            </a:r>
            <a:r>
              <a:rPr lang="zh-CN" altLang="en-US" sz="1400" dirty="0">
                <a:solidFill>
                  <a:schemeClr val="accent2">
                    <a:lumMod val="7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数据集划分</a:t>
            </a:r>
            <a:r>
              <a:rPr lang="en-US" altLang="zh-CN" sz="1400" dirty="0">
                <a:solidFill>
                  <a:schemeClr val="accent2">
                    <a:lumMod val="7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)</a:t>
            </a:r>
            <a:r>
              <a:rPr lang="zh-CN" altLang="en-US" sz="1400" dirty="0">
                <a:solidFill>
                  <a:srgbClr val="333333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得到更可靠的模型</a:t>
            </a:r>
            <a:endParaRPr lang="en-US" altLang="zh-CN" sz="1400" b="0" i="0" u="none" strike="noStrike" dirty="0">
              <a:solidFill>
                <a:srgbClr val="333333"/>
              </a:solidFill>
              <a:effectLst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sz="1400" b="0" i="0" u="none" strike="noStrike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网格搜索解决</a:t>
            </a:r>
            <a:r>
              <a:rPr lang="zh-CN" altLang="en-US" sz="1400" b="0" i="0" u="none" strike="noStrike" dirty="0">
                <a:solidFill>
                  <a:schemeClr val="accent2">
                    <a:lumMod val="75000"/>
                  </a:schemeClr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超参数的组合</a:t>
            </a:r>
            <a:endParaRPr lang="en-US" altLang="zh-CN" sz="1400" b="0" i="0" u="none" strike="noStrike" dirty="0">
              <a:solidFill>
                <a:schemeClr val="accent2">
                  <a:lumMod val="75000"/>
                </a:schemeClr>
              </a:solidFill>
              <a:effectLst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sz="1400" dirty="0">
                <a:solidFill>
                  <a:srgbClr val="333333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两个组合再一起形成一个模型参数调优的解决方案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10880" y="839979"/>
            <a:ext cx="8364294" cy="517190"/>
          </a:xfrm>
        </p:spPr>
        <p:txBody>
          <a:bodyPr/>
          <a:lstStyle/>
          <a:p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交叉验证网格搜索 </a:t>
            </a:r>
            <a:r>
              <a:rPr kumimoji="1"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–</a:t>
            </a:r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</a:t>
            </a:r>
            <a:r>
              <a:rPr kumimoji="1"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API</a:t>
            </a:r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和应用举例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4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963434" y="1332211"/>
            <a:ext cx="6188561" cy="499578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交叉验证网格搜索</a:t>
            </a:r>
            <a:r>
              <a:rPr lang="en-US" altLang="zh-CN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API</a:t>
            </a:r>
            <a:r>
              <a:rPr lang="zh-CN" altLang="en-US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介绍</a:t>
            </a:r>
            <a:endParaRPr lang="en-US" altLang="zh-CN" dirty="0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2174" y="1899097"/>
            <a:ext cx="7772400" cy="4274328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标题 2"/>
          <p:cNvSpPr txBox="1"/>
          <p:nvPr/>
        </p:nvSpPr>
        <p:spPr>
          <a:xfrm>
            <a:off x="2172295" y="985966"/>
            <a:ext cx="8364294" cy="51719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利用</a:t>
            </a: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KNN</a:t>
            </a:r>
            <a:r>
              <a:rPr kumimoji="1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算法对鸢尾花分类 </a:t>
            </a: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–</a:t>
            </a:r>
            <a:r>
              <a:rPr kumimoji="1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交叉验证网格搜索</a:t>
            </a: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j-cs"/>
              </a:rPr>
              <a:t>  </a:t>
            </a:r>
            <a:endParaRPr kumimoji="1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j-cs"/>
            </a:endParaRPr>
          </a:p>
        </p:txBody>
      </p:sp>
      <p:sp>
        <p:nvSpPr>
          <p:cNvPr id="18" name="三角形 17"/>
          <p:cNvSpPr/>
          <p:nvPr/>
        </p:nvSpPr>
        <p:spPr>
          <a:xfrm rot="2651319">
            <a:off x="3473471" y="1954238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9" name="TextBox 3"/>
          <p:cNvSpPr txBox="1"/>
          <p:nvPr/>
        </p:nvSpPr>
        <p:spPr>
          <a:xfrm>
            <a:off x="171660" y="1765053"/>
            <a:ext cx="5571218" cy="4708981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200" dirty="0">
                <a:solidFill>
                  <a:srgbClr val="0033B3"/>
                </a:solidFill>
                <a:effectLst/>
              </a:rPr>
              <a:t>f</a:t>
            </a:r>
            <a:r>
              <a:rPr lang="en-GB" altLang="zh-CN" sz="1200" dirty="0">
                <a:solidFill>
                  <a:srgbClr val="0033B3"/>
                </a:solidFill>
                <a:effectLst/>
              </a:rPr>
              <a:t>rom </a:t>
            </a:r>
            <a:r>
              <a:rPr lang="en-GB" altLang="zh-CN" sz="1200" dirty="0" err="1"/>
              <a:t>sklearn.datasets</a:t>
            </a:r>
            <a:r>
              <a:rPr lang="en-GB" altLang="zh-CN" sz="1200" dirty="0"/>
              <a:t> </a:t>
            </a:r>
            <a:r>
              <a:rPr lang="en-GB" altLang="zh-CN" sz="1200" dirty="0">
                <a:solidFill>
                  <a:srgbClr val="0033B3"/>
                </a:solidFill>
                <a:effectLst/>
              </a:rPr>
              <a:t>import </a:t>
            </a:r>
            <a:r>
              <a:rPr lang="en-GB" altLang="zh-CN" sz="1200" dirty="0" err="1"/>
              <a:t>load_iris</a:t>
            </a:r>
            <a:br>
              <a:rPr lang="en-GB" altLang="zh-CN" sz="1200" dirty="0"/>
            </a:br>
            <a:r>
              <a:rPr lang="en-GB" altLang="zh-CN" sz="1200" dirty="0">
                <a:solidFill>
                  <a:srgbClr val="0033B3"/>
                </a:solidFill>
                <a:effectLst/>
              </a:rPr>
              <a:t>import </a:t>
            </a:r>
            <a:r>
              <a:rPr lang="en-GB" altLang="zh-CN" sz="1200" dirty="0" err="1"/>
              <a:t>matplotlib.pyplot</a:t>
            </a:r>
            <a:r>
              <a:rPr lang="en-GB" altLang="zh-CN" sz="1200" dirty="0"/>
              <a:t> </a:t>
            </a:r>
            <a:r>
              <a:rPr lang="en-GB" altLang="zh-CN" sz="1200" dirty="0">
                <a:solidFill>
                  <a:srgbClr val="0033B3"/>
                </a:solidFill>
                <a:effectLst/>
              </a:rPr>
              <a:t>as </a:t>
            </a:r>
            <a:r>
              <a:rPr lang="en-GB" altLang="zh-CN" sz="1200" dirty="0" err="1"/>
              <a:t>plt</a:t>
            </a:r>
            <a:br>
              <a:rPr lang="en-GB" altLang="zh-CN" sz="1200" dirty="0"/>
            </a:br>
            <a:r>
              <a:rPr lang="en-GB" altLang="zh-CN" sz="1200" dirty="0">
                <a:solidFill>
                  <a:srgbClr val="0033B3"/>
                </a:solidFill>
                <a:effectLst/>
              </a:rPr>
              <a:t>import </a:t>
            </a:r>
            <a:r>
              <a:rPr lang="en-GB" altLang="zh-CN" sz="1200" dirty="0"/>
              <a:t>pandas </a:t>
            </a:r>
            <a:r>
              <a:rPr lang="en-GB" altLang="zh-CN" sz="1200" dirty="0">
                <a:solidFill>
                  <a:srgbClr val="0033B3"/>
                </a:solidFill>
                <a:effectLst/>
              </a:rPr>
              <a:t>as </a:t>
            </a:r>
            <a:r>
              <a:rPr lang="en-GB" altLang="zh-CN" sz="1200" dirty="0"/>
              <a:t>pd</a:t>
            </a:r>
            <a:br>
              <a:rPr lang="en-GB" altLang="zh-CN" sz="1200" dirty="0"/>
            </a:br>
            <a:r>
              <a:rPr lang="en-GB" altLang="zh-CN" sz="1200" dirty="0">
                <a:solidFill>
                  <a:srgbClr val="0033B3"/>
                </a:solidFill>
                <a:effectLst/>
              </a:rPr>
              <a:t>from </a:t>
            </a:r>
            <a:r>
              <a:rPr lang="en-GB" altLang="zh-CN" sz="1200" dirty="0" err="1"/>
              <a:t>sklearn.model_selection</a:t>
            </a:r>
            <a:r>
              <a:rPr lang="en-GB" altLang="zh-CN" sz="1200" dirty="0"/>
              <a:t> </a:t>
            </a:r>
            <a:r>
              <a:rPr lang="en-GB" altLang="zh-CN" sz="1200" dirty="0">
                <a:solidFill>
                  <a:srgbClr val="0033B3"/>
                </a:solidFill>
                <a:effectLst/>
              </a:rPr>
              <a:t>import </a:t>
            </a:r>
            <a:r>
              <a:rPr lang="en-GB" altLang="zh-CN" sz="1200" dirty="0" err="1"/>
              <a:t>train_test_split</a:t>
            </a:r>
            <a:br>
              <a:rPr lang="en-GB" altLang="zh-CN" sz="1200" dirty="0"/>
            </a:br>
            <a:r>
              <a:rPr lang="en-GB" altLang="zh-CN" sz="1200" dirty="0">
                <a:solidFill>
                  <a:srgbClr val="0033B3"/>
                </a:solidFill>
                <a:effectLst/>
              </a:rPr>
              <a:t>from </a:t>
            </a:r>
            <a:r>
              <a:rPr lang="en-GB" altLang="zh-CN" sz="1200" dirty="0" err="1"/>
              <a:t>sklearn.preprocessing</a:t>
            </a:r>
            <a:r>
              <a:rPr lang="en-GB" altLang="zh-CN" sz="1200" dirty="0"/>
              <a:t> </a:t>
            </a:r>
            <a:r>
              <a:rPr lang="en-GB" altLang="zh-CN" sz="1200" dirty="0">
                <a:solidFill>
                  <a:srgbClr val="0033B3"/>
                </a:solidFill>
                <a:effectLst/>
              </a:rPr>
              <a:t>import </a:t>
            </a:r>
            <a:r>
              <a:rPr lang="en-GB" altLang="zh-CN" sz="1200" dirty="0" err="1"/>
              <a:t>StandardScaler</a:t>
            </a:r>
            <a:br>
              <a:rPr lang="en-GB" altLang="zh-CN" sz="1200" dirty="0"/>
            </a:br>
            <a:r>
              <a:rPr lang="en-GB" altLang="zh-CN" sz="1200" dirty="0">
                <a:solidFill>
                  <a:srgbClr val="0033B3"/>
                </a:solidFill>
                <a:effectLst/>
              </a:rPr>
              <a:t>from </a:t>
            </a:r>
            <a:r>
              <a:rPr lang="en-GB" altLang="zh-CN" sz="1200" dirty="0" err="1"/>
              <a:t>sklearn.model_selection</a:t>
            </a:r>
            <a:r>
              <a:rPr lang="en-GB" altLang="zh-CN" sz="1200" dirty="0"/>
              <a:t> </a:t>
            </a:r>
            <a:r>
              <a:rPr lang="en-GB" altLang="zh-CN" sz="1200" dirty="0">
                <a:solidFill>
                  <a:srgbClr val="0033B3"/>
                </a:solidFill>
                <a:effectLst/>
              </a:rPr>
              <a:t>import </a:t>
            </a:r>
            <a:r>
              <a:rPr lang="en-GB" altLang="zh-CN" sz="1200" dirty="0" err="1"/>
              <a:t>train_test_split</a:t>
            </a:r>
            <a:r>
              <a:rPr lang="en-GB" altLang="zh-CN" sz="1200" dirty="0"/>
              <a:t>, </a:t>
            </a:r>
            <a:r>
              <a:rPr lang="en-GB" altLang="zh-CN" sz="1200" dirty="0" err="1"/>
              <a:t>GridSearchCV</a:t>
            </a:r>
            <a:br>
              <a:rPr lang="en-GB" altLang="zh-CN" sz="1200" dirty="0"/>
            </a:br>
            <a:r>
              <a:rPr lang="en-GB" altLang="zh-CN" sz="1200" dirty="0">
                <a:solidFill>
                  <a:srgbClr val="0033B3"/>
                </a:solidFill>
                <a:effectLst/>
              </a:rPr>
              <a:t>from </a:t>
            </a:r>
            <a:r>
              <a:rPr lang="en-GB" altLang="zh-CN" sz="1200" dirty="0" err="1"/>
              <a:t>sklearn.neighbors</a:t>
            </a:r>
            <a:r>
              <a:rPr lang="en-GB" altLang="zh-CN" sz="1200" dirty="0"/>
              <a:t> </a:t>
            </a:r>
            <a:r>
              <a:rPr lang="en-GB" altLang="zh-CN" sz="1200" dirty="0">
                <a:solidFill>
                  <a:srgbClr val="0033B3"/>
                </a:solidFill>
                <a:effectLst/>
              </a:rPr>
              <a:t>import </a:t>
            </a:r>
            <a:r>
              <a:rPr lang="en-GB" altLang="zh-CN" sz="1200" dirty="0" err="1"/>
              <a:t>KNeighborsClassifier</a:t>
            </a:r>
            <a:endParaRPr lang="en-GB" altLang="zh-CN" sz="12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GB" altLang="zh-CN" sz="12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altLang="zh-CN" sz="1200" dirty="0">
                <a:solidFill>
                  <a:srgbClr val="0033B3"/>
                </a:solidFill>
                <a:effectLst/>
              </a:rPr>
              <a:t>def </a:t>
            </a:r>
            <a:r>
              <a:rPr lang="en-GB" altLang="zh-CN" sz="1200" dirty="0">
                <a:solidFill>
                  <a:srgbClr val="00627A"/>
                </a:solidFill>
                <a:effectLst/>
              </a:rPr>
              <a:t>dm01_</a:t>
            </a:r>
            <a:r>
              <a:rPr lang="zh-CN" altLang="en-US" sz="1200" dirty="0">
                <a:solidFill>
                  <a:srgbClr val="00627A"/>
                </a:solidFill>
                <a:effectLst/>
              </a:rPr>
              <a:t>鸢尾花</a:t>
            </a:r>
            <a:r>
              <a:rPr lang="en-GB" altLang="zh-CN" sz="1200" dirty="0" err="1">
                <a:solidFill>
                  <a:srgbClr val="00627A"/>
                </a:solidFill>
                <a:effectLst/>
              </a:rPr>
              <a:t>knn</a:t>
            </a:r>
            <a:r>
              <a:rPr lang="zh-CN" altLang="en-US" sz="1200" dirty="0">
                <a:solidFill>
                  <a:srgbClr val="00627A"/>
                </a:solidFill>
                <a:effectLst/>
              </a:rPr>
              <a:t>分类</a:t>
            </a:r>
            <a:r>
              <a:rPr lang="en-US" altLang="zh-CN" sz="1200" dirty="0">
                <a:solidFill>
                  <a:srgbClr val="00627A"/>
                </a:solidFill>
                <a:effectLst/>
              </a:rPr>
              <a:t>_</a:t>
            </a:r>
            <a:r>
              <a:rPr lang="zh-CN" altLang="en-US" sz="1200" dirty="0">
                <a:solidFill>
                  <a:srgbClr val="00627A"/>
                </a:solidFill>
                <a:effectLst/>
              </a:rPr>
              <a:t>交叉验证网格搜索</a:t>
            </a:r>
            <a:r>
              <a:rPr lang="en-US" altLang="zh-CN" sz="1200" dirty="0"/>
              <a:t>():</a:t>
            </a:r>
            <a:br>
              <a:rPr lang="en-US" altLang="zh-CN" sz="1200" dirty="0"/>
            </a:br>
            <a:r>
              <a:rPr lang="en-US" altLang="zh-CN" sz="1200" dirty="0"/>
              <a:t>    </a:t>
            </a:r>
            <a:r>
              <a:rPr lang="en-US" altLang="zh-CN" sz="1200" i="1" dirty="0">
                <a:solidFill>
                  <a:srgbClr val="8C8C8C"/>
                </a:solidFill>
                <a:effectLst/>
              </a:rPr>
              <a:t># 1 </a:t>
            </a:r>
            <a:r>
              <a:rPr lang="zh-CN" altLang="en-US" sz="1200" i="1" dirty="0">
                <a:solidFill>
                  <a:srgbClr val="8C8C8C"/>
                </a:solidFill>
                <a:effectLst/>
              </a:rPr>
              <a:t>获取数据集</a:t>
            </a:r>
            <a:br>
              <a:rPr lang="zh-CN" altLang="en-US" sz="1200" i="1" dirty="0">
                <a:solidFill>
                  <a:srgbClr val="8C8C8C"/>
                </a:solidFill>
                <a:effectLst/>
              </a:rPr>
            </a:br>
            <a:r>
              <a:rPr lang="zh-CN" altLang="en-US" sz="1200" i="1" dirty="0">
                <a:solidFill>
                  <a:srgbClr val="8C8C8C"/>
                </a:solidFill>
                <a:effectLst/>
              </a:rPr>
              <a:t>    </a:t>
            </a:r>
            <a:r>
              <a:rPr lang="en-GB" altLang="zh-CN" sz="1200" dirty="0" err="1"/>
              <a:t>mydataset</a:t>
            </a:r>
            <a:r>
              <a:rPr lang="en-GB" altLang="zh-CN" sz="1200" dirty="0"/>
              <a:t> = </a:t>
            </a:r>
            <a:r>
              <a:rPr lang="en-GB" altLang="zh-CN" sz="1200" dirty="0" err="1"/>
              <a:t>load_iris</a:t>
            </a:r>
            <a:r>
              <a:rPr lang="en-GB" altLang="zh-CN" sz="1200" dirty="0"/>
              <a:t>()</a:t>
            </a:r>
            <a:br>
              <a:rPr lang="en-GB" altLang="zh-CN" sz="1200" dirty="0"/>
            </a:br>
            <a:br>
              <a:rPr lang="en-GB" altLang="zh-CN" sz="1200" dirty="0"/>
            </a:br>
            <a:r>
              <a:rPr lang="en-GB" altLang="zh-CN" sz="1200" dirty="0"/>
              <a:t>    </a:t>
            </a:r>
            <a:r>
              <a:rPr lang="en-GB" altLang="zh-CN" sz="1200" i="1" dirty="0">
                <a:solidFill>
                  <a:srgbClr val="8C8C8C"/>
                </a:solidFill>
                <a:effectLst/>
              </a:rPr>
              <a:t># 2 </a:t>
            </a:r>
            <a:r>
              <a:rPr lang="zh-CN" altLang="en-US" sz="1200" i="1" dirty="0">
                <a:solidFill>
                  <a:srgbClr val="8C8C8C"/>
                </a:solidFill>
                <a:effectLst/>
              </a:rPr>
              <a:t>数据基本处理</a:t>
            </a:r>
            <a:r>
              <a:rPr lang="en-US" altLang="zh-CN" sz="1200" i="1" dirty="0">
                <a:solidFill>
                  <a:srgbClr val="8C8C8C"/>
                </a:solidFill>
                <a:effectLst/>
              </a:rPr>
              <a:t>-</a:t>
            </a:r>
            <a:r>
              <a:rPr lang="zh-CN" altLang="en-US" sz="1200" i="1" dirty="0">
                <a:solidFill>
                  <a:srgbClr val="8C8C8C"/>
                </a:solidFill>
                <a:effectLst/>
              </a:rPr>
              <a:t>划分数据集</a:t>
            </a:r>
            <a:br>
              <a:rPr lang="zh-CN" altLang="en-US" sz="1200" i="1" dirty="0">
                <a:solidFill>
                  <a:srgbClr val="8C8C8C"/>
                </a:solidFill>
                <a:effectLst/>
              </a:rPr>
            </a:br>
            <a:r>
              <a:rPr lang="zh-CN" altLang="en-US" sz="1200" i="1" dirty="0">
                <a:solidFill>
                  <a:srgbClr val="8C8C8C"/>
                </a:solidFill>
                <a:effectLst/>
              </a:rPr>
              <a:t>    </a:t>
            </a:r>
            <a:r>
              <a:rPr lang="en-GB" altLang="zh-CN" sz="1200" dirty="0" err="1"/>
              <a:t>x_train</a:t>
            </a:r>
            <a:r>
              <a:rPr lang="en-GB" altLang="zh-CN" sz="1200" dirty="0"/>
              <a:t>, </a:t>
            </a:r>
            <a:r>
              <a:rPr lang="en-GB" altLang="zh-CN" sz="1200" dirty="0" err="1"/>
              <a:t>x_test</a:t>
            </a:r>
            <a:r>
              <a:rPr lang="en-GB" altLang="zh-CN" sz="1200" dirty="0"/>
              <a:t>, </a:t>
            </a:r>
            <a:r>
              <a:rPr lang="en-GB" altLang="zh-CN" sz="1200" dirty="0" err="1"/>
              <a:t>y_train</a:t>
            </a:r>
            <a:r>
              <a:rPr lang="en-GB" altLang="zh-CN" sz="1200" dirty="0"/>
              <a:t> ,</a:t>
            </a:r>
            <a:r>
              <a:rPr lang="en-GB" altLang="zh-CN" sz="1200" dirty="0" err="1"/>
              <a:t>y_test</a:t>
            </a:r>
            <a:r>
              <a:rPr lang="en-GB" altLang="zh-CN" sz="1200" dirty="0"/>
              <a:t> = </a:t>
            </a:r>
            <a:r>
              <a:rPr lang="en-GB" altLang="zh-CN" sz="1200" dirty="0" err="1"/>
              <a:t>train_test_split</a:t>
            </a:r>
            <a:r>
              <a:rPr lang="en-GB" altLang="zh-CN" sz="1200" dirty="0"/>
              <a:t>(</a:t>
            </a:r>
            <a:r>
              <a:rPr lang="en-GB" altLang="zh-CN" sz="1200" dirty="0" err="1"/>
              <a:t>mydataset.data</a:t>
            </a:r>
            <a:r>
              <a:rPr lang="en-GB" altLang="zh-CN" sz="1200" dirty="0"/>
              <a:t>, </a:t>
            </a:r>
            <a:r>
              <a:rPr lang="en-GB" altLang="zh-CN" sz="1200" dirty="0" err="1"/>
              <a:t>mydataset.target</a:t>
            </a:r>
            <a:r>
              <a:rPr lang="en-GB" altLang="zh-CN" sz="1200" dirty="0"/>
              <a:t>, </a:t>
            </a:r>
            <a:r>
              <a:rPr lang="en-GB" altLang="zh-CN" sz="1200" dirty="0" err="1">
                <a:solidFill>
                  <a:srgbClr val="660099"/>
                </a:solidFill>
                <a:effectLst/>
              </a:rPr>
              <a:t>test_size</a:t>
            </a:r>
            <a:r>
              <a:rPr lang="en-GB" altLang="zh-CN" sz="1200" dirty="0"/>
              <a:t>=</a:t>
            </a:r>
            <a:r>
              <a:rPr lang="en-GB" altLang="zh-CN" sz="1200" dirty="0">
                <a:solidFill>
                  <a:srgbClr val="1750EB"/>
                </a:solidFill>
                <a:effectLst/>
              </a:rPr>
              <a:t>0.2</a:t>
            </a:r>
            <a:r>
              <a:rPr lang="en-GB" altLang="zh-CN" sz="1200" dirty="0"/>
              <a:t>,</a:t>
            </a:r>
            <a:r>
              <a:rPr lang="en-GB" altLang="zh-CN" sz="1200" dirty="0">
                <a:solidFill>
                  <a:srgbClr val="660099"/>
                </a:solidFill>
                <a:effectLst/>
              </a:rPr>
              <a:t>random_state</a:t>
            </a:r>
            <a:r>
              <a:rPr lang="en-GB" altLang="zh-CN" sz="1200" dirty="0"/>
              <a:t>=</a:t>
            </a:r>
            <a:r>
              <a:rPr lang="en-GB" altLang="zh-CN" sz="1200" dirty="0">
                <a:solidFill>
                  <a:srgbClr val="1750EB"/>
                </a:solidFill>
                <a:effectLst/>
              </a:rPr>
              <a:t>22</a:t>
            </a:r>
            <a:r>
              <a:rPr lang="en-GB" altLang="zh-CN" sz="1200" dirty="0"/>
              <a:t>)</a:t>
            </a:r>
            <a:br>
              <a:rPr lang="en-GB" altLang="zh-CN" sz="1200" dirty="0"/>
            </a:br>
            <a:br>
              <a:rPr lang="en-GB" altLang="zh-CN" sz="1200" dirty="0"/>
            </a:br>
            <a:r>
              <a:rPr lang="en-GB" altLang="zh-CN" sz="1200" dirty="0"/>
              <a:t>    </a:t>
            </a:r>
            <a:r>
              <a:rPr lang="en-GB" altLang="zh-CN" sz="1200" i="1" dirty="0">
                <a:solidFill>
                  <a:srgbClr val="8C8C8C"/>
                </a:solidFill>
                <a:effectLst/>
              </a:rPr>
              <a:t># 3 </a:t>
            </a:r>
            <a:r>
              <a:rPr lang="zh-CN" altLang="en-US" sz="1200" i="1" dirty="0">
                <a:solidFill>
                  <a:srgbClr val="8C8C8C"/>
                </a:solidFill>
                <a:effectLst/>
              </a:rPr>
              <a:t>数据集预处理</a:t>
            </a:r>
            <a:r>
              <a:rPr lang="en-US" altLang="zh-CN" sz="1200" i="1" dirty="0">
                <a:solidFill>
                  <a:srgbClr val="8C8C8C"/>
                </a:solidFill>
                <a:effectLst/>
              </a:rPr>
              <a:t>-</a:t>
            </a:r>
            <a:r>
              <a:rPr lang="zh-CN" altLang="en-US" sz="1200" i="1" dirty="0">
                <a:solidFill>
                  <a:srgbClr val="8C8C8C"/>
                </a:solidFill>
                <a:effectLst/>
              </a:rPr>
              <a:t>数据标准化</a:t>
            </a:r>
            <a:br>
              <a:rPr lang="zh-CN" altLang="en-US" sz="1200" i="1" dirty="0">
                <a:solidFill>
                  <a:srgbClr val="8C8C8C"/>
                </a:solidFill>
                <a:effectLst/>
              </a:rPr>
            </a:br>
            <a:r>
              <a:rPr lang="zh-CN" altLang="en-US" sz="1200" i="1" dirty="0">
                <a:solidFill>
                  <a:srgbClr val="8C8C8C"/>
                </a:solidFill>
                <a:effectLst/>
              </a:rPr>
              <a:t>    </a:t>
            </a:r>
            <a:r>
              <a:rPr lang="en-GB" altLang="zh-CN" sz="1200" dirty="0"/>
              <a:t>transfer = </a:t>
            </a:r>
            <a:r>
              <a:rPr lang="en-GB" altLang="zh-CN" sz="1200" dirty="0" err="1"/>
              <a:t>StandardScaler</a:t>
            </a:r>
            <a:r>
              <a:rPr lang="en-GB" altLang="zh-CN" sz="1200" dirty="0"/>
              <a:t>()</a:t>
            </a:r>
            <a:br>
              <a:rPr lang="en-GB" altLang="zh-CN" sz="1200" dirty="0"/>
            </a:br>
            <a:r>
              <a:rPr lang="en-GB" altLang="zh-CN" sz="1200" dirty="0"/>
              <a:t>    </a:t>
            </a:r>
            <a:r>
              <a:rPr lang="en-GB" altLang="zh-CN" sz="1200" dirty="0" err="1"/>
              <a:t>x_train</a:t>
            </a:r>
            <a:r>
              <a:rPr lang="en-GB" altLang="zh-CN" sz="1200" dirty="0"/>
              <a:t> = </a:t>
            </a:r>
            <a:r>
              <a:rPr lang="en-GB" altLang="zh-CN" sz="1200" dirty="0" err="1"/>
              <a:t>transfer.fit_transform</a:t>
            </a:r>
            <a:r>
              <a:rPr lang="en-GB" altLang="zh-CN" sz="1200" dirty="0"/>
              <a:t>(</a:t>
            </a:r>
            <a:r>
              <a:rPr lang="en-GB" altLang="zh-CN" sz="1200" dirty="0" err="1"/>
              <a:t>x_train</a:t>
            </a:r>
            <a:r>
              <a:rPr lang="en-GB" altLang="zh-CN" sz="1200" dirty="0"/>
              <a:t>)</a:t>
            </a:r>
            <a:br>
              <a:rPr lang="en-GB" altLang="zh-CN" sz="1200" dirty="0"/>
            </a:br>
            <a:r>
              <a:rPr lang="en-GB" altLang="zh-CN" sz="1200" dirty="0"/>
              <a:t>    </a:t>
            </a:r>
            <a:r>
              <a:rPr lang="en-GB" altLang="zh-CN" sz="1200" dirty="0" err="1"/>
              <a:t>x_test</a:t>
            </a:r>
            <a:r>
              <a:rPr lang="en-GB" altLang="zh-CN" sz="1200" dirty="0"/>
              <a:t> = </a:t>
            </a:r>
            <a:r>
              <a:rPr lang="en-GB" altLang="zh-CN" sz="1200" dirty="0" err="1"/>
              <a:t>transfer.transform</a:t>
            </a:r>
            <a:r>
              <a:rPr lang="en-GB" altLang="zh-CN" sz="1200" dirty="0"/>
              <a:t>(</a:t>
            </a:r>
            <a:r>
              <a:rPr lang="en-GB" altLang="zh-CN" sz="1200" dirty="0" err="1"/>
              <a:t>x_test</a:t>
            </a:r>
            <a:r>
              <a:rPr lang="en-GB" altLang="zh-CN" sz="1200" dirty="0"/>
              <a:t>)</a:t>
            </a:r>
            <a:br>
              <a:rPr lang="en-GB" altLang="zh-CN" sz="1200" dirty="0"/>
            </a:br>
            <a:br>
              <a:rPr lang="en-GB" altLang="zh-CN" sz="1200" dirty="0"/>
            </a:br>
            <a:r>
              <a:rPr lang="en-GB" altLang="zh-CN" sz="1200" dirty="0"/>
              <a:t>    </a:t>
            </a:r>
            <a:r>
              <a:rPr lang="en-GB" altLang="zh-CN" sz="1200" i="1" dirty="0">
                <a:solidFill>
                  <a:srgbClr val="8C8C8C"/>
                </a:solidFill>
                <a:effectLst/>
              </a:rPr>
              <a:t># 4 </a:t>
            </a:r>
            <a:r>
              <a:rPr lang="zh-CN" altLang="en-US" sz="1200" i="1" dirty="0">
                <a:solidFill>
                  <a:srgbClr val="8C8C8C"/>
                </a:solidFill>
                <a:effectLst/>
              </a:rPr>
              <a:t>机器学习</a:t>
            </a:r>
            <a:r>
              <a:rPr lang="en-US" altLang="zh-CN" sz="1200" i="1" dirty="0">
                <a:solidFill>
                  <a:srgbClr val="8C8C8C"/>
                </a:solidFill>
                <a:effectLst/>
              </a:rPr>
              <a:t>(</a:t>
            </a:r>
            <a:r>
              <a:rPr lang="zh-CN" altLang="en-US" sz="1200" i="1" dirty="0">
                <a:solidFill>
                  <a:srgbClr val="8C8C8C"/>
                </a:solidFill>
                <a:effectLst/>
              </a:rPr>
              <a:t>模型训练</a:t>
            </a:r>
            <a:r>
              <a:rPr lang="en-US" altLang="zh-CN" sz="1200" i="1" dirty="0">
                <a:solidFill>
                  <a:srgbClr val="8C8C8C"/>
                </a:solidFill>
                <a:effectLst/>
              </a:rPr>
              <a:t>)</a:t>
            </a:r>
            <a:br>
              <a:rPr lang="en-US" altLang="zh-CN" sz="1200" i="1" dirty="0">
                <a:solidFill>
                  <a:srgbClr val="8C8C8C"/>
                </a:solidFill>
                <a:effectLst/>
              </a:rPr>
            </a:br>
            <a:r>
              <a:rPr lang="en-US" altLang="zh-CN" sz="1200" i="1" dirty="0">
                <a:solidFill>
                  <a:srgbClr val="8C8C8C"/>
                </a:solidFill>
                <a:effectLst/>
              </a:rPr>
              <a:t>    </a:t>
            </a:r>
            <a:r>
              <a:rPr lang="en-GB" altLang="zh-CN" sz="1200" dirty="0"/>
              <a:t>estimator = </a:t>
            </a:r>
            <a:r>
              <a:rPr lang="en-GB" altLang="zh-CN" sz="1200" dirty="0" err="1"/>
              <a:t>KNeighborsClassifier</a:t>
            </a:r>
            <a:r>
              <a:rPr lang="en-GB" altLang="zh-CN" sz="1200" dirty="0"/>
              <a:t>()</a:t>
            </a:r>
            <a:br>
              <a:rPr lang="en-GB" altLang="zh-CN" sz="1200" dirty="0"/>
            </a:br>
            <a:r>
              <a:rPr lang="en-GB" altLang="zh-CN" sz="1200" dirty="0"/>
              <a:t>    </a:t>
            </a:r>
            <a:r>
              <a:rPr lang="en-GB" altLang="zh-CN" sz="1200" dirty="0">
                <a:solidFill>
                  <a:srgbClr val="000080"/>
                </a:solidFill>
                <a:effectLst/>
              </a:rPr>
              <a:t>print</a:t>
            </a:r>
            <a:r>
              <a:rPr lang="en-GB" altLang="zh-CN" sz="1200" dirty="0"/>
              <a:t>(</a:t>
            </a:r>
            <a:r>
              <a:rPr lang="en-GB" altLang="zh-CN" sz="1200" dirty="0">
                <a:solidFill>
                  <a:srgbClr val="067D17"/>
                </a:solidFill>
                <a:effectLst/>
              </a:rPr>
              <a:t>'estimator--&gt;'</a:t>
            </a:r>
            <a:r>
              <a:rPr lang="en-GB" altLang="zh-CN" sz="1200" dirty="0"/>
              <a:t>, estimator)</a:t>
            </a:r>
            <a:br>
              <a:rPr lang="en-GB" altLang="zh-CN" sz="1200" dirty="0"/>
            </a:b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2" name="TextBox 3"/>
          <p:cNvSpPr txBox="1"/>
          <p:nvPr/>
        </p:nvSpPr>
        <p:spPr>
          <a:xfrm>
            <a:off x="5843914" y="1765052"/>
            <a:ext cx="5571218" cy="3785652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200" i="1" dirty="0">
                <a:solidFill>
                  <a:srgbClr val="8C8C8C"/>
                </a:solidFill>
                <a:effectLst/>
              </a:rPr>
              <a:t># 4-2 </a:t>
            </a:r>
            <a:r>
              <a:rPr lang="zh-CN" altLang="en-US" sz="1200" i="1" dirty="0">
                <a:solidFill>
                  <a:srgbClr val="8C8C8C"/>
                </a:solidFill>
                <a:effectLst/>
              </a:rPr>
              <a:t>使用校验验证网格搜索</a:t>
            </a:r>
            <a:br>
              <a:rPr lang="zh-CN" altLang="en-US" sz="1200" i="1" dirty="0">
                <a:solidFill>
                  <a:srgbClr val="8C8C8C"/>
                </a:solidFill>
                <a:effectLst/>
              </a:rPr>
            </a:br>
            <a:r>
              <a:rPr lang="en-GB" altLang="zh-CN" sz="1200" dirty="0" err="1"/>
              <a:t>param_grid</a:t>
            </a:r>
            <a:r>
              <a:rPr lang="en-GB" altLang="zh-CN" sz="1200" dirty="0"/>
              <a:t> = {</a:t>
            </a:r>
            <a:r>
              <a:rPr lang="en-GB" altLang="zh-CN" sz="1200" dirty="0">
                <a:solidFill>
                  <a:srgbClr val="067D17"/>
                </a:solidFill>
                <a:effectLst/>
              </a:rPr>
              <a:t>'</a:t>
            </a:r>
            <a:r>
              <a:rPr lang="en-GB" altLang="zh-CN" sz="1200" dirty="0" err="1">
                <a:solidFill>
                  <a:srgbClr val="067D17"/>
                </a:solidFill>
                <a:effectLst/>
              </a:rPr>
              <a:t>n_neighbors</a:t>
            </a:r>
            <a:r>
              <a:rPr lang="en-GB" altLang="zh-CN" sz="1200" dirty="0">
                <a:solidFill>
                  <a:srgbClr val="067D17"/>
                </a:solidFill>
                <a:effectLst/>
              </a:rPr>
              <a:t>'</a:t>
            </a:r>
            <a:r>
              <a:rPr lang="en-GB" altLang="zh-CN" sz="1200" dirty="0"/>
              <a:t>:[</a:t>
            </a:r>
            <a:r>
              <a:rPr lang="en-GB" altLang="zh-CN" sz="1200" dirty="0">
                <a:solidFill>
                  <a:srgbClr val="1750EB"/>
                </a:solidFill>
                <a:effectLst/>
              </a:rPr>
              <a:t>1</a:t>
            </a:r>
            <a:r>
              <a:rPr lang="en-GB" altLang="zh-CN" sz="1200" dirty="0"/>
              <a:t>,</a:t>
            </a:r>
            <a:r>
              <a:rPr lang="en-GB" altLang="zh-CN" sz="1200" dirty="0">
                <a:solidFill>
                  <a:srgbClr val="1750EB"/>
                </a:solidFill>
                <a:effectLst/>
              </a:rPr>
              <a:t>3</a:t>
            </a:r>
            <a:r>
              <a:rPr lang="en-GB" altLang="zh-CN" sz="1200" dirty="0"/>
              <a:t>,</a:t>
            </a:r>
            <a:r>
              <a:rPr lang="en-GB" altLang="zh-CN" sz="1200" dirty="0">
                <a:solidFill>
                  <a:srgbClr val="1750EB"/>
                </a:solidFill>
                <a:effectLst/>
              </a:rPr>
              <a:t>5</a:t>
            </a:r>
            <a:r>
              <a:rPr lang="en-GB" altLang="zh-CN" sz="1200" dirty="0"/>
              <a:t>,</a:t>
            </a:r>
            <a:r>
              <a:rPr lang="en-GB" altLang="zh-CN" sz="1200" dirty="0">
                <a:solidFill>
                  <a:srgbClr val="1750EB"/>
                </a:solidFill>
                <a:effectLst/>
              </a:rPr>
              <a:t>7</a:t>
            </a:r>
            <a:r>
              <a:rPr lang="en-GB" altLang="zh-CN" sz="1200" dirty="0"/>
              <a:t>]}</a:t>
            </a:r>
            <a:br>
              <a:rPr lang="en-GB" altLang="zh-CN" sz="1200" dirty="0"/>
            </a:br>
            <a:r>
              <a:rPr lang="en-GB" altLang="zh-CN" sz="1200" i="1" dirty="0">
                <a:solidFill>
                  <a:srgbClr val="8C8C8C"/>
                </a:solidFill>
                <a:effectLst/>
              </a:rPr>
              <a:t># </a:t>
            </a:r>
            <a:r>
              <a:rPr lang="zh-CN" altLang="en-US" sz="1200" i="1" dirty="0">
                <a:solidFill>
                  <a:srgbClr val="8C8C8C"/>
                </a:solidFill>
                <a:effectLst/>
              </a:rPr>
              <a:t>输入一个</a:t>
            </a:r>
            <a:r>
              <a:rPr lang="en-GB" altLang="zh-CN" sz="1200" i="1" dirty="0">
                <a:solidFill>
                  <a:srgbClr val="8C8C8C"/>
                </a:solidFill>
                <a:effectLst/>
              </a:rPr>
              <a:t>estimator, </a:t>
            </a:r>
            <a:r>
              <a:rPr lang="zh-CN" altLang="en-US" sz="1200" i="1" dirty="0">
                <a:solidFill>
                  <a:srgbClr val="8C8C8C"/>
                </a:solidFill>
                <a:effectLst/>
              </a:rPr>
              <a:t>出来一个</a:t>
            </a:r>
            <a:r>
              <a:rPr lang="en-GB" altLang="zh-CN" sz="1200" i="1" dirty="0">
                <a:solidFill>
                  <a:srgbClr val="8C8C8C"/>
                </a:solidFill>
                <a:effectLst/>
              </a:rPr>
              <a:t>estimator(</a:t>
            </a:r>
            <a:r>
              <a:rPr lang="zh-CN" altLang="en-US" sz="1200" i="1" dirty="0">
                <a:solidFill>
                  <a:srgbClr val="8C8C8C"/>
                </a:solidFill>
                <a:effectLst/>
              </a:rPr>
              <a:t>功能变的强大</a:t>
            </a:r>
            <a:r>
              <a:rPr lang="en-US" altLang="zh-CN" sz="1200" i="1" dirty="0">
                <a:solidFill>
                  <a:srgbClr val="8C8C8C"/>
                </a:solidFill>
                <a:effectLst/>
              </a:rPr>
              <a:t>)</a:t>
            </a:r>
            <a:br>
              <a:rPr lang="en-US" altLang="zh-CN" sz="1200" i="1" dirty="0">
                <a:solidFill>
                  <a:srgbClr val="8C8C8C"/>
                </a:solidFill>
                <a:effectLst/>
              </a:rPr>
            </a:br>
            <a:r>
              <a:rPr lang="en-GB" altLang="zh-CN" sz="1200" dirty="0"/>
              <a:t>estimator = </a:t>
            </a:r>
            <a:r>
              <a:rPr lang="en-GB" altLang="zh-CN" sz="1200" dirty="0" err="1"/>
              <a:t>GridSearchCV</a:t>
            </a:r>
            <a:r>
              <a:rPr lang="en-GB" altLang="zh-CN" sz="1200" dirty="0"/>
              <a:t>(</a:t>
            </a:r>
            <a:r>
              <a:rPr lang="en-GB" altLang="zh-CN" sz="1200" dirty="0">
                <a:solidFill>
                  <a:srgbClr val="660099"/>
                </a:solidFill>
                <a:effectLst/>
              </a:rPr>
              <a:t>estimator</a:t>
            </a:r>
            <a:r>
              <a:rPr lang="en-GB" altLang="zh-CN" sz="1200" dirty="0"/>
              <a:t>=estimator, </a:t>
            </a:r>
            <a:r>
              <a:rPr lang="en-GB" altLang="zh-CN" sz="1200" dirty="0" err="1">
                <a:solidFill>
                  <a:srgbClr val="660099"/>
                </a:solidFill>
                <a:effectLst/>
              </a:rPr>
              <a:t>param_grid</a:t>
            </a:r>
            <a:r>
              <a:rPr lang="en-GB" altLang="zh-CN" sz="1200" dirty="0"/>
              <a:t>=</a:t>
            </a:r>
            <a:r>
              <a:rPr lang="en-GB" altLang="zh-CN" sz="1200" dirty="0" err="1"/>
              <a:t>param_grid</a:t>
            </a:r>
            <a:r>
              <a:rPr lang="en-GB" altLang="zh-CN" sz="1200" dirty="0"/>
              <a:t>, </a:t>
            </a:r>
            <a:r>
              <a:rPr lang="en-GB" altLang="zh-CN" sz="1200" dirty="0">
                <a:solidFill>
                  <a:srgbClr val="660099"/>
                </a:solidFill>
                <a:effectLst/>
              </a:rPr>
              <a:t>cv</a:t>
            </a:r>
            <a:r>
              <a:rPr lang="en-GB" altLang="zh-CN" sz="1200" dirty="0"/>
              <a:t>=</a:t>
            </a:r>
            <a:r>
              <a:rPr lang="en-GB" altLang="zh-CN" sz="1200" dirty="0">
                <a:solidFill>
                  <a:srgbClr val="1750EB"/>
                </a:solidFill>
                <a:effectLst/>
              </a:rPr>
              <a:t>5</a:t>
            </a:r>
            <a:r>
              <a:rPr lang="en-GB" altLang="zh-CN" sz="1200" dirty="0"/>
              <a:t>)</a:t>
            </a:r>
            <a:br>
              <a:rPr lang="en-GB" altLang="zh-CN" sz="1200" dirty="0"/>
            </a:br>
            <a:r>
              <a:rPr lang="en-GB" altLang="zh-CN" sz="1200" dirty="0" err="1"/>
              <a:t>estimator.fit</a:t>
            </a:r>
            <a:r>
              <a:rPr lang="en-GB" altLang="zh-CN" sz="1200" dirty="0"/>
              <a:t>(</a:t>
            </a:r>
            <a:r>
              <a:rPr lang="en-GB" altLang="zh-CN" sz="1200" dirty="0" err="1"/>
              <a:t>x_train</a:t>
            </a:r>
            <a:r>
              <a:rPr lang="en-GB" altLang="zh-CN" sz="1200" dirty="0"/>
              <a:t>, </a:t>
            </a:r>
            <a:r>
              <a:rPr lang="en-GB" altLang="zh-CN" sz="1200" dirty="0" err="1"/>
              <a:t>y_train</a:t>
            </a:r>
            <a:r>
              <a:rPr lang="en-GB" altLang="zh-CN" sz="1200" dirty="0"/>
              <a:t>)  </a:t>
            </a:r>
            <a:r>
              <a:rPr lang="en-GB" altLang="zh-CN" sz="1200" i="1" dirty="0">
                <a:solidFill>
                  <a:srgbClr val="8C8C8C"/>
                </a:solidFill>
                <a:effectLst/>
              </a:rPr>
              <a:t># 4</a:t>
            </a:r>
            <a:r>
              <a:rPr lang="zh-CN" altLang="en-US" sz="1200" i="1" dirty="0">
                <a:solidFill>
                  <a:srgbClr val="8C8C8C"/>
                </a:solidFill>
                <a:effectLst/>
              </a:rPr>
              <a:t>个模型 每个模型进行网格搜素找到做好的模型</a:t>
            </a:r>
            <a:br>
              <a:rPr lang="zh-CN" altLang="en-US" sz="1200" i="1" dirty="0">
                <a:solidFill>
                  <a:srgbClr val="8C8C8C"/>
                </a:solidFill>
                <a:effectLst/>
              </a:rPr>
            </a:br>
            <a:br>
              <a:rPr lang="zh-CN" altLang="en-US" sz="1200" i="1" dirty="0">
                <a:solidFill>
                  <a:srgbClr val="8C8C8C"/>
                </a:solidFill>
                <a:effectLst/>
              </a:rPr>
            </a:br>
            <a:r>
              <a:rPr lang="en-US" altLang="zh-CN" sz="1200" i="1" dirty="0">
                <a:solidFill>
                  <a:srgbClr val="8C8C8C"/>
                </a:solidFill>
                <a:effectLst/>
              </a:rPr>
              <a:t># 4-3 </a:t>
            </a:r>
            <a:r>
              <a:rPr lang="zh-CN" altLang="en-US" sz="1200" i="1" dirty="0">
                <a:solidFill>
                  <a:srgbClr val="8C8C8C"/>
                </a:solidFill>
                <a:effectLst/>
              </a:rPr>
              <a:t>交叉验证网格搜索结果查看</a:t>
            </a:r>
            <a:br>
              <a:rPr lang="zh-CN" altLang="en-US" sz="1200" i="1" dirty="0">
                <a:solidFill>
                  <a:srgbClr val="8C8C8C"/>
                </a:solidFill>
                <a:effectLst/>
              </a:rPr>
            </a:br>
            <a:r>
              <a:rPr lang="en-US" altLang="zh-CN" sz="1200" i="1" dirty="0">
                <a:solidFill>
                  <a:srgbClr val="8C8C8C"/>
                </a:solidFill>
                <a:effectLst/>
              </a:rPr>
              <a:t># </a:t>
            </a:r>
            <a:r>
              <a:rPr lang="en-GB" altLang="zh-CN" sz="1200" i="1" dirty="0" err="1">
                <a:solidFill>
                  <a:srgbClr val="8C8C8C"/>
                </a:solidFill>
                <a:effectLst/>
              </a:rPr>
              <a:t>estimator.best_score</a:t>
            </a:r>
            <a:r>
              <a:rPr lang="en-GB" altLang="zh-CN" sz="1200" i="1" dirty="0">
                <a:solidFill>
                  <a:srgbClr val="8C8C8C"/>
                </a:solidFill>
                <a:effectLst/>
              </a:rPr>
              <a:t>_ .</a:t>
            </a:r>
            <a:r>
              <a:rPr lang="en-GB" altLang="zh-CN" sz="1200" i="1" dirty="0" err="1">
                <a:solidFill>
                  <a:srgbClr val="8C8C8C"/>
                </a:solidFill>
                <a:effectLst/>
              </a:rPr>
              <a:t>best_estimator</a:t>
            </a:r>
            <a:r>
              <a:rPr lang="en-GB" altLang="zh-CN" sz="1200" i="1" dirty="0">
                <a:solidFill>
                  <a:srgbClr val="8C8C8C"/>
                </a:solidFill>
                <a:effectLst/>
              </a:rPr>
              <a:t>_ .</a:t>
            </a:r>
            <a:r>
              <a:rPr lang="en-GB" altLang="zh-CN" sz="1200" i="1" dirty="0" err="1">
                <a:solidFill>
                  <a:srgbClr val="8C8C8C"/>
                </a:solidFill>
                <a:effectLst/>
              </a:rPr>
              <a:t>best_params</a:t>
            </a:r>
            <a:r>
              <a:rPr lang="en-GB" altLang="zh-CN" sz="1200" i="1" dirty="0">
                <a:solidFill>
                  <a:srgbClr val="8C8C8C"/>
                </a:solidFill>
                <a:effectLst/>
              </a:rPr>
              <a:t>_ .</a:t>
            </a:r>
            <a:r>
              <a:rPr lang="en-GB" altLang="zh-CN" sz="1200" i="1" dirty="0" err="1">
                <a:solidFill>
                  <a:srgbClr val="8C8C8C"/>
                </a:solidFill>
                <a:effectLst/>
              </a:rPr>
              <a:t>cv_results</a:t>
            </a:r>
            <a:r>
              <a:rPr lang="en-GB" altLang="zh-CN" sz="1200" i="1" dirty="0">
                <a:solidFill>
                  <a:srgbClr val="8C8C8C"/>
                </a:solidFill>
                <a:effectLst/>
              </a:rPr>
              <a:t>_</a:t>
            </a:r>
            <a:br>
              <a:rPr lang="en-GB" altLang="zh-CN" sz="1200" i="1" dirty="0">
                <a:solidFill>
                  <a:srgbClr val="8C8C8C"/>
                </a:solidFill>
                <a:effectLst/>
              </a:rPr>
            </a:br>
            <a:r>
              <a:rPr lang="en-GB" altLang="zh-CN" sz="1200" dirty="0">
                <a:solidFill>
                  <a:srgbClr val="000080"/>
                </a:solidFill>
                <a:effectLst/>
              </a:rPr>
              <a:t>print</a:t>
            </a:r>
            <a:r>
              <a:rPr lang="en-GB" altLang="zh-CN" sz="1200" dirty="0"/>
              <a:t>(</a:t>
            </a:r>
            <a:r>
              <a:rPr lang="en-GB" altLang="zh-CN" sz="1200" dirty="0">
                <a:solidFill>
                  <a:srgbClr val="067D17"/>
                </a:solidFill>
                <a:effectLst/>
              </a:rPr>
              <a:t>'</a:t>
            </a:r>
            <a:r>
              <a:rPr lang="en-GB" altLang="zh-CN" sz="1200" dirty="0" err="1">
                <a:solidFill>
                  <a:srgbClr val="067D17"/>
                </a:solidFill>
                <a:effectLst/>
              </a:rPr>
              <a:t>estimator.best_score</a:t>
            </a:r>
            <a:r>
              <a:rPr lang="en-GB" altLang="zh-CN" sz="1200" dirty="0">
                <a:solidFill>
                  <a:srgbClr val="067D17"/>
                </a:solidFill>
                <a:effectLst/>
              </a:rPr>
              <a:t>_---'</a:t>
            </a:r>
            <a:r>
              <a:rPr lang="en-GB" altLang="zh-CN" sz="1200" dirty="0"/>
              <a:t>, </a:t>
            </a:r>
            <a:r>
              <a:rPr lang="en-GB" altLang="zh-CN" sz="1200" dirty="0" err="1"/>
              <a:t>estimator.best_score</a:t>
            </a:r>
            <a:r>
              <a:rPr lang="en-GB" altLang="zh-CN" sz="1200" dirty="0"/>
              <a:t>_)</a:t>
            </a:r>
            <a:br>
              <a:rPr lang="en-GB" altLang="zh-CN" sz="1200" dirty="0"/>
            </a:br>
            <a:r>
              <a:rPr lang="en-GB" altLang="zh-CN" sz="1200" dirty="0">
                <a:solidFill>
                  <a:srgbClr val="000080"/>
                </a:solidFill>
                <a:effectLst/>
              </a:rPr>
              <a:t>print</a:t>
            </a:r>
            <a:r>
              <a:rPr lang="en-GB" altLang="zh-CN" sz="1200" dirty="0"/>
              <a:t>(</a:t>
            </a:r>
            <a:r>
              <a:rPr lang="en-GB" altLang="zh-CN" sz="1200" dirty="0">
                <a:solidFill>
                  <a:srgbClr val="067D17"/>
                </a:solidFill>
                <a:effectLst/>
              </a:rPr>
              <a:t>'</a:t>
            </a:r>
            <a:r>
              <a:rPr lang="en-GB" altLang="zh-CN" sz="1200" dirty="0" err="1">
                <a:solidFill>
                  <a:srgbClr val="067D17"/>
                </a:solidFill>
                <a:effectLst/>
              </a:rPr>
              <a:t>estimator.best_estimator</a:t>
            </a:r>
            <a:r>
              <a:rPr lang="en-GB" altLang="zh-CN" sz="1200" dirty="0">
                <a:solidFill>
                  <a:srgbClr val="067D17"/>
                </a:solidFill>
                <a:effectLst/>
              </a:rPr>
              <a:t>_---'</a:t>
            </a:r>
            <a:r>
              <a:rPr lang="en-GB" altLang="zh-CN" sz="1200" dirty="0"/>
              <a:t>, </a:t>
            </a:r>
            <a:r>
              <a:rPr lang="en-GB" altLang="zh-CN" sz="1200" dirty="0" err="1"/>
              <a:t>estimator.best_estimator</a:t>
            </a:r>
            <a:r>
              <a:rPr lang="en-GB" altLang="zh-CN" sz="1200" dirty="0"/>
              <a:t>_)</a:t>
            </a:r>
            <a:br>
              <a:rPr lang="en-GB" altLang="zh-CN" sz="1200" dirty="0"/>
            </a:br>
            <a:r>
              <a:rPr lang="en-GB" altLang="zh-CN" sz="1200" dirty="0">
                <a:solidFill>
                  <a:srgbClr val="000080"/>
                </a:solidFill>
                <a:effectLst/>
              </a:rPr>
              <a:t>print</a:t>
            </a:r>
            <a:r>
              <a:rPr lang="en-GB" altLang="zh-CN" sz="1200" dirty="0"/>
              <a:t>(</a:t>
            </a:r>
            <a:r>
              <a:rPr lang="en-GB" altLang="zh-CN" sz="1200" dirty="0">
                <a:solidFill>
                  <a:srgbClr val="067D17"/>
                </a:solidFill>
                <a:effectLst/>
              </a:rPr>
              <a:t>'</a:t>
            </a:r>
            <a:r>
              <a:rPr lang="en-GB" altLang="zh-CN" sz="1200" dirty="0" err="1">
                <a:solidFill>
                  <a:srgbClr val="067D17"/>
                </a:solidFill>
                <a:effectLst/>
              </a:rPr>
              <a:t>estimator.best_params</a:t>
            </a:r>
            <a:r>
              <a:rPr lang="en-GB" altLang="zh-CN" sz="1200" dirty="0">
                <a:solidFill>
                  <a:srgbClr val="067D17"/>
                </a:solidFill>
                <a:effectLst/>
              </a:rPr>
              <a:t>_---'</a:t>
            </a:r>
            <a:r>
              <a:rPr lang="en-GB" altLang="zh-CN" sz="1200" dirty="0"/>
              <a:t>, </a:t>
            </a:r>
            <a:r>
              <a:rPr lang="en-GB" altLang="zh-CN" sz="1200" dirty="0" err="1"/>
              <a:t>estimator.best_params</a:t>
            </a:r>
            <a:r>
              <a:rPr lang="en-GB" altLang="zh-CN" sz="1200" dirty="0"/>
              <a:t>_)</a:t>
            </a:r>
            <a:br>
              <a:rPr lang="en-GB" altLang="zh-CN" sz="1200" dirty="0"/>
            </a:br>
            <a:r>
              <a:rPr lang="en-GB" altLang="zh-CN" sz="1200" dirty="0">
                <a:solidFill>
                  <a:srgbClr val="000080"/>
                </a:solidFill>
                <a:effectLst/>
              </a:rPr>
              <a:t>print</a:t>
            </a:r>
            <a:r>
              <a:rPr lang="en-GB" altLang="zh-CN" sz="1200" dirty="0"/>
              <a:t>(</a:t>
            </a:r>
            <a:r>
              <a:rPr lang="en-GB" altLang="zh-CN" sz="1200" dirty="0">
                <a:solidFill>
                  <a:srgbClr val="067D17"/>
                </a:solidFill>
                <a:effectLst/>
              </a:rPr>
              <a:t>'</a:t>
            </a:r>
            <a:r>
              <a:rPr lang="en-GB" altLang="zh-CN" sz="1200" dirty="0" err="1">
                <a:solidFill>
                  <a:srgbClr val="067D17"/>
                </a:solidFill>
                <a:effectLst/>
              </a:rPr>
              <a:t>estimator.cv_results</a:t>
            </a:r>
            <a:r>
              <a:rPr lang="en-GB" altLang="zh-CN" sz="1200" dirty="0">
                <a:solidFill>
                  <a:srgbClr val="067D17"/>
                </a:solidFill>
                <a:effectLst/>
              </a:rPr>
              <a:t>_---'</a:t>
            </a:r>
            <a:r>
              <a:rPr lang="en-GB" altLang="zh-CN" sz="1200" dirty="0"/>
              <a:t>, </a:t>
            </a:r>
            <a:r>
              <a:rPr lang="en-GB" altLang="zh-CN" sz="1200" dirty="0" err="1"/>
              <a:t>estimator.cv_results</a:t>
            </a:r>
            <a:r>
              <a:rPr lang="en-GB" altLang="zh-CN" sz="1200" dirty="0"/>
              <a:t>_)</a:t>
            </a:r>
            <a:br>
              <a:rPr lang="en-GB" altLang="zh-CN" sz="1200" dirty="0"/>
            </a:br>
            <a:br>
              <a:rPr lang="en-GB" altLang="zh-CN" sz="1200" dirty="0"/>
            </a:br>
            <a:r>
              <a:rPr lang="en-GB" altLang="zh-CN" sz="1200" i="1" dirty="0">
                <a:solidFill>
                  <a:srgbClr val="8C8C8C"/>
                </a:solidFill>
                <a:effectLst/>
              </a:rPr>
              <a:t># 4-4 </a:t>
            </a:r>
            <a:r>
              <a:rPr lang="zh-CN" altLang="en-US" sz="1200" i="1" dirty="0">
                <a:solidFill>
                  <a:srgbClr val="8C8C8C"/>
                </a:solidFill>
                <a:effectLst/>
              </a:rPr>
              <a:t>保存交叉验证结果</a:t>
            </a:r>
            <a:br>
              <a:rPr lang="zh-CN" altLang="en-US" sz="1200" i="1" dirty="0">
                <a:solidFill>
                  <a:srgbClr val="8C8C8C"/>
                </a:solidFill>
                <a:effectLst/>
              </a:rPr>
            </a:br>
            <a:r>
              <a:rPr lang="en-GB" altLang="zh-CN" sz="1200" dirty="0" err="1"/>
              <a:t>myret</a:t>
            </a:r>
            <a:r>
              <a:rPr lang="en-GB" altLang="zh-CN" sz="1200" dirty="0"/>
              <a:t> = </a:t>
            </a:r>
            <a:r>
              <a:rPr lang="en-GB" altLang="zh-CN" sz="1200" dirty="0" err="1"/>
              <a:t>pd.DataFrame</a:t>
            </a:r>
            <a:r>
              <a:rPr lang="en-GB" altLang="zh-CN" sz="1200" dirty="0"/>
              <a:t>(</a:t>
            </a:r>
            <a:r>
              <a:rPr lang="en-GB" altLang="zh-CN" sz="1200" dirty="0" err="1"/>
              <a:t>estimator.cv_results</a:t>
            </a:r>
            <a:r>
              <a:rPr lang="en-GB" altLang="zh-CN" sz="1200" dirty="0"/>
              <a:t>_)</a:t>
            </a:r>
            <a:br>
              <a:rPr lang="en-GB" altLang="zh-CN" sz="1200" dirty="0"/>
            </a:br>
            <a:r>
              <a:rPr lang="en-GB" altLang="zh-CN" sz="1200" dirty="0" err="1"/>
              <a:t>myret.to_csv</a:t>
            </a:r>
            <a:r>
              <a:rPr lang="en-GB" altLang="zh-CN" sz="1200" dirty="0"/>
              <a:t>(</a:t>
            </a:r>
            <a:r>
              <a:rPr lang="en-GB" altLang="zh-CN" sz="1200" dirty="0" err="1">
                <a:solidFill>
                  <a:srgbClr val="660099"/>
                </a:solidFill>
                <a:effectLst/>
              </a:rPr>
              <a:t>path_or_buf</a:t>
            </a:r>
            <a:r>
              <a:rPr lang="en-GB" altLang="zh-CN" sz="1200" dirty="0"/>
              <a:t>=</a:t>
            </a:r>
            <a:r>
              <a:rPr lang="en-GB" altLang="zh-CN" sz="1200" dirty="0">
                <a:solidFill>
                  <a:srgbClr val="067D17"/>
                </a:solidFill>
                <a:effectLst/>
              </a:rPr>
              <a:t>'./</a:t>
            </a:r>
            <a:r>
              <a:rPr lang="en-GB" altLang="zh-CN" sz="1200" dirty="0" err="1">
                <a:solidFill>
                  <a:srgbClr val="067D17"/>
                </a:solidFill>
                <a:effectLst/>
              </a:rPr>
              <a:t>mygridsearchcv.csv</a:t>
            </a:r>
            <a:r>
              <a:rPr lang="en-GB" altLang="zh-CN" sz="1200" dirty="0">
                <a:solidFill>
                  <a:srgbClr val="067D17"/>
                </a:solidFill>
                <a:effectLst/>
              </a:rPr>
              <a:t>'</a:t>
            </a:r>
            <a:r>
              <a:rPr lang="en-GB" altLang="zh-CN" sz="1200" dirty="0"/>
              <a:t>)</a:t>
            </a:r>
            <a:br>
              <a:rPr lang="en-GB" altLang="zh-CN" sz="1200" dirty="0"/>
            </a:br>
            <a:br>
              <a:rPr lang="en-GB" altLang="zh-CN" sz="1200" dirty="0"/>
            </a:br>
            <a:r>
              <a:rPr lang="en-GB" altLang="zh-CN" sz="1200" i="1" dirty="0">
                <a:solidFill>
                  <a:srgbClr val="8C8C8C"/>
                </a:solidFill>
                <a:effectLst/>
              </a:rPr>
              <a:t># 5 </a:t>
            </a:r>
            <a:r>
              <a:rPr lang="zh-CN" altLang="en-US" sz="1200" i="1" dirty="0">
                <a:solidFill>
                  <a:srgbClr val="8C8C8C"/>
                </a:solidFill>
                <a:effectLst/>
              </a:rPr>
              <a:t>模型评估</a:t>
            </a:r>
            <a:br>
              <a:rPr lang="zh-CN" altLang="en-US" sz="1200" i="1" dirty="0">
                <a:solidFill>
                  <a:srgbClr val="8C8C8C"/>
                </a:solidFill>
                <a:effectLst/>
              </a:rPr>
            </a:br>
            <a:r>
              <a:rPr lang="en-GB" altLang="zh-CN" sz="1200" dirty="0" err="1"/>
              <a:t>myscore</a:t>
            </a:r>
            <a:r>
              <a:rPr lang="en-GB" altLang="zh-CN" sz="1200" dirty="0"/>
              <a:t> = </a:t>
            </a:r>
            <a:r>
              <a:rPr lang="en-GB" altLang="zh-CN" sz="1200" dirty="0" err="1"/>
              <a:t>estimator.score</a:t>
            </a:r>
            <a:r>
              <a:rPr lang="en-GB" altLang="zh-CN" sz="1200" dirty="0"/>
              <a:t>(</a:t>
            </a:r>
            <a:r>
              <a:rPr lang="en-GB" altLang="zh-CN" sz="1200" dirty="0" err="1"/>
              <a:t>x_test</a:t>
            </a:r>
            <a:r>
              <a:rPr lang="en-GB" altLang="zh-CN" sz="1200" dirty="0"/>
              <a:t>, </a:t>
            </a:r>
            <a:r>
              <a:rPr lang="en-GB" altLang="zh-CN" sz="1200" dirty="0" err="1"/>
              <a:t>y_test</a:t>
            </a:r>
            <a:r>
              <a:rPr lang="en-GB" altLang="zh-CN" sz="1200" dirty="0"/>
              <a:t>)</a:t>
            </a:r>
            <a:br>
              <a:rPr lang="en-GB" altLang="zh-CN" sz="1200" dirty="0"/>
            </a:br>
            <a:r>
              <a:rPr lang="en-GB" altLang="zh-CN" sz="1200" dirty="0">
                <a:solidFill>
                  <a:srgbClr val="000080"/>
                </a:solidFill>
                <a:effectLst/>
              </a:rPr>
              <a:t>print</a:t>
            </a:r>
            <a:r>
              <a:rPr lang="en-GB" altLang="zh-CN" sz="1200" dirty="0"/>
              <a:t>(</a:t>
            </a:r>
            <a:r>
              <a:rPr lang="en-GB" altLang="zh-CN" sz="1200" dirty="0">
                <a:solidFill>
                  <a:srgbClr val="067D17"/>
                </a:solidFill>
                <a:effectLst/>
              </a:rPr>
              <a:t>'</a:t>
            </a:r>
            <a:r>
              <a:rPr lang="en-GB" altLang="zh-CN" sz="1200" dirty="0" err="1">
                <a:solidFill>
                  <a:srgbClr val="067D17"/>
                </a:solidFill>
                <a:effectLst/>
              </a:rPr>
              <a:t>myscore</a:t>
            </a:r>
            <a:r>
              <a:rPr lang="en-GB" altLang="zh-CN" sz="1200" dirty="0">
                <a:solidFill>
                  <a:srgbClr val="067D17"/>
                </a:solidFill>
                <a:effectLst/>
              </a:rPr>
              <a:t>--&gt;'</a:t>
            </a:r>
            <a:r>
              <a:rPr lang="en-GB" altLang="zh-CN" sz="1200" dirty="0"/>
              <a:t>, </a:t>
            </a:r>
            <a:r>
              <a:rPr lang="en-GB" altLang="zh-CN" sz="1200" dirty="0" err="1"/>
              <a:t>myscore</a:t>
            </a:r>
            <a:r>
              <a:rPr lang="en-GB" altLang="zh-CN" sz="1200" dirty="0"/>
              <a:t>)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 descr="01 (82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05900" y="5174812"/>
            <a:ext cx="1481455" cy="148145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2223944" y="2013200"/>
            <a:ext cx="416652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1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、交叉验证和网格搜索的目的是什么？（多选题）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626002" y="2449842"/>
            <a:ext cx="6652783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A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）为了让被评估的模型更加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准确可信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，一般会使用交叉验证网格搜索去完成任务。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algn="l" fontAlgn="auto">
              <a:spcBef>
                <a:spcPts val="0"/>
              </a:spcBef>
              <a:spcAft>
                <a:spcPts val="0"/>
              </a:spcAft>
            </a:pP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algn="l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B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）有些算法模型本身自带较多的超参数，无法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高效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的去筛选比较合适的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algn="l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  超参数组合。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algn="l" fontAlgn="auto">
              <a:spcBef>
                <a:spcPts val="0"/>
              </a:spcBef>
              <a:spcAft>
                <a:spcPts val="0"/>
              </a:spcAft>
            </a:pP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algn="l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C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）使用交叉验证和网格搜索可以提升模型的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可信度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和查找最佳参数组合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algn="l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 的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效率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。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algn="l" fontAlgn="auto">
              <a:spcBef>
                <a:spcPts val="0"/>
              </a:spcBef>
              <a:spcAft>
                <a:spcPts val="0"/>
              </a:spcAft>
            </a:pP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D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）仅交叉验证功能能够提升模型的准确率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2441118" y="5524148"/>
            <a:ext cx="142218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400" b="1" dirty="0">
                <a:solidFill>
                  <a:schemeClr val="accent2">
                    <a:lumMod val="7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正确答案：</a:t>
            </a:r>
            <a:r>
              <a:rPr lang="en-US" altLang="zh-CN" sz="1400" b="1" dirty="0">
                <a:solidFill>
                  <a:schemeClr val="accent2">
                    <a:lumMod val="7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ABC</a:t>
            </a:r>
            <a:endParaRPr lang="en-US" altLang="zh-CN" sz="1400" b="1" dirty="0">
              <a:solidFill>
                <a:schemeClr val="accent2">
                  <a:lumMod val="7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占位符 5"/>
          <p:cNvSpPr>
            <a:spLocks noGrp="1"/>
          </p:cNvSpPr>
          <p:nvPr>
            <p:ph type="body" sz="quarter" idx="11"/>
          </p:nvPr>
        </p:nvSpPr>
        <p:spPr>
          <a:xfrm>
            <a:off x="2498918" y="3654452"/>
            <a:ext cx="7194164" cy="1297984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altLang="zh-CN" sz="1600" b="0" i="0" dirty="0">
                <a:effectLst/>
                <a:latin typeface="Roboto" panose="02000000000000000000" pitchFamily="2" charset="0"/>
              </a:rPr>
              <a:t>MNIST</a:t>
            </a:r>
            <a:r>
              <a:rPr lang="zh-CN" altLang="en-US" sz="1600" b="0" i="0" dirty="0">
                <a:effectLst/>
                <a:latin typeface="Roboto" panose="02000000000000000000" pitchFamily="2" charset="0"/>
              </a:rPr>
              <a:t>手写数字识别 </a:t>
            </a:r>
            <a:endParaRPr lang="en-US" altLang="zh-CN" dirty="0">
              <a:latin typeface="Roboto" panose="02000000000000000000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0" i="0" dirty="0">
                <a:effectLst/>
                <a:latin typeface="Roboto" panose="02000000000000000000" pitchFamily="2" charset="0"/>
              </a:rPr>
              <a:t>1999</a:t>
            </a:r>
            <a:r>
              <a:rPr lang="zh-CN" altLang="en-US" b="0" i="0" dirty="0">
                <a:effectLst/>
                <a:latin typeface="Roboto" panose="02000000000000000000" pitchFamily="2" charset="0"/>
              </a:rPr>
              <a:t>年发布，成为分类算法基准测试的基础</a:t>
            </a:r>
            <a:endParaRPr lang="en-US" altLang="zh-CN" dirty="0">
              <a:latin typeface="Roboto" panose="02000000000000000000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altLang="zh-CN" b="0" i="0" dirty="0">
                <a:effectLst/>
                <a:latin typeface="Roboto" panose="02000000000000000000" pitchFamily="2" charset="0"/>
              </a:rPr>
              <a:t>MNIST</a:t>
            </a:r>
            <a:r>
              <a:rPr lang="zh-CN" altLang="en-US" b="0" i="0" dirty="0">
                <a:effectLst/>
                <a:latin typeface="Roboto" panose="02000000000000000000" pitchFamily="2" charset="0"/>
              </a:rPr>
              <a:t>仍然是研究人员和学习者的可靠资源</a:t>
            </a:r>
            <a:endParaRPr lang="zh-CN" altLang="en-US" b="0" i="0" dirty="0">
              <a:effectLst/>
              <a:latin typeface="Roboto" panose="02000000000000000000" pitchFamily="2" charset="0"/>
            </a:endParaRPr>
          </a:p>
          <a:p>
            <a:endParaRPr lang="en-US" altLang="zh-CN" dirty="0"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sp>
        <p:nvSpPr>
          <p:cNvPr id="7" name="文本占位符 2"/>
          <p:cNvSpPr txBox="1"/>
          <p:nvPr/>
        </p:nvSpPr>
        <p:spPr>
          <a:xfrm>
            <a:off x="1488885" y="3212733"/>
            <a:ext cx="1344750" cy="517190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已知数据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AD2A26"/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标题 2"/>
          <p:cNvSpPr txBox="1"/>
          <p:nvPr/>
        </p:nvSpPr>
        <p:spPr>
          <a:xfrm>
            <a:off x="2172295" y="985966"/>
            <a:ext cx="8364294" cy="51719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利用</a:t>
            </a: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KNN</a:t>
            </a:r>
            <a:r>
              <a:rPr kumimoji="1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算法实现手写数字识别</a:t>
            </a: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j-cs"/>
              </a:rPr>
              <a:t>  </a:t>
            </a:r>
            <a:endParaRPr kumimoji="1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j-cs"/>
            </a:endParaRPr>
          </a:p>
        </p:txBody>
      </p:sp>
      <p:sp>
        <p:nvSpPr>
          <p:cNvPr id="18" name="三角形 17"/>
          <p:cNvSpPr/>
          <p:nvPr/>
        </p:nvSpPr>
        <p:spPr>
          <a:xfrm rot="2651319">
            <a:off x="3473471" y="3494275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0" name="文本占位符 2"/>
          <p:cNvSpPr txBox="1"/>
          <p:nvPr/>
        </p:nvSpPr>
        <p:spPr>
          <a:xfrm>
            <a:off x="1609250" y="5046505"/>
            <a:ext cx="1344750" cy="517190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需求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文本占位符 5"/>
          <p:cNvSpPr txBox="1"/>
          <p:nvPr/>
        </p:nvSpPr>
        <p:spPr>
          <a:xfrm>
            <a:off x="2081747" y="5563695"/>
            <a:ext cx="6962862" cy="517190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Roboto" panose="02000000000000000000" pitchFamily="2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从数万个手写图像的数据集中正确识别数字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72295" y="1768974"/>
            <a:ext cx="5511800" cy="116840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占位符 5"/>
          <p:cNvSpPr>
            <a:spLocks noGrp="1"/>
          </p:cNvSpPr>
          <p:nvPr>
            <p:ph type="body" sz="quarter" idx="11"/>
          </p:nvPr>
        </p:nvSpPr>
        <p:spPr>
          <a:xfrm>
            <a:off x="3466856" y="1643937"/>
            <a:ext cx="7491227" cy="2690582"/>
          </a:xfrm>
        </p:spPr>
        <p:txBody>
          <a:bodyPr/>
          <a:lstStyle/>
          <a:p>
            <a:r>
              <a:rPr lang="en-US" altLang="zh-CN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1</a:t>
            </a:r>
            <a:r>
              <a:rPr lang="zh-CN" altLang="en-US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数据文件 </a:t>
            </a:r>
            <a:r>
              <a:rPr lang="en-US" altLang="zh-CN" dirty="0" err="1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train.csv</a:t>
            </a:r>
            <a:r>
              <a:rPr lang="en-US" altLang="zh-CN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</a:t>
            </a:r>
            <a:r>
              <a:rPr lang="zh-CN" altLang="en-US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和 </a:t>
            </a:r>
            <a:r>
              <a:rPr lang="en-US" altLang="zh-CN" dirty="0" err="1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test.csv</a:t>
            </a:r>
            <a:r>
              <a:rPr lang="en-US" altLang="zh-CN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</a:t>
            </a:r>
            <a:r>
              <a:rPr lang="zh-CN" altLang="en-US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包含从 </a:t>
            </a:r>
            <a:r>
              <a:rPr lang="en-US" altLang="zh-CN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0 </a:t>
            </a:r>
            <a:r>
              <a:rPr lang="zh-CN" altLang="en-US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到 </a:t>
            </a:r>
            <a:r>
              <a:rPr lang="en-US" altLang="zh-CN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9 </a:t>
            </a:r>
            <a:r>
              <a:rPr lang="zh-CN" altLang="en-US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的手绘数字的灰度图像。</a:t>
            </a:r>
            <a:endParaRPr lang="zh-CN" altLang="en-US" dirty="0"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r>
              <a:rPr lang="en-US" altLang="zh-CN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2</a:t>
            </a:r>
            <a:r>
              <a:rPr lang="zh-CN" altLang="en-US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每个图像高 </a:t>
            </a:r>
            <a:r>
              <a:rPr lang="en-US" altLang="zh-CN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28 </a:t>
            </a:r>
            <a:r>
              <a:rPr lang="zh-CN" altLang="en-US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像素，宽</a:t>
            </a:r>
            <a:r>
              <a:rPr lang="en-US" altLang="zh-CN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28 </a:t>
            </a:r>
            <a:r>
              <a:rPr lang="zh-CN" altLang="en-US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像素，共</a:t>
            </a:r>
            <a:r>
              <a:rPr lang="en-US" altLang="zh-CN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784</a:t>
            </a:r>
            <a:r>
              <a:rPr lang="zh-CN" altLang="en-US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个像素。</a:t>
            </a:r>
            <a:endParaRPr lang="zh-CN" altLang="en-US" dirty="0"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r>
              <a:rPr lang="en-US" altLang="zh-CN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3</a:t>
            </a:r>
            <a:r>
              <a:rPr lang="zh-CN" altLang="en-US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每个像素取值范围</a:t>
            </a:r>
            <a:r>
              <a:rPr lang="en-US" altLang="zh-CN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[0,255]</a:t>
            </a:r>
            <a:r>
              <a:rPr lang="zh-CN" altLang="en-US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，取值越大意味着该像素颜色越深</a:t>
            </a:r>
            <a:endParaRPr lang="zh-CN" altLang="en-US" dirty="0"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r>
              <a:rPr lang="en-US" altLang="zh-CN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4</a:t>
            </a:r>
            <a:r>
              <a:rPr lang="zh-CN" altLang="en-US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训练数据集（</a:t>
            </a:r>
            <a:r>
              <a:rPr lang="en-US" altLang="zh-CN" dirty="0" err="1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train.csv</a:t>
            </a:r>
            <a:r>
              <a:rPr lang="zh-CN" altLang="en-US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）共</a:t>
            </a:r>
            <a:r>
              <a:rPr lang="en-US" altLang="zh-CN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785</a:t>
            </a:r>
            <a:r>
              <a:rPr lang="zh-CN" altLang="en-US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列。</a:t>
            </a:r>
            <a:endParaRPr lang="en-US" altLang="zh-CN" dirty="0"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r>
              <a:rPr lang="zh-CN" altLang="en-US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     第一列为 </a:t>
            </a:r>
            <a:r>
              <a:rPr lang="en-US" altLang="zh-CN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"</a:t>
            </a:r>
            <a:r>
              <a:rPr lang="zh-CN" altLang="en-US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标签</a:t>
            </a:r>
            <a:r>
              <a:rPr lang="en-US" altLang="zh-CN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"</a:t>
            </a:r>
            <a:r>
              <a:rPr lang="zh-CN" altLang="en-US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，为该图片对应的手写数字。其余</a:t>
            </a:r>
            <a:r>
              <a:rPr lang="en-US" altLang="zh-CN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784</a:t>
            </a:r>
            <a:r>
              <a:rPr lang="zh-CN" altLang="en-US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列为该图像的像素值</a:t>
            </a:r>
            <a:endParaRPr lang="zh-CN" altLang="en-US" dirty="0"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r>
              <a:rPr lang="en-US" altLang="zh-CN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5</a:t>
            </a:r>
            <a:r>
              <a:rPr lang="zh-CN" altLang="en-US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训练集中的特征名称均有</a:t>
            </a:r>
            <a:r>
              <a:rPr lang="en-US" altLang="zh-CN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pixel</a:t>
            </a:r>
            <a:r>
              <a:rPr lang="zh-CN" altLang="en-US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前缀，后面的数字（</a:t>
            </a:r>
            <a:r>
              <a:rPr lang="en-US" altLang="zh-CN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[0,783])</a:t>
            </a:r>
            <a:r>
              <a:rPr lang="zh-CN" altLang="en-US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代表了像素的序号。</a:t>
            </a:r>
            <a:endParaRPr lang="zh-CN" altLang="en-US" dirty="0"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endParaRPr lang="en-US" altLang="zh-CN" dirty="0"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sp>
        <p:nvSpPr>
          <p:cNvPr id="7" name="文本占位符 2"/>
          <p:cNvSpPr txBox="1"/>
          <p:nvPr/>
        </p:nvSpPr>
        <p:spPr>
          <a:xfrm>
            <a:off x="1488885" y="1672696"/>
            <a:ext cx="1344750" cy="517190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数据介绍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AD2A26"/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标题 2"/>
          <p:cNvSpPr txBox="1"/>
          <p:nvPr/>
        </p:nvSpPr>
        <p:spPr>
          <a:xfrm>
            <a:off x="2172295" y="985966"/>
            <a:ext cx="8364294" cy="51719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>
              <a:defRPr/>
            </a:pPr>
            <a:r>
              <a:rPr kumimoji="1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利用</a:t>
            </a: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KNN</a:t>
            </a:r>
            <a:r>
              <a:rPr kumimoji="1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算法实现手写数字识别</a:t>
            </a: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j-cs"/>
              </a:rPr>
              <a:t>  </a:t>
            </a:r>
            <a:endParaRPr kumimoji="1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j-cs"/>
            </a:endParaRPr>
          </a:p>
        </p:txBody>
      </p:sp>
      <p:sp>
        <p:nvSpPr>
          <p:cNvPr id="18" name="三角形 17"/>
          <p:cNvSpPr/>
          <p:nvPr/>
        </p:nvSpPr>
        <p:spPr>
          <a:xfrm rot="2651319">
            <a:off x="3473471" y="1954238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黑体" panose="02010609060101010101" pitchFamily="49" charset="-122"/>
              <a:cs typeface="+mn-cs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71870" y="4475300"/>
            <a:ext cx="7772400" cy="2161346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标题 2"/>
          <p:cNvSpPr txBox="1"/>
          <p:nvPr/>
        </p:nvSpPr>
        <p:spPr>
          <a:xfrm>
            <a:off x="2172295" y="985966"/>
            <a:ext cx="8364294" cy="51719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利用</a:t>
            </a: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KNN</a:t>
            </a:r>
            <a:r>
              <a:rPr kumimoji="1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算法实现手写数字识别</a:t>
            </a: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j-cs"/>
              </a:rPr>
              <a:t>  </a:t>
            </a:r>
            <a:endParaRPr kumimoji="1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j-cs"/>
            </a:endParaRPr>
          </a:p>
        </p:txBody>
      </p:sp>
      <p:sp>
        <p:nvSpPr>
          <p:cNvPr id="18" name="三角形 17"/>
          <p:cNvSpPr/>
          <p:nvPr/>
        </p:nvSpPr>
        <p:spPr>
          <a:xfrm rot="2651319">
            <a:off x="3473471" y="1954238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9" name="TextBox 3"/>
          <p:cNvSpPr txBox="1"/>
          <p:nvPr/>
        </p:nvSpPr>
        <p:spPr>
          <a:xfrm>
            <a:off x="6354442" y="1244561"/>
            <a:ext cx="4900773" cy="5447645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GB" altLang="zh-CN" sz="1200" dirty="0">
                <a:solidFill>
                  <a:srgbClr val="0033B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import </a:t>
            </a:r>
            <a:r>
              <a:rPr lang="en-GB" altLang="zh-CN" sz="12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matplotlib.pyplot</a:t>
            </a: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</a:t>
            </a:r>
            <a:r>
              <a:rPr lang="en-GB" altLang="zh-CN" sz="1200" dirty="0">
                <a:solidFill>
                  <a:srgbClr val="0033B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as </a:t>
            </a:r>
            <a:r>
              <a:rPr lang="en-GB" altLang="zh-CN" sz="12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plt</a:t>
            </a:r>
            <a:b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en-GB" altLang="zh-CN" sz="1200" dirty="0">
                <a:solidFill>
                  <a:srgbClr val="0033B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import </a:t>
            </a: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pandas </a:t>
            </a:r>
            <a:r>
              <a:rPr lang="en-GB" altLang="zh-CN" sz="1200" dirty="0">
                <a:solidFill>
                  <a:srgbClr val="0033B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as </a:t>
            </a: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pd</a:t>
            </a:r>
            <a:b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en-GB" altLang="zh-CN" sz="1200" dirty="0">
                <a:solidFill>
                  <a:srgbClr val="0033B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from </a:t>
            </a:r>
            <a:r>
              <a:rPr lang="en-GB" altLang="zh-CN" sz="12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sklearn.model_selection</a:t>
            </a: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</a:t>
            </a:r>
            <a:r>
              <a:rPr lang="en-GB" altLang="zh-CN" sz="1200" dirty="0">
                <a:solidFill>
                  <a:srgbClr val="0033B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import </a:t>
            </a:r>
            <a:r>
              <a:rPr lang="en-GB" altLang="zh-CN" sz="12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train_test_split</a:t>
            </a:r>
            <a:b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en-GB" altLang="zh-CN" sz="1200" dirty="0">
                <a:solidFill>
                  <a:srgbClr val="0033B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from </a:t>
            </a:r>
            <a:r>
              <a:rPr lang="en-GB" altLang="zh-CN" sz="12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sklearn.neighbors</a:t>
            </a: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</a:t>
            </a:r>
            <a:r>
              <a:rPr lang="en-GB" altLang="zh-CN" sz="1200" dirty="0">
                <a:solidFill>
                  <a:srgbClr val="0033B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import </a:t>
            </a:r>
            <a:r>
              <a:rPr lang="en-GB" altLang="zh-CN" sz="12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KNeighborsClassifier</a:t>
            </a:r>
            <a:b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en-GB" altLang="zh-CN" sz="1200" dirty="0">
                <a:solidFill>
                  <a:srgbClr val="0033B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import </a:t>
            </a:r>
            <a:r>
              <a:rPr lang="en-GB" altLang="zh-CN" sz="12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joblib</a:t>
            </a:r>
            <a:b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en-GB" altLang="zh-CN" sz="1200" dirty="0">
                <a:solidFill>
                  <a:srgbClr val="0033B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from </a:t>
            </a: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collections </a:t>
            </a:r>
            <a:r>
              <a:rPr lang="en-GB" altLang="zh-CN" sz="1200" dirty="0">
                <a:solidFill>
                  <a:srgbClr val="0033B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import </a:t>
            </a: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Counter</a:t>
            </a:r>
            <a:endParaRPr lang="en-GB" altLang="zh-CN" sz="1200" dirty="0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>
              <a:defRPr/>
            </a:pPr>
            <a:endParaRPr lang="en-GB" altLang="zh-CN" sz="1200" dirty="0">
              <a:solidFill>
                <a:srgbClr val="0033B3"/>
              </a:solidFill>
              <a:effectLst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altLang="zh-CN" sz="1200" dirty="0">
                <a:solidFill>
                  <a:srgbClr val="0033B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def </a:t>
            </a:r>
            <a:r>
              <a:rPr lang="en-GB" altLang="zh-CN" sz="1200" dirty="0" err="1">
                <a:solidFill>
                  <a:srgbClr val="00627A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show_digit</a:t>
            </a: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(</a:t>
            </a:r>
            <a:r>
              <a:rPr lang="en-GB" altLang="zh-CN" sz="12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idx</a:t>
            </a: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):</a:t>
            </a:r>
            <a:b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</a:t>
            </a:r>
            <a:r>
              <a:rPr lang="en-GB" altLang="zh-CN" sz="1200" i="1" dirty="0">
                <a:solidFill>
                  <a:srgbClr val="8C8C8C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# 1 </a:t>
            </a:r>
            <a:r>
              <a:rPr lang="zh-CN" altLang="en-US" sz="1200" i="1" dirty="0">
                <a:solidFill>
                  <a:srgbClr val="8C8C8C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加载数据</a:t>
            </a:r>
            <a:br>
              <a:rPr lang="zh-CN" altLang="en-US" sz="1200" i="1" dirty="0">
                <a:solidFill>
                  <a:srgbClr val="8C8C8C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zh-CN" altLang="en-US" sz="1200" i="1" dirty="0">
                <a:solidFill>
                  <a:srgbClr val="8C8C8C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</a:t>
            </a: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data = </a:t>
            </a:r>
            <a:r>
              <a:rPr lang="en-GB" altLang="zh-CN" sz="12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pd.read_csv</a:t>
            </a: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(</a:t>
            </a:r>
            <a:r>
              <a:rPr lang="en-GB" altLang="zh-CN" sz="1200" dirty="0">
                <a:solidFill>
                  <a:srgbClr val="067D17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‘data/</a:t>
            </a:r>
            <a:r>
              <a:rPr lang="zh-CN" altLang="en-US" sz="1200" dirty="0">
                <a:solidFill>
                  <a:srgbClr val="067D17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手写数字识别</a:t>
            </a:r>
            <a:r>
              <a:rPr lang="en-US" altLang="zh-CN" sz="1200" dirty="0">
                <a:solidFill>
                  <a:srgbClr val="067D17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.</a:t>
            </a:r>
            <a:r>
              <a:rPr lang="en-GB" altLang="zh-CN" sz="1200" dirty="0">
                <a:solidFill>
                  <a:srgbClr val="067D17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csv’</a:t>
            </a: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)</a:t>
            </a:r>
            <a:b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</a:t>
            </a:r>
            <a:r>
              <a:rPr lang="en-GB" altLang="zh-CN" sz="1200" dirty="0">
                <a:solidFill>
                  <a:srgbClr val="0033B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if </a:t>
            </a:r>
            <a:r>
              <a:rPr lang="en-GB" altLang="zh-CN" sz="12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idx</a:t>
            </a: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&lt; </a:t>
            </a:r>
            <a:r>
              <a:rPr lang="en-GB" altLang="zh-CN" sz="1200" dirty="0">
                <a:solidFill>
                  <a:srgbClr val="1750EB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0 </a:t>
            </a:r>
            <a:r>
              <a:rPr lang="en-GB" altLang="zh-CN" sz="1200" dirty="0">
                <a:solidFill>
                  <a:srgbClr val="0033B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or </a:t>
            </a:r>
            <a:r>
              <a:rPr lang="en-GB" altLang="zh-CN" sz="12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idx</a:t>
            </a: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&gt; </a:t>
            </a:r>
            <a:r>
              <a:rPr lang="en-GB" altLang="zh-CN" sz="1200" dirty="0" err="1">
                <a:solidFill>
                  <a:srgbClr val="000080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len</a:t>
            </a: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(data) - </a:t>
            </a:r>
            <a:r>
              <a:rPr lang="en-GB" altLang="zh-CN" sz="1200" dirty="0">
                <a:solidFill>
                  <a:srgbClr val="1750EB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1</a:t>
            </a: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:</a:t>
            </a:r>
            <a:b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    </a:t>
            </a:r>
            <a:r>
              <a:rPr lang="en-GB" altLang="zh-CN" sz="1200" dirty="0">
                <a:solidFill>
                  <a:srgbClr val="0033B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return</a:t>
            </a:r>
            <a:br>
              <a:rPr lang="en-GB" altLang="zh-CN" sz="1200" dirty="0">
                <a:solidFill>
                  <a:srgbClr val="0033B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en-GB" altLang="zh-CN" sz="1200" dirty="0">
                <a:solidFill>
                  <a:srgbClr val="0033B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</a:t>
            </a:r>
            <a:r>
              <a:rPr lang="en-GB" altLang="zh-CN" sz="1200" i="1" dirty="0">
                <a:solidFill>
                  <a:srgbClr val="8C8C8C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# 2 </a:t>
            </a:r>
            <a:r>
              <a:rPr lang="zh-CN" altLang="en-US" sz="1200" i="1" dirty="0">
                <a:solidFill>
                  <a:srgbClr val="8C8C8C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打印数据基本信息</a:t>
            </a:r>
            <a:br>
              <a:rPr lang="zh-CN" altLang="en-US" sz="1200" i="1" dirty="0">
                <a:solidFill>
                  <a:srgbClr val="8C8C8C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zh-CN" altLang="en-US" sz="1200" i="1" dirty="0">
                <a:solidFill>
                  <a:srgbClr val="8C8C8C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</a:t>
            </a: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x = </a:t>
            </a:r>
            <a:r>
              <a:rPr lang="en-GB" altLang="zh-CN" sz="12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data.iloc</a:t>
            </a: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[:, </a:t>
            </a:r>
            <a:r>
              <a:rPr lang="en-GB" altLang="zh-CN" sz="1200" dirty="0">
                <a:solidFill>
                  <a:srgbClr val="1750EB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1</a:t>
            </a: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:]</a:t>
            </a:r>
            <a:b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y = </a:t>
            </a:r>
            <a:r>
              <a:rPr lang="en-GB" altLang="zh-CN" sz="12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data.iloc</a:t>
            </a: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[:, </a:t>
            </a:r>
            <a:r>
              <a:rPr lang="en-GB" altLang="zh-CN" sz="1200" dirty="0">
                <a:solidFill>
                  <a:srgbClr val="1750EB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0</a:t>
            </a: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]</a:t>
            </a:r>
            <a:b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</a:t>
            </a:r>
            <a:r>
              <a:rPr lang="en-GB" altLang="zh-CN" sz="1200" dirty="0">
                <a:solidFill>
                  <a:srgbClr val="000080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print</a:t>
            </a: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(</a:t>
            </a:r>
            <a:r>
              <a:rPr lang="en-GB" altLang="zh-CN" sz="1200" dirty="0">
                <a:solidFill>
                  <a:srgbClr val="067D17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‘</a:t>
            </a:r>
            <a:r>
              <a:rPr lang="zh-CN" altLang="en-US" sz="1200" dirty="0">
                <a:solidFill>
                  <a:srgbClr val="067D17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数据基本信息</a:t>
            </a:r>
            <a:r>
              <a:rPr lang="en-US" altLang="zh-CN" sz="1200" dirty="0">
                <a:solidFill>
                  <a:srgbClr val="067D17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:’</a:t>
            </a:r>
            <a:r>
              <a:rPr lang="en-US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, </a:t>
            </a:r>
            <a:r>
              <a:rPr lang="en-GB" altLang="zh-CN" sz="12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x.shape</a:t>
            </a: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)</a:t>
            </a:r>
            <a:b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</a:t>
            </a:r>
            <a:r>
              <a:rPr lang="en-GB" altLang="zh-CN" sz="1200" dirty="0">
                <a:solidFill>
                  <a:srgbClr val="000080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print</a:t>
            </a: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(</a:t>
            </a:r>
            <a:r>
              <a:rPr lang="en-GB" altLang="zh-CN" sz="1200" dirty="0">
                <a:solidFill>
                  <a:srgbClr val="067D17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‘</a:t>
            </a:r>
            <a:r>
              <a:rPr lang="zh-CN" altLang="en-US" sz="1200" dirty="0">
                <a:solidFill>
                  <a:srgbClr val="067D17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类别数据比例</a:t>
            </a:r>
            <a:r>
              <a:rPr lang="en-US" altLang="zh-CN" sz="1200" dirty="0">
                <a:solidFill>
                  <a:srgbClr val="067D17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:’</a:t>
            </a:r>
            <a:r>
              <a:rPr lang="en-US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, </a:t>
            </a: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Counter(y))</a:t>
            </a:r>
            <a:b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b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</a:t>
            </a:r>
            <a:r>
              <a:rPr lang="en-GB" altLang="zh-CN" sz="1200" dirty="0">
                <a:solidFill>
                  <a:srgbClr val="000080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print</a:t>
            </a: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(</a:t>
            </a:r>
            <a:r>
              <a:rPr lang="en-GB" altLang="zh-CN" sz="1200" dirty="0">
                <a:solidFill>
                  <a:srgbClr val="067D17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‘</a:t>
            </a:r>
            <a:r>
              <a:rPr lang="zh-CN" altLang="en-US" sz="1200" dirty="0">
                <a:solidFill>
                  <a:srgbClr val="067D17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当前数字的标签为</a:t>
            </a:r>
            <a:r>
              <a:rPr lang="en-US" altLang="zh-CN" sz="1200" dirty="0">
                <a:solidFill>
                  <a:srgbClr val="067D17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:’</a:t>
            </a:r>
            <a:r>
              <a:rPr lang="en-US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,</a:t>
            </a: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y[</a:t>
            </a:r>
            <a:r>
              <a:rPr lang="en-GB" altLang="zh-CN" sz="12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idx</a:t>
            </a: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])</a:t>
            </a:r>
            <a:b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b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</a:t>
            </a:r>
            <a:r>
              <a:rPr lang="en-GB" altLang="zh-CN" sz="1200" i="1" dirty="0">
                <a:solidFill>
                  <a:srgbClr val="8C8C8C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# 3 </a:t>
            </a:r>
            <a:r>
              <a:rPr lang="zh-CN" altLang="en-US" sz="1200" i="1" dirty="0">
                <a:solidFill>
                  <a:srgbClr val="8C8C8C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显示指定的图片 </a:t>
            </a:r>
            <a:r>
              <a:rPr lang="en-US" altLang="zh-CN" sz="1200" i="1" dirty="0">
                <a:solidFill>
                  <a:srgbClr val="8C8C8C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# </a:t>
            </a:r>
            <a:r>
              <a:rPr lang="en-GB" altLang="zh-CN" sz="1200" i="1" dirty="0">
                <a:solidFill>
                  <a:srgbClr val="8C8C8C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data</a:t>
            </a:r>
            <a:r>
              <a:rPr lang="zh-CN" altLang="en-US" sz="1200" i="1" dirty="0">
                <a:solidFill>
                  <a:srgbClr val="8C8C8C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修改为</a:t>
            </a:r>
            <a:r>
              <a:rPr lang="en-GB" altLang="zh-CN" sz="1200" i="1" dirty="0" err="1">
                <a:solidFill>
                  <a:srgbClr val="8C8C8C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ndarray</a:t>
            </a:r>
            <a:r>
              <a:rPr lang="en-GB" altLang="zh-CN" sz="1200" i="1" dirty="0">
                <a:solidFill>
                  <a:srgbClr val="8C8C8C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</a:t>
            </a:r>
            <a:r>
              <a:rPr lang="zh-CN" altLang="en-US" sz="1200" i="1" dirty="0">
                <a:solidFill>
                  <a:srgbClr val="8C8C8C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类型</a:t>
            </a:r>
            <a:br>
              <a:rPr lang="zh-CN" altLang="en-US" sz="1200" i="1" dirty="0">
                <a:solidFill>
                  <a:srgbClr val="8C8C8C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zh-CN" altLang="en-US" sz="1200" i="1" dirty="0">
                <a:solidFill>
                  <a:srgbClr val="8C8C8C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</a:t>
            </a: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data_ = </a:t>
            </a:r>
            <a:r>
              <a:rPr lang="en-GB" altLang="zh-CN" sz="12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x.iloc</a:t>
            </a: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[</a:t>
            </a:r>
            <a:r>
              <a:rPr lang="en-GB" altLang="zh-CN" sz="12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idx</a:t>
            </a: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].values</a:t>
            </a:r>
            <a:b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</a:t>
            </a:r>
            <a:r>
              <a:rPr lang="en-GB" altLang="zh-CN" sz="1200" i="1" dirty="0">
                <a:solidFill>
                  <a:srgbClr val="8C8C8C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# </a:t>
            </a:r>
            <a:r>
              <a:rPr lang="zh-CN" altLang="en-US" sz="1200" i="1" dirty="0">
                <a:solidFill>
                  <a:srgbClr val="8C8C8C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将数据形状修改为 </a:t>
            </a:r>
            <a:r>
              <a:rPr lang="en-US" altLang="zh-CN" sz="1200" i="1" dirty="0">
                <a:solidFill>
                  <a:srgbClr val="8C8C8C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28*28</a:t>
            </a:r>
            <a:br>
              <a:rPr lang="en-US" altLang="zh-CN" sz="1200" i="1" dirty="0">
                <a:solidFill>
                  <a:srgbClr val="8C8C8C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en-US" altLang="zh-CN" sz="1200" i="1" dirty="0">
                <a:solidFill>
                  <a:srgbClr val="8C8C8C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</a:t>
            </a: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data_ = </a:t>
            </a:r>
            <a:r>
              <a:rPr lang="en-GB" altLang="zh-CN" sz="12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data_.reshape</a:t>
            </a: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(</a:t>
            </a:r>
            <a:r>
              <a:rPr lang="en-GB" altLang="zh-CN" sz="1200" dirty="0">
                <a:solidFill>
                  <a:srgbClr val="1750EB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28</a:t>
            </a: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, </a:t>
            </a:r>
            <a:r>
              <a:rPr lang="en-GB" altLang="zh-CN" sz="1200" dirty="0">
                <a:solidFill>
                  <a:srgbClr val="1750EB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28</a:t>
            </a: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)</a:t>
            </a:r>
            <a:b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</a:t>
            </a:r>
            <a:r>
              <a:rPr lang="en-GB" altLang="zh-CN" sz="1200" i="1" dirty="0">
                <a:solidFill>
                  <a:srgbClr val="8C8C8C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# </a:t>
            </a:r>
            <a:r>
              <a:rPr lang="zh-CN" altLang="en-US" sz="1200" i="1" dirty="0">
                <a:solidFill>
                  <a:srgbClr val="8C8C8C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关闭坐标轴标签</a:t>
            </a:r>
            <a:br>
              <a:rPr lang="zh-CN" altLang="en-US" sz="1200" i="1" dirty="0">
                <a:solidFill>
                  <a:srgbClr val="8C8C8C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zh-CN" altLang="en-US" sz="1200" i="1" dirty="0">
                <a:solidFill>
                  <a:srgbClr val="8C8C8C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</a:t>
            </a:r>
            <a:r>
              <a:rPr lang="en-GB" altLang="zh-CN" sz="12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plt.axis</a:t>
            </a: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(</a:t>
            </a:r>
            <a:r>
              <a:rPr lang="en-GB" altLang="zh-CN" sz="1200" dirty="0">
                <a:solidFill>
                  <a:srgbClr val="067D17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‘off’</a:t>
            </a: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)</a:t>
            </a:r>
            <a:b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</a:t>
            </a:r>
            <a:r>
              <a:rPr lang="en-GB" altLang="zh-CN" sz="1200" i="1" dirty="0">
                <a:solidFill>
                  <a:srgbClr val="8C8C8C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# </a:t>
            </a:r>
            <a:r>
              <a:rPr lang="zh-CN" altLang="en-US" sz="1200" i="1" dirty="0">
                <a:solidFill>
                  <a:srgbClr val="8C8C8C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显示图像</a:t>
            </a:r>
            <a:br>
              <a:rPr lang="zh-CN" altLang="en-US" sz="1200" i="1" dirty="0">
                <a:solidFill>
                  <a:srgbClr val="8C8C8C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zh-CN" altLang="en-US" sz="1200" i="1" dirty="0">
                <a:solidFill>
                  <a:srgbClr val="8C8C8C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</a:t>
            </a:r>
            <a:r>
              <a:rPr lang="en-GB" altLang="zh-CN" sz="12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plt.imshow</a:t>
            </a: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(data_</a:t>
            </a:r>
            <a:r>
              <a:rPr lang="zh-CN" altLang="en-US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，</a:t>
            </a:r>
            <a:r>
              <a:rPr lang="en-US" altLang="zh-CN" sz="12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cmap</a:t>
            </a:r>
            <a:r>
              <a:rPr lang="en-US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=‘gray’</a:t>
            </a: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)</a:t>
            </a:r>
            <a:b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</a:t>
            </a:r>
            <a:r>
              <a:rPr lang="en-GB" altLang="zh-CN" sz="12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plt.show</a:t>
            </a: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()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7818" y="2072054"/>
            <a:ext cx="3255616" cy="3283284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2"/>
          <p:cNvSpPr txBox="1"/>
          <p:nvPr/>
        </p:nvSpPr>
        <p:spPr>
          <a:xfrm>
            <a:off x="1237024" y="1655932"/>
            <a:ext cx="2539846" cy="517190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dirty="0">
                <a:solidFill>
                  <a:prstClr val="black">
                    <a:lumMod val="85000"/>
                    <a:lumOff val="15000"/>
                  </a:prst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训练模型，程序效果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AD2A26"/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标题 2"/>
          <p:cNvSpPr txBox="1"/>
          <p:nvPr/>
        </p:nvSpPr>
        <p:spPr>
          <a:xfrm>
            <a:off x="2172295" y="985966"/>
            <a:ext cx="8364294" cy="51719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利用</a:t>
            </a: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KNN</a:t>
            </a:r>
            <a:r>
              <a:rPr kumimoji="1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算法实现手写数字识别</a:t>
            </a: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j-cs"/>
              </a:rPr>
              <a:t>  </a:t>
            </a:r>
            <a:endParaRPr kumimoji="1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j-cs"/>
            </a:endParaRPr>
          </a:p>
        </p:txBody>
      </p:sp>
      <p:sp>
        <p:nvSpPr>
          <p:cNvPr id="18" name="三角形 17"/>
          <p:cNvSpPr/>
          <p:nvPr/>
        </p:nvSpPr>
        <p:spPr>
          <a:xfrm rot="2651319">
            <a:off x="3473471" y="1954238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9" name="TextBox 3"/>
          <p:cNvSpPr txBox="1"/>
          <p:nvPr/>
        </p:nvSpPr>
        <p:spPr>
          <a:xfrm>
            <a:off x="2669533" y="2072054"/>
            <a:ext cx="6332576" cy="4154984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altLang="zh-CN" sz="1200" dirty="0">
                <a:solidFill>
                  <a:srgbClr val="0033B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def </a:t>
            </a:r>
            <a:r>
              <a:rPr lang="en-GB" altLang="zh-CN" sz="1200" dirty="0" err="1">
                <a:solidFill>
                  <a:srgbClr val="00627A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train_model</a:t>
            </a: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():</a:t>
            </a:r>
            <a:b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</a:t>
            </a:r>
            <a:r>
              <a:rPr lang="en-GB" altLang="zh-CN" sz="1200" i="1" dirty="0">
                <a:solidFill>
                  <a:srgbClr val="8C8C8C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# 1 </a:t>
            </a:r>
            <a:r>
              <a:rPr lang="zh-CN" altLang="en-US" sz="1200" i="1" dirty="0">
                <a:solidFill>
                  <a:srgbClr val="8C8C8C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加载手写数字数据集</a:t>
            </a:r>
            <a:br>
              <a:rPr lang="zh-CN" altLang="en-US" sz="1200" i="1" dirty="0">
                <a:solidFill>
                  <a:srgbClr val="8C8C8C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zh-CN" altLang="en-US" sz="1200" i="1" dirty="0">
                <a:solidFill>
                  <a:srgbClr val="8C8C8C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</a:t>
            </a: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data = </a:t>
            </a:r>
            <a:r>
              <a:rPr lang="en-GB" altLang="zh-CN" sz="12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pd.read_csv</a:t>
            </a: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(</a:t>
            </a:r>
            <a:r>
              <a:rPr lang="en-GB" altLang="zh-CN" sz="1200" dirty="0">
                <a:solidFill>
                  <a:srgbClr val="067D17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'data/</a:t>
            </a:r>
            <a:r>
              <a:rPr lang="zh-CN" altLang="en-US" sz="1200" dirty="0">
                <a:solidFill>
                  <a:srgbClr val="067D17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手写数字识别</a:t>
            </a:r>
            <a:r>
              <a:rPr lang="en-US" altLang="zh-CN" sz="1200" dirty="0">
                <a:solidFill>
                  <a:srgbClr val="067D17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.</a:t>
            </a:r>
            <a:r>
              <a:rPr lang="en-GB" altLang="zh-CN" sz="1200" dirty="0">
                <a:solidFill>
                  <a:srgbClr val="067D17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csv'</a:t>
            </a: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)</a:t>
            </a:r>
            <a:b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b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</a:t>
            </a:r>
            <a:r>
              <a:rPr lang="en-GB" altLang="zh-CN" sz="1200" i="1" dirty="0">
                <a:solidFill>
                  <a:srgbClr val="8C8C8C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# 2 </a:t>
            </a:r>
            <a:r>
              <a:rPr lang="zh-CN" altLang="en-US" sz="1200" i="1" dirty="0">
                <a:solidFill>
                  <a:srgbClr val="8C8C8C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数据预处理 归一化</a:t>
            </a:r>
            <a:br>
              <a:rPr lang="zh-CN" altLang="en-US" sz="1200" i="1" dirty="0">
                <a:solidFill>
                  <a:srgbClr val="8C8C8C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zh-CN" altLang="en-US" sz="1200" i="1" dirty="0">
                <a:solidFill>
                  <a:srgbClr val="8C8C8C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</a:t>
            </a: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x = </a:t>
            </a:r>
            <a:r>
              <a:rPr lang="en-GB" altLang="zh-CN" sz="12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data.iloc</a:t>
            </a: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[:, </a:t>
            </a:r>
            <a:r>
              <a:rPr lang="en-GB" altLang="zh-CN" sz="1200" dirty="0">
                <a:solidFill>
                  <a:srgbClr val="1750EB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1</a:t>
            </a: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:] / </a:t>
            </a:r>
            <a:r>
              <a:rPr lang="en-GB" altLang="zh-CN" sz="1200" dirty="0">
                <a:solidFill>
                  <a:srgbClr val="1750EB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255</a:t>
            </a:r>
            <a:br>
              <a:rPr lang="en-GB" altLang="zh-CN" sz="1200" dirty="0">
                <a:solidFill>
                  <a:srgbClr val="1750EB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en-GB" altLang="zh-CN" sz="1200" dirty="0">
                <a:solidFill>
                  <a:srgbClr val="1750EB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</a:t>
            </a: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y = </a:t>
            </a:r>
            <a:r>
              <a:rPr lang="en-GB" altLang="zh-CN" sz="12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data.iloc</a:t>
            </a: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[:, </a:t>
            </a:r>
            <a:r>
              <a:rPr lang="en-GB" altLang="zh-CN" sz="1200" dirty="0">
                <a:solidFill>
                  <a:srgbClr val="1750EB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0</a:t>
            </a: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]</a:t>
            </a:r>
            <a:b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b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</a:t>
            </a:r>
            <a:r>
              <a:rPr lang="en-GB" altLang="zh-CN" sz="1200" i="1" dirty="0">
                <a:solidFill>
                  <a:srgbClr val="8C8C8C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# 3 </a:t>
            </a:r>
            <a:r>
              <a:rPr lang="zh-CN" altLang="en-US" sz="1200" i="1" dirty="0">
                <a:solidFill>
                  <a:srgbClr val="8C8C8C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分割数据集</a:t>
            </a:r>
            <a:br>
              <a:rPr lang="zh-CN" altLang="en-US" sz="1200" i="1" dirty="0">
                <a:solidFill>
                  <a:srgbClr val="8C8C8C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zh-CN" altLang="en-US" sz="1200" i="1" dirty="0">
                <a:solidFill>
                  <a:srgbClr val="8C8C8C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</a:t>
            </a:r>
            <a:r>
              <a:rPr lang="en-GB" altLang="zh-CN" sz="12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split_data</a:t>
            </a: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= </a:t>
            </a:r>
            <a:r>
              <a:rPr lang="en-GB" altLang="zh-CN" sz="12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train_test_split</a:t>
            </a: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(x, y, </a:t>
            </a:r>
            <a:r>
              <a:rPr lang="en-GB" altLang="zh-CN" sz="1200" dirty="0" err="1">
                <a:solidFill>
                  <a:srgbClr val="660099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test_size</a:t>
            </a: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=</a:t>
            </a:r>
            <a:r>
              <a:rPr lang="en-GB" altLang="zh-CN" sz="1200" dirty="0">
                <a:solidFill>
                  <a:srgbClr val="1750EB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0.2</a:t>
            </a: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, </a:t>
            </a:r>
            <a:r>
              <a:rPr lang="en-GB" altLang="zh-CN" sz="1200" dirty="0">
                <a:solidFill>
                  <a:srgbClr val="660099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stratify</a:t>
            </a: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=y, </a:t>
            </a:r>
            <a:r>
              <a:rPr lang="en-GB" altLang="zh-CN" sz="1200" dirty="0" err="1">
                <a:solidFill>
                  <a:srgbClr val="660099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random_state</a:t>
            </a: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=</a:t>
            </a:r>
            <a:r>
              <a:rPr lang="en-GB" altLang="zh-CN" sz="1200" dirty="0">
                <a:solidFill>
                  <a:srgbClr val="1750EB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0</a:t>
            </a: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)</a:t>
            </a:r>
            <a:b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</a:t>
            </a:r>
            <a:r>
              <a:rPr lang="en-GB" altLang="zh-CN" sz="12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x_train</a:t>
            </a: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, </a:t>
            </a:r>
            <a:r>
              <a:rPr lang="en-GB" altLang="zh-CN" sz="12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x_test</a:t>
            </a: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, </a:t>
            </a:r>
            <a:r>
              <a:rPr lang="en-GB" altLang="zh-CN" sz="12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y_train</a:t>
            </a: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, </a:t>
            </a:r>
            <a:r>
              <a:rPr lang="en-GB" altLang="zh-CN" sz="12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y_test</a:t>
            </a: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= </a:t>
            </a:r>
            <a:r>
              <a:rPr lang="en-GB" altLang="zh-CN" sz="12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split_data</a:t>
            </a:r>
            <a:b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b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</a:t>
            </a:r>
            <a:r>
              <a:rPr lang="en-GB" altLang="zh-CN" sz="1200" i="1" dirty="0">
                <a:solidFill>
                  <a:srgbClr val="8C8C8C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# 4 </a:t>
            </a:r>
            <a:r>
              <a:rPr lang="zh-CN" altLang="en-US" sz="1200" i="1" dirty="0">
                <a:solidFill>
                  <a:srgbClr val="8C8C8C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模型训练</a:t>
            </a:r>
            <a:br>
              <a:rPr lang="zh-CN" altLang="en-US" sz="1200" i="1" dirty="0">
                <a:solidFill>
                  <a:srgbClr val="8C8C8C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zh-CN" altLang="en-US" sz="1200" i="1" dirty="0">
                <a:solidFill>
                  <a:srgbClr val="8C8C8C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</a:t>
            </a: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estimator = </a:t>
            </a:r>
            <a:r>
              <a:rPr lang="en-GB" altLang="zh-CN" sz="12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KNeighborsClassifier</a:t>
            </a: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(</a:t>
            </a:r>
            <a:r>
              <a:rPr lang="en-GB" altLang="zh-CN" sz="1200" dirty="0" err="1">
                <a:solidFill>
                  <a:srgbClr val="660099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n_neighbors</a:t>
            </a: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=</a:t>
            </a:r>
            <a:r>
              <a:rPr lang="en-GB" altLang="zh-CN" sz="1200" dirty="0">
                <a:solidFill>
                  <a:srgbClr val="1750EB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3</a:t>
            </a: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)</a:t>
            </a:r>
            <a:b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</a:t>
            </a:r>
            <a:r>
              <a:rPr lang="en-GB" altLang="zh-CN" sz="12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estimator.fit</a:t>
            </a: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(</a:t>
            </a:r>
            <a:r>
              <a:rPr lang="en-GB" altLang="zh-CN" sz="12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x_train</a:t>
            </a: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, </a:t>
            </a:r>
            <a:r>
              <a:rPr lang="en-GB" altLang="zh-CN" sz="12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y_train</a:t>
            </a: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)</a:t>
            </a:r>
            <a:b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b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</a:t>
            </a:r>
            <a:r>
              <a:rPr lang="en-GB" altLang="zh-CN" sz="1200" i="1" dirty="0">
                <a:solidFill>
                  <a:srgbClr val="8C8C8C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# 5 </a:t>
            </a:r>
            <a:r>
              <a:rPr lang="zh-CN" altLang="en-US" sz="1200" i="1" dirty="0">
                <a:solidFill>
                  <a:srgbClr val="8C8C8C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模型评估</a:t>
            </a:r>
            <a:br>
              <a:rPr lang="zh-CN" altLang="en-US" sz="1200" i="1" dirty="0">
                <a:solidFill>
                  <a:srgbClr val="8C8C8C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zh-CN" altLang="en-US" sz="1200" i="1" dirty="0">
                <a:solidFill>
                  <a:srgbClr val="8C8C8C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</a:t>
            </a: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acc = </a:t>
            </a:r>
            <a:r>
              <a:rPr lang="en-GB" altLang="zh-CN" sz="12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estimator.score</a:t>
            </a: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(</a:t>
            </a:r>
            <a:r>
              <a:rPr lang="en-GB" altLang="zh-CN" sz="12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x_test</a:t>
            </a: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, </a:t>
            </a:r>
            <a:r>
              <a:rPr lang="en-GB" altLang="zh-CN" sz="12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y_test</a:t>
            </a: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)</a:t>
            </a:r>
            <a:b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</a:t>
            </a:r>
            <a:r>
              <a:rPr lang="en-GB" altLang="zh-CN" sz="1200" dirty="0">
                <a:solidFill>
                  <a:srgbClr val="000080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print</a:t>
            </a: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(</a:t>
            </a:r>
            <a:r>
              <a:rPr lang="en-GB" altLang="zh-CN" sz="1200" dirty="0">
                <a:solidFill>
                  <a:srgbClr val="067D17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'</a:t>
            </a:r>
            <a:r>
              <a:rPr lang="zh-CN" altLang="en-US" sz="1200" dirty="0">
                <a:solidFill>
                  <a:srgbClr val="067D17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测试集准确率</a:t>
            </a:r>
            <a:r>
              <a:rPr lang="en-US" altLang="zh-CN" sz="1200" dirty="0">
                <a:solidFill>
                  <a:srgbClr val="067D17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: %.2</a:t>
            </a:r>
            <a:r>
              <a:rPr lang="en-GB" altLang="zh-CN" sz="1200" dirty="0">
                <a:solidFill>
                  <a:srgbClr val="067D17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f' </a:t>
            </a: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% acc)</a:t>
            </a:r>
            <a:b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b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</a:t>
            </a:r>
            <a:r>
              <a:rPr lang="en-GB" altLang="zh-CN" sz="1200" i="1" dirty="0">
                <a:solidFill>
                  <a:srgbClr val="8C8C8C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# 6 </a:t>
            </a:r>
            <a:r>
              <a:rPr lang="zh-CN" altLang="en-US" sz="1200" i="1" dirty="0">
                <a:solidFill>
                  <a:srgbClr val="8C8C8C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模型保存</a:t>
            </a:r>
            <a:br>
              <a:rPr lang="zh-CN" altLang="en-US" sz="1200" i="1" dirty="0">
                <a:solidFill>
                  <a:srgbClr val="8C8C8C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zh-CN" altLang="en-US" sz="1200" i="1" dirty="0">
                <a:solidFill>
                  <a:srgbClr val="8C8C8C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</a:t>
            </a:r>
            <a:r>
              <a:rPr lang="en-GB" altLang="zh-CN" sz="12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joblib.dump</a:t>
            </a: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(estimator, </a:t>
            </a:r>
            <a:r>
              <a:rPr lang="en-GB" altLang="zh-CN" sz="1200" dirty="0">
                <a:solidFill>
                  <a:srgbClr val="067D17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'model/</a:t>
            </a:r>
            <a:r>
              <a:rPr lang="en-GB" altLang="zh-CN" sz="1200" dirty="0" err="1">
                <a:solidFill>
                  <a:srgbClr val="067D17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knn.pth</a:t>
            </a:r>
            <a:r>
              <a:rPr lang="en-GB" altLang="zh-CN" sz="1200" dirty="0">
                <a:solidFill>
                  <a:srgbClr val="067D17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'</a:t>
            </a: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)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2"/>
          <p:cNvSpPr txBox="1"/>
          <p:nvPr/>
        </p:nvSpPr>
        <p:spPr>
          <a:xfrm>
            <a:off x="1237024" y="1655932"/>
            <a:ext cx="2539846" cy="517190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dirty="0">
                <a:solidFill>
                  <a:prstClr val="black">
                    <a:lumMod val="85000"/>
                    <a:lumOff val="15000"/>
                  </a:prst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模型测试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，程序效果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AD2A26"/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标题 2"/>
          <p:cNvSpPr txBox="1"/>
          <p:nvPr/>
        </p:nvSpPr>
        <p:spPr>
          <a:xfrm>
            <a:off x="2172295" y="985966"/>
            <a:ext cx="8364294" cy="51719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利用</a:t>
            </a: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KNN</a:t>
            </a:r>
            <a:r>
              <a:rPr kumimoji="1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算法实现手写数字识别</a:t>
            </a: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j-cs"/>
              </a:rPr>
              <a:t>  </a:t>
            </a:r>
            <a:endParaRPr kumimoji="1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j-cs"/>
            </a:endParaRPr>
          </a:p>
        </p:txBody>
      </p:sp>
      <p:sp>
        <p:nvSpPr>
          <p:cNvPr id="18" name="三角形 17"/>
          <p:cNvSpPr/>
          <p:nvPr/>
        </p:nvSpPr>
        <p:spPr>
          <a:xfrm rot="2651319">
            <a:off x="3473471" y="1954238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9" name="TextBox 3"/>
          <p:cNvSpPr txBox="1"/>
          <p:nvPr/>
        </p:nvSpPr>
        <p:spPr>
          <a:xfrm>
            <a:off x="2506947" y="2309273"/>
            <a:ext cx="4754999" cy="2123658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altLang="zh-CN" sz="1200" dirty="0">
                <a:solidFill>
                  <a:srgbClr val="0033B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def </a:t>
            </a:r>
            <a:r>
              <a:rPr lang="en-GB" altLang="zh-CN" sz="1200" dirty="0" err="1">
                <a:solidFill>
                  <a:srgbClr val="00627A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test_model</a:t>
            </a: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():</a:t>
            </a:r>
            <a:b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</a:t>
            </a:r>
            <a:r>
              <a:rPr lang="en-GB" altLang="zh-CN" sz="1200" i="1" dirty="0">
                <a:solidFill>
                  <a:srgbClr val="8C8C8C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# 1 </a:t>
            </a:r>
            <a:r>
              <a:rPr lang="zh-CN" altLang="en-US" sz="1200" i="1" dirty="0">
                <a:solidFill>
                  <a:srgbClr val="8C8C8C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读取图片数据</a:t>
            </a:r>
            <a:br>
              <a:rPr lang="zh-CN" altLang="en-US" sz="1200" i="1" dirty="0">
                <a:solidFill>
                  <a:srgbClr val="8C8C8C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zh-CN" altLang="en-US" sz="1200" i="1" dirty="0">
                <a:solidFill>
                  <a:srgbClr val="8C8C8C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</a:t>
            </a:r>
            <a:r>
              <a:rPr lang="en-GB" altLang="zh-CN" sz="12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img</a:t>
            </a: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= </a:t>
            </a:r>
            <a:r>
              <a:rPr lang="en-GB" altLang="zh-CN" sz="12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plt.imread</a:t>
            </a: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(</a:t>
            </a:r>
            <a:r>
              <a:rPr lang="en-GB" altLang="zh-CN" sz="1200" dirty="0">
                <a:solidFill>
                  <a:srgbClr val="067D17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'data/</a:t>
            </a:r>
            <a:r>
              <a:rPr lang="en-GB" altLang="zh-CN" sz="1200" dirty="0" err="1">
                <a:solidFill>
                  <a:srgbClr val="067D17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demo.png</a:t>
            </a:r>
            <a:r>
              <a:rPr lang="en-GB" altLang="zh-CN" sz="1200" dirty="0">
                <a:solidFill>
                  <a:srgbClr val="067D17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'</a:t>
            </a: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)</a:t>
            </a:r>
            <a:b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</a:t>
            </a:r>
            <a:r>
              <a:rPr lang="en-GB" altLang="zh-CN" sz="12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plt.imshow</a:t>
            </a: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(</a:t>
            </a:r>
            <a:r>
              <a:rPr lang="en-GB" altLang="zh-CN" sz="12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img</a:t>
            </a: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)</a:t>
            </a:r>
            <a:b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b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</a:t>
            </a:r>
            <a:r>
              <a:rPr lang="en-GB" altLang="zh-CN" sz="1200" i="1" dirty="0">
                <a:solidFill>
                  <a:srgbClr val="8C8C8C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# 2 </a:t>
            </a:r>
            <a:r>
              <a:rPr lang="zh-CN" altLang="en-US" sz="1200" i="1" dirty="0">
                <a:solidFill>
                  <a:srgbClr val="8C8C8C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加载模型</a:t>
            </a:r>
            <a:br>
              <a:rPr lang="zh-CN" altLang="en-US" sz="1200" i="1" dirty="0">
                <a:solidFill>
                  <a:srgbClr val="8C8C8C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zh-CN" altLang="en-US" sz="1200" i="1" dirty="0">
                <a:solidFill>
                  <a:srgbClr val="8C8C8C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</a:t>
            </a:r>
            <a:r>
              <a:rPr lang="en-GB" altLang="zh-CN" sz="12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knn</a:t>
            </a: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= </a:t>
            </a:r>
            <a:r>
              <a:rPr lang="en-GB" altLang="zh-CN" sz="12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joblib.load</a:t>
            </a: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(</a:t>
            </a:r>
            <a:r>
              <a:rPr lang="en-GB" altLang="zh-CN" sz="1200" dirty="0">
                <a:solidFill>
                  <a:srgbClr val="067D17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'model/</a:t>
            </a:r>
            <a:r>
              <a:rPr lang="en-GB" altLang="zh-CN" sz="1200" dirty="0" err="1">
                <a:solidFill>
                  <a:srgbClr val="067D17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knn.pth</a:t>
            </a:r>
            <a:r>
              <a:rPr lang="en-GB" altLang="zh-CN" sz="1200" dirty="0">
                <a:solidFill>
                  <a:srgbClr val="067D17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'</a:t>
            </a: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)</a:t>
            </a:r>
            <a:b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b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</a:t>
            </a:r>
            <a:r>
              <a:rPr lang="en-GB" altLang="zh-CN" sz="1200" i="1" dirty="0">
                <a:solidFill>
                  <a:srgbClr val="8C8C8C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# 3 </a:t>
            </a:r>
            <a:r>
              <a:rPr lang="zh-CN" altLang="en-US" sz="1200" i="1" dirty="0">
                <a:solidFill>
                  <a:srgbClr val="8C8C8C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预测图片</a:t>
            </a:r>
            <a:br>
              <a:rPr lang="zh-CN" altLang="en-US" sz="1200" i="1" dirty="0">
                <a:solidFill>
                  <a:srgbClr val="8C8C8C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zh-CN" altLang="en-US" sz="1200" i="1" dirty="0">
                <a:solidFill>
                  <a:srgbClr val="8C8C8C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</a:t>
            </a:r>
            <a:r>
              <a:rPr lang="en-GB" altLang="zh-CN" sz="12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y_pred</a:t>
            </a: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= </a:t>
            </a:r>
            <a:r>
              <a:rPr lang="en-GB" altLang="zh-CN" sz="12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knn.predict</a:t>
            </a: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(</a:t>
            </a:r>
            <a:r>
              <a:rPr lang="en-GB" altLang="zh-CN" sz="12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img.reshape</a:t>
            </a: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(</a:t>
            </a:r>
            <a:r>
              <a:rPr lang="en-GB" altLang="zh-CN" sz="1200" dirty="0">
                <a:solidFill>
                  <a:srgbClr val="1750EB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1</a:t>
            </a: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, -</a:t>
            </a:r>
            <a:r>
              <a:rPr lang="en-GB" altLang="zh-CN" sz="1200" dirty="0">
                <a:solidFill>
                  <a:srgbClr val="1750EB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1</a:t>
            </a: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))</a:t>
            </a:r>
            <a:b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</a:t>
            </a:r>
            <a:r>
              <a:rPr lang="en-GB" altLang="zh-CN" sz="1200" dirty="0">
                <a:solidFill>
                  <a:srgbClr val="000080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print</a:t>
            </a: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(</a:t>
            </a:r>
            <a:r>
              <a:rPr lang="en-GB" altLang="zh-CN" sz="1200" dirty="0">
                <a:solidFill>
                  <a:srgbClr val="067D17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'</a:t>
            </a:r>
            <a:r>
              <a:rPr lang="zh-CN" altLang="en-US" sz="1200" dirty="0">
                <a:solidFill>
                  <a:srgbClr val="067D17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您绘制的数字是</a:t>
            </a:r>
            <a:r>
              <a:rPr lang="en-US" altLang="zh-CN" sz="1200" dirty="0">
                <a:solidFill>
                  <a:srgbClr val="067D17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:'</a:t>
            </a:r>
            <a:r>
              <a:rPr lang="en-US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, </a:t>
            </a:r>
            <a:r>
              <a:rPr lang="en-GB" altLang="zh-CN" sz="12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y_pred</a:t>
            </a: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)</a:t>
            </a:r>
            <a:endParaRPr lang="en-GB" altLang="zh-CN" sz="1200" dirty="0">
              <a:solidFill>
                <a:prstClr val="black"/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TABLE_BEAUTIFY" val="smartTable{3bd1a816-7d7d-4db1-9efc-e25909f2b4e4}"/>
  <p:tag name="TABLE_ENDDRAG_ORIGIN_RECT" val="867*267"/>
  <p:tag name="TABLE_ENDDRAG_RECT" val="63*186*867*267"/>
</p:tagLst>
</file>

<file path=ppt/tags/tag2.xml><?xml version="1.0" encoding="utf-8"?>
<p:tagLst xmlns:p="http://schemas.openxmlformats.org/presentationml/2006/main">
  <p:tag name="commondata" val="eyJoZGlkIjoiZDQyYmI2YWIwMGE0NjZkZjEwMWNhNGQwYzZmYTJjZTAifQ=="/>
</p:tagLst>
</file>

<file path=ppt/theme/theme1.xml><?xml version="1.0" encoding="utf-8"?>
<a:theme xmlns:a="http://schemas.openxmlformats.org/drawingml/2006/main" name="封面2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目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章节页版式（一级+二级标题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章节页版式（一级标题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5_结束页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14956</Words>
  <Application>WPS 演示</Application>
  <PresentationFormat>宽屏</PresentationFormat>
  <Paragraphs>957</Paragraphs>
  <Slides>52</Slides>
  <Notes>30</Notes>
  <HiddenSlides>0</HiddenSlides>
  <MMClips>0</MMClips>
  <ScaleCrop>false</ScaleCrop>
  <HeadingPairs>
    <vt:vector size="8" baseType="variant">
      <vt:variant>
        <vt:lpstr>已用的字体</vt:lpstr>
      </vt:variant>
      <vt:variant>
        <vt:i4>29</vt:i4>
      </vt:variant>
      <vt:variant>
        <vt:lpstr>主题</vt:lpstr>
      </vt:variant>
      <vt:variant>
        <vt:i4>7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52</vt:i4>
      </vt:variant>
    </vt:vector>
  </HeadingPairs>
  <TitlesOfParts>
    <vt:vector size="91" baseType="lpstr">
      <vt:lpstr>Arial</vt:lpstr>
      <vt:lpstr>宋体</vt:lpstr>
      <vt:lpstr>Wingdings</vt:lpstr>
      <vt:lpstr>Calibri</vt:lpstr>
      <vt:lpstr>黑体</vt:lpstr>
      <vt:lpstr>Alibaba PuHuiTi B</vt:lpstr>
      <vt:lpstr>Alibaba PuHuiTi R</vt:lpstr>
      <vt:lpstr>Segoe UI</vt:lpstr>
      <vt:lpstr>微软雅黑</vt:lpstr>
      <vt:lpstr>Verdana</vt:lpstr>
      <vt:lpstr>阿里巴巴普惠体</vt:lpstr>
      <vt:lpstr>华文楷体</vt:lpstr>
      <vt:lpstr>Alibaba PuHuiTi</vt:lpstr>
      <vt:lpstr>Alibaba PuHuiTi Medium</vt:lpstr>
      <vt:lpstr>Alibaba PuHuiTi M</vt:lpstr>
      <vt:lpstr>Segoe UI Light</vt:lpstr>
      <vt:lpstr>微软雅黑 Light</vt:lpstr>
      <vt:lpstr>Roboto</vt:lpstr>
      <vt:lpstr>Helvetica Neue</vt:lpstr>
      <vt:lpstr>Lato Light</vt:lpstr>
      <vt:lpstr>Segoe Print</vt:lpstr>
      <vt:lpstr>Palatino Linotype</vt:lpstr>
      <vt:lpstr>Open Sans</vt:lpstr>
      <vt:lpstr>等线</vt:lpstr>
      <vt:lpstr>Calibri</vt:lpstr>
      <vt:lpstr>Arial Unicode MS</vt:lpstr>
      <vt:lpstr>-apple-system</vt:lpstr>
      <vt:lpstr>Courier New</vt:lpstr>
      <vt:lpstr>Cambria Math</vt:lpstr>
      <vt:lpstr>封面2</vt:lpstr>
      <vt:lpstr>目录</vt:lpstr>
      <vt:lpstr>学习目标</vt:lpstr>
      <vt:lpstr>章节页版式（一级+二级标题）</vt:lpstr>
      <vt:lpstr>章节页版式（一级标题）</vt:lpstr>
      <vt:lpstr>正文设计方案</vt:lpstr>
      <vt:lpstr>5_结束页设计方案</vt:lpstr>
      <vt:lpstr>Equation.KSEE3</vt:lpstr>
      <vt:lpstr>Equation.KSEE3</vt:lpstr>
      <vt:lpstr>Equation.KSEE3</vt:lpstr>
      <vt:lpstr>KNN算法</vt:lpstr>
      <vt:lpstr>PowerPoint 演示文稿</vt:lpstr>
      <vt:lpstr>PowerPoint 演示文稿</vt:lpstr>
      <vt:lpstr>KNN</vt:lpstr>
      <vt:lpstr>K-近邻算法</vt:lpstr>
      <vt:lpstr>K-近邻算法</vt:lpstr>
      <vt:lpstr>K值选择</vt:lpstr>
      <vt:lpstr>KNN算法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距离度量 distance measure – 常见距离公式 </vt:lpstr>
      <vt:lpstr>距离度量 distance measure – 常见距离公式 </vt:lpstr>
      <vt:lpstr>距离度量 distance measure – 常见距离公式 </vt:lpstr>
      <vt:lpstr>距离度量 distance measure – 常见距离公式 </vt:lpstr>
      <vt:lpstr>PowerPoint 演示文稿</vt:lpstr>
      <vt:lpstr>PowerPoint 演示文稿</vt:lpstr>
      <vt:lpstr>PowerPoint 演示文稿</vt:lpstr>
      <vt:lpstr>特征预处理</vt:lpstr>
      <vt:lpstr>特征预处理</vt:lpstr>
      <vt:lpstr>特征预处理</vt:lpstr>
      <vt:lpstr>特征预处理</vt:lpstr>
      <vt:lpstr>特征预处理</vt:lpstr>
      <vt:lpstr>特征预处理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交叉验证</vt:lpstr>
      <vt:lpstr>网格搜索 </vt:lpstr>
      <vt:lpstr>交叉验证网格搜索 – API和应用举例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8802</dc:creator>
  <cp:lastModifiedBy>武常斌</cp:lastModifiedBy>
  <cp:revision>894</cp:revision>
  <dcterms:created xsi:type="dcterms:W3CDTF">2020-03-31T02:23:00Z</dcterms:created>
  <dcterms:modified xsi:type="dcterms:W3CDTF">2025-05-23T13:31:30Z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7637CE8FD67E41B8BCB0A27D537D8CCC_12</vt:lpwstr>
  </property>
  <property fmtid="{D5CDD505-2E9C-101B-9397-08002B2CF9AE}" pid="3" name="KSOProductBuildVer">
    <vt:lpwstr>2052-12.1.0.21171</vt:lpwstr>
  </property>
</Properties>
</file>