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3.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 id="2147483652" r:id="rId4"/>
    <p:sldMasterId id="2147483654" r:id="rId5"/>
    <p:sldMasterId id="2147483656" r:id="rId6"/>
    <p:sldMasterId id="2147483658" r:id="rId7"/>
    <p:sldMasterId id="2147483674" r:id="rId8"/>
    <p:sldMasterId id="2147483676" r:id="rId9"/>
    <p:sldMasterId id="2147483692" r:id="rId10"/>
    <p:sldMasterId id="2147483708" r:id="rId11"/>
  </p:sldMasterIdLst>
  <p:notesMasterIdLst>
    <p:notesMasterId r:id="rId16"/>
  </p:notesMasterIdLst>
  <p:handoutMasterIdLst>
    <p:handoutMasterId r:id="rId65"/>
  </p:handoutMasterIdLst>
  <p:sldIdLst>
    <p:sldId id="1669" r:id="rId12"/>
    <p:sldId id="1665" r:id="rId13"/>
    <p:sldId id="464" r:id="rId14"/>
    <p:sldId id="1447" r:id="rId15"/>
    <p:sldId id="1618" r:id="rId17"/>
    <p:sldId id="1671" r:id="rId18"/>
    <p:sldId id="1623" r:id="rId19"/>
    <p:sldId id="1624" r:id="rId20"/>
    <p:sldId id="1666" r:id="rId21"/>
    <p:sldId id="1622" r:id="rId22"/>
    <p:sldId id="1620" r:id="rId23"/>
    <p:sldId id="1103" r:id="rId24"/>
    <p:sldId id="1672" r:id="rId25"/>
    <p:sldId id="1105" r:id="rId26"/>
    <p:sldId id="1625" r:id="rId27"/>
    <p:sldId id="1626" r:id="rId28"/>
    <p:sldId id="1667" r:id="rId29"/>
    <p:sldId id="1628" r:id="rId30"/>
    <p:sldId id="1590" r:id="rId31"/>
    <p:sldId id="1629" r:id="rId32"/>
    <p:sldId id="1630" r:id="rId33"/>
    <p:sldId id="1591" r:id="rId34"/>
    <p:sldId id="1673" r:id="rId35"/>
    <p:sldId id="1631" r:id="rId36"/>
    <p:sldId id="1632" r:id="rId37"/>
    <p:sldId id="1674" r:id="rId38"/>
    <p:sldId id="1633" r:id="rId39"/>
    <p:sldId id="1609" r:id="rId40"/>
    <p:sldId id="1608" r:id="rId41"/>
    <p:sldId id="1668" r:id="rId42"/>
    <p:sldId id="1635" r:id="rId43"/>
    <p:sldId id="1636" r:id="rId44"/>
    <p:sldId id="1639" r:id="rId45"/>
    <p:sldId id="1675" r:id="rId46"/>
    <p:sldId id="1676" r:id="rId47"/>
    <p:sldId id="1640" r:id="rId48"/>
    <p:sldId id="1648" r:id="rId49"/>
    <p:sldId id="1677" r:id="rId50"/>
    <p:sldId id="1645" r:id="rId51"/>
    <p:sldId id="1650" r:id="rId52"/>
    <p:sldId id="1651" r:id="rId53"/>
    <p:sldId id="1652" r:id="rId54"/>
    <p:sldId id="1653" r:id="rId55"/>
    <p:sldId id="1654" r:id="rId56"/>
    <p:sldId id="1655" r:id="rId57"/>
    <p:sldId id="1656" r:id="rId58"/>
    <p:sldId id="1657" r:id="rId59"/>
    <p:sldId id="1660" r:id="rId60"/>
    <p:sldId id="1658" r:id="rId61"/>
    <p:sldId id="1662" r:id="rId62"/>
    <p:sldId id="1678" r:id="rId63"/>
    <p:sldId id="1670" r:id="rId6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2A26"/>
    <a:srgbClr val="B60206"/>
    <a:srgbClr val="8A8A8A"/>
    <a:srgbClr val="4C5252"/>
    <a:srgbClr val="F9F9F9"/>
    <a:srgbClr val="48504F"/>
    <a:srgbClr val="AD2B26"/>
    <a:srgbClr val="49504F"/>
    <a:srgbClr val="B70006"/>
    <a:srgbClr val="FFFF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36" autoAdjust="0"/>
    <p:restoredTop sz="92394" autoAdjust="0"/>
  </p:normalViewPr>
  <p:slideViewPr>
    <p:cSldViewPr snapToGrid="0">
      <p:cViewPr varScale="1">
        <p:scale>
          <a:sx n="114" d="100"/>
          <a:sy n="114" d="100"/>
        </p:scale>
        <p:origin x="616" y="168"/>
      </p:cViewPr>
      <p:guideLst/>
    </p:cSldViewPr>
  </p:slideViewPr>
  <p:notesTextViewPr>
    <p:cViewPr>
      <p:scale>
        <a:sx n="1" d="1"/>
        <a:sy n="1" d="1"/>
      </p:scale>
      <p:origin x="0" y="0"/>
    </p:cViewPr>
  </p:notesTextViewPr>
  <p:notesViewPr>
    <p:cSldViewPr snapToGrid="0">
      <p:cViewPr varScale="1">
        <p:scale>
          <a:sx n="97" d="100"/>
          <a:sy n="97" d="100"/>
        </p:scale>
        <p:origin x="3416" y="19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8" Type="http://schemas.openxmlformats.org/officeDocument/2006/relationships/tableStyles" Target="tableStyles.xml"/><Relationship Id="rId67" Type="http://schemas.openxmlformats.org/officeDocument/2006/relationships/viewProps" Target="viewProps.xml"/><Relationship Id="rId66" Type="http://schemas.openxmlformats.org/officeDocument/2006/relationships/presProps" Target="presProps.xml"/><Relationship Id="rId65" Type="http://schemas.openxmlformats.org/officeDocument/2006/relationships/handoutMaster" Target="handoutMasters/handoutMaster1.xml"/><Relationship Id="rId64" Type="http://schemas.openxmlformats.org/officeDocument/2006/relationships/slide" Target="slides/slide52.xml"/><Relationship Id="rId63" Type="http://schemas.openxmlformats.org/officeDocument/2006/relationships/slide" Target="slides/slide51.xml"/><Relationship Id="rId62" Type="http://schemas.openxmlformats.org/officeDocument/2006/relationships/slide" Target="slides/slide50.xml"/><Relationship Id="rId61" Type="http://schemas.openxmlformats.org/officeDocument/2006/relationships/slide" Target="slides/slide49.xml"/><Relationship Id="rId60" Type="http://schemas.openxmlformats.org/officeDocument/2006/relationships/slide" Target="slides/slide48.xml"/><Relationship Id="rId6" Type="http://schemas.openxmlformats.org/officeDocument/2006/relationships/slideMaster" Target="slideMasters/slideMaster5.xml"/><Relationship Id="rId59" Type="http://schemas.openxmlformats.org/officeDocument/2006/relationships/slide" Target="slides/slide47.xml"/><Relationship Id="rId58" Type="http://schemas.openxmlformats.org/officeDocument/2006/relationships/slide" Target="slides/slide46.xml"/><Relationship Id="rId57" Type="http://schemas.openxmlformats.org/officeDocument/2006/relationships/slide" Target="slides/slide45.xml"/><Relationship Id="rId56" Type="http://schemas.openxmlformats.org/officeDocument/2006/relationships/slide" Target="slides/slide44.xml"/><Relationship Id="rId55" Type="http://schemas.openxmlformats.org/officeDocument/2006/relationships/slide" Target="slides/slide43.xml"/><Relationship Id="rId54" Type="http://schemas.openxmlformats.org/officeDocument/2006/relationships/slide" Target="slides/slide42.xml"/><Relationship Id="rId53" Type="http://schemas.openxmlformats.org/officeDocument/2006/relationships/slide" Target="slides/slide41.xml"/><Relationship Id="rId52" Type="http://schemas.openxmlformats.org/officeDocument/2006/relationships/slide" Target="slides/slide40.xml"/><Relationship Id="rId51" Type="http://schemas.openxmlformats.org/officeDocument/2006/relationships/slide" Target="slides/slide39.xml"/><Relationship Id="rId50" Type="http://schemas.openxmlformats.org/officeDocument/2006/relationships/slide" Target="slides/slide38.xml"/><Relationship Id="rId5" Type="http://schemas.openxmlformats.org/officeDocument/2006/relationships/slideMaster" Target="slideMasters/slideMaster4.xml"/><Relationship Id="rId49" Type="http://schemas.openxmlformats.org/officeDocument/2006/relationships/slide" Target="slides/slide37.xml"/><Relationship Id="rId48" Type="http://schemas.openxmlformats.org/officeDocument/2006/relationships/slide" Target="slides/slide36.xml"/><Relationship Id="rId47" Type="http://schemas.openxmlformats.org/officeDocument/2006/relationships/slide" Target="slides/slide35.xml"/><Relationship Id="rId46" Type="http://schemas.openxmlformats.org/officeDocument/2006/relationships/slide" Target="slides/slide34.xml"/><Relationship Id="rId45" Type="http://schemas.openxmlformats.org/officeDocument/2006/relationships/slide" Target="slides/slide33.xml"/><Relationship Id="rId44" Type="http://schemas.openxmlformats.org/officeDocument/2006/relationships/slide" Target="slides/slide32.xml"/><Relationship Id="rId43" Type="http://schemas.openxmlformats.org/officeDocument/2006/relationships/slide" Target="slides/slide31.xml"/><Relationship Id="rId42" Type="http://schemas.openxmlformats.org/officeDocument/2006/relationships/slide" Target="slides/slide30.xml"/><Relationship Id="rId41" Type="http://schemas.openxmlformats.org/officeDocument/2006/relationships/slide" Target="slides/slide29.xml"/><Relationship Id="rId40" Type="http://schemas.openxmlformats.org/officeDocument/2006/relationships/slide" Target="slides/slide28.xml"/><Relationship Id="rId4" Type="http://schemas.openxmlformats.org/officeDocument/2006/relationships/slideMaster" Target="slideMasters/slideMaster3.xml"/><Relationship Id="rId39" Type="http://schemas.openxmlformats.org/officeDocument/2006/relationships/slide" Target="slides/slide27.xml"/><Relationship Id="rId38" Type="http://schemas.openxmlformats.org/officeDocument/2006/relationships/slide" Target="slides/slide26.xml"/><Relationship Id="rId37" Type="http://schemas.openxmlformats.org/officeDocument/2006/relationships/slide" Target="slides/slide25.xml"/><Relationship Id="rId36" Type="http://schemas.openxmlformats.org/officeDocument/2006/relationships/slide" Target="slides/slide24.xml"/><Relationship Id="rId35" Type="http://schemas.openxmlformats.org/officeDocument/2006/relationships/slide" Target="slides/slide23.xml"/><Relationship Id="rId34" Type="http://schemas.openxmlformats.org/officeDocument/2006/relationships/slide" Target="slides/slide22.xml"/><Relationship Id="rId33" Type="http://schemas.openxmlformats.org/officeDocument/2006/relationships/slide" Target="slides/slide21.xml"/><Relationship Id="rId32" Type="http://schemas.openxmlformats.org/officeDocument/2006/relationships/slide" Target="slides/slide20.xml"/><Relationship Id="rId31" Type="http://schemas.openxmlformats.org/officeDocument/2006/relationships/slide" Target="slides/slide19.xml"/><Relationship Id="rId30" Type="http://schemas.openxmlformats.org/officeDocument/2006/relationships/slide" Target="slides/slide18.xml"/><Relationship Id="rId3" Type="http://schemas.openxmlformats.org/officeDocument/2006/relationships/slideMaster" Target="slideMasters/slideMaster2.xml"/><Relationship Id="rId29" Type="http://schemas.openxmlformats.org/officeDocument/2006/relationships/slide" Target="slides/slide17.xml"/><Relationship Id="rId28" Type="http://schemas.openxmlformats.org/officeDocument/2006/relationships/slide" Target="slides/slide16.xml"/><Relationship Id="rId27" Type="http://schemas.openxmlformats.org/officeDocument/2006/relationships/slide" Target="slides/slide15.xml"/><Relationship Id="rId26" Type="http://schemas.openxmlformats.org/officeDocument/2006/relationships/slide" Target="slides/slide14.xml"/><Relationship Id="rId25" Type="http://schemas.openxmlformats.org/officeDocument/2006/relationships/slide" Target="slides/slide13.xml"/><Relationship Id="rId24" Type="http://schemas.openxmlformats.org/officeDocument/2006/relationships/slide" Target="slides/slide12.xml"/><Relationship Id="rId23" Type="http://schemas.openxmlformats.org/officeDocument/2006/relationships/slide" Target="slides/slide11.xml"/><Relationship Id="rId22" Type="http://schemas.openxmlformats.org/officeDocument/2006/relationships/slide" Target="slides/slide10.xml"/><Relationship Id="rId21" Type="http://schemas.openxmlformats.org/officeDocument/2006/relationships/slide" Target="slides/slide9.xml"/><Relationship Id="rId20" Type="http://schemas.openxmlformats.org/officeDocument/2006/relationships/slide" Target="slides/slide8.xml"/><Relationship Id="rId2" Type="http://schemas.openxmlformats.org/officeDocument/2006/relationships/theme" Target="theme/theme1.xml"/><Relationship Id="rId19" Type="http://schemas.openxmlformats.org/officeDocument/2006/relationships/slide" Target="slides/slide7.xml"/><Relationship Id="rId18" Type="http://schemas.openxmlformats.org/officeDocument/2006/relationships/slide" Target="slides/slide6.xml"/><Relationship Id="rId17" Type="http://schemas.openxmlformats.org/officeDocument/2006/relationships/slide" Target="slides/slide5.xml"/><Relationship Id="rId16" Type="http://schemas.openxmlformats.org/officeDocument/2006/relationships/notesMaster" Target="notesMasters/notesMaster1.xml"/><Relationship Id="rId15" Type="http://schemas.openxmlformats.org/officeDocument/2006/relationships/slide" Target="slides/slide4.xml"/><Relationship Id="rId14" Type="http://schemas.openxmlformats.org/officeDocument/2006/relationships/slide" Target="slides/slide3.xml"/><Relationship Id="rId13" Type="http://schemas.openxmlformats.org/officeDocument/2006/relationships/slide" Target="slides/slide2.xml"/><Relationship Id="rId12" Type="http://schemas.openxmlformats.org/officeDocument/2006/relationships/slide" Target="slides/slide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3DFD10-C36A-A44C-AC52-E91D9A58CF7E}"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F0B397-CD8F-1C4C-97BB-ADF18DDD1C00}"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7ACF5-0677-4CC5-89ED-AE83D3F5859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C63F50-FC71-46DD-9BDC-11F985EF414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CC63F50-FC71-46DD-9BDC-11F985EF414C}"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CC63F50-FC71-46DD-9BDC-11F985EF414C}"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9.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9.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9.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0.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0.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0.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版式2">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244725"/>
            <a:ext cx="10541000" cy="1158875"/>
          </a:xfrm>
          <a:prstGeom prst="rect">
            <a:avLst/>
          </a:prstGeom>
        </p:spPr>
        <p:txBody>
          <a:bodyPr anchor="ctr"/>
          <a:lstStyle>
            <a:lvl1pPr>
              <a:defRPr sz="7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主标题</a:t>
            </a:r>
            <a:endParaRPr kumimoji="1" lang="zh-CN" altLang="en-US" dirty="0"/>
          </a:p>
        </p:txBody>
      </p:sp>
      <p:sp>
        <p:nvSpPr>
          <p:cNvPr id="3" name="文本占位符 3"/>
          <p:cNvSpPr>
            <a:spLocks noGrp="1"/>
          </p:cNvSpPr>
          <p:nvPr>
            <p:ph type="body" sz="quarter" idx="10" hasCustomPrompt="1"/>
          </p:nvPr>
        </p:nvSpPr>
        <p:spPr>
          <a:xfrm>
            <a:off x="838200" y="3454401"/>
            <a:ext cx="10540999" cy="630237"/>
          </a:xfrm>
          <a:prstGeom prst="rect">
            <a:avLst/>
          </a:prstGeom>
        </p:spPr>
        <p:txBody>
          <a:bodyPr anchor="ctr"/>
          <a:lstStyle>
            <a:lvl1pPr algn="ctr">
              <a:buNone/>
              <a:defRPr sz="24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stStyle>
          <a:p>
            <a:pPr lvl="0"/>
            <a:r>
              <a:rPr kumimoji="1" lang="zh-CN" altLang="en-US" dirty="0"/>
              <a:t>副标题内容，如若没有可以删除</a:t>
            </a:r>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版式">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5019358" y="1006475"/>
            <a:ext cx="5973761" cy="4256405"/>
          </a:xfrm>
          <a:prstGeom prst="rect">
            <a:avLst/>
          </a:prstGeom>
        </p:spPr>
        <p:txBody>
          <a:bodyPr anchor="ctr"/>
          <a:lstStyle>
            <a:lvl1pPr marL="457200" marR="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200" marR="0" lvl="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a:pPr>
            <a:r>
              <a:rPr kumimoji="1" lang="zh-CN" altLang="en-US" dirty="0"/>
              <a:t>此内容上下居中对齐，可根据实际情况微调位置和字体大小</a:t>
            </a:r>
            <a:endParaRPr kumimoji="1" lang="zh-CN" altLang="en-US" dirty="0"/>
          </a:p>
          <a:p>
            <a:pPr lvl="0"/>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vl2pPr>
              <a:buNone/>
              <a:defRPr b="0" i="0">
                <a:latin typeface="Alibaba PuHuiTi R" pitchFamily="18" charset="-122"/>
                <a:ea typeface="Alibaba PuHuiTi R" pitchFamily="18" charset="-122"/>
                <a:cs typeface="Alibaba PuHuiTi R" pitchFamily="18" charset="-122"/>
              </a:defRPr>
            </a:lvl2pPr>
            <a:lvl3pPr>
              <a:defRPr b="0" i="0">
                <a:latin typeface="Alibaba PuHuiTi R" pitchFamily="18" charset="-122"/>
                <a:ea typeface="Alibaba PuHuiTi R" pitchFamily="18" charset="-122"/>
                <a:cs typeface="Alibaba PuHuiTi R" pitchFamily="18" charset="-122"/>
              </a:defRPr>
            </a:lvl3pPr>
            <a:lvl4pPr>
              <a:defRPr b="0" i="0">
                <a:latin typeface="Alibaba PuHuiTi R" pitchFamily="18" charset="-122"/>
                <a:ea typeface="Alibaba PuHuiTi R" pitchFamily="18" charset="-122"/>
                <a:cs typeface="Alibaba PuHuiTi R" pitchFamily="18" charset="-122"/>
              </a:defRPr>
            </a:lvl4pPr>
            <a:lvl5pPr>
              <a:defRPr b="0" i="0">
                <a:latin typeface="Alibaba PuHuiTi R" pitchFamily="18" charset="-122"/>
                <a:ea typeface="Alibaba PuHuiTi R" pitchFamily="18" charset="-122"/>
                <a:cs typeface="Alibaba PuHuiTi R"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页版式（一级标题）">
    <p:spTree>
      <p:nvGrpSpPr>
        <p:cNvPr id="1" name=""/>
        <p:cNvGrpSpPr/>
        <p:nvPr/>
      </p:nvGrpSpPr>
      <p:grpSpPr>
        <a:xfrm>
          <a:off x="0" y="0"/>
          <a:ext cx="0" cy="0"/>
          <a:chOff x="0" y="0"/>
          <a:chExt cx="0" cy="0"/>
        </a:xfrm>
      </p:grpSpPr>
      <p:sp>
        <p:nvSpPr>
          <p:cNvPr id="12" name="标题 11"/>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章节标题，右侧章节数字需自行设置</a:t>
            </a:r>
            <a:endParaRPr kumimoji="1" lang="zh-CN" altLang="en-US" dirty="0"/>
          </a:p>
        </p:txBody>
      </p:sp>
      <p:sp>
        <p:nvSpPr>
          <p:cNvPr id="14" name="文本占位符 13"/>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1002232"/>
            <a:ext cx="1069880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24204"/>
            <a:ext cx="10698800" cy="386122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590102"/>
            <a:ext cx="10749598" cy="385054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119"/>
            <a:ext cx="1074959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03185"/>
            <a:ext cx="10719120" cy="3819718"/>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233"/>
            <a:ext cx="1071911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48056"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628517"/>
            <a:ext cx="10748057" cy="3922461"/>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1612212"/>
            <a:ext cx="9845675" cy="4547802"/>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1000749"/>
            <a:ext cx="9845675"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1002232"/>
            <a:ext cx="1071911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1598036"/>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3"/>
            <a:ext cx="10748057"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1618707"/>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44805"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p:cNvGrpSpPr/>
          <p:nvPr userDrawn="1"/>
        </p:nvGrpSpPr>
        <p:grpSpPr>
          <a:xfrm>
            <a:off x="806306" y="105625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3440"/>
            <a:ext cx="9214230" cy="517190"/>
          </a:xfrm>
          <a:prstGeom prst="rect">
            <a:avLst/>
          </a:prstGeom>
        </p:spPr>
        <p:txBody>
          <a:bodyPr anchor="ctr" anchorCtr="0"/>
          <a:lstStyle>
            <a:lvl1pPr marL="0" indent="0">
              <a:buNone/>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spcBef>
                <a:spcPct val="0"/>
              </a:spcBef>
            </a:pPr>
            <a:r>
              <a:rPr lang="zh-CN" altLang="en-US" dirty="0"/>
              <a:t>案例标题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743280"/>
            <a:ext cx="9214230" cy="376237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6948"/>
            <a:ext cx="201682" cy="201682"/>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grpSp>
        <p:nvGrpSpPr>
          <p:cNvPr id="6" name="组合 5"/>
          <p:cNvGrpSpPr/>
          <p:nvPr userDrawn="1"/>
        </p:nvGrpSpPr>
        <p:grpSpPr>
          <a:xfrm>
            <a:off x="806306" y="1060146"/>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步骤</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7332"/>
            <a:ext cx="921423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marL="0" lvl="0" indent="0">
              <a:spcBef>
                <a:spcPct val="0"/>
              </a:spcBef>
              <a:buNone/>
            </a:pPr>
            <a:r>
              <a:rPr lang="zh-CN" altLang="en-US" dirty="0"/>
              <a:t>步骤标题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747172"/>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50840"/>
            <a:ext cx="201682" cy="201682"/>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p:cNvGrpSpPr/>
          <p:nvPr userDrawn="1"/>
        </p:nvGrpSpPr>
        <p:grpSpPr>
          <a:xfrm>
            <a:off x="806306" y="1054782"/>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1968"/>
            <a:ext cx="921423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marL="0" lvl="0" indent="0">
              <a:spcBef>
                <a:spcPct val="0"/>
              </a:spcBef>
              <a:buNone/>
            </a:pPr>
            <a:r>
              <a:rPr lang="zh-CN" altLang="en-US" dirty="0"/>
              <a:t>练习标题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741808"/>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5476"/>
            <a:ext cx="201682" cy="201682"/>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5069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5274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8826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4" name="六边形 23"/>
          <p:cNvSpPr/>
          <p:nvPr userDrawn="1"/>
        </p:nvSpPr>
        <p:spPr>
          <a:xfrm rot="5400000">
            <a:off x="3294074" y="21491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1264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3852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7150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81309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1013943" y="3138371"/>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p:cNvSpPr/>
          <p:nvPr userDrawn="1"/>
        </p:nvSpPr>
        <p:spPr>
          <a:xfrm>
            <a:off x="1645363" y="2308178"/>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p:cNvSpPr txBox="1">
            <a:spLocks noChangeArrowheads="1"/>
          </p:cNvSpPr>
          <p:nvPr userDrawn="1"/>
        </p:nvSpPr>
        <p:spPr bwMode="auto">
          <a:xfrm>
            <a:off x="1938193" y="255362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思路</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泪珠形 22"/>
          <p:cNvSpPr/>
          <p:nvPr userDrawn="1"/>
        </p:nvSpPr>
        <p:spPr>
          <a:xfrm>
            <a:off x="3663313" y="3963112"/>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p:cNvSpPr/>
          <p:nvPr userDrawn="1"/>
        </p:nvSpPr>
        <p:spPr>
          <a:xfrm>
            <a:off x="2152487" y="1924996"/>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p:cNvSpPr/>
          <p:nvPr userDrawn="1"/>
        </p:nvSpPr>
        <p:spPr>
          <a:xfrm>
            <a:off x="844996" y="3255023"/>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2953096"/>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3896183"/>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003998"/>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111232"/>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025081"/>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401118"/>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33" name="标题占位符 1"/>
          <p:cNvSpPr txBox="1">
            <a:spLocks noChangeArrowheads="1"/>
          </p:cNvSpPr>
          <p:nvPr userDrawn="1"/>
        </p:nvSpPr>
        <p:spPr bwMode="auto">
          <a:xfrm>
            <a:off x="1938193" y="254311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329809"/>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1002232"/>
            <a:ext cx="1069880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24204"/>
            <a:ext cx="10698800" cy="386122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590102"/>
            <a:ext cx="10749598" cy="385054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119"/>
            <a:ext cx="1074959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03185"/>
            <a:ext cx="10719120" cy="3819718"/>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233"/>
            <a:ext cx="1071911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48056"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628517"/>
            <a:ext cx="10748057" cy="3922461"/>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1612212"/>
            <a:ext cx="9845675" cy="4547802"/>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1000749"/>
            <a:ext cx="9845675"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1002232"/>
            <a:ext cx="1071911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1598036"/>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3"/>
            <a:ext cx="10748057"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1618707"/>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44805"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p:cNvGrpSpPr/>
          <p:nvPr userDrawn="1"/>
        </p:nvGrpSpPr>
        <p:grpSpPr>
          <a:xfrm>
            <a:off x="806306" y="105625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3440"/>
            <a:ext cx="9214230" cy="517190"/>
          </a:xfrm>
          <a:prstGeom prst="rect">
            <a:avLst/>
          </a:prstGeom>
        </p:spPr>
        <p:txBody>
          <a:bodyPr anchor="ctr" anchorCtr="0"/>
          <a:lstStyle>
            <a:lvl1pPr marL="0" indent="0">
              <a:buNone/>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spcBef>
                <a:spcPct val="0"/>
              </a:spcBef>
            </a:pPr>
            <a:r>
              <a:rPr lang="zh-CN" altLang="en-US" dirty="0"/>
              <a:t>案例标题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743280"/>
            <a:ext cx="9214230" cy="376237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6948"/>
            <a:ext cx="201682" cy="201682"/>
          </a:xfrm>
          <a:prstGeom prst="rect">
            <a:avLst/>
          </a:prstGeom>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grpSp>
        <p:nvGrpSpPr>
          <p:cNvPr id="6" name="组合 5"/>
          <p:cNvGrpSpPr/>
          <p:nvPr userDrawn="1"/>
        </p:nvGrpSpPr>
        <p:grpSpPr>
          <a:xfrm>
            <a:off x="806306" y="1060146"/>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步骤</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7332"/>
            <a:ext cx="921423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marL="0" lvl="0" indent="0">
              <a:spcBef>
                <a:spcPct val="0"/>
              </a:spcBef>
              <a:buNone/>
            </a:pPr>
            <a:r>
              <a:rPr lang="zh-CN" altLang="en-US" dirty="0"/>
              <a:t>步骤标题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747172"/>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50840"/>
            <a:ext cx="201682" cy="201682"/>
          </a:xfrm>
          <a:prstGeom prst="rect">
            <a:avLst/>
          </a:prstGeom>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p:cNvGrpSpPr/>
          <p:nvPr userDrawn="1"/>
        </p:nvGrpSpPr>
        <p:grpSpPr>
          <a:xfrm>
            <a:off x="806306" y="1054782"/>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1968"/>
            <a:ext cx="921423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marL="0" lvl="0" indent="0">
              <a:spcBef>
                <a:spcPct val="0"/>
              </a:spcBef>
              <a:buNone/>
            </a:pPr>
            <a:r>
              <a:rPr lang="zh-CN" altLang="en-US" dirty="0"/>
              <a:t>练习标题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741808"/>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5476"/>
            <a:ext cx="201682" cy="201682"/>
          </a:xfrm>
          <a:prstGeom prst="rect">
            <a:avLst/>
          </a:prstGeom>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5069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5274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8826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4" name="六边形 23"/>
          <p:cNvSpPr/>
          <p:nvPr userDrawn="1"/>
        </p:nvSpPr>
        <p:spPr>
          <a:xfrm rot="5400000">
            <a:off x="3294074" y="21491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1264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3852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7150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81309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1013943" y="3138371"/>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p:cNvSpPr/>
          <p:nvPr userDrawn="1"/>
        </p:nvSpPr>
        <p:spPr>
          <a:xfrm>
            <a:off x="1645363" y="2308178"/>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p:cNvSpPr txBox="1">
            <a:spLocks noChangeArrowheads="1"/>
          </p:cNvSpPr>
          <p:nvPr userDrawn="1"/>
        </p:nvSpPr>
        <p:spPr bwMode="auto">
          <a:xfrm>
            <a:off x="1938193" y="255362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思路</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泪珠形 22"/>
          <p:cNvSpPr/>
          <p:nvPr userDrawn="1"/>
        </p:nvSpPr>
        <p:spPr>
          <a:xfrm>
            <a:off x="3663313" y="3963112"/>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p:cNvSpPr/>
          <p:nvPr userDrawn="1"/>
        </p:nvSpPr>
        <p:spPr>
          <a:xfrm>
            <a:off x="2152487" y="1924996"/>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p:cNvSpPr/>
          <p:nvPr userDrawn="1"/>
        </p:nvSpPr>
        <p:spPr>
          <a:xfrm>
            <a:off x="844996" y="3255023"/>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2953096"/>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3896183"/>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003998"/>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111232"/>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025081"/>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401118"/>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33" name="标题占位符 1"/>
          <p:cNvSpPr txBox="1">
            <a:spLocks noChangeArrowheads="1"/>
          </p:cNvSpPr>
          <p:nvPr userDrawn="1"/>
        </p:nvSpPr>
        <p:spPr bwMode="auto">
          <a:xfrm>
            <a:off x="1938193" y="254311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329809"/>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1002232"/>
            <a:ext cx="1069880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24204"/>
            <a:ext cx="10698800" cy="386122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590102"/>
            <a:ext cx="10749598" cy="385054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119"/>
            <a:ext cx="1074959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03185"/>
            <a:ext cx="10719120" cy="3819718"/>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233"/>
            <a:ext cx="1071911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48056"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628517"/>
            <a:ext cx="10748057" cy="3922461"/>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1612212"/>
            <a:ext cx="9845675" cy="4547802"/>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1000749"/>
            <a:ext cx="9845675"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1002232"/>
            <a:ext cx="1071911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1598036"/>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3"/>
            <a:ext cx="10748057"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1618707"/>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44805"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p:cNvGrpSpPr/>
          <p:nvPr userDrawn="1"/>
        </p:nvGrpSpPr>
        <p:grpSpPr>
          <a:xfrm>
            <a:off x="806306" y="105625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3440"/>
            <a:ext cx="9214230" cy="517190"/>
          </a:xfrm>
          <a:prstGeom prst="rect">
            <a:avLst/>
          </a:prstGeom>
        </p:spPr>
        <p:txBody>
          <a:bodyPr anchor="ctr" anchorCtr="0"/>
          <a:lstStyle>
            <a:lvl1pPr marL="0" indent="0">
              <a:buNone/>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spcBef>
                <a:spcPct val="0"/>
              </a:spcBef>
            </a:pPr>
            <a:r>
              <a:rPr lang="zh-CN" altLang="en-US" dirty="0"/>
              <a:t>案例标题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743280"/>
            <a:ext cx="9214230" cy="376237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6948"/>
            <a:ext cx="201682" cy="201682"/>
          </a:xfrm>
          <a:prstGeom prst="rect">
            <a:avLst/>
          </a:prstGeom>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grpSp>
        <p:nvGrpSpPr>
          <p:cNvPr id="6" name="组合 5"/>
          <p:cNvGrpSpPr/>
          <p:nvPr userDrawn="1"/>
        </p:nvGrpSpPr>
        <p:grpSpPr>
          <a:xfrm>
            <a:off x="806306" y="1060146"/>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步骤</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7332"/>
            <a:ext cx="921423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marL="0" lvl="0" indent="0">
              <a:spcBef>
                <a:spcPct val="0"/>
              </a:spcBef>
              <a:buNone/>
            </a:pPr>
            <a:r>
              <a:rPr lang="zh-CN" altLang="en-US" dirty="0"/>
              <a:t>步骤标题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747172"/>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50840"/>
            <a:ext cx="201682" cy="201682"/>
          </a:xfrm>
          <a:prstGeom prst="rect">
            <a:avLst/>
          </a:prstGeom>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p:cNvGrpSpPr/>
          <p:nvPr userDrawn="1"/>
        </p:nvGrpSpPr>
        <p:grpSpPr>
          <a:xfrm>
            <a:off x="806306" y="1054782"/>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1968"/>
            <a:ext cx="921423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marL="0" lvl="0" indent="0">
              <a:spcBef>
                <a:spcPct val="0"/>
              </a:spcBef>
              <a:buNone/>
            </a:pPr>
            <a:r>
              <a:rPr lang="zh-CN" altLang="en-US" dirty="0"/>
              <a:t>练习标题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741808"/>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5476"/>
            <a:ext cx="201682" cy="201682"/>
          </a:xfrm>
          <a:prstGeom prst="rect">
            <a:avLst/>
          </a:prstGeom>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5069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5274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8826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4" name="六边形 23"/>
          <p:cNvSpPr/>
          <p:nvPr userDrawn="1"/>
        </p:nvSpPr>
        <p:spPr>
          <a:xfrm rot="5400000">
            <a:off x="3294074" y="21491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1264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3852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7150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81309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1013943" y="3138371"/>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p:cNvSpPr/>
          <p:nvPr userDrawn="1"/>
        </p:nvSpPr>
        <p:spPr>
          <a:xfrm>
            <a:off x="1645363" y="2308178"/>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p:cNvSpPr txBox="1">
            <a:spLocks noChangeArrowheads="1"/>
          </p:cNvSpPr>
          <p:nvPr userDrawn="1"/>
        </p:nvSpPr>
        <p:spPr bwMode="auto">
          <a:xfrm>
            <a:off x="1938193" y="255362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思路</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泪珠形 22"/>
          <p:cNvSpPr/>
          <p:nvPr userDrawn="1"/>
        </p:nvSpPr>
        <p:spPr>
          <a:xfrm>
            <a:off x="3663313" y="3963112"/>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p:cNvSpPr/>
          <p:nvPr userDrawn="1"/>
        </p:nvSpPr>
        <p:spPr>
          <a:xfrm>
            <a:off x="2152487" y="1924996"/>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p:cNvSpPr/>
          <p:nvPr userDrawn="1"/>
        </p:nvSpPr>
        <p:spPr>
          <a:xfrm>
            <a:off x="844996" y="3255023"/>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2953096"/>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3896183"/>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003998"/>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111232"/>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025081"/>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401118"/>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33" name="标题占位符 1"/>
          <p:cNvSpPr txBox="1">
            <a:spLocks noChangeArrowheads="1"/>
          </p:cNvSpPr>
          <p:nvPr userDrawn="1"/>
        </p:nvSpPr>
        <p:spPr bwMode="auto">
          <a:xfrm>
            <a:off x="1938193" y="254311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329809"/>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1002232"/>
            <a:ext cx="1069880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24204"/>
            <a:ext cx="10698800" cy="386122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590102"/>
            <a:ext cx="10749598" cy="385054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119"/>
            <a:ext cx="1074959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03185"/>
            <a:ext cx="10719120" cy="3819718"/>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233"/>
            <a:ext cx="1071911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48056"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628517"/>
            <a:ext cx="10748057" cy="3922461"/>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1612212"/>
            <a:ext cx="9845675" cy="4547802"/>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1000749"/>
            <a:ext cx="9845675"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1002232"/>
            <a:ext cx="10719119"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1598036"/>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3"/>
            <a:ext cx="10748057"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1618707"/>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44805"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p:cNvGrpSpPr/>
          <p:nvPr userDrawn="1"/>
        </p:nvGrpSpPr>
        <p:grpSpPr>
          <a:xfrm>
            <a:off x="806306" y="105625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3440"/>
            <a:ext cx="9214230" cy="517190"/>
          </a:xfrm>
          <a:prstGeom prst="rect">
            <a:avLst/>
          </a:prstGeom>
        </p:spPr>
        <p:txBody>
          <a:bodyPr anchor="ctr" anchorCtr="0"/>
          <a:lstStyle>
            <a:lvl1pPr marL="0" indent="0">
              <a:buNone/>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lvl="0">
              <a:spcBef>
                <a:spcPct val="0"/>
              </a:spcBef>
            </a:pPr>
            <a:r>
              <a:rPr lang="zh-CN" altLang="en-US" dirty="0"/>
              <a:t>案例标题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743280"/>
            <a:ext cx="9214230" cy="3762373"/>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6948"/>
            <a:ext cx="201682" cy="201682"/>
          </a:xfrm>
          <a:prstGeom prst="rect">
            <a:avLst/>
          </a:prstGeom>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grpSp>
        <p:nvGrpSpPr>
          <p:cNvPr id="6" name="组合 5"/>
          <p:cNvGrpSpPr/>
          <p:nvPr userDrawn="1"/>
        </p:nvGrpSpPr>
        <p:grpSpPr>
          <a:xfrm>
            <a:off x="806306" y="1060146"/>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步骤</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7332"/>
            <a:ext cx="921423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marL="0" lvl="0" indent="0">
              <a:spcBef>
                <a:spcPct val="0"/>
              </a:spcBef>
              <a:buNone/>
            </a:pPr>
            <a:r>
              <a:rPr lang="zh-CN" altLang="en-US" dirty="0"/>
              <a:t>步骤标题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747172"/>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50840"/>
            <a:ext cx="201682" cy="201682"/>
          </a:xfrm>
          <a:prstGeom prst="rect">
            <a:avLst/>
          </a:prstGeom>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p:cNvGrpSpPr/>
          <p:nvPr userDrawn="1"/>
        </p:nvGrpSpPr>
        <p:grpSpPr>
          <a:xfrm>
            <a:off x="806306" y="1054782"/>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1968"/>
            <a:ext cx="9214230" cy="517190"/>
          </a:xfrm>
          <a:prstGeom prst="rect">
            <a:avLst/>
          </a:prstGeom>
        </p:spPr>
        <p:txBody>
          <a:bodyPr anchor="ctr" anchorCtr="0"/>
          <a:lstStyle>
            <a:lvl1pPr>
              <a:defRPr lang="zh-CN" altLang="en-US" sz="2000" b="0" i="0" dirty="0">
                <a:solidFill>
                  <a:srgbClr val="AD2A26"/>
                </a:solidFill>
                <a:latin typeface="Alibaba PuHuiTi Medium" pitchFamily="18" charset="-122"/>
                <a:ea typeface="Alibaba PuHuiTi Medium" pitchFamily="18" charset="-122"/>
                <a:cs typeface="Alibaba PuHuiTi Medium" pitchFamily="18" charset="-122"/>
              </a:defRPr>
            </a:lvl1pPr>
          </a:lstStyle>
          <a:p>
            <a:pPr marL="0" lvl="0" indent="0">
              <a:spcBef>
                <a:spcPct val="0"/>
              </a:spcBef>
              <a:buNone/>
            </a:pPr>
            <a:r>
              <a:rPr lang="zh-CN" altLang="en-US" dirty="0"/>
              <a:t>练习标题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741808"/>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5476"/>
            <a:ext cx="201682" cy="201682"/>
          </a:xfrm>
          <a:prstGeom prst="rect">
            <a:avLst/>
          </a:prstGeom>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5069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5274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8826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4" name="六边形 23"/>
          <p:cNvSpPr/>
          <p:nvPr userDrawn="1"/>
        </p:nvSpPr>
        <p:spPr>
          <a:xfrm rot="5400000">
            <a:off x="3294074" y="21491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1264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3852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7150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81309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1013943" y="3138371"/>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p:cNvSpPr/>
          <p:nvPr userDrawn="1"/>
        </p:nvSpPr>
        <p:spPr>
          <a:xfrm>
            <a:off x="1645363" y="2308178"/>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p:cNvSpPr txBox="1">
            <a:spLocks noChangeArrowheads="1"/>
          </p:cNvSpPr>
          <p:nvPr userDrawn="1"/>
        </p:nvSpPr>
        <p:spPr bwMode="auto">
          <a:xfrm>
            <a:off x="1938193" y="255362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思路</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泪珠形 22"/>
          <p:cNvSpPr/>
          <p:nvPr userDrawn="1"/>
        </p:nvSpPr>
        <p:spPr>
          <a:xfrm>
            <a:off x="3663313" y="3963112"/>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p:cNvSpPr/>
          <p:nvPr userDrawn="1"/>
        </p:nvSpPr>
        <p:spPr>
          <a:xfrm>
            <a:off x="2152487" y="1924996"/>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p:cNvSpPr/>
          <p:nvPr userDrawn="1"/>
        </p:nvSpPr>
        <p:spPr>
          <a:xfrm>
            <a:off x="844996" y="3255023"/>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2953096"/>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3896183"/>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003998"/>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111232"/>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025081"/>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401118"/>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33" name="标题占位符 1"/>
          <p:cNvSpPr txBox="1">
            <a:spLocks noChangeArrowheads="1"/>
          </p:cNvSpPr>
          <p:nvPr userDrawn="1"/>
        </p:nvSpPr>
        <p:spPr bwMode="auto">
          <a:xfrm>
            <a:off x="1938193" y="254311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329809"/>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4" Type="http://schemas.openxmlformats.org/officeDocument/2006/relationships/theme" Target="../theme/theme3.xml"/><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slideLayout" Target="../slideLayouts/slideLayout13.xml"/><Relationship Id="rId7" Type="http://schemas.openxmlformats.org/officeDocument/2006/relationships/slideLayout" Target="../slideLayouts/slideLayout12.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3" Type="http://schemas.openxmlformats.org/officeDocument/2006/relationships/slideLayout" Target="../slideLayouts/slideLayout8.xml"/><Relationship Id="rId2" Type="http://schemas.openxmlformats.org/officeDocument/2006/relationships/slideLayout" Target="../slideLayouts/slideLayout7.xml"/><Relationship Id="rId18" Type="http://schemas.openxmlformats.org/officeDocument/2006/relationships/theme" Target="../theme/theme6.xml"/><Relationship Id="rId17" Type="http://schemas.openxmlformats.org/officeDocument/2006/relationships/image" Target="../media/image7.svg"/><Relationship Id="rId16" Type="http://schemas.openxmlformats.org/officeDocument/2006/relationships/image" Target="../media/image6.png"/><Relationship Id="rId15" Type="http://schemas.openxmlformats.org/officeDocument/2006/relationships/slideLayout" Target="../slideLayouts/slideLayout20.xml"/><Relationship Id="rId14" Type="http://schemas.openxmlformats.org/officeDocument/2006/relationships/slideLayout" Target="../slideLayouts/slideLayout19.xml"/><Relationship Id="rId13" Type="http://schemas.openxmlformats.org/officeDocument/2006/relationships/slideLayout" Target="../slideLayouts/slideLayout18.xml"/><Relationship Id="rId12" Type="http://schemas.openxmlformats.org/officeDocument/2006/relationships/slideLayout" Target="../slideLayouts/slideLayout17.xml"/><Relationship Id="rId11" Type="http://schemas.openxmlformats.org/officeDocument/2006/relationships/slideLayout" Target="../slideLayouts/slideLayout16.xml"/><Relationship Id="rId10" Type="http://schemas.openxmlformats.org/officeDocument/2006/relationships/slideLayout" Target="../slideLayouts/slideLayout15.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image" Target="../media/image8.png"/><Relationship Id="rId1" Type="http://schemas.openxmlformats.org/officeDocument/2006/relationships/slideLayout" Target="../slideLayouts/slideLayout21.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30.xml"/><Relationship Id="rId8" Type="http://schemas.openxmlformats.org/officeDocument/2006/relationships/slideLayout" Target="../slideLayouts/slideLayout29.xml"/><Relationship Id="rId7" Type="http://schemas.openxmlformats.org/officeDocument/2006/relationships/slideLayout" Target="../slideLayouts/slideLayout28.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 Id="rId3" Type="http://schemas.openxmlformats.org/officeDocument/2006/relationships/slideLayout" Target="../slideLayouts/slideLayout24.xml"/><Relationship Id="rId2" Type="http://schemas.openxmlformats.org/officeDocument/2006/relationships/slideLayout" Target="../slideLayouts/slideLayout23.xml"/><Relationship Id="rId18" Type="http://schemas.openxmlformats.org/officeDocument/2006/relationships/theme" Target="../theme/theme8.xml"/><Relationship Id="rId17" Type="http://schemas.openxmlformats.org/officeDocument/2006/relationships/image" Target="../media/image7.svg"/><Relationship Id="rId16" Type="http://schemas.openxmlformats.org/officeDocument/2006/relationships/image" Target="../media/image6.png"/><Relationship Id="rId15" Type="http://schemas.openxmlformats.org/officeDocument/2006/relationships/slideLayout" Target="../slideLayouts/slideLayout36.xml"/><Relationship Id="rId14" Type="http://schemas.openxmlformats.org/officeDocument/2006/relationships/slideLayout" Target="../slideLayouts/slideLayout35.xml"/><Relationship Id="rId13" Type="http://schemas.openxmlformats.org/officeDocument/2006/relationships/slideLayout" Target="../slideLayouts/slideLayout34.xml"/><Relationship Id="rId12" Type="http://schemas.openxmlformats.org/officeDocument/2006/relationships/slideLayout" Target="../slideLayouts/slideLayout33.xml"/><Relationship Id="rId11" Type="http://schemas.openxmlformats.org/officeDocument/2006/relationships/slideLayout" Target="../slideLayouts/slideLayout32.xml"/><Relationship Id="rId10" Type="http://schemas.openxmlformats.org/officeDocument/2006/relationships/slideLayout" Target="../slideLayouts/slideLayout31.xml"/><Relationship Id="rId1" Type="http://schemas.openxmlformats.org/officeDocument/2006/relationships/slideLayout" Target="../slideLayouts/slideLayout22.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45.xml"/><Relationship Id="rId8" Type="http://schemas.openxmlformats.org/officeDocument/2006/relationships/slideLayout" Target="../slideLayouts/slideLayout44.xml"/><Relationship Id="rId7" Type="http://schemas.openxmlformats.org/officeDocument/2006/relationships/slideLayout" Target="../slideLayouts/slideLayout43.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 Id="rId3" Type="http://schemas.openxmlformats.org/officeDocument/2006/relationships/slideLayout" Target="../slideLayouts/slideLayout39.xml"/><Relationship Id="rId2" Type="http://schemas.openxmlformats.org/officeDocument/2006/relationships/slideLayout" Target="../slideLayouts/slideLayout38.xml"/><Relationship Id="rId18" Type="http://schemas.openxmlformats.org/officeDocument/2006/relationships/theme" Target="../theme/theme9.xml"/><Relationship Id="rId17" Type="http://schemas.openxmlformats.org/officeDocument/2006/relationships/image" Target="../media/image7.svg"/><Relationship Id="rId16" Type="http://schemas.openxmlformats.org/officeDocument/2006/relationships/image" Target="../media/image6.png"/><Relationship Id="rId15" Type="http://schemas.openxmlformats.org/officeDocument/2006/relationships/slideLayout" Target="../slideLayouts/slideLayout51.xml"/><Relationship Id="rId14" Type="http://schemas.openxmlformats.org/officeDocument/2006/relationships/slideLayout" Target="../slideLayouts/slideLayout50.xml"/><Relationship Id="rId13" Type="http://schemas.openxmlformats.org/officeDocument/2006/relationships/slideLayout" Target="../slideLayouts/slideLayout49.xml"/><Relationship Id="rId12" Type="http://schemas.openxmlformats.org/officeDocument/2006/relationships/slideLayout" Target="../slideLayouts/slideLayout48.xml"/><Relationship Id="rId11" Type="http://schemas.openxmlformats.org/officeDocument/2006/relationships/slideLayout" Target="../slideLayouts/slideLayout47.xml"/><Relationship Id="rId10" Type="http://schemas.openxmlformats.org/officeDocument/2006/relationships/slideLayout" Target="../slideLayouts/slideLayout46.xml"/><Relationship Id="rId1" Type="http://schemas.openxmlformats.org/officeDocument/2006/relationships/slideLayout" Target="../slideLayouts/slideLayout37.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60.xml"/><Relationship Id="rId8" Type="http://schemas.openxmlformats.org/officeDocument/2006/relationships/slideLayout" Target="../slideLayouts/slideLayout59.xml"/><Relationship Id="rId7" Type="http://schemas.openxmlformats.org/officeDocument/2006/relationships/slideLayout" Target="../slideLayouts/slideLayout58.xml"/><Relationship Id="rId6" Type="http://schemas.openxmlformats.org/officeDocument/2006/relationships/slideLayout" Target="../slideLayouts/slideLayout57.xml"/><Relationship Id="rId5" Type="http://schemas.openxmlformats.org/officeDocument/2006/relationships/slideLayout" Target="../slideLayouts/slideLayout56.xml"/><Relationship Id="rId4" Type="http://schemas.openxmlformats.org/officeDocument/2006/relationships/slideLayout" Target="../slideLayouts/slideLayout55.xml"/><Relationship Id="rId3" Type="http://schemas.openxmlformats.org/officeDocument/2006/relationships/slideLayout" Target="../slideLayouts/slideLayout54.xml"/><Relationship Id="rId2" Type="http://schemas.openxmlformats.org/officeDocument/2006/relationships/slideLayout" Target="../slideLayouts/slideLayout53.xml"/><Relationship Id="rId18" Type="http://schemas.openxmlformats.org/officeDocument/2006/relationships/theme" Target="../theme/theme10.xml"/><Relationship Id="rId17" Type="http://schemas.openxmlformats.org/officeDocument/2006/relationships/image" Target="../media/image7.svg"/><Relationship Id="rId16" Type="http://schemas.openxmlformats.org/officeDocument/2006/relationships/image" Target="../media/image6.png"/><Relationship Id="rId15" Type="http://schemas.openxmlformats.org/officeDocument/2006/relationships/slideLayout" Target="../slideLayouts/slideLayout66.xml"/><Relationship Id="rId14" Type="http://schemas.openxmlformats.org/officeDocument/2006/relationships/slideLayout" Target="../slideLayouts/slideLayout65.xml"/><Relationship Id="rId13" Type="http://schemas.openxmlformats.org/officeDocument/2006/relationships/slideLayout" Target="../slideLayouts/slideLayout64.xml"/><Relationship Id="rId12" Type="http://schemas.openxmlformats.org/officeDocument/2006/relationships/slideLayout" Target="../slideLayouts/slideLayout63.xml"/><Relationship Id="rId11" Type="http://schemas.openxmlformats.org/officeDocument/2006/relationships/slideLayout" Target="../slideLayouts/slideLayout62.xml"/><Relationship Id="rId10" Type="http://schemas.openxmlformats.org/officeDocument/2006/relationships/slideLayout" Target="../slideLayouts/slideLayout61.xml"/><Relationship Id="rId1"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 name="六边形 29"/>
          <p:cNvSpPr/>
          <p:nvPr userDrawn="1"/>
        </p:nvSpPr>
        <p:spPr>
          <a:xfrm rot="5400000">
            <a:off x="8672366" y="-244234"/>
            <a:ext cx="1034350" cy="1136649"/>
          </a:xfrm>
          <a:custGeom>
            <a:avLst/>
            <a:gdLst>
              <a:gd name="connsiteX0" fmla="*/ 0 w 1318512"/>
              <a:gd name="connsiteY0" fmla="*/ 568325 h 1136649"/>
              <a:gd name="connsiteX1" fmla="*/ 284162 w 1318512"/>
              <a:gd name="connsiteY1" fmla="*/ 0 h 1136649"/>
              <a:gd name="connsiteX2" fmla="*/ 1034350 w 1318512"/>
              <a:gd name="connsiteY2" fmla="*/ 0 h 1136649"/>
              <a:gd name="connsiteX3" fmla="*/ 1318512 w 1318512"/>
              <a:gd name="connsiteY3" fmla="*/ 568325 h 1136649"/>
              <a:gd name="connsiteX4" fmla="*/ 1034350 w 1318512"/>
              <a:gd name="connsiteY4" fmla="*/ 1136649 h 1136649"/>
              <a:gd name="connsiteX5" fmla="*/ 284162 w 1318512"/>
              <a:gd name="connsiteY5" fmla="*/ 1136649 h 1136649"/>
              <a:gd name="connsiteX6" fmla="*/ 0 w 1318512"/>
              <a:gd name="connsiteY6" fmla="*/ 568325 h 1136649"/>
              <a:gd name="connsiteX0-1" fmla="*/ 0 w 1034350"/>
              <a:gd name="connsiteY0-2" fmla="*/ 1136649 h 1136649"/>
              <a:gd name="connsiteX1-3" fmla="*/ 0 w 1034350"/>
              <a:gd name="connsiteY1-4" fmla="*/ 0 h 1136649"/>
              <a:gd name="connsiteX2-5" fmla="*/ 750188 w 1034350"/>
              <a:gd name="connsiteY2-6" fmla="*/ 0 h 1136649"/>
              <a:gd name="connsiteX3-7" fmla="*/ 1034350 w 1034350"/>
              <a:gd name="connsiteY3-8" fmla="*/ 568325 h 1136649"/>
              <a:gd name="connsiteX4-9" fmla="*/ 750188 w 1034350"/>
              <a:gd name="connsiteY4-10" fmla="*/ 1136649 h 1136649"/>
              <a:gd name="connsiteX5-11" fmla="*/ 0 w 1034350"/>
              <a:gd name="connsiteY5-12" fmla="*/ 1136649 h 113664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4350" h="1136649">
                <a:moveTo>
                  <a:pt x="0" y="1136649"/>
                </a:moveTo>
                <a:lnTo>
                  <a:pt x="0" y="0"/>
                </a:lnTo>
                <a:lnTo>
                  <a:pt x="750188" y="0"/>
                </a:lnTo>
                <a:lnTo>
                  <a:pt x="1034350" y="568325"/>
                </a:lnTo>
                <a:lnTo>
                  <a:pt x="750188" y="1136649"/>
                </a:lnTo>
                <a:lnTo>
                  <a:pt x="0" y="1136649"/>
                </a:lnTo>
                <a:close/>
              </a:path>
            </a:pathLst>
          </a:cu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六边形 30"/>
          <p:cNvSpPr/>
          <p:nvPr userDrawn="1"/>
        </p:nvSpPr>
        <p:spPr>
          <a:xfrm rot="5400000">
            <a:off x="9521078" y="753888"/>
            <a:ext cx="523072" cy="450925"/>
          </a:xfrm>
          <a:prstGeom prst="hexagon">
            <a:avLst/>
          </a:prstGeom>
          <a:solidFill>
            <a:srgbClr val="49504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六边形 31"/>
          <p:cNvSpPr/>
          <p:nvPr userDrawn="1"/>
        </p:nvSpPr>
        <p:spPr>
          <a:xfrm rot="5400000">
            <a:off x="8027944" y="996957"/>
            <a:ext cx="523072" cy="450925"/>
          </a:xfrm>
          <a:prstGeom prst="hexagon">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六边形 32"/>
          <p:cNvSpPr/>
          <p:nvPr userDrawn="1"/>
        </p:nvSpPr>
        <p:spPr>
          <a:xfrm rot="5400000">
            <a:off x="10287577" y="140894"/>
            <a:ext cx="196767" cy="169627"/>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六边形 33"/>
          <p:cNvSpPr/>
          <p:nvPr userDrawn="1"/>
        </p:nvSpPr>
        <p:spPr>
          <a:xfrm rot="5400000">
            <a:off x="3684719" y="893697"/>
            <a:ext cx="886529" cy="76425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六边形 34"/>
          <p:cNvSpPr/>
          <p:nvPr userDrawn="1"/>
        </p:nvSpPr>
        <p:spPr>
          <a:xfrm rot="5400000">
            <a:off x="11266257" y="1225116"/>
            <a:ext cx="206955" cy="17841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六边形 35"/>
          <p:cNvSpPr/>
          <p:nvPr userDrawn="1"/>
        </p:nvSpPr>
        <p:spPr>
          <a:xfrm rot="5400000">
            <a:off x="918490" y="676500"/>
            <a:ext cx="206955" cy="178410"/>
          </a:xfrm>
          <a:prstGeom prst="hexagon">
            <a:avLst/>
          </a:prstGeom>
          <a:solidFill>
            <a:srgbClr val="AD2B2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六边形 36"/>
          <p:cNvSpPr/>
          <p:nvPr userDrawn="1"/>
        </p:nvSpPr>
        <p:spPr>
          <a:xfrm rot="5400000">
            <a:off x="4564916" y="775592"/>
            <a:ext cx="369001" cy="318105"/>
          </a:xfrm>
          <a:prstGeom prst="hexagon">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 name="直线连接符 2"/>
          <p:cNvCxnSpPr/>
          <p:nvPr userDrawn="1"/>
        </p:nvCxnSpPr>
        <p:spPr>
          <a:xfrm>
            <a:off x="9997213" y="1131213"/>
            <a:ext cx="647089" cy="3966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符 40"/>
          <p:cNvCxnSpPr/>
          <p:nvPr userDrawn="1"/>
        </p:nvCxnSpPr>
        <p:spPr>
          <a:xfrm>
            <a:off x="3898416" y="466240"/>
            <a:ext cx="691948" cy="3663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13018" y="5296483"/>
            <a:ext cx="3565964" cy="58207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grpSp>
        <p:nvGrpSpPr>
          <p:cNvPr id="5" name="组合 4"/>
          <p:cNvGrpSpPr/>
          <p:nvPr userDrawn="1"/>
        </p:nvGrpSpPr>
        <p:grpSpPr>
          <a:xfrm>
            <a:off x="2126595" y="2260317"/>
            <a:ext cx="2280944" cy="1168683"/>
            <a:chOff x="1984355" y="1223746"/>
            <a:chExt cx="2280944" cy="1168683"/>
          </a:xfrm>
        </p:grpSpPr>
        <p:sp>
          <p:nvSpPr>
            <p:cNvPr id="20" name="文本框 19"/>
            <p:cNvSpPr txBox="1"/>
            <p:nvPr/>
          </p:nvSpPr>
          <p:spPr>
            <a:xfrm>
              <a:off x="2549296" y="1223746"/>
              <a:ext cx="1245854"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目录</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1984355" y="1869209"/>
              <a:ext cx="1833941" cy="523220"/>
            </a:xfrm>
            <a:prstGeom prst="rect">
              <a:avLst/>
            </a:prstGeom>
            <a:noFill/>
            <a:ln>
              <a:noFill/>
            </a:ln>
          </p:spPr>
          <p:txBody>
            <a:bodyPr wrap="square" rtlCol="0">
              <a:spAutoFit/>
            </a:bodyPr>
            <a:lstStyle/>
            <a:p>
              <a:pPr algn="ctr"/>
              <a:r>
                <a:rPr lang="en-US" altLang="zh-CN" sz="28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8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5" name="六边形 24"/>
            <p:cNvSpPr/>
            <p:nvPr/>
          </p:nvSpPr>
          <p:spPr>
            <a:xfrm rot="5400000">
              <a:off x="2142134" y="1404577"/>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六边形 25"/>
            <p:cNvSpPr/>
            <p:nvPr/>
          </p:nvSpPr>
          <p:spPr>
            <a:xfrm rot="5400000">
              <a:off x="2037082" y="1610051"/>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 bg1="lt1" tx1="dk1" bg2="lt2" tx2="dk2" accent1="accent1" accent2="accent2" accent3="accent3" accent4="accent4" accent5="accent5" accent6="accent6" hlink="hlink" folHlink="folHlink"/>
  <p:sldLayoutIdLst>
    <p:sldLayoutId id="2147483651"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9" name="图形 8"/>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653" r:id="rId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Alibaba PuHuiTi R" pitchFamily="18" charset="-122"/>
          <a:ea typeface="Alibaba PuHuiTi R" pitchFamily="18" charset="-122"/>
          <a:cs typeface="Alibaba PuHuiTi R"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矩形 18"/>
          <p:cNvSpPr/>
          <p:nvPr userDrawn="1"/>
        </p:nvSpPr>
        <p:spPr>
          <a:xfrm>
            <a:off x="4504267" y="260138"/>
            <a:ext cx="7687727" cy="430887"/>
          </a:xfrm>
          <a:prstGeom prst="rect">
            <a:avLst/>
          </a:prstGeom>
        </p:spPr>
        <p:txBody>
          <a:bodyPr wrap="square">
            <a:spAutoFit/>
          </a:bodyPr>
          <a:lstStyle/>
          <a:p>
            <a:r>
              <a:rPr lang="zh-CN" altLang="en-US" sz="2100" dirty="0">
                <a:solidFill>
                  <a:srgbClr val="49504F"/>
                </a:solidFill>
                <a:latin typeface="华文楷体" panose="02010600040101010101" pitchFamily="2" charset="-122"/>
                <a:ea typeface="华文楷体" panose="02010600040101010101" pitchFamily="2" charset="-122"/>
                <a:cs typeface="Alibaba PuHuiTi" pitchFamily="18" charset="-122"/>
              </a:rPr>
              <a:t>多一句没有，少一句不行，用更短时间，教会更实用的技术！</a:t>
            </a:r>
            <a:endParaRPr lang="zh-CN" altLang="en-US" sz="2100" dirty="0">
              <a:solidFill>
                <a:srgbClr val="49504F"/>
              </a:solidFill>
              <a:latin typeface="华文楷体" panose="02010600040101010101" pitchFamily="2" charset="-122"/>
              <a:ea typeface="华文楷体" panose="02010600040101010101" pitchFamily="2" charset="-122"/>
              <a:cs typeface="Alibaba PuHuiTi" pitchFamily="18" charset="-122"/>
            </a:endParaRPr>
          </a:p>
        </p:txBody>
      </p:sp>
      <p:sp>
        <p:nvSpPr>
          <p:cNvPr id="21" name="矩形 20"/>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p:cNvSpPr/>
          <p:nvPr userDrawn="1"/>
        </p:nvSpPr>
        <p:spPr>
          <a:xfrm>
            <a:off x="-52550" y="719892"/>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任意形状 24"/>
          <p:cNvSpPr/>
          <p:nvPr userDrawn="1"/>
        </p:nvSpPr>
        <p:spPr>
          <a:xfrm>
            <a:off x="96125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6" name="矩形 22"/>
          <p:cNvSpPr>
            <a:spLocks noChangeArrowheads="1"/>
          </p:cNvSpPr>
          <p:nvPr userDrawn="1"/>
        </p:nvSpPr>
        <p:spPr bwMode="auto">
          <a:xfrm>
            <a:off x="-10583" y="6779344"/>
            <a:ext cx="10057936" cy="110793"/>
          </a:xfrm>
          <a:prstGeom prst="rect">
            <a:avLst/>
          </a:prstGeom>
          <a:solidFill>
            <a:srgbClr val="49504F"/>
          </a:solidFill>
          <a:ln w="9525" cap="flat" cmpd="sng" algn="ctr">
            <a:solidFill>
              <a:schemeClr val="bg1"/>
            </a:solidFill>
            <a:prstDash val="solid"/>
            <a:round/>
            <a:headEnd type="none" w="med" len="med"/>
            <a:tailEnd type="none" w="med" len="med"/>
          </a:ln>
          <a:effec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400" dirty="0">
              <a:latin typeface="Segoe UI" panose="020B0502040204020203" pitchFamily="34" charset="0"/>
              <a:ea typeface="微软雅黑" panose="020B0503020204020204" pitchFamily="34" charset="-122"/>
            </a:endParaRPr>
          </a:p>
        </p:txBody>
      </p:sp>
      <p:sp>
        <p:nvSpPr>
          <p:cNvPr id="27" name="矩形 14"/>
          <p:cNvSpPr/>
          <p:nvPr userDrawn="1"/>
        </p:nvSpPr>
        <p:spPr bwMode="auto">
          <a:xfrm>
            <a:off x="9813037" y="6582369"/>
            <a:ext cx="2378963" cy="307767"/>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8" name="矩形 27"/>
          <p:cNvSpPr/>
          <p:nvPr userDrawn="1"/>
        </p:nvSpPr>
        <p:spPr>
          <a:xfrm>
            <a:off x="9950236" y="6535935"/>
            <a:ext cx="2241763" cy="338554"/>
          </a:xfrm>
          <a:prstGeom prst="rect">
            <a:avLst/>
          </a:prstGeom>
        </p:spPr>
        <p:txBody>
          <a:bodyPr wrap="square">
            <a:spAutoFit/>
          </a:bodyPr>
          <a:lstStyle/>
          <a:p>
            <a:r>
              <a:rPr lang="zh-CN" altLang="en-US" sz="1600" dirty="0">
                <a:solidFill>
                  <a:schemeClr val="bg1"/>
                </a:solidFill>
                <a:latin typeface="华文楷体" panose="02010600040101010101" pitchFamily="2" charset="-122"/>
                <a:ea typeface="华文楷体" panose="02010600040101010101" pitchFamily="2" charset="-122"/>
                <a:cs typeface="Alibaba PuHuiTi" pitchFamily="18" charset="-122"/>
              </a:rPr>
              <a:t>高级软件人才培训专家</a:t>
            </a:r>
            <a:endParaRPr lang="zh-CN" altLang="en-US" sz="1600" dirty="0">
              <a:solidFill>
                <a:schemeClr val="bg1"/>
              </a:solidFill>
              <a:latin typeface="华文楷体" panose="02010600040101010101" pitchFamily="2" charset="-122"/>
              <a:ea typeface="华文楷体" panose="02010600040101010101" pitchFamily="2" charset="-122"/>
              <a:cs typeface="Alibaba PuHuiTi" pitchFamily="18" charset="-122"/>
            </a:endParaRPr>
          </a:p>
        </p:txBody>
      </p:sp>
      <p:pic>
        <p:nvPicPr>
          <p:cNvPr id="12" name="图形 11"/>
          <p:cNvPicPr>
            <a:picLocks noChangeAspect="1"/>
          </p:cNvPicPr>
          <p:nvPr userDrawn="1"/>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9871" y="-85784"/>
            <a:ext cx="2666725" cy="1174541"/>
          </a:xfrm>
          <a:prstGeom prst="rect">
            <a:avLst/>
          </a:prstGeom>
        </p:spPr>
      </p:pic>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11989" y="2322246"/>
            <a:ext cx="3168023" cy="1308460"/>
          </a:xfrm>
          <a:prstGeom prst="rect">
            <a:avLst/>
          </a:prstGeom>
        </p:spPr>
      </p:pic>
    </p:spTree>
  </p:cSld>
  <p:clrMap bg1="lt1" tx1="dk1" bg2="lt2" tx2="dk2" accent1="accent1" accent2="accent2" accent3="accent3" accent4="accent4" accent5="accent5" accent6="accent6" hlink="hlink" folHlink="folHlink"/>
  <p:sldLayoutIdLst>
    <p:sldLayoutId id="2147483675" r:id="rId1"/>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矩形 18"/>
          <p:cNvSpPr/>
          <p:nvPr userDrawn="1"/>
        </p:nvSpPr>
        <p:spPr>
          <a:xfrm>
            <a:off x="4504267" y="260138"/>
            <a:ext cx="7687727" cy="430887"/>
          </a:xfrm>
          <a:prstGeom prst="rect">
            <a:avLst/>
          </a:prstGeom>
        </p:spPr>
        <p:txBody>
          <a:bodyPr wrap="square">
            <a:spAutoFit/>
          </a:bodyPr>
          <a:lstStyle/>
          <a:p>
            <a:r>
              <a:rPr lang="zh-CN" altLang="en-US" sz="2100" dirty="0">
                <a:solidFill>
                  <a:srgbClr val="49504F"/>
                </a:solidFill>
                <a:latin typeface="华文楷体" panose="02010600040101010101" pitchFamily="2" charset="-122"/>
                <a:ea typeface="华文楷体" panose="02010600040101010101" pitchFamily="2" charset="-122"/>
                <a:cs typeface="Alibaba PuHuiTi" pitchFamily="18" charset="-122"/>
              </a:rPr>
              <a:t>多一句没有，少一句不行，用更短时间，教会更实用的技术！</a:t>
            </a:r>
            <a:endParaRPr lang="zh-CN" altLang="en-US" sz="2100" dirty="0">
              <a:solidFill>
                <a:srgbClr val="49504F"/>
              </a:solidFill>
              <a:latin typeface="华文楷体" panose="02010600040101010101" pitchFamily="2" charset="-122"/>
              <a:ea typeface="华文楷体" panose="02010600040101010101" pitchFamily="2" charset="-122"/>
              <a:cs typeface="Alibaba PuHuiTi" pitchFamily="18" charset="-122"/>
            </a:endParaRPr>
          </a:p>
        </p:txBody>
      </p:sp>
      <p:sp>
        <p:nvSpPr>
          <p:cNvPr id="21" name="矩形 20"/>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p:cNvSpPr/>
          <p:nvPr userDrawn="1"/>
        </p:nvSpPr>
        <p:spPr>
          <a:xfrm>
            <a:off x="-52550" y="719892"/>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任意形状 24"/>
          <p:cNvSpPr/>
          <p:nvPr userDrawn="1"/>
        </p:nvSpPr>
        <p:spPr>
          <a:xfrm>
            <a:off x="96125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6" name="矩形 22"/>
          <p:cNvSpPr>
            <a:spLocks noChangeArrowheads="1"/>
          </p:cNvSpPr>
          <p:nvPr userDrawn="1"/>
        </p:nvSpPr>
        <p:spPr bwMode="auto">
          <a:xfrm>
            <a:off x="-10583" y="6779344"/>
            <a:ext cx="10057936" cy="110793"/>
          </a:xfrm>
          <a:prstGeom prst="rect">
            <a:avLst/>
          </a:prstGeom>
          <a:solidFill>
            <a:srgbClr val="49504F"/>
          </a:solidFill>
          <a:ln w="9525" cap="flat" cmpd="sng" algn="ctr">
            <a:solidFill>
              <a:schemeClr val="bg1"/>
            </a:solidFill>
            <a:prstDash val="solid"/>
            <a:round/>
            <a:headEnd type="none" w="med" len="med"/>
            <a:tailEnd type="none" w="med" len="med"/>
          </a:ln>
          <a:effec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400" dirty="0">
              <a:latin typeface="Segoe UI" panose="020B0502040204020203" pitchFamily="34" charset="0"/>
              <a:ea typeface="微软雅黑" panose="020B0503020204020204" pitchFamily="34" charset="-122"/>
            </a:endParaRPr>
          </a:p>
        </p:txBody>
      </p:sp>
      <p:sp>
        <p:nvSpPr>
          <p:cNvPr id="27" name="矩形 14"/>
          <p:cNvSpPr/>
          <p:nvPr userDrawn="1"/>
        </p:nvSpPr>
        <p:spPr bwMode="auto">
          <a:xfrm>
            <a:off x="9813037" y="6582369"/>
            <a:ext cx="2378963" cy="307767"/>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8" name="矩形 27"/>
          <p:cNvSpPr/>
          <p:nvPr userDrawn="1"/>
        </p:nvSpPr>
        <p:spPr>
          <a:xfrm>
            <a:off x="9950236" y="6535935"/>
            <a:ext cx="2241763" cy="338554"/>
          </a:xfrm>
          <a:prstGeom prst="rect">
            <a:avLst/>
          </a:prstGeom>
        </p:spPr>
        <p:txBody>
          <a:bodyPr wrap="square">
            <a:spAutoFit/>
          </a:bodyPr>
          <a:lstStyle/>
          <a:p>
            <a:r>
              <a:rPr lang="zh-CN" altLang="en-US" sz="1600" dirty="0">
                <a:solidFill>
                  <a:schemeClr val="bg1"/>
                </a:solidFill>
                <a:latin typeface="华文楷体" panose="02010600040101010101" pitchFamily="2" charset="-122"/>
                <a:ea typeface="华文楷体" panose="02010600040101010101" pitchFamily="2" charset="-122"/>
                <a:cs typeface="Alibaba PuHuiTi" pitchFamily="18" charset="-122"/>
              </a:rPr>
              <a:t>高级软件人才培训专家</a:t>
            </a:r>
            <a:endParaRPr lang="zh-CN" altLang="en-US" sz="1600" dirty="0">
              <a:solidFill>
                <a:schemeClr val="bg1"/>
              </a:solidFill>
              <a:latin typeface="华文楷体" panose="02010600040101010101" pitchFamily="2" charset="-122"/>
              <a:ea typeface="华文楷体" panose="02010600040101010101" pitchFamily="2" charset="-122"/>
              <a:cs typeface="Alibaba PuHuiTi" pitchFamily="18" charset="-122"/>
            </a:endParaRPr>
          </a:p>
        </p:txBody>
      </p:sp>
      <p:pic>
        <p:nvPicPr>
          <p:cNvPr id="12" name="图形 11"/>
          <p:cNvPicPr>
            <a:picLocks noChangeAspect="1"/>
          </p:cNvPicPr>
          <p:nvPr userDrawn="1"/>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9871" y="-85784"/>
            <a:ext cx="2666725" cy="1174541"/>
          </a:xfrm>
          <a:prstGeom prst="rect">
            <a:avLst/>
          </a:prstGeom>
        </p:spPr>
      </p:pic>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矩形 18"/>
          <p:cNvSpPr/>
          <p:nvPr userDrawn="1"/>
        </p:nvSpPr>
        <p:spPr>
          <a:xfrm>
            <a:off x="4504267" y="260138"/>
            <a:ext cx="7687727" cy="430887"/>
          </a:xfrm>
          <a:prstGeom prst="rect">
            <a:avLst/>
          </a:prstGeom>
        </p:spPr>
        <p:txBody>
          <a:bodyPr wrap="square">
            <a:spAutoFit/>
          </a:bodyPr>
          <a:lstStyle/>
          <a:p>
            <a:r>
              <a:rPr lang="zh-CN" altLang="en-US" sz="2100" dirty="0">
                <a:solidFill>
                  <a:srgbClr val="49504F"/>
                </a:solidFill>
                <a:latin typeface="华文楷体" panose="02010600040101010101" pitchFamily="2" charset="-122"/>
                <a:ea typeface="华文楷体" panose="02010600040101010101" pitchFamily="2" charset="-122"/>
                <a:cs typeface="Alibaba PuHuiTi" pitchFamily="18" charset="-122"/>
              </a:rPr>
              <a:t>多一句没有，少一句不行，用更短时间，教会更实用的技术！</a:t>
            </a:r>
            <a:endParaRPr lang="zh-CN" altLang="en-US" sz="2100" dirty="0">
              <a:solidFill>
                <a:srgbClr val="49504F"/>
              </a:solidFill>
              <a:latin typeface="华文楷体" panose="02010600040101010101" pitchFamily="2" charset="-122"/>
              <a:ea typeface="华文楷体" panose="02010600040101010101" pitchFamily="2" charset="-122"/>
              <a:cs typeface="Alibaba PuHuiTi" pitchFamily="18" charset="-122"/>
            </a:endParaRPr>
          </a:p>
        </p:txBody>
      </p:sp>
      <p:sp>
        <p:nvSpPr>
          <p:cNvPr id="21" name="矩形 20"/>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p:cNvSpPr/>
          <p:nvPr userDrawn="1"/>
        </p:nvSpPr>
        <p:spPr>
          <a:xfrm>
            <a:off x="-52550" y="719892"/>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任意形状 24"/>
          <p:cNvSpPr/>
          <p:nvPr userDrawn="1"/>
        </p:nvSpPr>
        <p:spPr>
          <a:xfrm>
            <a:off x="96125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6" name="矩形 22"/>
          <p:cNvSpPr>
            <a:spLocks noChangeArrowheads="1"/>
          </p:cNvSpPr>
          <p:nvPr userDrawn="1"/>
        </p:nvSpPr>
        <p:spPr bwMode="auto">
          <a:xfrm>
            <a:off x="-10583" y="6779344"/>
            <a:ext cx="10057936" cy="110793"/>
          </a:xfrm>
          <a:prstGeom prst="rect">
            <a:avLst/>
          </a:prstGeom>
          <a:solidFill>
            <a:srgbClr val="49504F"/>
          </a:solidFill>
          <a:ln w="9525" cap="flat" cmpd="sng" algn="ctr">
            <a:solidFill>
              <a:schemeClr val="bg1"/>
            </a:solidFill>
            <a:prstDash val="solid"/>
            <a:round/>
            <a:headEnd type="none" w="med" len="med"/>
            <a:tailEnd type="none" w="med" len="med"/>
          </a:ln>
          <a:effec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400" dirty="0">
              <a:latin typeface="Segoe UI" panose="020B0502040204020203" pitchFamily="34" charset="0"/>
              <a:ea typeface="微软雅黑" panose="020B0503020204020204" pitchFamily="34" charset="-122"/>
            </a:endParaRPr>
          </a:p>
        </p:txBody>
      </p:sp>
      <p:sp>
        <p:nvSpPr>
          <p:cNvPr id="27" name="矩形 14"/>
          <p:cNvSpPr/>
          <p:nvPr userDrawn="1"/>
        </p:nvSpPr>
        <p:spPr bwMode="auto">
          <a:xfrm>
            <a:off x="9813037" y="6582369"/>
            <a:ext cx="2378963" cy="307767"/>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8" name="矩形 27"/>
          <p:cNvSpPr/>
          <p:nvPr userDrawn="1"/>
        </p:nvSpPr>
        <p:spPr>
          <a:xfrm>
            <a:off x="9950236" y="6535935"/>
            <a:ext cx="2241763" cy="338554"/>
          </a:xfrm>
          <a:prstGeom prst="rect">
            <a:avLst/>
          </a:prstGeom>
        </p:spPr>
        <p:txBody>
          <a:bodyPr wrap="square">
            <a:spAutoFit/>
          </a:bodyPr>
          <a:lstStyle/>
          <a:p>
            <a:r>
              <a:rPr lang="zh-CN" altLang="en-US" sz="1600" dirty="0">
                <a:solidFill>
                  <a:schemeClr val="bg1"/>
                </a:solidFill>
                <a:latin typeface="华文楷体" panose="02010600040101010101" pitchFamily="2" charset="-122"/>
                <a:ea typeface="华文楷体" panose="02010600040101010101" pitchFamily="2" charset="-122"/>
                <a:cs typeface="Alibaba PuHuiTi" pitchFamily="18" charset="-122"/>
              </a:rPr>
              <a:t>高级软件人才培训专家</a:t>
            </a:r>
            <a:endParaRPr lang="zh-CN" altLang="en-US" sz="1600" dirty="0">
              <a:solidFill>
                <a:schemeClr val="bg1"/>
              </a:solidFill>
              <a:latin typeface="华文楷体" panose="02010600040101010101" pitchFamily="2" charset="-122"/>
              <a:ea typeface="华文楷体" panose="02010600040101010101" pitchFamily="2" charset="-122"/>
              <a:cs typeface="Alibaba PuHuiTi" pitchFamily="18" charset="-122"/>
            </a:endParaRPr>
          </a:p>
        </p:txBody>
      </p:sp>
      <p:pic>
        <p:nvPicPr>
          <p:cNvPr id="12" name="图形 11"/>
          <p:cNvPicPr>
            <a:picLocks noChangeAspect="1"/>
          </p:cNvPicPr>
          <p:nvPr userDrawn="1"/>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9871" y="-85784"/>
            <a:ext cx="2666725" cy="1174541"/>
          </a:xfrm>
          <a:prstGeom prst="rect">
            <a:avLst/>
          </a:prstGeom>
        </p:spPr>
      </p:pic>
    </p:spTree>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矩形 18"/>
          <p:cNvSpPr/>
          <p:nvPr userDrawn="1"/>
        </p:nvSpPr>
        <p:spPr>
          <a:xfrm>
            <a:off x="4504267" y="260138"/>
            <a:ext cx="7687727" cy="430887"/>
          </a:xfrm>
          <a:prstGeom prst="rect">
            <a:avLst/>
          </a:prstGeom>
        </p:spPr>
        <p:txBody>
          <a:bodyPr wrap="square">
            <a:spAutoFit/>
          </a:bodyPr>
          <a:lstStyle/>
          <a:p>
            <a:r>
              <a:rPr lang="zh-CN" altLang="en-US" sz="2100" dirty="0">
                <a:solidFill>
                  <a:srgbClr val="49504F"/>
                </a:solidFill>
                <a:latin typeface="华文楷体" panose="02010600040101010101" pitchFamily="2" charset="-122"/>
                <a:ea typeface="华文楷体" panose="02010600040101010101" pitchFamily="2" charset="-122"/>
                <a:cs typeface="Alibaba PuHuiTi" pitchFamily="18" charset="-122"/>
              </a:rPr>
              <a:t>多一句没有，少一句不行，用更短时间，教会更实用的技术！</a:t>
            </a:r>
            <a:endParaRPr lang="zh-CN" altLang="en-US" sz="2100" dirty="0">
              <a:solidFill>
                <a:srgbClr val="49504F"/>
              </a:solidFill>
              <a:latin typeface="华文楷体" panose="02010600040101010101" pitchFamily="2" charset="-122"/>
              <a:ea typeface="华文楷体" panose="02010600040101010101" pitchFamily="2" charset="-122"/>
              <a:cs typeface="Alibaba PuHuiTi" pitchFamily="18" charset="-122"/>
            </a:endParaRPr>
          </a:p>
        </p:txBody>
      </p:sp>
      <p:sp>
        <p:nvSpPr>
          <p:cNvPr id="21" name="矩形 20"/>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p:cNvSpPr/>
          <p:nvPr userDrawn="1"/>
        </p:nvSpPr>
        <p:spPr>
          <a:xfrm>
            <a:off x="-52550" y="719892"/>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任意形状 24"/>
          <p:cNvSpPr/>
          <p:nvPr userDrawn="1"/>
        </p:nvSpPr>
        <p:spPr>
          <a:xfrm>
            <a:off x="96125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6" name="矩形 22"/>
          <p:cNvSpPr>
            <a:spLocks noChangeArrowheads="1"/>
          </p:cNvSpPr>
          <p:nvPr userDrawn="1"/>
        </p:nvSpPr>
        <p:spPr bwMode="auto">
          <a:xfrm>
            <a:off x="-10583" y="6779344"/>
            <a:ext cx="10057936" cy="110793"/>
          </a:xfrm>
          <a:prstGeom prst="rect">
            <a:avLst/>
          </a:prstGeom>
          <a:solidFill>
            <a:srgbClr val="49504F"/>
          </a:solidFill>
          <a:ln w="9525" cap="flat" cmpd="sng" algn="ctr">
            <a:solidFill>
              <a:schemeClr val="bg1"/>
            </a:solidFill>
            <a:prstDash val="solid"/>
            <a:round/>
            <a:headEnd type="none" w="med" len="med"/>
            <a:tailEnd type="none" w="med" len="med"/>
          </a:ln>
          <a:effec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400" dirty="0">
              <a:latin typeface="Segoe UI" panose="020B0502040204020203" pitchFamily="34" charset="0"/>
              <a:ea typeface="微软雅黑" panose="020B0503020204020204" pitchFamily="34" charset="-122"/>
            </a:endParaRPr>
          </a:p>
        </p:txBody>
      </p:sp>
      <p:sp>
        <p:nvSpPr>
          <p:cNvPr id="27" name="矩形 14"/>
          <p:cNvSpPr/>
          <p:nvPr userDrawn="1"/>
        </p:nvSpPr>
        <p:spPr bwMode="auto">
          <a:xfrm>
            <a:off x="9813037" y="6582369"/>
            <a:ext cx="2378963" cy="307767"/>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8" name="矩形 27"/>
          <p:cNvSpPr/>
          <p:nvPr userDrawn="1"/>
        </p:nvSpPr>
        <p:spPr>
          <a:xfrm>
            <a:off x="9950236" y="6535935"/>
            <a:ext cx="2241763" cy="338554"/>
          </a:xfrm>
          <a:prstGeom prst="rect">
            <a:avLst/>
          </a:prstGeom>
        </p:spPr>
        <p:txBody>
          <a:bodyPr wrap="square">
            <a:spAutoFit/>
          </a:bodyPr>
          <a:lstStyle/>
          <a:p>
            <a:r>
              <a:rPr lang="zh-CN" altLang="en-US" sz="1600" dirty="0">
                <a:solidFill>
                  <a:schemeClr val="bg1"/>
                </a:solidFill>
                <a:latin typeface="华文楷体" panose="02010600040101010101" pitchFamily="2" charset="-122"/>
                <a:ea typeface="华文楷体" panose="02010600040101010101" pitchFamily="2" charset="-122"/>
                <a:cs typeface="Alibaba PuHuiTi" pitchFamily="18" charset="-122"/>
              </a:rPr>
              <a:t>高级软件人才培训专家</a:t>
            </a:r>
            <a:endParaRPr lang="zh-CN" altLang="en-US" sz="1600" dirty="0">
              <a:solidFill>
                <a:schemeClr val="bg1"/>
              </a:solidFill>
              <a:latin typeface="华文楷体" panose="02010600040101010101" pitchFamily="2" charset="-122"/>
              <a:ea typeface="华文楷体" panose="02010600040101010101" pitchFamily="2" charset="-122"/>
              <a:cs typeface="Alibaba PuHuiTi" pitchFamily="18" charset="-122"/>
            </a:endParaRPr>
          </a:p>
        </p:txBody>
      </p:sp>
      <p:pic>
        <p:nvPicPr>
          <p:cNvPr id="12" name="图形 11"/>
          <p:cNvPicPr>
            <a:picLocks noChangeAspect="1"/>
          </p:cNvPicPr>
          <p:nvPr userDrawn="1"/>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9871" y="-85784"/>
            <a:ext cx="2666725" cy="1174541"/>
          </a:xfrm>
          <a:prstGeom prst="rect">
            <a:avLst/>
          </a:prstGeom>
        </p:spPr>
      </p:pic>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0.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4" Type="http://schemas.openxmlformats.org/officeDocument/2006/relationships/notesSlide" Target="../notesSlides/notesSlide2.xml"/><Relationship Id="rId13" Type="http://schemas.openxmlformats.org/officeDocument/2006/relationships/slideLayout" Target="../slideLayouts/slideLayout10.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0.xml"/><Relationship Id="rId2" Type="http://schemas.openxmlformats.org/officeDocument/2006/relationships/image" Target="../media/image13.png"/><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7.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4.xml"/><Relationship Id="rId2" Type="http://schemas.openxmlformats.org/officeDocument/2006/relationships/image" Target="../media/image15.png"/><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4.xml"/><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4.xml"/><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0.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0.xml"/><Relationship Id="rId1" Type="http://schemas.openxmlformats.org/officeDocument/2006/relationships/image" Target="../media/image20.GIF"/></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0.xml"/><Relationship Id="rId1"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0.xml"/><Relationship Id="rId1" Type="http://schemas.openxmlformats.org/officeDocument/2006/relationships/image" Target="../media/image22.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0.xml"/><Relationship Id="rId2" Type="http://schemas.openxmlformats.org/officeDocument/2006/relationships/image" Target="../media/image24.png"/><Relationship Id="rId1"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0.xml"/><Relationship Id="rId1" Type="http://schemas.openxmlformats.org/officeDocument/2006/relationships/image" Target="../media/image25.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0.xml"/><Relationship Id="rId2" Type="http://schemas.openxmlformats.org/officeDocument/2006/relationships/image" Target="../media/image27.png"/><Relationship Id="rId1"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0.xml"/><Relationship Id="rId1"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0.xml"/><Relationship Id="rId2" Type="http://schemas.openxmlformats.org/officeDocument/2006/relationships/image" Target="../media/image30.png"/><Relationship Id="rId1" Type="http://schemas.openxmlformats.org/officeDocument/2006/relationships/image" Target="../media/image29.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0.xml"/><Relationship Id="rId1" Type="http://schemas.openxmlformats.org/officeDocument/2006/relationships/image" Target="../media/image31.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6.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6.xml"/><Relationship Id="rId1" Type="http://schemas.openxmlformats.org/officeDocument/2006/relationships/image" Target="../media/image32.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0.xml"/><Relationship Id="rId2" Type="http://schemas.openxmlformats.org/officeDocument/2006/relationships/image" Target="../media/image34.png"/><Relationship Id="rId1" Type="http://schemas.openxmlformats.org/officeDocument/2006/relationships/image" Target="../media/image3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1.xml"/><Relationship Id="rId1" Type="http://schemas.openxmlformats.org/officeDocument/2006/relationships/image" Target="../media/image35.png"/></Relationships>
</file>

<file path=ppt/slides/_rels/slide39.xml.rels><?xml version="1.0" encoding="UTF-8" standalone="yes"?>
<Relationships xmlns="http://schemas.openxmlformats.org/package/2006/relationships"><Relationship Id="rId8" Type="http://schemas.openxmlformats.org/officeDocument/2006/relationships/notesSlide" Target="../notesSlides/notesSlide25.xml"/><Relationship Id="rId7" Type="http://schemas.openxmlformats.org/officeDocument/2006/relationships/slideLayout" Target="../slideLayouts/slideLayout10.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0.xml"/><Relationship Id="rId1" Type="http://schemas.openxmlformats.org/officeDocument/2006/relationships/image" Target="../media/image42.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0.xml"/><Relationship Id="rId1" Type="http://schemas.openxmlformats.org/officeDocument/2006/relationships/image" Target="../media/image43.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0.xml"/><Relationship Id="rId1" Type="http://schemas.openxmlformats.org/officeDocument/2006/relationships/image" Target="../media/image44.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0.xml"/><Relationship Id="rId2" Type="http://schemas.openxmlformats.org/officeDocument/2006/relationships/image" Target="../media/image46.png"/><Relationship Id="rId1" Type="http://schemas.openxmlformats.org/officeDocument/2006/relationships/image" Target="../media/image45.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6.xml"/><Relationship Id="rId1" Type="http://schemas.openxmlformats.org/officeDocument/2006/relationships/image" Target="../media/image4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聚类算法</a:t>
            </a:r>
            <a:endParaRPr kumimoji="1"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50115" y="1090766"/>
            <a:ext cx="6420620" cy="4497463"/>
          </a:xfrm>
        </p:spPr>
        <p:txBody>
          <a:bodyPr anchor="t"/>
          <a:lstStyle/>
          <a:p>
            <a:r>
              <a:rPr kumimoji="1" lang="zh-CN" altLang="en-US" dirty="0">
                <a:solidFill>
                  <a:schemeClr val="accent2">
                    <a:lumMod val="75000"/>
                  </a:schemeClr>
                </a:solidFill>
                <a:latin typeface="Alibaba PuHuiTi" pitchFamily="18" charset="-122"/>
                <a:ea typeface="Alibaba PuHuiTi" pitchFamily="18" charset="-122"/>
                <a:cs typeface="Alibaba PuHuiTi" pitchFamily="18" charset="-122"/>
              </a:rPr>
              <a:t>聚类算法简介</a:t>
            </a:r>
            <a:endParaRPr kumimoji="1" lang="en-US" altLang="zh-CN" dirty="0">
              <a:solidFill>
                <a:schemeClr val="accent2">
                  <a:lumMod val="75000"/>
                </a:schemeClr>
              </a:solidFill>
              <a:latin typeface="Alibaba PuHuiTi" pitchFamily="18" charset="-122"/>
              <a:ea typeface="Alibaba PuHuiTi" pitchFamily="18" charset="-122"/>
              <a:cs typeface="Alibaba PuHuiTi" pitchFamily="18" charset="-122"/>
            </a:endParaRPr>
          </a:p>
          <a:p>
            <a:r>
              <a:rPr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聚类算法</a:t>
            </a:r>
            <a:r>
              <a:rPr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API</a:t>
            </a:r>
            <a:r>
              <a:rPr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的使用</a:t>
            </a:r>
            <a:endParaRPr kumimoji="1"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Kmeans</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实现流程</a:t>
            </a:r>
            <a:endParaRPr kumimoji="1" lang="zh-CN" altLang="en-US"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模型评估方法</a:t>
            </a:r>
            <a:endPar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案例顾客数据聚类分析法</a:t>
            </a:r>
            <a:endParaRPr kumimoji="1"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a:p>
            <a:pPr lvl="1"/>
            <a:endParaRPr kumimoji="1" lang="en-US" altLang="zh-CN" sz="1600" b="0" dirty="0">
              <a:solidFill>
                <a:schemeClr val="accent2">
                  <a:lumMod val="75000"/>
                </a:schemeClr>
              </a:solidFill>
              <a:latin typeface="Alibaba PuHuiTi" pitchFamily="18" charset="-122"/>
              <a:ea typeface="Alibaba PuHuiTi" pitchFamily="18" charset="-122"/>
              <a:cs typeface="Alibaba PuHuiTi" pitchFamily="18" charset="-122"/>
            </a:endParaRPr>
          </a:p>
          <a:p>
            <a:pPr lvl="1"/>
            <a:endPar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638358" y="869546"/>
            <a:ext cx="6298881" cy="4855845"/>
          </a:xfrm>
        </p:spPr>
        <p:txBody>
          <a:bodyPr/>
          <a:lstStyle/>
          <a:p>
            <a:pPr algn="l"/>
            <a:r>
              <a:rPr lang="zh-CN" altLang="en-US" b="0" i="0" u="none" strike="noStrike" dirty="0">
                <a:solidFill>
                  <a:srgbClr val="333333"/>
                </a:solidFill>
                <a:effectLst/>
                <a:latin typeface="Open Sans" panose="020B0606030504020204" pitchFamily="34" charset="0"/>
              </a:rPr>
              <a:t>知道什么是聚类</a:t>
            </a:r>
            <a:endParaRPr lang="zh-CN" altLang="en-US" b="0" i="0" u="none" strike="noStrike" dirty="0">
              <a:solidFill>
                <a:srgbClr val="333333"/>
              </a:solidFill>
              <a:effectLst/>
              <a:latin typeface="Open Sans" panose="020B0606030504020204" pitchFamily="34" charset="0"/>
            </a:endParaRPr>
          </a:p>
          <a:p>
            <a:pPr algn="l"/>
            <a:r>
              <a:rPr lang="zh-CN" altLang="en-US" b="0" i="0" u="none" strike="noStrike" dirty="0">
                <a:solidFill>
                  <a:srgbClr val="333333"/>
                </a:solidFill>
                <a:effectLst/>
                <a:latin typeface="Open Sans" panose="020B0606030504020204" pitchFamily="34" charset="0"/>
              </a:rPr>
              <a:t>了解聚类算法的应用场景</a:t>
            </a:r>
            <a:endParaRPr lang="zh-CN" altLang="en-US" b="0" i="0" u="none" strike="noStrike" dirty="0">
              <a:solidFill>
                <a:srgbClr val="333333"/>
              </a:solidFill>
              <a:effectLst/>
              <a:latin typeface="Open Sans" panose="020B0606030504020204" pitchFamily="34" charset="0"/>
            </a:endParaRPr>
          </a:p>
          <a:p>
            <a:pPr algn="l"/>
            <a:r>
              <a:rPr lang="zh-CN" altLang="en-US" b="0" i="0" u="none" strike="noStrike" dirty="0">
                <a:solidFill>
                  <a:srgbClr val="333333"/>
                </a:solidFill>
                <a:effectLst/>
                <a:latin typeface="Open Sans" panose="020B0606030504020204" pitchFamily="34" charset="0"/>
              </a:rPr>
              <a:t>知道聚类算法的分类</a:t>
            </a:r>
            <a:endParaRPr lang="zh-CN" altLang="en-US" b="0" i="0" u="none" strike="noStrike" dirty="0">
              <a:solidFill>
                <a:srgbClr val="333333"/>
              </a:solidFill>
              <a:effectLst/>
              <a:latin typeface="Open Sans" panose="020B0606030504020204" pitchFamily="34" charset="0"/>
            </a:endParaRPr>
          </a:p>
          <a:p>
            <a:pPr marL="0" indent="0">
              <a:buNone/>
            </a:pP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聚类算法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概念</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901312" y="1292715"/>
            <a:ext cx="4016262"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什么是聚类算法？</a:t>
            </a: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16" name="文本占位符 2"/>
          <p:cNvSpPr txBox="1"/>
          <p:nvPr/>
        </p:nvSpPr>
        <p:spPr>
          <a:xfrm>
            <a:off x="1610590" y="1680309"/>
            <a:ext cx="8513798" cy="152212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a:buFont typeface="Arial" panose="020B0604020202020204" pitchFamily="34" charset="0"/>
              <a:defRP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sym typeface="+mn-ea"/>
              </a:rPr>
              <a:t>聚类算法是一类无监督学习方法，旨在将数据划分为若干组（簇），使得同一簇内的样本相似度高，而不同簇间的样本差异大。</a:t>
            </a:r>
            <a:endParaRPr lang="zh-CN" altLang="en-US" sz="1400" dirty="0"/>
          </a:p>
          <a:p>
            <a:pPr marL="285750" indent="-285750">
              <a:buFont typeface="Arial" panose="020B0604020202020204" pitchFamily="34" charset="0"/>
              <a:buChar char="•"/>
              <a:defRPr/>
            </a:pPr>
            <a:r>
              <a:rPr lang="zh-CN" altLang="en-US" sz="1400" dirty="0"/>
              <a:t>根据样本之间的</a:t>
            </a:r>
            <a:r>
              <a:rPr lang="zh-CN" altLang="en-US" sz="1400" dirty="0">
                <a:solidFill>
                  <a:srgbClr val="C00000"/>
                </a:solidFill>
              </a:rPr>
              <a:t>相似性</a:t>
            </a:r>
            <a:r>
              <a:rPr lang="zh-CN" altLang="en-US" sz="1400" dirty="0"/>
              <a:t>，将样本划分到不同的类别中；不同的相似度计算方法，会得到不同的聚类结果，常用的相似度计算方法有欧式距离法。</a:t>
            </a:r>
            <a:endParaRPr lang="en-US" altLang="zh-CN" sz="1400" dirty="0"/>
          </a:p>
          <a:p>
            <a:pPr marL="285750" lvl="0" indent="-285750">
              <a:buFont typeface="Arial" panose="020B0604020202020204" pitchFamily="34" charset="0"/>
              <a:buChar char="•"/>
              <a:defRPr/>
            </a:pPr>
            <a:r>
              <a:rPr lang="zh-CN" altLang="en-US" sz="1400" dirty="0"/>
              <a:t>聚类算法的目的是</a:t>
            </a:r>
            <a:r>
              <a:rPr lang="zh-CN" altLang="en-US" sz="1400" dirty="0">
                <a:solidFill>
                  <a:schemeClr val="accent2">
                    <a:lumMod val="75000"/>
                  </a:schemeClr>
                </a:solidFill>
              </a:rPr>
              <a:t>在没有先验知识</a:t>
            </a:r>
            <a:r>
              <a:rPr lang="zh-CN" altLang="en-US" sz="1400" dirty="0"/>
              <a:t>的情况下，自动发现数据集中的</a:t>
            </a:r>
            <a:r>
              <a:rPr lang="zh-CN" altLang="en-US" sz="1400" dirty="0">
                <a:solidFill>
                  <a:schemeClr val="accent2">
                    <a:lumMod val="75000"/>
                  </a:schemeClr>
                </a:solidFill>
              </a:rPr>
              <a:t>内在结构和模式</a:t>
            </a:r>
            <a:r>
              <a:rPr lang="zh-CN" altLang="en-US" sz="1400" dirty="0"/>
              <a:t>。</a:t>
            </a:r>
            <a:endParaRPr lang="en-US" altLang="zh-CN" sz="1400" dirty="0"/>
          </a:p>
          <a:p>
            <a:pPr marL="285750" lvl="0" indent="-285750">
              <a:buFont typeface="Arial" panose="020B0604020202020204" pitchFamily="34" charset="0"/>
              <a:buChar char="•"/>
              <a:defRPr/>
            </a:pPr>
            <a:endPar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endParaRPr>
          </a:p>
        </p:txBody>
      </p:sp>
      <p:sp>
        <p:nvSpPr>
          <p:cNvPr id="2" name="文本占位符 2"/>
          <p:cNvSpPr txBox="1"/>
          <p:nvPr/>
        </p:nvSpPr>
        <p:spPr>
          <a:xfrm>
            <a:off x="900677" y="3437485"/>
            <a:ext cx="5763439"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i="0" dirty="0">
                <a:solidFill>
                  <a:srgbClr val="333333"/>
                </a:solidFill>
                <a:effectLst/>
                <a:latin typeface="Helvetica Neue" panose="02000503000000020004" pitchFamily="2" charset="0"/>
              </a:rPr>
              <a:t>使用不同的聚类准则，产生的聚类结果不同</a:t>
            </a:r>
            <a:endParaRPr kumimoji="0" lang="zh-CN" altLang="en-GB" sz="160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11" name="文本占位符 2"/>
          <p:cNvSpPr txBox="1"/>
          <p:nvPr/>
        </p:nvSpPr>
        <p:spPr>
          <a:xfrm>
            <a:off x="1446379" y="6241055"/>
            <a:ext cx="2221495"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a:defRPr/>
            </a:pPr>
            <a:r>
              <a:rPr lang="zh-CN" altLang="en-US" sz="1400" dirty="0"/>
              <a:t>繁衍方式 </a:t>
            </a:r>
            <a:r>
              <a:rPr lang="en-US" altLang="zh-CN" sz="1400" dirty="0"/>
              <a:t>(</a:t>
            </a:r>
            <a:r>
              <a:rPr lang="zh-CN" altLang="en-US" sz="1400" dirty="0"/>
              <a:t>胎生、卵生</a:t>
            </a:r>
            <a:r>
              <a:rPr lang="en-US" altLang="zh-CN" sz="1400" dirty="0"/>
              <a:t>)</a:t>
            </a:r>
            <a:endParaRPr lang="zh-CN" altLang="en-US" sz="1400" dirty="0"/>
          </a:p>
        </p:txBody>
      </p:sp>
      <p:pic>
        <p:nvPicPr>
          <p:cNvPr id="13" name="图片 12"/>
          <p:cNvPicPr>
            <a:picLocks noChangeAspect="1"/>
          </p:cNvPicPr>
          <p:nvPr/>
        </p:nvPicPr>
        <p:blipFill>
          <a:blip r:embed="rId1"/>
          <a:stretch>
            <a:fillRect/>
          </a:stretch>
        </p:blipFill>
        <p:spPr>
          <a:xfrm>
            <a:off x="1513840" y="3959860"/>
            <a:ext cx="1788160" cy="2306320"/>
          </a:xfrm>
          <a:prstGeom prst="rect">
            <a:avLst/>
          </a:prstGeom>
        </p:spPr>
      </p:pic>
      <p:pic>
        <p:nvPicPr>
          <p:cNvPr id="14" name="图片 13"/>
          <p:cNvPicPr>
            <a:picLocks noChangeAspect="1"/>
          </p:cNvPicPr>
          <p:nvPr/>
        </p:nvPicPr>
        <p:blipFill>
          <a:blip r:embed="rId2"/>
          <a:stretch>
            <a:fillRect/>
          </a:stretch>
        </p:blipFill>
        <p:spPr>
          <a:xfrm>
            <a:off x="4377690" y="4039235"/>
            <a:ext cx="1694180" cy="2226945"/>
          </a:xfrm>
          <a:prstGeom prst="rect">
            <a:avLst/>
          </a:prstGeom>
        </p:spPr>
      </p:pic>
      <p:pic>
        <p:nvPicPr>
          <p:cNvPr id="15" name="图片 14"/>
          <p:cNvPicPr>
            <a:picLocks noChangeAspect="1"/>
          </p:cNvPicPr>
          <p:nvPr/>
        </p:nvPicPr>
        <p:blipFill>
          <a:blip r:embed="rId3"/>
          <a:stretch>
            <a:fillRect/>
          </a:stretch>
        </p:blipFill>
        <p:spPr>
          <a:xfrm>
            <a:off x="6922135" y="4011930"/>
            <a:ext cx="2072005" cy="2099310"/>
          </a:xfrm>
          <a:prstGeom prst="rect">
            <a:avLst/>
          </a:prstGeom>
        </p:spPr>
      </p:pic>
      <p:sp>
        <p:nvSpPr>
          <p:cNvPr id="18" name="文本占位符 2"/>
          <p:cNvSpPr txBox="1"/>
          <p:nvPr/>
        </p:nvSpPr>
        <p:spPr>
          <a:xfrm>
            <a:off x="4377210" y="6284236"/>
            <a:ext cx="2146525"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a:defRPr/>
            </a:pPr>
            <a:r>
              <a:rPr lang="zh-CN" altLang="en-US" sz="1400" dirty="0"/>
              <a:t>呼吸方式 </a:t>
            </a:r>
            <a:r>
              <a:rPr lang="en-US" altLang="zh-CN" sz="1400" dirty="0"/>
              <a:t>(</a:t>
            </a:r>
            <a:r>
              <a:rPr lang="zh-CN" altLang="en-US" sz="1400" dirty="0"/>
              <a:t>肺、腮</a:t>
            </a:r>
            <a:r>
              <a:rPr lang="en-US" altLang="zh-CN" sz="1400" dirty="0"/>
              <a:t>)</a:t>
            </a:r>
            <a:r>
              <a:rPr lang="zh-CN" altLang="en-US" sz="1400" dirty="0"/>
              <a:t> </a:t>
            </a:r>
            <a:endParaRPr lang="zh-CN" altLang="en-US" sz="1400" dirty="0"/>
          </a:p>
        </p:txBody>
      </p:sp>
      <p:sp>
        <p:nvSpPr>
          <p:cNvPr id="19" name="文本占位符 2"/>
          <p:cNvSpPr txBox="1"/>
          <p:nvPr/>
        </p:nvSpPr>
        <p:spPr>
          <a:xfrm>
            <a:off x="6765925" y="6266180"/>
            <a:ext cx="2684145" cy="37401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a:defRPr/>
            </a:pPr>
            <a:r>
              <a:rPr lang="zh-CN" altLang="en-US" sz="1400" dirty="0"/>
              <a:t>生活环境</a:t>
            </a:r>
            <a:r>
              <a:rPr lang="en-US" altLang="zh-CN" sz="1400" dirty="0"/>
              <a:t>(</a:t>
            </a:r>
            <a:r>
              <a:rPr lang="zh-CN" altLang="en-US" sz="1400" dirty="0"/>
              <a:t>陆地、两栖、水中</a:t>
            </a:r>
            <a:r>
              <a:rPr lang="en-US" altLang="zh-CN" sz="1400" dirty="0"/>
              <a:t>)</a:t>
            </a:r>
            <a:endParaRPr lang="en-US" altLang="zh-CN"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ppt_x"/>
                                          </p:val>
                                        </p:tav>
                                        <p:tav tm="100000">
                                          <p:val>
                                            <p:strVal val="#ppt_x"/>
                                          </p:val>
                                        </p:tav>
                                      </p:tavLst>
                                    </p:anim>
                                    <p:anim calcmode="lin" valueType="num">
                                      <p:cBhvr additive="base">
                                        <p:cTn id="20" dur="500" fill="hold"/>
                                        <p:tgtEl>
                                          <p:spTgt spid="15"/>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500" fill="hold"/>
                                        <p:tgtEl>
                                          <p:spTgt spid="18"/>
                                        </p:tgtEl>
                                        <p:attrNameLst>
                                          <p:attrName>ppt_x</p:attrName>
                                        </p:attrNameLst>
                                      </p:cBhvr>
                                      <p:tavLst>
                                        <p:tav tm="0">
                                          <p:val>
                                            <p:strVal val="#ppt_x"/>
                                          </p:val>
                                        </p:tav>
                                        <p:tav tm="100000">
                                          <p:val>
                                            <p:strVal val="#ppt_x"/>
                                          </p:val>
                                        </p:tav>
                                      </p:tavLst>
                                    </p:anim>
                                    <p:anim calcmode="lin" valueType="num">
                                      <p:cBhvr additive="base">
                                        <p:cTn id="24" dur="500" fill="hold"/>
                                        <p:tgtEl>
                                          <p:spTgt spid="1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ppt_x"/>
                                          </p:val>
                                        </p:tav>
                                        <p:tav tm="100000">
                                          <p:val>
                                            <p:strVal val="#ppt_x"/>
                                          </p:val>
                                        </p:tav>
                                      </p:tavLst>
                                    </p:anim>
                                    <p:anim calcmode="lin" valueType="num">
                                      <p:cBhvr additive="base">
                                        <p:cTn id="2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8" grpId="0"/>
      <p:bldP spid="1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pPr marR="0" lvl="0" algn="l" defTabSz="914400" rtl="0" eaLnBrk="0" fontAlgn="base" latinLnBrk="0" hangingPunct="0">
              <a:lnSpc>
                <a:spcPct val="150000"/>
              </a:lnSpc>
              <a:spcBef>
                <a:spcPct val="20000"/>
              </a:spcBef>
              <a:spcAft>
                <a:spcPct val="0"/>
              </a:spcAft>
              <a:buClrTx/>
              <a:buSzTx/>
              <a:defRPr/>
            </a:pPr>
            <a:r>
              <a:rPr kumimoji="0" lang="zh-CN" altLang="en-US" sz="20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聚类算法在现实生活中的应用</a:t>
            </a:r>
            <a:endParaRPr kumimoji="0" lang="zh-CN" altLang="en-GB" sz="20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901312" y="1292715"/>
            <a:ext cx="4016262"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endPar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5" name="矩形 7"/>
          <p:cNvSpPr/>
          <p:nvPr>
            <p:custDataLst>
              <p:tags r:id="rId1"/>
            </p:custDataLst>
          </p:nvPr>
        </p:nvSpPr>
        <p:spPr>
          <a:xfrm>
            <a:off x="1294545" y="2650943"/>
            <a:ext cx="2123088" cy="1390714"/>
          </a:xfrm>
          <a:prstGeom prst="rect">
            <a:avLst/>
          </a:prstGeom>
          <a:noFill/>
          <a:ln w="9525">
            <a:noFill/>
          </a:ln>
        </p:spPr>
        <p:txBody>
          <a:bodyPr wrap="none" lIns="72000" tIns="0" rIns="72000" bIns="0" anchor="t"/>
          <a:lstStyle/>
          <a:p>
            <a:pPr algn="r" defTabSz="914400" fontAlgn="base">
              <a:lnSpc>
                <a:spcPct val="150000"/>
              </a:lnSpc>
              <a:defRPr/>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用户画像，广告推荐</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gn="r" defTabSz="914400" fontAlgn="base">
              <a:lnSpc>
                <a:spcPct val="150000"/>
              </a:lnSpc>
              <a:defRPr/>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Data Segmentation</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gn="r" defTabSz="914400" fontAlgn="base">
              <a:lnSpc>
                <a:spcPct val="150000"/>
              </a:lnSpc>
              <a:defRPr/>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搜索引擎的流量推荐</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gn="r" defTabSz="914400" fontAlgn="base">
              <a:lnSpc>
                <a:spcPct val="150000"/>
              </a:lnSpc>
              <a:defRPr/>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恶意流量识别</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平行四边形 6"/>
          <p:cNvSpPr/>
          <p:nvPr>
            <p:custDataLst>
              <p:tags r:id="rId2"/>
            </p:custDataLst>
          </p:nvPr>
        </p:nvSpPr>
        <p:spPr>
          <a:xfrm rot="18073502" flipH="1">
            <a:off x="3748298" y="2788684"/>
            <a:ext cx="1381612" cy="655583"/>
          </a:xfrm>
          <a:prstGeom prst="parallelogram">
            <a:avLst>
              <a:gd name="adj" fmla="val 59953"/>
            </a:avLst>
          </a:prstGeom>
          <a:solidFill>
            <a:srgbClr val="4276AA">
              <a:lumMod val="20000"/>
              <a:lumOff val="80000"/>
            </a:srgbClr>
          </a:solidFill>
          <a:ln w="76200">
            <a:noFill/>
          </a:ln>
        </p:spPr>
        <p:style>
          <a:lnRef idx="2">
            <a:srgbClr val="4276AA">
              <a:shade val="50000"/>
            </a:srgbClr>
          </a:lnRef>
          <a:fillRef idx="1">
            <a:srgbClr val="4276AA"/>
          </a:fillRef>
          <a:effectRef idx="0">
            <a:srgbClr val="4276AA"/>
          </a:effectRef>
          <a:fontRef idx="minor">
            <a:srgbClr val="FFFFFF"/>
          </a:fontRef>
        </p:style>
        <p:txBody>
          <a:bodyPr anchor="ctr"/>
          <a:lstStyle/>
          <a:p>
            <a:pPr algn="ctr" fontAlgn="base"/>
          </a:p>
        </p:txBody>
      </p:sp>
      <p:sp>
        <p:nvSpPr>
          <p:cNvPr id="8" name="流程图: 决策 9"/>
          <p:cNvSpPr/>
          <p:nvPr>
            <p:custDataLst>
              <p:tags r:id="rId3"/>
            </p:custDataLst>
          </p:nvPr>
        </p:nvSpPr>
        <p:spPr>
          <a:xfrm rot="16200000">
            <a:off x="4233755" y="3024464"/>
            <a:ext cx="1686879" cy="1027942"/>
          </a:xfrm>
          <a:prstGeom prst="flowChartDecision">
            <a:avLst/>
          </a:prstGeom>
          <a:solidFill>
            <a:srgbClr val="4276AA"/>
          </a:solidFill>
          <a:ln w="76200">
            <a:noFill/>
          </a:ln>
        </p:spPr>
        <p:style>
          <a:lnRef idx="2">
            <a:srgbClr val="4276AA">
              <a:shade val="50000"/>
            </a:srgbClr>
          </a:lnRef>
          <a:fillRef idx="1">
            <a:srgbClr val="4276AA"/>
          </a:fillRef>
          <a:effectRef idx="0">
            <a:srgbClr val="4276AA"/>
          </a:effectRef>
          <a:fontRef idx="minor">
            <a:srgbClr val="FFFFFF"/>
          </a:fontRef>
        </p:style>
        <p:txBody>
          <a:bodyPr anchor="ctr"/>
          <a:lstStyle/>
          <a:p>
            <a:pPr algn="ctr" fontAlgn="base"/>
          </a:p>
        </p:txBody>
      </p:sp>
      <p:sp>
        <p:nvSpPr>
          <p:cNvPr id="9" name="平行四边形 8"/>
          <p:cNvSpPr/>
          <p:nvPr>
            <p:custDataLst>
              <p:tags r:id="rId4"/>
            </p:custDataLst>
          </p:nvPr>
        </p:nvSpPr>
        <p:spPr>
          <a:xfrm rot="3480000" flipH="1">
            <a:off x="5774470" y="2450829"/>
            <a:ext cx="1381612" cy="655583"/>
          </a:xfrm>
          <a:prstGeom prst="parallelogram">
            <a:avLst>
              <a:gd name="adj" fmla="val 59953"/>
            </a:avLst>
          </a:prstGeom>
          <a:solidFill>
            <a:srgbClr val="178AA1">
              <a:lumMod val="20000"/>
              <a:lumOff val="80000"/>
            </a:srgbClr>
          </a:solidFill>
          <a:ln w="76200">
            <a:noFill/>
          </a:ln>
        </p:spPr>
        <p:style>
          <a:lnRef idx="2">
            <a:srgbClr val="4276AA">
              <a:shade val="50000"/>
            </a:srgbClr>
          </a:lnRef>
          <a:fillRef idx="1">
            <a:srgbClr val="4276AA"/>
          </a:fillRef>
          <a:effectRef idx="0">
            <a:srgbClr val="4276AA"/>
          </a:effectRef>
          <a:fontRef idx="minor">
            <a:srgbClr val="FFFFFF"/>
          </a:fontRef>
        </p:style>
        <p:txBody>
          <a:bodyPr anchor="ctr"/>
          <a:lstStyle/>
          <a:p>
            <a:pPr algn="ctr" fontAlgn="base"/>
          </a:p>
        </p:txBody>
      </p:sp>
      <p:sp>
        <p:nvSpPr>
          <p:cNvPr id="12" name="平行四边形 11"/>
          <p:cNvSpPr/>
          <p:nvPr>
            <p:custDataLst>
              <p:tags r:id="rId5"/>
            </p:custDataLst>
          </p:nvPr>
        </p:nvSpPr>
        <p:spPr>
          <a:xfrm rot="10800000" flipV="1">
            <a:off x="5077195" y="2695235"/>
            <a:ext cx="1476020" cy="843440"/>
          </a:xfrm>
          <a:prstGeom prst="parallelogram">
            <a:avLst>
              <a:gd name="adj" fmla="val 61067"/>
            </a:avLst>
          </a:prstGeom>
          <a:solidFill>
            <a:srgbClr val="178AA1"/>
          </a:solidFill>
          <a:ln w="76200">
            <a:noFill/>
          </a:ln>
        </p:spPr>
        <p:style>
          <a:lnRef idx="2">
            <a:srgbClr val="4276AA">
              <a:shade val="50000"/>
            </a:srgbClr>
          </a:lnRef>
          <a:fillRef idx="1">
            <a:srgbClr val="4276AA"/>
          </a:fillRef>
          <a:effectRef idx="0">
            <a:srgbClr val="4276AA"/>
          </a:effectRef>
          <a:fontRef idx="minor">
            <a:srgbClr val="FFFFFF"/>
          </a:fontRef>
        </p:style>
        <p:txBody>
          <a:bodyPr anchor="ctr"/>
          <a:lstStyle/>
          <a:p>
            <a:pPr algn="ctr" fontAlgn="base"/>
          </a:p>
        </p:txBody>
      </p:sp>
      <p:sp>
        <p:nvSpPr>
          <p:cNvPr id="20" name="平行四边形 19"/>
          <p:cNvSpPr/>
          <p:nvPr>
            <p:custDataLst>
              <p:tags r:id="rId6"/>
            </p:custDataLst>
          </p:nvPr>
        </p:nvSpPr>
        <p:spPr>
          <a:xfrm>
            <a:off x="5077195" y="3538675"/>
            <a:ext cx="1476020" cy="843440"/>
          </a:xfrm>
          <a:prstGeom prst="parallelogram">
            <a:avLst>
              <a:gd name="adj" fmla="val 61067"/>
            </a:avLst>
          </a:prstGeom>
          <a:solidFill>
            <a:srgbClr val="5268A5"/>
          </a:solidFill>
          <a:ln w="76200">
            <a:noFill/>
          </a:ln>
        </p:spPr>
        <p:style>
          <a:lnRef idx="2">
            <a:srgbClr val="4276AA">
              <a:shade val="50000"/>
            </a:srgbClr>
          </a:lnRef>
          <a:fillRef idx="1">
            <a:srgbClr val="4276AA"/>
          </a:fillRef>
          <a:effectRef idx="0">
            <a:srgbClr val="4276AA"/>
          </a:effectRef>
          <a:fontRef idx="minor">
            <a:srgbClr val="FFFFFF"/>
          </a:fontRef>
        </p:style>
        <p:txBody>
          <a:bodyPr anchor="ctr"/>
          <a:lstStyle/>
          <a:p>
            <a:pPr algn="ctr" fontAlgn="base"/>
          </a:p>
        </p:txBody>
      </p:sp>
      <p:sp>
        <p:nvSpPr>
          <p:cNvPr id="21" name="平行四边形 20"/>
          <p:cNvSpPr/>
          <p:nvPr>
            <p:custDataLst>
              <p:tags r:id="rId7"/>
            </p:custDataLst>
          </p:nvPr>
        </p:nvSpPr>
        <p:spPr>
          <a:xfrm flipH="1">
            <a:off x="5077195" y="4382114"/>
            <a:ext cx="1350462" cy="655583"/>
          </a:xfrm>
          <a:prstGeom prst="parallelogram">
            <a:avLst>
              <a:gd name="adj" fmla="val 59953"/>
            </a:avLst>
          </a:prstGeom>
          <a:solidFill>
            <a:srgbClr val="5268A5">
              <a:lumMod val="20000"/>
              <a:lumOff val="80000"/>
            </a:srgbClr>
          </a:solidFill>
          <a:ln w="76200">
            <a:noFill/>
          </a:ln>
        </p:spPr>
        <p:style>
          <a:lnRef idx="2">
            <a:srgbClr val="4276AA">
              <a:shade val="50000"/>
            </a:srgbClr>
          </a:lnRef>
          <a:fillRef idx="1">
            <a:srgbClr val="4276AA"/>
          </a:fillRef>
          <a:effectRef idx="0">
            <a:srgbClr val="4276AA"/>
          </a:effectRef>
          <a:fontRef idx="minor">
            <a:srgbClr val="FFFFFF"/>
          </a:fontRef>
        </p:style>
        <p:txBody>
          <a:bodyPr anchor="ctr"/>
          <a:lstStyle/>
          <a:p>
            <a:pPr algn="ctr" fontAlgn="base"/>
          </a:p>
        </p:txBody>
      </p:sp>
      <p:sp>
        <p:nvSpPr>
          <p:cNvPr id="22" name="矩形 16"/>
          <p:cNvSpPr/>
          <p:nvPr>
            <p:custDataLst>
              <p:tags r:id="rId8"/>
            </p:custDataLst>
          </p:nvPr>
        </p:nvSpPr>
        <p:spPr>
          <a:xfrm>
            <a:off x="7255761" y="2291247"/>
            <a:ext cx="2277767" cy="728425"/>
          </a:xfrm>
          <a:prstGeom prst="rect">
            <a:avLst/>
          </a:prstGeom>
          <a:noFill/>
          <a:ln w="9525">
            <a:noFill/>
          </a:ln>
        </p:spPr>
        <p:txBody>
          <a:bodyPr wrap="none" lIns="72000" tIns="0" rIns="72000" bIns="0" anchor="t"/>
          <a:lstStyle/>
          <a:p>
            <a:pPr defTabSz="914400" fontAlgn="base">
              <a:lnSpc>
                <a:spcPct val="150000"/>
              </a:lnSpc>
              <a:defRPr/>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基于位置信息的商业推送</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defTabSz="914400" fontAlgn="base">
              <a:lnSpc>
                <a:spcPct val="150000"/>
              </a:lnSpc>
              <a:defRPr/>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新闻聚类，筛选排序</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defTabSz="914400">
              <a:lnSpc>
                <a:spcPct val="80000"/>
              </a:lnSpc>
            </a:pP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cxnSp>
        <p:nvCxnSpPr>
          <p:cNvPr id="23" name="直接连接符 18"/>
          <p:cNvCxnSpPr/>
          <p:nvPr>
            <p:custDataLst>
              <p:tags r:id="rId9"/>
            </p:custDataLst>
          </p:nvPr>
        </p:nvCxnSpPr>
        <p:spPr>
          <a:xfrm rot="16200000" flipH="1">
            <a:off x="6385964" y="4139146"/>
            <a:ext cx="0" cy="799351"/>
          </a:xfrm>
          <a:prstGeom prst="line">
            <a:avLst/>
          </a:prstGeom>
          <a:solidFill>
            <a:srgbClr val="178AA1"/>
          </a:solidFill>
          <a:ln w="28575">
            <a:solidFill>
              <a:srgbClr val="5268A5"/>
            </a:solidFill>
            <a:prstDash val="sysDash"/>
            <a:headEnd type="oval" w="med" len="med"/>
            <a:tailEnd type="oval" w="med" len="med"/>
          </a:ln>
        </p:spPr>
        <p:style>
          <a:lnRef idx="1">
            <a:srgbClr val="4276AA"/>
          </a:lnRef>
          <a:fillRef idx="0">
            <a:srgbClr val="4276AA"/>
          </a:fillRef>
          <a:effectRef idx="0">
            <a:srgbClr val="4276AA"/>
          </a:effectRef>
          <a:fontRef idx="minor">
            <a:srgbClr val="000000"/>
          </a:fontRef>
        </p:style>
      </p:cxnSp>
      <p:sp>
        <p:nvSpPr>
          <p:cNvPr id="24" name="矩形 23"/>
          <p:cNvSpPr/>
          <p:nvPr>
            <p:custDataLst>
              <p:tags r:id="rId10"/>
            </p:custDataLst>
          </p:nvPr>
        </p:nvSpPr>
        <p:spPr>
          <a:xfrm>
            <a:off x="6891288" y="3878956"/>
            <a:ext cx="2718656" cy="1010211"/>
          </a:xfrm>
          <a:prstGeom prst="rect">
            <a:avLst/>
          </a:prstGeom>
        </p:spPr>
        <p:txBody>
          <a:bodyPr wrap="none" lIns="72000" tIns="0" rIns="72000" bIns="0">
            <a:normAutofit fontScale="97500"/>
          </a:bodyPr>
          <a:lstStyle/>
          <a:p>
            <a:pPr lvl="0" defTabSz="914400" fontAlgn="base">
              <a:lnSpc>
                <a:spcPct val="150000"/>
              </a:lnSpc>
              <a:defRPr/>
            </a:pPr>
            <a:r>
              <a:rPr lang="zh-CN" altLang="en-US" sz="1400" noProof="1">
                <a:solidFill>
                  <a:schemeClr val="tx1">
                    <a:lumMod val="85000"/>
                    <a:lumOff val="15000"/>
                  </a:schemeClr>
                </a:solidFill>
                <a:latin typeface="Alibaba PuHuiTi" pitchFamily="18" charset="-122"/>
                <a:ea typeface="Alibaba PuHuiTi" pitchFamily="18" charset="-122"/>
                <a:cs typeface="Alibaba PuHuiTi" pitchFamily="18" charset="-122"/>
              </a:rPr>
              <a:t>图像分割，降维，识别</a:t>
            </a:r>
            <a:endParaRPr lang="en-US" altLang="zh-CN" sz="1400" noProof="1">
              <a:solidFill>
                <a:schemeClr val="tx1">
                  <a:lumMod val="85000"/>
                  <a:lumOff val="15000"/>
                </a:schemeClr>
              </a:solidFill>
              <a:latin typeface="Alibaba PuHuiTi" pitchFamily="18" charset="-122"/>
              <a:ea typeface="Alibaba PuHuiTi" pitchFamily="18" charset="-122"/>
              <a:cs typeface="Alibaba PuHuiTi" pitchFamily="18" charset="-122"/>
            </a:endParaRPr>
          </a:p>
          <a:p>
            <a:pPr lvl="0" defTabSz="914400" fontAlgn="base">
              <a:lnSpc>
                <a:spcPct val="150000"/>
              </a:lnSpc>
              <a:defRPr/>
            </a:pPr>
            <a:r>
              <a:rPr lang="zh-CN" altLang="en-US" sz="1400" noProof="1">
                <a:solidFill>
                  <a:schemeClr val="tx1">
                    <a:lumMod val="85000"/>
                    <a:lumOff val="15000"/>
                  </a:schemeClr>
                </a:solidFill>
                <a:latin typeface="Alibaba PuHuiTi" pitchFamily="18" charset="-122"/>
                <a:ea typeface="Alibaba PuHuiTi" pitchFamily="18" charset="-122"/>
                <a:cs typeface="Alibaba PuHuiTi" pitchFamily="18" charset="-122"/>
                <a:sym typeface="+mn-ea"/>
              </a:rPr>
              <a:t>离群点检测，信用卡异常消费</a:t>
            </a:r>
            <a:endParaRPr lang="zh-CN" altLang="en-US" sz="1400" noProof="1">
              <a:solidFill>
                <a:schemeClr val="tx1">
                  <a:lumMod val="85000"/>
                  <a:lumOff val="15000"/>
                </a:schemeClr>
              </a:solidFill>
              <a:latin typeface="Alibaba PuHuiTi" pitchFamily="18" charset="-122"/>
              <a:ea typeface="Alibaba PuHuiTi" pitchFamily="18" charset="-122"/>
              <a:cs typeface="Alibaba PuHuiTi" pitchFamily="18" charset="-122"/>
            </a:endParaRPr>
          </a:p>
          <a:p>
            <a:pPr lvl="0" defTabSz="914400" fontAlgn="base">
              <a:lnSpc>
                <a:spcPct val="150000"/>
              </a:lnSpc>
              <a:defRPr/>
            </a:pPr>
            <a:r>
              <a:rPr lang="zh-CN" altLang="en-US" sz="1400" noProof="1">
                <a:solidFill>
                  <a:schemeClr val="tx1">
                    <a:lumMod val="85000"/>
                    <a:lumOff val="15000"/>
                  </a:schemeClr>
                </a:solidFill>
                <a:latin typeface="Alibaba PuHuiTi" pitchFamily="18" charset="-122"/>
                <a:ea typeface="Alibaba PuHuiTi" pitchFamily="18" charset="-122"/>
                <a:cs typeface="Alibaba PuHuiTi" pitchFamily="18" charset="-122"/>
                <a:sym typeface="+mn-ea"/>
              </a:rPr>
              <a:t>发掘相同功能的基因片段</a:t>
            </a:r>
            <a:endParaRPr lang="zh-CN" altLang="en-US" sz="1400" noProof="1">
              <a:solidFill>
                <a:schemeClr val="tx1">
                  <a:lumMod val="85000"/>
                  <a:lumOff val="15000"/>
                </a:schemeClr>
              </a:solidFill>
              <a:latin typeface="Alibaba PuHuiTi" pitchFamily="18" charset="-122"/>
              <a:ea typeface="Alibaba PuHuiTi" pitchFamily="18" charset="-122"/>
              <a:cs typeface="Alibaba PuHuiTi" pitchFamily="18" charset="-122"/>
            </a:endParaRPr>
          </a:p>
          <a:p>
            <a:pPr lvl="0" algn="l" defTabSz="913765" fontAlgn="base">
              <a:defRPr/>
            </a:pPr>
            <a:endParaRPr lang="zh-CN" altLang="en-US" sz="1400" strike="noStrike" noProof="1">
              <a:solidFill>
                <a:schemeClr val="tx1">
                  <a:lumMod val="85000"/>
                  <a:lumOff val="15000"/>
                </a:schemeClr>
              </a:solidFill>
              <a:latin typeface="Alibaba PuHuiTi" pitchFamily="18" charset="-122"/>
              <a:ea typeface="Alibaba PuHuiTi" pitchFamily="18" charset="-122"/>
              <a:cs typeface="Alibaba PuHuiTi" pitchFamily="18" charset="-122"/>
            </a:endParaRPr>
          </a:p>
        </p:txBody>
      </p:sp>
      <p:cxnSp>
        <p:nvCxnSpPr>
          <p:cNvPr id="25" name="直接连接符 29"/>
          <p:cNvCxnSpPr/>
          <p:nvPr>
            <p:custDataLst>
              <p:tags r:id="rId11"/>
            </p:custDataLst>
          </p:nvPr>
        </p:nvCxnSpPr>
        <p:spPr>
          <a:xfrm rot="16200000" flipH="1">
            <a:off x="3819702" y="2684692"/>
            <a:ext cx="0" cy="799351"/>
          </a:xfrm>
          <a:prstGeom prst="line">
            <a:avLst/>
          </a:prstGeom>
          <a:solidFill>
            <a:srgbClr val="178AA1"/>
          </a:solidFill>
          <a:ln w="28575">
            <a:solidFill>
              <a:srgbClr val="4276AA"/>
            </a:solidFill>
            <a:prstDash val="sysDash"/>
            <a:headEnd type="oval" w="med" len="med"/>
            <a:tailEnd type="oval" w="med" len="med"/>
          </a:ln>
        </p:spPr>
        <p:style>
          <a:lnRef idx="1">
            <a:srgbClr val="4276AA"/>
          </a:lnRef>
          <a:fillRef idx="0">
            <a:srgbClr val="4276AA"/>
          </a:fillRef>
          <a:effectRef idx="0">
            <a:srgbClr val="4276AA"/>
          </a:effectRef>
          <a:fontRef idx="minor">
            <a:srgbClr val="000000"/>
          </a:fontRef>
        </p:style>
      </p:cxnSp>
      <p:cxnSp>
        <p:nvCxnSpPr>
          <p:cNvPr id="26" name="直接连接符 30"/>
          <p:cNvCxnSpPr/>
          <p:nvPr>
            <p:custDataLst>
              <p:tags r:id="rId12"/>
            </p:custDataLst>
          </p:nvPr>
        </p:nvCxnSpPr>
        <p:spPr>
          <a:xfrm rot="16200000" flipH="1">
            <a:off x="6826374" y="2066010"/>
            <a:ext cx="0" cy="797913"/>
          </a:xfrm>
          <a:prstGeom prst="line">
            <a:avLst/>
          </a:prstGeom>
          <a:solidFill>
            <a:srgbClr val="178AA1"/>
          </a:solidFill>
          <a:ln w="28575">
            <a:solidFill>
              <a:srgbClr val="178AA1"/>
            </a:solidFill>
            <a:prstDash val="sysDash"/>
            <a:headEnd type="oval" w="med" len="med"/>
            <a:tailEnd type="oval" w="med" len="med"/>
          </a:ln>
        </p:spPr>
        <p:style>
          <a:lnRef idx="1">
            <a:srgbClr val="4276AA"/>
          </a:lnRef>
          <a:fillRef idx="0">
            <a:srgbClr val="4276AA"/>
          </a:fillRef>
          <a:effectRef idx="0">
            <a:srgbClr val="4276AA"/>
          </a:effectRef>
          <a:fontRef idx="minor">
            <a:srgbClr val="000000"/>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81527" y="835417"/>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聚类算法分类</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28" name="图片 27"/>
          <p:cNvPicPr>
            <a:picLocks noChangeAspect="1"/>
          </p:cNvPicPr>
          <p:nvPr/>
        </p:nvPicPr>
        <p:blipFill>
          <a:blip r:embed="rId1"/>
          <a:stretch>
            <a:fillRect/>
          </a:stretch>
        </p:blipFill>
        <p:spPr>
          <a:xfrm>
            <a:off x="1391362" y="1960181"/>
            <a:ext cx="3681171" cy="2131205"/>
          </a:xfrm>
          <a:prstGeom prst="rect">
            <a:avLst/>
          </a:prstGeom>
        </p:spPr>
      </p:pic>
      <p:pic>
        <p:nvPicPr>
          <p:cNvPr id="29" name="图片 28"/>
          <p:cNvPicPr>
            <a:picLocks noChangeAspect="1"/>
          </p:cNvPicPr>
          <p:nvPr/>
        </p:nvPicPr>
        <p:blipFill>
          <a:blip r:embed="rId2"/>
          <a:stretch>
            <a:fillRect/>
          </a:stretch>
        </p:blipFill>
        <p:spPr>
          <a:xfrm>
            <a:off x="5595342" y="1960181"/>
            <a:ext cx="3681172" cy="2101456"/>
          </a:xfrm>
          <a:prstGeom prst="rect">
            <a:avLst/>
          </a:prstGeom>
        </p:spPr>
      </p:pic>
      <p:sp>
        <p:nvSpPr>
          <p:cNvPr id="19" name="标题 2"/>
          <p:cNvSpPr txBox="1"/>
          <p:nvPr/>
        </p:nvSpPr>
        <p:spPr>
          <a:xfrm>
            <a:off x="710879" y="1484759"/>
            <a:ext cx="6001101" cy="343270"/>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1.</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根据聚类颗粒度分类</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30" name="标题 2"/>
          <p:cNvSpPr txBox="1"/>
          <p:nvPr/>
        </p:nvSpPr>
        <p:spPr>
          <a:xfrm>
            <a:off x="710877" y="4247335"/>
            <a:ext cx="6001101" cy="343270"/>
          </a:xfrm>
          <a:prstGeom prst="rect">
            <a:avLst/>
          </a:prstGeom>
        </p:spPr>
        <p:txBody>
          <a:bodyPr anchor="ctr" anchorCtr="0"/>
          <a:lstStyle>
            <a:lvl1pPr algn="l" rtl="0" eaLnBrk="0" fontAlgn="base" hangingPunct="0">
              <a:spcBef>
                <a:spcPct val="0"/>
              </a:spcBef>
              <a:spcAft>
                <a:spcPct val="0"/>
              </a:spcAft>
              <a:defRPr lang="zh-CN" altLang="en-US" sz="2000" b="0" i="0" kern="1200" dirty="0">
                <a:solidFill>
                  <a:srgbClr val="AD2A26"/>
                </a:solidFill>
                <a:latin typeface="Alibaba PuHuiTi Medium" pitchFamily="18" charset="-122"/>
                <a:ea typeface="Alibaba PuHuiTi Medium" pitchFamily="18" charset="-122"/>
                <a:cs typeface="Alibaba PuHuiTi Medium" pitchFamily="18" charset="-122"/>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2.</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根据</a:t>
            </a:r>
            <a:r>
              <a:rPr kumimoji="0" lang="zh-CN" altLang="en-US" sz="20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实现方法分类</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31" name="文本框 30"/>
          <p:cNvSpPr txBox="1"/>
          <p:nvPr/>
        </p:nvSpPr>
        <p:spPr>
          <a:xfrm>
            <a:off x="1216025" y="4669155"/>
            <a:ext cx="11311890" cy="1938020"/>
          </a:xfrm>
          <a:prstGeom prst="rect">
            <a:avLst/>
          </a:prstGeom>
          <a:noFill/>
        </p:spPr>
        <p:txBody>
          <a:bodyPr wrap="square">
            <a:spAutoFit/>
          </a:bodyPr>
          <a:lstStyle/>
          <a:p>
            <a:pPr marL="285750" lvl="0" indent="-285750" defTabSz="913765" fontAlgn="base">
              <a:lnSpc>
                <a:spcPct val="150000"/>
              </a:lnSpc>
              <a:buFont typeface="Arial" panose="020B0604020202020204" pitchFamily="34" charset="0"/>
              <a:buChar char="•"/>
              <a:defRPr/>
            </a:pPr>
            <a:r>
              <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基于划分的聚类：</a:t>
            </a:r>
            <a:r>
              <a:rPr lang="en-GB" altLang="zh-CN" sz="1600" b="1" dirty="0">
                <a:solidFill>
                  <a:schemeClr val="accent2"/>
                </a:solidFill>
                <a:latin typeface="Alibaba PuHuiTi" pitchFamily="18" charset="-122"/>
                <a:ea typeface="Alibaba PuHuiTi" pitchFamily="18" charset="-122"/>
                <a:cs typeface="Alibaba PuHuiTi" pitchFamily="18" charset="-122"/>
                <a:sym typeface="+mn-ea"/>
              </a:rPr>
              <a:t>K-means</a:t>
            </a:r>
            <a:r>
              <a:rPr lang="zh-CN" altLang="en-GB" sz="1600" b="1" dirty="0">
                <a:solidFill>
                  <a:schemeClr val="accent2"/>
                </a:solidFill>
                <a:latin typeface="Alibaba PuHuiTi" pitchFamily="18" charset="-122"/>
                <a:ea typeface="Alibaba PuHuiTi" pitchFamily="18" charset="-122"/>
                <a:cs typeface="Alibaba PuHuiTi" pitchFamily="18" charset="-122"/>
                <a:sym typeface="+mn-ea"/>
              </a:rPr>
              <a:t>算法</a:t>
            </a:r>
            <a:r>
              <a:rPr lang="en-US" altLang="zh-CN" sz="1600" b="1" dirty="0">
                <a:solidFill>
                  <a:schemeClr val="accent2"/>
                </a:solidFill>
                <a:latin typeface="Alibaba PuHuiTi" pitchFamily="18" charset="-122"/>
                <a:ea typeface="Alibaba PuHuiTi" pitchFamily="18" charset="-122"/>
                <a:cs typeface="Alibaba PuHuiTi" pitchFamily="18" charset="-122"/>
                <a:sym typeface="+mn-ea"/>
              </a:rPr>
              <a:t>-&gt;</a:t>
            </a:r>
            <a:r>
              <a:rPr lang="zh-CN" altLang="en-US" sz="1600" dirty="0">
                <a:solidFill>
                  <a:schemeClr val="accent2"/>
                </a:solidFill>
                <a:latin typeface="Alibaba PuHuiTi" pitchFamily="18" charset="-122"/>
                <a:ea typeface="Alibaba PuHuiTi" pitchFamily="18" charset="-122"/>
                <a:cs typeface="Alibaba PuHuiTi" pitchFamily="18" charset="-122"/>
              </a:rPr>
              <a:t>按照质心</a:t>
            </a:r>
            <a:r>
              <a:rPr lang="en-US" altLang="zh-CN" sz="1600"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一个簇的中心位置</a:t>
            </a:r>
            <a:r>
              <a:rPr lang="en-US" altLang="zh-CN" sz="1600"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通过均值计算</a:t>
            </a:r>
            <a:r>
              <a:rPr lang="en-US" altLang="zh-CN" sz="1600"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600" dirty="0">
                <a:solidFill>
                  <a:schemeClr val="accent2"/>
                </a:solidFill>
                <a:latin typeface="Alibaba PuHuiTi" pitchFamily="18" charset="-122"/>
                <a:ea typeface="Alibaba PuHuiTi" pitchFamily="18" charset="-122"/>
                <a:cs typeface="Alibaba PuHuiTi" pitchFamily="18" charset="-122"/>
              </a:rPr>
              <a:t>分类</a:t>
            </a:r>
            <a:endParaRPr lang="en-US" altLang="zh-CN" sz="1600" dirty="0">
              <a:solidFill>
                <a:schemeClr val="accent2"/>
              </a:solidFill>
              <a:latin typeface="Alibaba PuHuiTi" pitchFamily="18" charset="-122"/>
              <a:ea typeface="Alibaba PuHuiTi" pitchFamily="18" charset="-122"/>
              <a:cs typeface="Alibaba PuHuiTi" pitchFamily="18" charset="-122"/>
            </a:endParaRPr>
          </a:p>
          <a:p>
            <a:pPr marL="285750" lvl="0" indent="-285750" defTabSz="913765" fontAlgn="base">
              <a:lnSpc>
                <a:spcPct val="150000"/>
              </a:lnSpc>
              <a:buFont typeface="Arial" panose="020B0604020202020204" pitchFamily="34" charset="0"/>
              <a:buChar char="•"/>
              <a:defRPr/>
            </a:pPr>
            <a:r>
              <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基于层次的聚类：</a:t>
            </a:r>
            <a:r>
              <a:rPr lang="en-US" altLang="zh-CN" sz="1600" dirty="0">
                <a:solidFill>
                  <a:schemeClr val="tx1">
                    <a:lumMod val="85000"/>
                    <a:lumOff val="15000"/>
                  </a:schemeClr>
                </a:solidFill>
                <a:latin typeface="Alibaba PuHuiTi" pitchFamily="18" charset="-122"/>
                <a:ea typeface="Alibaba PuHuiTi" pitchFamily="18" charset="-122"/>
                <a:cs typeface="Alibaba PuHuiTi" pitchFamily="18" charset="-122"/>
              </a:rPr>
              <a:t>DIANA</a:t>
            </a:r>
            <a:r>
              <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（自顶向下）</a:t>
            </a:r>
            <a:r>
              <a:rPr lang="en-US" altLang="zh-CN" sz="1600" dirty="0">
                <a:solidFill>
                  <a:schemeClr val="tx1">
                    <a:lumMod val="85000"/>
                    <a:lumOff val="15000"/>
                  </a:schemeClr>
                </a:solidFill>
                <a:latin typeface="Alibaba PuHuiTi" pitchFamily="18" charset="-122"/>
                <a:ea typeface="Alibaba PuHuiTi" pitchFamily="18" charset="-122"/>
                <a:cs typeface="Alibaba PuHuiTi" pitchFamily="18" charset="-122"/>
              </a:rPr>
              <a:t>AGNES</a:t>
            </a:r>
            <a:r>
              <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（自底向上）</a:t>
            </a:r>
            <a:endPar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marL="285750" lvl="0" indent="-285750" defTabSz="913765" fontAlgn="base">
              <a:lnSpc>
                <a:spcPct val="150000"/>
              </a:lnSpc>
              <a:buFont typeface="Arial" panose="020B0604020202020204" pitchFamily="34" charset="0"/>
              <a:buChar char="•"/>
              <a:defRPr/>
            </a:pPr>
            <a:r>
              <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基于密度的聚类</a:t>
            </a:r>
            <a:r>
              <a:rPr lang="en-US" altLang="zh-CN" sz="1600" dirty="0">
                <a:solidFill>
                  <a:schemeClr val="tx1">
                    <a:lumMod val="85000"/>
                    <a:lumOff val="15000"/>
                  </a:schemeClr>
                </a:solidFill>
                <a:latin typeface="Alibaba PuHuiTi" pitchFamily="18" charset="-122"/>
                <a:ea typeface="Alibaba PuHuiTi" pitchFamily="18" charset="-122"/>
                <a:cs typeface="Alibaba PuHuiTi" pitchFamily="18" charset="-122"/>
              </a:rPr>
              <a:t>: DBSCAN</a:t>
            </a:r>
            <a:r>
              <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算法</a:t>
            </a:r>
            <a:endPar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marL="285750" lvl="0" indent="-285750" defTabSz="913765" fontAlgn="base">
              <a:lnSpc>
                <a:spcPct val="150000"/>
              </a:lnSpc>
              <a:buFont typeface="Arial" panose="020B0604020202020204" pitchFamily="34" charset="0"/>
              <a:buChar char="•"/>
              <a:defRPr/>
            </a:pPr>
            <a:r>
              <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基于图的聚类</a:t>
            </a:r>
            <a:r>
              <a:rPr lang="en-US" altLang="zh-CN" sz="1600"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0" lang="zh-CN" altLang="en-US" sz="1600" i="0" u="none" strike="noStrike" kern="1200" cap="none" spc="0" normalizeH="0" baseline="0" noProof="1">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谱聚类（</a:t>
            </a:r>
            <a:r>
              <a:rPr kumimoji="0" lang="en-US" altLang="zh-CN" sz="1600" i="0" u="none" strike="noStrike" kern="1200" cap="none" spc="0" normalizeH="0" baseline="0" noProof="1">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Spectral Clustering</a:t>
            </a:r>
            <a:r>
              <a:rPr kumimoji="0" lang="zh-CN" altLang="en-US" sz="1600" i="0" u="none" strike="noStrike" kern="1200" cap="none" spc="0" normalizeH="0" baseline="0" noProof="1">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a:t>
            </a:r>
            <a:endParaRPr kumimoji="0" lang="zh-CN" altLang="en-US" sz="1600" i="0" u="none" strike="noStrike" kern="1200" cap="none" spc="0" normalizeH="0" baseline="0" noProof="1">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endParaRPr>
          </a:p>
          <a:p>
            <a:pPr marL="285750" lvl="0" indent="-285750" defTabSz="913765" fontAlgn="base">
              <a:lnSpc>
                <a:spcPct val="150000"/>
              </a:lnSpc>
              <a:buFont typeface="Arial" panose="020B0604020202020204" pitchFamily="34" charset="0"/>
              <a:buChar char="•"/>
              <a:defRPr/>
            </a:pPr>
            <a:r>
              <a:rPr kumimoji="0" lang="en-US" altLang="zh-CN" sz="1600" i="0" u="none" strike="noStrike" kern="1200" cap="none" spc="0" normalizeH="0" baseline="0" noProof="1">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rPr>
              <a:t>...</a:t>
            </a:r>
            <a:endParaRPr kumimoji="0" lang="en-US" altLang="zh-CN" sz="1600" i="0" u="none" strike="noStrike" kern="1200" cap="none" spc="0" normalizeH="0" baseline="0" noProof="1">
              <a:ln>
                <a:noFill/>
              </a:ln>
              <a:solidFill>
                <a:schemeClr val="tx1">
                  <a:lumMod val="85000"/>
                  <a:lumOff val="15000"/>
                </a:schemeClr>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ppt_x"/>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500" fill="hold"/>
                                        <p:tgtEl>
                                          <p:spTgt spid="29"/>
                                        </p:tgtEl>
                                        <p:attrNameLst>
                                          <p:attrName>ppt_x</p:attrName>
                                        </p:attrNameLst>
                                      </p:cBhvr>
                                      <p:tavLst>
                                        <p:tav tm="0">
                                          <p:val>
                                            <p:strVal val="#ppt_x"/>
                                          </p:val>
                                        </p:tav>
                                        <p:tav tm="100000">
                                          <p:val>
                                            <p:strVal val="#ppt_x"/>
                                          </p:val>
                                        </p:tav>
                                      </p:tavLst>
                                    </p:anim>
                                    <p:anim calcmode="lin" valueType="num">
                                      <p:cBhvr additive="base">
                                        <p:cTn id="12"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custDataLst>
              <p:tags r:id="rId1"/>
            </p:custDataLst>
          </p:nvPr>
        </p:nvSpPr>
        <p:spPr>
          <a:xfrm>
            <a:off x="4442176" y="2253962"/>
            <a:ext cx="559237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1</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聚类概念</a:t>
            </a:r>
            <a:endPar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endParaRPr>
          </a:p>
        </p:txBody>
      </p:sp>
      <p:sp>
        <p:nvSpPr>
          <p:cNvPr id="12" name="文本占位符 1"/>
          <p:cNvSpPr txBox="1"/>
          <p:nvPr/>
        </p:nvSpPr>
        <p:spPr>
          <a:xfrm>
            <a:off x="86125" y="181128"/>
            <a:ext cx="7036395" cy="761341"/>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l"/>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gn="l" rtl="0" eaLnBrk="0" fontAlgn="base" hangingPunct="0">
              <a:lnSpc>
                <a:spcPct val="150000"/>
              </a:lnSpc>
              <a:spcBef>
                <a:spcPct val="20000"/>
              </a:spcBef>
              <a:spcAft>
                <a:spcPct val="0"/>
              </a:spcAft>
              <a:buFont typeface="Wingdings" panose="05000000000000000000" pitchFamily="2" charset="2"/>
              <a:buChar char="l"/>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359410" marR="0" lvl="1" indent="0" algn="l" defTabSz="914400" rtl="0" eaLnBrk="0" fontAlgn="base" latinLnBrk="0" hangingPunct="0">
              <a:lnSpc>
                <a:spcPct val="150000"/>
              </a:lnSpc>
              <a:spcBef>
                <a:spcPct val="20000"/>
              </a:spcBef>
              <a:spcAft>
                <a:spcPct val="0"/>
              </a:spcAft>
              <a:buClrTx/>
              <a:buSzTx/>
              <a:buFont typeface="Wingdings" panose="05000000000000000000" pitchFamily="2" charset="2"/>
              <a:buNone/>
              <a:defRPr/>
            </a:pPr>
            <a:endParaRPr kumimoji="1" lang="zh-CN" altLang="en-US" sz="1400" b="0" i="0" u="none" strike="noStrike" kern="1200" cap="none" spc="0" normalizeH="0" baseline="0" noProof="0" dirty="0">
              <a:ln>
                <a:noFill/>
              </a:ln>
              <a:solidFill>
                <a:prstClr val="black"/>
              </a:solidFill>
              <a:effectLst/>
              <a:uLnTx/>
              <a:uFillTx/>
              <a:latin typeface="Alibaba PuHuiTi R" pitchFamily="18" charset="-122"/>
              <a:ea typeface="Alibaba PuHuiTi R" pitchFamily="18" charset="-122"/>
              <a:cs typeface="Alibaba PuHuiTi R" pitchFamily="18" charset="-122"/>
            </a:endParaRPr>
          </a:p>
        </p:txBody>
      </p:sp>
      <p:sp>
        <p:nvSpPr>
          <p:cNvPr id="2" name="TextBox 6"/>
          <p:cNvSpPr txBox="1"/>
          <p:nvPr>
            <p:custDataLst>
              <p:tags r:id="rId2"/>
            </p:custDataLst>
          </p:nvPr>
        </p:nvSpPr>
        <p:spPr>
          <a:xfrm>
            <a:off x="4845177" y="2554091"/>
            <a:ext cx="6660057" cy="708399"/>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defRPr/>
            </a:pP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无监督学习</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算法，主要用于</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将相似的样本</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自动归到一个类别中；</a:t>
            </a:r>
            <a:endPar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endParaRPr>
          </a:p>
          <a:p>
            <a:pPr>
              <a:lnSpc>
                <a:spcPct val="150000"/>
              </a:lnSpc>
              <a:defRP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计算样本和样本之间的相似性，一般使用</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欧式距离</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10" name="文本框 9"/>
          <p:cNvSpPr txBox="1"/>
          <p:nvPr>
            <p:custDataLst>
              <p:tags r:id="rId3"/>
            </p:custDataLst>
          </p:nvPr>
        </p:nvSpPr>
        <p:spPr>
          <a:xfrm>
            <a:off x="4442176" y="3509745"/>
            <a:ext cx="349350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2</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聚类分类</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a:t>
            </a:r>
            <a:endParaRPr kumimoji="1" lang="zh-CN" altLang="en-US"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黑体" panose="02010609060101010101" pitchFamily="49" charset="-122"/>
              <a:cs typeface="+mn-cs"/>
            </a:endParaRPr>
          </a:p>
        </p:txBody>
      </p:sp>
      <p:sp>
        <p:nvSpPr>
          <p:cNvPr id="4" name="TextBox 6"/>
          <p:cNvSpPr txBox="1"/>
          <p:nvPr>
            <p:custDataLst>
              <p:tags r:id="rId4"/>
            </p:custDataLst>
          </p:nvPr>
        </p:nvSpPr>
        <p:spPr>
          <a:xfrm>
            <a:off x="4845177" y="3951265"/>
            <a:ext cx="6903894" cy="708399"/>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defRP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颗粒度</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：粗聚类、细聚类。</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285750" lvl="0" indent="-285750">
              <a:lnSpc>
                <a:spcPct val="150000"/>
              </a:lnSpc>
              <a:buFont typeface="Arial" panose="020B0604020202020204" pitchFamily="34" charset="0"/>
              <a:buChar char="•"/>
              <a:defRPr/>
            </a:pP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实现方法</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lang="en-GB"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 K-means</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聚类、层次聚类、</a:t>
            </a:r>
            <a:r>
              <a:rPr lang="en-GB"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 DBSCAN</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聚类、谱聚类</a:t>
            </a:r>
            <a:endParaRPr kumimoji="0" lang="en-GB"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12604" y="1848064"/>
            <a:ext cx="4176464" cy="352917"/>
          </a:xfrm>
          <a:prstGeom prst="rect">
            <a:avLst/>
          </a:prstGeom>
        </p:spPr>
        <p:txBody>
          <a:bodyPr wrap="square">
            <a:spAutoFit/>
          </a:bodyPr>
          <a:lstStyle/>
          <a:p>
            <a:pPr>
              <a:lnSpc>
                <a:spcPct val="130000"/>
              </a:lnSpc>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1</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、下列关于聚类算法的描述错误的是？</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文本框 6"/>
          <p:cNvSpPr txBox="1"/>
          <p:nvPr/>
        </p:nvSpPr>
        <p:spPr>
          <a:xfrm>
            <a:off x="3007233" y="2209897"/>
            <a:ext cx="5761514" cy="1354730"/>
          </a:xfrm>
          <a:prstGeom prst="rect">
            <a:avLst/>
          </a:prstGeom>
          <a:noFill/>
        </p:spPr>
        <p:txBody>
          <a:bodyPr wrap="none" rtlCol="0">
            <a:spAutoFit/>
          </a:bodyPr>
          <a:lstStyle/>
          <a:p>
            <a:pPr fontAlgn="auto">
              <a:lnSpc>
                <a:spcPct val="150000"/>
              </a:lnSpc>
              <a:spcBef>
                <a:spcPts val="0"/>
              </a:spcBef>
              <a:spcAft>
                <a:spcPts val="0"/>
              </a:spcAft>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A</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）聚类算法是一种无监督的机器学习算法</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fontAlgn="auto">
              <a:lnSpc>
                <a:spcPct val="150000"/>
              </a:lnSpc>
              <a:spcBef>
                <a:spcPts val="0"/>
              </a:spcBef>
              <a:spcAft>
                <a:spcPts val="0"/>
              </a:spcAft>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B</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）聚类算法通过计算样本之间的相似度来确定它是属于哪一个聚集类别</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fontAlgn="auto">
              <a:lnSpc>
                <a:spcPct val="150000"/>
              </a:lnSpc>
              <a:spcBef>
                <a:spcPts val="0"/>
              </a:spcBef>
              <a:spcAft>
                <a:spcPts val="0"/>
              </a:spcAft>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C</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）在聚类算法中样本之间的相似度只能通过欧式距离来衡量</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fontAlgn="auto">
              <a:lnSpc>
                <a:spcPct val="150000"/>
              </a:lnSpc>
              <a:spcBef>
                <a:spcPts val="0"/>
              </a:spcBef>
              <a:spcAft>
                <a:spcPts val="0"/>
              </a:spcAft>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D</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）不同的聚类准则产生的聚类效果也不同</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8" name="文本框 7"/>
          <p:cNvSpPr txBox="1"/>
          <p:nvPr/>
        </p:nvSpPr>
        <p:spPr>
          <a:xfrm>
            <a:off x="3110557" y="3775876"/>
            <a:ext cx="6647974" cy="307777"/>
          </a:xfrm>
          <a:prstGeom prst="rect">
            <a:avLst/>
          </a:prstGeom>
          <a:noFill/>
        </p:spPr>
        <p:txBody>
          <a:bodyPr wrap="none" rtlCol="0">
            <a:spAutoFit/>
          </a:bodyPr>
          <a:lstStyle/>
          <a:p>
            <a:pPr fontAlgn="auto">
              <a:spcBef>
                <a:spcPts val="0"/>
              </a:spcBef>
              <a:spcAft>
                <a:spcPts val="0"/>
              </a:spcAft>
            </a:pP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答案解析：衡量样本间相似度的方法不止欧式距离一种，它只不过是常用的一种。</a:t>
            </a: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p:txBody>
      </p:sp>
      <p:sp>
        <p:nvSpPr>
          <p:cNvPr id="9" name="文本框 8"/>
          <p:cNvSpPr txBox="1"/>
          <p:nvPr/>
        </p:nvSpPr>
        <p:spPr>
          <a:xfrm>
            <a:off x="3110557" y="4092569"/>
            <a:ext cx="843501" cy="307777"/>
          </a:xfrm>
          <a:prstGeom prst="rect">
            <a:avLst/>
          </a:prstGeom>
          <a:noFill/>
        </p:spPr>
        <p:txBody>
          <a:bodyPr wrap="none" rtlCol="0">
            <a:spAutoFit/>
          </a:bodyPr>
          <a:lstStyle/>
          <a:p>
            <a:pPr fontAlgn="auto">
              <a:spcBef>
                <a:spcPts val="0"/>
              </a:spcBef>
              <a:spcAft>
                <a:spcPts val="0"/>
              </a:spcAft>
            </a:pP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答案：</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C</a:t>
            </a: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50115" y="1345948"/>
            <a:ext cx="6420620" cy="4497463"/>
          </a:xfrm>
        </p:spPr>
        <p:txBody>
          <a:bodyPr anchor="t"/>
          <a:lstStyle/>
          <a:p>
            <a:r>
              <a:rPr kumimoji="1" lang="zh-CN" altLang="en-US" dirty="0">
                <a:solidFill>
                  <a:schemeClr val="tx1"/>
                </a:solidFill>
                <a:latin typeface="Alibaba PuHuiTi" pitchFamily="18" charset="-122"/>
                <a:ea typeface="Alibaba PuHuiTi" pitchFamily="18" charset="-122"/>
                <a:cs typeface="Alibaba PuHuiTi" pitchFamily="18" charset="-122"/>
              </a:rPr>
              <a:t>聚类算法简介</a:t>
            </a:r>
            <a:endParaRPr kumimoji="1" lang="en-US" altLang="zh-CN" dirty="0">
              <a:solidFill>
                <a:schemeClr val="tx1"/>
              </a:solidFill>
              <a:latin typeface="Alibaba PuHuiTi" pitchFamily="18" charset="-122"/>
              <a:ea typeface="Alibaba PuHuiTi" pitchFamily="18" charset="-122"/>
              <a:cs typeface="Alibaba PuHuiTi" pitchFamily="18" charset="-122"/>
            </a:endParaRPr>
          </a:p>
          <a:p>
            <a:r>
              <a:rPr lang="zh-CN" altLang="en-US" dirty="0">
                <a:solidFill>
                  <a:srgbClr val="C00000"/>
                </a:solidFill>
                <a:latin typeface="Alibaba PuHuiTi" pitchFamily="18" charset="-122"/>
                <a:ea typeface="Alibaba PuHuiTi" pitchFamily="18" charset="-122"/>
                <a:cs typeface="Alibaba PuHuiTi" pitchFamily="18" charset="-122"/>
              </a:rPr>
              <a:t>聚类算法</a:t>
            </a:r>
            <a:r>
              <a:rPr lang="en-US" altLang="zh-CN" dirty="0">
                <a:solidFill>
                  <a:srgbClr val="C00000"/>
                </a:solidFill>
                <a:latin typeface="Alibaba PuHuiTi" pitchFamily="18" charset="-122"/>
                <a:ea typeface="Alibaba PuHuiTi" pitchFamily="18" charset="-122"/>
                <a:cs typeface="Alibaba PuHuiTi" pitchFamily="18" charset="-122"/>
              </a:rPr>
              <a:t>API</a:t>
            </a:r>
            <a:r>
              <a:rPr lang="zh-CN" altLang="en-US" dirty="0">
                <a:solidFill>
                  <a:srgbClr val="C00000"/>
                </a:solidFill>
                <a:latin typeface="Alibaba PuHuiTi" pitchFamily="18" charset="-122"/>
                <a:ea typeface="Alibaba PuHuiTi" pitchFamily="18" charset="-122"/>
                <a:cs typeface="Alibaba PuHuiTi" pitchFamily="18" charset="-122"/>
              </a:rPr>
              <a:t>的使用</a:t>
            </a:r>
            <a:endParaRPr kumimoji="1" lang="en-US" altLang="zh-CN" sz="1600" b="0" dirty="0">
              <a:solidFill>
                <a:srgbClr val="C00000"/>
              </a:solidFill>
              <a:latin typeface="Alibaba PuHuiTi" pitchFamily="18" charset="-122"/>
              <a:ea typeface="Alibaba PuHuiTi" pitchFamily="18" charset="-122"/>
              <a:cs typeface="Alibaba PuHuiTi" pitchFamily="18" charset="-122"/>
            </a:endParaRPr>
          </a:p>
          <a:p>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Kmeans</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实现流程</a:t>
            </a:r>
            <a:endParaRPr kumimoji="1" lang="zh-CN" altLang="en-US"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模型评估方法</a:t>
            </a:r>
            <a:endPar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案例顾客数据聚类分析法</a:t>
            </a:r>
            <a:endParaRPr kumimoji="1" lang="en-US" altLang="zh-CN" sz="1600" b="0" dirty="0">
              <a:solidFill>
                <a:schemeClr val="accent2">
                  <a:lumMod val="75000"/>
                </a:schemeClr>
              </a:solidFill>
              <a:latin typeface="Alibaba PuHuiTi" pitchFamily="18" charset="-122"/>
              <a:ea typeface="Alibaba PuHuiTi" pitchFamily="18" charset="-122"/>
              <a:cs typeface="Alibaba PuHuiTi" pitchFamily="18" charset="-122"/>
            </a:endParaRPr>
          </a:p>
          <a:p>
            <a:pPr lvl="1"/>
            <a:endPar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572371" y="237950"/>
            <a:ext cx="6298881" cy="4855845"/>
          </a:xfrm>
        </p:spPr>
        <p:txBody>
          <a:bodyPr/>
          <a:lstStyle/>
          <a:p>
            <a:pPr algn="l"/>
            <a:r>
              <a:rPr lang="zh-CN" altLang="en-US" b="0" i="0" u="none" strike="noStrike" dirty="0">
                <a:solidFill>
                  <a:srgbClr val="333333"/>
                </a:solidFill>
                <a:effectLst/>
                <a:latin typeface="Open Sans" panose="020B0606030504020204" pitchFamily="34" charset="0"/>
              </a:rPr>
              <a:t>了解</a:t>
            </a:r>
            <a:r>
              <a:rPr lang="en-GB" altLang="zh-CN" b="0" i="0" u="none" strike="noStrike" dirty="0" err="1">
                <a:solidFill>
                  <a:srgbClr val="333333"/>
                </a:solidFill>
                <a:effectLst/>
                <a:latin typeface="Open Sans" panose="020B0606030504020204" pitchFamily="34" charset="0"/>
              </a:rPr>
              <a:t>Kmeans</a:t>
            </a:r>
            <a:r>
              <a:rPr lang="zh-CN" altLang="en-US" b="0" i="0" u="none" strike="noStrike" dirty="0">
                <a:solidFill>
                  <a:srgbClr val="333333"/>
                </a:solidFill>
                <a:effectLst/>
                <a:latin typeface="Open Sans" panose="020B0606030504020204" pitchFamily="34" charset="0"/>
              </a:rPr>
              <a:t>算法的</a:t>
            </a:r>
            <a:r>
              <a:rPr lang="en-GB" altLang="zh-CN" b="0" i="0" u="none" strike="noStrike" dirty="0">
                <a:solidFill>
                  <a:srgbClr val="333333"/>
                </a:solidFill>
                <a:effectLst/>
                <a:latin typeface="Open Sans" panose="020B0606030504020204" pitchFamily="34" charset="0"/>
              </a:rPr>
              <a:t>API</a:t>
            </a:r>
            <a:endParaRPr lang="en-GB" altLang="zh-CN" b="0" i="0" u="none" strike="noStrike" dirty="0">
              <a:solidFill>
                <a:srgbClr val="333333"/>
              </a:solidFill>
              <a:effectLst/>
              <a:latin typeface="Open Sans" panose="020B0606030504020204" pitchFamily="34" charset="0"/>
            </a:endParaRPr>
          </a:p>
          <a:p>
            <a:pPr algn="l"/>
            <a:r>
              <a:rPr lang="zh-CN" altLang="en-US" b="0" i="0" u="none" strike="noStrike" dirty="0">
                <a:solidFill>
                  <a:srgbClr val="333333"/>
                </a:solidFill>
                <a:effectLst/>
                <a:latin typeface="Open Sans" panose="020B0606030504020204" pitchFamily="34" charset="0"/>
              </a:rPr>
              <a:t>动手实践</a:t>
            </a:r>
            <a:r>
              <a:rPr lang="en-GB" altLang="zh-CN" b="0" i="0" u="none" strike="noStrike" dirty="0" err="1">
                <a:solidFill>
                  <a:srgbClr val="333333"/>
                </a:solidFill>
                <a:effectLst/>
                <a:latin typeface="Open Sans" panose="020B0606030504020204" pitchFamily="34" charset="0"/>
              </a:rPr>
              <a:t>Kmeans</a:t>
            </a:r>
            <a:r>
              <a:rPr lang="zh-CN" altLang="en-US" b="0" i="0" u="none" strike="noStrike" dirty="0">
                <a:solidFill>
                  <a:srgbClr val="333333"/>
                </a:solidFill>
                <a:effectLst/>
                <a:latin typeface="Open Sans" panose="020B0606030504020204" pitchFamily="34" charset="0"/>
              </a:rPr>
              <a:t>算法</a:t>
            </a:r>
            <a:endParaRPr lang="zh-CN" altLang="en-US" b="0" i="0" u="none" strike="noStrike" dirty="0">
              <a:solidFill>
                <a:srgbClr val="333333"/>
              </a:solidFill>
              <a:effectLst/>
              <a:latin typeface="Open Sans" panose="020B0606030504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聚类算法</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API</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943841" y="1659174"/>
            <a:ext cx="4819005" cy="51719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en-GB" altLang="zh-CN" sz="1800" b="0" i="0" dirty="0" err="1">
                <a:solidFill>
                  <a:srgbClr val="333333"/>
                </a:solidFill>
                <a:effectLst/>
                <a:latin typeface="Alibaba PuHuiTi" pitchFamily="18" charset="-122"/>
                <a:ea typeface="Alibaba PuHuiTi" pitchFamily="18" charset="-122"/>
                <a:cs typeface="Alibaba PuHuiTi" pitchFamily="18" charset="-122"/>
              </a:rPr>
              <a:t>sklearn.cluster.KMeans</a:t>
            </a:r>
            <a:r>
              <a:rPr lang="en-GB" altLang="zh-CN" sz="1800" b="0" i="0" dirty="0">
                <a:solidFill>
                  <a:srgbClr val="333333"/>
                </a:solidFill>
                <a:effectLst/>
                <a:latin typeface="Alibaba PuHuiTi" pitchFamily="18" charset="-122"/>
                <a:ea typeface="Alibaba PuHuiTi" pitchFamily="18" charset="-122"/>
                <a:cs typeface="Alibaba PuHuiTi" pitchFamily="18" charset="-122"/>
              </a:rPr>
              <a:t>(</a:t>
            </a:r>
            <a:r>
              <a:rPr lang="en-GB" altLang="zh-CN" sz="1800" b="0" i="0" dirty="0" err="1">
                <a:solidFill>
                  <a:srgbClr val="333333"/>
                </a:solidFill>
                <a:effectLst/>
                <a:latin typeface="Alibaba PuHuiTi" pitchFamily="18" charset="-122"/>
                <a:ea typeface="Alibaba PuHuiTi" pitchFamily="18" charset="-122"/>
                <a:cs typeface="Alibaba PuHuiTi" pitchFamily="18" charset="-122"/>
              </a:rPr>
              <a:t>n_clusters</a:t>
            </a:r>
            <a:r>
              <a:rPr lang="en-GB" altLang="zh-CN" sz="1800" b="0" i="0" dirty="0">
                <a:solidFill>
                  <a:srgbClr val="333333"/>
                </a:solidFill>
                <a:effectLst/>
                <a:latin typeface="Alibaba PuHuiTi" pitchFamily="18" charset="-122"/>
                <a:ea typeface="Alibaba PuHuiTi" pitchFamily="18" charset="-122"/>
                <a:cs typeface="Alibaba PuHuiTi" pitchFamily="18" charset="-122"/>
              </a:rPr>
              <a:t>=8)</a:t>
            </a:r>
            <a:endParaRPr kumimoji="0" lang="zh-CN" altLang="en-GB"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
        <p:nvSpPr>
          <p:cNvPr id="2" name="矩形 1"/>
          <p:cNvSpPr/>
          <p:nvPr>
            <p:custDataLst>
              <p:tags r:id="rId1"/>
            </p:custDataLst>
          </p:nvPr>
        </p:nvSpPr>
        <p:spPr>
          <a:xfrm>
            <a:off x="1679476" y="2495982"/>
            <a:ext cx="8833047" cy="2569726"/>
          </a:xfrm>
          <a:prstGeom prst="rect">
            <a:avLst/>
          </a:prstGeom>
        </p:spPr>
        <p:txBody>
          <a:bodyPr wrap="none" lIns="72000" tIns="0" rIns="72000" bIns="0">
            <a:noAutofit/>
          </a:bodyPr>
          <a:lstStyle/>
          <a:p>
            <a:pPr marL="285750" indent="-285750" defTabSz="913765" fontAlgn="base">
              <a:lnSpc>
                <a:spcPct val="150000"/>
              </a:lnSpc>
              <a:buFont typeface="Arial" panose="020B0604020202020204" pitchFamily="34" charset="0"/>
              <a:buChar char="•"/>
              <a:defRPr/>
            </a:pPr>
            <a:r>
              <a:rPr lang="zh-CN" altLang="en-GB" sz="1600" dirty="0">
                <a:solidFill>
                  <a:prstClr val="black">
                    <a:lumMod val="85000"/>
                    <a:lumOff val="15000"/>
                  </a:prstClr>
                </a:solidFill>
                <a:latin typeface="Alibaba PuHuiTi" pitchFamily="18" charset="-122"/>
                <a:ea typeface="Alibaba PuHuiTi" pitchFamily="18" charset="-122"/>
                <a:cs typeface="Alibaba PuHuiTi" pitchFamily="18" charset="-122"/>
              </a:rPr>
              <a:t>参数</a:t>
            </a:r>
            <a:r>
              <a:rPr lang="en-US" altLang="zh-CN" sz="1600" dirty="0">
                <a:solidFill>
                  <a:prstClr val="black">
                    <a:lumMod val="85000"/>
                    <a:lumOff val="15000"/>
                  </a:prstClr>
                </a:solidFill>
                <a:latin typeface="Alibaba PuHuiTi" pitchFamily="18" charset="-122"/>
                <a:ea typeface="Alibaba PuHuiTi" pitchFamily="18" charset="-122"/>
                <a:cs typeface="Alibaba PuHuiTi" pitchFamily="18" charset="-122"/>
              </a:rPr>
              <a:t>:</a:t>
            </a:r>
            <a:r>
              <a:rPr lang="zh-CN" altLang="en-US" sz="1600" dirty="0">
                <a:solidFill>
                  <a:prstClr val="black">
                    <a:lumMod val="85000"/>
                    <a:lumOff val="15000"/>
                  </a:prstClr>
                </a:solidFill>
                <a:latin typeface="Alibaba PuHuiTi" pitchFamily="18" charset="-122"/>
                <a:ea typeface="Alibaba PuHuiTi" pitchFamily="18" charset="-122"/>
                <a:cs typeface="Alibaba PuHuiTi" pitchFamily="18" charset="-122"/>
              </a:rPr>
              <a:t> </a:t>
            </a:r>
            <a:r>
              <a:rPr lang="en-US" altLang="zh-CN" sz="1600" dirty="0" err="1">
                <a:solidFill>
                  <a:schemeClr val="accent2">
                    <a:lumMod val="75000"/>
                  </a:schemeClr>
                </a:solidFill>
                <a:latin typeface="Alibaba PuHuiTi" pitchFamily="18" charset="-122"/>
                <a:ea typeface="Alibaba PuHuiTi" pitchFamily="18" charset="-122"/>
                <a:cs typeface="Alibaba PuHuiTi" pitchFamily="18" charset="-122"/>
              </a:rPr>
              <a:t>n_clusters</a:t>
            </a:r>
            <a:r>
              <a:rPr lang="en-US" altLang="zh-CN" sz="1600" dirty="0">
                <a:solidFill>
                  <a:prstClr val="black">
                    <a:lumMod val="85000"/>
                    <a:lumOff val="15000"/>
                  </a:prstClr>
                </a:solidFill>
                <a:latin typeface="Alibaba PuHuiTi" pitchFamily="18" charset="-122"/>
                <a:ea typeface="Alibaba PuHuiTi" pitchFamily="18" charset="-122"/>
                <a:cs typeface="Alibaba PuHuiTi" pitchFamily="18" charset="-122"/>
              </a:rPr>
              <a:t>:</a:t>
            </a:r>
            <a:r>
              <a:rPr lang="zh-CN" altLang="en-US" sz="1600" dirty="0">
                <a:solidFill>
                  <a:prstClr val="black">
                    <a:lumMod val="85000"/>
                    <a:lumOff val="15000"/>
                  </a:prstClr>
                </a:solidFill>
                <a:latin typeface="Alibaba PuHuiTi" pitchFamily="18" charset="-122"/>
                <a:ea typeface="Alibaba PuHuiTi" pitchFamily="18" charset="-122"/>
                <a:cs typeface="Alibaba PuHuiTi" pitchFamily="18" charset="-122"/>
              </a:rPr>
              <a:t>开始的聚类中心数量</a:t>
            </a:r>
            <a:endParaRPr kumimoji="0" lang="en-US" altLang="zh-CN" sz="16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a:p>
            <a:pPr lvl="0" defTabSz="913765" fontAlgn="base">
              <a:lnSpc>
                <a:spcPct val="150000"/>
              </a:lnSpc>
              <a:defRPr/>
            </a:pPr>
            <a:r>
              <a:rPr lang="zh-CN" altLang="en-US" sz="1600" dirty="0">
                <a:solidFill>
                  <a:prstClr val="black">
                    <a:lumMod val="85000"/>
                    <a:lumOff val="15000"/>
                  </a:prstClr>
                </a:solidFill>
                <a:latin typeface="Alibaba PuHuiTi" pitchFamily="18" charset="-122"/>
                <a:ea typeface="Alibaba PuHuiTi" pitchFamily="18" charset="-122"/>
                <a:cs typeface="Alibaba PuHuiTi" pitchFamily="18" charset="-122"/>
              </a:rPr>
              <a:t>              </a:t>
            </a:r>
            <a:r>
              <a:rPr lang="en-US" altLang="zh-CN" sz="1600" dirty="0">
                <a:solidFill>
                  <a:prstClr val="black">
                    <a:lumMod val="85000"/>
                    <a:lumOff val="15000"/>
                  </a:prstClr>
                </a:solidFill>
                <a:latin typeface="Alibaba PuHuiTi" pitchFamily="18" charset="-122"/>
                <a:ea typeface="Alibaba PuHuiTi" pitchFamily="18" charset="-122"/>
                <a:cs typeface="Alibaba PuHuiTi" pitchFamily="18" charset="-122"/>
              </a:rPr>
              <a:t>	</a:t>
            </a:r>
            <a:r>
              <a:rPr lang="zh-CN" altLang="en-US" sz="1600" dirty="0">
                <a:solidFill>
                  <a:prstClr val="black">
                    <a:lumMod val="85000"/>
                    <a:lumOff val="15000"/>
                  </a:prstClr>
                </a:solidFill>
                <a:latin typeface="Alibaba PuHuiTi" pitchFamily="18" charset="-122"/>
                <a:ea typeface="Alibaba PuHuiTi" pitchFamily="18" charset="-122"/>
                <a:cs typeface="Alibaba PuHuiTi" pitchFamily="18" charset="-122"/>
              </a:rPr>
              <a:t>整型，缺省值</a:t>
            </a:r>
            <a:r>
              <a:rPr lang="en-US" altLang="zh-CN" sz="1600" dirty="0">
                <a:solidFill>
                  <a:prstClr val="black">
                    <a:lumMod val="85000"/>
                    <a:lumOff val="15000"/>
                  </a:prstClr>
                </a:solidFill>
                <a:latin typeface="Alibaba PuHuiTi" pitchFamily="18" charset="-122"/>
                <a:ea typeface="Alibaba PuHuiTi" pitchFamily="18" charset="-122"/>
                <a:cs typeface="Alibaba PuHuiTi" pitchFamily="18" charset="-122"/>
              </a:rPr>
              <a:t>=8</a:t>
            </a:r>
            <a:r>
              <a:rPr lang="zh-CN" altLang="en-US" sz="1600" dirty="0">
                <a:solidFill>
                  <a:prstClr val="black">
                    <a:lumMod val="85000"/>
                    <a:lumOff val="15000"/>
                  </a:prstClr>
                </a:solidFill>
                <a:latin typeface="Alibaba PuHuiTi" pitchFamily="18" charset="-122"/>
                <a:ea typeface="Alibaba PuHuiTi" pitchFamily="18" charset="-122"/>
                <a:cs typeface="Alibaba PuHuiTi" pitchFamily="18" charset="-122"/>
              </a:rPr>
              <a:t>，生成的聚类数，即产生的质心（</a:t>
            </a:r>
            <a:r>
              <a:rPr lang="en-GB" altLang="zh-CN" sz="1600" dirty="0">
                <a:solidFill>
                  <a:prstClr val="black">
                    <a:lumMod val="85000"/>
                    <a:lumOff val="15000"/>
                  </a:prstClr>
                </a:solidFill>
                <a:latin typeface="Alibaba PuHuiTi" pitchFamily="18" charset="-122"/>
                <a:ea typeface="Alibaba PuHuiTi" pitchFamily="18" charset="-122"/>
                <a:cs typeface="Alibaba PuHuiTi" pitchFamily="18" charset="-122"/>
              </a:rPr>
              <a:t>centroids</a:t>
            </a:r>
            <a:r>
              <a:rPr lang="zh-CN" altLang="en-GB" sz="1600" dirty="0">
                <a:solidFill>
                  <a:prstClr val="black">
                    <a:lumMod val="85000"/>
                    <a:lumOff val="15000"/>
                  </a:prstClr>
                </a:solidFill>
                <a:latin typeface="Alibaba PuHuiTi" pitchFamily="18" charset="-122"/>
                <a:ea typeface="Alibaba PuHuiTi" pitchFamily="18" charset="-122"/>
                <a:cs typeface="Alibaba PuHuiTi" pitchFamily="18" charset="-122"/>
              </a:rPr>
              <a:t>）</a:t>
            </a:r>
            <a:r>
              <a:rPr lang="zh-CN" altLang="en-US" sz="1600" dirty="0">
                <a:solidFill>
                  <a:prstClr val="black">
                    <a:lumMod val="85000"/>
                    <a:lumOff val="15000"/>
                  </a:prstClr>
                </a:solidFill>
                <a:latin typeface="Alibaba PuHuiTi" pitchFamily="18" charset="-122"/>
                <a:ea typeface="Alibaba PuHuiTi" pitchFamily="18" charset="-122"/>
                <a:cs typeface="Alibaba PuHuiTi" pitchFamily="18" charset="-122"/>
              </a:rPr>
              <a:t>数。</a:t>
            </a:r>
            <a:endParaRPr lang="zh-CN" altLang="en-US" sz="1600" dirty="0">
              <a:solidFill>
                <a:prstClr val="black">
                  <a:lumMod val="85000"/>
                  <a:lumOff val="15000"/>
                </a:prstClr>
              </a:solidFill>
              <a:latin typeface="Alibaba PuHuiTi" pitchFamily="18" charset="-122"/>
              <a:ea typeface="Alibaba PuHuiTi" pitchFamily="18" charset="-122"/>
              <a:cs typeface="Alibaba PuHuiTi" pitchFamily="18" charset="-122"/>
            </a:endParaRPr>
          </a:p>
          <a:p>
            <a:pPr marL="285750" marR="0" lvl="0" indent="-285750" algn="l" defTabSz="913765" rtl="0" eaLnBrk="1" fontAlgn="base" latinLnBrk="0" hangingPunct="1">
              <a:lnSpc>
                <a:spcPct val="150000"/>
              </a:lnSpc>
              <a:spcBef>
                <a:spcPts val="0"/>
              </a:spcBef>
              <a:spcAft>
                <a:spcPts val="0"/>
              </a:spcAft>
              <a:buClrTx/>
              <a:buSzTx/>
              <a:buFont typeface="Arial" panose="020B0604020202020204" pitchFamily="34" charset="0"/>
              <a:buChar char="•"/>
              <a:defRPr/>
            </a:pPr>
            <a:r>
              <a:rPr lang="zh-CN" altLang="en-US" sz="1600" noProof="0" dirty="0">
                <a:solidFill>
                  <a:prstClr val="black">
                    <a:lumMod val="85000"/>
                    <a:lumOff val="15000"/>
                  </a:prstClr>
                </a:solidFill>
                <a:latin typeface="Alibaba PuHuiTi" pitchFamily="18" charset="-122"/>
                <a:ea typeface="Alibaba PuHuiTi" pitchFamily="18" charset="-122"/>
                <a:cs typeface="Alibaba PuHuiTi" pitchFamily="18" charset="-122"/>
              </a:rPr>
              <a:t>方法</a:t>
            </a:r>
            <a:endParaRPr lang="en-US" altLang="zh-CN" sz="1600" noProof="0" dirty="0">
              <a:solidFill>
                <a:prstClr val="black">
                  <a:lumMod val="85000"/>
                  <a:lumOff val="15000"/>
                </a:prstClr>
              </a:solidFill>
              <a:latin typeface="Alibaba PuHuiTi" pitchFamily="18" charset="-122"/>
              <a:ea typeface="Alibaba PuHuiTi" pitchFamily="18" charset="-122"/>
              <a:cs typeface="Alibaba PuHuiTi" pitchFamily="18" charset="-122"/>
            </a:endParaRPr>
          </a:p>
          <a:p>
            <a:pPr lvl="0" defTabSz="913765" fontAlgn="base">
              <a:lnSpc>
                <a:spcPct val="150000"/>
              </a:lnSpc>
              <a:defRPr/>
            </a:pPr>
            <a:r>
              <a:rPr lang="zh-CN" altLang="en-US" sz="1600" dirty="0">
                <a:solidFill>
                  <a:prstClr val="black">
                    <a:lumMod val="85000"/>
                    <a:lumOff val="15000"/>
                  </a:prstClr>
                </a:solidFill>
                <a:latin typeface="Alibaba PuHuiTi" pitchFamily="18" charset="-122"/>
                <a:ea typeface="Alibaba PuHuiTi" pitchFamily="18" charset="-122"/>
                <a:cs typeface="Alibaba PuHuiTi" pitchFamily="18" charset="-122"/>
              </a:rPr>
              <a:t>         </a:t>
            </a:r>
            <a:r>
              <a:rPr lang="en-US" altLang="zh-CN" sz="1600" dirty="0" err="1">
                <a:solidFill>
                  <a:prstClr val="black">
                    <a:lumMod val="85000"/>
                    <a:lumOff val="15000"/>
                  </a:prstClr>
                </a:solidFill>
                <a:latin typeface="Alibaba PuHuiTi" pitchFamily="18" charset="-122"/>
                <a:ea typeface="Alibaba PuHuiTi" pitchFamily="18" charset="-122"/>
                <a:cs typeface="Alibaba PuHuiTi" pitchFamily="18" charset="-122"/>
              </a:rPr>
              <a:t>estimator</a:t>
            </a:r>
            <a:r>
              <a:rPr lang="en-US" altLang="zh-CN" sz="1600" dirty="0" err="1">
                <a:solidFill>
                  <a:schemeClr val="accent2">
                    <a:lumMod val="75000"/>
                  </a:schemeClr>
                </a:solidFill>
                <a:latin typeface="Alibaba PuHuiTi" pitchFamily="18" charset="-122"/>
                <a:ea typeface="Alibaba PuHuiTi" pitchFamily="18" charset="-122"/>
                <a:cs typeface="Alibaba PuHuiTi" pitchFamily="18" charset="-122"/>
              </a:rPr>
              <a:t>.fit</a:t>
            </a:r>
            <a:r>
              <a:rPr lang="en-US" altLang="zh-CN" sz="1600" dirty="0">
                <a:solidFill>
                  <a:schemeClr val="accent2">
                    <a:lumMod val="75000"/>
                  </a:schemeClr>
                </a:solidFill>
                <a:latin typeface="Alibaba PuHuiTi" pitchFamily="18" charset="-122"/>
                <a:ea typeface="Alibaba PuHuiTi" pitchFamily="18" charset="-122"/>
                <a:cs typeface="Alibaba PuHuiTi" pitchFamily="18" charset="-122"/>
              </a:rPr>
              <a:t>(x)</a:t>
            </a:r>
            <a:endParaRPr lang="en-US" altLang="zh-CN" sz="1600" dirty="0">
              <a:solidFill>
                <a:schemeClr val="accent2">
                  <a:lumMod val="75000"/>
                </a:schemeClr>
              </a:solidFill>
              <a:latin typeface="Alibaba PuHuiTi" pitchFamily="18" charset="-122"/>
              <a:ea typeface="Alibaba PuHuiTi" pitchFamily="18" charset="-122"/>
              <a:cs typeface="Alibaba PuHuiTi" pitchFamily="18" charset="-122"/>
            </a:endParaRPr>
          </a:p>
          <a:p>
            <a:pPr lvl="0" defTabSz="913765" fontAlgn="base">
              <a:lnSpc>
                <a:spcPct val="150000"/>
              </a:lnSpc>
              <a:defRPr/>
            </a:pPr>
            <a:r>
              <a:rPr lang="en-US" altLang="zh-CN" sz="1600" dirty="0">
                <a:solidFill>
                  <a:prstClr val="black">
                    <a:lumMod val="85000"/>
                    <a:lumOff val="15000"/>
                  </a:prstClr>
                </a:solidFill>
                <a:latin typeface="Alibaba PuHuiTi" pitchFamily="18" charset="-122"/>
                <a:ea typeface="Alibaba PuHuiTi" pitchFamily="18" charset="-122"/>
                <a:cs typeface="Alibaba PuHuiTi" pitchFamily="18" charset="-122"/>
              </a:rPr>
              <a:t>	</a:t>
            </a:r>
            <a:r>
              <a:rPr lang="en-US" altLang="zh-CN" sz="1600" dirty="0" err="1">
                <a:solidFill>
                  <a:prstClr val="black">
                    <a:lumMod val="85000"/>
                    <a:lumOff val="15000"/>
                  </a:prstClr>
                </a:solidFill>
                <a:latin typeface="Alibaba PuHuiTi" pitchFamily="18" charset="-122"/>
                <a:ea typeface="Alibaba PuHuiTi" pitchFamily="18" charset="-122"/>
                <a:cs typeface="Alibaba PuHuiTi" pitchFamily="18" charset="-122"/>
              </a:rPr>
              <a:t>estimator.</a:t>
            </a:r>
            <a:r>
              <a:rPr lang="en-US" altLang="zh-CN" sz="1600" dirty="0" err="1">
                <a:solidFill>
                  <a:schemeClr val="accent2">
                    <a:lumMod val="75000"/>
                  </a:schemeClr>
                </a:solidFill>
                <a:latin typeface="Alibaba PuHuiTi" pitchFamily="18" charset="-122"/>
                <a:ea typeface="Alibaba PuHuiTi" pitchFamily="18" charset="-122"/>
                <a:cs typeface="Alibaba PuHuiTi" pitchFamily="18" charset="-122"/>
              </a:rPr>
              <a:t>predict</a:t>
            </a:r>
            <a:r>
              <a:rPr lang="en-US" altLang="zh-CN" sz="1600" dirty="0">
                <a:solidFill>
                  <a:schemeClr val="accent2">
                    <a:lumMod val="75000"/>
                  </a:schemeClr>
                </a:solidFill>
                <a:latin typeface="Alibaba PuHuiTi" pitchFamily="18" charset="-122"/>
                <a:ea typeface="Alibaba PuHuiTi" pitchFamily="18" charset="-122"/>
                <a:cs typeface="Alibaba PuHuiTi" pitchFamily="18" charset="-122"/>
              </a:rPr>
              <a:t>(x)</a:t>
            </a:r>
            <a:endParaRPr lang="en-US" altLang="zh-CN" sz="1600" dirty="0">
              <a:solidFill>
                <a:schemeClr val="accent2">
                  <a:lumMod val="75000"/>
                </a:schemeClr>
              </a:solidFill>
              <a:latin typeface="Alibaba PuHuiTi" pitchFamily="18" charset="-122"/>
              <a:ea typeface="Alibaba PuHuiTi" pitchFamily="18" charset="-122"/>
              <a:cs typeface="Alibaba PuHuiTi" pitchFamily="18" charset="-122"/>
            </a:endParaRPr>
          </a:p>
          <a:p>
            <a:pPr lvl="0" defTabSz="913765" fontAlgn="base">
              <a:lnSpc>
                <a:spcPct val="150000"/>
              </a:lnSpc>
              <a:defRPr/>
            </a:pPr>
            <a:r>
              <a:rPr lang="en-US" altLang="zh-CN" sz="1600" dirty="0">
                <a:solidFill>
                  <a:prstClr val="black">
                    <a:lumMod val="85000"/>
                    <a:lumOff val="15000"/>
                  </a:prstClr>
                </a:solidFill>
                <a:latin typeface="Alibaba PuHuiTi" pitchFamily="18" charset="-122"/>
                <a:ea typeface="Alibaba PuHuiTi" pitchFamily="18" charset="-122"/>
                <a:cs typeface="Alibaba PuHuiTi" pitchFamily="18" charset="-122"/>
              </a:rPr>
              <a:t>	</a:t>
            </a:r>
            <a:r>
              <a:rPr lang="en-US" altLang="zh-CN" sz="1600" dirty="0" err="1">
                <a:solidFill>
                  <a:prstClr val="black">
                    <a:lumMod val="85000"/>
                    <a:lumOff val="15000"/>
                  </a:prstClr>
                </a:solidFill>
                <a:latin typeface="Alibaba PuHuiTi" pitchFamily="18" charset="-122"/>
                <a:ea typeface="Alibaba PuHuiTi" pitchFamily="18" charset="-122"/>
                <a:cs typeface="Alibaba PuHuiTi" pitchFamily="18" charset="-122"/>
              </a:rPr>
              <a:t>estimator.</a:t>
            </a:r>
            <a:r>
              <a:rPr lang="en-US" altLang="zh-CN" sz="1600" dirty="0" err="1">
                <a:solidFill>
                  <a:schemeClr val="accent2">
                    <a:lumMod val="75000"/>
                  </a:schemeClr>
                </a:solidFill>
                <a:latin typeface="Alibaba PuHuiTi" pitchFamily="18" charset="-122"/>
                <a:ea typeface="Alibaba PuHuiTi" pitchFamily="18" charset="-122"/>
                <a:cs typeface="Alibaba PuHuiTi" pitchFamily="18" charset="-122"/>
              </a:rPr>
              <a:t>fit_predict</a:t>
            </a:r>
            <a:r>
              <a:rPr lang="en-US" altLang="zh-CN" sz="1600" dirty="0">
                <a:solidFill>
                  <a:schemeClr val="accent2">
                    <a:lumMod val="75000"/>
                  </a:schemeClr>
                </a:solidFill>
                <a:latin typeface="Alibaba PuHuiTi" pitchFamily="18" charset="-122"/>
                <a:ea typeface="Alibaba PuHuiTi" pitchFamily="18" charset="-122"/>
                <a:cs typeface="Alibaba PuHuiTi" pitchFamily="18" charset="-122"/>
              </a:rPr>
              <a:t>(x): </a:t>
            </a:r>
            <a:r>
              <a:rPr lang="zh-CN" altLang="en-US" sz="1600" dirty="0">
                <a:solidFill>
                  <a:prstClr val="black">
                    <a:lumMod val="85000"/>
                    <a:lumOff val="15000"/>
                  </a:prstClr>
                </a:solidFill>
                <a:latin typeface="Alibaba PuHuiTi" pitchFamily="18" charset="-122"/>
                <a:ea typeface="Alibaba PuHuiTi" pitchFamily="18" charset="-122"/>
                <a:cs typeface="Alibaba PuHuiTi" pitchFamily="18" charset="-122"/>
              </a:rPr>
              <a:t>计算聚类中心并预测每个样本属于哪个类别</a:t>
            </a:r>
            <a:r>
              <a:rPr lang="en-US" altLang="zh-CN" sz="1600" dirty="0">
                <a:solidFill>
                  <a:prstClr val="black">
                    <a:lumMod val="85000"/>
                    <a:lumOff val="15000"/>
                  </a:prstClr>
                </a:solidFill>
                <a:latin typeface="Alibaba PuHuiTi" pitchFamily="18" charset="-122"/>
                <a:ea typeface="Alibaba PuHuiTi" pitchFamily="18" charset="-122"/>
                <a:cs typeface="Alibaba PuHuiTi" pitchFamily="18" charset="-122"/>
              </a:rPr>
              <a:t>,</a:t>
            </a:r>
            <a:endParaRPr lang="en-US" altLang="zh-CN" sz="1600" dirty="0">
              <a:solidFill>
                <a:prstClr val="black">
                  <a:lumMod val="85000"/>
                  <a:lumOff val="15000"/>
                </a:prstClr>
              </a:solidFill>
              <a:latin typeface="Alibaba PuHuiTi" pitchFamily="18" charset="-122"/>
              <a:ea typeface="Alibaba PuHuiTi" pitchFamily="18" charset="-122"/>
              <a:cs typeface="Alibaba PuHuiTi" pitchFamily="18" charset="-122"/>
            </a:endParaRPr>
          </a:p>
          <a:p>
            <a:pPr lvl="0" defTabSz="913765" fontAlgn="base">
              <a:lnSpc>
                <a:spcPct val="150000"/>
              </a:lnSpc>
              <a:defRPr/>
            </a:pPr>
            <a:r>
              <a:rPr lang="en-US" altLang="zh-CN" sz="1600" dirty="0">
                <a:solidFill>
                  <a:prstClr val="black">
                    <a:lumMod val="85000"/>
                    <a:lumOff val="15000"/>
                  </a:prstClr>
                </a:solidFill>
                <a:latin typeface="Alibaba PuHuiTi" pitchFamily="18" charset="-122"/>
                <a:ea typeface="Alibaba PuHuiTi" pitchFamily="18" charset="-122"/>
                <a:cs typeface="Alibaba PuHuiTi" pitchFamily="18" charset="-122"/>
              </a:rPr>
              <a:t>                                   </a:t>
            </a:r>
            <a:r>
              <a:rPr lang="zh-CN" altLang="en-US" sz="1600" dirty="0">
                <a:solidFill>
                  <a:prstClr val="black">
                    <a:lumMod val="85000"/>
                    <a:lumOff val="15000"/>
                  </a:prstClr>
                </a:solidFill>
                <a:latin typeface="Alibaba PuHuiTi" pitchFamily="18" charset="-122"/>
                <a:ea typeface="Alibaba PuHuiTi" pitchFamily="18" charset="-122"/>
                <a:cs typeface="Alibaba PuHuiTi" pitchFamily="18" charset="-122"/>
              </a:rPr>
              <a:t>相当于先调用</a:t>
            </a:r>
            <a:r>
              <a:rPr lang="en-US" altLang="zh-CN" sz="1600" dirty="0">
                <a:solidFill>
                  <a:prstClr val="black">
                    <a:lumMod val="85000"/>
                    <a:lumOff val="15000"/>
                  </a:prstClr>
                </a:solidFill>
                <a:latin typeface="Alibaba PuHuiTi" pitchFamily="18" charset="-122"/>
                <a:ea typeface="Alibaba PuHuiTi" pitchFamily="18" charset="-122"/>
                <a:cs typeface="Alibaba PuHuiTi" pitchFamily="18" charset="-122"/>
              </a:rPr>
              <a:t>fit(x),</a:t>
            </a:r>
            <a:r>
              <a:rPr lang="zh-CN" altLang="en-US" sz="1600" dirty="0">
                <a:solidFill>
                  <a:prstClr val="black">
                    <a:lumMod val="85000"/>
                    <a:lumOff val="15000"/>
                  </a:prstClr>
                </a:solidFill>
                <a:latin typeface="Alibaba PuHuiTi" pitchFamily="18" charset="-122"/>
                <a:ea typeface="Alibaba PuHuiTi" pitchFamily="18" charset="-122"/>
                <a:cs typeface="Alibaba PuHuiTi" pitchFamily="18" charset="-122"/>
              </a:rPr>
              <a:t>然后再调用</a:t>
            </a:r>
            <a:r>
              <a:rPr lang="en-US" altLang="zh-CN" sz="1600" dirty="0">
                <a:solidFill>
                  <a:prstClr val="black">
                    <a:lumMod val="85000"/>
                    <a:lumOff val="15000"/>
                  </a:prstClr>
                </a:solidFill>
                <a:latin typeface="Alibaba PuHuiTi" pitchFamily="18" charset="-122"/>
                <a:ea typeface="Alibaba PuHuiTi" pitchFamily="18" charset="-122"/>
                <a:cs typeface="Alibaba PuHuiTi" pitchFamily="18" charset="-122"/>
              </a:rPr>
              <a:t>predict(x)</a:t>
            </a:r>
            <a:endParaRPr lang="en-US" altLang="zh-CN" sz="1600" dirty="0">
              <a:solidFill>
                <a:prstClr val="black">
                  <a:lumMod val="85000"/>
                  <a:lumOff val="15000"/>
                </a:prstClr>
              </a:solidFill>
              <a:latin typeface="Alibaba PuHuiTi" pitchFamily="18" charset="-122"/>
              <a:ea typeface="Alibaba PuHuiTi" pitchFamily="18" charset="-122"/>
              <a:cs typeface="Alibaba PuHuiTi" pitchFamily="18" charset="-122"/>
            </a:endParaRPr>
          </a:p>
          <a:p>
            <a:pPr marL="285750" marR="0" lvl="0" indent="-285750" algn="l" defTabSz="913765" rtl="0" eaLnBrk="1" fontAlgn="base" latinLnBrk="0" hangingPunct="1">
              <a:lnSpc>
                <a:spcPct val="150000"/>
              </a:lnSpc>
              <a:spcBef>
                <a:spcPts val="0"/>
              </a:spcBef>
              <a:spcAft>
                <a:spcPts val="0"/>
              </a:spcAft>
              <a:buClrTx/>
              <a:buSzTx/>
              <a:buFont typeface="Arial" panose="020B0604020202020204" pitchFamily="34" charset="0"/>
              <a:buChar char="•"/>
              <a:defRPr/>
            </a:pPr>
            <a:endPar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01 (106)"/>
          <p:cNvPicPr>
            <a:picLocks noChangeAspect="1"/>
          </p:cNvPicPr>
          <p:nvPr/>
        </p:nvPicPr>
        <p:blipFill>
          <a:blip r:embed="rId1"/>
          <a:stretch>
            <a:fillRect/>
          </a:stretch>
        </p:blipFill>
        <p:spPr>
          <a:xfrm>
            <a:off x="10223567" y="5182766"/>
            <a:ext cx="1409816" cy="1409816"/>
          </a:xfrm>
          <a:prstGeom prst="rect">
            <a:avLst/>
          </a:prstGeom>
        </p:spPr>
      </p:pic>
      <p:sp>
        <p:nvSpPr>
          <p:cNvPr id="15" name="标题 2"/>
          <p:cNvSpPr txBox="1"/>
          <p:nvPr/>
        </p:nvSpPr>
        <p:spPr>
          <a:xfrm>
            <a:off x="2172295" y="985966"/>
            <a:ext cx="8364294" cy="517190"/>
          </a:xfrm>
          <a:prstGeom prst="rect">
            <a:avLst/>
          </a:prstGeom>
        </p:spPr>
        <p:txBody>
          <a:bodyPr/>
          <a:lst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000" b="1" i="0" u="none" strike="noStrike" kern="1200" cap="none" spc="0" normalizeH="0" baseline="0" noProof="0" dirty="0">
                <a:ln>
                  <a:noFill/>
                </a:ln>
                <a:solidFill>
                  <a:srgbClr val="595959"/>
                </a:solidFill>
                <a:effectLst/>
                <a:uLnTx/>
                <a:uFillTx/>
                <a:latin typeface="Alibaba PuHuiTi" pitchFamily="18" charset="-122"/>
                <a:ea typeface="Alibaba PuHuiTi" pitchFamily="18" charset="-122"/>
                <a:cs typeface="Alibaba PuHuiTi" pitchFamily="18" charset="-122"/>
              </a:rPr>
              <a:t>使用</a:t>
            </a:r>
            <a:r>
              <a:rPr kumimoji="1" lang="en-US" altLang="zh-CN" sz="2000" b="1" i="0" u="none" strike="noStrike" kern="1200" cap="none" spc="0" normalizeH="0" baseline="0" noProof="0" dirty="0" err="1">
                <a:ln>
                  <a:noFill/>
                </a:ln>
                <a:solidFill>
                  <a:srgbClr val="595959"/>
                </a:solidFill>
                <a:effectLst/>
                <a:uLnTx/>
                <a:uFillTx/>
                <a:latin typeface="Alibaba PuHuiTi" pitchFamily="18" charset="-122"/>
                <a:ea typeface="Alibaba PuHuiTi" pitchFamily="18" charset="-122"/>
                <a:cs typeface="Alibaba PuHuiTi" pitchFamily="18" charset="-122"/>
              </a:rPr>
              <a:t>KMeans</a:t>
            </a:r>
            <a:r>
              <a:rPr kumimoji="1" lang="zh-CN" altLang="en-US" sz="2000" b="1" i="0" u="none" strike="noStrike" kern="1200" cap="none" spc="0" normalizeH="0" baseline="0" noProof="0" dirty="0">
                <a:ln>
                  <a:noFill/>
                </a:ln>
                <a:solidFill>
                  <a:srgbClr val="595959"/>
                </a:solidFill>
                <a:effectLst/>
                <a:uLnTx/>
                <a:uFillTx/>
                <a:latin typeface="Alibaba PuHuiTi" pitchFamily="18" charset="-122"/>
                <a:ea typeface="Alibaba PuHuiTi" pitchFamily="18" charset="-122"/>
                <a:cs typeface="Alibaba PuHuiTi" pitchFamily="18" charset="-122"/>
              </a:rPr>
              <a:t>模型数据探索聚类</a:t>
            </a:r>
            <a:r>
              <a:rPr kumimoji="1" lang="zh-CN" altLang="en-US" sz="3200" b="1" i="0" u="none" strike="noStrike" kern="1200" cap="none" spc="0" normalizeH="0" baseline="0" noProof="0" dirty="0">
                <a:ln>
                  <a:noFill/>
                </a:ln>
                <a:solidFill>
                  <a:srgbClr val="595959"/>
                </a:solidFill>
                <a:effectLst/>
                <a:uLnTx/>
                <a:uFillTx/>
                <a:latin typeface="黑体" panose="02010609060101010101" pitchFamily="49" charset="-122"/>
                <a:ea typeface="黑体" panose="02010609060101010101" pitchFamily="49" charset="-122"/>
                <a:cs typeface="+mj-cs"/>
              </a:rPr>
              <a:t>  </a:t>
            </a:r>
            <a:endParaRPr kumimoji="1" lang="zh-CN" altLang="en-US" sz="3200" b="1" i="0" u="none" strike="noStrike" kern="1200" cap="none" spc="0" normalizeH="0" baseline="0" noProof="0" dirty="0">
              <a:ln>
                <a:noFill/>
              </a:ln>
              <a:solidFill>
                <a:srgbClr val="595959"/>
              </a:solidFill>
              <a:effectLst/>
              <a:uLnTx/>
              <a:uFillTx/>
              <a:latin typeface="黑体" panose="02010609060101010101" pitchFamily="49" charset="-122"/>
              <a:ea typeface="黑体" panose="02010609060101010101" pitchFamily="49" charset="-122"/>
              <a:cs typeface="+mj-cs"/>
            </a:endParaRPr>
          </a:p>
        </p:txBody>
      </p:sp>
      <p:sp>
        <p:nvSpPr>
          <p:cNvPr id="18" name="三角形 17"/>
          <p:cNvSpPr/>
          <p:nvPr/>
        </p:nvSpPr>
        <p:spPr>
          <a:xfrm rot="2651319">
            <a:off x="3473471" y="1954238"/>
            <a:ext cx="145648" cy="78105"/>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latin typeface="Calibri" panose="020F0502020204030204"/>
              <a:ea typeface="黑体" panose="02010609060101010101" pitchFamily="49" charset="-122"/>
              <a:cs typeface="+mn-cs"/>
            </a:endParaRPr>
          </a:p>
        </p:txBody>
      </p:sp>
      <p:pic>
        <p:nvPicPr>
          <p:cNvPr id="5" name="图片 4"/>
          <p:cNvPicPr>
            <a:picLocks noChangeAspect="1"/>
          </p:cNvPicPr>
          <p:nvPr/>
        </p:nvPicPr>
        <p:blipFill>
          <a:blip r:embed="rId2"/>
          <a:stretch>
            <a:fillRect/>
          </a:stretch>
        </p:blipFill>
        <p:spPr>
          <a:xfrm>
            <a:off x="3048016" y="2377100"/>
            <a:ext cx="6468730" cy="4351388"/>
          </a:xfrm>
          <a:prstGeom prst="rect">
            <a:avLst/>
          </a:prstGeom>
        </p:spPr>
      </p:pic>
      <p:sp>
        <p:nvSpPr>
          <p:cNvPr id="13" name="文本框 12"/>
          <p:cNvSpPr txBox="1"/>
          <p:nvPr/>
        </p:nvSpPr>
        <p:spPr>
          <a:xfrm>
            <a:off x="765544" y="1730769"/>
            <a:ext cx="10185991" cy="884473"/>
          </a:xfrm>
          <a:prstGeom prst="rect">
            <a:avLst/>
          </a:prstGeom>
          <a:noFill/>
        </p:spPr>
        <p:txBody>
          <a:bodyPr wrap="square">
            <a:spAutoFit/>
          </a:bodyPr>
          <a:lstStyle/>
          <a:p>
            <a:pPr>
              <a:lnSpc>
                <a:spcPct val="150000"/>
              </a:lnSpc>
            </a:pPr>
            <a:r>
              <a:rPr lang="zh-CN" altLang="en-US" b="0" i="0" dirty="0">
                <a:solidFill>
                  <a:srgbClr val="333333"/>
                </a:solidFill>
                <a:effectLst/>
                <a:latin typeface="Alibaba PuHuiTi" pitchFamily="18" charset="-122"/>
                <a:ea typeface="Alibaba PuHuiTi" pitchFamily="18" charset="-122"/>
                <a:cs typeface="Alibaba PuHuiTi" pitchFamily="18" charset="-122"/>
              </a:rPr>
              <a:t>随机创建不同二维数据集作为训练集，并结合</a:t>
            </a:r>
            <a:r>
              <a:rPr lang="en-GB" altLang="zh-CN" b="0" i="0" dirty="0">
                <a:solidFill>
                  <a:srgbClr val="333333"/>
                </a:solidFill>
                <a:effectLst/>
                <a:latin typeface="Alibaba PuHuiTi" pitchFamily="18" charset="-122"/>
                <a:ea typeface="Alibaba PuHuiTi" pitchFamily="18" charset="-122"/>
                <a:cs typeface="Alibaba PuHuiTi" pitchFamily="18" charset="-122"/>
              </a:rPr>
              <a:t>k-means</a:t>
            </a:r>
            <a:r>
              <a:rPr lang="zh-CN" altLang="en-US" b="0" i="0" dirty="0">
                <a:solidFill>
                  <a:srgbClr val="333333"/>
                </a:solidFill>
                <a:effectLst/>
                <a:latin typeface="Alibaba PuHuiTi" pitchFamily="18" charset="-122"/>
                <a:ea typeface="Alibaba PuHuiTi" pitchFamily="18" charset="-122"/>
                <a:cs typeface="Alibaba PuHuiTi" pitchFamily="18" charset="-122"/>
              </a:rPr>
              <a:t>算法将其聚类，尝试分别聚类不同数量的簇，并观察聚类效果：</a:t>
            </a:r>
            <a:endParaRPr lang="zh-CN" altLang="en-US" dirty="0">
              <a:latin typeface="Alibaba PuHuiTi" pitchFamily="18" charset="-122"/>
              <a:ea typeface="Alibaba PuHuiTi" pitchFamily="18" charset="-122"/>
              <a:cs typeface="Alibaba PuHuiTi" pitchFamily="18"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01 (106)"/>
          <p:cNvPicPr>
            <a:picLocks noChangeAspect="1"/>
          </p:cNvPicPr>
          <p:nvPr/>
        </p:nvPicPr>
        <p:blipFill>
          <a:blip r:embed="rId1"/>
          <a:stretch>
            <a:fillRect/>
          </a:stretch>
        </p:blipFill>
        <p:spPr>
          <a:xfrm>
            <a:off x="10223567" y="5182766"/>
            <a:ext cx="1409816" cy="1409816"/>
          </a:xfrm>
          <a:prstGeom prst="rect">
            <a:avLst/>
          </a:prstGeom>
        </p:spPr>
      </p:pic>
      <p:sp>
        <p:nvSpPr>
          <p:cNvPr id="15" name="标题 2"/>
          <p:cNvSpPr txBox="1"/>
          <p:nvPr/>
        </p:nvSpPr>
        <p:spPr>
          <a:xfrm>
            <a:off x="2172295" y="985966"/>
            <a:ext cx="8364294" cy="517190"/>
          </a:xfrm>
          <a:prstGeom prst="rect">
            <a:avLst/>
          </a:prstGeom>
        </p:spPr>
        <p:txBody>
          <a:bodyPr/>
          <a:lst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000" b="1" i="0" u="none" strike="noStrike" kern="1200" cap="none" spc="0" normalizeH="0" baseline="0" noProof="0" dirty="0">
                <a:ln>
                  <a:noFill/>
                </a:ln>
                <a:solidFill>
                  <a:srgbClr val="595959"/>
                </a:solidFill>
                <a:effectLst/>
                <a:uLnTx/>
                <a:uFillTx/>
                <a:latin typeface="Alibaba PuHuiTi" pitchFamily="18" charset="-122"/>
                <a:ea typeface="Alibaba PuHuiTi" pitchFamily="18" charset="-122"/>
                <a:cs typeface="Alibaba PuHuiTi" pitchFamily="18" charset="-122"/>
              </a:rPr>
              <a:t>使用</a:t>
            </a:r>
            <a:r>
              <a:rPr kumimoji="1" lang="en-US" altLang="zh-CN" sz="2000" b="1" i="0" u="none" strike="noStrike" kern="1200" cap="none" spc="0" normalizeH="0" baseline="0" noProof="0" dirty="0" err="1">
                <a:ln>
                  <a:noFill/>
                </a:ln>
                <a:solidFill>
                  <a:srgbClr val="595959"/>
                </a:solidFill>
                <a:effectLst/>
                <a:uLnTx/>
                <a:uFillTx/>
                <a:latin typeface="Alibaba PuHuiTi" pitchFamily="18" charset="-122"/>
                <a:ea typeface="Alibaba PuHuiTi" pitchFamily="18" charset="-122"/>
                <a:cs typeface="Alibaba PuHuiTi" pitchFamily="18" charset="-122"/>
              </a:rPr>
              <a:t>KMeans</a:t>
            </a:r>
            <a:r>
              <a:rPr kumimoji="1" lang="zh-CN" altLang="en-US" sz="2000" b="1" i="0" u="none" strike="noStrike" kern="1200" cap="none" spc="0" normalizeH="0" baseline="0" noProof="0" dirty="0">
                <a:ln>
                  <a:noFill/>
                </a:ln>
                <a:solidFill>
                  <a:srgbClr val="595959"/>
                </a:solidFill>
                <a:effectLst/>
                <a:uLnTx/>
                <a:uFillTx/>
                <a:latin typeface="Alibaba PuHuiTi" pitchFamily="18" charset="-122"/>
                <a:ea typeface="Alibaba PuHuiTi" pitchFamily="18" charset="-122"/>
                <a:cs typeface="Alibaba PuHuiTi" pitchFamily="18" charset="-122"/>
              </a:rPr>
              <a:t>模型数据探索聚类</a:t>
            </a:r>
            <a:r>
              <a:rPr kumimoji="1" lang="zh-CN" altLang="en-US" sz="3200" b="1" i="0" u="none" strike="noStrike" kern="1200" cap="none" spc="0" normalizeH="0" baseline="0" noProof="0" dirty="0">
                <a:ln>
                  <a:noFill/>
                </a:ln>
                <a:solidFill>
                  <a:srgbClr val="595959"/>
                </a:solidFill>
                <a:effectLst/>
                <a:uLnTx/>
                <a:uFillTx/>
                <a:latin typeface="黑体" panose="02010609060101010101" pitchFamily="49" charset="-122"/>
                <a:ea typeface="黑体" panose="02010609060101010101" pitchFamily="49" charset="-122"/>
                <a:cs typeface="+mj-cs"/>
              </a:rPr>
              <a:t>  </a:t>
            </a:r>
            <a:endParaRPr kumimoji="1" lang="zh-CN" altLang="en-US" sz="3200" b="1" i="0" u="none" strike="noStrike" kern="1200" cap="none" spc="0" normalizeH="0" baseline="0" noProof="0" dirty="0">
              <a:ln>
                <a:noFill/>
              </a:ln>
              <a:solidFill>
                <a:srgbClr val="595959"/>
              </a:solidFill>
              <a:effectLst/>
              <a:uLnTx/>
              <a:uFillTx/>
              <a:latin typeface="黑体" panose="02010609060101010101" pitchFamily="49" charset="-122"/>
              <a:ea typeface="黑体" panose="02010609060101010101" pitchFamily="49" charset="-122"/>
              <a:cs typeface="+mj-cs"/>
            </a:endParaRPr>
          </a:p>
        </p:txBody>
      </p:sp>
      <p:sp>
        <p:nvSpPr>
          <p:cNvPr id="8" name="文本框 7"/>
          <p:cNvSpPr txBox="1"/>
          <p:nvPr/>
        </p:nvSpPr>
        <p:spPr>
          <a:xfrm>
            <a:off x="2375345" y="2034580"/>
            <a:ext cx="7958193" cy="2788840"/>
          </a:xfrm>
          <a:prstGeom prst="rect">
            <a:avLst/>
          </a:prstGeom>
          <a:noFill/>
        </p:spPr>
        <p:txBody>
          <a:bodyPr wrap="square">
            <a:spAutoFit/>
          </a:bodyPr>
          <a:lstStyle/>
          <a:p>
            <a:pPr marL="0" marR="0" lvl="0" indent="0" algn="l" defTabSz="914400" rtl="0" eaLnBrk="1" fontAlgn="auto" latinLnBrk="0" hangingPunct="1">
              <a:lnSpc>
                <a:spcPct val="200000"/>
              </a:lnSpc>
              <a:spcBef>
                <a:spcPts val="0"/>
              </a:spcBef>
              <a:spcAft>
                <a:spcPts val="0"/>
              </a:spcAft>
              <a:buClrTx/>
              <a:buSzTx/>
              <a:buFontTx/>
              <a:buNone/>
              <a:defRPr/>
            </a:pPr>
            <a:r>
              <a:rPr kumimoji="0" lang="en-US" altLang="zh-CN"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1 </a:t>
            </a:r>
            <a:r>
              <a:rPr kumimoji="0" lang="zh-CN" altLang="en-US"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导包 </a:t>
            </a:r>
            <a:r>
              <a:rPr kumimoji="0" lang="en-GB" altLang="zh-CN" sz="1800" b="0" i="0" u="none" strike="noStrike" kern="1200" cap="none" spc="0" normalizeH="0" baseline="0" noProof="0" dirty="0" err="1">
                <a:ln>
                  <a:noFill/>
                </a:ln>
                <a:effectLst/>
                <a:uLnTx/>
                <a:uFillTx/>
                <a:latin typeface="Alibaba PuHuiTi" pitchFamily="18" charset="-122"/>
                <a:ea typeface="Alibaba PuHuiTi" pitchFamily="18" charset="-122"/>
                <a:cs typeface="Alibaba PuHuiTi" pitchFamily="18" charset="-122"/>
              </a:rPr>
              <a:t>sklearn.cluster.KMeans</a:t>
            </a:r>
            <a:r>
              <a:rPr kumimoji="0" lang="en-GB" altLang="zh-CN"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 </a:t>
            </a:r>
            <a:r>
              <a:rPr kumimoji="0" lang="en-GB" altLang="zh-CN" sz="1800" b="0" i="0" u="none" strike="noStrike" kern="1200" cap="none" spc="0" normalizeH="0" baseline="0" noProof="0" dirty="0" err="1">
                <a:ln>
                  <a:noFill/>
                </a:ln>
                <a:effectLst/>
                <a:uLnTx/>
                <a:uFillTx/>
                <a:latin typeface="Alibaba PuHuiTi" pitchFamily="18" charset="-122"/>
                <a:ea typeface="Alibaba PuHuiTi" pitchFamily="18" charset="-122"/>
                <a:cs typeface="Alibaba PuHuiTi" pitchFamily="18" charset="-122"/>
              </a:rPr>
              <a:t>sklearn.datasets.make_blobs</a:t>
            </a:r>
            <a:br>
              <a:rPr kumimoji="0" lang="en-GB" altLang="zh-CN"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br>
            <a:r>
              <a:rPr kumimoji="0" lang="en-GB" altLang="zh-CN"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2 </a:t>
            </a:r>
            <a:r>
              <a:rPr kumimoji="0" lang="zh-CN" altLang="en-US"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创建数据集 </a:t>
            </a:r>
            <a:br>
              <a:rPr kumimoji="0" lang="zh-CN" altLang="en-US"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br>
            <a:r>
              <a:rPr kumimoji="0" lang="en-US" altLang="zh-CN"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3 </a:t>
            </a:r>
            <a:r>
              <a:rPr kumimoji="0" lang="zh-CN" altLang="en-US"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实例化</a:t>
            </a:r>
            <a:r>
              <a:rPr kumimoji="0" lang="en-GB" altLang="zh-CN" sz="1800" b="0" i="0" u="none" strike="noStrike" kern="1200" cap="none" spc="0" normalizeH="0" baseline="0" noProof="0" dirty="0" err="1">
                <a:ln>
                  <a:noFill/>
                </a:ln>
                <a:effectLst/>
                <a:uLnTx/>
                <a:uFillTx/>
                <a:latin typeface="Alibaba PuHuiTi" pitchFamily="18" charset="-122"/>
                <a:ea typeface="Alibaba PuHuiTi" pitchFamily="18" charset="-122"/>
                <a:cs typeface="Alibaba PuHuiTi" pitchFamily="18" charset="-122"/>
              </a:rPr>
              <a:t>Kmeans</a:t>
            </a:r>
            <a:r>
              <a:rPr kumimoji="0" lang="zh-CN" altLang="en-US"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模型并预测 </a:t>
            </a:r>
            <a:br>
              <a:rPr kumimoji="0" lang="zh-CN" altLang="en-US"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br>
            <a:r>
              <a:rPr kumimoji="0" lang="en-US" altLang="zh-CN"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4 </a:t>
            </a:r>
            <a:r>
              <a:rPr kumimoji="0" lang="zh-CN" altLang="en-US"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展示聚类效果</a:t>
            </a:r>
            <a:br>
              <a:rPr kumimoji="0" lang="zh-CN" altLang="en-US"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br>
            <a:r>
              <a:rPr kumimoji="0" lang="en-US" altLang="zh-CN"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5 </a:t>
            </a:r>
            <a:r>
              <a:rPr kumimoji="0" lang="zh-CN" altLang="en-US"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评估聚类效果好坏</a:t>
            </a:r>
            <a:endParaRPr kumimoji="0" lang="en-GB" altLang="zh-CN"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01 (106)"/>
          <p:cNvPicPr>
            <a:picLocks noChangeAspect="1"/>
          </p:cNvPicPr>
          <p:nvPr/>
        </p:nvPicPr>
        <p:blipFill>
          <a:blip r:embed="rId1"/>
          <a:stretch>
            <a:fillRect/>
          </a:stretch>
        </p:blipFill>
        <p:spPr>
          <a:xfrm>
            <a:off x="10223567" y="5182766"/>
            <a:ext cx="1409816" cy="1409816"/>
          </a:xfrm>
          <a:prstGeom prst="rect">
            <a:avLst/>
          </a:prstGeom>
        </p:spPr>
      </p:pic>
      <p:sp>
        <p:nvSpPr>
          <p:cNvPr id="15" name="标题 2"/>
          <p:cNvSpPr txBox="1"/>
          <p:nvPr/>
        </p:nvSpPr>
        <p:spPr>
          <a:xfrm>
            <a:off x="2172295" y="985966"/>
            <a:ext cx="8364294" cy="517190"/>
          </a:xfrm>
          <a:prstGeom prst="rect">
            <a:avLst/>
          </a:prstGeom>
        </p:spPr>
        <p:txBody>
          <a:bodyPr/>
          <a:lst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zh-CN" altLang="en-US" sz="2000" b="1" i="0" u="none" strike="noStrike" kern="1200" cap="none" spc="0" normalizeH="0" baseline="0" noProof="0" dirty="0">
                <a:ln>
                  <a:noFill/>
                </a:ln>
                <a:solidFill>
                  <a:srgbClr val="595959"/>
                </a:solidFill>
                <a:effectLst/>
                <a:uLnTx/>
                <a:uFillTx/>
                <a:latin typeface="Alibaba PuHuiTi" pitchFamily="18" charset="-122"/>
                <a:ea typeface="Alibaba PuHuiTi" pitchFamily="18" charset="-122"/>
                <a:cs typeface="Alibaba PuHuiTi" pitchFamily="18" charset="-122"/>
              </a:rPr>
              <a:t>使用</a:t>
            </a:r>
            <a:r>
              <a:rPr kumimoji="1" lang="en-US" altLang="zh-CN" sz="2000" b="1" i="0" u="none" strike="noStrike" kern="1200" cap="none" spc="0" normalizeH="0" baseline="0" noProof="0" dirty="0" err="1">
                <a:ln>
                  <a:noFill/>
                </a:ln>
                <a:solidFill>
                  <a:srgbClr val="595959"/>
                </a:solidFill>
                <a:effectLst/>
                <a:uLnTx/>
                <a:uFillTx/>
                <a:latin typeface="Alibaba PuHuiTi" pitchFamily="18" charset="-122"/>
                <a:ea typeface="Alibaba PuHuiTi" pitchFamily="18" charset="-122"/>
                <a:cs typeface="Alibaba PuHuiTi" pitchFamily="18" charset="-122"/>
              </a:rPr>
              <a:t>KMeans</a:t>
            </a:r>
            <a:r>
              <a:rPr kumimoji="1" lang="zh-CN" altLang="en-US" sz="2000" b="1" i="0" u="none" strike="noStrike" kern="1200" cap="none" spc="0" normalizeH="0" baseline="0" noProof="0" dirty="0">
                <a:ln>
                  <a:noFill/>
                </a:ln>
                <a:solidFill>
                  <a:srgbClr val="595959"/>
                </a:solidFill>
                <a:effectLst/>
                <a:uLnTx/>
                <a:uFillTx/>
                <a:latin typeface="Alibaba PuHuiTi" pitchFamily="18" charset="-122"/>
                <a:ea typeface="Alibaba PuHuiTi" pitchFamily="18" charset="-122"/>
                <a:cs typeface="Alibaba PuHuiTi" pitchFamily="18" charset="-122"/>
              </a:rPr>
              <a:t>模型数据探索聚类</a:t>
            </a:r>
            <a:r>
              <a:rPr kumimoji="1" lang="zh-CN" altLang="en-US" sz="3200" b="1" i="0" u="none" strike="noStrike" kern="1200" cap="none" spc="0" normalizeH="0" baseline="0" noProof="0" dirty="0">
                <a:ln>
                  <a:noFill/>
                </a:ln>
                <a:solidFill>
                  <a:srgbClr val="595959"/>
                </a:solidFill>
                <a:effectLst/>
                <a:uLnTx/>
                <a:uFillTx/>
                <a:latin typeface="黑体" panose="02010609060101010101" pitchFamily="49" charset="-122"/>
                <a:ea typeface="黑体" panose="02010609060101010101" pitchFamily="49" charset="-122"/>
                <a:cs typeface="+mj-cs"/>
              </a:rPr>
              <a:t>  </a:t>
            </a:r>
            <a:endParaRPr kumimoji="1" lang="zh-CN" altLang="en-US" sz="3200" b="1" i="0" u="none" strike="noStrike" kern="1200" cap="none" spc="0" normalizeH="0" baseline="0" noProof="0" dirty="0">
              <a:ln>
                <a:noFill/>
              </a:ln>
              <a:solidFill>
                <a:srgbClr val="595959"/>
              </a:solidFill>
              <a:effectLst/>
              <a:uLnTx/>
              <a:uFillTx/>
              <a:latin typeface="黑体" panose="02010609060101010101" pitchFamily="49" charset="-122"/>
              <a:ea typeface="黑体" panose="02010609060101010101" pitchFamily="49" charset="-122"/>
              <a:cs typeface="+mj-cs"/>
            </a:endParaRPr>
          </a:p>
        </p:txBody>
      </p:sp>
      <p:sp>
        <p:nvSpPr>
          <p:cNvPr id="4" name="TextBox 3"/>
          <p:cNvSpPr txBox="1"/>
          <p:nvPr/>
        </p:nvSpPr>
        <p:spPr>
          <a:xfrm>
            <a:off x="2172295" y="1818719"/>
            <a:ext cx="7775967" cy="4184650"/>
          </a:xfrm>
          <a:prstGeom prst="rect">
            <a:avLst/>
          </a:prstGeom>
          <a:solidFill>
            <a:srgbClr val="FFFFE4"/>
          </a:solidFill>
          <a:ln w="3175">
            <a:solidFill>
              <a:srgbClr val="91919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400" dirty="0">
                <a:solidFill>
                  <a:prstClr val="black"/>
                </a:solidFill>
                <a:latin typeface="Calibri" panose="020F0502020204030204"/>
                <a:ea typeface="黑体" panose="02010609060101010101" pitchFamily="49" charset="-122"/>
              </a:rPr>
              <a:t>#</a:t>
            </a:r>
            <a:r>
              <a:rPr lang="zh-CN" altLang="en-US" sz="1400" dirty="0">
                <a:solidFill>
                  <a:prstClr val="black"/>
                </a:solidFill>
                <a:latin typeface="Calibri" panose="020F0502020204030204"/>
                <a:ea typeface="黑体" panose="02010609060101010101" pitchFamily="49" charset="-122"/>
              </a:rPr>
              <a:t> </a:t>
            </a:r>
            <a:r>
              <a:rPr lang="en-US" altLang="zh-CN" sz="1400" dirty="0">
                <a:solidFill>
                  <a:prstClr val="black"/>
                </a:solidFill>
                <a:latin typeface="Calibri" panose="020F0502020204030204"/>
                <a:ea typeface="黑体" panose="02010609060101010101" pitchFamily="49" charset="-122"/>
              </a:rPr>
              <a:t>1.</a:t>
            </a:r>
            <a:r>
              <a:rPr lang="zh-CN" altLang="en-US" sz="1400" dirty="0">
                <a:solidFill>
                  <a:prstClr val="black"/>
                </a:solidFill>
                <a:latin typeface="Calibri" panose="020F0502020204030204"/>
                <a:ea typeface="黑体" panose="02010609060101010101" pitchFamily="49" charset="-122"/>
              </a:rPr>
              <a:t>导入工具包</a:t>
            </a:r>
            <a:endPar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endParaRPr>
          </a:p>
          <a:p>
            <a:pPr>
              <a:defRPr/>
            </a:pPr>
            <a:r>
              <a:rPr kumimoji="0" lang="en-GB" altLang="zh-CN" sz="14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from </a:t>
            </a:r>
            <a:r>
              <a:rPr kumimoji="0" lang="en-GB" altLang="zh-CN" sz="14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sklearn.cluster</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4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import </a:t>
            </a:r>
            <a:r>
              <a:rPr kumimoji="0" lang="en-GB" altLang="zh-CN" sz="14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KMeans</a:t>
            </a:r>
            <a:b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4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import </a:t>
            </a:r>
            <a:r>
              <a:rPr kumimoji="0" lang="en-GB" altLang="zh-CN" sz="14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matplotlib.pyplot</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4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as </a:t>
            </a:r>
            <a:r>
              <a:rPr kumimoji="0" lang="en-GB" altLang="zh-CN" sz="14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plt</a:t>
            </a:r>
            <a:b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4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from </a:t>
            </a:r>
            <a:r>
              <a:rPr kumimoji="0" lang="en-GB" altLang="zh-CN" sz="14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sklearn.datasets</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4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import </a:t>
            </a:r>
            <a:r>
              <a:rPr kumimoji="0" lang="en-GB" altLang="zh-CN" sz="14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make_blobs</a:t>
            </a:r>
            <a:b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4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from </a:t>
            </a:r>
            <a:r>
              <a:rPr kumimoji="0" lang="en-GB" altLang="zh-CN" sz="14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sklearn.metrics</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4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import </a:t>
            </a:r>
            <a:r>
              <a:rPr kumimoji="0" lang="en-GB" altLang="zh-CN" sz="14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calinski_harabasz_score</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4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en-GB" altLang="zh-CN" sz="1400" b="0" i="1" u="none" strike="noStrike" kern="1200" cap="none" spc="0" normalizeH="0" baseline="0" noProof="0" dirty="0" err="1">
                <a:ln>
                  <a:noFill/>
                </a:ln>
                <a:solidFill>
                  <a:srgbClr val="8C8C8C"/>
                </a:solidFill>
                <a:effectLst/>
                <a:uLnTx/>
                <a:uFillTx/>
                <a:latin typeface="Calibri" panose="020F0502020204030204"/>
                <a:ea typeface="黑体" panose="02010609060101010101" pitchFamily="49" charset="-122"/>
                <a:cs typeface="+mn-cs"/>
              </a:rPr>
              <a:t>calinski_harabaz_score</a:t>
            </a:r>
            <a:r>
              <a:rPr kumimoji="0" lang="en-GB" altLang="zh-CN" sz="14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zh-CN" altLang="en-US" sz="14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废弃</a:t>
            </a:r>
            <a:endParaRPr kumimoji="0" lang="en-US" altLang="zh-CN" sz="1400" b="0" i="0" u="none" strike="noStrike" kern="1200" cap="none" spc="0" normalizeH="0" baseline="0" noProof="0" dirty="0">
              <a:ln>
                <a:noFill/>
              </a:ln>
              <a:solidFill>
                <a:srgbClr val="0033B3"/>
              </a:solidFill>
              <a:effectLst/>
              <a:uLnTx/>
              <a:uFillTx/>
              <a:latin typeface="Alibaba PuHuiTi R" pitchFamily="18" charset="-122"/>
              <a:ea typeface="Alibaba PuHuiTi R" pitchFamily="18" charset="-122"/>
              <a:cs typeface="Alibaba PuHuiTi R" pitchFamily="18"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4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2 </a:t>
            </a:r>
            <a:r>
              <a:rPr kumimoji="0" lang="zh-CN" altLang="en-US" sz="14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创建数据集 </a:t>
            </a:r>
            <a:r>
              <a:rPr kumimoji="0" lang="en-US" altLang="zh-CN" sz="14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1000</a:t>
            </a:r>
            <a:r>
              <a:rPr kumimoji="0" lang="zh-CN" altLang="en-US" sz="14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个样本</a:t>
            </a:r>
            <a:r>
              <a:rPr kumimoji="0" lang="en-US" altLang="zh-CN" sz="14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a:t>
            </a:r>
            <a:r>
              <a:rPr kumimoji="0" lang="zh-CN" altLang="en-US" sz="14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每个样本</a:t>
            </a:r>
            <a:r>
              <a:rPr kumimoji="0" lang="en-US" altLang="zh-CN" sz="14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2</a:t>
            </a:r>
            <a:r>
              <a:rPr kumimoji="0" lang="zh-CN" altLang="en-US" sz="14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个特征 </a:t>
            </a:r>
            <a:r>
              <a:rPr kumimoji="0" lang="en-US" altLang="zh-CN" sz="14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4</a:t>
            </a:r>
            <a:r>
              <a:rPr kumimoji="0" lang="zh-CN" altLang="en-US" sz="14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个质心蔟数据标准差</a:t>
            </a:r>
            <a:r>
              <a:rPr kumimoji="0" lang="en-US" altLang="zh-CN" sz="14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[0.4, 0.2, 0.2, 0.2]</a:t>
            </a:r>
            <a:br>
              <a:rPr kumimoji="0" lang="en-US" altLang="zh-CN" sz="14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x, y = </a:t>
            </a:r>
            <a:r>
              <a:rPr kumimoji="0" lang="en-GB" altLang="zh-CN" sz="14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make_blobs</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400" b="0" i="0" u="none" strike="noStrike" kern="1200" cap="none" spc="0" normalizeH="0" baseline="0" noProof="0" dirty="0" err="1">
                <a:ln>
                  <a:noFill/>
                </a:ln>
                <a:solidFill>
                  <a:srgbClr val="660099"/>
                </a:solidFill>
                <a:effectLst/>
                <a:uLnTx/>
                <a:uFillTx/>
                <a:latin typeface="Calibri" panose="020F0502020204030204"/>
                <a:ea typeface="黑体" panose="02010609060101010101" pitchFamily="49" charset="-122"/>
                <a:cs typeface="+mn-cs"/>
              </a:rPr>
              <a:t>n_samples</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4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1000</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400" b="0" i="0" u="none" strike="noStrike" kern="1200" cap="none" spc="0" normalizeH="0" baseline="0" noProof="0" dirty="0" err="1">
                <a:ln>
                  <a:noFill/>
                </a:ln>
                <a:solidFill>
                  <a:srgbClr val="660099"/>
                </a:solidFill>
                <a:effectLst/>
                <a:uLnTx/>
                <a:uFillTx/>
                <a:latin typeface="Calibri" panose="020F0502020204030204"/>
                <a:ea typeface="黑体" panose="02010609060101010101" pitchFamily="49" charset="-122"/>
                <a:cs typeface="+mn-cs"/>
              </a:rPr>
              <a:t>n_features</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4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2</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400" b="0" i="0" u="none" strike="noStrike" kern="1200" cap="none" spc="0" normalizeH="0" baseline="0" noProof="0" dirty="0">
                <a:ln>
                  <a:noFill/>
                </a:ln>
                <a:solidFill>
                  <a:srgbClr val="660099"/>
                </a:solidFill>
                <a:effectLst/>
                <a:uLnTx/>
                <a:uFillTx/>
                <a:latin typeface="Calibri" panose="020F0502020204030204"/>
                <a:ea typeface="黑体" panose="02010609060101010101" pitchFamily="49" charset="-122"/>
                <a:cs typeface="+mn-cs"/>
              </a:rPr>
              <a:t>centers</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4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1</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4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1</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4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0</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4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0</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4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1</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4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1</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4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2</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4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2</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400" b="0" i="0" u="none" strike="noStrike" kern="1200" cap="none" spc="0" normalizeH="0" baseline="0" noProof="0" dirty="0" err="1">
                <a:ln>
                  <a:noFill/>
                </a:ln>
                <a:solidFill>
                  <a:srgbClr val="660099"/>
                </a:solidFill>
                <a:effectLst/>
                <a:uLnTx/>
                <a:uFillTx/>
                <a:latin typeface="Calibri" panose="020F0502020204030204"/>
                <a:ea typeface="黑体" panose="02010609060101010101" pitchFamily="49" charset="-122"/>
                <a:cs typeface="+mn-cs"/>
              </a:rPr>
              <a:t>cluster_std</a:t>
            </a:r>
            <a:r>
              <a:rPr kumimoji="0" lang="en-GB" altLang="zh-CN" sz="1400" b="0" i="0" u="none" strike="noStrike" kern="1200" cap="none" spc="0" normalizeH="0" baseline="0" noProof="0" dirty="0">
                <a:ln>
                  <a:noFill/>
                </a:ln>
                <a:solidFill>
                  <a:srgbClr val="660099"/>
                </a:solidFill>
                <a:effectLst/>
                <a:uLnTx/>
                <a:uFillTx/>
                <a:latin typeface="Calibri" panose="020F0502020204030204"/>
                <a:ea typeface="黑体" panose="02010609060101010101" pitchFamily="49" charset="-122"/>
                <a:cs typeface="+mn-cs"/>
              </a:rPr>
              <a:t> </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4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0.4</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4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0.2</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4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0.2</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4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0.2</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400" b="0" i="0" u="none" strike="noStrike" kern="1200" cap="none" spc="0" normalizeH="0" baseline="0" noProof="0" dirty="0" err="1">
                <a:ln>
                  <a:noFill/>
                </a:ln>
                <a:solidFill>
                  <a:srgbClr val="660099"/>
                </a:solidFill>
                <a:effectLst/>
                <a:uLnTx/>
                <a:uFillTx/>
                <a:latin typeface="Calibri" panose="020F0502020204030204"/>
                <a:ea typeface="黑体" panose="02010609060101010101" pitchFamily="49" charset="-122"/>
                <a:cs typeface="+mn-cs"/>
              </a:rPr>
              <a:t>random_state</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4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22</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endParaRPr lang="en-GB" altLang="zh-CN" sz="1400" i="1" dirty="0">
              <a:solidFill>
                <a:srgbClr val="8C8C8C"/>
              </a:solidFill>
              <a:latin typeface="Calibri" panose="020F0502020204030204"/>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4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plt.figure</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4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plt.scatter</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(x[:, </a:t>
            </a:r>
            <a:r>
              <a:rPr kumimoji="0" lang="en-GB" altLang="zh-CN" sz="14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0</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x[:, </a:t>
            </a:r>
            <a:r>
              <a:rPr kumimoji="0" lang="en-GB" altLang="zh-CN" sz="14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1</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400" b="0" i="0" u="none" strike="noStrike" kern="1200" cap="none" spc="0" normalizeH="0" baseline="0" noProof="0" dirty="0">
                <a:ln>
                  <a:noFill/>
                </a:ln>
                <a:solidFill>
                  <a:srgbClr val="660099"/>
                </a:solidFill>
                <a:effectLst/>
                <a:uLnTx/>
                <a:uFillTx/>
                <a:latin typeface="Calibri" panose="020F0502020204030204"/>
                <a:ea typeface="黑体" panose="02010609060101010101" pitchFamily="49" charset="-122"/>
                <a:cs typeface="+mn-cs"/>
              </a:rPr>
              <a:t>marker</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400" b="0" i="0" u="none" strike="noStrike" kern="1200" cap="none" spc="0" normalizeH="0" baseline="0" noProof="0" dirty="0">
                <a:ln>
                  <a:noFill/>
                </a:ln>
                <a:solidFill>
                  <a:srgbClr val="067D17"/>
                </a:solidFill>
                <a:effectLst/>
                <a:uLnTx/>
                <a:uFillTx/>
                <a:latin typeface="Calibri" panose="020F0502020204030204"/>
                <a:ea typeface="黑体" panose="02010609060101010101" pitchFamily="49" charset="-122"/>
                <a:cs typeface="+mn-cs"/>
              </a:rPr>
              <a:t>'o'</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4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plt.show</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b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4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3 </a:t>
            </a:r>
            <a:r>
              <a:rPr kumimoji="0" lang="zh-CN" altLang="en-US" sz="14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使用</a:t>
            </a:r>
            <a:r>
              <a:rPr kumimoji="0" lang="en-GB" altLang="zh-CN" sz="14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k-means</a:t>
            </a:r>
            <a:r>
              <a:rPr kumimoji="0" lang="zh-CN" altLang="en-US" sz="14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进行聚类</a:t>
            </a:r>
            <a:r>
              <a:rPr kumimoji="0" lang="en-US" altLang="zh-CN" sz="14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a:t>
            </a:r>
            <a:r>
              <a:rPr kumimoji="0" lang="zh-CN" altLang="en-US" sz="14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并使用</a:t>
            </a:r>
            <a:r>
              <a:rPr kumimoji="0" lang="en-GB" altLang="zh-CN" sz="14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CH</a:t>
            </a:r>
            <a:r>
              <a:rPr kumimoji="0" lang="zh-CN" altLang="en-US" sz="14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方法评估 </a:t>
            </a:r>
            <a:br>
              <a:rPr kumimoji="0" lang="en-GB" altLang="zh-CN" sz="14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r>
              <a:rPr kumimoji="0" lang="en-GB" altLang="zh-CN" sz="14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y_pred</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 </a:t>
            </a:r>
            <a:r>
              <a:rPr kumimoji="0" lang="en-GB" altLang="zh-CN" sz="14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KMeans</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400" b="0" i="0" u="none" strike="noStrike" kern="1200" cap="none" spc="0" normalizeH="0" baseline="0" noProof="0" dirty="0" err="1">
                <a:ln>
                  <a:noFill/>
                </a:ln>
                <a:solidFill>
                  <a:srgbClr val="660099"/>
                </a:solidFill>
                <a:effectLst/>
                <a:uLnTx/>
                <a:uFillTx/>
                <a:latin typeface="Calibri" panose="020F0502020204030204"/>
                <a:ea typeface="黑体" panose="02010609060101010101" pitchFamily="49" charset="-122"/>
                <a:cs typeface="+mn-cs"/>
              </a:rPr>
              <a:t>n_clusters</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US" altLang="en-GB" sz="14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4</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400" b="0" i="0" u="none" strike="noStrike" kern="1200" cap="none" spc="0" normalizeH="0" baseline="0" noProof="0" dirty="0" err="1">
                <a:ln>
                  <a:noFill/>
                </a:ln>
                <a:solidFill>
                  <a:srgbClr val="660099"/>
                </a:solidFill>
                <a:effectLst/>
                <a:uLnTx/>
                <a:uFillTx/>
                <a:latin typeface="Calibri" panose="020F0502020204030204"/>
                <a:ea typeface="黑体" panose="02010609060101010101" pitchFamily="49" charset="-122"/>
                <a:cs typeface="+mn-cs"/>
              </a:rPr>
              <a:t>random_state</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4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22</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4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fit_predict</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(x)</a:t>
            </a:r>
            <a:br>
              <a:rPr kumimoji="0" lang="en-GB" altLang="zh-CN" sz="14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r>
              <a:rPr kumimoji="0" lang="en-GB" altLang="zh-CN" sz="14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plt.scatter</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(x[:, </a:t>
            </a:r>
            <a:r>
              <a:rPr kumimoji="0" lang="en-GB" altLang="zh-CN" sz="14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0</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x[:, </a:t>
            </a:r>
            <a:r>
              <a:rPr kumimoji="0" lang="en-GB" altLang="zh-CN" sz="1400" b="0" i="0" u="none" strike="noStrike" kern="1200" cap="none" spc="0" normalizeH="0" baseline="0" noProof="0" dirty="0">
                <a:ln>
                  <a:noFill/>
                </a:ln>
                <a:solidFill>
                  <a:srgbClr val="1750EB"/>
                </a:solidFill>
                <a:effectLst/>
                <a:uLnTx/>
                <a:uFillTx/>
                <a:latin typeface="Calibri" panose="020F0502020204030204"/>
                <a:ea typeface="黑体" panose="02010609060101010101" pitchFamily="49" charset="-122"/>
                <a:cs typeface="+mn-cs"/>
              </a:rPr>
              <a:t>1</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400" b="0" i="0" u="none" strike="noStrike" kern="1200" cap="none" spc="0" normalizeH="0" baseline="0" noProof="0" dirty="0">
                <a:ln>
                  <a:noFill/>
                </a:ln>
                <a:solidFill>
                  <a:srgbClr val="660099"/>
                </a:solidFill>
                <a:effectLst/>
                <a:uLnTx/>
                <a:uFillTx/>
                <a:latin typeface="Calibri" panose="020F0502020204030204"/>
                <a:ea typeface="黑体" panose="02010609060101010101" pitchFamily="49" charset="-122"/>
                <a:cs typeface="+mn-cs"/>
              </a:rPr>
              <a:t>c</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4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y_pred</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4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plt.show</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b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b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4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 4 </a:t>
            </a:r>
            <a:r>
              <a:rPr kumimoji="0" lang="zh-CN" altLang="en-US" sz="14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t>模型评估</a:t>
            </a:r>
            <a:br>
              <a:rPr kumimoji="0" lang="zh-CN" altLang="en-US" sz="1400" b="0" i="1" u="none" strike="noStrike" kern="1200" cap="none" spc="0" normalizeH="0" baseline="0" noProof="0" dirty="0">
                <a:ln>
                  <a:noFill/>
                </a:ln>
                <a:solidFill>
                  <a:srgbClr val="8C8C8C"/>
                </a:solidFill>
                <a:effectLst/>
                <a:uLnTx/>
                <a:uFillTx/>
                <a:latin typeface="Calibri" panose="020F0502020204030204"/>
                <a:ea typeface="黑体" panose="02010609060101010101" pitchFamily="49" charset="-122"/>
                <a:cs typeface="+mn-cs"/>
              </a:rPr>
            </a:br>
            <a:r>
              <a:rPr kumimoji="0" lang="en-GB" altLang="zh-CN" sz="1400" b="0" i="0" u="none" strike="noStrike" kern="1200" cap="none" spc="0" normalizeH="0" baseline="0" noProof="0" dirty="0">
                <a:ln>
                  <a:noFill/>
                </a:ln>
                <a:solidFill>
                  <a:srgbClr val="000080"/>
                </a:solidFill>
                <a:effectLst/>
                <a:uLnTx/>
                <a:uFillTx/>
                <a:latin typeface="Calibri" panose="020F0502020204030204"/>
                <a:ea typeface="黑体" panose="02010609060101010101" pitchFamily="49" charset="-122"/>
                <a:cs typeface="+mn-cs"/>
              </a:rPr>
              <a:t>print</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r>
              <a:rPr kumimoji="0" lang="en-GB" altLang="zh-CN" sz="14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calinski_harabasz_score</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(x, </a:t>
            </a:r>
            <a:r>
              <a:rPr kumimoji="0" lang="en-GB" altLang="zh-CN" sz="14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y_pred</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a:t>
            </a:r>
            <a:endParaRPr kumimoji="0" lang="en-US" altLang="zh-CN" sz="1400" b="0" i="0" u="none" strike="noStrike" kern="1200" cap="none" spc="0" normalizeH="0" baseline="0" noProof="0" dirty="0">
              <a:ln>
                <a:noFill/>
              </a:ln>
              <a:solidFill>
                <a:srgbClr val="0033B3"/>
              </a:solidFill>
              <a:effectLst/>
              <a:uLnTx/>
              <a:uFillTx/>
              <a:latin typeface="Alibaba PuHuiTi R" pitchFamily="18" charset="-122"/>
              <a:ea typeface="Alibaba PuHuiTi R" pitchFamily="18" charset="-122"/>
              <a:cs typeface="Alibaba PuHuiTi R" pitchFamily="18"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442176" y="1495359"/>
            <a:ext cx="559237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1</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聚类算法</a:t>
            </a:r>
            <a:r>
              <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API</a:t>
            </a:r>
            <a:endPar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endParaRPr>
          </a:p>
        </p:txBody>
      </p:sp>
      <p:sp>
        <p:nvSpPr>
          <p:cNvPr id="12" name="文本占位符 1"/>
          <p:cNvSpPr txBox="1"/>
          <p:nvPr/>
        </p:nvSpPr>
        <p:spPr>
          <a:xfrm>
            <a:off x="86125" y="181128"/>
            <a:ext cx="7036395" cy="761341"/>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l"/>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gn="l" rtl="0" eaLnBrk="0" fontAlgn="base" hangingPunct="0">
              <a:lnSpc>
                <a:spcPct val="150000"/>
              </a:lnSpc>
              <a:spcBef>
                <a:spcPct val="20000"/>
              </a:spcBef>
              <a:spcAft>
                <a:spcPct val="0"/>
              </a:spcAft>
              <a:buFont typeface="Wingdings" panose="05000000000000000000" pitchFamily="2" charset="2"/>
              <a:buChar char="l"/>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359410" marR="0" lvl="1" indent="0" algn="l" defTabSz="914400" rtl="0" eaLnBrk="0" fontAlgn="base" latinLnBrk="0" hangingPunct="0">
              <a:lnSpc>
                <a:spcPct val="150000"/>
              </a:lnSpc>
              <a:spcBef>
                <a:spcPct val="20000"/>
              </a:spcBef>
              <a:spcAft>
                <a:spcPct val="0"/>
              </a:spcAft>
              <a:buClrTx/>
              <a:buSzTx/>
              <a:buFont typeface="Wingdings" panose="05000000000000000000" pitchFamily="2" charset="2"/>
              <a:buNone/>
              <a:defRPr/>
            </a:pPr>
            <a:endParaRPr kumimoji="1" lang="zh-CN" altLang="en-US" sz="1400" b="0" i="0" u="none" strike="noStrike" kern="1200" cap="none" spc="0" normalizeH="0" baseline="0" noProof="0" dirty="0">
              <a:ln>
                <a:noFill/>
              </a:ln>
              <a:solidFill>
                <a:prstClr val="black"/>
              </a:solidFill>
              <a:effectLst/>
              <a:uLnTx/>
              <a:uFillTx/>
              <a:latin typeface="Alibaba PuHuiTi R" pitchFamily="18" charset="-122"/>
              <a:ea typeface="Alibaba PuHuiTi R" pitchFamily="18" charset="-122"/>
              <a:cs typeface="Alibaba PuHuiTi R" pitchFamily="18" charset="-122"/>
            </a:endParaRPr>
          </a:p>
        </p:txBody>
      </p:sp>
      <p:sp>
        <p:nvSpPr>
          <p:cNvPr id="2" name="TextBox 6"/>
          <p:cNvSpPr txBox="1"/>
          <p:nvPr/>
        </p:nvSpPr>
        <p:spPr>
          <a:xfrm>
            <a:off x="4967095" y="1864691"/>
            <a:ext cx="6660057" cy="2324226"/>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85750" lvl="0" indent="-285750">
              <a:lnSpc>
                <a:spcPct val="150000"/>
              </a:lnSpc>
              <a:buFont typeface="Arial" panose="020B0604020202020204" pitchFamily="34" charset="0"/>
              <a:buChar char="•"/>
              <a:defRPr/>
            </a:pPr>
            <a:r>
              <a:rPr lang="en-GB" altLang="zh-CN" sz="1400" dirty="0" err="1">
                <a:latin typeface="Alibaba PuHuiTi" pitchFamily="18" charset="-122"/>
                <a:ea typeface="Alibaba PuHuiTi" pitchFamily="18" charset="-122"/>
                <a:cs typeface="Alibaba PuHuiTi" pitchFamily="18" charset="-122"/>
              </a:rPr>
              <a:t>sklearn.cluster.KMeans</a:t>
            </a:r>
            <a:r>
              <a:rPr lang="en-GB" altLang="zh-CN" sz="1400" dirty="0">
                <a:latin typeface="Alibaba PuHuiTi" pitchFamily="18" charset="-122"/>
                <a:ea typeface="Alibaba PuHuiTi" pitchFamily="18" charset="-122"/>
                <a:cs typeface="Alibaba PuHuiTi" pitchFamily="18" charset="-122"/>
              </a:rPr>
              <a:t>(</a:t>
            </a:r>
            <a:r>
              <a:rPr lang="en-GB" altLang="zh-CN" sz="1400" dirty="0" err="1">
                <a:latin typeface="Alibaba PuHuiTi" pitchFamily="18" charset="-122"/>
                <a:ea typeface="Alibaba PuHuiTi" pitchFamily="18" charset="-122"/>
                <a:cs typeface="Alibaba PuHuiTi" pitchFamily="18" charset="-122"/>
              </a:rPr>
              <a:t>n_clusters</a:t>
            </a:r>
            <a:r>
              <a:rPr lang="en-GB" altLang="zh-CN" sz="1400" dirty="0">
                <a:latin typeface="Alibaba PuHuiTi" pitchFamily="18" charset="-122"/>
                <a:ea typeface="Alibaba PuHuiTi" pitchFamily="18" charset="-122"/>
                <a:cs typeface="Alibaba PuHuiTi" pitchFamily="18" charset="-122"/>
              </a:rPr>
              <a:t>=8)</a:t>
            </a:r>
            <a:endParaRPr lang="en-GB" altLang="zh-CN" sz="1400" dirty="0">
              <a:latin typeface="Alibaba PuHuiTi" pitchFamily="18" charset="-122"/>
              <a:ea typeface="Alibaba PuHuiTi" pitchFamily="18" charset="-122"/>
              <a:cs typeface="Alibaba PuHuiTi" pitchFamily="18" charset="-122"/>
            </a:endParaRPr>
          </a:p>
          <a:p>
            <a:pPr marL="285750" lvl="0" indent="-285750">
              <a:lnSpc>
                <a:spcPct val="150000"/>
              </a:lnSpc>
              <a:buFont typeface="Arial" panose="020B0604020202020204" pitchFamily="34" charset="0"/>
              <a:buChar char="•"/>
              <a:defRPr/>
            </a:pPr>
            <a:r>
              <a:rPr lang="zh-CN" altLang="en-GB" sz="1400" dirty="0">
                <a:latin typeface="Alibaba PuHuiTi" pitchFamily="18" charset="-122"/>
                <a:ea typeface="Alibaba PuHuiTi" pitchFamily="18" charset="-122"/>
                <a:cs typeface="Alibaba PuHuiTi" pitchFamily="18" charset="-122"/>
              </a:rPr>
              <a:t>参数</a:t>
            </a:r>
            <a:r>
              <a:rPr lang="zh-CN" altLang="en-US" sz="1400" dirty="0">
                <a:latin typeface="Alibaba PuHuiTi" pitchFamily="18" charset="-122"/>
                <a:ea typeface="Alibaba PuHuiTi" pitchFamily="18" charset="-122"/>
                <a:cs typeface="Alibaba PuHuiTi" pitchFamily="18" charset="-122"/>
              </a:rPr>
              <a:t>：</a:t>
            </a:r>
            <a:r>
              <a:rPr lang="en-GB" altLang="zh-CN" sz="1400" dirty="0" err="1">
                <a:solidFill>
                  <a:schemeClr val="accent2">
                    <a:lumMod val="75000"/>
                  </a:schemeClr>
                </a:solidFill>
                <a:latin typeface="Alibaba PuHuiTi" pitchFamily="18" charset="-122"/>
                <a:ea typeface="Alibaba PuHuiTi" pitchFamily="18" charset="-122"/>
                <a:cs typeface="Alibaba PuHuiTi" pitchFamily="18" charset="-122"/>
              </a:rPr>
              <a:t>n_clusters</a:t>
            </a:r>
            <a:r>
              <a:rPr lang="en-GB"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开 始的聚类中心数量</a:t>
            </a:r>
            <a:endParaRPr lang="zh-CN" altLang="en-US" sz="1400" dirty="0">
              <a:latin typeface="Alibaba PuHuiTi" pitchFamily="18" charset="-122"/>
              <a:ea typeface="Alibaba PuHuiTi" pitchFamily="18" charset="-122"/>
              <a:cs typeface="Alibaba PuHuiTi" pitchFamily="18" charset="-122"/>
            </a:endParaRPr>
          </a:p>
          <a:p>
            <a:pPr marL="285750" lvl="0" indent="-285750">
              <a:lnSpc>
                <a:spcPct val="150000"/>
              </a:lnSpc>
              <a:buFont typeface="Arial" panose="020B0604020202020204" pitchFamily="34" charset="0"/>
              <a:buChar char="•"/>
              <a:defRPr/>
            </a:pPr>
            <a:r>
              <a:rPr lang="zh-CN" altLang="en-GB" sz="1400" dirty="0">
                <a:latin typeface="Alibaba PuHuiTi" pitchFamily="18" charset="-122"/>
                <a:ea typeface="Alibaba PuHuiTi" pitchFamily="18" charset="-122"/>
                <a:cs typeface="Alibaba PuHuiTi" pitchFamily="18" charset="-122"/>
              </a:rPr>
              <a:t>方法</a:t>
            </a:r>
            <a:r>
              <a:rPr lang="zh-CN" altLang="en-US" sz="1400" dirty="0">
                <a:latin typeface="Alibaba PuHuiTi" pitchFamily="18" charset="-122"/>
                <a:ea typeface="Alibaba PuHuiTi" pitchFamily="18" charset="-122"/>
                <a:cs typeface="Alibaba PuHuiTi" pitchFamily="18" charset="-122"/>
              </a:rPr>
              <a:t>：</a:t>
            </a:r>
            <a:r>
              <a:rPr lang="en-GB" altLang="zh-CN" sz="1400" dirty="0" err="1">
                <a:latin typeface="Alibaba PuHuiTi" pitchFamily="18" charset="-122"/>
                <a:ea typeface="Alibaba PuHuiTi" pitchFamily="18" charset="-122"/>
                <a:cs typeface="Alibaba PuHuiTi" pitchFamily="18" charset="-122"/>
              </a:rPr>
              <a:t>estimator.</a:t>
            </a:r>
            <a:r>
              <a:rPr lang="en-GB" altLang="zh-CN" sz="1400" dirty="0" err="1">
                <a:solidFill>
                  <a:schemeClr val="accent2">
                    <a:lumMod val="75000"/>
                  </a:schemeClr>
                </a:solidFill>
                <a:latin typeface="Alibaba PuHuiTi" pitchFamily="18" charset="-122"/>
                <a:ea typeface="Alibaba PuHuiTi" pitchFamily="18" charset="-122"/>
                <a:cs typeface="Alibaba PuHuiTi" pitchFamily="18" charset="-122"/>
              </a:rPr>
              <a:t>fit_predict</a:t>
            </a:r>
            <a:r>
              <a:rPr lang="en-GB" altLang="zh-CN" sz="1400" dirty="0">
                <a:solidFill>
                  <a:schemeClr val="accent2">
                    <a:lumMod val="75000"/>
                  </a:schemeClr>
                </a:solidFill>
                <a:latin typeface="Alibaba PuHuiTi" pitchFamily="18" charset="-122"/>
                <a:ea typeface="Alibaba PuHuiTi" pitchFamily="18" charset="-122"/>
                <a:cs typeface="Alibaba PuHuiTi" pitchFamily="18" charset="-122"/>
              </a:rPr>
              <a:t>(x)</a:t>
            </a:r>
            <a:endParaRPr lang="en-GB" altLang="zh-CN" sz="1400" dirty="0">
              <a:solidFill>
                <a:schemeClr val="accent2">
                  <a:lumMod val="75000"/>
                </a:schemeClr>
              </a:solidFill>
              <a:latin typeface="Alibaba PuHuiTi" pitchFamily="18" charset="-122"/>
              <a:ea typeface="Alibaba PuHuiTi" pitchFamily="18" charset="-122"/>
              <a:cs typeface="Alibaba PuHuiTi" pitchFamily="18" charset="-122"/>
            </a:endParaRPr>
          </a:p>
          <a:p>
            <a:pPr>
              <a:lnSpc>
                <a:spcPct val="150000"/>
              </a:lnSpc>
              <a:defRPr/>
            </a:pPr>
            <a:r>
              <a:rPr lang="zh-CN" altLang="en-US" sz="1400" dirty="0">
                <a:latin typeface="Alibaba PuHuiTi" pitchFamily="18" charset="-122"/>
                <a:ea typeface="Alibaba PuHuiTi" pitchFamily="18" charset="-122"/>
                <a:cs typeface="Alibaba PuHuiTi" pitchFamily="18" charset="-122"/>
              </a:rPr>
              <a:t>                 计算聚类中心并预测每个样本属于哪个类别</a:t>
            </a:r>
            <a:r>
              <a:rPr lang="en-US"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相当于先调用</a:t>
            </a:r>
            <a:r>
              <a:rPr lang="en-GB" altLang="zh-CN" sz="1400" dirty="0">
                <a:latin typeface="Alibaba PuHuiTi" pitchFamily="18" charset="-122"/>
                <a:ea typeface="Alibaba PuHuiTi" pitchFamily="18" charset="-122"/>
                <a:cs typeface="Alibaba PuHuiTi" pitchFamily="18" charset="-122"/>
              </a:rPr>
              <a:t>fit(x),</a:t>
            </a:r>
            <a:endParaRPr lang="en-GB" altLang="zh-CN" sz="1400" dirty="0">
              <a:latin typeface="Alibaba PuHuiTi" pitchFamily="18" charset="-122"/>
              <a:ea typeface="Alibaba PuHuiTi" pitchFamily="18" charset="-122"/>
              <a:cs typeface="Alibaba PuHuiTi" pitchFamily="18" charset="-122"/>
            </a:endParaRPr>
          </a:p>
          <a:p>
            <a:pPr>
              <a:lnSpc>
                <a:spcPct val="150000"/>
              </a:lnSpc>
              <a:defRPr/>
            </a:pPr>
            <a:r>
              <a:rPr lang="zh-CN" altLang="en-US" sz="1400" dirty="0">
                <a:latin typeface="Alibaba PuHuiTi" pitchFamily="18" charset="-122"/>
                <a:ea typeface="Alibaba PuHuiTi" pitchFamily="18" charset="-122"/>
                <a:cs typeface="Alibaba PuHuiTi" pitchFamily="18" charset="-122"/>
              </a:rPr>
              <a:t>                 然后再调用</a:t>
            </a:r>
            <a:r>
              <a:rPr lang="en-GB" altLang="zh-CN" sz="1400" dirty="0">
                <a:latin typeface="Alibaba PuHuiTi" pitchFamily="18" charset="-122"/>
                <a:ea typeface="Alibaba PuHuiTi" pitchFamily="18" charset="-122"/>
                <a:cs typeface="Alibaba PuHuiTi" pitchFamily="18" charset="-122"/>
              </a:rPr>
              <a:t>predict(x)</a:t>
            </a:r>
            <a:endParaRPr lang="en-GB" altLang="zh-CN" sz="1400" dirty="0">
              <a:latin typeface="Alibaba PuHuiTi" pitchFamily="18" charset="-122"/>
              <a:ea typeface="Alibaba PuHuiTi" pitchFamily="18" charset="-122"/>
              <a:cs typeface="Alibaba PuHuiTi" pitchFamily="18" charset="-122"/>
            </a:endParaRPr>
          </a:p>
          <a:p>
            <a:pPr marL="285750" indent="-285750">
              <a:lnSpc>
                <a:spcPct val="150000"/>
              </a:lnSpc>
              <a:buFont typeface="Arial" panose="020B0604020202020204" pitchFamily="34" charset="0"/>
              <a:buChar char="•"/>
              <a:defRPr/>
            </a:pPr>
            <a:r>
              <a:rPr lang="en-GB" altLang="zh-CN" sz="1400" dirty="0" err="1">
                <a:latin typeface="Alibaba PuHuiTi" pitchFamily="18" charset="-122"/>
                <a:ea typeface="Alibaba PuHuiTi" pitchFamily="18" charset="-122"/>
                <a:cs typeface="Alibaba PuHuiTi" pitchFamily="18" charset="-122"/>
              </a:rPr>
              <a:t>calinski_harabasz_score</a:t>
            </a:r>
            <a:r>
              <a:rPr lang="en-GB" altLang="zh-CN" sz="1400" dirty="0">
                <a:latin typeface="Alibaba PuHuiTi" pitchFamily="18" charset="-122"/>
                <a:ea typeface="Alibaba PuHuiTi" pitchFamily="18" charset="-122"/>
                <a:cs typeface="Alibaba PuHuiTi" pitchFamily="18" charset="-122"/>
              </a:rPr>
              <a:t>(x, </a:t>
            </a:r>
            <a:r>
              <a:rPr lang="en-GB" altLang="zh-CN" sz="1400" dirty="0" err="1">
                <a:latin typeface="Alibaba PuHuiTi" pitchFamily="18" charset="-122"/>
                <a:ea typeface="Alibaba PuHuiTi" pitchFamily="18" charset="-122"/>
                <a:cs typeface="Alibaba PuHuiTi" pitchFamily="18" charset="-122"/>
              </a:rPr>
              <a:t>y_pred</a:t>
            </a:r>
            <a:r>
              <a:rPr lang="en-GB" altLang="zh-CN"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 用来评估聚类效果，</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数值越大越好</a:t>
            </a:r>
            <a:endParaRPr lang="en-GB" altLang="zh-CN" sz="1400" dirty="0">
              <a:solidFill>
                <a:schemeClr val="accent2">
                  <a:lumMod val="75000"/>
                </a:schemeClr>
              </a:solidFill>
              <a:latin typeface="Alibaba PuHuiTi" pitchFamily="18" charset="-122"/>
              <a:ea typeface="Alibaba PuHuiTi" pitchFamily="18" charset="-122"/>
              <a:cs typeface="Alibaba PuHuiTi" pitchFamily="18" charset="-122"/>
            </a:endParaRPr>
          </a:p>
          <a:p>
            <a:pPr marL="285750" lvl="0" indent="-285750">
              <a:lnSpc>
                <a:spcPct val="150000"/>
              </a:lnSpc>
              <a:buFont typeface="Arial" panose="020B0604020202020204" pitchFamily="34" charset="0"/>
              <a:buChar char="•"/>
              <a:defRPr/>
            </a:pPr>
            <a:endParaRPr lang="en-GB" altLang="zh-CN" sz="1400" dirty="0">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2216076" y="3736837"/>
            <a:ext cx="3031599"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答案解析：</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c</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错误，聚类成</a:t>
            </a:r>
            <a:r>
              <a:rPr kumimoji="0" lang="en-US"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2</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个类别。</a:t>
            </a:r>
            <a:endPar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p:txBody>
      </p:sp>
      <p:sp>
        <p:nvSpPr>
          <p:cNvPr id="9" name="文本框 8"/>
          <p:cNvSpPr txBox="1"/>
          <p:nvPr/>
        </p:nvSpPr>
        <p:spPr>
          <a:xfrm>
            <a:off x="2216076" y="4169686"/>
            <a:ext cx="1069524"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答案：</a:t>
            </a:r>
            <a:r>
              <a:rPr lang="en-US" altLang="zh-CN" sz="1400" dirty="0">
                <a:solidFill>
                  <a:srgbClr val="C0504D">
                    <a:lumMod val="75000"/>
                  </a:srgbClr>
                </a:solidFill>
                <a:latin typeface="Alibaba PuHuiTi" pitchFamily="18" charset="-122"/>
                <a:ea typeface="Alibaba PuHuiTi" pitchFamily="18" charset="-122"/>
                <a:cs typeface="Alibaba PuHuiTi" pitchFamily="18" charset="-122"/>
              </a:rPr>
              <a:t>ABD</a:t>
            </a:r>
            <a:endPar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p:txBody>
      </p:sp>
      <p:pic>
        <p:nvPicPr>
          <p:cNvPr id="2" name="图片 1"/>
          <p:cNvPicPr>
            <a:picLocks noChangeAspect="1"/>
          </p:cNvPicPr>
          <p:nvPr/>
        </p:nvPicPr>
        <p:blipFill>
          <a:blip r:embed="rId1"/>
          <a:stretch>
            <a:fillRect/>
          </a:stretch>
        </p:blipFill>
        <p:spPr>
          <a:xfrm>
            <a:off x="7183045" y="1674139"/>
            <a:ext cx="3712958" cy="2495547"/>
          </a:xfrm>
          <a:prstGeom prst="rect">
            <a:avLst/>
          </a:prstGeom>
        </p:spPr>
      </p:pic>
      <p:sp>
        <p:nvSpPr>
          <p:cNvPr id="4" name="矩形 3"/>
          <p:cNvSpPr/>
          <p:nvPr/>
        </p:nvSpPr>
        <p:spPr>
          <a:xfrm>
            <a:off x="1475656" y="1668954"/>
            <a:ext cx="4320480" cy="370840"/>
          </a:xfrm>
          <a:prstGeom prst="rect">
            <a:avLst/>
          </a:prstGeom>
        </p:spPr>
        <p:txBody>
          <a:bodyPr wrap="square">
            <a:spAutoFit/>
          </a:bodyPr>
          <a:lstStyle/>
          <a:p>
            <a:pPr>
              <a:lnSpc>
                <a:spcPct val="130000"/>
              </a:lnSpc>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下列关于聚类算法</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API</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的描述正确的是？（</a:t>
            </a:r>
            <a:r>
              <a:rPr lang="zh-CN" altLang="en-US" sz="1400" b="1" dirty="0">
                <a:solidFill>
                  <a:schemeClr val="tx1">
                    <a:lumMod val="85000"/>
                    <a:lumOff val="15000"/>
                  </a:schemeClr>
                </a:solidFill>
                <a:latin typeface="Alibaba PuHuiTi" pitchFamily="18" charset="-122"/>
                <a:ea typeface="Alibaba PuHuiTi" pitchFamily="18" charset="-122"/>
                <a:cs typeface="Alibaba PuHuiTi" pitchFamily="18" charset="-122"/>
              </a:rPr>
              <a:t>多选</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5" name="文本框 4"/>
          <p:cNvSpPr txBox="1"/>
          <p:nvPr/>
        </p:nvSpPr>
        <p:spPr>
          <a:xfrm>
            <a:off x="1936943" y="2074270"/>
            <a:ext cx="4855816" cy="1354730"/>
          </a:xfrm>
          <a:prstGeom prst="rect">
            <a:avLst/>
          </a:prstGeom>
          <a:noFill/>
        </p:spPr>
        <p:txBody>
          <a:bodyPr wrap="none" rtlCol="0">
            <a:spAutoFit/>
          </a:bodyPr>
          <a:lstStyle/>
          <a:p>
            <a:pPr fontAlgn="auto">
              <a:lnSpc>
                <a:spcPct val="150000"/>
              </a:lnSpc>
              <a:spcBef>
                <a:spcPts val="0"/>
              </a:spcBef>
              <a:spcAft>
                <a:spcPts val="0"/>
              </a:spcAft>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A</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）它是通过</a:t>
            </a:r>
            <a:r>
              <a:rPr lang="en-US" altLang="zh-CN" sz="1400" dirty="0" err="1">
                <a:solidFill>
                  <a:schemeClr val="tx1">
                    <a:lumMod val="85000"/>
                    <a:lumOff val="15000"/>
                  </a:schemeClr>
                </a:solidFill>
                <a:latin typeface="Alibaba PuHuiTi" pitchFamily="18" charset="-122"/>
                <a:ea typeface="Alibaba PuHuiTi" pitchFamily="18" charset="-122"/>
                <a:cs typeface="Alibaba PuHuiTi" pitchFamily="18" charset="-122"/>
              </a:rPr>
              <a:t>sklearn.cluster.Kmeans</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来实现的</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fontAlgn="auto">
              <a:lnSpc>
                <a:spcPct val="150000"/>
              </a:lnSpc>
              <a:spcBef>
                <a:spcPts val="0"/>
              </a:spcBef>
              <a:spcAft>
                <a:spcPts val="0"/>
              </a:spcAft>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B</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）可以通过</a:t>
            </a:r>
            <a:r>
              <a:rPr lang="en-US" altLang="zh-CN" sz="1400" dirty="0" err="1">
                <a:solidFill>
                  <a:schemeClr val="tx1">
                    <a:lumMod val="85000"/>
                    <a:lumOff val="15000"/>
                  </a:schemeClr>
                </a:solidFill>
                <a:latin typeface="Alibaba PuHuiTi" pitchFamily="18" charset="-122"/>
                <a:ea typeface="Alibaba PuHuiTi" pitchFamily="18" charset="-122"/>
                <a:cs typeface="Alibaba PuHuiTi" pitchFamily="18" charset="-122"/>
              </a:rPr>
              <a:t>n_clusters</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参数指定样本最终被归为多少个聚类</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fontAlgn="auto">
              <a:lnSpc>
                <a:spcPct val="150000"/>
              </a:lnSpc>
              <a:spcBef>
                <a:spcPts val="0"/>
              </a:spcBef>
              <a:spcAft>
                <a:spcPts val="0"/>
              </a:spcAft>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C</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）右图中的样本一共被分为</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4</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个类</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fontAlgn="auto">
              <a:lnSpc>
                <a:spcPct val="150000"/>
              </a:lnSpc>
              <a:spcBef>
                <a:spcPts val="0"/>
              </a:spcBef>
              <a:spcAft>
                <a:spcPts val="0"/>
              </a:spcAft>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D</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）右图中的样本一共被分为</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2</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个类</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50115" y="1090766"/>
            <a:ext cx="6420620" cy="4497463"/>
          </a:xfrm>
        </p:spPr>
        <p:txBody>
          <a:bodyPr anchor="t"/>
          <a:lstStyle/>
          <a:p>
            <a:r>
              <a:rPr kumimoji="1" lang="zh-CN" altLang="en-US" sz="1600" dirty="0">
                <a:solidFill>
                  <a:schemeClr val="tx1"/>
                </a:solidFill>
                <a:latin typeface="Alibaba PuHuiTi" pitchFamily="18" charset="-122"/>
                <a:ea typeface="Alibaba PuHuiTi" pitchFamily="18" charset="-122"/>
                <a:cs typeface="Alibaba PuHuiTi" pitchFamily="18" charset="-122"/>
              </a:rPr>
              <a:t>聚类算法简介</a:t>
            </a:r>
            <a:endParaRPr kumimoji="1" lang="en-US" altLang="zh-CN" sz="1600" dirty="0">
              <a:solidFill>
                <a:schemeClr val="tx1"/>
              </a:solidFill>
              <a:latin typeface="Alibaba PuHuiTi" pitchFamily="18" charset="-122"/>
              <a:ea typeface="Alibaba PuHuiTi" pitchFamily="18" charset="-122"/>
              <a:cs typeface="Alibaba PuHuiTi" pitchFamily="18" charset="-122"/>
            </a:endParaRPr>
          </a:p>
          <a:p>
            <a:r>
              <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聚类算法</a:t>
            </a:r>
            <a:r>
              <a:rPr lang="en-US" altLang="zh-CN" sz="1600" dirty="0">
                <a:solidFill>
                  <a:schemeClr val="tx1">
                    <a:lumMod val="85000"/>
                    <a:lumOff val="15000"/>
                  </a:schemeClr>
                </a:solidFill>
                <a:latin typeface="Alibaba PuHuiTi" pitchFamily="18" charset="-122"/>
                <a:ea typeface="Alibaba PuHuiTi" pitchFamily="18" charset="-122"/>
                <a:cs typeface="Alibaba PuHuiTi" pitchFamily="18" charset="-122"/>
              </a:rPr>
              <a:t>API</a:t>
            </a:r>
            <a:r>
              <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的使用</a:t>
            </a:r>
            <a:endParaRPr kumimoji="1" lang="en-US" altLang="zh-CN" sz="1400" b="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en-US" altLang="zh-CN" sz="1600" dirty="0" err="1">
                <a:solidFill>
                  <a:srgbClr val="C00000"/>
                </a:solidFill>
                <a:latin typeface="Alibaba PuHuiTi" pitchFamily="18" charset="-122"/>
                <a:ea typeface="Alibaba PuHuiTi" pitchFamily="18" charset="-122"/>
                <a:cs typeface="Alibaba PuHuiTi" pitchFamily="18" charset="-122"/>
              </a:rPr>
              <a:t>Kmeans</a:t>
            </a:r>
            <a:r>
              <a:rPr kumimoji="1" lang="zh-CN" altLang="en-US" sz="1600" dirty="0">
                <a:solidFill>
                  <a:srgbClr val="C00000"/>
                </a:solidFill>
                <a:latin typeface="Alibaba PuHuiTi" pitchFamily="18" charset="-122"/>
                <a:ea typeface="Alibaba PuHuiTi" pitchFamily="18" charset="-122"/>
                <a:cs typeface="Alibaba PuHuiTi" pitchFamily="18" charset="-122"/>
              </a:rPr>
              <a:t>实现流程</a:t>
            </a:r>
            <a:endParaRPr kumimoji="1" lang="zh-CN" altLang="en-US" sz="1400" b="0" dirty="0">
              <a:solidFill>
                <a:srgbClr val="C00000"/>
              </a:solidFill>
              <a:latin typeface="Alibaba PuHuiTi" pitchFamily="18" charset="-122"/>
              <a:ea typeface="Alibaba PuHuiTi" pitchFamily="18" charset="-122"/>
              <a:cs typeface="Alibaba PuHuiTi" pitchFamily="18" charset="-122"/>
            </a:endParaRPr>
          </a:p>
          <a:p>
            <a:r>
              <a:rPr kumimoji="1"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模型评估方法</a:t>
            </a:r>
            <a:endParaRPr kumimoji="1" lang="en-US" altLang="zh-CN" sz="160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rPr>
              <a:t>案例顾客数据聚类分析法</a:t>
            </a:r>
            <a:endParaRPr kumimoji="1" lang="en-US" altLang="zh-CN" sz="1400" b="0" dirty="0">
              <a:solidFill>
                <a:schemeClr val="tx1">
                  <a:lumMod val="85000"/>
                  <a:lumOff val="15000"/>
                </a:schemeClr>
              </a:solidFill>
              <a:latin typeface="Alibaba PuHuiTi" pitchFamily="18" charset="-122"/>
              <a:ea typeface="Alibaba PuHuiTi" pitchFamily="18" charset="-122"/>
              <a:cs typeface="Alibaba PuHuiTi" pitchFamily="18" charset="-122"/>
            </a:endParaRPr>
          </a:p>
          <a:p>
            <a:pPr lvl="1"/>
            <a:endParaRPr kumimoji="1" lang="en-US" altLang="zh-CN" sz="1600" b="0" dirty="0">
              <a:solidFill>
                <a:schemeClr val="accent2">
                  <a:lumMod val="75000"/>
                </a:schemeClr>
              </a:solidFill>
              <a:latin typeface="Alibaba PuHuiTi" pitchFamily="18" charset="-122"/>
              <a:ea typeface="Alibaba PuHuiTi" pitchFamily="18" charset="-122"/>
              <a:cs typeface="Alibaba PuHuiTi" pitchFamily="18" charset="-122"/>
            </a:endParaRPr>
          </a:p>
          <a:p>
            <a:pPr lvl="1"/>
            <a:endPar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570981" y="484536"/>
            <a:ext cx="6298881" cy="4855845"/>
          </a:xfrm>
        </p:spPr>
        <p:txBody>
          <a:bodyPr/>
          <a:lstStyle/>
          <a:p>
            <a:r>
              <a:rPr lang="zh-CN" altLang="en-US" dirty="0">
                <a:solidFill>
                  <a:schemeClr val="tx1">
                    <a:lumMod val="85000"/>
                    <a:lumOff val="15000"/>
                  </a:schemeClr>
                </a:solidFill>
              </a:rPr>
              <a:t>能</a:t>
            </a:r>
            <a:r>
              <a:rPr lang="zh-CN" altLang="en-US" b="0" i="0" dirty="0">
                <a:solidFill>
                  <a:schemeClr val="accent2">
                    <a:lumMod val="75000"/>
                  </a:schemeClr>
                </a:solidFill>
                <a:effectLst/>
                <a:latin typeface="Helvetica Neue" panose="02000503000000020004" pitchFamily="2" charset="0"/>
              </a:rPr>
              <a:t>掌握</a:t>
            </a:r>
            <a:r>
              <a:rPr lang="en-GB" altLang="zh-CN" b="0" i="0" dirty="0">
                <a:solidFill>
                  <a:srgbClr val="333333"/>
                </a:solidFill>
                <a:effectLst/>
                <a:latin typeface="Helvetica Neue" panose="02000503000000020004" pitchFamily="2" charset="0"/>
              </a:rPr>
              <a:t>K-means</a:t>
            </a:r>
            <a:r>
              <a:rPr lang="zh-CN" altLang="en-US" b="0" i="0" dirty="0">
                <a:solidFill>
                  <a:srgbClr val="333333"/>
                </a:solidFill>
                <a:effectLst/>
                <a:latin typeface="Helvetica Neue" panose="02000503000000020004" pitchFamily="2" charset="0"/>
              </a:rPr>
              <a:t>聚类的实现步骤</a:t>
            </a:r>
            <a:endParaRPr lang="en-US" altLang="zh-CN" dirty="0">
              <a:solidFill>
                <a:schemeClr val="tx1">
                  <a:lumMod val="85000"/>
                  <a:lumOff val="15000"/>
                </a:schemeClr>
              </a:solidFill>
            </a:endParaRPr>
          </a:p>
          <a:p>
            <a:pPr marL="0" indent="0">
              <a:buNone/>
            </a:pP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80" y="839979"/>
            <a:ext cx="4347114"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KMeans</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算法实现流程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16" name="文本占位符 2"/>
          <p:cNvSpPr txBox="1"/>
          <p:nvPr/>
        </p:nvSpPr>
        <p:spPr>
          <a:xfrm>
            <a:off x="1389059" y="1985288"/>
            <a:ext cx="9413882" cy="199688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a:lnSpc>
                <a:spcPct val="200000"/>
              </a:lnSpc>
              <a:defRPr/>
            </a:pPr>
            <a:r>
              <a:rPr lang="en-US" altLang="zh-CN" sz="1800" dirty="0">
                <a:solidFill>
                  <a:prstClr val="black">
                    <a:lumMod val="85000"/>
                    <a:lumOff val="15000"/>
                  </a:prstClr>
                </a:solidFill>
                <a:latin typeface="Alibaba PuHuiTi" pitchFamily="18" charset="-122"/>
                <a:ea typeface="Alibaba PuHuiTi" pitchFamily="18" charset="-122"/>
                <a:cs typeface="Alibaba PuHuiTi" pitchFamily="18" charset="-122"/>
              </a:rPr>
              <a:t>1</a:t>
            </a:r>
            <a:r>
              <a:rPr lang="zh-CN" altLang="en-US" sz="1800" dirty="0">
                <a:solidFill>
                  <a:prstClr val="black">
                    <a:lumMod val="85000"/>
                    <a:lumOff val="15000"/>
                  </a:prstClr>
                </a:solidFill>
                <a:latin typeface="Alibaba PuHuiTi" pitchFamily="18" charset="-122"/>
                <a:ea typeface="Alibaba PuHuiTi" pitchFamily="18" charset="-122"/>
                <a:cs typeface="Alibaba PuHuiTi" pitchFamily="18" charset="-122"/>
              </a:rPr>
              <a:t>、事先确定常数</a:t>
            </a:r>
            <a:r>
              <a:rPr lang="en-GB" altLang="zh-CN" sz="1800" dirty="0">
                <a:solidFill>
                  <a:prstClr val="black">
                    <a:lumMod val="85000"/>
                    <a:lumOff val="15000"/>
                  </a:prstClr>
                </a:solidFill>
                <a:latin typeface="Alibaba PuHuiTi" pitchFamily="18" charset="-122"/>
                <a:ea typeface="Alibaba PuHuiTi" pitchFamily="18" charset="-122"/>
                <a:cs typeface="Alibaba PuHuiTi" pitchFamily="18" charset="-122"/>
              </a:rPr>
              <a:t>K </a:t>
            </a:r>
            <a:r>
              <a:rPr lang="zh-CN" altLang="en-GB" sz="1800" dirty="0">
                <a:solidFill>
                  <a:prstClr val="black">
                    <a:lumMod val="85000"/>
                    <a:lumOff val="15000"/>
                  </a:prstClr>
                </a:solidFill>
                <a:latin typeface="Alibaba PuHuiTi" pitchFamily="18" charset="-122"/>
                <a:ea typeface="Alibaba PuHuiTi" pitchFamily="18" charset="-122"/>
                <a:cs typeface="Alibaba PuHuiTi" pitchFamily="18" charset="-122"/>
              </a:rPr>
              <a:t>，</a:t>
            </a:r>
            <a:r>
              <a:rPr lang="zh-CN" altLang="en-US" sz="1800" dirty="0">
                <a:solidFill>
                  <a:prstClr val="black">
                    <a:lumMod val="85000"/>
                    <a:lumOff val="15000"/>
                  </a:prstClr>
                </a:solidFill>
                <a:latin typeface="Alibaba PuHuiTi" pitchFamily="18" charset="-122"/>
                <a:ea typeface="Alibaba PuHuiTi" pitchFamily="18" charset="-122"/>
                <a:cs typeface="Alibaba PuHuiTi" pitchFamily="18" charset="-122"/>
              </a:rPr>
              <a:t>常数</a:t>
            </a:r>
            <a:r>
              <a:rPr lang="en-GB" altLang="zh-CN" sz="1800" dirty="0">
                <a:solidFill>
                  <a:prstClr val="black">
                    <a:lumMod val="85000"/>
                    <a:lumOff val="15000"/>
                  </a:prstClr>
                </a:solidFill>
                <a:latin typeface="Alibaba PuHuiTi" pitchFamily="18" charset="-122"/>
                <a:ea typeface="Alibaba PuHuiTi" pitchFamily="18" charset="-122"/>
                <a:cs typeface="Alibaba PuHuiTi" pitchFamily="18" charset="-122"/>
              </a:rPr>
              <a:t>K</a:t>
            </a:r>
            <a:r>
              <a:rPr lang="zh-CN" altLang="en-US" sz="1800" dirty="0">
                <a:solidFill>
                  <a:prstClr val="black">
                    <a:lumMod val="85000"/>
                    <a:lumOff val="15000"/>
                  </a:prstClr>
                </a:solidFill>
                <a:latin typeface="Alibaba PuHuiTi" pitchFamily="18" charset="-122"/>
                <a:ea typeface="Alibaba PuHuiTi" pitchFamily="18" charset="-122"/>
                <a:cs typeface="Alibaba PuHuiTi" pitchFamily="18" charset="-122"/>
              </a:rPr>
              <a:t>意味着最终的聚类类别数</a:t>
            </a:r>
            <a:endParaRPr lang="en-US" altLang="zh-CN" sz="1800" dirty="0">
              <a:solidFill>
                <a:prstClr val="black">
                  <a:lumMod val="85000"/>
                  <a:lumOff val="15000"/>
                </a:prstClr>
              </a:solidFill>
              <a:latin typeface="Alibaba PuHuiTi" pitchFamily="18" charset="-122"/>
              <a:ea typeface="Alibaba PuHuiTi" pitchFamily="18" charset="-122"/>
              <a:cs typeface="Alibaba PuHuiTi" pitchFamily="18" charset="-122"/>
            </a:endParaRPr>
          </a:p>
          <a:p>
            <a:pPr lvl="0">
              <a:lnSpc>
                <a:spcPct val="200000"/>
              </a:lnSpc>
              <a:defRPr/>
            </a:pPr>
            <a:r>
              <a:rPr lang="en-US" altLang="zh-CN" sz="1800" dirty="0">
                <a:solidFill>
                  <a:prstClr val="black">
                    <a:lumMod val="85000"/>
                    <a:lumOff val="15000"/>
                  </a:prstClr>
                </a:solidFill>
                <a:latin typeface="Alibaba PuHuiTi" pitchFamily="18" charset="-122"/>
                <a:ea typeface="Alibaba PuHuiTi" pitchFamily="18" charset="-122"/>
                <a:cs typeface="Alibaba PuHuiTi" pitchFamily="18" charset="-122"/>
              </a:rPr>
              <a:t>2</a:t>
            </a:r>
            <a:r>
              <a:rPr lang="zh-CN" altLang="en-US" sz="1800" dirty="0">
                <a:solidFill>
                  <a:prstClr val="black">
                    <a:lumMod val="85000"/>
                    <a:lumOff val="15000"/>
                  </a:prstClr>
                </a:solidFill>
                <a:latin typeface="Alibaba PuHuiTi" pitchFamily="18" charset="-122"/>
                <a:ea typeface="Alibaba PuHuiTi" pitchFamily="18" charset="-122"/>
                <a:cs typeface="Alibaba PuHuiTi" pitchFamily="18" charset="-122"/>
              </a:rPr>
              <a:t>、随机选择 </a:t>
            </a:r>
            <a:r>
              <a:rPr lang="en-GB" altLang="zh-CN" sz="1800" dirty="0">
                <a:solidFill>
                  <a:schemeClr val="accent2">
                    <a:lumMod val="75000"/>
                  </a:schemeClr>
                </a:solidFill>
                <a:latin typeface="Alibaba PuHuiTi" pitchFamily="18" charset="-122"/>
                <a:ea typeface="Alibaba PuHuiTi" pitchFamily="18" charset="-122"/>
                <a:cs typeface="Alibaba PuHuiTi" pitchFamily="18" charset="-122"/>
              </a:rPr>
              <a:t>K </a:t>
            </a:r>
            <a:r>
              <a:rPr lang="zh-CN" altLang="en-US" sz="1800" dirty="0">
                <a:solidFill>
                  <a:schemeClr val="accent2">
                    <a:lumMod val="75000"/>
                  </a:schemeClr>
                </a:solidFill>
                <a:latin typeface="Alibaba PuHuiTi" pitchFamily="18" charset="-122"/>
                <a:ea typeface="Alibaba PuHuiTi" pitchFamily="18" charset="-122"/>
                <a:cs typeface="Alibaba PuHuiTi" pitchFamily="18" charset="-122"/>
              </a:rPr>
              <a:t>个样本点</a:t>
            </a:r>
            <a:r>
              <a:rPr lang="zh-CN" altLang="en-US" sz="1800" dirty="0">
                <a:solidFill>
                  <a:prstClr val="black">
                    <a:lumMod val="85000"/>
                    <a:lumOff val="15000"/>
                  </a:prstClr>
                </a:solidFill>
                <a:latin typeface="Alibaba PuHuiTi" pitchFamily="18" charset="-122"/>
                <a:ea typeface="Alibaba PuHuiTi" pitchFamily="18" charset="-122"/>
                <a:cs typeface="Alibaba PuHuiTi" pitchFamily="18" charset="-122"/>
              </a:rPr>
              <a:t>作为初始聚类中心</a:t>
            </a:r>
            <a:endParaRPr lang="zh-CN" altLang="en-US" sz="1800" dirty="0">
              <a:solidFill>
                <a:prstClr val="black">
                  <a:lumMod val="85000"/>
                  <a:lumOff val="15000"/>
                </a:prstClr>
              </a:solidFill>
              <a:latin typeface="Alibaba PuHuiTi" pitchFamily="18" charset="-122"/>
              <a:ea typeface="Alibaba PuHuiTi" pitchFamily="18" charset="-122"/>
              <a:cs typeface="Alibaba PuHuiTi" pitchFamily="18" charset="-122"/>
            </a:endParaRPr>
          </a:p>
          <a:p>
            <a:pPr lvl="0">
              <a:lnSpc>
                <a:spcPct val="200000"/>
              </a:lnSpc>
              <a:defRPr/>
            </a:pPr>
            <a:r>
              <a:rPr lang="en-US" altLang="zh-CN" sz="1800" dirty="0">
                <a:solidFill>
                  <a:prstClr val="black">
                    <a:lumMod val="85000"/>
                    <a:lumOff val="15000"/>
                  </a:prstClr>
                </a:solidFill>
                <a:latin typeface="Alibaba PuHuiTi" pitchFamily="18" charset="-122"/>
                <a:ea typeface="Alibaba PuHuiTi" pitchFamily="18" charset="-122"/>
                <a:cs typeface="Alibaba PuHuiTi" pitchFamily="18" charset="-122"/>
              </a:rPr>
              <a:t>3</a:t>
            </a:r>
            <a:r>
              <a:rPr lang="zh-CN" altLang="en-US" sz="1800" dirty="0">
                <a:solidFill>
                  <a:prstClr val="black">
                    <a:lumMod val="85000"/>
                    <a:lumOff val="15000"/>
                  </a:prstClr>
                </a:solidFill>
                <a:latin typeface="Alibaba PuHuiTi" pitchFamily="18" charset="-122"/>
                <a:ea typeface="Alibaba PuHuiTi" pitchFamily="18" charset="-122"/>
                <a:cs typeface="Alibaba PuHuiTi" pitchFamily="18" charset="-122"/>
              </a:rPr>
              <a:t>、计算</a:t>
            </a:r>
            <a:r>
              <a:rPr lang="zh-CN" altLang="en-US" sz="1800" dirty="0">
                <a:solidFill>
                  <a:schemeClr val="accent2">
                    <a:lumMod val="75000"/>
                  </a:schemeClr>
                </a:solidFill>
                <a:latin typeface="Alibaba PuHuiTi" pitchFamily="18" charset="-122"/>
                <a:ea typeface="Alibaba PuHuiTi" pitchFamily="18" charset="-122"/>
                <a:cs typeface="Alibaba PuHuiTi" pitchFamily="18" charset="-122"/>
              </a:rPr>
              <a:t>每个样本</a:t>
            </a:r>
            <a:r>
              <a:rPr lang="zh-CN" altLang="en-US" sz="1800" dirty="0">
                <a:solidFill>
                  <a:prstClr val="black">
                    <a:lumMod val="85000"/>
                    <a:lumOff val="15000"/>
                  </a:prstClr>
                </a:solidFill>
                <a:latin typeface="Alibaba PuHuiTi" pitchFamily="18" charset="-122"/>
                <a:ea typeface="Alibaba PuHuiTi" pitchFamily="18" charset="-122"/>
                <a:cs typeface="Alibaba PuHuiTi" pitchFamily="18" charset="-122"/>
              </a:rPr>
              <a:t>到 </a:t>
            </a:r>
            <a:r>
              <a:rPr lang="en-GB" altLang="zh-CN" sz="1800" dirty="0">
                <a:solidFill>
                  <a:prstClr val="black">
                    <a:lumMod val="85000"/>
                    <a:lumOff val="15000"/>
                  </a:prstClr>
                </a:solidFill>
                <a:latin typeface="Alibaba PuHuiTi" pitchFamily="18" charset="-122"/>
                <a:ea typeface="Alibaba PuHuiTi" pitchFamily="18" charset="-122"/>
                <a:cs typeface="Alibaba PuHuiTi" pitchFamily="18" charset="-122"/>
              </a:rPr>
              <a:t>K </a:t>
            </a:r>
            <a:r>
              <a:rPr lang="zh-CN" altLang="en-US" sz="1800" dirty="0">
                <a:solidFill>
                  <a:prstClr val="black">
                    <a:lumMod val="85000"/>
                    <a:lumOff val="15000"/>
                  </a:prstClr>
                </a:solidFill>
                <a:latin typeface="Alibaba PuHuiTi" pitchFamily="18" charset="-122"/>
                <a:ea typeface="Alibaba PuHuiTi" pitchFamily="18" charset="-122"/>
                <a:cs typeface="Alibaba PuHuiTi" pitchFamily="18" charset="-122"/>
              </a:rPr>
              <a:t>个中心的距离，选择最近的聚类中心点作为标记类别</a:t>
            </a:r>
            <a:endParaRPr lang="zh-CN" altLang="en-US" sz="1800" dirty="0">
              <a:solidFill>
                <a:prstClr val="black">
                  <a:lumMod val="85000"/>
                  <a:lumOff val="15000"/>
                </a:prstClr>
              </a:solidFill>
              <a:latin typeface="Alibaba PuHuiTi" pitchFamily="18" charset="-122"/>
              <a:ea typeface="Alibaba PuHuiTi" pitchFamily="18" charset="-122"/>
              <a:cs typeface="Alibaba PuHuiTi" pitchFamily="18" charset="-122"/>
            </a:endParaRPr>
          </a:p>
          <a:p>
            <a:pPr lvl="0">
              <a:lnSpc>
                <a:spcPct val="200000"/>
              </a:lnSpc>
              <a:defRPr/>
            </a:pPr>
            <a:r>
              <a:rPr lang="en-US" altLang="zh-CN" sz="1800" dirty="0">
                <a:solidFill>
                  <a:prstClr val="black">
                    <a:lumMod val="85000"/>
                    <a:lumOff val="15000"/>
                  </a:prstClr>
                </a:solidFill>
                <a:latin typeface="Alibaba PuHuiTi" pitchFamily="18" charset="-122"/>
                <a:ea typeface="Alibaba PuHuiTi" pitchFamily="18" charset="-122"/>
                <a:cs typeface="Alibaba PuHuiTi" pitchFamily="18" charset="-122"/>
              </a:rPr>
              <a:t>4</a:t>
            </a:r>
            <a:r>
              <a:rPr lang="zh-CN" altLang="en-US" sz="1800" dirty="0">
                <a:solidFill>
                  <a:prstClr val="black">
                    <a:lumMod val="85000"/>
                    <a:lumOff val="15000"/>
                  </a:prstClr>
                </a:solidFill>
                <a:latin typeface="Alibaba PuHuiTi" pitchFamily="18" charset="-122"/>
                <a:ea typeface="Alibaba PuHuiTi" pitchFamily="18" charset="-122"/>
                <a:cs typeface="Alibaba PuHuiTi" pitchFamily="18" charset="-122"/>
              </a:rPr>
              <a:t>、根据每个类别中的样本点，重新计算出</a:t>
            </a:r>
            <a:r>
              <a:rPr lang="zh-CN" altLang="en-US" sz="1800" dirty="0">
                <a:solidFill>
                  <a:schemeClr val="accent2">
                    <a:lumMod val="75000"/>
                  </a:schemeClr>
                </a:solidFill>
                <a:latin typeface="Alibaba PuHuiTi" pitchFamily="18" charset="-122"/>
                <a:ea typeface="Alibaba PuHuiTi" pitchFamily="18" charset="-122"/>
                <a:cs typeface="Alibaba PuHuiTi" pitchFamily="18" charset="-122"/>
              </a:rPr>
              <a:t>新的聚类中心点</a:t>
            </a:r>
            <a:r>
              <a:rPr lang="zh-CN" altLang="en-US" sz="1800" dirty="0">
                <a:solidFill>
                  <a:prstClr val="black">
                    <a:lumMod val="85000"/>
                    <a:lumOff val="15000"/>
                  </a:prstClr>
                </a:solidFill>
                <a:latin typeface="Alibaba PuHuiTi" pitchFamily="18" charset="-122"/>
                <a:ea typeface="Alibaba PuHuiTi" pitchFamily="18" charset="-122"/>
                <a:cs typeface="Alibaba PuHuiTi" pitchFamily="18" charset="-122"/>
              </a:rPr>
              <a:t>（平均值），如果计算得出的</a:t>
            </a:r>
            <a:r>
              <a:rPr lang="zh-CN" altLang="en-US" sz="1800" dirty="0">
                <a:solidFill>
                  <a:schemeClr val="accent2">
                    <a:lumMod val="75000"/>
                  </a:schemeClr>
                </a:solidFill>
                <a:latin typeface="Alibaba PuHuiTi" pitchFamily="18" charset="-122"/>
                <a:ea typeface="Alibaba PuHuiTi" pitchFamily="18" charset="-122"/>
                <a:cs typeface="Alibaba PuHuiTi" pitchFamily="18" charset="-122"/>
              </a:rPr>
              <a:t>新中心点</a:t>
            </a:r>
            <a:r>
              <a:rPr lang="zh-CN" altLang="en-US" sz="1800" dirty="0">
                <a:solidFill>
                  <a:prstClr val="black">
                    <a:lumMod val="85000"/>
                    <a:lumOff val="15000"/>
                  </a:prstClr>
                </a:solidFill>
                <a:latin typeface="Alibaba PuHuiTi" pitchFamily="18" charset="-122"/>
                <a:ea typeface="Alibaba PuHuiTi" pitchFamily="18" charset="-122"/>
                <a:cs typeface="Alibaba PuHuiTi" pitchFamily="18" charset="-122"/>
              </a:rPr>
              <a:t>与</a:t>
            </a:r>
            <a:r>
              <a:rPr lang="zh-CN" altLang="en-US" sz="1800" dirty="0">
                <a:solidFill>
                  <a:schemeClr val="accent2">
                    <a:lumMod val="75000"/>
                  </a:schemeClr>
                </a:solidFill>
                <a:latin typeface="Alibaba PuHuiTi" pitchFamily="18" charset="-122"/>
                <a:ea typeface="Alibaba PuHuiTi" pitchFamily="18" charset="-122"/>
                <a:cs typeface="Alibaba PuHuiTi" pitchFamily="18" charset="-122"/>
              </a:rPr>
              <a:t>原中心点</a:t>
            </a:r>
            <a:r>
              <a:rPr lang="zh-CN" altLang="en-US" sz="1800" dirty="0">
                <a:solidFill>
                  <a:prstClr val="black">
                    <a:lumMod val="85000"/>
                    <a:lumOff val="15000"/>
                  </a:prstClr>
                </a:solidFill>
                <a:latin typeface="Alibaba PuHuiTi" pitchFamily="18" charset="-122"/>
                <a:ea typeface="Alibaba PuHuiTi" pitchFamily="18" charset="-122"/>
                <a:cs typeface="Alibaba PuHuiTi" pitchFamily="18" charset="-122"/>
              </a:rPr>
              <a:t>一样则停止聚类，否则重新进行</a:t>
            </a:r>
            <a:r>
              <a:rPr lang="zh-CN" altLang="en-US" sz="1800" dirty="0">
                <a:solidFill>
                  <a:schemeClr val="accent2">
                    <a:lumMod val="75000"/>
                  </a:schemeClr>
                </a:solidFill>
                <a:latin typeface="Alibaba PuHuiTi" pitchFamily="18" charset="-122"/>
                <a:ea typeface="Alibaba PuHuiTi" pitchFamily="18" charset="-122"/>
                <a:cs typeface="Alibaba PuHuiTi" pitchFamily="18" charset="-122"/>
              </a:rPr>
              <a:t>第 </a:t>
            </a:r>
            <a:r>
              <a:rPr lang="en-US" altLang="zh-CN" sz="1800" dirty="0">
                <a:solidFill>
                  <a:schemeClr val="accent2">
                    <a:lumMod val="75000"/>
                  </a:schemeClr>
                </a:solidFill>
                <a:latin typeface="Alibaba PuHuiTi" pitchFamily="18" charset="-122"/>
                <a:ea typeface="Alibaba PuHuiTi" pitchFamily="18" charset="-122"/>
                <a:cs typeface="Alibaba PuHuiTi" pitchFamily="18" charset="-122"/>
              </a:rPr>
              <a:t>3 </a:t>
            </a:r>
            <a:r>
              <a:rPr lang="zh-CN" altLang="en-US" sz="1800" dirty="0">
                <a:solidFill>
                  <a:schemeClr val="accent2">
                    <a:lumMod val="75000"/>
                  </a:schemeClr>
                </a:solidFill>
                <a:latin typeface="Alibaba PuHuiTi" pitchFamily="18" charset="-122"/>
                <a:ea typeface="Alibaba PuHuiTi" pitchFamily="18" charset="-122"/>
                <a:cs typeface="Alibaba PuHuiTi" pitchFamily="18" charset="-122"/>
              </a:rPr>
              <a:t>步过程</a:t>
            </a:r>
            <a:r>
              <a:rPr lang="zh-CN" altLang="en-US" sz="1800" dirty="0">
                <a:solidFill>
                  <a:prstClr val="black">
                    <a:lumMod val="85000"/>
                    <a:lumOff val="15000"/>
                  </a:prstClr>
                </a:solidFill>
                <a:latin typeface="Alibaba PuHuiTi" pitchFamily="18" charset="-122"/>
                <a:ea typeface="Alibaba PuHuiTi" pitchFamily="18" charset="-122"/>
                <a:cs typeface="Alibaba PuHuiTi" pitchFamily="18" charset="-122"/>
              </a:rPr>
              <a:t>，直到聚类中心不再变化</a:t>
            </a:r>
            <a:endParaRPr lang="zh-CN" altLang="en-US" sz="1800" dirty="0">
              <a:solidFill>
                <a:prstClr val="black">
                  <a:lumMod val="85000"/>
                  <a:lumOff val="15000"/>
                </a:prst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19598" y="1137690"/>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KMeans</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算法实现流程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6" name="图片 5"/>
          <p:cNvPicPr>
            <a:picLocks noChangeAspect="1"/>
          </p:cNvPicPr>
          <p:nvPr/>
        </p:nvPicPr>
        <p:blipFill>
          <a:blip r:embed="rId1"/>
          <a:stretch>
            <a:fillRect/>
          </a:stretch>
        </p:blipFill>
        <p:spPr>
          <a:xfrm>
            <a:off x="3849500" y="2859220"/>
            <a:ext cx="5724140" cy="1971914"/>
          </a:xfrm>
          <a:prstGeom prst="rect">
            <a:avLst/>
          </a:prstGeom>
        </p:spPr>
      </p:pic>
      <p:pic>
        <p:nvPicPr>
          <p:cNvPr id="7" name="图片 6"/>
          <p:cNvPicPr>
            <a:picLocks noChangeAspect="1"/>
          </p:cNvPicPr>
          <p:nvPr/>
        </p:nvPicPr>
        <p:blipFill>
          <a:blip r:embed="rId2"/>
          <a:stretch>
            <a:fillRect/>
          </a:stretch>
        </p:blipFill>
        <p:spPr>
          <a:xfrm>
            <a:off x="3849500" y="4873652"/>
            <a:ext cx="5724140" cy="1929395"/>
          </a:xfrm>
          <a:prstGeom prst="rect">
            <a:avLst/>
          </a:prstGeom>
        </p:spPr>
      </p:pic>
      <p:pic>
        <p:nvPicPr>
          <p:cNvPr id="9" name="图片 8"/>
          <p:cNvPicPr>
            <a:picLocks noChangeAspect="1"/>
          </p:cNvPicPr>
          <p:nvPr/>
        </p:nvPicPr>
        <p:blipFill>
          <a:blip r:embed="rId3"/>
          <a:stretch>
            <a:fillRect/>
          </a:stretch>
        </p:blipFill>
        <p:spPr>
          <a:xfrm>
            <a:off x="3849500" y="928454"/>
            <a:ext cx="5724140" cy="188687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KMeans</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算法实现流程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5" name="图片 4"/>
          <p:cNvPicPr>
            <a:picLocks noChangeAspect="1"/>
          </p:cNvPicPr>
          <p:nvPr/>
        </p:nvPicPr>
        <p:blipFill>
          <a:blip r:embed="rId1"/>
          <a:stretch>
            <a:fillRect/>
          </a:stretch>
        </p:blipFill>
        <p:spPr>
          <a:xfrm>
            <a:off x="3666755" y="1175577"/>
            <a:ext cx="6104616" cy="548510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KMeans</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算法实现流程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举例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041731" y="1374114"/>
            <a:ext cx="6912623" cy="816194"/>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R="0" lvl="0" algn="l" defTabSz="914400" rtl="0" eaLnBrk="0" fontAlgn="base" latinLnBrk="0" hangingPunct="0">
              <a:lnSpc>
                <a:spcPct val="150000"/>
              </a:lnSpc>
              <a:spcBef>
                <a:spcPct val="20000"/>
              </a:spcBef>
              <a:spcAft>
                <a:spcPct val="0"/>
              </a:spcAft>
              <a:buClrTx/>
              <a:buSzTx/>
              <a:defRPr/>
            </a:pPr>
            <a:r>
              <a:rPr lang="zh-CN" altLang="en-US" sz="1800" dirty="0">
                <a:solidFill>
                  <a:prstClr val="black">
                    <a:lumMod val="85000"/>
                    <a:lumOff val="15000"/>
                  </a:prstClr>
                </a:solidFill>
                <a:latin typeface="Alibaba PuHuiTi" pitchFamily="18" charset="-122"/>
                <a:ea typeface="Alibaba PuHuiTi" pitchFamily="18" charset="-122"/>
                <a:cs typeface="Alibaba PuHuiTi" pitchFamily="18" charset="-122"/>
              </a:rPr>
              <a:t>已知数据如下表所示，</a:t>
            </a:r>
            <a:r>
              <a:rPr lang="zh-CN" altLang="en-US" sz="1800" dirty="0">
                <a:solidFill>
                  <a:schemeClr val="accent2">
                    <a:lumMod val="75000"/>
                  </a:schemeClr>
                </a:solidFill>
                <a:latin typeface="Alibaba PuHuiTi" pitchFamily="18" charset="-122"/>
                <a:ea typeface="Alibaba PuHuiTi" pitchFamily="18" charset="-122"/>
                <a:cs typeface="Alibaba PuHuiTi" pitchFamily="18" charset="-122"/>
              </a:rPr>
              <a:t>按照</a:t>
            </a:r>
            <a:r>
              <a:rPr lang="en-US" altLang="zh-CN" sz="1800" dirty="0" err="1">
                <a:solidFill>
                  <a:schemeClr val="accent2">
                    <a:lumMod val="75000"/>
                  </a:schemeClr>
                </a:solidFill>
                <a:latin typeface="Alibaba PuHuiTi" pitchFamily="18" charset="-122"/>
                <a:ea typeface="Alibaba PuHuiTi" pitchFamily="18" charset="-122"/>
                <a:cs typeface="Alibaba PuHuiTi" pitchFamily="18" charset="-122"/>
              </a:rPr>
              <a:t>KMeans</a:t>
            </a:r>
            <a:r>
              <a:rPr lang="zh-CN" altLang="en-US" sz="1800" dirty="0">
                <a:solidFill>
                  <a:schemeClr val="accent2">
                    <a:lumMod val="75000"/>
                  </a:schemeClr>
                </a:solidFill>
                <a:latin typeface="Alibaba PuHuiTi" pitchFamily="18" charset="-122"/>
                <a:ea typeface="Alibaba PuHuiTi" pitchFamily="18" charset="-122"/>
                <a:cs typeface="Alibaba PuHuiTi" pitchFamily="18" charset="-122"/>
              </a:rPr>
              <a:t>算法实现流程</a:t>
            </a:r>
            <a:r>
              <a:rPr lang="zh-CN" altLang="en-US" sz="1800" dirty="0">
                <a:solidFill>
                  <a:prstClr val="black">
                    <a:lumMod val="85000"/>
                    <a:lumOff val="15000"/>
                  </a:prstClr>
                </a:solidFill>
                <a:latin typeface="Alibaba PuHuiTi" pitchFamily="18" charset="-122"/>
                <a:ea typeface="Alibaba PuHuiTi" pitchFamily="18" charset="-122"/>
                <a:cs typeface="Alibaba PuHuiTi" pitchFamily="18" charset="-122"/>
              </a:rPr>
              <a:t>进行聚类：</a:t>
            </a:r>
            <a:endParaRPr kumimoji="0" lang="zh-CN" altLang="en-GB" sz="18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p:pic>
        <p:nvPicPr>
          <p:cNvPr id="2" name="图片 1"/>
          <p:cNvPicPr>
            <a:picLocks noChangeAspect="1"/>
          </p:cNvPicPr>
          <p:nvPr/>
        </p:nvPicPr>
        <p:blipFill>
          <a:blip r:embed="rId1"/>
          <a:stretch>
            <a:fillRect/>
          </a:stretch>
        </p:blipFill>
        <p:spPr>
          <a:xfrm>
            <a:off x="1520986" y="2469213"/>
            <a:ext cx="6912623" cy="350582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KMeans</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算法实现流程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举例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文本占位符 2"/>
          <p:cNvSpPr txBox="1"/>
          <p:nvPr/>
        </p:nvSpPr>
        <p:spPr>
          <a:xfrm>
            <a:off x="1062996" y="1520904"/>
            <a:ext cx="8017209" cy="153875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a:defRPr/>
            </a:pPr>
            <a:r>
              <a:rPr kumimoji="0" lang="en-US" altLang="zh-CN"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1</a:t>
            </a:r>
            <a:r>
              <a:rPr kumimoji="0" lang="zh-CN" altLang="en-US"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、随机设置</a:t>
            </a:r>
            <a:r>
              <a:rPr kumimoji="0" lang="en-GB" altLang="zh-CN" sz="18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K</a:t>
            </a:r>
            <a:r>
              <a:rPr kumimoji="0" lang="zh-CN" altLang="en-US" sz="18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个特征空间内的点</a:t>
            </a:r>
            <a:r>
              <a:rPr kumimoji="0" lang="zh-CN" altLang="en-US"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作为初始的聚类中心（本案例中设置</a:t>
            </a:r>
            <a:r>
              <a:rPr kumimoji="0" lang="en-GB" altLang="zh-CN"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p1</a:t>
            </a:r>
            <a:r>
              <a:rPr kumimoji="0" lang="zh-CN" altLang="en-US"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和</a:t>
            </a:r>
            <a:r>
              <a:rPr kumimoji="0" lang="en-GB" altLang="zh-CN"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p2</a:t>
            </a:r>
            <a:r>
              <a:rPr kumimoji="0" lang="zh-CN" altLang="en-GB"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endParaRPr kumimoji="0" lang="zh-CN" altLang="en-GB"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285750" indent="-285750">
              <a:buFont typeface="Arial" panose="020B0604020202020204" pitchFamily="34" charset="0"/>
              <a:buChar char="•"/>
              <a:defRPr/>
            </a:pPr>
            <a:endParaRPr kumimoji="0" lang="zh-CN" altLang="en-GB" sz="18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p:pic>
        <p:nvPicPr>
          <p:cNvPr id="9" name="图片 8"/>
          <p:cNvPicPr>
            <a:picLocks noChangeAspect="1"/>
          </p:cNvPicPr>
          <p:nvPr/>
        </p:nvPicPr>
        <p:blipFill>
          <a:blip r:embed="rId1"/>
          <a:stretch>
            <a:fillRect/>
          </a:stretch>
        </p:blipFill>
        <p:spPr>
          <a:xfrm>
            <a:off x="1145744" y="2614183"/>
            <a:ext cx="7851711" cy="340383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KMeans</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算法实现流程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举例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041731" y="1310318"/>
            <a:ext cx="8697692" cy="198152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a:defRPr/>
            </a:pPr>
            <a:r>
              <a:rPr kumimoji="0" lang="en-US" altLang="zh-CN"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2</a:t>
            </a:r>
            <a:r>
              <a:rPr kumimoji="0" lang="zh-CN" altLang="en-US"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a:t>
            </a:r>
            <a:r>
              <a:rPr kumimoji="0" lang="zh-CN" altLang="en-US" sz="18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对于其他每个点</a:t>
            </a:r>
            <a:r>
              <a:rPr kumimoji="0" lang="zh-CN" altLang="en-US"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计算到</a:t>
            </a:r>
            <a:r>
              <a:rPr kumimoji="0" lang="en-GB" altLang="zh-CN"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K</a:t>
            </a:r>
            <a:r>
              <a:rPr kumimoji="0" lang="zh-CN" altLang="en-US"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个中心的距离，选择最近的一个聚类中心点作为标记类别</a:t>
            </a:r>
            <a:endParaRPr kumimoji="0" lang="zh-CN" altLang="en-GB"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endParaRPr>
          </a:p>
        </p:txBody>
      </p:sp>
      <p:pic>
        <p:nvPicPr>
          <p:cNvPr id="6" name="图片 5"/>
          <p:cNvPicPr>
            <a:picLocks noChangeAspect="1"/>
          </p:cNvPicPr>
          <p:nvPr/>
        </p:nvPicPr>
        <p:blipFill>
          <a:blip r:embed="rId1"/>
          <a:stretch>
            <a:fillRect/>
          </a:stretch>
        </p:blipFill>
        <p:spPr>
          <a:xfrm>
            <a:off x="2141869" y="1827508"/>
            <a:ext cx="5740400" cy="2667000"/>
          </a:xfrm>
          <a:prstGeom prst="rect">
            <a:avLst/>
          </a:prstGeom>
        </p:spPr>
      </p:pic>
      <p:pic>
        <p:nvPicPr>
          <p:cNvPr id="10" name="图片 9"/>
          <p:cNvPicPr>
            <a:picLocks noChangeAspect="1"/>
          </p:cNvPicPr>
          <p:nvPr/>
        </p:nvPicPr>
        <p:blipFill>
          <a:blip r:embed="rId2"/>
          <a:stretch>
            <a:fillRect/>
          </a:stretch>
        </p:blipFill>
        <p:spPr>
          <a:xfrm>
            <a:off x="2141869" y="4964847"/>
            <a:ext cx="5943600" cy="14351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KMeans</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算法实现流程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举例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211851" y="1417166"/>
            <a:ext cx="7485582" cy="161760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a:defRPr/>
            </a:pPr>
            <a:r>
              <a:rPr lang="en-US" altLang="zh-CN" sz="1800" dirty="0">
                <a:latin typeface="Alibaba PuHuiTi" pitchFamily="18" charset="-122"/>
                <a:ea typeface="Alibaba PuHuiTi" pitchFamily="18" charset="-122"/>
                <a:cs typeface="Alibaba PuHuiTi" pitchFamily="18" charset="-122"/>
              </a:rPr>
              <a:t>3</a:t>
            </a:r>
            <a:r>
              <a:rPr kumimoji="0" lang="zh-CN" altLang="en-US"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、接着对标记的聚类中心，</a:t>
            </a:r>
            <a:r>
              <a:rPr kumimoji="0" lang="zh-CN" altLang="en-US" sz="18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重新计算每个聚类的新中心点</a:t>
            </a:r>
            <a:r>
              <a:rPr kumimoji="0" lang="zh-CN" altLang="en-US"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（平均值）</a:t>
            </a:r>
            <a:endParaRPr kumimoji="0" lang="zh-CN" altLang="en-GB"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endParaRPr>
          </a:p>
        </p:txBody>
      </p:sp>
      <p:pic>
        <p:nvPicPr>
          <p:cNvPr id="5" name="图片 4"/>
          <p:cNvPicPr>
            <a:picLocks noChangeAspect="1"/>
          </p:cNvPicPr>
          <p:nvPr/>
        </p:nvPicPr>
        <p:blipFill>
          <a:blip r:embed="rId1"/>
          <a:stretch>
            <a:fillRect/>
          </a:stretch>
        </p:blipFill>
        <p:spPr>
          <a:xfrm>
            <a:off x="1762380" y="2733687"/>
            <a:ext cx="6764932" cy="295805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KMeans</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算法实现流程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举例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文本占位符 2"/>
          <p:cNvSpPr txBox="1"/>
          <p:nvPr/>
        </p:nvSpPr>
        <p:spPr>
          <a:xfrm>
            <a:off x="988027" y="1357169"/>
            <a:ext cx="9304289" cy="1129699"/>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a:defRPr/>
            </a:pPr>
            <a:r>
              <a:rPr lang="en-US" altLang="zh-CN" sz="1800" b="0" i="0" dirty="0">
                <a:solidFill>
                  <a:srgbClr val="333333"/>
                </a:solidFill>
                <a:effectLst/>
                <a:latin typeface="Alibaba PuHuiTi" pitchFamily="18" charset="-122"/>
                <a:ea typeface="Alibaba PuHuiTi" pitchFamily="18" charset="-122"/>
                <a:cs typeface="Alibaba PuHuiTi" pitchFamily="18" charset="-122"/>
              </a:rPr>
              <a:t>4</a:t>
            </a:r>
            <a:r>
              <a:rPr lang="zh-CN" altLang="en-US" sz="1800" b="0" i="0" dirty="0">
                <a:solidFill>
                  <a:srgbClr val="333333"/>
                </a:solidFill>
                <a:effectLst/>
                <a:latin typeface="Alibaba PuHuiTi" pitchFamily="18" charset="-122"/>
                <a:ea typeface="Alibaba PuHuiTi" pitchFamily="18" charset="-122"/>
                <a:cs typeface="Alibaba PuHuiTi" pitchFamily="18" charset="-122"/>
              </a:rPr>
              <a:t>、如果计算得出的新中心点与</a:t>
            </a:r>
            <a:r>
              <a:rPr lang="zh-CN" altLang="en-US" sz="1800" b="0" i="0" dirty="0">
                <a:solidFill>
                  <a:schemeClr val="accent2">
                    <a:lumMod val="75000"/>
                  </a:schemeClr>
                </a:solidFill>
                <a:effectLst/>
                <a:latin typeface="Alibaba PuHuiTi" pitchFamily="18" charset="-122"/>
                <a:ea typeface="Alibaba PuHuiTi" pitchFamily="18" charset="-122"/>
                <a:cs typeface="Alibaba PuHuiTi" pitchFamily="18" charset="-122"/>
              </a:rPr>
              <a:t>原中心点</a:t>
            </a:r>
            <a:r>
              <a:rPr lang="zh-CN" altLang="en-US" sz="1800" b="0" i="0" dirty="0">
                <a:solidFill>
                  <a:srgbClr val="333333"/>
                </a:solidFill>
                <a:effectLst/>
                <a:latin typeface="Alibaba PuHuiTi" pitchFamily="18" charset="-122"/>
                <a:ea typeface="Alibaba PuHuiTi" pitchFamily="18" charset="-122"/>
                <a:cs typeface="Alibaba PuHuiTi" pitchFamily="18" charset="-122"/>
              </a:rPr>
              <a:t>一样（质心不再移动），那么结束，否则重新进行第二步过程</a:t>
            </a:r>
            <a:r>
              <a:rPr lang="en-US" altLang="zh-CN" sz="1800" b="0" i="0" dirty="0">
                <a:solidFill>
                  <a:srgbClr val="333333"/>
                </a:solidFill>
                <a:effectLst/>
                <a:latin typeface="Alibaba PuHuiTi" pitchFamily="18" charset="-122"/>
                <a:ea typeface="Alibaba PuHuiTi" pitchFamily="18" charset="-122"/>
                <a:cs typeface="Alibaba PuHuiTi" pitchFamily="18" charset="-122"/>
              </a:rPr>
              <a:t>【</a:t>
            </a:r>
            <a:r>
              <a:rPr lang="zh-CN" altLang="en-US" sz="1800" b="0" i="0" dirty="0">
                <a:solidFill>
                  <a:srgbClr val="333333"/>
                </a:solidFill>
                <a:effectLst/>
                <a:latin typeface="Alibaba PuHuiTi" pitchFamily="18" charset="-122"/>
                <a:ea typeface="Alibaba PuHuiTi" pitchFamily="18" charset="-122"/>
                <a:cs typeface="Alibaba PuHuiTi" pitchFamily="18" charset="-122"/>
              </a:rPr>
              <a:t>经过判断，需要重复上述步骤，开始新一轮迭代</a:t>
            </a:r>
            <a:r>
              <a:rPr lang="en-US" altLang="zh-CN" sz="1800" b="0" i="0" dirty="0">
                <a:solidFill>
                  <a:srgbClr val="333333"/>
                </a:solidFill>
                <a:effectLst/>
                <a:latin typeface="Alibaba PuHuiTi" pitchFamily="18" charset="-122"/>
                <a:ea typeface="Alibaba PuHuiTi" pitchFamily="18" charset="-122"/>
                <a:cs typeface="Alibaba PuHuiTi" pitchFamily="18" charset="-122"/>
              </a:rPr>
              <a:t>】</a:t>
            </a:r>
            <a:endParaRPr kumimoji="0" lang="zh-CN" altLang="en-GB" sz="18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endParaRPr>
          </a:p>
        </p:txBody>
      </p:sp>
      <p:pic>
        <p:nvPicPr>
          <p:cNvPr id="9" name="图片 8"/>
          <p:cNvPicPr>
            <a:picLocks noChangeAspect="1"/>
          </p:cNvPicPr>
          <p:nvPr/>
        </p:nvPicPr>
        <p:blipFill>
          <a:blip r:embed="rId1"/>
          <a:stretch>
            <a:fillRect/>
          </a:stretch>
        </p:blipFill>
        <p:spPr>
          <a:xfrm>
            <a:off x="2717801" y="2414777"/>
            <a:ext cx="5844740" cy="2349704"/>
          </a:xfrm>
          <a:prstGeom prst="rect">
            <a:avLst/>
          </a:prstGeom>
        </p:spPr>
      </p:pic>
      <p:pic>
        <p:nvPicPr>
          <p:cNvPr id="12" name="图片 11"/>
          <p:cNvPicPr>
            <a:picLocks noChangeAspect="1"/>
          </p:cNvPicPr>
          <p:nvPr/>
        </p:nvPicPr>
        <p:blipFill>
          <a:blip r:embed="rId2"/>
          <a:stretch>
            <a:fillRect/>
          </a:stretch>
        </p:blipFill>
        <p:spPr>
          <a:xfrm>
            <a:off x="3121836" y="5219207"/>
            <a:ext cx="5058351" cy="107817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6459803"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KMeans</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算法实现流程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举例</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032106" y="1495611"/>
            <a:ext cx="9196415" cy="198152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a:defRPr/>
            </a:pPr>
            <a:r>
              <a:rPr lang="en-US" altLang="zh-CN" sz="1800" dirty="0">
                <a:solidFill>
                  <a:prstClr val="black">
                    <a:lumMod val="85000"/>
                    <a:lumOff val="15000"/>
                  </a:prstClr>
                </a:solidFill>
                <a:latin typeface="Alibaba PuHuiTi" pitchFamily="18" charset="-122"/>
                <a:ea typeface="Alibaba PuHuiTi" pitchFamily="18" charset="-122"/>
                <a:cs typeface="Alibaba PuHuiTi" pitchFamily="18" charset="-122"/>
              </a:rPr>
              <a:t>5</a:t>
            </a:r>
            <a:r>
              <a:rPr lang="zh-CN" altLang="en-US" sz="1800" dirty="0">
                <a:solidFill>
                  <a:prstClr val="black">
                    <a:lumMod val="85000"/>
                    <a:lumOff val="15000"/>
                  </a:prstClr>
                </a:solidFill>
                <a:latin typeface="Alibaba PuHuiTi" pitchFamily="18" charset="-122"/>
                <a:ea typeface="Alibaba PuHuiTi" pitchFamily="18" charset="-122"/>
                <a:cs typeface="Alibaba PuHuiTi" pitchFamily="18" charset="-122"/>
              </a:rPr>
              <a:t>、当每次迭代结果不变时，认为算法收敛，聚类完成</a:t>
            </a:r>
            <a:endParaRPr kumimoji="0" lang="zh-CN" altLang="en-GB" sz="18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pic>
        <p:nvPicPr>
          <p:cNvPr id="6" name="图片 5"/>
          <p:cNvPicPr>
            <a:picLocks noChangeAspect="1"/>
          </p:cNvPicPr>
          <p:nvPr/>
        </p:nvPicPr>
        <p:blipFill>
          <a:blip r:embed="rId1"/>
          <a:stretch>
            <a:fillRect/>
          </a:stretch>
        </p:blipFill>
        <p:spPr>
          <a:xfrm>
            <a:off x="2666907" y="2705990"/>
            <a:ext cx="4610100" cy="3175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11005" y="2105111"/>
            <a:ext cx="559237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1</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a:t>
            </a:r>
            <a:r>
              <a:rPr kumimoji="1" lang="en-US" altLang="zh-CN" b="1" dirty="0" err="1">
                <a:solidFill>
                  <a:prstClr val="black">
                    <a:lumMod val="65000"/>
                    <a:lumOff val="35000"/>
                  </a:prstClr>
                </a:solidFill>
                <a:latin typeface="Alibaba PuHuiTi" pitchFamily="18" charset="-122"/>
                <a:ea typeface="Alibaba PuHuiTi" pitchFamily="18" charset="-122"/>
                <a:cs typeface="Alibaba PuHuiTi" pitchFamily="18" charset="-122"/>
              </a:rPr>
              <a:t>KMeans</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算法实现流程</a:t>
            </a:r>
            <a:endPar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endParaRPr>
          </a:p>
        </p:txBody>
      </p:sp>
      <p:sp>
        <p:nvSpPr>
          <p:cNvPr id="12" name="文本占位符 1"/>
          <p:cNvSpPr txBox="1"/>
          <p:nvPr/>
        </p:nvSpPr>
        <p:spPr>
          <a:xfrm>
            <a:off x="86125" y="181128"/>
            <a:ext cx="7036395" cy="761341"/>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l"/>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gn="l" rtl="0" eaLnBrk="0" fontAlgn="base" hangingPunct="0">
              <a:lnSpc>
                <a:spcPct val="150000"/>
              </a:lnSpc>
              <a:spcBef>
                <a:spcPct val="20000"/>
              </a:spcBef>
              <a:spcAft>
                <a:spcPct val="0"/>
              </a:spcAft>
              <a:buFont typeface="Wingdings" panose="05000000000000000000" pitchFamily="2" charset="2"/>
              <a:buChar char="l"/>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359410" marR="0" lvl="1" indent="0" algn="l" defTabSz="914400" rtl="0" eaLnBrk="0" fontAlgn="base" latinLnBrk="0" hangingPunct="0">
              <a:lnSpc>
                <a:spcPct val="150000"/>
              </a:lnSpc>
              <a:spcBef>
                <a:spcPct val="20000"/>
              </a:spcBef>
              <a:spcAft>
                <a:spcPct val="0"/>
              </a:spcAft>
              <a:buClrTx/>
              <a:buSzTx/>
              <a:buFont typeface="Wingdings" panose="05000000000000000000" pitchFamily="2" charset="2"/>
              <a:buNone/>
              <a:defRPr/>
            </a:pPr>
            <a:endParaRPr kumimoji="1" lang="zh-CN" altLang="en-US" sz="1400" b="0" i="0" u="none" strike="noStrike" kern="1200" cap="none" spc="0" normalizeH="0" baseline="0" noProof="0" dirty="0">
              <a:ln>
                <a:noFill/>
              </a:ln>
              <a:solidFill>
                <a:prstClr val="black"/>
              </a:solidFill>
              <a:effectLst/>
              <a:uLnTx/>
              <a:uFillTx/>
              <a:latin typeface="Alibaba PuHuiTi R" pitchFamily="18" charset="-122"/>
              <a:ea typeface="Alibaba PuHuiTi R" pitchFamily="18" charset="-122"/>
              <a:cs typeface="Alibaba PuHuiTi R" pitchFamily="18" charset="-122"/>
            </a:endParaRPr>
          </a:p>
        </p:txBody>
      </p:sp>
      <p:sp>
        <p:nvSpPr>
          <p:cNvPr id="3" name="文本占位符 2"/>
          <p:cNvSpPr txBox="1"/>
          <p:nvPr/>
        </p:nvSpPr>
        <p:spPr>
          <a:xfrm>
            <a:off x="4594831" y="2580430"/>
            <a:ext cx="7430703" cy="1996886"/>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a:lnSpc>
                <a:spcPct val="200000"/>
              </a:lnSpc>
              <a:defRPr/>
            </a:pP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1</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 、事先确定常数</a:t>
            </a:r>
            <a:r>
              <a:rPr lang="en-GB" altLang="zh-CN" sz="1400" dirty="0">
                <a:solidFill>
                  <a:prstClr val="black">
                    <a:lumMod val="85000"/>
                    <a:lumOff val="15000"/>
                  </a:prstClr>
                </a:solidFill>
                <a:latin typeface="Alibaba PuHuiTi" pitchFamily="18" charset="-122"/>
                <a:ea typeface="Alibaba PuHuiTi" pitchFamily="18" charset="-122"/>
                <a:cs typeface="Alibaba PuHuiTi" pitchFamily="18" charset="-122"/>
              </a:rPr>
              <a:t>K </a:t>
            </a:r>
            <a:r>
              <a:rPr lang="zh-CN" altLang="en-GB" sz="1400" dirty="0">
                <a:solidFill>
                  <a:prstClr val="black">
                    <a:lumMod val="85000"/>
                    <a:lumOff val="15000"/>
                  </a:prstClr>
                </a:solidFill>
                <a:latin typeface="Alibaba PuHuiTi" pitchFamily="18" charset="-122"/>
                <a:ea typeface="Alibaba PuHuiTi" pitchFamily="18" charset="-122"/>
                <a:cs typeface="Alibaba PuHuiTi" pitchFamily="18" charset="-122"/>
              </a:rPr>
              <a:t>，</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常数</a:t>
            </a:r>
            <a:r>
              <a:rPr lang="en-GB" altLang="zh-CN" sz="1400" dirty="0">
                <a:solidFill>
                  <a:prstClr val="black">
                    <a:lumMod val="85000"/>
                    <a:lumOff val="15000"/>
                  </a:prstClr>
                </a:solidFill>
                <a:latin typeface="Alibaba PuHuiTi" pitchFamily="18" charset="-122"/>
                <a:ea typeface="Alibaba PuHuiTi" pitchFamily="18" charset="-122"/>
                <a:cs typeface="Alibaba PuHuiTi" pitchFamily="18" charset="-122"/>
              </a:rPr>
              <a:t>K</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意味着最终的聚类类别数</a:t>
            </a:r>
            <a:endPar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endParaRPr>
          </a:p>
          <a:p>
            <a:pPr lvl="0">
              <a:lnSpc>
                <a:spcPct val="200000"/>
              </a:lnSpc>
              <a:defRPr/>
            </a:pP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2</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、随机选择 </a:t>
            </a:r>
            <a:r>
              <a:rPr lang="en-GB" altLang="zh-CN" sz="1400" dirty="0">
                <a:solidFill>
                  <a:schemeClr val="accent2">
                    <a:lumMod val="75000"/>
                  </a:schemeClr>
                </a:solidFill>
                <a:latin typeface="Alibaba PuHuiTi" pitchFamily="18" charset="-122"/>
                <a:ea typeface="Alibaba PuHuiTi" pitchFamily="18" charset="-122"/>
                <a:cs typeface="Alibaba PuHuiTi" pitchFamily="18" charset="-122"/>
              </a:rPr>
              <a:t>K </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个样本点</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作为初始聚类中心</a:t>
            </a:r>
            <a:endPar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endParaRPr>
          </a:p>
          <a:p>
            <a:pPr lvl="0">
              <a:lnSpc>
                <a:spcPct val="200000"/>
              </a:lnSpc>
              <a:defRPr/>
            </a:pP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3</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、计算</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每个样本</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到 </a:t>
            </a:r>
            <a:r>
              <a:rPr lang="en-GB" altLang="zh-CN" sz="1400" dirty="0">
                <a:solidFill>
                  <a:prstClr val="black">
                    <a:lumMod val="85000"/>
                    <a:lumOff val="15000"/>
                  </a:prstClr>
                </a:solidFill>
                <a:latin typeface="Alibaba PuHuiTi" pitchFamily="18" charset="-122"/>
                <a:ea typeface="Alibaba PuHuiTi" pitchFamily="18" charset="-122"/>
                <a:cs typeface="Alibaba PuHuiTi" pitchFamily="18" charset="-122"/>
              </a:rPr>
              <a:t>K </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个中心的距离，选择最近的聚类中心点作为标记类别</a:t>
            </a:r>
            <a:endPar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endParaRPr>
          </a:p>
          <a:p>
            <a:pPr lvl="0">
              <a:lnSpc>
                <a:spcPct val="200000"/>
              </a:lnSpc>
              <a:defRPr/>
            </a:pPr>
            <a:r>
              <a:rPr lang="en-US" altLang="zh-CN" sz="1400" dirty="0">
                <a:solidFill>
                  <a:prstClr val="black">
                    <a:lumMod val="85000"/>
                    <a:lumOff val="15000"/>
                  </a:prstClr>
                </a:solidFill>
                <a:latin typeface="Alibaba PuHuiTi" pitchFamily="18" charset="-122"/>
                <a:ea typeface="Alibaba PuHuiTi" pitchFamily="18" charset="-122"/>
                <a:cs typeface="Alibaba PuHuiTi" pitchFamily="18" charset="-122"/>
              </a:rPr>
              <a:t>4</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、根据每个类别中的样本点，重新计算出</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新的聚类中心点</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（平均值），如果计算得出的</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新中心点</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与</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原中心点</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一样则停止聚类，否则重新进行</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第 </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3</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步过程</a:t>
            </a:r>
            <a:r>
              <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rPr>
              <a:t>，直到聚类中心不再变化</a:t>
            </a:r>
            <a:endParaRPr lang="zh-CN" altLang="en-US" sz="1400" dirty="0">
              <a:solidFill>
                <a:prstClr val="black">
                  <a:lumMod val="85000"/>
                  <a:lumOff val="15000"/>
                </a:prstClr>
              </a:solidFill>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197225" y="4198727"/>
            <a:ext cx="2319866" cy="307777"/>
          </a:xfrm>
          <a:prstGeom prst="rect">
            <a:avLst/>
          </a:prstGeom>
          <a:noFill/>
        </p:spPr>
        <p:txBody>
          <a:bodyPr wrap="none" rtlCol="0">
            <a:spAutoFit/>
          </a:bodyPr>
          <a:lstStyle/>
          <a:p>
            <a:pPr fontAlgn="auto">
              <a:spcBef>
                <a:spcPts val="0"/>
              </a:spcBef>
              <a:spcAft>
                <a:spcPts val="0"/>
              </a:spcAft>
            </a:pP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答案解析 </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D</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在开始  </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C</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在最后</a:t>
            </a: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p:txBody>
      </p:sp>
      <p:sp>
        <p:nvSpPr>
          <p:cNvPr id="6" name="文本框 5"/>
          <p:cNvSpPr txBox="1"/>
          <p:nvPr/>
        </p:nvSpPr>
        <p:spPr>
          <a:xfrm>
            <a:off x="3197225" y="4506504"/>
            <a:ext cx="4283656" cy="307777"/>
          </a:xfrm>
          <a:prstGeom prst="rect">
            <a:avLst/>
          </a:prstGeom>
          <a:noFill/>
        </p:spPr>
        <p:txBody>
          <a:bodyPr wrap="square" rtlCol="0">
            <a:spAutoFit/>
          </a:bodyPr>
          <a:lstStyle/>
          <a:p>
            <a:pPr fontAlgn="auto">
              <a:spcBef>
                <a:spcPts val="0"/>
              </a:spcBef>
              <a:spcAft>
                <a:spcPts val="0"/>
              </a:spcAft>
            </a:pP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答案：</a:t>
            </a:r>
            <a:r>
              <a:rPr lang="en-US" altLang="zh-CN" sz="1400" dirty="0">
                <a:solidFill>
                  <a:schemeClr val="accent2">
                    <a:lumMod val="75000"/>
                  </a:schemeClr>
                </a:solidFill>
                <a:latin typeface="微软雅黑" panose="020B0503020204020204" pitchFamily="34" charset="-122"/>
                <a:ea typeface="微软雅黑" panose="020B0503020204020204" pitchFamily="34" charset="-122"/>
              </a:rPr>
              <a:t>D</a:t>
            </a:r>
            <a:r>
              <a:rPr lang="zh-CN" altLang="en-US" sz="1400" dirty="0">
                <a:solidFill>
                  <a:schemeClr val="accent2">
                    <a:lumMod val="75000"/>
                  </a:schemeClr>
                </a:solidFill>
                <a:latin typeface="微软雅黑" panose="020B0503020204020204" pitchFamily="34" charset="-122"/>
                <a:ea typeface="微软雅黑" panose="020B0503020204020204" pitchFamily="34" charset="-122"/>
              </a:rPr>
              <a:t>→</a:t>
            </a:r>
            <a:r>
              <a:rPr lang="en-US" altLang="zh-CN" sz="1400" dirty="0">
                <a:solidFill>
                  <a:schemeClr val="accent2">
                    <a:lumMod val="75000"/>
                  </a:schemeClr>
                </a:solidFill>
                <a:latin typeface="微软雅黑" panose="020B0503020204020204" pitchFamily="34" charset="-122"/>
                <a:ea typeface="微软雅黑" panose="020B0503020204020204" pitchFamily="34" charset="-122"/>
              </a:rPr>
              <a:t>B</a:t>
            </a:r>
            <a:r>
              <a:rPr lang="zh-CN" altLang="en-US" sz="1400" dirty="0">
                <a:solidFill>
                  <a:schemeClr val="accent2">
                    <a:lumMod val="75000"/>
                  </a:schemeClr>
                </a:solidFill>
                <a:latin typeface="微软雅黑" panose="020B0503020204020204" pitchFamily="34" charset="-122"/>
                <a:ea typeface="微软雅黑" panose="020B0503020204020204" pitchFamily="34" charset="-122"/>
              </a:rPr>
              <a:t>→</a:t>
            </a:r>
            <a:r>
              <a:rPr lang="en-US" altLang="zh-CN" sz="1400" dirty="0">
                <a:solidFill>
                  <a:schemeClr val="accent2">
                    <a:lumMod val="75000"/>
                  </a:schemeClr>
                </a:solidFill>
                <a:latin typeface="微软雅黑" panose="020B0503020204020204" pitchFamily="34" charset="-122"/>
                <a:ea typeface="微软雅黑" panose="020B0503020204020204" pitchFamily="34" charset="-122"/>
              </a:rPr>
              <a:t>A</a:t>
            </a:r>
            <a:r>
              <a:rPr lang="zh-CN" altLang="en-US" sz="1400" dirty="0">
                <a:solidFill>
                  <a:schemeClr val="accent2">
                    <a:lumMod val="75000"/>
                  </a:schemeClr>
                </a:solidFill>
                <a:latin typeface="微软雅黑" panose="020B0503020204020204" pitchFamily="34" charset="-122"/>
                <a:ea typeface="微软雅黑" panose="020B0503020204020204" pitchFamily="34" charset="-122"/>
              </a:rPr>
              <a:t>→</a:t>
            </a:r>
            <a:r>
              <a:rPr lang="en-US" altLang="zh-CN" sz="1400" dirty="0">
                <a:solidFill>
                  <a:schemeClr val="accent2">
                    <a:lumMod val="75000"/>
                  </a:schemeClr>
                </a:solidFill>
                <a:latin typeface="微软雅黑" panose="020B0503020204020204" pitchFamily="34" charset="-122"/>
                <a:ea typeface="微软雅黑" panose="020B0503020204020204" pitchFamily="34" charset="-122"/>
              </a:rPr>
              <a:t>E</a:t>
            </a:r>
            <a:r>
              <a:rPr lang="zh-CN" altLang="en-US" sz="1400" dirty="0">
                <a:solidFill>
                  <a:schemeClr val="accent2">
                    <a:lumMod val="75000"/>
                  </a:schemeClr>
                </a:solidFill>
                <a:latin typeface="微软雅黑" panose="020B0503020204020204" pitchFamily="34" charset="-122"/>
                <a:ea typeface="微软雅黑" panose="020B0503020204020204" pitchFamily="34" charset="-122"/>
              </a:rPr>
              <a:t>→</a:t>
            </a:r>
            <a:r>
              <a:rPr lang="en-US" altLang="zh-CN" sz="1400" dirty="0">
                <a:solidFill>
                  <a:schemeClr val="accent2">
                    <a:lumMod val="75000"/>
                  </a:schemeClr>
                </a:solidFill>
                <a:latin typeface="微软雅黑" panose="020B0503020204020204" pitchFamily="34" charset="-122"/>
                <a:ea typeface="微软雅黑" panose="020B0503020204020204" pitchFamily="34" charset="-122"/>
              </a:rPr>
              <a:t>C</a:t>
            </a:r>
            <a:endParaRPr lang="zh-CN" altLang="en-US" sz="1400" dirty="0">
              <a:solidFill>
                <a:schemeClr val="accent2">
                  <a:lumMod val="75000"/>
                </a:schemeClr>
              </a:solidFill>
              <a:latin typeface="Alibaba PuHuiTi" pitchFamily="18" charset="-122"/>
              <a:ea typeface="Alibaba PuHuiTi" pitchFamily="18" charset="-122"/>
              <a:cs typeface="Alibaba PuHuiTi" pitchFamily="18" charset="-122"/>
            </a:endParaRPr>
          </a:p>
        </p:txBody>
      </p:sp>
      <p:sp>
        <p:nvSpPr>
          <p:cNvPr id="3" name="矩形 2"/>
          <p:cNvSpPr/>
          <p:nvPr/>
        </p:nvSpPr>
        <p:spPr>
          <a:xfrm>
            <a:off x="2636771" y="1501141"/>
            <a:ext cx="5760640" cy="352917"/>
          </a:xfrm>
          <a:prstGeom prst="rect">
            <a:avLst/>
          </a:prstGeom>
        </p:spPr>
        <p:txBody>
          <a:bodyPr wrap="square">
            <a:spAutoFit/>
          </a:bodyPr>
          <a:lstStyle/>
          <a:p>
            <a:pPr>
              <a:lnSpc>
                <a:spcPct val="130000"/>
              </a:lnSpc>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1</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、下列是</a:t>
            </a:r>
            <a:r>
              <a:rPr lang="en-US" altLang="zh-CN" sz="1400" dirty="0" err="1">
                <a:solidFill>
                  <a:schemeClr val="tx1">
                    <a:lumMod val="85000"/>
                    <a:lumOff val="15000"/>
                  </a:schemeClr>
                </a:solidFill>
                <a:latin typeface="Alibaba PuHuiTi" pitchFamily="18" charset="-122"/>
                <a:ea typeface="Alibaba PuHuiTi" pitchFamily="18" charset="-122"/>
                <a:cs typeface="Alibaba PuHuiTi" pitchFamily="18" charset="-122"/>
              </a:rPr>
              <a:t>Kmeans</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算法的实现流程，请对它们进行排序：</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矩形 6"/>
          <p:cNvSpPr/>
          <p:nvPr/>
        </p:nvSpPr>
        <p:spPr>
          <a:xfrm>
            <a:off x="3021917" y="1856684"/>
            <a:ext cx="8422519" cy="1677895"/>
          </a:xfrm>
          <a:prstGeom prst="rect">
            <a:avLst/>
          </a:prstGeom>
        </p:spPr>
        <p:txBody>
          <a:bodyPr wrap="square">
            <a:spAutoFit/>
          </a:bodyPr>
          <a:lstStyle/>
          <a:p>
            <a:pPr lvl="0">
              <a:lnSpc>
                <a:spcPct val="150000"/>
              </a:lnSpc>
              <a:defRPr/>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A</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将该未知样本点归类为与</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D</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值最小时的中心点相同的类别；</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defRPr/>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B</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计算未知样本点分别到这</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K</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个中心点的距离</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D</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lvl="0">
              <a:lnSpc>
                <a:spcPct val="150000"/>
              </a:lnSpc>
              <a:defRPr/>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C</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重复上述过程，直至新的中心点与旧的中心点一致，则迭代停止，将最后这次的聚类作为最优聚类结果。</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defRPr/>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D</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随机初始化</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K</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个中心点；</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defRPr/>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E</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计算这</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K</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个分类簇的均值分别作为这</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K</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个簇新的中心点；</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1"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randombar(horizontal)">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550115" y="1090766"/>
            <a:ext cx="6420620" cy="4497463"/>
          </a:xfrm>
        </p:spPr>
        <p:txBody>
          <a:bodyPr anchor="t"/>
          <a:lstStyle/>
          <a:p>
            <a:r>
              <a:rPr kumimoji="1" lang="zh-CN" altLang="en-US" dirty="0">
                <a:solidFill>
                  <a:schemeClr val="tx1"/>
                </a:solidFill>
                <a:latin typeface="Alibaba PuHuiTi" pitchFamily="18" charset="-122"/>
                <a:ea typeface="Alibaba PuHuiTi" pitchFamily="18" charset="-122"/>
                <a:cs typeface="Alibaba PuHuiTi" pitchFamily="18" charset="-122"/>
              </a:rPr>
              <a:t>聚类算法简介</a:t>
            </a:r>
            <a:endParaRPr kumimoji="1" lang="en-US" altLang="zh-CN" dirty="0">
              <a:solidFill>
                <a:schemeClr val="tx1"/>
              </a:solidFill>
              <a:latin typeface="Alibaba PuHuiTi" pitchFamily="18" charset="-122"/>
              <a:ea typeface="Alibaba PuHuiTi" pitchFamily="18" charset="-122"/>
              <a:cs typeface="Alibaba PuHuiTi" pitchFamily="18" charset="-122"/>
            </a:endParaRPr>
          </a:p>
          <a:p>
            <a:r>
              <a:rPr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聚类算法</a:t>
            </a:r>
            <a:r>
              <a:rPr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API</a:t>
            </a:r>
            <a:r>
              <a:rPr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的使用</a:t>
            </a:r>
            <a:endParaRPr kumimoji="1"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Kmeans</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实现流程</a:t>
            </a:r>
            <a:endParaRPr kumimoji="1" lang="zh-CN" altLang="en-US"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zh-CN" altLang="en-US" dirty="0">
                <a:solidFill>
                  <a:srgbClr val="C00000"/>
                </a:solidFill>
                <a:latin typeface="Alibaba PuHuiTi" pitchFamily="18" charset="-122"/>
                <a:ea typeface="Alibaba PuHuiTi" pitchFamily="18" charset="-122"/>
                <a:cs typeface="Alibaba PuHuiTi" pitchFamily="18" charset="-122"/>
              </a:rPr>
              <a:t>模型评估方法</a:t>
            </a:r>
            <a:endParaRPr kumimoji="1" lang="en-US" altLang="zh-CN" dirty="0">
              <a:solidFill>
                <a:srgbClr val="C00000"/>
              </a:solidFill>
              <a:latin typeface="Alibaba PuHuiTi" pitchFamily="18" charset="-122"/>
              <a:ea typeface="Alibaba PuHuiTi" pitchFamily="18" charset="-122"/>
              <a:cs typeface="Alibaba PuHuiTi" pitchFamily="18" charset="-122"/>
            </a:endParaRPr>
          </a:p>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案例顾客数据聚类分析法</a:t>
            </a:r>
            <a:endParaRPr kumimoji="1"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a:p>
            <a:pPr lvl="1"/>
            <a:endParaRPr kumimoji="1" lang="en-US" altLang="zh-CN" sz="1600" b="0" dirty="0">
              <a:solidFill>
                <a:schemeClr val="accent2">
                  <a:lumMod val="75000"/>
                </a:schemeClr>
              </a:solidFill>
              <a:latin typeface="Alibaba PuHuiTi" pitchFamily="18" charset="-122"/>
              <a:ea typeface="Alibaba PuHuiTi" pitchFamily="18" charset="-122"/>
              <a:cs typeface="Alibaba PuHuiTi" pitchFamily="18" charset="-122"/>
            </a:endParaRPr>
          </a:p>
          <a:p>
            <a:pPr lvl="1"/>
            <a:endPar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542105" y="503788"/>
            <a:ext cx="5699175" cy="4453224"/>
          </a:xfrm>
        </p:spPr>
        <p:txBody>
          <a:bodyPr/>
          <a:lstStyle/>
          <a:p>
            <a:pPr algn="l">
              <a:buFont typeface="+mj-lt"/>
              <a:buAutoNum type="arabicPeriod"/>
            </a:pPr>
            <a:r>
              <a:rPr lang="zh-CN" altLang="en-US" b="0" i="0" u="none" strike="noStrike" dirty="0">
                <a:solidFill>
                  <a:srgbClr val="333333"/>
                </a:solidFill>
                <a:effectLst/>
                <a:latin typeface="Open Sans" panose="020B0606030504020204" pitchFamily="34" charset="0"/>
              </a:rPr>
              <a:t>了解 </a:t>
            </a:r>
            <a:r>
              <a:rPr lang="en-GB" altLang="zh-CN" b="0" i="0" u="none" strike="noStrike" dirty="0">
                <a:solidFill>
                  <a:srgbClr val="333333"/>
                </a:solidFill>
                <a:effectLst/>
                <a:latin typeface="Open Sans" panose="020B0606030504020204" pitchFamily="34" charset="0"/>
              </a:rPr>
              <a:t>SSE </a:t>
            </a:r>
            <a:r>
              <a:rPr lang="zh-CN" altLang="en-US" b="0" i="0" u="none" strike="noStrike" dirty="0">
                <a:solidFill>
                  <a:srgbClr val="333333"/>
                </a:solidFill>
                <a:effectLst/>
                <a:latin typeface="Open Sans" panose="020B0606030504020204" pitchFamily="34" charset="0"/>
              </a:rPr>
              <a:t>聚类评估指标</a:t>
            </a:r>
            <a:endParaRPr lang="zh-CN" altLang="en-US" b="0" i="0" u="none" strike="noStrike" dirty="0">
              <a:solidFill>
                <a:srgbClr val="333333"/>
              </a:solidFill>
              <a:effectLst/>
              <a:latin typeface="Open Sans" panose="020B0606030504020204" pitchFamily="34" charset="0"/>
            </a:endParaRPr>
          </a:p>
          <a:p>
            <a:pPr algn="l">
              <a:buFont typeface="+mj-lt"/>
              <a:buAutoNum type="arabicPeriod"/>
            </a:pPr>
            <a:r>
              <a:rPr lang="zh-CN" altLang="en-US" b="0" i="0" u="none" strike="noStrike" dirty="0">
                <a:solidFill>
                  <a:srgbClr val="333333"/>
                </a:solidFill>
                <a:effectLst/>
                <a:latin typeface="Open Sans" panose="020B0606030504020204" pitchFamily="34" charset="0"/>
              </a:rPr>
              <a:t>了解 </a:t>
            </a:r>
            <a:r>
              <a:rPr lang="en-GB" altLang="zh-CN" b="0" i="0" u="none" strike="noStrike" dirty="0">
                <a:solidFill>
                  <a:srgbClr val="333333"/>
                </a:solidFill>
                <a:effectLst/>
                <a:latin typeface="Open Sans" panose="020B0606030504020204" pitchFamily="34" charset="0"/>
              </a:rPr>
              <a:t>SC </a:t>
            </a:r>
            <a:r>
              <a:rPr lang="zh-CN" altLang="en-US" b="0" i="0" u="none" strike="noStrike" dirty="0">
                <a:solidFill>
                  <a:srgbClr val="333333"/>
                </a:solidFill>
                <a:effectLst/>
                <a:latin typeface="Open Sans" panose="020B0606030504020204" pitchFamily="34" charset="0"/>
              </a:rPr>
              <a:t>聚类评估指标</a:t>
            </a:r>
            <a:endParaRPr lang="zh-CN" altLang="en-US" b="0" i="0" u="none" strike="noStrike" dirty="0">
              <a:solidFill>
                <a:srgbClr val="333333"/>
              </a:solidFill>
              <a:effectLst/>
              <a:latin typeface="Open Sans" panose="020B0606030504020204" pitchFamily="34" charset="0"/>
            </a:endParaRPr>
          </a:p>
          <a:p>
            <a:pPr algn="l">
              <a:buFont typeface="+mj-lt"/>
              <a:buAutoNum type="arabicPeriod"/>
            </a:pPr>
            <a:r>
              <a:rPr lang="zh-CN" altLang="en-US" b="0" i="0" u="none" strike="noStrike" dirty="0">
                <a:solidFill>
                  <a:srgbClr val="333333"/>
                </a:solidFill>
                <a:effectLst/>
                <a:latin typeface="Open Sans" panose="020B0606030504020204" pitchFamily="34" charset="0"/>
              </a:rPr>
              <a:t>了解 </a:t>
            </a:r>
            <a:r>
              <a:rPr lang="en-GB" altLang="zh-CN" b="0" i="0" u="none" strike="noStrike" dirty="0">
                <a:solidFill>
                  <a:srgbClr val="333333"/>
                </a:solidFill>
                <a:effectLst/>
                <a:latin typeface="Open Sans" panose="020B0606030504020204" pitchFamily="34" charset="0"/>
              </a:rPr>
              <a:t>CH </a:t>
            </a:r>
            <a:r>
              <a:rPr lang="zh-CN" altLang="en-US" b="0" i="0" u="none" strike="noStrike" dirty="0">
                <a:solidFill>
                  <a:srgbClr val="333333"/>
                </a:solidFill>
                <a:effectLst/>
                <a:latin typeface="Open Sans" panose="020B0606030504020204" pitchFamily="34" charset="0"/>
              </a:rPr>
              <a:t>聚类评估指标</a:t>
            </a:r>
            <a:endParaRPr lang="zh-CN" altLang="en-US" b="0" i="0" u="none" strike="noStrike" dirty="0">
              <a:solidFill>
                <a:srgbClr val="333333"/>
              </a:solidFill>
              <a:effectLst/>
              <a:latin typeface="Open Sans" panose="020B0606030504020204" pitchFamily="34" charset="0"/>
            </a:endParaRPr>
          </a:p>
          <a:p>
            <a:pPr algn="l">
              <a:buFont typeface="+mj-lt"/>
              <a:buAutoNum type="arabicPeriod"/>
            </a:pPr>
            <a:r>
              <a:rPr lang="zh-CN" altLang="en-US" b="0" i="0" u="none" strike="noStrike" dirty="0">
                <a:solidFill>
                  <a:srgbClr val="333333"/>
                </a:solidFill>
                <a:effectLst/>
                <a:latin typeface="Open Sans" panose="020B0606030504020204" pitchFamily="34" charset="0"/>
              </a:rPr>
              <a:t>了解肘方法的作用</a:t>
            </a:r>
            <a:endParaRPr lang="zh-CN" altLang="en-US" b="0" i="0" u="none" strike="noStrike" dirty="0">
              <a:solidFill>
                <a:srgbClr val="333333"/>
              </a:solidFill>
              <a:effectLst/>
              <a:latin typeface="Open Sans" panose="020B0606030504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9982788"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误差平方和</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SSE</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en-GB" altLang="zh-CN" i="0" dirty="0">
                <a:solidFill>
                  <a:srgbClr val="333333"/>
                </a:solidFill>
                <a:effectLst/>
                <a:latin typeface="Alibaba PuHuiTi" pitchFamily="18" charset="-122"/>
                <a:ea typeface="Alibaba PuHuiTi" pitchFamily="18" charset="-122"/>
                <a:cs typeface="Alibaba PuHuiTi" pitchFamily="18" charset="-122"/>
              </a:rPr>
              <a:t>The sum of squares due to error</a:t>
            </a:r>
            <a:r>
              <a:rPr lang="en-US" altLang="zh-CN" i="0" dirty="0">
                <a:solidFill>
                  <a:srgbClr val="333333"/>
                </a:solidFill>
                <a:effectLst/>
                <a:latin typeface="Alibaba PuHuiTi" pitchFamily="18" charset="-122"/>
                <a:ea typeface="Alibaba PuHuiTi" pitchFamily="18" charset="-122"/>
                <a:cs typeface="Alibaba PuHuiTi" pitchFamily="18" charset="-122"/>
              </a:rPr>
              <a:t>)</a:t>
            </a:r>
            <a:r>
              <a:rPr lang="zh-CN" altLang="en-US" i="0" dirty="0">
                <a:solidFill>
                  <a:srgbClr val="333333"/>
                </a:solidFill>
                <a:effectLst/>
                <a:latin typeface="Alibaba PuHuiTi" pitchFamily="18" charset="-122"/>
                <a:ea typeface="Alibaba PuHuiTi" pitchFamily="18" charset="-122"/>
                <a:cs typeface="Alibaba PuHuiTi" pitchFamily="18" charset="-122"/>
              </a:rPr>
              <a:t> </a:t>
            </a:r>
            <a:r>
              <a:rPr lang="en-US" altLang="zh-CN" i="0" dirty="0">
                <a:solidFill>
                  <a:srgbClr val="333333"/>
                </a:solidFill>
                <a:effectLst/>
                <a:latin typeface="Alibaba PuHuiTi" pitchFamily="18" charset="-122"/>
                <a:ea typeface="Alibaba PuHuiTi" pitchFamily="18" charset="-122"/>
                <a:cs typeface="Alibaba PuHuiTi" pitchFamily="18" charset="-122"/>
              </a:rPr>
              <a:t>1</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6" name="文本占位符 2"/>
          <p:cNvSpPr txBox="1"/>
          <p:nvPr/>
        </p:nvSpPr>
        <p:spPr>
          <a:xfrm>
            <a:off x="1558919" y="4093320"/>
            <a:ext cx="7755428" cy="58377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endParaRPr kumimoji="0" lang="zh-CN" altLang="en-GB" sz="12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p:txBody>
      </p:sp>
      <p:pic>
        <p:nvPicPr>
          <p:cNvPr id="14" name="图片 13"/>
          <p:cNvPicPr>
            <a:picLocks noChangeAspect="1"/>
          </p:cNvPicPr>
          <p:nvPr/>
        </p:nvPicPr>
        <p:blipFill>
          <a:blip r:embed="rId1"/>
          <a:stretch>
            <a:fillRect/>
          </a:stretch>
        </p:blipFill>
        <p:spPr>
          <a:xfrm>
            <a:off x="1132488" y="1607733"/>
            <a:ext cx="2590800" cy="698500"/>
          </a:xfrm>
          <a:prstGeom prst="rect">
            <a:avLst/>
          </a:prstGeom>
        </p:spPr>
      </p:pic>
      <p:sp>
        <p:nvSpPr>
          <p:cNvPr id="16" name="文本框 15"/>
          <p:cNvSpPr txBox="1"/>
          <p:nvPr/>
        </p:nvSpPr>
        <p:spPr>
          <a:xfrm>
            <a:off x="1347173" y="2729287"/>
            <a:ext cx="3043989" cy="1247008"/>
          </a:xfrm>
          <a:prstGeom prst="rect">
            <a:avLst/>
          </a:prstGeom>
          <a:noFill/>
        </p:spPr>
        <p:txBody>
          <a:bodyPr wrap="square">
            <a:spAutoFit/>
          </a:bodyPr>
          <a:lstStyle/>
          <a:p>
            <a:pPr algn="l">
              <a:buFont typeface="+mj-lt"/>
              <a:buAutoNum type="arabicPeriod"/>
            </a:pPr>
            <a:r>
              <a:rPr lang="en-GB" altLang="zh-CN" sz="1400" b="0" i="0" u="none" strike="noStrike" dirty="0">
                <a:solidFill>
                  <a:srgbClr val="333333"/>
                </a:solidFill>
                <a:effectLst/>
                <a:latin typeface="Open Sans" panose="020B0606030504020204" pitchFamily="34" charset="0"/>
              </a:rPr>
              <a:t>C</a:t>
            </a:r>
            <a:r>
              <a:rPr lang="en-GB" altLang="zh-CN" sz="1400" b="0" i="0" u="none" strike="noStrike" baseline="-25000" dirty="0">
                <a:solidFill>
                  <a:srgbClr val="333333"/>
                </a:solidFill>
                <a:effectLst/>
                <a:latin typeface="Open Sans" panose="020B0606030504020204" pitchFamily="34" charset="0"/>
              </a:rPr>
              <a:t>i</a:t>
            </a:r>
            <a:r>
              <a:rPr lang="en-GB" altLang="zh-CN" sz="1400" b="0" i="0" u="none" strike="noStrike" dirty="0">
                <a:solidFill>
                  <a:srgbClr val="333333"/>
                </a:solidFill>
                <a:effectLst/>
                <a:latin typeface="Open Sans" panose="020B0606030504020204" pitchFamily="34" charset="0"/>
              </a:rPr>
              <a:t> </a:t>
            </a:r>
            <a:r>
              <a:rPr lang="zh-CN" altLang="en-US" sz="1400" b="0" i="0" u="none" strike="noStrike" dirty="0">
                <a:solidFill>
                  <a:srgbClr val="333333"/>
                </a:solidFill>
                <a:effectLst/>
                <a:latin typeface="Open Sans" panose="020B0606030504020204" pitchFamily="34" charset="0"/>
              </a:rPr>
              <a:t>表示簇</a:t>
            </a:r>
            <a:endParaRPr lang="zh-CN" altLang="en-US" sz="1400" b="0" i="0" u="none" strike="noStrike" dirty="0">
              <a:solidFill>
                <a:srgbClr val="333333"/>
              </a:solidFill>
              <a:effectLst/>
              <a:latin typeface="Open Sans" panose="020B0606030504020204" pitchFamily="34" charset="0"/>
            </a:endParaRPr>
          </a:p>
          <a:p>
            <a:pPr marL="0" marR="0" lvl="0" indent="0" algn="l" defTabSz="914400" rtl="0" eaLnBrk="1" fontAlgn="auto" latinLnBrk="0" hangingPunct="1">
              <a:lnSpc>
                <a:spcPct val="150000"/>
              </a:lnSpc>
              <a:spcBef>
                <a:spcPts val="0"/>
              </a:spcBef>
              <a:spcAft>
                <a:spcPts val="0"/>
              </a:spcAft>
              <a:buClrTx/>
              <a:buSzTx/>
              <a:buFont typeface="+mj-lt"/>
              <a:buAutoNum type="arabicPeriod"/>
              <a:defRPr/>
            </a:pP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k </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表示</a:t>
            </a:r>
            <a:r>
              <a:rPr lang="zh-CN" altLang="en-US" sz="1400" dirty="0">
                <a:solidFill>
                  <a:srgbClr val="C0504D">
                    <a:lumMod val="75000"/>
                  </a:srgbClr>
                </a:solidFill>
                <a:latin typeface="Alibaba PuHuiTi" pitchFamily="18" charset="-122"/>
                <a:ea typeface="Alibaba PuHuiTi" pitchFamily="18" charset="-122"/>
                <a:cs typeface="Alibaba PuHuiTi" pitchFamily="18" charset="-122"/>
              </a:rPr>
              <a:t>聚类中心</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的个数</a:t>
            </a:r>
            <a:endPar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 typeface="+mj-lt"/>
              <a:buAutoNum type="arabicPeriod"/>
              <a:defRPr/>
            </a:pP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p </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表示某个</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簇内的样本</a:t>
            </a:r>
            <a:endPar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a:p>
            <a:pPr marL="0" marR="0" lvl="0" indent="0" algn="l" defTabSz="914400" rtl="0" eaLnBrk="1" fontAlgn="auto" latinLnBrk="0" hangingPunct="1">
              <a:lnSpc>
                <a:spcPct val="150000"/>
              </a:lnSpc>
              <a:spcBef>
                <a:spcPts val="0"/>
              </a:spcBef>
              <a:spcAft>
                <a:spcPts val="0"/>
              </a:spcAft>
              <a:buClrTx/>
              <a:buSzTx/>
              <a:buFont typeface="+mj-lt"/>
              <a:buAutoNum type="arabicPeriod"/>
              <a:defRPr/>
            </a:pPr>
            <a:r>
              <a:rPr kumimoji="0" lang="en-GB" altLang="zh-CN"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m </a:t>
            </a:r>
            <a:r>
              <a:rPr kumimoji="0" lang="zh-CN" altLang="en-US" sz="1400" b="0" i="0" u="none" strike="noStrike" kern="1200" cap="none" spc="0" normalizeH="0" baseline="0" noProof="0" dirty="0">
                <a:ln>
                  <a:noFill/>
                </a:ln>
                <a:solidFill>
                  <a:srgbClr val="333333"/>
                </a:solidFill>
                <a:effectLst/>
                <a:uLnTx/>
                <a:uFillTx/>
                <a:latin typeface="Alibaba PuHuiTi" pitchFamily="18" charset="-122"/>
                <a:ea typeface="Alibaba PuHuiTi" pitchFamily="18" charset="-122"/>
                <a:cs typeface="Alibaba PuHuiTi" pitchFamily="18" charset="-122"/>
              </a:rPr>
              <a:t>表示</a:t>
            </a: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质心点</a:t>
            </a:r>
            <a:endPar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p:txBody>
      </p:sp>
      <p:pic>
        <p:nvPicPr>
          <p:cNvPr id="17" name="图片 16"/>
          <p:cNvPicPr>
            <a:picLocks noChangeAspect="1"/>
          </p:cNvPicPr>
          <p:nvPr/>
        </p:nvPicPr>
        <p:blipFill>
          <a:blip r:embed="rId2"/>
          <a:stretch>
            <a:fillRect/>
          </a:stretch>
        </p:blipFill>
        <p:spPr>
          <a:xfrm>
            <a:off x="5436633" y="1705098"/>
            <a:ext cx="3886199" cy="1978155"/>
          </a:xfrm>
          <a:prstGeom prst="rect">
            <a:avLst/>
          </a:prstGeom>
        </p:spPr>
      </p:pic>
      <p:sp>
        <p:nvSpPr>
          <p:cNvPr id="15" name="文本框 14"/>
          <p:cNvSpPr txBox="1"/>
          <p:nvPr/>
        </p:nvSpPr>
        <p:spPr>
          <a:xfrm>
            <a:off x="1153753" y="4783570"/>
            <a:ext cx="6134986" cy="369332"/>
          </a:xfrm>
          <a:prstGeom prst="rect">
            <a:avLst/>
          </a:prstGeom>
          <a:noFill/>
        </p:spPr>
        <p:txBody>
          <a:bodyPr wrap="square">
            <a:spAutoFit/>
          </a:bodyPr>
          <a:lstStyle/>
          <a:p>
            <a:r>
              <a:rPr lang="en-GB" altLang="zh-CN" b="0" i="0" u="none" strike="noStrike" dirty="0">
                <a:solidFill>
                  <a:srgbClr val="333333"/>
                </a:solidFill>
                <a:effectLst/>
                <a:latin typeface="Alibaba PuHuiTi" pitchFamily="18" charset="-122"/>
                <a:ea typeface="Alibaba PuHuiTi" pitchFamily="18" charset="-122"/>
                <a:cs typeface="Alibaba PuHuiTi" pitchFamily="18" charset="-122"/>
              </a:rPr>
              <a:t>SSE </a:t>
            </a:r>
            <a:r>
              <a:rPr lang="zh-CN" altLang="en-US" b="0" i="0" u="none" strike="noStrike" dirty="0">
                <a:solidFill>
                  <a:srgbClr val="333333"/>
                </a:solidFill>
                <a:effectLst/>
                <a:latin typeface="Alibaba PuHuiTi" pitchFamily="18" charset="-122"/>
                <a:ea typeface="Alibaba PuHuiTi" pitchFamily="18" charset="-122"/>
                <a:cs typeface="Alibaba PuHuiTi" pitchFamily="18" charset="-122"/>
              </a:rPr>
              <a:t>越小，表示数据点越接近它们的中心，聚类效果越好</a:t>
            </a:r>
            <a:endParaRPr lang="zh-CN" altLang="en-US" dirty="0">
              <a:latin typeface="Alibaba PuHuiTi" pitchFamily="18" charset="-122"/>
              <a:ea typeface="Alibaba PuHuiTi" pitchFamily="18" charset="-122"/>
              <a:cs typeface="Alibaba PuHuiTi" pitchFamily="18"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9982788"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“肘”方法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en-GB" altLang="zh-CN" dirty="0">
                <a:solidFill>
                  <a:schemeClr val="tx1">
                    <a:lumMod val="85000"/>
                    <a:lumOff val="15000"/>
                  </a:schemeClr>
                </a:solidFill>
                <a:latin typeface="Alibaba PuHuiTi" pitchFamily="18" charset="-122"/>
                <a:ea typeface="Alibaba PuHuiTi" pitchFamily="18" charset="-122"/>
                <a:cs typeface="Alibaba PuHuiTi" pitchFamily="18" charset="-122"/>
              </a:rPr>
              <a:t>Elbow method)</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GB" altLang="zh-CN" dirty="0">
                <a:solidFill>
                  <a:schemeClr val="tx1">
                    <a:lumMod val="85000"/>
                    <a:lumOff val="15000"/>
                  </a:schemeClr>
                </a:solidFill>
                <a:latin typeface="Alibaba PuHuiTi" pitchFamily="18" charset="-122"/>
                <a:ea typeface="Alibaba PuHuiTi" pitchFamily="18" charset="-122"/>
                <a:cs typeface="Alibaba PuHuiTi" pitchFamily="18" charset="-122"/>
              </a:rPr>
              <a:t> K</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值确定</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055798" y="1459687"/>
            <a:ext cx="9185481"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kumimoji="0" lang="en-US" altLang="zh-CN" sz="16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a:t>
            </a:r>
            <a:r>
              <a:rPr kumimoji="0" lang="zh-CN" altLang="en-US" sz="16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肘</a:t>
            </a:r>
            <a:r>
              <a:rPr kumimoji="0" lang="en-US" altLang="zh-CN" sz="16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 </a:t>
            </a:r>
            <a:r>
              <a:rPr kumimoji="0" lang="zh-CN" altLang="en-US" sz="16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方法通过 </a:t>
            </a:r>
            <a:r>
              <a:rPr kumimoji="0" lang="en-US" altLang="zh-CN" sz="16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SSE </a:t>
            </a:r>
            <a:r>
              <a:rPr kumimoji="0" lang="zh-CN" altLang="en-US" sz="16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确定 </a:t>
            </a:r>
            <a:r>
              <a:rPr kumimoji="0" lang="en-US" altLang="zh-CN" sz="1600" b="0" i="0" u="none" strike="noStrike" kern="1200" cap="none" spc="0" normalizeH="0" baseline="0" noProof="0" dirty="0" err="1">
                <a:ln>
                  <a:noFill/>
                </a:ln>
                <a:effectLst/>
                <a:uLnTx/>
                <a:uFillTx/>
                <a:latin typeface="Alibaba PuHuiTi" pitchFamily="18" charset="-122"/>
                <a:ea typeface="Alibaba PuHuiTi" pitchFamily="18" charset="-122"/>
                <a:cs typeface="Alibaba PuHuiTi" pitchFamily="18" charset="-122"/>
              </a:rPr>
              <a:t>n_clusters</a:t>
            </a:r>
            <a:r>
              <a:rPr kumimoji="0" lang="en-US" altLang="zh-CN" sz="16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 </a:t>
            </a:r>
            <a:r>
              <a:rPr kumimoji="0" lang="zh-CN" altLang="en-US" sz="16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的值</a:t>
            </a:r>
            <a:endParaRPr kumimoji="0" lang="en-US" altLang="zh-CN" sz="16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endParaRPr>
          </a:p>
        </p:txBody>
      </p:sp>
      <p:sp>
        <p:nvSpPr>
          <p:cNvPr id="2" name="TextBox 6"/>
          <p:cNvSpPr txBox="1"/>
          <p:nvPr/>
        </p:nvSpPr>
        <p:spPr>
          <a:xfrm>
            <a:off x="1772958" y="1898977"/>
            <a:ext cx="8561015" cy="1677895"/>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85750" lvl="0" indent="-285750">
              <a:lnSpc>
                <a:spcPct val="150000"/>
              </a:lnSpc>
              <a:buFont typeface="Arial" panose="020B0604020202020204" pitchFamily="34" charset="0"/>
              <a:buChar char="•"/>
              <a:defRPr/>
            </a:pPr>
            <a:r>
              <a:rPr lang="zh-CN" altLang="en-US" sz="1400" dirty="0">
                <a:latin typeface="Alibaba PuHuiTi" pitchFamily="18" charset="-122"/>
                <a:ea typeface="Alibaba PuHuiTi" pitchFamily="18" charset="-122"/>
                <a:cs typeface="Alibaba PuHuiTi" pitchFamily="18" charset="-122"/>
              </a:rPr>
              <a:t>对于</a:t>
            </a:r>
            <a:r>
              <a:rPr lang="en-GB" altLang="zh-CN" sz="1400" dirty="0">
                <a:latin typeface="Alibaba PuHuiTi" pitchFamily="18" charset="-122"/>
                <a:ea typeface="Alibaba PuHuiTi" pitchFamily="18" charset="-122"/>
                <a:cs typeface="Alibaba PuHuiTi" pitchFamily="18" charset="-122"/>
              </a:rPr>
              <a:t>n</a:t>
            </a:r>
            <a:r>
              <a:rPr lang="zh-CN" altLang="en-US" sz="1400" dirty="0">
                <a:latin typeface="Alibaba PuHuiTi" pitchFamily="18" charset="-122"/>
                <a:ea typeface="Alibaba PuHuiTi" pitchFamily="18" charset="-122"/>
                <a:cs typeface="Alibaba PuHuiTi" pitchFamily="18" charset="-122"/>
              </a:rPr>
              <a:t>个点的数据集，</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迭代计算 </a:t>
            </a:r>
            <a:r>
              <a:rPr lang="en-GB" altLang="zh-CN" sz="1400" dirty="0">
                <a:solidFill>
                  <a:schemeClr val="accent2">
                    <a:lumMod val="75000"/>
                  </a:schemeClr>
                </a:solidFill>
                <a:latin typeface="Alibaba PuHuiTi" pitchFamily="18" charset="-122"/>
                <a:ea typeface="Alibaba PuHuiTi" pitchFamily="18" charset="-122"/>
                <a:cs typeface="Alibaba PuHuiTi" pitchFamily="18" charset="-122"/>
              </a:rPr>
              <a:t>k </a:t>
            </a:r>
            <a:r>
              <a:rPr lang="en-GB" altLang="zh-CN" sz="1400" dirty="0">
                <a:latin typeface="Alibaba PuHuiTi" pitchFamily="18" charset="-122"/>
                <a:ea typeface="Alibaba PuHuiTi" pitchFamily="18" charset="-122"/>
                <a:cs typeface="Alibaba PuHuiTi" pitchFamily="18" charset="-122"/>
              </a:rPr>
              <a:t>from 1 to n</a:t>
            </a:r>
            <a:r>
              <a:rPr lang="zh-CN" altLang="en-GB" sz="1400" dirty="0">
                <a:latin typeface="Alibaba PuHuiTi" pitchFamily="18" charset="-122"/>
                <a:ea typeface="Alibaba PuHuiTi" pitchFamily="18" charset="-122"/>
                <a:cs typeface="Alibaba PuHuiTi" pitchFamily="18" charset="-122"/>
              </a:rPr>
              <a:t>，</a:t>
            </a:r>
            <a:r>
              <a:rPr lang="zh-CN" altLang="en-US" sz="1400" dirty="0">
                <a:latin typeface="Alibaba PuHuiTi" pitchFamily="18" charset="-122"/>
                <a:ea typeface="Alibaba PuHuiTi" pitchFamily="18" charset="-122"/>
                <a:cs typeface="Alibaba PuHuiTi" pitchFamily="18" charset="-122"/>
              </a:rPr>
              <a:t>每次聚类完成后</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计算 </a:t>
            </a:r>
            <a:r>
              <a:rPr lang="en-GB" altLang="zh-CN" sz="1400" dirty="0">
                <a:solidFill>
                  <a:schemeClr val="accent2">
                    <a:lumMod val="75000"/>
                  </a:schemeClr>
                </a:solidFill>
                <a:latin typeface="Alibaba PuHuiTi" pitchFamily="18" charset="-122"/>
                <a:ea typeface="Alibaba PuHuiTi" pitchFamily="18" charset="-122"/>
                <a:cs typeface="Alibaba PuHuiTi" pitchFamily="18" charset="-122"/>
              </a:rPr>
              <a:t>SSE </a:t>
            </a:r>
            <a:endParaRPr lang="en-GB" altLang="zh-CN" sz="1400" dirty="0">
              <a:solidFill>
                <a:schemeClr val="accent2">
                  <a:lumMod val="75000"/>
                </a:schemeClr>
              </a:solidFill>
              <a:latin typeface="Alibaba PuHuiTi" pitchFamily="18" charset="-122"/>
              <a:ea typeface="Alibaba PuHuiTi" pitchFamily="18" charset="-122"/>
              <a:cs typeface="Alibaba PuHuiTi" pitchFamily="18" charset="-122"/>
            </a:endParaRPr>
          </a:p>
          <a:p>
            <a:pPr marL="285750" lvl="0" indent="-285750">
              <a:lnSpc>
                <a:spcPct val="150000"/>
              </a:lnSpc>
              <a:buFont typeface="Arial" panose="020B0604020202020204" pitchFamily="34" charset="0"/>
              <a:buChar char="•"/>
              <a:defRPr/>
            </a:pPr>
            <a:r>
              <a:rPr lang="en-GB" altLang="zh-CN" sz="1400" dirty="0">
                <a:latin typeface="Alibaba PuHuiTi" pitchFamily="18" charset="-122"/>
                <a:ea typeface="Alibaba PuHuiTi" pitchFamily="18" charset="-122"/>
                <a:cs typeface="Alibaba PuHuiTi" pitchFamily="18" charset="-122"/>
              </a:rPr>
              <a:t>SSE </a:t>
            </a:r>
            <a:r>
              <a:rPr lang="zh-CN" altLang="en-US" sz="1400" dirty="0">
                <a:latin typeface="Alibaba PuHuiTi" pitchFamily="18" charset="-122"/>
                <a:ea typeface="Alibaba PuHuiTi" pitchFamily="18" charset="-122"/>
                <a:cs typeface="Alibaba PuHuiTi" pitchFamily="18" charset="-122"/>
              </a:rPr>
              <a:t>是会</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逐渐变小的</a:t>
            </a:r>
            <a:r>
              <a:rPr lang="zh-CN" altLang="en-US" sz="1400" dirty="0">
                <a:latin typeface="Alibaba PuHuiTi" pitchFamily="18" charset="-122"/>
                <a:ea typeface="Alibaba PuHuiTi" pitchFamily="18" charset="-122"/>
                <a:cs typeface="Alibaba PuHuiTi" pitchFamily="18" charset="-122"/>
              </a:rPr>
              <a:t>，因为每个点都是它所在的簇中心本身。</a:t>
            </a:r>
            <a:endParaRPr lang="zh-CN" altLang="en-US" sz="1400" dirty="0">
              <a:latin typeface="Alibaba PuHuiTi" pitchFamily="18" charset="-122"/>
              <a:ea typeface="Alibaba PuHuiTi" pitchFamily="18" charset="-122"/>
              <a:cs typeface="Alibaba PuHuiTi" pitchFamily="18" charset="-122"/>
            </a:endParaRPr>
          </a:p>
          <a:p>
            <a:pPr marL="285750" lvl="0" indent="-285750">
              <a:lnSpc>
                <a:spcPct val="150000"/>
              </a:lnSpc>
              <a:buFont typeface="Arial" panose="020B0604020202020204" pitchFamily="34" charset="0"/>
              <a:buChar char="•"/>
              <a:defRPr/>
            </a:pPr>
            <a:r>
              <a:rPr lang="en-GB" altLang="zh-CN" sz="1400" dirty="0">
                <a:latin typeface="Alibaba PuHuiTi" pitchFamily="18" charset="-122"/>
                <a:ea typeface="Alibaba PuHuiTi" pitchFamily="18" charset="-122"/>
                <a:cs typeface="Alibaba PuHuiTi" pitchFamily="18" charset="-122"/>
              </a:rPr>
              <a:t>SSE </a:t>
            </a:r>
            <a:r>
              <a:rPr lang="zh-CN" altLang="en-US" sz="1400" dirty="0">
                <a:latin typeface="Alibaba PuHuiTi" pitchFamily="18" charset="-122"/>
                <a:ea typeface="Alibaba PuHuiTi" pitchFamily="18" charset="-122"/>
                <a:cs typeface="Alibaba PuHuiTi" pitchFamily="18" charset="-122"/>
              </a:rPr>
              <a:t>变化过程中会出现一个拐点，</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下降率突然变缓时即认为是最佳 </a:t>
            </a:r>
            <a:r>
              <a:rPr lang="en-GB" altLang="zh-CN" sz="1400" dirty="0" err="1">
                <a:solidFill>
                  <a:schemeClr val="accent2">
                    <a:lumMod val="75000"/>
                  </a:schemeClr>
                </a:solidFill>
                <a:latin typeface="Alibaba PuHuiTi" pitchFamily="18" charset="-122"/>
                <a:ea typeface="Alibaba PuHuiTi" pitchFamily="18" charset="-122"/>
                <a:cs typeface="Alibaba PuHuiTi" pitchFamily="18" charset="-122"/>
              </a:rPr>
              <a:t>n_clusters</a:t>
            </a:r>
            <a:r>
              <a:rPr lang="en-GB" altLang="zh-CN" sz="1400" dirty="0">
                <a:solidFill>
                  <a:schemeClr val="accent2">
                    <a:lumMod val="75000"/>
                  </a:schemeClr>
                </a:solidFill>
                <a:latin typeface="Alibaba PuHuiTi" pitchFamily="18" charset="-122"/>
                <a:ea typeface="Alibaba PuHuiTi" pitchFamily="18" charset="-122"/>
                <a:cs typeface="Alibaba PuHuiTi" pitchFamily="18" charset="-122"/>
              </a:rPr>
              <a:t> </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值</a:t>
            </a:r>
            <a:r>
              <a:rPr lang="zh-CN" altLang="en-US" sz="1400" dirty="0">
                <a:latin typeface="Alibaba PuHuiTi" pitchFamily="18" charset="-122"/>
                <a:ea typeface="Alibaba PuHuiTi" pitchFamily="18" charset="-122"/>
                <a:cs typeface="Alibaba PuHuiTi" pitchFamily="18" charset="-122"/>
              </a:rPr>
              <a:t>。</a:t>
            </a:r>
            <a:endParaRPr lang="zh-CN" altLang="en-US" sz="1400" dirty="0">
              <a:latin typeface="Alibaba PuHuiTi" pitchFamily="18" charset="-122"/>
              <a:ea typeface="Alibaba PuHuiTi" pitchFamily="18" charset="-122"/>
              <a:cs typeface="Alibaba PuHuiTi" pitchFamily="18" charset="-122"/>
            </a:endParaRPr>
          </a:p>
          <a:p>
            <a:pPr marL="285750" lvl="0" indent="-285750">
              <a:lnSpc>
                <a:spcPct val="150000"/>
              </a:lnSpc>
              <a:buFont typeface="Arial" panose="020B0604020202020204" pitchFamily="34" charset="0"/>
              <a:buChar char="•"/>
              <a:defRPr/>
            </a:pPr>
            <a:r>
              <a:rPr lang="zh-CN" altLang="en-US" sz="1400" dirty="0">
                <a:latin typeface="Alibaba PuHuiTi" pitchFamily="18" charset="-122"/>
                <a:ea typeface="Alibaba PuHuiTi" pitchFamily="18" charset="-122"/>
                <a:cs typeface="Alibaba PuHuiTi" pitchFamily="18" charset="-122"/>
              </a:rPr>
              <a:t>在决定什么时候停止训练时，肘形判据同样有效，数据通常有更多的噪音，在</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增加分类无法带来更多回报时，我们停止增加类别。</a:t>
            </a:r>
            <a:endParaRPr lang="en-GB" altLang="zh-CN" sz="1400" dirty="0">
              <a:latin typeface="Alibaba PuHuiTi" pitchFamily="18" charset="-122"/>
              <a:ea typeface="Alibaba PuHuiTi" pitchFamily="18" charset="-122"/>
              <a:cs typeface="Alibaba PuHuiTi" pitchFamily="18" charset="-122"/>
            </a:endParaRPr>
          </a:p>
        </p:txBody>
      </p:sp>
      <p:pic>
        <p:nvPicPr>
          <p:cNvPr id="7" name="图片 6"/>
          <p:cNvPicPr>
            <a:picLocks noChangeAspect="1"/>
          </p:cNvPicPr>
          <p:nvPr/>
        </p:nvPicPr>
        <p:blipFill>
          <a:blip r:embed="rId1"/>
          <a:stretch>
            <a:fillRect/>
          </a:stretch>
        </p:blipFill>
        <p:spPr>
          <a:xfrm>
            <a:off x="1926575" y="3621588"/>
            <a:ext cx="7455420" cy="305528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9982788"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聚类效果评估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代码效果展示</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SSE</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误差平方和 </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TextBox 3"/>
          <p:cNvSpPr txBox="1"/>
          <p:nvPr/>
        </p:nvSpPr>
        <p:spPr>
          <a:xfrm>
            <a:off x="1134328" y="1357169"/>
            <a:ext cx="8652223" cy="5262979"/>
          </a:xfrm>
          <a:prstGeom prst="rect">
            <a:avLst/>
          </a:prstGeom>
          <a:solidFill>
            <a:srgbClr val="FFFFE4"/>
          </a:solidFill>
          <a:ln w="3175">
            <a:solidFill>
              <a:srgbClr val="91919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altLang="zh-CN" sz="1400" dirty="0">
                <a:solidFill>
                  <a:srgbClr val="0033B3"/>
                </a:solidFill>
                <a:effectLst/>
              </a:rPr>
              <a:t>from </a:t>
            </a:r>
            <a:r>
              <a:rPr lang="en-GB" altLang="zh-CN" sz="1400" dirty="0" err="1"/>
              <a:t>sklearn.cluster</a:t>
            </a:r>
            <a:r>
              <a:rPr lang="en-GB" altLang="zh-CN" sz="1400" dirty="0"/>
              <a:t> </a:t>
            </a:r>
            <a:r>
              <a:rPr lang="en-GB" altLang="zh-CN" sz="1400" dirty="0">
                <a:solidFill>
                  <a:srgbClr val="0033B3"/>
                </a:solidFill>
                <a:effectLst/>
              </a:rPr>
              <a:t>import </a:t>
            </a:r>
            <a:r>
              <a:rPr lang="en-GB" altLang="zh-CN" sz="1400" dirty="0" err="1"/>
              <a:t>KMeans</a:t>
            </a:r>
            <a:br>
              <a:rPr lang="en-GB" altLang="zh-CN" sz="1400" dirty="0"/>
            </a:br>
            <a:r>
              <a:rPr lang="en-GB" altLang="zh-CN" sz="1400" dirty="0">
                <a:solidFill>
                  <a:srgbClr val="0033B3"/>
                </a:solidFill>
                <a:effectLst/>
              </a:rPr>
              <a:t>import </a:t>
            </a:r>
            <a:r>
              <a:rPr lang="en-GB" altLang="zh-CN" sz="1400" dirty="0" err="1"/>
              <a:t>matplotlib.pyplot</a:t>
            </a:r>
            <a:r>
              <a:rPr lang="en-GB" altLang="zh-CN" sz="1400" dirty="0"/>
              <a:t> </a:t>
            </a:r>
            <a:r>
              <a:rPr lang="en-GB" altLang="zh-CN" sz="1400" dirty="0">
                <a:solidFill>
                  <a:srgbClr val="0033B3"/>
                </a:solidFill>
                <a:effectLst/>
              </a:rPr>
              <a:t>as </a:t>
            </a:r>
            <a:r>
              <a:rPr lang="en-GB" altLang="zh-CN" sz="1400" dirty="0" err="1"/>
              <a:t>plt</a:t>
            </a:r>
            <a:br>
              <a:rPr lang="en-GB" altLang="zh-CN" sz="1400" dirty="0"/>
            </a:br>
            <a:r>
              <a:rPr lang="en-GB" altLang="zh-CN" sz="1400" dirty="0">
                <a:solidFill>
                  <a:srgbClr val="0033B3"/>
                </a:solidFill>
                <a:effectLst/>
              </a:rPr>
              <a:t>from </a:t>
            </a:r>
            <a:r>
              <a:rPr lang="en-GB" altLang="zh-CN" sz="1400" dirty="0" err="1"/>
              <a:t>sklearn.datasets</a:t>
            </a:r>
            <a:r>
              <a:rPr lang="en-GB" altLang="zh-CN" sz="1400" dirty="0"/>
              <a:t> </a:t>
            </a:r>
            <a:r>
              <a:rPr lang="en-GB" altLang="zh-CN" sz="1400" dirty="0">
                <a:solidFill>
                  <a:srgbClr val="0033B3"/>
                </a:solidFill>
                <a:effectLst/>
              </a:rPr>
              <a:t>import </a:t>
            </a:r>
            <a:r>
              <a:rPr lang="en-GB" altLang="zh-CN" sz="1400" dirty="0" err="1"/>
              <a:t>make_blobs</a:t>
            </a:r>
            <a:br>
              <a:rPr lang="en-GB" altLang="zh-CN" sz="1400" dirty="0"/>
            </a:br>
            <a:r>
              <a:rPr lang="en-GB" altLang="zh-CN" sz="1400" dirty="0">
                <a:solidFill>
                  <a:srgbClr val="0033B3"/>
                </a:solidFill>
                <a:effectLst/>
              </a:rPr>
              <a:t>from </a:t>
            </a:r>
            <a:r>
              <a:rPr lang="en-GB" altLang="zh-CN" sz="1400" dirty="0" err="1"/>
              <a:t>sklearn.metrics</a:t>
            </a:r>
            <a:r>
              <a:rPr lang="en-GB" altLang="zh-CN" sz="1400" dirty="0"/>
              <a:t> </a:t>
            </a:r>
            <a:r>
              <a:rPr lang="en-GB" altLang="zh-CN" sz="1400" dirty="0">
                <a:solidFill>
                  <a:srgbClr val="0033B3"/>
                </a:solidFill>
                <a:effectLst/>
              </a:rPr>
              <a:t>import </a:t>
            </a:r>
            <a:r>
              <a:rPr lang="en-GB" altLang="zh-CN" sz="1400" dirty="0" err="1"/>
              <a:t>calinski_harabasz_score</a:t>
            </a:r>
            <a:endParaRPr lang="en-GB" altLang="zh-CN" sz="1400" dirty="0"/>
          </a:p>
          <a:p>
            <a:pPr marL="0" marR="0" lvl="0" indent="0" algn="l" defTabSz="914400" rtl="0" eaLnBrk="1" fontAlgn="auto" latinLnBrk="0" hangingPunct="1">
              <a:lnSpc>
                <a:spcPct val="100000"/>
              </a:lnSpc>
              <a:spcBef>
                <a:spcPts val="0"/>
              </a:spcBef>
              <a:spcAft>
                <a:spcPts val="0"/>
              </a:spcAft>
              <a:buClrTx/>
              <a:buSzTx/>
              <a:buFontTx/>
              <a:buNone/>
              <a:defRPr/>
            </a:pPr>
            <a:endParaRPr lang="en-GB" altLang="zh-CN" sz="1400" dirty="0">
              <a:solidFill>
                <a:srgbClr val="0033B3"/>
              </a:solidFill>
              <a:effectLst/>
            </a:endParaRPr>
          </a:p>
          <a:p>
            <a:pPr marL="0" marR="0" lvl="0" indent="0" algn="l" defTabSz="914400" rtl="0" eaLnBrk="1" fontAlgn="auto" latinLnBrk="0" hangingPunct="1">
              <a:lnSpc>
                <a:spcPct val="100000"/>
              </a:lnSpc>
              <a:spcBef>
                <a:spcPts val="0"/>
              </a:spcBef>
              <a:spcAft>
                <a:spcPts val="0"/>
              </a:spcAft>
              <a:buClrTx/>
              <a:buSzTx/>
              <a:buFontTx/>
              <a:buNone/>
              <a:defRPr/>
            </a:pPr>
            <a:r>
              <a:rPr lang="en-GB" altLang="zh-CN" sz="1400" dirty="0">
                <a:solidFill>
                  <a:srgbClr val="0033B3"/>
                </a:solidFill>
                <a:effectLst/>
              </a:rPr>
              <a:t>def </a:t>
            </a:r>
            <a:r>
              <a:rPr lang="en-GB" altLang="zh-CN" sz="1400" dirty="0">
                <a:solidFill>
                  <a:srgbClr val="00627A"/>
                </a:solidFill>
                <a:effectLst/>
              </a:rPr>
              <a:t>dm01_SSE</a:t>
            </a:r>
            <a:r>
              <a:rPr lang="zh-CN" altLang="en-US" sz="1400" dirty="0">
                <a:solidFill>
                  <a:srgbClr val="00627A"/>
                </a:solidFill>
                <a:effectLst/>
              </a:rPr>
              <a:t>误差平方和求模型参数</a:t>
            </a:r>
            <a:r>
              <a:rPr lang="en-US" altLang="zh-CN" sz="1400" dirty="0"/>
              <a:t>():</a:t>
            </a:r>
            <a:br>
              <a:rPr lang="en-US" altLang="zh-CN" sz="1400" dirty="0"/>
            </a:br>
            <a:r>
              <a:rPr lang="en-US" altLang="zh-CN" sz="1400" dirty="0"/>
              <a:t>    </a:t>
            </a:r>
            <a:r>
              <a:rPr lang="en-GB" altLang="zh-CN" sz="1400" dirty="0" err="1"/>
              <a:t>sse_list</a:t>
            </a:r>
            <a:r>
              <a:rPr lang="en-GB" altLang="zh-CN" sz="1400" dirty="0"/>
              <a:t> = []</a:t>
            </a:r>
            <a:br>
              <a:rPr lang="en-GB" altLang="zh-CN" sz="1400" dirty="0"/>
            </a:br>
            <a:br>
              <a:rPr lang="en-GB" altLang="zh-CN" sz="1400" dirty="0"/>
            </a:br>
            <a:r>
              <a:rPr lang="en-GB" altLang="zh-CN" sz="1400" dirty="0"/>
              <a:t>    </a:t>
            </a:r>
            <a:r>
              <a:rPr lang="en-GB" altLang="zh-CN" sz="1400" i="1" dirty="0">
                <a:solidFill>
                  <a:srgbClr val="8C8C8C"/>
                </a:solidFill>
                <a:effectLst/>
              </a:rPr>
              <a:t># </a:t>
            </a:r>
            <a:r>
              <a:rPr lang="zh-CN" altLang="en-US" sz="1400" i="1" dirty="0">
                <a:solidFill>
                  <a:srgbClr val="8C8C8C"/>
                </a:solidFill>
                <a:effectLst/>
              </a:rPr>
              <a:t>产生数据</a:t>
            </a:r>
            <a:r>
              <a:rPr lang="en-GB" altLang="zh-CN" sz="1400" i="1" dirty="0" err="1">
                <a:solidFill>
                  <a:srgbClr val="8C8C8C"/>
                </a:solidFill>
                <a:effectLst/>
              </a:rPr>
              <a:t>random_state</a:t>
            </a:r>
            <a:r>
              <a:rPr lang="en-GB" altLang="zh-CN" sz="1400" i="1" dirty="0">
                <a:solidFill>
                  <a:srgbClr val="8C8C8C"/>
                </a:solidFill>
                <a:effectLst/>
              </a:rPr>
              <a:t>=22</a:t>
            </a:r>
            <a:r>
              <a:rPr lang="zh-CN" altLang="en-US" sz="1400" i="1" dirty="0">
                <a:solidFill>
                  <a:srgbClr val="8C8C8C"/>
                </a:solidFill>
                <a:effectLst/>
              </a:rPr>
              <a:t>固定好</a:t>
            </a:r>
            <a:br>
              <a:rPr lang="zh-CN" altLang="en-US" sz="1400" i="1" dirty="0">
                <a:solidFill>
                  <a:srgbClr val="8C8C8C"/>
                </a:solidFill>
                <a:effectLst/>
              </a:rPr>
            </a:br>
            <a:r>
              <a:rPr lang="zh-CN" altLang="en-US" sz="1400" i="1" dirty="0">
                <a:solidFill>
                  <a:srgbClr val="8C8C8C"/>
                </a:solidFill>
                <a:effectLst/>
              </a:rPr>
              <a:t>    </a:t>
            </a:r>
            <a:r>
              <a:rPr lang="en-GB" altLang="zh-CN" sz="1400" dirty="0"/>
              <a:t>x, y = </a:t>
            </a:r>
            <a:r>
              <a:rPr lang="en-GB" altLang="zh-CN" sz="1400" dirty="0" err="1"/>
              <a:t>make_blobs</a:t>
            </a:r>
            <a:r>
              <a:rPr lang="en-GB" altLang="zh-CN" sz="1400" dirty="0"/>
              <a:t>(</a:t>
            </a:r>
            <a:r>
              <a:rPr lang="en-GB" altLang="zh-CN" sz="1400" dirty="0" err="1">
                <a:solidFill>
                  <a:srgbClr val="660099"/>
                </a:solidFill>
                <a:effectLst/>
              </a:rPr>
              <a:t>n_samples</a:t>
            </a:r>
            <a:r>
              <a:rPr lang="en-GB" altLang="zh-CN" sz="1400" dirty="0"/>
              <a:t>=</a:t>
            </a:r>
            <a:r>
              <a:rPr lang="en-GB" altLang="zh-CN" sz="1400" dirty="0">
                <a:solidFill>
                  <a:srgbClr val="1750EB"/>
                </a:solidFill>
                <a:effectLst/>
              </a:rPr>
              <a:t>1000</a:t>
            </a:r>
            <a:r>
              <a:rPr lang="en-GB" altLang="zh-CN" sz="1400" dirty="0"/>
              <a:t>, </a:t>
            </a:r>
            <a:r>
              <a:rPr lang="en-GB" altLang="zh-CN" sz="1400" dirty="0" err="1">
                <a:solidFill>
                  <a:srgbClr val="660099"/>
                </a:solidFill>
                <a:effectLst/>
              </a:rPr>
              <a:t>n_features</a:t>
            </a:r>
            <a:r>
              <a:rPr lang="en-GB" altLang="zh-CN" sz="1400" dirty="0"/>
              <a:t>=</a:t>
            </a:r>
            <a:r>
              <a:rPr lang="en-GB" altLang="zh-CN" sz="1400" dirty="0">
                <a:solidFill>
                  <a:srgbClr val="1750EB"/>
                </a:solidFill>
                <a:effectLst/>
              </a:rPr>
              <a:t>2</a:t>
            </a:r>
            <a:r>
              <a:rPr lang="en-GB" altLang="zh-CN" sz="1400" dirty="0"/>
              <a:t>, </a:t>
            </a:r>
            <a:r>
              <a:rPr lang="en-GB" altLang="zh-CN" sz="1400" dirty="0">
                <a:solidFill>
                  <a:srgbClr val="660099"/>
                </a:solidFill>
                <a:effectLst/>
              </a:rPr>
              <a:t>centers</a:t>
            </a:r>
            <a:r>
              <a:rPr lang="en-GB" altLang="zh-CN" sz="1400" dirty="0"/>
              <a:t>=[[-</a:t>
            </a:r>
            <a:r>
              <a:rPr lang="en-GB" altLang="zh-CN" sz="1400" dirty="0">
                <a:solidFill>
                  <a:srgbClr val="1750EB"/>
                </a:solidFill>
                <a:effectLst/>
              </a:rPr>
              <a:t>1</a:t>
            </a:r>
            <a:r>
              <a:rPr lang="en-GB" altLang="zh-CN" sz="1400" dirty="0"/>
              <a:t>, -</a:t>
            </a:r>
            <a:r>
              <a:rPr lang="en-GB" altLang="zh-CN" sz="1400" dirty="0">
                <a:solidFill>
                  <a:srgbClr val="1750EB"/>
                </a:solidFill>
                <a:effectLst/>
              </a:rPr>
              <a:t>1</a:t>
            </a:r>
            <a:r>
              <a:rPr lang="en-GB" altLang="zh-CN" sz="1400" dirty="0"/>
              <a:t>], [</a:t>
            </a:r>
            <a:r>
              <a:rPr lang="en-GB" altLang="zh-CN" sz="1400" dirty="0">
                <a:solidFill>
                  <a:srgbClr val="1750EB"/>
                </a:solidFill>
                <a:effectLst/>
              </a:rPr>
              <a:t>0</a:t>
            </a:r>
            <a:r>
              <a:rPr lang="en-GB" altLang="zh-CN" sz="1400" dirty="0"/>
              <a:t>, </a:t>
            </a:r>
            <a:r>
              <a:rPr lang="en-GB" altLang="zh-CN" sz="1400" dirty="0">
                <a:solidFill>
                  <a:srgbClr val="1750EB"/>
                </a:solidFill>
                <a:effectLst/>
              </a:rPr>
              <a:t>0</a:t>
            </a:r>
            <a:r>
              <a:rPr lang="en-GB" altLang="zh-CN" sz="1400" dirty="0"/>
              <a:t>], [</a:t>
            </a:r>
            <a:r>
              <a:rPr lang="en-GB" altLang="zh-CN" sz="1400" dirty="0">
                <a:solidFill>
                  <a:srgbClr val="1750EB"/>
                </a:solidFill>
                <a:effectLst/>
              </a:rPr>
              <a:t>1</a:t>
            </a:r>
            <a:r>
              <a:rPr lang="en-GB" altLang="zh-CN" sz="1400" dirty="0"/>
              <a:t>, </a:t>
            </a:r>
            <a:r>
              <a:rPr lang="en-GB" altLang="zh-CN" sz="1400" dirty="0">
                <a:solidFill>
                  <a:srgbClr val="1750EB"/>
                </a:solidFill>
                <a:effectLst/>
              </a:rPr>
              <a:t>1</a:t>
            </a:r>
            <a:r>
              <a:rPr lang="en-GB" altLang="zh-CN" sz="1400" dirty="0"/>
              <a:t>], [</a:t>
            </a:r>
            <a:r>
              <a:rPr lang="en-GB" altLang="zh-CN" sz="1400" dirty="0">
                <a:solidFill>
                  <a:srgbClr val="1750EB"/>
                </a:solidFill>
                <a:effectLst/>
              </a:rPr>
              <a:t>2</a:t>
            </a:r>
            <a:r>
              <a:rPr lang="en-GB" altLang="zh-CN" sz="1400" dirty="0"/>
              <a:t>, </a:t>
            </a:r>
            <a:r>
              <a:rPr lang="en-GB" altLang="zh-CN" sz="1400" dirty="0">
                <a:solidFill>
                  <a:srgbClr val="1750EB"/>
                </a:solidFill>
                <a:effectLst/>
              </a:rPr>
              <a:t>2</a:t>
            </a:r>
            <a:r>
              <a:rPr lang="en-GB" altLang="zh-CN" sz="1400" dirty="0"/>
              <a:t>]],</a:t>
            </a:r>
            <a:br>
              <a:rPr lang="en-GB" altLang="zh-CN" sz="1400" dirty="0"/>
            </a:br>
            <a:r>
              <a:rPr lang="en-GB" altLang="zh-CN" sz="1400" dirty="0"/>
              <a:t>                      </a:t>
            </a:r>
            <a:r>
              <a:rPr lang="en-GB" altLang="zh-CN" sz="1400" dirty="0" err="1">
                <a:solidFill>
                  <a:srgbClr val="660099"/>
                </a:solidFill>
                <a:effectLst/>
              </a:rPr>
              <a:t>cluster_std</a:t>
            </a:r>
            <a:r>
              <a:rPr lang="en-GB" altLang="zh-CN" sz="1400" dirty="0"/>
              <a:t>=[</a:t>
            </a:r>
            <a:r>
              <a:rPr lang="en-GB" altLang="zh-CN" sz="1400" dirty="0">
                <a:solidFill>
                  <a:srgbClr val="1750EB"/>
                </a:solidFill>
                <a:effectLst/>
              </a:rPr>
              <a:t>0.4</a:t>
            </a:r>
            <a:r>
              <a:rPr lang="en-GB" altLang="zh-CN" sz="1400" dirty="0"/>
              <a:t>, </a:t>
            </a:r>
            <a:r>
              <a:rPr lang="en-GB" altLang="zh-CN" sz="1400" dirty="0">
                <a:solidFill>
                  <a:srgbClr val="1750EB"/>
                </a:solidFill>
                <a:effectLst/>
              </a:rPr>
              <a:t>0.2</a:t>
            </a:r>
            <a:r>
              <a:rPr lang="en-GB" altLang="zh-CN" sz="1400" dirty="0"/>
              <a:t>, </a:t>
            </a:r>
            <a:r>
              <a:rPr lang="en-GB" altLang="zh-CN" sz="1400" dirty="0">
                <a:solidFill>
                  <a:srgbClr val="1750EB"/>
                </a:solidFill>
                <a:effectLst/>
              </a:rPr>
              <a:t>0.2</a:t>
            </a:r>
            <a:r>
              <a:rPr lang="en-GB" altLang="zh-CN" sz="1400" dirty="0"/>
              <a:t>, </a:t>
            </a:r>
            <a:r>
              <a:rPr lang="en-GB" altLang="zh-CN" sz="1400" dirty="0">
                <a:solidFill>
                  <a:srgbClr val="1750EB"/>
                </a:solidFill>
                <a:effectLst/>
              </a:rPr>
              <a:t>0.2</a:t>
            </a:r>
            <a:r>
              <a:rPr lang="en-GB" altLang="zh-CN" sz="1400" dirty="0"/>
              <a:t>], </a:t>
            </a:r>
            <a:r>
              <a:rPr lang="en-GB" altLang="zh-CN" sz="1400" dirty="0" err="1">
                <a:solidFill>
                  <a:srgbClr val="660099"/>
                </a:solidFill>
                <a:effectLst/>
              </a:rPr>
              <a:t>random_state</a:t>
            </a:r>
            <a:r>
              <a:rPr lang="en-GB" altLang="zh-CN" sz="1400" dirty="0"/>
              <a:t>=</a:t>
            </a:r>
            <a:r>
              <a:rPr lang="en-GB" altLang="zh-CN" sz="1400" dirty="0">
                <a:solidFill>
                  <a:srgbClr val="1750EB"/>
                </a:solidFill>
                <a:effectLst/>
              </a:rPr>
              <a:t>22</a:t>
            </a:r>
            <a:r>
              <a:rPr lang="en-GB" altLang="zh-CN" sz="1400" dirty="0"/>
              <a:t>)</a:t>
            </a:r>
            <a:br>
              <a:rPr lang="en-GB" altLang="zh-CN" sz="1400" dirty="0"/>
            </a:br>
            <a:br>
              <a:rPr lang="en-GB" altLang="zh-CN" sz="1400" dirty="0"/>
            </a:br>
            <a:r>
              <a:rPr lang="en-GB" altLang="zh-CN" sz="1400" dirty="0"/>
              <a:t>    </a:t>
            </a:r>
            <a:r>
              <a:rPr lang="en-GB" altLang="zh-CN" sz="1400" dirty="0">
                <a:solidFill>
                  <a:srgbClr val="0033B3"/>
                </a:solidFill>
                <a:effectLst/>
              </a:rPr>
              <a:t>for </a:t>
            </a:r>
            <a:r>
              <a:rPr lang="en-GB" altLang="zh-CN" sz="1400" dirty="0" err="1"/>
              <a:t>clu_num</a:t>
            </a:r>
            <a:r>
              <a:rPr lang="en-GB" altLang="zh-CN" sz="1400" dirty="0"/>
              <a:t> </a:t>
            </a:r>
            <a:r>
              <a:rPr lang="en-GB" altLang="zh-CN" sz="1400" dirty="0">
                <a:solidFill>
                  <a:srgbClr val="0033B3"/>
                </a:solidFill>
                <a:effectLst/>
              </a:rPr>
              <a:t>in </a:t>
            </a:r>
            <a:r>
              <a:rPr lang="en-GB" altLang="zh-CN" sz="1400" dirty="0">
                <a:solidFill>
                  <a:srgbClr val="000080"/>
                </a:solidFill>
                <a:effectLst/>
              </a:rPr>
              <a:t>range</a:t>
            </a:r>
            <a:r>
              <a:rPr lang="en-GB" altLang="zh-CN" sz="1400" dirty="0"/>
              <a:t>(</a:t>
            </a:r>
            <a:r>
              <a:rPr lang="en-GB" altLang="zh-CN" sz="1400" dirty="0">
                <a:solidFill>
                  <a:srgbClr val="1750EB"/>
                </a:solidFill>
                <a:effectLst/>
              </a:rPr>
              <a:t>1</a:t>
            </a:r>
            <a:r>
              <a:rPr lang="en-GB" altLang="zh-CN" sz="1400" dirty="0"/>
              <a:t>, </a:t>
            </a:r>
            <a:r>
              <a:rPr lang="en-GB" altLang="zh-CN" sz="1400" dirty="0">
                <a:solidFill>
                  <a:srgbClr val="1750EB"/>
                </a:solidFill>
                <a:effectLst/>
              </a:rPr>
              <a:t>100</a:t>
            </a:r>
            <a:r>
              <a:rPr lang="en-GB" altLang="zh-CN" sz="1400" dirty="0"/>
              <a:t>):</a:t>
            </a:r>
            <a:br>
              <a:rPr lang="en-GB" altLang="zh-CN" sz="1400" dirty="0"/>
            </a:br>
            <a:r>
              <a:rPr lang="en-GB" altLang="zh-CN" sz="1400" dirty="0"/>
              <a:t>        </a:t>
            </a:r>
            <a:r>
              <a:rPr lang="en-GB" altLang="zh-CN" sz="1400" dirty="0" err="1"/>
              <a:t>my_kmeans</a:t>
            </a:r>
            <a:r>
              <a:rPr lang="en-GB" altLang="zh-CN" sz="1400" dirty="0"/>
              <a:t> = </a:t>
            </a:r>
            <a:r>
              <a:rPr lang="en-GB" altLang="zh-CN" sz="1400" dirty="0" err="1"/>
              <a:t>KMeans</a:t>
            </a:r>
            <a:r>
              <a:rPr lang="en-GB" altLang="zh-CN" sz="1400" dirty="0"/>
              <a:t>(</a:t>
            </a:r>
            <a:r>
              <a:rPr lang="en-GB" altLang="zh-CN" sz="1400" dirty="0" err="1">
                <a:solidFill>
                  <a:srgbClr val="660099"/>
                </a:solidFill>
                <a:effectLst/>
              </a:rPr>
              <a:t>n_clusters</a:t>
            </a:r>
            <a:r>
              <a:rPr lang="en-GB" altLang="zh-CN" sz="1400" dirty="0"/>
              <a:t>=</a:t>
            </a:r>
            <a:r>
              <a:rPr lang="en-GB" altLang="zh-CN" sz="1400" dirty="0" err="1"/>
              <a:t>clu_num</a:t>
            </a:r>
            <a:r>
              <a:rPr lang="en-GB" altLang="zh-CN" sz="1400" dirty="0"/>
              <a:t>, </a:t>
            </a:r>
            <a:r>
              <a:rPr lang="en-GB" altLang="zh-CN" sz="1400" dirty="0" err="1">
                <a:solidFill>
                  <a:srgbClr val="660099"/>
                </a:solidFill>
                <a:effectLst/>
              </a:rPr>
              <a:t>max_iter</a:t>
            </a:r>
            <a:r>
              <a:rPr lang="en-GB" altLang="zh-CN" sz="1400" dirty="0"/>
              <a:t>=</a:t>
            </a:r>
            <a:r>
              <a:rPr lang="en-GB" altLang="zh-CN" sz="1400" dirty="0">
                <a:solidFill>
                  <a:srgbClr val="1750EB"/>
                </a:solidFill>
                <a:effectLst/>
              </a:rPr>
              <a:t>100</a:t>
            </a:r>
            <a:r>
              <a:rPr lang="en-GB" altLang="zh-CN" sz="1400" dirty="0"/>
              <a:t>, </a:t>
            </a:r>
            <a:r>
              <a:rPr lang="en-GB" altLang="zh-CN" sz="1400" dirty="0" err="1">
                <a:solidFill>
                  <a:srgbClr val="660099"/>
                </a:solidFill>
                <a:effectLst/>
              </a:rPr>
              <a:t>random_state</a:t>
            </a:r>
            <a:r>
              <a:rPr lang="en-GB" altLang="zh-CN" sz="1400" dirty="0"/>
              <a:t>=</a:t>
            </a:r>
            <a:r>
              <a:rPr lang="en-GB" altLang="zh-CN" sz="1400" dirty="0">
                <a:solidFill>
                  <a:srgbClr val="1750EB"/>
                </a:solidFill>
                <a:effectLst/>
              </a:rPr>
              <a:t>0</a:t>
            </a:r>
            <a:r>
              <a:rPr lang="en-GB" altLang="zh-CN" sz="1400" dirty="0"/>
              <a:t>)</a:t>
            </a:r>
            <a:br>
              <a:rPr lang="en-GB" altLang="zh-CN" sz="1400" dirty="0"/>
            </a:br>
            <a:r>
              <a:rPr lang="en-GB" altLang="zh-CN" sz="1400" dirty="0"/>
              <a:t>        </a:t>
            </a:r>
            <a:r>
              <a:rPr lang="en-GB" altLang="zh-CN" sz="1400" dirty="0" err="1"/>
              <a:t>my_kmeans.fit</a:t>
            </a:r>
            <a:r>
              <a:rPr lang="en-GB" altLang="zh-CN" sz="1400" dirty="0"/>
              <a:t>(x)</a:t>
            </a:r>
            <a:br>
              <a:rPr lang="en-GB" altLang="zh-CN" sz="1400" dirty="0"/>
            </a:br>
            <a:r>
              <a:rPr lang="en-GB" altLang="zh-CN" sz="1400" dirty="0"/>
              <a:t>        </a:t>
            </a:r>
            <a:r>
              <a:rPr lang="en-GB" altLang="zh-CN" sz="1400" dirty="0" err="1"/>
              <a:t>sse_list.append</a:t>
            </a:r>
            <a:r>
              <a:rPr lang="en-GB" altLang="zh-CN" sz="1400" dirty="0"/>
              <a:t>(</a:t>
            </a:r>
            <a:r>
              <a:rPr lang="en-GB" altLang="zh-CN" sz="1400" dirty="0" err="1"/>
              <a:t>my_kmeans.inertia</a:t>
            </a:r>
            <a:r>
              <a:rPr lang="en-GB" altLang="zh-CN" sz="1400" dirty="0"/>
              <a:t>_ ) </a:t>
            </a:r>
            <a:r>
              <a:rPr lang="en-GB" altLang="zh-CN" sz="1400" i="1" dirty="0">
                <a:solidFill>
                  <a:srgbClr val="8C8C8C"/>
                </a:solidFill>
                <a:effectLst/>
              </a:rPr>
              <a:t># </a:t>
            </a:r>
            <a:r>
              <a:rPr lang="zh-CN" altLang="en-US" sz="1400" i="1" dirty="0">
                <a:solidFill>
                  <a:srgbClr val="8C8C8C"/>
                </a:solidFill>
                <a:effectLst/>
              </a:rPr>
              <a:t>获取</a:t>
            </a:r>
            <a:r>
              <a:rPr lang="en-GB" altLang="zh-CN" sz="1400" i="1" dirty="0" err="1">
                <a:solidFill>
                  <a:srgbClr val="8C8C8C"/>
                </a:solidFill>
                <a:effectLst/>
              </a:rPr>
              <a:t>sse</a:t>
            </a:r>
            <a:r>
              <a:rPr lang="zh-CN" altLang="en-US" sz="1400" i="1" dirty="0">
                <a:solidFill>
                  <a:srgbClr val="8C8C8C"/>
                </a:solidFill>
                <a:effectLst/>
              </a:rPr>
              <a:t>的值</a:t>
            </a:r>
            <a:br>
              <a:rPr lang="zh-CN" altLang="en-US" sz="1400" i="1" dirty="0">
                <a:solidFill>
                  <a:srgbClr val="8C8C8C"/>
                </a:solidFill>
                <a:effectLst/>
              </a:rPr>
            </a:br>
            <a:br>
              <a:rPr lang="zh-CN" altLang="en-US" sz="1400" i="1" dirty="0">
                <a:solidFill>
                  <a:srgbClr val="8C8C8C"/>
                </a:solidFill>
                <a:effectLst/>
              </a:rPr>
            </a:br>
            <a:r>
              <a:rPr lang="zh-CN" altLang="en-US" sz="1400" i="1" dirty="0">
                <a:solidFill>
                  <a:srgbClr val="8C8C8C"/>
                </a:solidFill>
                <a:effectLst/>
              </a:rPr>
              <a:t>    </a:t>
            </a:r>
            <a:r>
              <a:rPr lang="en-GB" altLang="zh-CN" sz="1400" dirty="0" err="1"/>
              <a:t>plt.figure</a:t>
            </a:r>
            <a:r>
              <a:rPr lang="en-GB" altLang="zh-CN" sz="1400" dirty="0"/>
              <a:t>(</a:t>
            </a:r>
            <a:r>
              <a:rPr lang="en-GB" altLang="zh-CN" sz="1400" dirty="0" err="1">
                <a:solidFill>
                  <a:srgbClr val="660099"/>
                </a:solidFill>
                <a:effectLst/>
              </a:rPr>
              <a:t>figsize</a:t>
            </a:r>
            <a:r>
              <a:rPr lang="en-GB" altLang="zh-CN" sz="1400" dirty="0"/>
              <a:t>=(</a:t>
            </a:r>
            <a:r>
              <a:rPr lang="en-GB" altLang="zh-CN" sz="1400" dirty="0">
                <a:solidFill>
                  <a:srgbClr val="1750EB"/>
                </a:solidFill>
                <a:effectLst/>
              </a:rPr>
              <a:t>18</a:t>
            </a:r>
            <a:r>
              <a:rPr lang="en-GB" altLang="zh-CN" sz="1400" dirty="0"/>
              <a:t>, </a:t>
            </a:r>
            <a:r>
              <a:rPr lang="en-GB" altLang="zh-CN" sz="1400" dirty="0">
                <a:solidFill>
                  <a:srgbClr val="1750EB"/>
                </a:solidFill>
                <a:effectLst/>
              </a:rPr>
              <a:t>8</a:t>
            </a:r>
            <a:r>
              <a:rPr lang="en-GB" altLang="zh-CN" sz="1400" dirty="0"/>
              <a:t>), </a:t>
            </a:r>
            <a:r>
              <a:rPr lang="en-GB" altLang="zh-CN" sz="1400" dirty="0">
                <a:solidFill>
                  <a:srgbClr val="660099"/>
                </a:solidFill>
                <a:effectLst/>
              </a:rPr>
              <a:t>dpi</a:t>
            </a:r>
            <a:r>
              <a:rPr lang="en-GB" altLang="zh-CN" sz="1400" dirty="0"/>
              <a:t>=</a:t>
            </a:r>
            <a:r>
              <a:rPr lang="en-GB" altLang="zh-CN" sz="1400" dirty="0">
                <a:solidFill>
                  <a:srgbClr val="1750EB"/>
                </a:solidFill>
                <a:effectLst/>
              </a:rPr>
              <a:t>100</a:t>
            </a:r>
            <a:r>
              <a:rPr lang="en-GB" altLang="zh-CN" sz="1400" dirty="0"/>
              <a:t>)</a:t>
            </a:r>
            <a:br>
              <a:rPr lang="en-GB" altLang="zh-CN" sz="1400" dirty="0"/>
            </a:br>
            <a:r>
              <a:rPr lang="en-GB" altLang="zh-CN" sz="1400" dirty="0"/>
              <a:t>    </a:t>
            </a:r>
            <a:r>
              <a:rPr lang="en-GB" altLang="zh-CN" sz="1400" dirty="0" err="1"/>
              <a:t>plt.xticks</a:t>
            </a:r>
            <a:r>
              <a:rPr lang="en-GB" altLang="zh-CN" sz="1400" dirty="0"/>
              <a:t>(</a:t>
            </a:r>
            <a:r>
              <a:rPr lang="en-GB" altLang="zh-CN" sz="1400" dirty="0">
                <a:solidFill>
                  <a:srgbClr val="000080"/>
                </a:solidFill>
                <a:effectLst/>
              </a:rPr>
              <a:t>range</a:t>
            </a:r>
            <a:r>
              <a:rPr lang="en-GB" altLang="zh-CN" sz="1400" dirty="0"/>
              <a:t>(</a:t>
            </a:r>
            <a:r>
              <a:rPr lang="en-GB" altLang="zh-CN" sz="1400" dirty="0">
                <a:solidFill>
                  <a:srgbClr val="1750EB"/>
                </a:solidFill>
                <a:effectLst/>
              </a:rPr>
              <a:t>0</a:t>
            </a:r>
            <a:r>
              <a:rPr lang="en-GB" altLang="zh-CN" sz="1400" dirty="0"/>
              <a:t>, </a:t>
            </a:r>
            <a:r>
              <a:rPr lang="en-GB" altLang="zh-CN" sz="1400" dirty="0">
                <a:solidFill>
                  <a:srgbClr val="1750EB"/>
                </a:solidFill>
                <a:effectLst/>
              </a:rPr>
              <a:t>100</a:t>
            </a:r>
            <a:r>
              <a:rPr lang="en-GB" altLang="zh-CN" sz="1400" dirty="0"/>
              <a:t>, </a:t>
            </a:r>
            <a:r>
              <a:rPr lang="en-GB" altLang="zh-CN" sz="1400" dirty="0">
                <a:solidFill>
                  <a:srgbClr val="1750EB"/>
                </a:solidFill>
                <a:effectLst/>
              </a:rPr>
              <a:t>3</a:t>
            </a:r>
            <a:r>
              <a:rPr lang="en-GB" altLang="zh-CN" sz="1400" dirty="0"/>
              <a:t>), </a:t>
            </a:r>
            <a:r>
              <a:rPr lang="en-GB" altLang="zh-CN" sz="1400" dirty="0">
                <a:solidFill>
                  <a:srgbClr val="660099"/>
                </a:solidFill>
                <a:effectLst/>
              </a:rPr>
              <a:t>labels</a:t>
            </a:r>
            <a:r>
              <a:rPr lang="en-GB" altLang="zh-CN" sz="1400" dirty="0"/>
              <a:t>=</a:t>
            </a:r>
            <a:r>
              <a:rPr lang="en-GB" altLang="zh-CN" sz="1400" dirty="0">
                <a:solidFill>
                  <a:srgbClr val="000080"/>
                </a:solidFill>
                <a:effectLst/>
              </a:rPr>
              <a:t>range</a:t>
            </a:r>
            <a:r>
              <a:rPr lang="en-GB" altLang="zh-CN" sz="1400" dirty="0"/>
              <a:t>(</a:t>
            </a:r>
            <a:r>
              <a:rPr lang="en-GB" altLang="zh-CN" sz="1400" dirty="0">
                <a:solidFill>
                  <a:srgbClr val="1750EB"/>
                </a:solidFill>
                <a:effectLst/>
              </a:rPr>
              <a:t>0</a:t>
            </a:r>
            <a:r>
              <a:rPr lang="en-GB" altLang="zh-CN" sz="1400" dirty="0"/>
              <a:t>, </a:t>
            </a:r>
            <a:r>
              <a:rPr lang="en-GB" altLang="zh-CN" sz="1400" dirty="0">
                <a:solidFill>
                  <a:srgbClr val="1750EB"/>
                </a:solidFill>
                <a:effectLst/>
              </a:rPr>
              <a:t>100</a:t>
            </a:r>
            <a:r>
              <a:rPr lang="en-GB" altLang="zh-CN" sz="1400" dirty="0"/>
              <a:t>, </a:t>
            </a:r>
            <a:r>
              <a:rPr lang="en-GB" altLang="zh-CN" sz="1400" dirty="0">
                <a:solidFill>
                  <a:srgbClr val="1750EB"/>
                </a:solidFill>
                <a:effectLst/>
              </a:rPr>
              <a:t>3</a:t>
            </a:r>
            <a:r>
              <a:rPr lang="en-GB" altLang="zh-CN" sz="1400" dirty="0"/>
              <a:t>))</a:t>
            </a:r>
            <a:br>
              <a:rPr lang="en-GB" altLang="zh-CN" sz="1400" dirty="0"/>
            </a:br>
            <a:r>
              <a:rPr lang="en-GB" altLang="zh-CN" sz="1400" dirty="0"/>
              <a:t>    </a:t>
            </a:r>
            <a:r>
              <a:rPr lang="en-GB" altLang="zh-CN" sz="1400" dirty="0" err="1"/>
              <a:t>plt.grid</a:t>
            </a:r>
            <a:r>
              <a:rPr lang="en-GB" altLang="zh-CN" sz="1400" dirty="0"/>
              <a:t>()</a:t>
            </a:r>
            <a:br>
              <a:rPr lang="en-GB" altLang="zh-CN" sz="1400" dirty="0"/>
            </a:br>
            <a:r>
              <a:rPr lang="en-GB" altLang="zh-CN" sz="1400" dirty="0"/>
              <a:t>    </a:t>
            </a:r>
            <a:r>
              <a:rPr lang="en-GB" altLang="zh-CN" sz="1400" dirty="0" err="1"/>
              <a:t>plt.title</a:t>
            </a:r>
            <a:r>
              <a:rPr lang="en-GB" altLang="zh-CN" sz="1400" dirty="0"/>
              <a:t>(</a:t>
            </a:r>
            <a:r>
              <a:rPr lang="en-GB" altLang="zh-CN" sz="1400" dirty="0">
                <a:solidFill>
                  <a:srgbClr val="067D17"/>
                </a:solidFill>
                <a:effectLst/>
              </a:rPr>
              <a:t>'</a:t>
            </a:r>
            <a:r>
              <a:rPr lang="en-GB" altLang="zh-CN" sz="1400" dirty="0" err="1">
                <a:solidFill>
                  <a:srgbClr val="067D17"/>
                </a:solidFill>
                <a:effectLst/>
              </a:rPr>
              <a:t>sse</a:t>
            </a:r>
            <a:r>
              <a:rPr lang="en-GB" altLang="zh-CN" sz="1400" dirty="0">
                <a:solidFill>
                  <a:srgbClr val="067D17"/>
                </a:solidFill>
                <a:effectLst/>
              </a:rPr>
              <a:t>'</a:t>
            </a:r>
            <a:r>
              <a:rPr lang="en-GB" altLang="zh-CN" sz="1400" dirty="0"/>
              <a:t>)</a:t>
            </a:r>
            <a:br>
              <a:rPr lang="en-GB" altLang="zh-CN" sz="1400" dirty="0"/>
            </a:br>
            <a:r>
              <a:rPr lang="en-GB" altLang="zh-CN" sz="1400" dirty="0"/>
              <a:t>    </a:t>
            </a:r>
            <a:r>
              <a:rPr lang="en-GB" altLang="zh-CN" sz="1400" dirty="0" err="1"/>
              <a:t>plt.plot</a:t>
            </a:r>
            <a:r>
              <a:rPr lang="en-GB" altLang="zh-CN" sz="1400" dirty="0"/>
              <a:t>(</a:t>
            </a:r>
            <a:r>
              <a:rPr lang="en-GB" altLang="zh-CN" sz="1400" dirty="0">
                <a:solidFill>
                  <a:srgbClr val="000080"/>
                </a:solidFill>
                <a:effectLst/>
              </a:rPr>
              <a:t>range</a:t>
            </a:r>
            <a:r>
              <a:rPr lang="en-GB" altLang="zh-CN" sz="1400" dirty="0"/>
              <a:t>(</a:t>
            </a:r>
            <a:r>
              <a:rPr lang="en-GB" altLang="zh-CN" sz="1400" dirty="0">
                <a:solidFill>
                  <a:srgbClr val="1750EB"/>
                </a:solidFill>
                <a:effectLst/>
              </a:rPr>
              <a:t>1</a:t>
            </a:r>
            <a:r>
              <a:rPr lang="en-GB" altLang="zh-CN" sz="1400" dirty="0"/>
              <a:t>, </a:t>
            </a:r>
            <a:r>
              <a:rPr lang="en-GB" altLang="zh-CN" sz="1400" dirty="0">
                <a:solidFill>
                  <a:srgbClr val="1750EB"/>
                </a:solidFill>
                <a:effectLst/>
              </a:rPr>
              <a:t>100</a:t>
            </a:r>
            <a:r>
              <a:rPr lang="en-GB" altLang="zh-CN" sz="1400" dirty="0"/>
              <a:t>), </a:t>
            </a:r>
            <a:r>
              <a:rPr lang="en-GB" altLang="zh-CN" sz="1400" dirty="0" err="1"/>
              <a:t>sse_list</a:t>
            </a:r>
            <a:r>
              <a:rPr lang="en-GB" altLang="zh-CN" sz="1400" dirty="0"/>
              <a:t>, </a:t>
            </a:r>
            <a:r>
              <a:rPr lang="en-GB" altLang="zh-CN" sz="1400" dirty="0">
                <a:solidFill>
                  <a:srgbClr val="067D17"/>
                </a:solidFill>
                <a:effectLst/>
              </a:rPr>
              <a:t>'or-'</a:t>
            </a:r>
            <a:r>
              <a:rPr lang="en-GB" altLang="zh-CN" sz="1400" dirty="0"/>
              <a:t>)</a:t>
            </a:r>
            <a:br>
              <a:rPr lang="en-GB" altLang="zh-CN" sz="1400" dirty="0"/>
            </a:br>
            <a:r>
              <a:rPr lang="en-GB" altLang="zh-CN" sz="1400" dirty="0"/>
              <a:t>    </a:t>
            </a:r>
            <a:r>
              <a:rPr lang="en-GB" altLang="zh-CN" sz="1400" dirty="0" err="1"/>
              <a:t>plt.show</a:t>
            </a:r>
            <a:r>
              <a:rPr lang="en-GB" altLang="zh-CN" sz="1400" dirty="0"/>
              <a:t>()</a:t>
            </a:r>
            <a:br>
              <a:rPr lang="en-GB" altLang="zh-CN" sz="1400" dirty="0"/>
            </a:br>
            <a:r>
              <a:rPr lang="en-GB" altLang="zh-CN" sz="1400" dirty="0"/>
              <a:t>    </a:t>
            </a:r>
            <a:r>
              <a:rPr lang="en-GB" altLang="zh-CN" sz="1400" i="1" dirty="0">
                <a:solidFill>
                  <a:srgbClr val="8C8C8C"/>
                </a:solidFill>
                <a:effectLst/>
              </a:rPr>
              <a:t># </a:t>
            </a:r>
            <a:r>
              <a:rPr lang="zh-CN" altLang="en-US" sz="1400" i="1" dirty="0">
                <a:solidFill>
                  <a:srgbClr val="8C8C8C"/>
                </a:solidFill>
                <a:effectLst/>
              </a:rPr>
              <a:t>通过图像可观察到 </a:t>
            </a:r>
            <a:r>
              <a:rPr lang="en-GB" altLang="zh-CN" sz="1400" i="1" dirty="0" err="1">
                <a:solidFill>
                  <a:srgbClr val="8C8C8C"/>
                </a:solidFill>
                <a:effectLst/>
              </a:rPr>
              <a:t>n_clusters</a:t>
            </a:r>
            <a:r>
              <a:rPr lang="en-GB" altLang="zh-CN" sz="1400" i="1" dirty="0">
                <a:solidFill>
                  <a:srgbClr val="8C8C8C"/>
                </a:solidFill>
                <a:effectLst/>
              </a:rPr>
              <a:t>=4 </a:t>
            </a:r>
            <a:r>
              <a:rPr lang="en-GB" altLang="zh-CN" sz="1400" i="1" dirty="0" err="1">
                <a:solidFill>
                  <a:srgbClr val="8C8C8C"/>
                </a:solidFill>
                <a:effectLst/>
              </a:rPr>
              <a:t>sse</a:t>
            </a:r>
            <a:r>
              <a:rPr lang="zh-CN" altLang="en-US" sz="1400" i="1" dirty="0">
                <a:solidFill>
                  <a:srgbClr val="8C8C8C"/>
                </a:solidFill>
                <a:effectLst/>
              </a:rPr>
              <a:t>开始下降趋缓</a:t>
            </a:r>
            <a:r>
              <a:rPr lang="en-US" altLang="zh-CN" sz="1400" i="1" dirty="0">
                <a:solidFill>
                  <a:srgbClr val="8C8C8C"/>
                </a:solidFill>
                <a:effectLst/>
              </a:rPr>
              <a:t>, </a:t>
            </a:r>
            <a:r>
              <a:rPr lang="zh-CN" altLang="en-US" sz="1400" i="1" dirty="0">
                <a:solidFill>
                  <a:srgbClr val="8C8C8C"/>
                </a:solidFill>
                <a:effectLst/>
              </a:rPr>
              <a:t>最佳值</a:t>
            </a:r>
            <a:r>
              <a:rPr lang="en-US" altLang="zh-CN" sz="1400" i="1" dirty="0">
                <a:solidFill>
                  <a:srgbClr val="8C8C8C"/>
                </a:solidFill>
                <a:effectLst/>
              </a:rPr>
              <a:t>4</a:t>
            </a:r>
            <a:endParaRPr kumimoji="0" lang="en-US" altLang="zh-CN" sz="1400" b="0" i="0" u="none" strike="noStrike" kern="1200" cap="none" spc="0" normalizeH="0" baseline="0" noProof="0" dirty="0">
              <a:ln>
                <a:noFill/>
              </a:ln>
              <a:solidFill>
                <a:srgbClr val="0033B3"/>
              </a:solidFill>
              <a:effectLst/>
              <a:uLnTx/>
              <a:uFillTx/>
              <a:latin typeface="Alibaba PuHuiTi R" pitchFamily="18" charset="-122"/>
              <a:ea typeface="Alibaba PuHuiTi R" pitchFamily="18" charset="-122"/>
              <a:cs typeface="Alibaba PuHuiTi R" pitchFamily="18"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9982788"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聚类效果评估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代码效果展示</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SSE</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误差平方和 </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pic>
        <p:nvPicPr>
          <p:cNvPr id="2" name="图片 1"/>
          <p:cNvPicPr>
            <a:picLocks noChangeAspect="1"/>
          </p:cNvPicPr>
          <p:nvPr/>
        </p:nvPicPr>
        <p:blipFill>
          <a:blip r:embed="rId1"/>
          <a:stretch>
            <a:fillRect/>
          </a:stretch>
        </p:blipFill>
        <p:spPr>
          <a:xfrm>
            <a:off x="1418992" y="1480736"/>
            <a:ext cx="9354015" cy="4314582"/>
          </a:xfrm>
          <a:prstGeom prst="rect">
            <a:avLst/>
          </a:prstGeom>
        </p:spPr>
      </p:pic>
      <p:sp>
        <p:nvSpPr>
          <p:cNvPr id="5" name="文本框 4"/>
          <p:cNvSpPr txBox="1"/>
          <p:nvPr/>
        </p:nvSpPr>
        <p:spPr>
          <a:xfrm>
            <a:off x="2869857" y="5980670"/>
            <a:ext cx="6135130" cy="338554"/>
          </a:xfrm>
          <a:prstGeom prst="rect">
            <a:avLst/>
          </a:prstGeom>
          <a:noFill/>
        </p:spPr>
        <p:txBody>
          <a:bodyPr wrap="square">
            <a:spAutoFit/>
          </a:bodyPr>
          <a:lstStyle/>
          <a:p>
            <a:r>
              <a:rPr lang="zh-CN" altLang="en-US" sz="1600" dirty="0">
                <a:solidFill>
                  <a:schemeClr val="tx1">
                    <a:lumMod val="85000"/>
                    <a:lumOff val="15000"/>
                  </a:schemeClr>
                </a:solidFill>
                <a:effectLst/>
                <a:latin typeface="Alibaba PuHuiTi" pitchFamily="18" charset="-122"/>
                <a:ea typeface="Alibaba PuHuiTi" pitchFamily="18" charset="-122"/>
                <a:cs typeface="Alibaba PuHuiTi" pitchFamily="18" charset="-122"/>
              </a:rPr>
              <a:t>通过图像可观察到 </a:t>
            </a:r>
            <a:r>
              <a:rPr lang="en-GB" altLang="zh-CN" sz="1600" dirty="0" err="1">
                <a:solidFill>
                  <a:schemeClr val="tx1">
                    <a:lumMod val="85000"/>
                    <a:lumOff val="15000"/>
                  </a:schemeClr>
                </a:solidFill>
                <a:effectLst/>
                <a:latin typeface="Alibaba PuHuiTi" pitchFamily="18" charset="-122"/>
                <a:ea typeface="Alibaba PuHuiTi" pitchFamily="18" charset="-122"/>
                <a:cs typeface="Alibaba PuHuiTi" pitchFamily="18" charset="-122"/>
              </a:rPr>
              <a:t>n_clusters</a:t>
            </a:r>
            <a:r>
              <a:rPr lang="en-GB" altLang="zh-CN" sz="1600" dirty="0">
                <a:solidFill>
                  <a:schemeClr val="tx1">
                    <a:lumMod val="85000"/>
                    <a:lumOff val="15000"/>
                  </a:schemeClr>
                </a:solidFill>
                <a:effectLst/>
                <a:latin typeface="Alibaba PuHuiTi" pitchFamily="18" charset="-122"/>
                <a:ea typeface="Alibaba PuHuiTi" pitchFamily="18" charset="-122"/>
                <a:cs typeface="Alibaba PuHuiTi" pitchFamily="18" charset="-122"/>
              </a:rPr>
              <a:t>=4 </a:t>
            </a:r>
            <a:r>
              <a:rPr lang="en-GB" altLang="zh-CN" sz="1600" dirty="0" err="1">
                <a:solidFill>
                  <a:schemeClr val="tx1">
                    <a:lumMod val="85000"/>
                    <a:lumOff val="15000"/>
                  </a:schemeClr>
                </a:solidFill>
                <a:effectLst/>
                <a:latin typeface="Alibaba PuHuiTi" pitchFamily="18" charset="-122"/>
                <a:ea typeface="Alibaba PuHuiTi" pitchFamily="18" charset="-122"/>
                <a:cs typeface="Alibaba PuHuiTi" pitchFamily="18" charset="-122"/>
              </a:rPr>
              <a:t>sse</a:t>
            </a:r>
            <a:r>
              <a:rPr lang="zh-CN" altLang="en-US" sz="1600" dirty="0">
                <a:solidFill>
                  <a:schemeClr val="tx1">
                    <a:lumMod val="85000"/>
                    <a:lumOff val="15000"/>
                  </a:schemeClr>
                </a:solidFill>
                <a:effectLst/>
                <a:latin typeface="Alibaba PuHuiTi" pitchFamily="18" charset="-122"/>
                <a:ea typeface="Alibaba PuHuiTi" pitchFamily="18" charset="-122"/>
                <a:cs typeface="Alibaba PuHuiTi" pitchFamily="18" charset="-122"/>
              </a:rPr>
              <a:t>开始下降趋缓</a:t>
            </a:r>
            <a:r>
              <a:rPr lang="en-US" altLang="zh-CN" sz="1600" dirty="0">
                <a:solidFill>
                  <a:schemeClr val="tx1">
                    <a:lumMod val="85000"/>
                    <a:lumOff val="15000"/>
                  </a:schemeClr>
                </a:solidFill>
                <a:effectLst/>
                <a:latin typeface="Alibaba PuHuiTi" pitchFamily="18" charset="-122"/>
                <a:ea typeface="Alibaba PuHuiTi" pitchFamily="18" charset="-122"/>
                <a:cs typeface="Alibaba PuHuiTi" pitchFamily="18" charset="-122"/>
              </a:rPr>
              <a:t>, </a:t>
            </a:r>
            <a:r>
              <a:rPr lang="zh-CN" altLang="en-US" sz="1600" dirty="0">
                <a:solidFill>
                  <a:schemeClr val="tx1">
                    <a:lumMod val="85000"/>
                    <a:lumOff val="15000"/>
                  </a:schemeClr>
                </a:solidFill>
                <a:effectLst/>
                <a:latin typeface="Alibaba PuHuiTi" pitchFamily="18" charset="-122"/>
                <a:ea typeface="Alibaba PuHuiTi" pitchFamily="18" charset="-122"/>
                <a:cs typeface="Alibaba PuHuiTi" pitchFamily="18" charset="-122"/>
              </a:rPr>
              <a:t>最佳值</a:t>
            </a:r>
            <a:r>
              <a:rPr lang="en-US" altLang="zh-CN" sz="1600" dirty="0">
                <a:solidFill>
                  <a:schemeClr val="tx1">
                    <a:lumMod val="85000"/>
                    <a:lumOff val="15000"/>
                  </a:schemeClr>
                </a:solidFill>
                <a:effectLst/>
                <a:latin typeface="Alibaba PuHuiTi" pitchFamily="18" charset="-122"/>
                <a:ea typeface="Alibaba PuHuiTi" pitchFamily="18" charset="-122"/>
                <a:cs typeface="Alibaba PuHuiTi" pitchFamily="18" charset="-122"/>
              </a:rPr>
              <a:t>4</a:t>
            </a:r>
            <a:endParaRPr lang="zh-CN" altLang="en-US" sz="16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1440360" y="3985187"/>
            <a:ext cx="6941899" cy="2654895"/>
          </a:xfrm>
          <a:prstGeom prst="rect">
            <a:avLst/>
          </a:prstGeom>
        </p:spPr>
      </p:pic>
      <p:sp>
        <p:nvSpPr>
          <p:cNvPr id="3" name="标题 2"/>
          <p:cNvSpPr>
            <a:spLocks noGrp="1"/>
          </p:cNvSpPr>
          <p:nvPr>
            <p:ph type="title"/>
          </p:nvPr>
        </p:nvSpPr>
        <p:spPr>
          <a:xfrm>
            <a:off x="710879" y="839979"/>
            <a:ext cx="9982788"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SC</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轮廓系数法（</a:t>
            </a:r>
            <a:r>
              <a:rPr kumimoji="1" lang="en-GB" altLang="zh-CN" dirty="0">
                <a:solidFill>
                  <a:schemeClr val="tx1">
                    <a:lumMod val="85000"/>
                    <a:lumOff val="15000"/>
                  </a:schemeClr>
                </a:solidFill>
                <a:latin typeface="Alibaba PuHuiTi" pitchFamily="18" charset="-122"/>
                <a:ea typeface="Alibaba PuHuiTi" pitchFamily="18" charset="-122"/>
                <a:cs typeface="Alibaba PuHuiTi" pitchFamily="18" charset="-122"/>
              </a:rPr>
              <a:t>Silhouette Coefficient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055798" y="1459687"/>
            <a:ext cx="9185481"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kumimoji="0" lang="zh-CN" altLang="en-US" sz="16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轮廓系数法考虑簇内的</a:t>
            </a:r>
            <a:r>
              <a:rPr kumimoji="0" lang="zh-CN" altLang="en-US" sz="16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内聚程度</a:t>
            </a:r>
            <a:r>
              <a:rPr kumimoji="0" lang="en-US" altLang="zh-CN" sz="16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a:t>
            </a:r>
            <a:r>
              <a:rPr lang="en-GB" altLang="zh-CN" b="0" i="0" dirty="0">
                <a:solidFill>
                  <a:schemeClr val="accent2">
                    <a:lumMod val="75000"/>
                  </a:schemeClr>
                </a:solidFill>
                <a:effectLst/>
                <a:latin typeface="Alibaba PuHuiTi" pitchFamily="18" charset="-122"/>
                <a:ea typeface="Alibaba PuHuiTi" pitchFamily="18" charset="-122"/>
                <a:cs typeface="Alibaba PuHuiTi" pitchFamily="18" charset="-122"/>
              </a:rPr>
              <a:t>Cohesion</a:t>
            </a:r>
            <a:r>
              <a:rPr kumimoji="0" lang="en-US" altLang="zh-CN" sz="16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a:t>
            </a:r>
            <a:r>
              <a:rPr kumimoji="0" lang="zh-CN" altLang="en-US" sz="16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，簇外的</a:t>
            </a:r>
            <a:r>
              <a:rPr kumimoji="0" lang="zh-CN" altLang="en-US" sz="16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分离程度</a:t>
            </a:r>
            <a:r>
              <a:rPr kumimoji="0" lang="en-US" altLang="zh-CN" sz="16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a:t>
            </a:r>
            <a:r>
              <a:rPr lang="en-GB" altLang="zh-CN" b="0" i="0" dirty="0">
                <a:solidFill>
                  <a:schemeClr val="accent2">
                    <a:lumMod val="75000"/>
                  </a:schemeClr>
                </a:solidFill>
                <a:effectLst/>
                <a:latin typeface="Alibaba PuHuiTi" pitchFamily="18" charset="-122"/>
                <a:ea typeface="Alibaba PuHuiTi" pitchFamily="18" charset="-122"/>
                <a:cs typeface="Alibaba PuHuiTi" pitchFamily="18" charset="-122"/>
              </a:rPr>
              <a:t>Separation</a:t>
            </a:r>
            <a:r>
              <a:rPr kumimoji="0" lang="en-US" altLang="zh-CN" sz="16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a:t>
            </a:r>
            <a:r>
              <a:rPr kumimoji="0" lang="zh-CN" altLang="en-US" sz="16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rPr>
              <a:t>。其计算过程如下</a:t>
            </a:r>
            <a:endParaRPr kumimoji="0" lang="en-US" altLang="zh-CN" sz="1600" b="0" i="0" u="none" strike="noStrike" kern="1200" cap="none" spc="0" normalizeH="0" baseline="0" noProof="0" dirty="0">
              <a:ln>
                <a:noFill/>
              </a:ln>
              <a:effectLst/>
              <a:uLnTx/>
              <a:uFillTx/>
              <a:latin typeface="Alibaba PuHuiTi" pitchFamily="18" charset="-122"/>
              <a:ea typeface="Alibaba PuHuiTi" pitchFamily="18" charset="-122"/>
              <a:cs typeface="Alibaba PuHuiTi" pitchFamily="18" charset="-122"/>
            </a:endParaRPr>
          </a:p>
        </p:txBody>
      </p:sp>
      <mc:AlternateContent xmlns:mc="http://schemas.openxmlformats.org/markup-compatibility/2006">
        <mc:Choice xmlns:a14="http://schemas.microsoft.com/office/drawing/2010/main" Requires="a14">
          <p:sp>
            <p:nvSpPr>
              <p:cNvPr id="2" name="TextBox 6"/>
              <p:cNvSpPr txBox="1"/>
              <p:nvPr/>
            </p:nvSpPr>
            <p:spPr>
              <a:xfrm>
                <a:off x="1772958" y="1959265"/>
                <a:ext cx="9074582" cy="1861792"/>
              </a:xfrm>
              <a:prstGeom prst="rect">
                <a:avLst/>
              </a:prstGeom>
              <a:noFill/>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285750" indent="-285750">
                  <a:lnSpc>
                    <a:spcPct val="150000"/>
                  </a:lnSpc>
                  <a:buFont typeface="Arial" panose="020B0604020202020204" pitchFamily="34" charset="0"/>
                  <a:buChar char="•"/>
                  <a:defRPr/>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对计算每一个样本 </a:t>
                </a:r>
                <a:r>
                  <a:rPr lang="en-GB" altLang="zh-CN" sz="1400" dirty="0" err="1">
                    <a:solidFill>
                      <a:schemeClr val="tx1">
                        <a:lumMod val="85000"/>
                        <a:lumOff val="15000"/>
                      </a:schemeClr>
                    </a:solidFill>
                    <a:latin typeface="Alibaba PuHuiTi" pitchFamily="18" charset="-122"/>
                    <a:ea typeface="Alibaba PuHuiTi" pitchFamily="18" charset="-122"/>
                    <a:cs typeface="Alibaba PuHuiTi" pitchFamily="18" charset="-122"/>
                  </a:rPr>
                  <a:t>i</a:t>
                </a:r>
                <a:r>
                  <a:rPr lang="en-GB"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 </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到</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同簇内其他样本的平均距离 </a:t>
                </a:r>
                <a:r>
                  <a:rPr lang="en-GB" altLang="zh-CN" sz="1400" dirty="0">
                    <a:solidFill>
                      <a:schemeClr val="accent2">
                        <a:lumMod val="75000"/>
                      </a:schemeClr>
                    </a:solidFill>
                    <a:latin typeface="Alibaba PuHuiTi" pitchFamily="18" charset="-122"/>
                    <a:ea typeface="Alibaba PuHuiTi" pitchFamily="18" charset="-122"/>
                    <a:cs typeface="Alibaba PuHuiTi" pitchFamily="18" charset="-122"/>
                  </a:rPr>
                  <a:t>ai</a:t>
                </a:r>
                <a:r>
                  <a:rPr lang="zh-CN" altLang="en-GB" sz="1400"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该值越小，说明簇内的相似程度越大</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marL="285750" indent="-285750">
                  <a:lnSpc>
                    <a:spcPct val="150000"/>
                  </a:lnSpc>
                  <a:buFont typeface="Arial" panose="020B0604020202020204" pitchFamily="34" charset="0"/>
                  <a:buChar char="•"/>
                  <a:defRPr/>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计算每一个样本 </a:t>
                </a:r>
                <a:r>
                  <a:rPr lang="en-GB" altLang="zh-CN" sz="1400" dirty="0" err="1">
                    <a:solidFill>
                      <a:schemeClr val="tx1">
                        <a:lumMod val="85000"/>
                        <a:lumOff val="15000"/>
                      </a:schemeClr>
                    </a:solidFill>
                    <a:latin typeface="Alibaba PuHuiTi" pitchFamily="18" charset="-122"/>
                    <a:ea typeface="Alibaba PuHuiTi" pitchFamily="18" charset="-122"/>
                    <a:cs typeface="Alibaba PuHuiTi" pitchFamily="18" charset="-122"/>
                  </a:rPr>
                  <a:t>i</a:t>
                </a:r>
                <a:r>
                  <a:rPr lang="en-GB"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 </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到</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最近簇 </a:t>
                </a:r>
                <a:r>
                  <a:rPr lang="en-GB" altLang="zh-CN" sz="1400" dirty="0">
                    <a:solidFill>
                      <a:schemeClr val="accent2">
                        <a:lumMod val="75000"/>
                      </a:schemeClr>
                    </a:solidFill>
                    <a:latin typeface="Alibaba PuHuiTi" pitchFamily="18" charset="-122"/>
                    <a:ea typeface="Alibaba PuHuiTi" pitchFamily="18" charset="-122"/>
                    <a:cs typeface="Alibaba PuHuiTi" pitchFamily="18" charset="-122"/>
                  </a:rPr>
                  <a:t>j </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内的所有样本的平均距离 </a:t>
                </a:r>
                <a:r>
                  <a:rPr lang="en-GB" altLang="zh-CN" sz="1400" dirty="0" err="1">
                    <a:solidFill>
                      <a:schemeClr val="accent2">
                        <a:lumMod val="75000"/>
                      </a:schemeClr>
                    </a:solidFill>
                    <a:latin typeface="Alibaba PuHuiTi" pitchFamily="18" charset="-122"/>
                    <a:ea typeface="Alibaba PuHuiTi" pitchFamily="18" charset="-122"/>
                    <a:cs typeface="Alibaba PuHuiTi" pitchFamily="18" charset="-122"/>
                  </a:rPr>
                  <a:t>bij</a:t>
                </a:r>
                <a:r>
                  <a:rPr lang="zh-CN" altLang="en-GB" sz="1400"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该值越大，说明该样本越不属于其他簇 </a:t>
                </a:r>
                <a:r>
                  <a:rPr lang="en-GB"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j</a:t>
                </a:r>
                <a:endParaRPr lang="en-GB"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marL="285750" indent="-285750">
                  <a:lnSpc>
                    <a:spcPct val="150000"/>
                  </a:lnSpc>
                  <a:buFont typeface="Arial" panose="020B0604020202020204" pitchFamily="34" charset="0"/>
                  <a:buChar char="•"/>
                  <a:defRPr/>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根据下面公式计算该样本的轮廓系数：</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S</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a:t>
                </a:r>
                <a14:m>
                  <m:oMath xmlns:m="http://schemas.openxmlformats.org/officeDocument/2006/math">
                    <m:f>
                      <m:fPr>
                        <m:ctrlPr>
                          <a:rPr lang="en-US" altLang="zh-CN" sz="1400" i="1" smtClean="0">
                            <a:solidFill>
                              <a:schemeClr val="tx1">
                                <a:lumMod val="85000"/>
                                <a:lumOff val="15000"/>
                              </a:schemeClr>
                            </a:solidFill>
                            <a:latin typeface="Cambria Math" panose="02040503050406030204" pitchFamily="18" charset="0"/>
                            <a:ea typeface="Alibaba PuHuiTi" pitchFamily="18" charset="-122"/>
                            <a:cs typeface="Alibaba PuHuiTi" pitchFamily="18" charset="-122"/>
                          </a:rPr>
                        </m:ctrlPr>
                      </m:fPr>
                      <m:num>
                        <m:r>
                          <a:rPr lang="en-US" altLang="zh-CN" sz="1400" b="0" i="1" smtClean="0">
                            <a:solidFill>
                              <a:schemeClr val="tx1">
                                <a:lumMod val="85000"/>
                                <a:lumOff val="15000"/>
                              </a:schemeClr>
                            </a:solidFill>
                            <a:latin typeface="Cambria Math" panose="02040503050406030204" pitchFamily="18" charset="0"/>
                            <a:ea typeface="Alibaba PuHuiTi" pitchFamily="18" charset="-122"/>
                            <a:cs typeface="Alibaba PuHuiTi" pitchFamily="18" charset="-122"/>
                          </a:rPr>
                          <m:t>𝑏</m:t>
                        </m:r>
                        <m:r>
                          <a:rPr lang="zh-CN" altLang="en-US" sz="1400" b="0" i="1" smtClean="0">
                            <a:solidFill>
                              <a:schemeClr val="tx1">
                                <a:lumMod val="85000"/>
                                <a:lumOff val="15000"/>
                              </a:schemeClr>
                            </a:solidFill>
                            <a:latin typeface="Cambria Math" panose="02040503050406030204" pitchFamily="18" charset="0"/>
                            <a:ea typeface="Alibaba PuHuiTi" pitchFamily="18" charset="-122"/>
                            <a:cs typeface="Alibaba PuHuiTi" pitchFamily="18" charset="-122"/>
                          </a:rPr>
                          <m:t> </m:t>
                        </m:r>
                        <m:r>
                          <a:rPr lang="en-US" altLang="zh-CN" sz="1400" b="0" i="1" smtClean="0">
                            <a:solidFill>
                              <a:schemeClr val="tx1">
                                <a:lumMod val="85000"/>
                                <a:lumOff val="15000"/>
                              </a:schemeClr>
                            </a:solidFill>
                            <a:latin typeface="Cambria Math" panose="02040503050406030204" pitchFamily="18" charset="0"/>
                            <a:ea typeface="Alibaba PuHuiTi" pitchFamily="18" charset="-122"/>
                            <a:cs typeface="Alibaba PuHuiTi" pitchFamily="18" charset="-122"/>
                          </a:rPr>
                          <m:t>−</m:t>
                        </m:r>
                        <m:r>
                          <a:rPr lang="en-US" altLang="zh-CN" sz="1400" b="0" i="1" smtClean="0">
                            <a:solidFill>
                              <a:schemeClr val="tx1">
                                <a:lumMod val="85000"/>
                                <a:lumOff val="15000"/>
                              </a:schemeClr>
                            </a:solidFill>
                            <a:latin typeface="Cambria Math" panose="02040503050406030204" pitchFamily="18" charset="0"/>
                            <a:ea typeface="Alibaba PuHuiTi" pitchFamily="18" charset="-122"/>
                            <a:cs typeface="Alibaba PuHuiTi" pitchFamily="18" charset="-122"/>
                          </a:rPr>
                          <m:t>𝑎</m:t>
                        </m:r>
                      </m:num>
                      <m:den>
                        <m:r>
                          <m:rPr>
                            <m:sty m:val="p"/>
                          </m:rPr>
                          <a:rPr lang="en-US" altLang="zh-CN" sz="1400" b="0" i="0" smtClean="0">
                            <a:solidFill>
                              <a:schemeClr val="tx1">
                                <a:lumMod val="85000"/>
                                <a:lumOff val="15000"/>
                              </a:schemeClr>
                            </a:solidFill>
                            <a:latin typeface="Cambria Math" panose="02040503050406030204" pitchFamily="18" charset="0"/>
                            <a:ea typeface="Alibaba PuHuiTi" pitchFamily="18" charset="-122"/>
                            <a:cs typeface="Alibaba PuHuiTi" pitchFamily="18" charset="-122"/>
                          </a:rPr>
                          <m:t>max</m:t>
                        </m:r>
                        <m:r>
                          <a:rPr lang="en-US" altLang="zh-CN" sz="1400" b="0" i="1" smtClean="0">
                            <a:solidFill>
                              <a:schemeClr val="tx1">
                                <a:lumMod val="85000"/>
                                <a:lumOff val="15000"/>
                              </a:schemeClr>
                            </a:solidFill>
                            <a:latin typeface="Cambria Math" panose="02040503050406030204" pitchFamily="18" charset="0"/>
                            <a:ea typeface="Alibaba PuHuiTi" pitchFamily="18" charset="-122"/>
                            <a:cs typeface="Alibaba PuHuiTi" pitchFamily="18" charset="-122"/>
                          </a:rPr>
                          <m:t>⁡(</m:t>
                        </m:r>
                        <m:r>
                          <a:rPr lang="en-US" altLang="zh-CN" sz="1400" b="0" i="1" smtClean="0">
                            <a:solidFill>
                              <a:schemeClr val="tx1">
                                <a:lumMod val="85000"/>
                                <a:lumOff val="15000"/>
                              </a:schemeClr>
                            </a:solidFill>
                            <a:latin typeface="Cambria Math" panose="02040503050406030204" pitchFamily="18" charset="0"/>
                            <a:ea typeface="Alibaba PuHuiTi" pitchFamily="18" charset="-122"/>
                            <a:cs typeface="Alibaba PuHuiTi" pitchFamily="18" charset="-122"/>
                          </a:rPr>
                          <m:t>𝑎</m:t>
                        </m:r>
                        <m:r>
                          <a:rPr lang="en-US" altLang="zh-CN" sz="1400" b="0" i="1" smtClean="0">
                            <a:solidFill>
                              <a:schemeClr val="tx1">
                                <a:lumMod val="85000"/>
                                <a:lumOff val="15000"/>
                              </a:schemeClr>
                            </a:solidFill>
                            <a:latin typeface="Cambria Math" panose="02040503050406030204" pitchFamily="18" charset="0"/>
                            <a:ea typeface="Alibaba PuHuiTi" pitchFamily="18" charset="-122"/>
                            <a:cs typeface="Alibaba PuHuiTi" pitchFamily="18" charset="-122"/>
                          </a:rPr>
                          <m:t>,</m:t>
                        </m:r>
                        <m:r>
                          <a:rPr lang="zh-CN" altLang="en-US" sz="1400" b="0" i="1" smtClean="0">
                            <a:solidFill>
                              <a:schemeClr val="tx1">
                                <a:lumMod val="85000"/>
                                <a:lumOff val="15000"/>
                              </a:schemeClr>
                            </a:solidFill>
                            <a:latin typeface="Cambria Math" panose="02040503050406030204" pitchFamily="18" charset="0"/>
                            <a:ea typeface="Alibaba PuHuiTi" pitchFamily="18" charset="-122"/>
                            <a:cs typeface="Alibaba PuHuiTi" pitchFamily="18" charset="-122"/>
                          </a:rPr>
                          <m:t> </m:t>
                        </m:r>
                        <m:r>
                          <a:rPr lang="en-US" altLang="zh-CN" sz="1400" b="0" i="1" smtClean="0">
                            <a:solidFill>
                              <a:schemeClr val="tx1">
                                <a:lumMod val="85000"/>
                                <a:lumOff val="15000"/>
                              </a:schemeClr>
                            </a:solidFill>
                            <a:latin typeface="Cambria Math" panose="02040503050406030204" pitchFamily="18" charset="0"/>
                            <a:ea typeface="Alibaba PuHuiTi" pitchFamily="18" charset="-122"/>
                            <a:cs typeface="Alibaba PuHuiTi" pitchFamily="18" charset="-122"/>
                          </a:rPr>
                          <m:t>𝑏</m:t>
                        </m:r>
                        <m:r>
                          <a:rPr lang="en-US" altLang="zh-CN" sz="1400" b="0" i="1" smtClean="0">
                            <a:solidFill>
                              <a:schemeClr val="tx1">
                                <a:lumMod val="85000"/>
                                <a:lumOff val="15000"/>
                              </a:schemeClr>
                            </a:solidFill>
                            <a:latin typeface="Cambria Math" panose="02040503050406030204" pitchFamily="18" charset="0"/>
                            <a:ea typeface="Alibaba PuHuiTi" pitchFamily="18" charset="-122"/>
                            <a:cs typeface="Alibaba PuHuiTi" pitchFamily="18" charset="-122"/>
                          </a:rPr>
                          <m:t>)</m:t>
                        </m:r>
                      </m:den>
                    </m:f>
                  </m:oMath>
                </a14:m>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marL="285750" indent="-285750">
                  <a:lnSpc>
                    <a:spcPct val="150000"/>
                  </a:lnSpc>
                  <a:buFont typeface="Arial" panose="020B0604020202020204" pitchFamily="34" charset="0"/>
                  <a:buChar char="•"/>
                  <a:defRPr/>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计算所有样本的平均轮廓系数</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marL="285750" indent="-285750">
                  <a:lnSpc>
                    <a:spcPct val="150000"/>
                  </a:lnSpc>
                  <a:buFont typeface="Arial" panose="020B0604020202020204" pitchFamily="34" charset="0"/>
                  <a:buChar char="•"/>
                  <a:defRPr/>
                </a:pP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轮廓系数的范围为：</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[-1, 1]</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en-US" altLang="zh-CN" sz="1400" dirty="0">
                    <a:solidFill>
                      <a:schemeClr val="accent2">
                        <a:lumMod val="75000"/>
                      </a:schemeClr>
                    </a:solidFill>
                    <a:latin typeface="Alibaba PuHuiTi" pitchFamily="18" charset="-122"/>
                    <a:ea typeface="Alibaba PuHuiTi" pitchFamily="18" charset="-122"/>
                    <a:cs typeface="Alibaba PuHuiTi" pitchFamily="18" charset="-122"/>
                  </a:rPr>
                  <a:t>SC</a:t>
                </a:r>
                <a:r>
                  <a:rPr lang="zh-CN" altLang="en-US" sz="1400" dirty="0">
                    <a:solidFill>
                      <a:schemeClr val="accent2">
                        <a:lumMod val="75000"/>
                      </a:schemeClr>
                    </a:solidFill>
                    <a:latin typeface="Alibaba PuHuiTi" pitchFamily="18" charset="-122"/>
                    <a:ea typeface="Alibaba PuHuiTi" pitchFamily="18" charset="-122"/>
                    <a:cs typeface="Alibaba PuHuiTi" pitchFamily="18" charset="-122"/>
                  </a:rPr>
                  <a:t>值越大</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聚类效果越好</a:t>
                </a:r>
                <a:endParaRPr kumimoji="0" lang="en-GB" altLang="zh-CN"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p:txBody>
          </p:sp>
        </mc:Choice>
        <mc:Fallback>
          <p:sp>
            <p:nvSpPr>
              <p:cNvPr id="2" name="TextBox 6"/>
              <p:cNvSpPr txBox="1">
                <a:spLocks noRot="1" noChangeAspect="1" noMove="1" noResize="1" noEditPoints="1" noAdjustHandles="1" noChangeArrowheads="1" noChangeShapeType="1" noTextEdit="1"/>
              </p:cNvSpPr>
              <p:nvPr/>
            </p:nvSpPr>
            <p:spPr>
              <a:xfrm>
                <a:off x="1772958" y="1959265"/>
                <a:ext cx="9074582" cy="1861792"/>
              </a:xfrm>
              <a:prstGeom prst="rect">
                <a:avLst/>
              </a:prstGeom>
              <a:blipFill rotWithShape="1">
                <a:blip r:embed="rId2"/>
                <a:stretch>
                  <a:fillRect t="-16" r="5" b="14"/>
                </a:stretch>
              </a:blipFill>
            </p:spPr>
            <p:txBody>
              <a:bodyPr/>
              <a:lstStyle/>
              <a:p>
                <a:r>
                  <a:rPr lang="zh-CN" altLang="en-US">
                    <a:noFill/>
                  </a:rPr>
                  <a:t> </a:t>
                </a:r>
              </a:p>
            </p:txBody>
          </p:sp>
        </mc:Fallback>
      </mc:AlternateContent>
      <p:sp>
        <p:nvSpPr>
          <p:cNvPr id="5" name="文本框 4"/>
          <p:cNvSpPr txBox="1"/>
          <p:nvPr/>
        </p:nvSpPr>
        <p:spPr>
          <a:xfrm>
            <a:off x="1582104" y="5846979"/>
            <a:ext cx="4195561" cy="620363"/>
          </a:xfrm>
          <a:prstGeom prst="rect">
            <a:avLst/>
          </a:prstGeom>
          <a:noFill/>
        </p:spPr>
        <p:txBody>
          <a:bodyPr wrap="square">
            <a:spAutoFit/>
          </a:bodyPr>
          <a:lstStyle/>
          <a:p>
            <a:pPr>
              <a:lnSpc>
                <a:spcPct val="150000"/>
              </a:lnSpc>
            </a:pPr>
            <a:r>
              <a:rPr lang="en-US" altLang="zh-CN" sz="1200" dirty="0">
                <a:solidFill>
                  <a:schemeClr val="tx1">
                    <a:lumMod val="75000"/>
                    <a:lumOff val="25000"/>
                  </a:schemeClr>
                </a:solidFill>
                <a:latin typeface="Alibaba PuHuiTi" pitchFamily="18" charset="-122"/>
                <a:ea typeface="Alibaba PuHuiTi" pitchFamily="18" charset="-122"/>
                <a:cs typeface="Alibaba PuHuiTi" pitchFamily="18" charset="-122"/>
              </a:rPr>
              <a:t>a</a:t>
            </a:r>
            <a:r>
              <a:rPr lang="zh-CN" altLang="en-US" sz="1200" dirty="0">
                <a:solidFill>
                  <a:schemeClr val="tx1">
                    <a:lumMod val="75000"/>
                    <a:lumOff val="25000"/>
                  </a:schemeClr>
                </a:solidFill>
                <a:latin typeface="Alibaba PuHuiTi" pitchFamily="18" charset="-122"/>
                <a:ea typeface="Alibaba PuHuiTi" pitchFamily="18" charset="-122"/>
                <a:cs typeface="Alibaba PuHuiTi" pitchFamily="18" charset="-122"/>
              </a:rPr>
              <a:t> </a:t>
            </a:r>
            <a:r>
              <a:rPr lang="en-US" altLang="zh-CN" sz="1200" dirty="0">
                <a:solidFill>
                  <a:schemeClr val="tx1">
                    <a:lumMod val="75000"/>
                    <a:lumOff val="25000"/>
                  </a:schemeClr>
                </a:solidFill>
                <a:latin typeface="Alibaba PuHuiTi" pitchFamily="18" charset="-122"/>
                <a:ea typeface="Alibaba PuHuiTi" pitchFamily="18" charset="-122"/>
                <a:cs typeface="Alibaba PuHuiTi" pitchFamily="18" charset="-122"/>
              </a:rPr>
              <a:t>:</a:t>
            </a:r>
            <a:r>
              <a:rPr lang="zh-CN" altLang="en-US" sz="1200" dirty="0">
                <a:solidFill>
                  <a:schemeClr val="tx1">
                    <a:lumMod val="75000"/>
                    <a:lumOff val="25000"/>
                  </a:schemeClr>
                </a:solidFill>
                <a:latin typeface="Alibaba PuHuiTi" pitchFamily="18" charset="-122"/>
                <a:ea typeface="Alibaba PuHuiTi" pitchFamily="18" charset="-122"/>
                <a:cs typeface="Alibaba PuHuiTi" pitchFamily="18" charset="-122"/>
              </a:rPr>
              <a:t>  样本</a:t>
            </a:r>
            <a:r>
              <a:rPr lang="en-US" altLang="zh-CN" sz="1200" dirty="0" err="1">
                <a:solidFill>
                  <a:schemeClr val="tx1">
                    <a:lumMod val="75000"/>
                    <a:lumOff val="25000"/>
                  </a:schemeClr>
                </a:solidFill>
                <a:latin typeface="Alibaba PuHuiTi" pitchFamily="18" charset="-122"/>
                <a:ea typeface="Alibaba PuHuiTi" pitchFamily="18" charset="-122"/>
                <a:cs typeface="Alibaba PuHuiTi" pitchFamily="18" charset="-122"/>
              </a:rPr>
              <a:t>i</a:t>
            </a:r>
            <a:r>
              <a:rPr lang="zh-CN" altLang="en-US" sz="1200" dirty="0">
                <a:solidFill>
                  <a:schemeClr val="tx1">
                    <a:lumMod val="75000"/>
                    <a:lumOff val="25000"/>
                  </a:schemeClr>
                </a:solidFill>
                <a:latin typeface="Alibaba PuHuiTi" pitchFamily="18" charset="-122"/>
                <a:ea typeface="Alibaba PuHuiTi" pitchFamily="18" charset="-122"/>
                <a:cs typeface="Alibaba PuHuiTi" pitchFamily="18" charset="-122"/>
              </a:rPr>
              <a:t>到簇内其他点的距离平均值</a:t>
            </a:r>
            <a:endParaRPr lang="en-US" altLang="zh-CN" sz="1200" dirty="0">
              <a:solidFill>
                <a:schemeClr val="tx1">
                  <a:lumMod val="75000"/>
                  <a:lumOff val="25000"/>
                </a:schemeClr>
              </a:solidFill>
              <a:latin typeface="Alibaba PuHuiTi" pitchFamily="18" charset="-122"/>
              <a:ea typeface="Alibaba PuHuiTi" pitchFamily="18" charset="-122"/>
              <a:cs typeface="Alibaba PuHuiTi" pitchFamily="18" charset="-122"/>
            </a:endParaRPr>
          </a:p>
          <a:p>
            <a:pPr>
              <a:lnSpc>
                <a:spcPct val="150000"/>
              </a:lnSpc>
            </a:pPr>
            <a:r>
              <a:rPr lang="en-US" altLang="zh-CN" sz="1200" dirty="0">
                <a:solidFill>
                  <a:schemeClr val="tx1">
                    <a:lumMod val="75000"/>
                    <a:lumOff val="25000"/>
                  </a:schemeClr>
                </a:solidFill>
                <a:latin typeface="Alibaba PuHuiTi" pitchFamily="18" charset="-122"/>
                <a:ea typeface="Alibaba PuHuiTi" pitchFamily="18" charset="-122"/>
                <a:cs typeface="Alibaba PuHuiTi" pitchFamily="18" charset="-122"/>
              </a:rPr>
              <a:t>b</a:t>
            </a:r>
            <a:r>
              <a:rPr lang="zh-CN" altLang="en-US" sz="1200" dirty="0">
                <a:solidFill>
                  <a:schemeClr val="tx1">
                    <a:lumMod val="75000"/>
                    <a:lumOff val="25000"/>
                  </a:schemeClr>
                </a:solidFill>
                <a:latin typeface="Alibaba PuHuiTi" pitchFamily="18" charset="-122"/>
                <a:ea typeface="Alibaba PuHuiTi" pitchFamily="18" charset="-122"/>
                <a:cs typeface="Alibaba PuHuiTi" pitchFamily="18" charset="-122"/>
              </a:rPr>
              <a:t> </a:t>
            </a:r>
            <a:r>
              <a:rPr lang="en-US" altLang="zh-CN" sz="1200" dirty="0">
                <a:solidFill>
                  <a:schemeClr val="tx1">
                    <a:lumMod val="75000"/>
                    <a:lumOff val="25000"/>
                  </a:schemeClr>
                </a:solidFill>
                <a:latin typeface="Alibaba PuHuiTi" pitchFamily="18" charset="-122"/>
                <a:ea typeface="Alibaba PuHuiTi" pitchFamily="18" charset="-122"/>
                <a:cs typeface="Alibaba PuHuiTi" pitchFamily="18" charset="-122"/>
              </a:rPr>
              <a:t>:</a:t>
            </a:r>
            <a:r>
              <a:rPr lang="zh-CN" altLang="en-US" sz="1200" dirty="0">
                <a:solidFill>
                  <a:schemeClr val="tx1">
                    <a:lumMod val="75000"/>
                    <a:lumOff val="25000"/>
                  </a:schemeClr>
                </a:solidFill>
                <a:latin typeface="Alibaba PuHuiTi" pitchFamily="18" charset="-122"/>
                <a:ea typeface="Alibaba PuHuiTi" pitchFamily="18" charset="-122"/>
                <a:cs typeface="Alibaba PuHuiTi" pitchFamily="18" charset="-122"/>
              </a:rPr>
              <a:t> 样本</a:t>
            </a:r>
            <a:r>
              <a:rPr lang="en-US" altLang="zh-CN" sz="1200" dirty="0" err="1">
                <a:solidFill>
                  <a:schemeClr val="tx1">
                    <a:lumMod val="75000"/>
                    <a:lumOff val="25000"/>
                  </a:schemeClr>
                </a:solidFill>
                <a:latin typeface="Alibaba PuHuiTi" pitchFamily="18" charset="-122"/>
                <a:ea typeface="Alibaba PuHuiTi" pitchFamily="18" charset="-122"/>
                <a:cs typeface="Alibaba PuHuiTi" pitchFamily="18" charset="-122"/>
              </a:rPr>
              <a:t>i</a:t>
            </a:r>
            <a:r>
              <a:rPr lang="zh-CN" altLang="en-US" sz="1200" dirty="0">
                <a:solidFill>
                  <a:schemeClr val="tx1">
                    <a:lumMod val="75000"/>
                    <a:lumOff val="25000"/>
                  </a:schemeClr>
                </a:solidFill>
                <a:latin typeface="Alibaba PuHuiTi" pitchFamily="18" charset="-122"/>
                <a:ea typeface="Alibaba PuHuiTi" pitchFamily="18" charset="-122"/>
                <a:cs typeface="Alibaba PuHuiTi" pitchFamily="18" charset="-122"/>
              </a:rPr>
              <a:t>到其他簇间的距离平均值的 最小值</a:t>
            </a:r>
            <a:endParaRPr lang="zh-CN" altLang="en-US" sz="1200" dirty="0">
              <a:solidFill>
                <a:schemeClr val="tx1">
                  <a:lumMod val="75000"/>
                  <a:lumOff val="2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9982788"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聚类效果评估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代码效果展示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SC</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系数 </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TextBox 3"/>
          <p:cNvSpPr txBox="1"/>
          <p:nvPr/>
        </p:nvSpPr>
        <p:spPr>
          <a:xfrm>
            <a:off x="1134329" y="1346018"/>
            <a:ext cx="8244450" cy="5262245"/>
          </a:xfrm>
          <a:prstGeom prst="rect">
            <a:avLst/>
          </a:prstGeom>
          <a:solidFill>
            <a:srgbClr val="FFFFE4"/>
          </a:solidFill>
          <a:ln w="3175">
            <a:solidFill>
              <a:srgbClr val="91919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4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from </a:t>
            </a:r>
            <a:r>
              <a:rPr kumimoji="0" lang="en-GB" altLang="zh-CN" sz="14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sklearn.cluster</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4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import </a:t>
            </a:r>
            <a:r>
              <a:rPr kumimoji="0" lang="en-GB" altLang="zh-CN" sz="14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KMeans</a:t>
            </a:r>
            <a:b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4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import </a:t>
            </a:r>
            <a:r>
              <a:rPr kumimoji="0" lang="en-GB" altLang="zh-CN" sz="14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matplotlib.pyplot</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4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as </a:t>
            </a:r>
            <a:r>
              <a:rPr kumimoji="0" lang="en-GB" altLang="zh-CN" sz="14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plt</a:t>
            </a:r>
            <a:b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kumimoji="0" lang="en-GB" altLang="zh-CN" sz="14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from </a:t>
            </a:r>
            <a:r>
              <a:rPr kumimoji="0" lang="en-GB" altLang="zh-CN" sz="14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sklearn.datasets</a:t>
            </a:r>
            <a: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t> </a:t>
            </a:r>
            <a:r>
              <a:rPr kumimoji="0" lang="en-GB" altLang="zh-CN" sz="14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rPr>
              <a:t>import </a:t>
            </a:r>
            <a:r>
              <a:rPr kumimoji="0" lang="en-GB" altLang="zh-CN" sz="1400" b="0" i="0" u="none" strike="noStrike" kern="1200" cap="none" spc="0" normalizeH="0" baseline="0" noProof="0" dirty="0" err="1">
                <a:ln>
                  <a:noFill/>
                </a:ln>
                <a:solidFill>
                  <a:prstClr val="black"/>
                </a:solidFill>
                <a:effectLst/>
                <a:uLnTx/>
                <a:uFillTx/>
                <a:latin typeface="Calibri" panose="020F0502020204030204"/>
                <a:ea typeface="黑体" panose="02010609060101010101" pitchFamily="49" charset="-122"/>
                <a:cs typeface="+mn-cs"/>
              </a:rPr>
              <a:t>make_blobs</a:t>
            </a:r>
            <a:br>
              <a:rPr kumimoji="0" lang="en-GB" altLang="zh-CN" sz="1400" b="0" i="0" u="none" strike="noStrike" kern="1200" cap="none" spc="0" normalizeH="0" baseline="0" noProof="0" dirty="0">
                <a:ln>
                  <a:noFill/>
                </a:ln>
                <a:solidFill>
                  <a:prstClr val="black"/>
                </a:solidFill>
                <a:effectLst/>
                <a:uLnTx/>
                <a:uFillTx/>
                <a:latin typeface="Calibri" panose="020F0502020204030204"/>
                <a:ea typeface="黑体" panose="02010609060101010101" pitchFamily="49" charset="-122"/>
                <a:cs typeface="+mn-cs"/>
              </a:rPr>
            </a:br>
            <a:r>
              <a:rPr lang="en-GB" altLang="zh-CN" sz="1400" dirty="0">
                <a:solidFill>
                  <a:srgbClr val="0033B3"/>
                </a:solidFill>
                <a:effectLst/>
              </a:rPr>
              <a:t>from </a:t>
            </a:r>
            <a:r>
              <a:rPr lang="en-GB" altLang="zh-CN" sz="1400" dirty="0" err="1"/>
              <a:t>sklearn.metrics</a:t>
            </a:r>
            <a:r>
              <a:rPr lang="en-GB" altLang="zh-CN" sz="1400" dirty="0"/>
              <a:t> </a:t>
            </a:r>
            <a:r>
              <a:rPr lang="en-GB" altLang="zh-CN" sz="1400" dirty="0">
                <a:solidFill>
                  <a:srgbClr val="0033B3"/>
                </a:solidFill>
                <a:effectLst/>
              </a:rPr>
              <a:t>import </a:t>
            </a:r>
            <a:r>
              <a:rPr lang="en-GB" altLang="zh-CN" sz="1400" dirty="0" err="1"/>
              <a:t>silhouette_score</a:t>
            </a:r>
            <a:endParaRPr lang="en-GB" altLang="zh-CN" sz="1400" dirty="0"/>
          </a:p>
          <a:p>
            <a:pPr marL="0" marR="0" lvl="0" indent="0" algn="l" defTabSz="914400" rtl="0" eaLnBrk="1" fontAlgn="auto" latinLnBrk="0" hangingPunct="1">
              <a:lnSpc>
                <a:spcPct val="100000"/>
              </a:lnSpc>
              <a:spcBef>
                <a:spcPts val="0"/>
              </a:spcBef>
              <a:spcAft>
                <a:spcPts val="0"/>
              </a:spcAft>
              <a:buClrTx/>
              <a:buSzTx/>
              <a:buFontTx/>
              <a:buNone/>
              <a:defRPr/>
            </a:pPr>
            <a:br>
              <a:rPr lang="en-GB" altLang="zh-CN" sz="1400" dirty="0"/>
            </a:br>
            <a:r>
              <a:rPr lang="en-GB" altLang="zh-CN" sz="1400" dirty="0">
                <a:solidFill>
                  <a:srgbClr val="0033B3"/>
                </a:solidFill>
                <a:effectLst/>
              </a:rPr>
              <a:t>def </a:t>
            </a:r>
            <a:r>
              <a:rPr lang="en-GB" altLang="zh-CN" sz="1400" dirty="0">
                <a:solidFill>
                  <a:srgbClr val="00627A"/>
                </a:solidFill>
                <a:effectLst/>
              </a:rPr>
              <a:t>dm02_</a:t>
            </a:r>
            <a:r>
              <a:rPr lang="zh-CN" altLang="en-US" sz="1400" dirty="0">
                <a:solidFill>
                  <a:srgbClr val="00627A"/>
                </a:solidFill>
                <a:effectLst/>
              </a:rPr>
              <a:t>轮廓系数</a:t>
            </a:r>
            <a:r>
              <a:rPr lang="en-GB" altLang="zh-CN" sz="1400" dirty="0">
                <a:solidFill>
                  <a:srgbClr val="00627A"/>
                </a:solidFill>
                <a:effectLst/>
              </a:rPr>
              <a:t>SC</a:t>
            </a:r>
            <a:r>
              <a:rPr lang="en-GB" altLang="zh-CN" sz="1400" dirty="0"/>
              <a:t>():</a:t>
            </a:r>
            <a:br>
              <a:rPr lang="en-GB" altLang="zh-CN" sz="1400" dirty="0"/>
            </a:br>
            <a:r>
              <a:rPr lang="en-GB" altLang="zh-CN" sz="1400" dirty="0"/>
              <a:t>    </a:t>
            </a:r>
            <a:r>
              <a:rPr lang="en-GB" altLang="zh-CN" sz="1400" dirty="0" err="1"/>
              <a:t>tmp_list</a:t>
            </a:r>
            <a:r>
              <a:rPr lang="en-GB" altLang="zh-CN" sz="1400" dirty="0"/>
              <a:t> = []</a:t>
            </a:r>
            <a:br>
              <a:rPr lang="en-GB" altLang="zh-CN" sz="1400" dirty="0"/>
            </a:br>
            <a:r>
              <a:rPr lang="en-GB" altLang="zh-CN" sz="1400" dirty="0"/>
              <a:t>    </a:t>
            </a:r>
            <a:r>
              <a:rPr lang="en-GB" altLang="zh-CN" sz="1400" i="1" dirty="0">
                <a:solidFill>
                  <a:srgbClr val="8C8C8C"/>
                </a:solidFill>
                <a:effectLst/>
              </a:rPr>
              <a:t># </a:t>
            </a:r>
            <a:r>
              <a:rPr lang="zh-CN" altLang="en-US" sz="1400" i="1" dirty="0">
                <a:solidFill>
                  <a:srgbClr val="8C8C8C"/>
                </a:solidFill>
                <a:effectLst/>
              </a:rPr>
              <a:t>产生数据</a:t>
            </a:r>
            <a:r>
              <a:rPr lang="en-GB" altLang="zh-CN" sz="1400" i="1" dirty="0" err="1">
                <a:solidFill>
                  <a:srgbClr val="8C8C8C"/>
                </a:solidFill>
                <a:effectLst/>
              </a:rPr>
              <a:t>random_state</a:t>
            </a:r>
            <a:r>
              <a:rPr lang="en-GB" altLang="zh-CN" sz="1400" i="1" dirty="0">
                <a:solidFill>
                  <a:srgbClr val="8C8C8C"/>
                </a:solidFill>
                <a:effectLst/>
              </a:rPr>
              <a:t>=22</a:t>
            </a:r>
            <a:r>
              <a:rPr lang="zh-CN" altLang="en-US" sz="1400" i="1" dirty="0">
                <a:solidFill>
                  <a:srgbClr val="8C8C8C"/>
                </a:solidFill>
                <a:effectLst/>
              </a:rPr>
              <a:t>固定好</a:t>
            </a:r>
            <a:br>
              <a:rPr lang="zh-CN" altLang="en-US" sz="1400" i="1" dirty="0">
                <a:solidFill>
                  <a:srgbClr val="8C8C8C"/>
                </a:solidFill>
                <a:effectLst/>
              </a:rPr>
            </a:br>
            <a:r>
              <a:rPr lang="zh-CN" altLang="en-US" sz="1400" i="1" dirty="0">
                <a:solidFill>
                  <a:srgbClr val="8C8C8C"/>
                </a:solidFill>
                <a:effectLst/>
              </a:rPr>
              <a:t>    </a:t>
            </a:r>
            <a:r>
              <a:rPr lang="en-GB" altLang="zh-CN" sz="1400" dirty="0"/>
              <a:t>x, y = </a:t>
            </a:r>
            <a:r>
              <a:rPr lang="en-GB" altLang="zh-CN" sz="1400" dirty="0" err="1"/>
              <a:t>make_blobs</a:t>
            </a:r>
            <a:r>
              <a:rPr lang="en-GB" altLang="zh-CN" sz="1400" dirty="0"/>
              <a:t>(</a:t>
            </a:r>
            <a:r>
              <a:rPr lang="en-GB" altLang="zh-CN" sz="1400" dirty="0" err="1">
                <a:solidFill>
                  <a:srgbClr val="660099"/>
                </a:solidFill>
                <a:effectLst/>
              </a:rPr>
              <a:t>n_samples</a:t>
            </a:r>
            <a:r>
              <a:rPr lang="en-GB" altLang="zh-CN" sz="1400" dirty="0"/>
              <a:t>=</a:t>
            </a:r>
            <a:r>
              <a:rPr lang="en-GB" altLang="zh-CN" sz="1400" dirty="0">
                <a:solidFill>
                  <a:srgbClr val="1750EB"/>
                </a:solidFill>
                <a:effectLst/>
              </a:rPr>
              <a:t>1000</a:t>
            </a:r>
            <a:r>
              <a:rPr lang="en-GB" altLang="zh-CN" sz="1400" dirty="0"/>
              <a:t>, </a:t>
            </a:r>
            <a:r>
              <a:rPr lang="en-GB" altLang="zh-CN" sz="1400" dirty="0" err="1">
                <a:solidFill>
                  <a:srgbClr val="660099"/>
                </a:solidFill>
                <a:effectLst/>
              </a:rPr>
              <a:t>n_features</a:t>
            </a:r>
            <a:r>
              <a:rPr lang="en-GB" altLang="zh-CN" sz="1400" dirty="0"/>
              <a:t>=</a:t>
            </a:r>
            <a:r>
              <a:rPr lang="en-GB" altLang="zh-CN" sz="1400" dirty="0">
                <a:solidFill>
                  <a:srgbClr val="1750EB"/>
                </a:solidFill>
                <a:effectLst/>
              </a:rPr>
              <a:t>2</a:t>
            </a:r>
            <a:r>
              <a:rPr lang="en-GB" altLang="zh-CN" sz="1400" dirty="0"/>
              <a:t>, </a:t>
            </a:r>
            <a:r>
              <a:rPr lang="en-GB" altLang="zh-CN" sz="1400" dirty="0">
                <a:solidFill>
                  <a:srgbClr val="660099"/>
                </a:solidFill>
                <a:effectLst/>
              </a:rPr>
              <a:t>centers</a:t>
            </a:r>
            <a:r>
              <a:rPr lang="en-GB" altLang="zh-CN" sz="1400" dirty="0"/>
              <a:t>=[[-</a:t>
            </a:r>
            <a:r>
              <a:rPr lang="en-GB" altLang="zh-CN" sz="1400" dirty="0">
                <a:solidFill>
                  <a:srgbClr val="1750EB"/>
                </a:solidFill>
                <a:effectLst/>
              </a:rPr>
              <a:t>1</a:t>
            </a:r>
            <a:r>
              <a:rPr lang="en-GB" altLang="zh-CN" sz="1400" dirty="0"/>
              <a:t>, -</a:t>
            </a:r>
            <a:r>
              <a:rPr lang="en-GB" altLang="zh-CN" sz="1400" dirty="0">
                <a:solidFill>
                  <a:srgbClr val="1750EB"/>
                </a:solidFill>
                <a:effectLst/>
              </a:rPr>
              <a:t>1</a:t>
            </a:r>
            <a:r>
              <a:rPr lang="en-GB" altLang="zh-CN" sz="1400" dirty="0"/>
              <a:t>], [</a:t>
            </a:r>
            <a:r>
              <a:rPr lang="en-GB" altLang="zh-CN" sz="1400" dirty="0">
                <a:solidFill>
                  <a:srgbClr val="1750EB"/>
                </a:solidFill>
                <a:effectLst/>
              </a:rPr>
              <a:t>0</a:t>
            </a:r>
            <a:r>
              <a:rPr lang="en-GB" altLang="zh-CN" sz="1400" dirty="0"/>
              <a:t>, </a:t>
            </a:r>
            <a:r>
              <a:rPr lang="en-GB" altLang="zh-CN" sz="1400" dirty="0">
                <a:solidFill>
                  <a:srgbClr val="1750EB"/>
                </a:solidFill>
                <a:effectLst/>
              </a:rPr>
              <a:t>0</a:t>
            </a:r>
            <a:r>
              <a:rPr lang="en-GB" altLang="zh-CN" sz="1400" dirty="0"/>
              <a:t>], [</a:t>
            </a:r>
            <a:r>
              <a:rPr lang="en-GB" altLang="zh-CN" sz="1400" dirty="0">
                <a:solidFill>
                  <a:srgbClr val="1750EB"/>
                </a:solidFill>
                <a:effectLst/>
              </a:rPr>
              <a:t>1</a:t>
            </a:r>
            <a:r>
              <a:rPr lang="en-GB" altLang="zh-CN" sz="1400" dirty="0"/>
              <a:t>, </a:t>
            </a:r>
            <a:r>
              <a:rPr lang="en-GB" altLang="zh-CN" sz="1400" dirty="0">
                <a:solidFill>
                  <a:srgbClr val="1750EB"/>
                </a:solidFill>
                <a:effectLst/>
              </a:rPr>
              <a:t>1</a:t>
            </a:r>
            <a:r>
              <a:rPr lang="en-GB" altLang="zh-CN" sz="1400" dirty="0"/>
              <a:t>], [</a:t>
            </a:r>
            <a:r>
              <a:rPr lang="en-GB" altLang="zh-CN" sz="1400" dirty="0">
                <a:solidFill>
                  <a:srgbClr val="1750EB"/>
                </a:solidFill>
                <a:effectLst/>
              </a:rPr>
              <a:t>2</a:t>
            </a:r>
            <a:r>
              <a:rPr lang="en-GB" altLang="zh-CN" sz="1400" dirty="0"/>
              <a:t>, </a:t>
            </a:r>
            <a:r>
              <a:rPr lang="en-GB" altLang="zh-CN" sz="1400" dirty="0">
                <a:solidFill>
                  <a:srgbClr val="1750EB"/>
                </a:solidFill>
                <a:effectLst/>
              </a:rPr>
              <a:t>2</a:t>
            </a:r>
            <a:r>
              <a:rPr lang="en-GB" altLang="zh-CN" sz="1400" dirty="0"/>
              <a:t>]],</a:t>
            </a:r>
            <a:br>
              <a:rPr lang="en-GB" altLang="zh-CN" sz="1400" dirty="0"/>
            </a:br>
            <a:r>
              <a:rPr lang="en-GB" altLang="zh-CN" sz="1400" dirty="0"/>
              <a:t>                      </a:t>
            </a:r>
            <a:r>
              <a:rPr lang="en-GB" altLang="zh-CN" sz="1400" dirty="0" err="1">
                <a:solidFill>
                  <a:srgbClr val="660099"/>
                </a:solidFill>
                <a:effectLst/>
              </a:rPr>
              <a:t>cluster_std</a:t>
            </a:r>
            <a:r>
              <a:rPr lang="en-GB" altLang="zh-CN" sz="1400" dirty="0"/>
              <a:t>=[</a:t>
            </a:r>
            <a:r>
              <a:rPr lang="en-GB" altLang="zh-CN" sz="1400" dirty="0">
                <a:solidFill>
                  <a:srgbClr val="1750EB"/>
                </a:solidFill>
                <a:effectLst/>
              </a:rPr>
              <a:t>0.4</a:t>
            </a:r>
            <a:r>
              <a:rPr lang="en-GB" altLang="zh-CN" sz="1400" dirty="0"/>
              <a:t>, </a:t>
            </a:r>
            <a:r>
              <a:rPr lang="en-GB" altLang="zh-CN" sz="1400" dirty="0">
                <a:solidFill>
                  <a:srgbClr val="1750EB"/>
                </a:solidFill>
                <a:effectLst/>
              </a:rPr>
              <a:t>0.2</a:t>
            </a:r>
            <a:r>
              <a:rPr lang="en-GB" altLang="zh-CN" sz="1400" dirty="0"/>
              <a:t>, </a:t>
            </a:r>
            <a:r>
              <a:rPr lang="en-GB" altLang="zh-CN" sz="1400" dirty="0">
                <a:solidFill>
                  <a:srgbClr val="1750EB"/>
                </a:solidFill>
                <a:effectLst/>
              </a:rPr>
              <a:t>0.2</a:t>
            </a:r>
            <a:r>
              <a:rPr lang="en-GB" altLang="zh-CN" sz="1400" dirty="0"/>
              <a:t>, </a:t>
            </a:r>
            <a:r>
              <a:rPr lang="en-GB" altLang="zh-CN" sz="1400" dirty="0">
                <a:solidFill>
                  <a:srgbClr val="1750EB"/>
                </a:solidFill>
                <a:effectLst/>
              </a:rPr>
              <a:t>0.2</a:t>
            </a:r>
            <a:r>
              <a:rPr lang="en-GB" altLang="zh-CN" sz="1400" dirty="0"/>
              <a:t>], </a:t>
            </a:r>
            <a:r>
              <a:rPr lang="en-GB" altLang="zh-CN" sz="1400" dirty="0" err="1">
                <a:solidFill>
                  <a:srgbClr val="660099"/>
                </a:solidFill>
                <a:effectLst/>
              </a:rPr>
              <a:t>random_state</a:t>
            </a:r>
            <a:r>
              <a:rPr lang="en-GB" altLang="zh-CN" sz="1400" dirty="0"/>
              <a:t>=</a:t>
            </a:r>
            <a:r>
              <a:rPr lang="en-GB" altLang="zh-CN" sz="1400" dirty="0">
                <a:solidFill>
                  <a:srgbClr val="1750EB"/>
                </a:solidFill>
                <a:effectLst/>
              </a:rPr>
              <a:t>22</a:t>
            </a:r>
            <a:r>
              <a:rPr lang="en-GB" altLang="zh-CN" sz="1400" dirty="0"/>
              <a:t>)</a:t>
            </a:r>
            <a:br>
              <a:rPr lang="en-GB" altLang="zh-CN" sz="1400" dirty="0"/>
            </a:br>
            <a:br>
              <a:rPr lang="en-GB" altLang="zh-CN" sz="1400" dirty="0"/>
            </a:br>
            <a:r>
              <a:rPr lang="en-GB" altLang="zh-CN" sz="1400" dirty="0"/>
              <a:t>    </a:t>
            </a:r>
            <a:r>
              <a:rPr lang="en-GB" altLang="zh-CN" sz="1400" dirty="0">
                <a:solidFill>
                  <a:srgbClr val="0033B3"/>
                </a:solidFill>
                <a:effectLst/>
              </a:rPr>
              <a:t>for </a:t>
            </a:r>
            <a:r>
              <a:rPr lang="en-GB" altLang="zh-CN" sz="1400" dirty="0" err="1"/>
              <a:t>clu_num</a:t>
            </a:r>
            <a:r>
              <a:rPr lang="en-GB" altLang="zh-CN" sz="1400" dirty="0"/>
              <a:t> </a:t>
            </a:r>
            <a:r>
              <a:rPr lang="en-GB" altLang="zh-CN" sz="1400" dirty="0">
                <a:solidFill>
                  <a:srgbClr val="0033B3"/>
                </a:solidFill>
                <a:effectLst/>
              </a:rPr>
              <a:t>in </a:t>
            </a:r>
            <a:r>
              <a:rPr lang="en-GB" altLang="zh-CN" sz="1400" dirty="0">
                <a:solidFill>
                  <a:srgbClr val="000080"/>
                </a:solidFill>
                <a:effectLst/>
              </a:rPr>
              <a:t>range</a:t>
            </a:r>
            <a:r>
              <a:rPr lang="en-GB" altLang="zh-CN" sz="1400" dirty="0"/>
              <a:t>(</a:t>
            </a:r>
            <a:r>
              <a:rPr lang="en-GB" altLang="zh-CN" sz="1400" dirty="0">
                <a:solidFill>
                  <a:srgbClr val="1750EB"/>
                </a:solidFill>
                <a:effectLst/>
              </a:rPr>
              <a:t>2</a:t>
            </a:r>
            <a:r>
              <a:rPr lang="en-GB" altLang="zh-CN" sz="1400" dirty="0"/>
              <a:t>, </a:t>
            </a:r>
            <a:r>
              <a:rPr lang="en-GB" altLang="zh-CN" sz="1400" dirty="0">
                <a:solidFill>
                  <a:srgbClr val="1750EB"/>
                </a:solidFill>
                <a:effectLst/>
              </a:rPr>
              <a:t>100</a:t>
            </a:r>
            <a:r>
              <a:rPr lang="en-GB" altLang="zh-CN" sz="1400" dirty="0"/>
              <a:t>):</a:t>
            </a:r>
            <a:br>
              <a:rPr lang="en-GB" altLang="zh-CN" sz="1400" dirty="0"/>
            </a:br>
            <a:r>
              <a:rPr lang="en-GB" altLang="zh-CN" sz="1400" dirty="0"/>
              <a:t>        </a:t>
            </a:r>
            <a:r>
              <a:rPr lang="en-GB" altLang="zh-CN" sz="1400" dirty="0" err="1"/>
              <a:t>my_kmeans</a:t>
            </a:r>
            <a:r>
              <a:rPr lang="en-GB" altLang="zh-CN" sz="1400" dirty="0"/>
              <a:t> = </a:t>
            </a:r>
            <a:r>
              <a:rPr lang="en-GB" altLang="zh-CN" sz="1400" dirty="0" err="1"/>
              <a:t>KMeans</a:t>
            </a:r>
            <a:r>
              <a:rPr lang="en-GB" altLang="zh-CN" sz="1400" dirty="0"/>
              <a:t>(</a:t>
            </a:r>
            <a:r>
              <a:rPr lang="en-GB" altLang="zh-CN" sz="1400" dirty="0" err="1">
                <a:solidFill>
                  <a:srgbClr val="660099"/>
                </a:solidFill>
                <a:effectLst/>
              </a:rPr>
              <a:t>n_clusters</a:t>
            </a:r>
            <a:r>
              <a:rPr lang="en-GB" altLang="zh-CN" sz="1400" dirty="0"/>
              <a:t>=</a:t>
            </a:r>
            <a:r>
              <a:rPr lang="en-GB" altLang="zh-CN" sz="1400" dirty="0" err="1"/>
              <a:t>clu_num</a:t>
            </a:r>
            <a:r>
              <a:rPr lang="en-GB" altLang="zh-CN" sz="1400" dirty="0"/>
              <a:t>, </a:t>
            </a:r>
            <a:r>
              <a:rPr lang="en-GB" altLang="zh-CN" sz="1400" dirty="0" err="1">
                <a:solidFill>
                  <a:srgbClr val="660099"/>
                </a:solidFill>
                <a:effectLst/>
              </a:rPr>
              <a:t>max_iter</a:t>
            </a:r>
            <a:r>
              <a:rPr lang="en-GB" altLang="zh-CN" sz="1400" dirty="0"/>
              <a:t>=</a:t>
            </a:r>
            <a:r>
              <a:rPr lang="en-GB" altLang="zh-CN" sz="1400" dirty="0">
                <a:solidFill>
                  <a:srgbClr val="1750EB"/>
                </a:solidFill>
                <a:effectLst/>
              </a:rPr>
              <a:t>100</a:t>
            </a:r>
            <a:r>
              <a:rPr lang="en-GB" altLang="zh-CN" sz="1400" dirty="0"/>
              <a:t>, </a:t>
            </a:r>
            <a:r>
              <a:rPr lang="en-GB" altLang="zh-CN" sz="1400" dirty="0" err="1">
                <a:solidFill>
                  <a:srgbClr val="660099"/>
                </a:solidFill>
                <a:effectLst/>
              </a:rPr>
              <a:t>random_state</a:t>
            </a:r>
            <a:r>
              <a:rPr lang="en-GB" altLang="zh-CN" sz="1400" dirty="0"/>
              <a:t>=</a:t>
            </a:r>
            <a:r>
              <a:rPr lang="en-GB" altLang="zh-CN" sz="1400" dirty="0">
                <a:solidFill>
                  <a:srgbClr val="1750EB"/>
                </a:solidFill>
                <a:effectLst/>
              </a:rPr>
              <a:t>0</a:t>
            </a:r>
            <a:r>
              <a:rPr lang="en-GB" altLang="zh-CN" sz="1400" dirty="0"/>
              <a:t>)</a:t>
            </a:r>
            <a:br>
              <a:rPr lang="en-GB" altLang="zh-CN" sz="1400" dirty="0"/>
            </a:br>
            <a:r>
              <a:rPr lang="en-GB" altLang="zh-CN" sz="1400" dirty="0"/>
              <a:t>        </a:t>
            </a:r>
            <a:r>
              <a:rPr lang="en-GB" altLang="zh-CN" sz="1400" dirty="0" err="1"/>
              <a:t>my_kmeans.fit</a:t>
            </a:r>
            <a:r>
              <a:rPr lang="en-GB" altLang="zh-CN" sz="1400" dirty="0"/>
              <a:t>(x)</a:t>
            </a:r>
            <a:br>
              <a:rPr lang="en-GB" altLang="zh-CN" sz="1400" dirty="0"/>
            </a:br>
            <a:r>
              <a:rPr lang="en-GB" altLang="zh-CN" sz="1400" dirty="0"/>
              <a:t>        ret = </a:t>
            </a:r>
            <a:r>
              <a:rPr lang="en-GB" altLang="zh-CN" sz="1400" dirty="0" err="1"/>
              <a:t>my_kmeans.predict</a:t>
            </a:r>
            <a:r>
              <a:rPr lang="en-GB" altLang="zh-CN" sz="1400" dirty="0"/>
              <a:t>(x)</a:t>
            </a:r>
            <a:br>
              <a:rPr lang="en-GB" altLang="zh-CN" sz="1400" dirty="0"/>
            </a:br>
            <a:r>
              <a:rPr lang="en-GB" altLang="zh-CN" sz="1400" dirty="0"/>
              <a:t>        </a:t>
            </a:r>
            <a:r>
              <a:rPr lang="en-GB" altLang="zh-CN" sz="1400" dirty="0" err="1"/>
              <a:t>tmp_list.append</a:t>
            </a:r>
            <a:r>
              <a:rPr lang="en-GB" altLang="zh-CN" sz="1400" dirty="0"/>
              <a:t>(</a:t>
            </a:r>
            <a:r>
              <a:rPr lang="en-GB" altLang="zh-CN" sz="1400" dirty="0" err="1"/>
              <a:t>silhouette_score</a:t>
            </a:r>
            <a:r>
              <a:rPr lang="en-GB" altLang="zh-CN" sz="1400" dirty="0"/>
              <a:t>(x, ret))  </a:t>
            </a:r>
            <a:r>
              <a:rPr lang="en-GB" altLang="zh-CN" sz="1400" i="1" dirty="0">
                <a:solidFill>
                  <a:srgbClr val="8C8C8C"/>
                </a:solidFill>
                <a:effectLst/>
              </a:rPr>
              <a:t># </a:t>
            </a:r>
            <a:r>
              <a:rPr lang="en-GB" altLang="zh-CN" sz="1400" i="1" dirty="0" err="1">
                <a:solidFill>
                  <a:srgbClr val="8C8C8C"/>
                </a:solidFill>
                <a:effectLst/>
              </a:rPr>
              <a:t>sc</a:t>
            </a:r>
            <a:br>
              <a:rPr lang="en-GB" altLang="zh-CN" sz="1400" i="1" dirty="0">
                <a:solidFill>
                  <a:srgbClr val="8C8C8C"/>
                </a:solidFill>
                <a:effectLst/>
              </a:rPr>
            </a:br>
            <a:br>
              <a:rPr lang="en-GB" altLang="zh-CN" sz="1400" i="1" dirty="0">
                <a:solidFill>
                  <a:srgbClr val="8C8C8C"/>
                </a:solidFill>
                <a:effectLst/>
              </a:rPr>
            </a:br>
            <a:r>
              <a:rPr lang="en-GB" altLang="zh-CN" sz="1400" i="1" dirty="0">
                <a:solidFill>
                  <a:srgbClr val="8C8C8C"/>
                </a:solidFill>
                <a:effectLst/>
              </a:rPr>
              <a:t>    </a:t>
            </a:r>
            <a:r>
              <a:rPr lang="en-GB" altLang="zh-CN" sz="1400" dirty="0" err="1"/>
              <a:t>plt.figure</a:t>
            </a:r>
            <a:r>
              <a:rPr lang="en-GB" altLang="zh-CN" sz="1400" dirty="0"/>
              <a:t>(</a:t>
            </a:r>
            <a:r>
              <a:rPr lang="en-GB" altLang="zh-CN" sz="1400" dirty="0" err="1">
                <a:solidFill>
                  <a:srgbClr val="660099"/>
                </a:solidFill>
                <a:effectLst/>
              </a:rPr>
              <a:t>figsize</a:t>
            </a:r>
            <a:r>
              <a:rPr lang="en-GB" altLang="zh-CN" sz="1400" dirty="0"/>
              <a:t>=(</a:t>
            </a:r>
            <a:r>
              <a:rPr lang="en-GB" altLang="zh-CN" sz="1400" dirty="0">
                <a:solidFill>
                  <a:srgbClr val="1750EB"/>
                </a:solidFill>
                <a:effectLst/>
              </a:rPr>
              <a:t>18</a:t>
            </a:r>
            <a:r>
              <a:rPr lang="en-GB" altLang="zh-CN" sz="1400" dirty="0"/>
              <a:t>, </a:t>
            </a:r>
            <a:r>
              <a:rPr lang="en-GB" altLang="zh-CN" sz="1400" dirty="0">
                <a:solidFill>
                  <a:srgbClr val="1750EB"/>
                </a:solidFill>
                <a:effectLst/>
              </a:rPr>
              <a:t>8</a:t>
            </a:r>
            <a:r>
              <a:rPr lang="en-GB" altLang="zh-CN" sz="1400" dirty="0"/>
              <a:t>), </a:t>
            </a:r>
            <a:r>
              <a:rPr lang="en-GB" altLang="zh-CN" sz="1400" dirty="0">
                <a:solidFill>
                  <a:srgbClr val="660099"/>
                </a:solidFill>
                <a:effectLst/>
              </a:rPr>
              <a:t>dpi</a:t>
            </a:r>
            <a:r>
              <a:rPr lang="en-GB" altLang="zh-CN" sz="1400" dirty="0"/>
              <a:t>=</a:t>
            </a:r>
            <a:r>
              <a:rPr lang="en-GB" altLang="zh-CN" sz="1400" dirty="0">
                <a:solidFill>
                  <a:srgbClr val="1750EB"/>
                </a:solidFill>
                <a:effectLst/>
              </a:rPr>
              <a:t>100</a:t>
            </a:r>
            <a:r>
              <a:rPr lang="en-GB" altLang="zh-CN" sz="1400" dirty="0"/>
              <a:t>)</a:t>
            </a:r>
            <a:br>
              <a:rPr lang="en-GB" altLang="zh-CN" sz="1400" dirty="0"/>
            </a:br>
            <a:r>
              <a:rPr lang="en-GB" altLang="zh-CN" sz="1400" dirty="0"/>
              <a:t>    </a:t>
            </a:r>
            <a:r>
              <a:rPr lang="en-GB" altLang="zh-CN" sz="1400" dirty="0" err="1"/>
              <a:t>plt.xticks</a:t>
            </a:r>
            <a:r>
              <a:rPr lang="en-GB" altLang="zh-CN" sz="1400" dirty="0"/>
              <a:t>(</a:t>
            </a:r>
            <a:r>
              <a:rPr lang="en-GB" altLang="zh-CN" sz="1400" dirty="0">
                <a:solidFill>
                  <a:srgbClr val="000080"/>
                </a:solidFill>
                <a:effectLst/>
              </a:rPr>
              <a:t>range</a:t>
            </a:r>
            <a:r>
              <a:rPr lang="en-GB" altLang="zh-CN" sz="1400" dirty="0"/>
              <a:t>(</a:t>
            </a:r>
            <a:r>
              <a:rPr lang="en-GB" altLang="zh-CN" sz="1400" dirty="0">
                <a:solidFill>
                  <a:srgbClr val="1750EB"/>
                </a:solidFill>
                <a:effectLst/>
              </a:rPr>
              <a:t>0</a:t>
            </a:r>
            <a:r>
              <a:rPr lang="en-GB" altLang="zh-CN" sz="1400" dirty="0"/>
              <a:t>, </a:t>
            </a:r>
            <a:r>
              <a:rPr lang="en-GB" altLang="zh-CN" sz="1400" dirty="0">
                <a:solidFill>
                  <a:srgbClr val="1750EB"/>
                </a:solidFill>
                <a:effectLst/>
              </a:rPr>
              <a:t>100</a:t>
            </a:r>
            <a:r>
              <a:rPr lang="en-GB" altLang="zh-CN" sz="1400" dirty="0"/>
              <a:t>, </a:t>
            </a:r>
            <a:r>
              <a:rPr lang="en-GB" altLang="zh-CN" sz="1400" dirty="0">
                <a:solidFill>
                  <a:srgbClr val="1750EB"/>
                </a:solidFill>
                <a:effectLst/>
              </a:rPr>
              <a:t>3</a:t>
            </a:r>
            <a:r>
              <a:rPr lang="en-GB" altLang="zh-CN" sz="1400" dirty="0"/>
              <a:t>), </a:t>
            </a:r>
            <a:r>
              <a:rPr lang="en-GB" altLang="zh-CN" sz="1400" dirty="0">
                <a:solidFill>
                  <a:srgbClr val="660099"/>
                </a:solidFill>
                <a:effectLst/>
              </a:rPr>
              <a:t>labels</a:t>
            </a:r>
            <a:r>
              <a:rPr lang="en-GB" altLang="zh-CN" sz="1400" dirty="0"/>
              <a:t>=</a:t>
            </a:r>
            <a:r>
              <a:rPr lang="en-GB" altLang="zh-CN" sz="1400" dirty="0">
                <a:solidFill>
                  <a:srgbClr val="000080"/>
                </a:solidFill>
                <a:effectLst/>
              </a:rPr>
              <a:t>range</a:t>
            </a:r>
            <a:r>
              <a:rPr lang="en-GB" altLang="zh-CN" sz="1400" dirty="0"/>
              <a:t>(</a:t>
            </a:r>
            <a:r>
              <a:rPr lang="en-GB" altLang="zh-CN" sz="1400" dirty="0">
                <a:solidFill>
                  <a:srgbClr val="1750EB"/>
                </a:solidFill>
                <a:effectLst/>
              </a:rPr>
              <a:t>0</a:t>
            </a:r>
            <a:r>
              <a:rPr lang="en-GB" altLang="zh-CN" sz="1400" dirty="0"/>
              <a:t>, </a:t>
            </a:r>
            <a:r>
              <a:rPr lang="en-GB" altLang="zh-CN" sz="1400" dirty="0">
                <a:solidFill>
                  <a:srgbClr val="1750EB"/>
                </a:solidFill>
                <a:effectLst/>
              </a:rPr>
              <a:t>100</a:t>
            </a:r>
            <a:r>
              <a:rPr lang="en-GB" altLang="zh-CN" sz="1400" dirty="0"/>
              <a:t>, </a:t>
            </a:r>
            <a:r>
              <a:rPr lang="en-GB" altLang="zh-CN" sz="1400" dirty="0">
                <a:solidFill>
                  <a:srgbClr val="1750EB"/>
                </a:solidFill>
                <a:effectLst/>
              </a:rPr>
              <a:t>3</a:t>
            </a:r>
            <a:r>
              <a:rPr lang="en-GB" altLang="zh-CN" sz="1400" dirty="0"/>
              <a:t>))</a:t>
            </a:r>
            <a:br>
              <a:rPr lang="en-GB" altLang="zh-CN" sz="1400" dirty="0"/>
            </a:br>
            <a:r>
              <a:rPr lang="en-GB" altLang="zh-CN" sz="1400" dirty="0"/>
              <a:t>    </a:t>
            </a:r>
            <a:r>
              <a:rPr lang="en-GB" altLang="zh-CN" sz="1400" dirty="0" err="1"/>
              <a:t>plt.grid</a:t>
            </a:r>
            <a:r>
              <a:rPr lang="en-GB" altLang="zh-CN" sz="1400" dirty="0"/>
              <a:t>()</a:t>
            </a:r>
            <a:br>
              <a:rPr lang="en-GB" altLang="zh-CN" sz="1400" dirty="0"/>
            </a:br>
            <a:r>
              <a:rPr lang="en-GB" altLang="zh-CN" sz="1400" dirty="0"/>
              <a:t>    </a:t>
            </a:r>
            <a:r>
              <a:rPr lang="en-GB" altLang="zh-CN" sz="1400" dirty="0" err="1"/>
              <a:t>plt.title</a:t>
            </a:r>
            <a:r>
              <a:rPr lang="en-GB" altLang="zh-CN" sz="1400" dirty="0"/>
              <a:t>(</a:t>
            </a:r>
            <a:r>
              <a:rPr lang="en-GB" altLang="zh-CN" sz="1400" dirty="0">
                <a:solidFill>
                  <a:srgbClr val="067D17"/>
                </a:solidFill>
                <a:effectLst/>
              </a:rPr>
              <a:t>‘</a:t>
            </a:r>
            <a:r>
              <a:rPr lang="en-GB" altLang="zh-CN" sz="1400" dirty="0" err="1">
                <a:solidFill>
                  <a:srgbClr val="067D17"/>
                </a:solidFill>
                <a:effectLst/>
              </a:rPr>
              <a:t>s</a:t>
            </a:r>
            <a:r>
              <a:rPr lang="en-US" altLang="en-GB" sz="1400" dirty="0" err="1">
                <a:solidFill>
                  <a:srgbClr val="067D17"/>
                </a:solidFill>
                <a:effectLst/>
              </a:rPr>
              <a:t>c</a:t>
            </a:r>
            <a:r>
              <a:rPr lang="en-GB" altLang="zh-CN" sz="1400" dirty="0">
                <a:solidFill>
                  <a:srgbClr val="067D17"/>
                </a:solidFill>
                <a:effectLst/>
              </a:rPr>
              <a:t>’</a:t>
            </a:r>
            <a:r>
              <a:rPr lang="en-GB" altLang="zh-CN" sz="1400" dirty="0"/>
              <a:t>)</a:t>
            </a:r>
            <a:br>
              <a:rPr lang="en-GB" altLang="zh-CN" sz="1400" dirty="0"/>
            </a:br>
            <a:r>
              <a:rPr lang="en-GB" altLang="zh-CN" sz="1400" dirty="0"/>
              <a:t>    </a:t>
            </a:r>
            <a:r>
              <a:rPr lang="en-GB" altLang="zh-CN" sz="1400" dirty="0" err="1"/>
              <a:t>plt.plot</a:t>
            </a:r>
            <a:r>
              <a:rPr lang="en-GB" altLang="zh-CN" sz="1400" dirty="0"/>
              <a:t>(</a:t>
            </a:r>
            <a:r>
              <a:rPr lang="en-GB" altLang="zh-CN" sz="1400" dirty="0">
                <a:solidFill>
                  <a:srgbClr val="000080"/>
                </a:solidFill>
                <a:effectLst/>
              </a:rPr>
              <a:t>range</a:t>
            </a:r>
            <a:r>
              <a:rPr lang="en-GB" altLang="zh-CN" sz="1400" dirty="0"/>
              <a:t>(</a:t>
            </a:r>
            <a:r>
              <a:rPr lang="en-GB" altLang="zh-CN" sz="1400" dirty="0">
                <a:solidFill>
                  <a:srgbClr val="1750EB"/>
                </a:solidFill>
                <a:effectLst/>
              </a:rPr>
              <a:t>2</a:t>
            </a:r>
            <a:r>
              <a:rPr lang="en-GB" altLang="zh-CN" sz="1400" dirty="0"/>
              <a:t>, </a:t>
            </a:r>
            <a:r>
              <a:rPr lang="en-GB" altLang="zh-CN" sz="1400" dirty="0">
                <a:solidFill>
                  <a:srgbClr val="1750EB"/>
                </a:solidFill>
                <a:effectLst/>
              </a:rPr>
              <a:t>100</a:t>
            </a:r>
            <a:r>
              <a:rPr lang="en-GB" altLang="zh-CN" sz="1400" dirty="0"/>
              <a:t>), </a:t>
            </a:r>
            <a:r>
              <a:rPr lang="en-GB" altLang="zh-CN" sz="1400" dirty="0" err="1"/>
              <a:t>tmp_list</a:t>
            </a:r>
            <a:r>
              <a:rPr lang="en-GB" altLang="zh-CN" sz="1400" dirty="0"/>
              <a:t>, </a:t>
            </a:r>
            <a:r>
              <a:rPr lang="en-GB" altLang="zh-CN" sz="1400" dirty="0">
                <a:solidFill>
                  <a:srgbClr val="067D17"/>
                </a:solidFill>
                <a:effectLst/>
              </a:rPr>
              <a:t>‘</a:t>
            </a:r>
            <a:r>
              <a:rPr lang="en-GB" altLang="zh-CN" sz="1400" dirty="0" err="1">
                <a:solidFill>
                  <a:srgbClr val="067D17"/>
                </a:solidFill>
                <a:effectLst/>
              </a:rPr>
              <a:t>ob</a:t>
            </a:r>
            <a:r>
              <a:rPr lang="en-GB" altLang="zh-CN" sz="1400" dirty="0">
                <a:solidFill>
                  <a:srgbClr val="067D17"/>
                </a:solidFill>
                <a:effectLst/>
              </a:rPr>
              <a:t>-’</a:t>
            </a:r>
            <a:r>
              <a:rPr lang="en-GB" altLang="zh-CN" sz="1400" dirty="0"/>
              <a:t>)</a:t>
            </a:r>
            <a:br>
              <a:rPr lang="en-GB" altLang="zh-CN" sz="1400" dirty="0"/>
            </a:br>
            <a:r>
              <a:rPr lang="en-GB" altLang="zh-CN" sz="1400" dirty="0"/>
              <a:t>    </a:t>
            </a:r>
            <a:r>
              <a:rPr lang="en-GB" altLang="zh-CN" sz="1400" dirty="0" err="1"/>
              <a:t>plt.show</a:t>
            </a:r>
            <a:r>
              <a:rPr lang="en-GB" altLang="zh-CN" sz="1400" dirty="0"/>
              <a:t>()</a:t>
            </a:r>
            <a:br>
              <a:rPr lang="en-GB" altLang="zh-CN" sz="1400" dirty="0"/>
            </a:br>
            <a:r>
              <a:rPr lang="en-GB" altLang="zh-CN" sz="1400" dirty="0"/>
              <a:t>    </a:t>
            </a:r>
            <a:r>
              <a:rPr lang="en-GB" altLang="zh-CN" sz="1400" i="1" dirty="0">
                <a:solidFill>
                  <a:srgbClr val="8C8C8C"/>
                </a:solidFill>
                <a:effectLst/>
              </a:rPr>
              <a:t># </a:t>
            </a:r>
            <a:r>
              <a:rPr lang="zh-CN" altLang="en-US" sz="1400" i="1" dirty="0">
                <a:solidFill>
                  <a:srgbClr val="8C8C8C"/>
                </a:solidFill>
                <a:effectLst/>
              </a:rPr>
              <a:t>通过图像可观察到 </a:t>
            </a:r>
            <a:r>
              <a:rPr lang="en-GB" altLang="zh-CN" sz="1400" i="1" dirty="0" err="1">
                <a:solidFill>
                  <a:srgbClr val="8C8C8C"/>
                </a:solidFill>
                <a:effectLst/>
              </a:rPr>
              <a:t>n_clusters</a:t>
            </a:r>
            <a:r>
              <a:rPr lang="en-GB" altLang="zh-CN" sz="1400" i="1" dirty="0">
                <a:solidFill>
                  <a:srgbClr val="8C8C8C"/>
                </a:solidFill>
                <a:effectLst/>
              </a:rPr>
              <a:t>=4 </a:t>
            </a:r>
            <a:r>
              <a:rPr lang="zh-CN" altLang="en-GB" sz="1400" i="1" dirty="0">
                <a:solidFill>
                  <a:srgbClr val="8C8C8C"/>
                </a:solidFill>
                <a:effectLst/>
              </a:rPr>
              <a:t>取到</a:t>
            </a:r>
            <a:r>
              <a:rPr lang="zh-CN" altLang="en-US" sz="1400" i="1" dirty="0">
                <a:solidFill>
                  <a:srgbClr val="8C8C8C"/>
                </a:solidFill>
                <a:effectLst/>
              </a:rPr>
              <a:t>最大值</a:t>
            </a:r>
            <a:endParaRPr kumimoji="0" lang="en-GB" altLang="zh-CN" sz="14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9982788"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聚类效果评估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代码效果展示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SC</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系数</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5" name="文本框 4"/>
          <p:cNvSpPr txBox="1"/>
          <p:nvPr/>
        </p:nvSpPr>
        <p:spPr>
          <a:xfrm>
            <a:off x="2869857" y="5980670"/>
            <a:ext cx="6135130"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通过图像可观察到 </a:t>
            </a:r>
            <a:r>
              <a:rPr kumimoji="0" lang="en-GB" altLang="zh-CN" sz="1600" b="0" i="0" u="none" strike="noStrike" kern="1200" cap="none" spc="0" normalizeH="0" baseline="0" noProof="0" dirty="0" err="1">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n_clusters</a:t>
            </a:r>
            <a:r>
              <a:rPr kumimoji="0" lang="en-GB"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=4 </a:t>
            </a:r>
            <a:r>
              <a:rPr lang="zh-CN" altLang="en-GB" sz="1600" dirty="0">
                <a:solidFill>
                  <a:prstClr val="black">
                    <a:lumMod val="85000"/>
                    <a:lumOff val="15000"/>
                  </a:prstClr>
                </a:solidFill>
                <a:latin typeface="Alibaba PuHuiTi" pitchFamily="18" charset="-122"/>
                <a:ea typeface="Alibaba PuHuiTi" pitchFamily="18" charset="-122"/>
                <a:cs typeface="Alibaba PuHuiTi" pitchFamily="18" charset="-122"/>
              </a:rPr>
              <a:t>取到</a:t>
            </a:r>
            <a:r>
              <a:rPr lang="zh-CN" altLang="en-US" sz="1600" dirty="0">
                <a:solidFill>
                  <a:prstClr val="black">
                    <a:lumMod val="85000"/>
                    <a:lumOff val="15000"/>
                  </a:prstClr>
                </a:solidFill>
                <a:latin typeface="Alibaba PuHuiTi" pitchFamily="18" charset="-122"/>
                <a:ea typeface="Alibaba PuHuiTi" pitchFamily="18" charset="-122"/>
                <a:cs typeface="Alibaba PuHuiTi" pitchFamily="18" charset="-122"/>
              </a:rPr>
              <a:t>最大值；</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最佳值</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4</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pic>
        <p:nvPicPr>
          <p:cNvPr id="4" name="图片 3"/>
          <p:cNvPicPr>
            <a:picLocks noChangeAspect="1"/>
          </p:cNvPicPr>
          <p:nvPr/>
        </p:nvPicPr>
        <p:blipFill>
          <a:blip r:embed="rId1"/>
          <a:stretch>
            <a:fillRect/>
          </a:stretch>
        </p:blipFill>
        <p:spPr>
          <a:xfrm>
            <a:off x="1352166" y="1357169"/>
            <a:ext cx="9263161" cy="433929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9982788"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聚类效果评估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CH</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轮廓系数法（</a:t>
            </a:r>
            <a:r>
              <a:rPr kumimoji="1" lang="en-GB" altLang="zh-CN" dirty="0" err="1">
                <a:solidFill>
                  <a:schemeClr val="tx1">
                    <a:lumMod val="85000"/>
                    <a:lumOff val="15000"/>
                  </a:schemeClr>
                </a:solidFill>
                <a:latin typeface="Alibaba PuHuiTi" pitchFamily="18" charset="-122"/>
                <a:ea typeface="Alibaba PuHuiTi" pitchFamily="18" charset="-122"/>
                <a:cs typeface="Alibaba PuHuiTi" pitchFamily="18" charset="-122"/>
              </a:rPr>
              <a:t>Calinski-Harabasz</a:t>
            </a:r>
            <a:r>
              <a:rPr kumimoji="1" lang="en-GB" altLang="zh-CN" dirty="0">
                <a:solidFill>
                  <a:schemeClr val="tx1">
                    <a:lumMod val="85000"/>
                    <a:lumOff val="15000"/>
                  </a:schemeClr>
                </a:solidFill>
                <a:latin typeface="Alibaba PuHuiTi" pitchFamily="18" charset="-122"/>
                <a:ea typeface="Alibaba PuHuiTi" pitchFamily="18" charset="-122"/>
                <a:cs typeface="Alibaba PuHuiTi" pitchFamily="18" charset="-122"/>
              </a:rPr>
              <a:t> Index</a:t>
            </a:r>
            <a:r>
              <a:rPr kumimoji="1" lang="zh-CN" altLang="en-GB" dirty="0">
                <a:solidFill>
                  <a:schemeClr val="tx1">
                    <a:lumMod val="85000"/>
                    <a:lumOff val="15000"/>
                  </a:schemeClr>
                </a:solidFill>
                <a:latin typeface="Alibaba PuHuiTi" pitchFamily="18" charset="-122"/>
                <a:ea typeface="Alibaba PuHuiTi" pitchFamily="18" charset="-122"/>
                <a:cs typeface="Alibaba PuHuiTi" pitchFamily="18" charset="-122"/>
              </a:rPr>
              <a:t>）</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1055798" y="1459687"/>
            <a:ext cx="9185481"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CH </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系数考虑簇内的</a:t>
            </a:r>
            <a:r>
              <a:rPr kumimoji="0" lang="zh-CN" altLang="en-US" sz="16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内聚程度</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、簇外的</a:t>
            </a:r>
            <a:r>
              <a:rPr kumimoji="0" lang="zh-CN" altLang="en-US" sz="16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离散程度</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zh-CN" altLang="en-US" sz="16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质心的个数</a:t>
            </a:r>
            <a:endParaRPr kumimoji="0" lang="en-US" altLang="zh-CN" sz="16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p:sp>
        <p:nvSpPr>
          <p:cNvPr id="2" name="文本占位符 2"/>
          <p:cNvSpPr txBox="1"/>
          <p:nvPr/>
        </p:nvSpPr>
        <p:spPr>
          <a:xfrm>
            <a:off x="1603467" y="1959265"/>
            <a:ext cx="9185481"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lang="zh-CN" altLang="en-US" sz="1400" b="0" i="0" u="none" strike="noStrike" dirty="0">
                <a:solidFill>
                  <a:srgbClr val="333333"/>
                </a:solidFill>
                <a:effectLst/>
                <a:latin typeface="Open Sans" panose="020B0606030504020204" pitchFamily="34" charset="0"/>
              </a:rPr>
              <a:t>类别内部数据的距离平方和越小越好，类别之间的距离平方和越大越好。</a:t>
            </a:r>
            <a:r>
              <a:rPr lang="zh-CN" altLang="en-US" sz="1400" b="0" i="0" u="none" strike="noStrike" dirty="0">
                <a:solidFill>
                  <a:schemeClr val="accent2">
                    <a:lumMod val="75000"/>
                  </a:schemeClr>
                </a:solidFill>
                <a:effectLst/>
                <a:latin typeface="Open Sans" panose="020B0606030504020204" pitchFamily="34" charset="0"/>
              </a:rPr>
              <a:t>聚类的种类数越少越好</a:t>
            </a:r>
            <a:endParaRPr kumimoji="0" lang="en-US" altLang="zh-CN"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p:pic>
        <p:nvPicPr>
          <p:cNvPr id="5" name="图片 4"/>
          <p:cNvPicPr>
            <a:picLocks noChangeAspect="1"/>
          </p:cNvPicPr>
          <p:nvPr/>
        </p:nvPicPr>
        <p:blipFill>
          <a:blip r:embed="rId1"/>
          <a:stretch>
            <a:fillRect/>
          </a:stretch>
        </p:blipFill>
        <p:spPr>
          <a:xfrm>
            <a:off x="2067230" y="2458843"/>
            <a:ext cx="2070100" cy="419100"/>
          </a:xfrm>
          <a:prstGeom prst="rect">
            <a:avLst/>
          </a:prstGeom>
        </p:spPr>
      </p:pic>
      <p:pic>
        <p:nvPicPr>
          <p:cNvPr id="6" name="图片 5"/>
          <p:cNvPicPr>
            <a:picLocks noChangeAspect="1"/>
          </p:cNvPicPr>
          <p:nvPr/>
        </p:nvPicPr>
        <p:blipFill>
          <a:blip r:embed="rId2"/>
          <a:stretch>
            <a:fillRect/>
          </a:stretch>
        </p:blipFill>
        <p:spPr>
          <a:xfrm>
            <a:off x="2017802" y="2956839"/>
            <a:ext cx="2692400" cy="368300"/>
          </a:xfrm>
          <a:prstGeom prst="rect">
            <a:avLst/>
          </a:prstGeom>
        </p:spPr>
      </p:pic>
      <p:pic>
        <p:nvPicPr>
          <p:cNvPr id="8" name="图片 7"/>
          <p:cNvPicPr>
            <a:picLocks noChangeAspect="1"/>
          </p:cNvPicPr>
          <p:nvPr/>
        </p:nvPicPr>
        <p:blipFill>
          <a:blip r:embed="rId3"/>
          <a:stretch>
            <a:fillRect/>
          </a:stretch>
        </p:blipFill>
        <p:spPr>
          <a:xfrm>
            <a:off x="2067544" y="3404035"/>
            <a:ext cx="2717800" cy="406400"/>
          </a:xfrm>
          <a:prstGeom prst="rect">
            <a:avLst/>
          </a:prstGeom>
        </p:spPr>
      </p:pic>
      <p:sp>
        <p:nvSpPr>
          <p:cNvPr id="9" name="文本占位符 2"/>
          <p:cNvSpPr txBox="1"/>
          <p:nvPr/>
        </p:nvSpPr>
        <p:spPr>
          <a:xfrm>
            <a:off x="1595902" y="4050510"/>
            <a:ext cx="4290029"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lang="en-GB" altLang="zh-CN" b="0" i="0" u="none" strike="noStrike" dirty="0">
                <a:solidFill>
                  <a:srgbClr val="333333"/>
                </a:solidFill>
                <a:effectLst/>
                <a:latin typeface="Open Sans" panose="020B0606030504020204" pitchFamily="34" charset="0"/>
              </a:rPr>
              <a:t>SSW </a:t>
            </a:r>
            <a:r>
              <a:rPr lang="zh-CN" altLang="en-US" b="0" i="0" u="none" strike="noStrike" dirty="0">
                <a:solidFill>
                  <a:srgbClr val="333333"/>
                </a:solidFill>
                <a:effectLst/>
                <a:latin typeface="Open Sans" panose="020B0606030504020204" pitchFamily="34" charset="0"/>
              </a:rPr>
              <a:t>的含义：相当于</a:t>
            </a:r>
            <a:r>
              <a:rPr lang="en-US" altLang="zh-CN" b="0" i="0" u="none" strike="noStrike" dirty="0">
                <a:solidFill>
                  <a:srgbClr val="333333"/>
                </a:solidFill>
                <a:effectLst/>
                <a:latin typeface="Open Sans" panose="020B0606030504020204" pitchFamily="34" charset="0"/>
              </a:rPr>
              <a:t>SSE</a:t>
            </a:r>
            <a:r>
              <a:rPr lang="zh-CN" altLang="en-US" b="0" i="0" u="none" strike="noStrike" dirty="0">
                <a:solidFill>
                  <a:srgbClr val="333333"/>
                </a:solidFill>
                <a:effectLst/>
                <a:latin typeface="Open Sans" panose="020B0606030504020204" pitchFamily="34" charset="0"/>
              </a:rPr>
              <a:t>，</a:t>
            </a:r>
            <a:r>
              <a:rPr lang="zh-CN" altLang="en-US" b="0" i="0" u="none" strike="noStrike" dirty="0">
                <a:solidFill>
                  <a:schemeClr val="accent2">
                    <a:lumMod val="75000"/>
                  </a:schemeClr>
                </a:solidFill>
                <a:effectLst/>
                <a:latin typeface="Open Sans" panose="020B0606030504020204" pitchFamily="34" charset="0"/>
              </a:rPr>
              <a:t>簇内距离</a:t>
            </a:r>
            <a:endParaRPr kumimoji="0" lang="en-US" altLang="zh-CN" sz="16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mc:AlternateContent xmlns:mc="http://schemas.openxmlformats.org/markup-compatibility/2006">
        <mc:Choice xmlns:a14="http://schemas.microsoft.com/office/drawing/2010/main" Requires="a14">
          <p:sp>
            <p:nvSpPr>
              <p:cNvPr id="10" name="文本占位符 2"/>
              <p:cNvSpPr txBox="1"/>
              <p:nvPr/>
            </p:nvSpPr>
            <p:spPr>
              <a:xfrm>
                <a:off x="1978185" y="4469610"/>
                <a:ext cx="3691095" cy="208488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14:m>
                  <m:oMath xmlns:m="http://schemas.openxmlformats.org/officeDocument/2006/math">
                    <m:sSub>
                      <m:sSubPr>
                        <m:ctrlPr>
                          <a:rPr kumimoji="0" lang="en-US" altLang="zh-CN" sz="1400" b="0" i="1" u="none" strike="noStrike" kern="1200" cap="none" spc="0" normalizeH="0" baseline="0" noProof="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ctrlPr>
                      </m:sSubPr>
                      <m:e>
                        <m:r>
                          <m:rPr>
                            <m:sty m:val="p"/>
                          </m:rPr>
                          <a:rPr lang="en-US"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C</m:t>
                        </m:r>
                      </m:e>
                      <m:sub>
                        <m:r>
                          <m:rPr>
                            <m:sty m:val="p"/>
                          </m:rPr>
                          <a:rPr lang="en-US"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pi</m:t>
                        </m:r>
                      </m:sub>
                    </m:sSub>
                  </m:oMath>
                </a14:m>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表示质心</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285750" indent="-285750">
                  <a:buFont typeface="Arial" panose="020B0604020202020204" pitchFamily="34" charset="0"/>
                  <a:buChar char="•"/>
                  <a:defRPr/>
                </a:pPr>
                <a14:m>
                  <m:oMath xmlns:m="http://schemas.openxmlformats.org/officeDocument/2006/math">
                    <m:sSub>
                      <m:sSubPr>
                        <m:ctrlPr>
                          <a:rPr kumimoji="0" lang="en-US" altLang="zh-CN" sz="1400" b="0" i="1" u="none" strike="noStrike" kern="1200" cap="none" spc="0" normalizeH="0" baseline="0" noProof="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ctrlPr>
                      </m:sSubPr>
                      <m:e>
                        <m:r>
                          <m:rPr>
                            <m:sty m:val="p"/>
                          </m:rPr>
                          <a:rPr lang="en-US"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x</m:t>
                        </m:r>
                      </m:e>
                      <m:sub>
                        <m:r>
                          <m:rPr>
                            <m:sty m:val="p"/>
                          </m:rPr>
                          <a:rPr lang="en-US"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i</m:t>
                        </m:r>
                      </m:sub>
                    </m:sSub>
                  </m:oMath>
                </a14:m>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表示某个样本</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285750" indent="-285750">
                  <a:buFont typeface="Arial" panose="020B0604020202020204" pitchFamily="34" charset="0"/>
                  <a:buChar char="•"/>
                  <a:defRPr/>
                </a:pP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SSW </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值是计算每个样本点到质心的距离，并累加起来</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285750" indent="-285750">
                  <a:buFont typeface="Arial" panose="020B0604020202020204" pitchFamily="34" charset="0"/>
                  <a:buChar char="•"/>
                  <a:defRPr/>
                </a:pP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SSW </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表示表示</a:t>
                </a:r>
                <a:r>
                  <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簇内的内聚程度，越小越好</a:t>
                </a:r>
                <a:endParaRPr kumimoji="0" lang="zh-CN" altLang="en-US" sz="14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a:p>
                <a:pPr marL="285750" indent="-285750">
                  <a:buFont typeface="Arial" panose="020B0604020202020204" pitchFamily="34" charset="0"/>
                  <a:buChar char="•"/>
                  <a:defRPr/>
                </a:pP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mc:Choice>
        <mc:Fallback>
          <p:sp>
            <p:nvSpPr>
              <p:cNvPr id="10" name="文本占位符 2"/>
              <p:cNvSpPr txBox="1">
                <a:spLocks noRot="1" noChangeAspect="1" noMove="1" noResize="1" noEditPoints="1" noAdjustHandles="1" noChangeArrowheads="1" noChangeShapeType="1" noTextEdit="1"/>
              </p:cNvSpPr>
              <p:nvPr/>
            </p:nvSpPr>
            <p:spPr>
              <a:xfrm>
                <a:off x="1978185" y="4469610"/>
                <a:ext cx="3691095" cy="2084880"/>
              </a:xfrm>
              <a:prstGeom prst="rect">
                <a:avLst/>
              </a:prstGeom>
              <a:blipFill rotWithShape="1">
                <a:blip r:embed="rId4"/>
                <a:stretch>
                  <a:fillRect l="-4" t="-23" b="-2740"/>
                </a:stretch>
              </a:blipFill>
            </p:spPr>
            <p:txBody>
              <a:bodyPr/>
              <a:lstStyle/>
              <a:p>
                <a:r>
                  <a:rPr lang="zh-CN" altLang="en-US">
                    <a:noFill/>
                  </a:rPr>
                  <a:t> </a:t>
                </a:r>
              </a:p>
            </p:txBody>
          </p:sp>
        </mc:Fallback>
      </mc:AlternateContent>
      <p:sp>
        <p:nvSpPr>
          <p:cNvPr id="11" name="文本占位符 2"/>
          <p:cNvSpPr txBox="1"/>
          <p:nvPr/>
        </p:nvSpPr>
        <p:spPr>
          <a:xfrm>
            <a:off x="6826518" y="4050510"/>
            <a:ext cx="4072141" cy="49957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lang="en-GB" altLang="zh-CN" b="0" i="0" u="none" strike="noStrike" dirty="0">
                <a:solidFill>
                  <a:srgbClr val="333333"/>
                </a:solidFill>
                <a:effectLst/>
                <a:latin typeface="Open Sans" panose="020B0606030504020204" pitchFamily="34" charset="0"/>
              </a:rPr>
              <a:t>SSB </a:t>
            </a:r>
            <a:r>
              <a:rPr lang="zh-CN" altLang="en-US" b="0" i="0" u="none" strike="noStrike" dirty="0">
                <a:solidFill>
                  <a:srgbClr val="333333"/>
                </a:solidFill>
                <a:effectLst/>
                <a:latin typeface="Open Sans" panose="020B0606030504020204" pitchFamily="34" charset="0"/>
              </a:rPr>
              <a:t>的含义：</a:t>
            </a:r>
            <a:r>
              <a:rPr lang="zh-CN" altLang="en-US" b="0" i="0" u="none" strike="noStrike" dirty="0">
                <a:solidFill>
                  <a:schemeClr val="accent2">
                    <a:lumMod val="75000"/>
                  </a:schemeClr>
                </a:solidFill>
                <a:effectLst/>
                <a:latin typeface="Open Sans" panose="020B0606030504020204" pitchFamily="34" charset="0"/>
              </a:rPr>
              <a:t>簇间距离</a:t>
            </a:r>
            <a:endParaRPr kumimoji="0" lang="en-US" altLang="zh-CN" sz="16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endParaRPr>
          </a:p>
        </p:txBody>
      </p:sp>
      <p:sp>
        <p:nvSpPr>
          <p:cNvPr id="12" name="文本占位符 2"/>
          <p:cNvSpPr txBox="1"/>
          <p:nvPr/>
        </p:nvSpPr>
        <p:spPr>
          <a:xfrm>
            <a:off x="7006193" y="4566493"/>
            <a:ext cx="4732614" cy="162479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mc:AlternateContent xmlns:mc="http://schemas.openxmlformats.org/markup-compatibility/2006">
        <mc:Choice xmlns:a14="http://schemas.microsoft.com/office/drawing/2010/main" Requires="a14">
          <p:sp>
            <p:nvSpPr>
              <p:cNvPr id="13" name="文本占位符 2"/>
              <p:cNvSpPr txBox="1"/>
              <p:nvPr/>
            </p:nvSpPr>
            <p:spPr>
              <a:xfrm>
                <a:off x="6826519" y="4487850"/>
                <a:ext cx="3511863" cy="208488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14:m>
                  <m:oMath xmlns:m="http://schemas.openxmlformats.org/officeDocument/2006/math">
                    <m:sSub>
                      <m:sSubPr>
                        <m:ctrlPr>
                          <a:rPr kumimoji="0" lang="en-US" altLang="zh-CN" sz="1400" b="0" i="1" u="none" strike="noStrike" kern="1200" cap="none" spc="0" normalizeH="0" baseline="0" noProof="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ctrlPr>
                      </m:sSubPr>
                      <m:e>
                        <m:r>
                          <m:rPr>
                            <m:sty m:val="p"/>
                          </m:rPr>
                          <a:rPr lang="en-US"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C</m:t>
                        </m:r>
                      </m:e>
                      <m:sub>
                        <m:r>
                          <m:rPr>
                            <m:sty m:val="p"/>
                          </m:rPr>
                          <a:rPr lang="en-US"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j</m:t>
                        </m:r>
                      </m:sub>
                    </m:sSub>
                  </m:oMath>
                </a14:m>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表示质心，</a:t>
                </a:r>
                <a14:m>
                  <m:oMath xmlns:m="http://schemas.openxmlformats.org/officeDocument/2006/math">
                    <m:acc>
                      <m:accPr>
                        <m:chr m:val="̅"/>
                        <m:ctrlPr>
                          <a:rPr kumimoji="0" lang="en-US" altLang="zh-CN" sz="1400" b="0" i="1" u="none" strike="noStrike" kern="1200" cap="none" spc="0" normalizeH="0" baseline="0" noProof="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ctrlPr>
                      </m:accPr>
                      <m:e>
                        <m:r>
                          <m:rPr>
                            <m:sty m:val="p"/>
                          </m:rPr>
                          <a:rPr lang="en-US"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X</m:t>
                        </m:r>
                      </m:e>
                    </m:acc>
                  </m:oMath>
                </a14:m>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表示质</a:t>
                </a:r>
                <a:r>
                  <a:rPr kumimoji="0" lang="zh-CN" altLang="en-US" sz="1400" b="0" i="0" u="none" strike="noStrike" kern="1200" cap="none" spc="0" normalizeH="0" baseline="0" noProof="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心</a:t>
                </a:r>
                <a:r>
                  <a:rPr lang="zh-CN" altLang="en-US" sz="1400" noProof="0">
                    <a:solidFill>
                      <a:prstClr val="black">
                        <a:lumMod val="85000"/>
                        <a:lumOff val="15000"/>
                      </a:prstClr>
                    </a:solidFill>
                    <a:latin typeface="Alibaba PuHuiTi" pitchFamily="18" charset="-122"/>
                    <a:ea typeface="Alibaba PuHuiTi" pitchFamily="18" charset="-122"/>
                    <a:cs typeface="Alibaba PuHuiTi" pitchFamily="18" charset="-122"/>
                  </a:rPr>
                  <a:t>的均值</a:t>
                </a:r>
                <a:r>
                  <a:rPr kumimoji="0" lang="zh-CN" altLang="en-US" sz="1400" b="0" i="0" u="none" strike="noStrike" kern="1200" cap="none" spc="0" normalizeH="0" baseline="0" noProof="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14:m>
                  <m:oMath xmlns:m="http://schemas.openxmlformats.org/officeDocument/2006/math">
                    <m:sSub>
                      <m:sSubPr>
                        <m:ctrlPr>
                          <a:rPr kumimoji="0" lang="en-US" altLang="zh-CN" sz="1400" b="0" i="1" u="none" strike="noStrike" kern="1200" cap="none" spc="0" normalizeH="0" baseline="0" noProof="0" smtClean="0">
                            <a:ln>
                              <a:noFill/>
                            </a:ln>
                            <a:solidFill>
                              <a:prstClr val="black">
                                <a:lumMod val="85000"/>
                                <a:lumOff val="15000"/>
                              </a:prstClr>
                            </a:solidFill>
                            <a:effectLst/>
                            <a:uLnTx/>
                            <a:uFillTx/>
                            <a:latin typeface="Cambria Math" panose="02040503050406030204" pitchFamily="18" charset="0"/>
                            <a:ea typeface="Alibaba PuHuiTi" pitchFamily="18" charset="-122"/>
                            <a:cs typeface="Alibaba PuHuiTi" pitchFamily="18" charset="-122"/>
                          </a:rPr>
                        </m:ctrlPr>
                      </m:sSubPr>
                      <m:e>
                        <m:r>
                          <m:rPr>
                            <m:sty m:val="p"/>
                          </m:rPr>
                          <a:rPr lang="en-US"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n</m:t>
                        </m:r>
                      </m:e>
                      <m:sub>
                        <m:r>
                          <m:rPr>
                            <m:sty m:val="p"/>
                          </m:rPr>
                          <a:rPr lang="en-US" altLang="zh-CN" sz="1400" i="1">
                            <a:solidFill>
                              <a:prstClr val="black">
                                <a:lumMod val="85000"/>
                                <a:lumOff val="15000"/>
                              </a:prstClr>
                            </a:solidFill>
                            <a:latin typeface="Cambria Math" panose="02040503050406030204" pitchFamily="18" charset="0"/>
                            <a:ea typeface="Alibaba PuHuiTi" pitchFamily="18" charset="-122"/>
                            <a:cs typeface="Alibaba PuHuiTi" pitchFamily="18" charset="-122"/>
                          </a:rPr>
                          <m:t>j</m:t>
                        </m:r>
                      </m:sub>
                    </m:sSub>
                  </m:oMath>
                </a14:m>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表示样本的个数</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285750" indent="-285750">
                  <a:buFont typeface="Arial" panose="020B0604020202020204" pitchFamily="34" charset="0"/>
                  <a:buChar char="•"/>
                  <a:defRPr/>
                </a:pP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SSB </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表示簇与簇之间的分离程度，</a:t>
                </a:r>
                <a:r>
                  <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SSB </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越大越好</a:t>
                </a: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285750" indent="-285750">
                  <a:buFont typeface="Arial" panose="020B0604020202020204" pitchFamily="34" charset="0"/>
                  <a:buChar char="•"/>
                  <a:defRPr/>
                </a:pPr>
                <a:r>
                  <a:rPr kumimoji="0" lang="en-GB"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m </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表示样本数量</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285750" indent="-285750">
                  <a:buFont typeface="Arial" panose="020B0604020202020204" pitchFamily="34" charset="0"/>
                  <a:buChar char="•"/>
                  <a:defRPr/>
                </a:pPr>
                <a:r>
                  <a:rPr kumimoji="0" lang="en-GB"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k </a:t>
                </a:r>
                <a:r>
                  <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表示质心个数</a:t>
                </a: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285750" indent="-285750">
                  <a:buFont typeface="Arial" panose="020B0604020202020204" pitchFamily="34" charset="0"/>
                  <a:buChar char="•"/>
                  <a:defRPr/>
                </a:pPr>
                <a:endParaRPr kumimoji="0" lang="zh-CN" altLang="en-US"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a:p>
                <a:pPr marL="285750" indent="-285750">
                  <a:buFont typeface="Arial" panose="020B0604020202020204" pitchFamily="34" charset="0"/>
                  <a:buChar char="•"/>
                  <a:defRPr/>
                </a:pPr>
                <a:endParaRPr kumimoji="0" lang="en-US" altLang="zh-CN" sz="14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mc:Choice>
        <mc:Fallback>
          <p:sp>
            <p:nvSpPr>
              <p:cNvPr id="13" name="文本占位符 2"/>
              <p:cNvSpPr txBox="1">
                <a:spLocks noRot="1" noChangeAspect="1" noMove="1" noResize="1" noEditPoints="1" noAdjustHandles="1" noChangeArrowheads="1" noChangeShapeType="1" noTextEdit="1"/>
              </p:cNvSpPr>
              <p:nvPr/>
            </p:nvSpPr>
            <p:spPr>
              <a:xfrm>
                <a:off x="6826519" y="4487850"/>
                <a:ext cx="3511863" cy="2084880"/>
              </a:xfrm>
              <a:prstGeom prst="rect">
                <a:avLst/>
              </a:prstGeom>
              <a:blipFill rotWithShape="1">
                <a:blip r:embed="rId5"/>
                <a:stretch>
                  <a:fillRect l="-8" t="-15" r="17" b="-37196"/>
                </a:stretch>
              </a:blipFill>
            </p:spPr>
            <p:txBody>
              <a:bodyPr/>
              <a:lstStyle/>
              <a:p>
                <a:r>
                  <a:rPr lang="zh-CN" altLang="en-US">
                    <a:noFill/>
                  </a:rPr>
                  <a:t> </a:t>
                </a:r>
              </a:p>
            </p:txBody>
          </p:sp>
        </mc:Fallback>
      </mc:AlternateContent>
      <p:pic>
        <p:nvPicPr>
          <p:cNvPr id="7" name="图片 6"/>
          <p:cNvPicPr>
            <a:picLocks noChangeAspect="1"/>
          </p:cNvPicPr>
          <p:nvPr/>
        </p:nvPicPr>
        <p:blipFill>
          <a:blip r:embed="rId6"/>
          <a:stretch>
            <a:fillRect/>
          </a:stretch>
        </p:blipFill>
        <p:spPr>
          <a:xfrm>
            <a:off x="7406640" y="2494915"/>
            <a:ext cx="1605280" cy="6381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9982788"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聚类效果评估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代码效果展示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CH</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系数</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TextBox 3"/>
          <p:cNvSpPr txBox="1"/>
          <p:nvPr/>
        </p:nvSpPr>
        <p:spPr>
          <a:xfrm>
            <a:off x="1134329" y="1357169"/>
            <a:ext cx="8244450" cy="5262979"/>
          </a:xfrm>
          <a:prstGeom prst="rect">
            <a:avLst/>
          </a:prstGeom>
          <a:solidFill>
            <a:srgbClr val="FFFFE4"/>
          </a:solidFill>
          <a:ln w="3175">
            <a:solidFill>
              <a:srgbClr val="91919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altLang="zh-CN" sz="1400" dirty="0">
                <a:solidFill>
                  <a:srgbClr val="0033B3"/>
                </a:solidFill>
                <a:effectLst/>
              </a:rPr>
              <a:t>from </a:t>
            </a:r>
            <a:r>
              <a:rPr lang="en-GB" altLang="zh-CN" sz="1400" dirty="0" err="1"/>
              <a:t>sklearn.cluster</a:t>
            </a:r>
            <a:r>
              <a:rPr lang="en-GB" altLang="zh-CN" sz="1400" dirty="0"/>
              <a:t> </a:t>
            </a:r>
            <a:r>
              <a:rPr lang="en-GB" altLang="zh-CN" sz="1400" dirty="0">
                <a:solidFill>
                  <a:srgbClr val="0033B3"/>
                </a:solidFill>
                <a:effectLst/>
              </a:rPr>
              <a:t>import </a:t>
            </a:r>
            <a:r>
              <a:rPr lang="en-GB" altLang="zh-CN" sz="1400" dirty="0" err="1"/>
              <a:t>KMeans</a:t>
            </a:r>
            <a:br>
              <a:rPr lang="en-GB" altLang="zh-CN" sz="1400" dirty="0"/>
            </a:br>
            <a:r>
              <a:rPr lang="en-GB" altLang="zh-CN" sz="1400" dirty="0">
                <a:solidFill>
                  <a:srgbClr val="0033B3"/>
                </a:solidFill>
                <a:effectLst/>
              </a:rPr>
              <a:t>import </a:t>
            </a:r>
            <a:r>
              <a:rPr lang="en-GB" altLang="zh-CN" sz="1400" dirty="0" err="1"/>
              <a:t>matplotlib.pyplot</a:t>
            </a:r>
            <a:r>
              <a:rPr lang="en-GB" altLang="zh-CN" sz="1400" dirty="0"/>
              <a:t> </a:t>
            </a:r>
            <a:r>
              <a:rPr lang="en-GB" altLang="zh-CN" sz="1400" dirty="0">
                <a:solidFill>
                  <a:srgbClr val="0033B3"/>
                </a:solidFill>
                <a:effectLst/>
              </a:rPr>
              <a:t>as </a:t>
            </a:r>
            <a:r>
              <a:rPr lang="en-GB" altLang="zh-CN" sz="1400" dirty="0" err="1"/>
              <a:t>plt</a:t>
            </a:r>
            <a:br>
              <a:rPr lang="en-GB" altLang="zh-CN" sz="1400" dirty="0"/>
            </a:br>
            <a:r>
              <a:rPr lang="en-GB" altLang="zh-CN" sz="1400" dirty="0">
                <a:solidFill>
                  <a:srgbClr val="0033B3"/>
                </a:solidFill>
                <a:effectLst/>
              </a:rPr>
              <a:t>from </a:t>
            </a:r>
            <a:r>
              <a:rPr lang="en-GB" altLang="zh-CN" sz="1400" dirty="0" err="1"/>
              <a:t>sklearn.datasets</a:t>
            </a:r>
            <a:r>
              <a:rPr lang="en-GB" altLang="zh-CN" sz="1400" dirty="0"/>
              <a:t> </a:t>
            </a:r>
            <a:r>
              <a:rPr lang="en-GB" altLang="zh-CN" sz="1400" dirty="0">
                <a:solidFill>
                  <a:srgbClr val="0033B3"/>
                </a:solidFill>
                <a:effectLst/>
              </a:rPr>
              <a:t>import </a:t>
            </a:r>
            <a:r>
              <a:rPr lang="en-GB" altLang="zh-CN" sz="1400" dirty="0" err="1"/>
              <a:t>make_blobs</a:t>
            </a:r>
            <a:br>
              <a:rPr lang="en-GB" altLang="zh-CN" sz="1400" dirty="0"/>
            </a:br>
            <a:r>
              <a:rPr lang="en-GB" altLang="zh-CN" sz="1400" dirty="0">
                <a:solidFill>
                  <a:srgbClr val="0033B3"/>
                </a:solidFill>
                <a:effectLst/>
              </a:rPr>
              <a:t>from </a:t>
            </a:r>
            <a:r>
              <a:rPr lang="en-GB" altLang="zh-CN" sz="1400" dirty="0" err="1"/>
              <a:t>sklearn.metrics</a:t>
            </a:r>
            <a:r>
              <a:rPr lang="en-GB" altLang="zh-CN" sz="1400" dirty="0"/>
              <a:t> </a:t>
            </a:r>
            <a:r>
              <a:rPr lang="en-GB" altLang="zh-CN" sz="1400" dirty="0">
                <a:solidFill>
                  <a:srgbClr val="0033B3"/>
                </a:solidFill>
                <a:effectLst/>
              </a:rPr>
              <a:t>import </a:t>
            </a:r>
            <a:r>
              <a:rPr lang="en-GB" altLang="zh-CN" sz="1400" dirty="0" err="1"/>
              <a:t>calinski_harabasz_score</a:t>
            </a:r>
            <a:r>
              <a:rPr lang="en-GB" altLang="zh-CN" sz="1400" dirty="0"/>
              <a:t> </a:t>
            </a:r>
            <a:br>
              <a:rPr lang="en-GB" altLang="zh-CN" sz="1400" dirty="0"/>
            </a:br>
            <a:r>
              <a:rPr lang="en-GB" altLang="zh-CN" sz="1400" dirty="0">
                <a:solidFill>
                  <a:srgbClr val="0033B3"/>
                </a:solidFill>
                <a:effectLst/>
              </a:rPr>
              <a:t>def </a:t>
            </a:r>
            <a:r>
              <a:rPr lang="en-GB" altLang="zh-CN" sz="1400" dirty="0">
                <a:solidFill>
                  <a:srgbClr val="00627A"/>
                </a:solidFill>
                <a:effectLst/>
              </a:rPr>
              <a:t>dm03_ch</a:t>
            </a:r>
            <a:r>
              <a:rPr lang="zh-CN" altLang="en-US" sz="1400" dirty="0">
                <a:solidFill>
                  <a:srgbClr val="00627A"/>
                </a:solidFill>
                <a:effectLst/>
              </a:rPr>
              <a:t>系数</a:t>
            </a:r>
            <a:r>
              <a:rPr lang="en-US" altLang="zh-CN" sz="1400" dirty="0"/>
              <a:t>():</a:t>
            </a:r>
            <a:br>
              <a:rPr lang="en-US" altLang="zh-CN" sz="1400" dirty="0"/>
            </a:br>
            <a:r>
              <a:rPr lang="en-US" altLang="zh-CN" sz="1400" dirty="0"/>
              <a:t>    </a:t>
            </a:r>
            <a:r>
              <a:rPr lang="en-GB" altLang="zh-CN" sz="1400" dirty="0" err="1"/>
              <a:t>tmp_list</a:t>
            </a:r>
            <a:r>
              <a:rPr lang="en-GB" altLang="zh-CN" sz="1400" dirty="0"/>
              <a:t> = []</a:t>
            </a:r>
            <a:br>
              <a:rPr lang="en-GB" altLang="zh-CN" sz="1400" dirty="0"/>
            </a:br>
            <a:br>
              <a:rPr lang="en-GB" altLang="zh-CN" sz="1400" dirty="0"/>
            </a:br>
            <a:r>
              <a:rPr lang="en-GB" altLang="zh-CN" sz="1400" dirty="0"/>
              <a:t>    </a:t>
            </a:r>
            <a:r>
              <a:rPr lang="en-GB" altLang="zh-CN" sz="1400" i="1" dirty="0">
                <a:solidFill>
                  <a:srgbClr val="8C8C8C"/>
                </a:solidFill>
                <a:effectLst/>
              </a:rPr>
              <a:t># </a:t>
            </a:r>
            <a:r>
              <a:rPr lang="zh-CN" altLang="en-US" sz="1400" i="1" dirty="0">
                <a:solidFill>
                  <a:srgbClr val="8C8C8C"/>
                </a:solidFill>
                <a:effectLst/>
              </a:rPr>
              <a:t>产生数据</a:t>
            </a:r>
            <a:r>
              <a:rPr lang="en-GB" altLang="zh-CN" sz="1400" i="1" dirty="0" err="1">
                <a:solidFill>
                  <a:srgbClr val="8C8C8C"/>
                </a:solidFill>
                <a:effectLst/>
              </a:rPr>
              <a:t>random_state</a:t>
            </a:r>
            <a:r>
              <a:rPr lang="en-GB" altLang="zh-CN" sz="1400" i="1" dirty="0">
                <a:solidFill>
                  <a:srgbClr val="8C8C8C"/>
                </a:solidFill>
                <a:effectLst/>
              </a:rPr>
              <a:t>=22</a:t>
            </a:r>
            <a:r>
              <a:rPr lang="zh-CN" altLang="en-US" sz="1400" i="1" dirty="0">
                <a:solidFill>
                  <a:srgbClr val="8C8C8C"/>
                </a:solidFill>
                <a:effectLst/>
              </a:rPr>
              <a:t>固定好</a:t>
            </a:r>
            <a:br>
              <a:rPr lang="zh-CN" altLang="en-US" sz="1400" i="1" dirty="0">
                <a:solidFill>
                  <a:srgbClr val="8C8C8C"/>
                </a:solidFill>
                <a:effectLst/>
              </a:rPr>
            </a:br>
            <a:r>
              <a:rPr lang="zh-CN" altLang="en-US" sz="1400" i="1" dirty="0">
                <a:solidFill>
                  <a:srgbClr val="8C8C8C"/>
                </a:solidFill>
                <a:effectLst/>
              </a:rPr>
              <a:t>    </a:t>
            </a:r>
            <a:r>
              <a:rPr lang="en-GB" altLang="zh-CN" sz="1400" dirty="0"/>
              <a:t>x, y = </a:t>
            </a:r>
            <a:r>
              <a:rPr lang="en-GB" altLang="zh-CN" sz="1400" dirty="0" err="1"/>
              <a:t>make_blobs</a:t>
            </a:r>
            <a:r>
              <a:rPr lang="en-GB" altLang="zh-CN" sz="1400" dirty="0"/>
              <a:t>(</a:t>
            </a:r>
            <a:r>
              <a:rPr lang="en-GB" altLang="zh-CN" sz="1400" dirty="0" err="1">
                <a:solidFill>
                  <a:srgbClr val="660099"/>
                </a:solidFill>
                <a:effectLst/>
              </a:rPr>
              <a:t>n_samples</a:t>
            </a:r>
            <a:r>
              <a:rPr lang="en-GB" altLang="zh-CN" sz="1400" dirty="0"/>
              <a:t>=</a:t>
            </a:r>
            <a:r>
              <a:rPr lang="en-GB" altLang="zh-CN" sz="1400" dirty="0">
                <a:solidFill>
                  <a:srgbClr val="1750EB"/>
                </a:solidFill>
                <a:effectLst/>
              </a:rPr>
              <a:t>1000</a:t>
            </a:r>
            <a:r>
              <a:rPr lang="en-GB" altLang="zh-CN" sz="1400" dirty="0"/>
              <a:t>, </a:t>
            </a:r>
            <a:r>
              <a:rPr lang="en-GB" altLang="zh-CN" sz="1400" dirty="0" err="1">
                <a:solidFill>
                  <a:srgbClr val="660099"/>
                </a:solidFill>
                <a:effectLst/>
              </a:rPr>
              <a:t>n_features</a:t>
            </a:r>
            <a:r>
              <a:rPr lang="en-GB" altLang="zh-CN" sz="1400" dirty="0"/>
              <a:t>=</a:t>
            </a:r>
            <a:r>
              <a:rPr lang="en-GB" altLang="zh-CN" sz="1400" dirty="0">
                <a:solidFill>
                  <a:srgbClr val="1750EB"/>
                </a:solidFill>
                <a:effectLst/>
              </a:rPr>
              <a:t>2</a:t>
            </a:r>
            <a:r>
              <a:rPr lang="en-GB" altLang="zh-CN" sz="1400" dirty="0"/>
              <a:t>, </a:t>
            </a:r>
            <a:r>
              <a:rPr lang="en-GB" altLang="zh-CN" sz="1400" dirty="0">
                <a:solidFill>
                  <a:srgbClr val="660099"/>
                </a:solidFill>
                <a:effectLst/>
              </a:rPr>
              <a:t>centers</a:t>
            </a:r>
            <a:r>
              <a:rPr lang="en-GB" altLang="zh-CN" sz="1400" dirty="0"/>
              <a:t>=[[-</a:t>
            </a:r>
            <a:r>
              <a:rPr lang="en-GB" altLang="zh-CN" sz="1400" dirty="0">
                <a:solidFill>
                  <a:srgbClr val="1750EB"/>
                </a:solidFill>
                <a:effectLst/>
              </a:rPr>
              <a:t>1</a:t>
            </a:r>
            <a:r>
              <a:rPr lang="en-GB" altLang="zh-CN" sz="1400" dirty="0"/>
              <a:t>, -</a:t>
            </a:r>
            <a:r>
              <a:rPr lang="en-GB" altLang="zh-CN" sz="1400" dirty="0">
                <a:solidFill>
                  <a:srgbClr val="1750EB"/>
                </a:solidFill>
                <a:effectLst/>
              </a:rPr>
              <a:t>1</a:t>
            </a:r>
            <a:r>
              <a:rPr lang="en-GB" altLang="zh-CN" sz="1400" dirty="0"/>
              <a:t>], [</a:t>
            </a:r>
            <a:r>
              <a:rPr lang="en-GB" altLang="zh-CN" sz="1400" dirty="0">
                <a:solidFill>
                  <a:srgbClr val="1750EB"/>
                </a:solidFill>
                <a:effectLst/>
              </a:rPr>
              <a:t>0</a:t>
            </a:r>
            <a:r>
              <a:rPr lang="en-GB" altLang="zh-CN" sz="1400" dirty="0"/>
              <a:t>, </a:t>
            </a:r>
            <a:r>
              <a:rPr lang="en-GB" altLang="zh-CN" sz="1400" dirty="0">
                <a:solidFill>
                  <a:srgbClr val="1750EB"/>
                </a:solidFill>
                <a:effectLst/>
              </a:rPr>
              <a:t>0</a:t>
            </a:r>
            <a:r>
              <a:rPr lang="en-GB" altLang="zh-CN" sz="1400" dirty="0"/>
              <a:t>], [</a:t>
            </a:r>
            <a:r>
              <a:rPr lang="en-GB" altLang="zh-CN" sz="1400" dirty="0">
                <a:solidFill>
                  <a:srgbClr val="1750EB"/>
                </a:solidFill>
                <a:effectLst/>
              </a:rPr>
              <a:t>1</a:t>
            </a:r>
            <a:r>
              <a:rPr lang="en-GB" altLang="zh-CN" sz="1400" dirty="0"/>
              <a:t>, </a:t>
            </a:r>
            <a:r>
              <a:rPr lang="en-GB" altLang="zh-CN" sz="1400" dirty="0">
                <a:solidFill>
                  <a:srgbClr val="1750EB"/>
                </a:solidFill>
                <a:effectLst/>
              </a:rPr>
              <a:t>1</a:t>
            </a:r>
            <a:r>
              <a:rPr lang="en-GB" altLang="zh-CN" sz="1400" dirty="0"/>
              <a:t>], [</a:t>
            </a:r>
            <a:r>
              <a:rPr lang="en-GB" altLang="zh-CN" sz="1400" dirty="0">
                <a:solidFill>
                  <a:srgbClr val="1750EB"/>
                </a:solidFill>
                <a:effectLst/>
              </a:rPr>
              <a:t>2</a:t>
            </a:r>
            <a:r>
              <a:rPr lang="en-GB" altLang="zh-CN" sz="1400" dirty="0"/>
              <a:t>, </a:t>
            </a:r>
            <a:r>
              <a:rPr lang="en-GB" altLang="zh-CN" sz="1400" dirty="0">
                <a:solidFill>
                  <a:srgbClr val="1750EB"/>
                </a:solidFill>
                <a:effectLst/>
              </a:rPr>
              <a:t>2</a:t>
            </a:r>
            <a:r>
              <a:rPr lang="en-GB" altLang="zh-CN" sz="1400" dirty="0"/>
              <a:t>]],</a:t>
            </a:r>
            <a:br>
              <a:rPr lang="en-GB" altLang="zh-CN" sz="1400" dirty="0"/>
            </a:br>
            <a:r>
              <a:rPr lang="en-GB" altLang="zh-CN" sz="1400" dirty="0"/>
              <a:t>                      </a:t>
            </a:r>
            <a:r>
              <a:rPr lang="en-GB" altLang="zh-CN" sz="1400" dirty="0" err="1">
                <a:solidFill>
                  <a:srgbClr val="660099"/>
                </a:solidFill>
                <a:effectLst/>
              </a:rPr>
              <a:t>cluster_std</a:t>
            </a:r>
            <a:r>
              <a:rPr lang="en-GB" altLang="zh-CN" sz="1400" dirty="0"/>
              <a:t>=[</a:t>
            </a:r>
            <a:r>
              <a:rPr lang="en-GB" altLang="zh-CN" sz="1400" dirty="0">
                <a:solidFill>
                  <a:srgbClr val="1750EB"/>
                </a:solidFill>
                <a:effectLst/>
              </a:rPr>
              <a:t>0.4</a:t>
            </a:r>
            <a:r>
              <a:rPr lang="en-GB" altLang="zh-CN" sz="1400" dirty="0"/>
              <a:t>, </a:t>
            </a:r>
            <a:r>
              <a:rPr lang="en-GB" altLang="zh-CN" sz="1400" dirty="0">
                <a:solidFill>
                  <a:srgbClr val="1750EB"/>
                </a:solidFill>
                <a:effectLst/>
              </a:rPr>
              <a:t>0.2</a:t>
            </a:r>
            <a:r>
              <a:rPr lang="en-GB" altLang="zh-CN" sz="1400" dirty="0"/>
              <a:t>, </a:t>
            </a:r>
            <a:r>
              <a:rPr lang="en-GB" altLang="zh-CN" sz="1400" dirty="0">
                <a:solidFill>
                  <a:srgbClr val="1750EB"/>
                </a:solidFill>
                <a:effectLst/>
              </a:rPr>
              <a:t>0.2</a:t>
            </a:r>
            <a:r>
              <a:rPr lang="en-GB" altLang="zh-CN" sz="1400" dirty="0"/>
              <a:t>, </a:t>
            </a:r>
            <a:r>
              <a:rPr lang="en-GB" altLang="zh-CN" sz="1400" dirty="0">
                <a:solidFill>
                  <a:srgbClr val="1750EB"/>
                </a:solidFill>
                <a:effectLst/>
              </a:rPr>
              <a:t>0.2</a:t>
            </a:r>
            <a:r>
              <a:rPr lang="en-GB" altLang="zh-CN" sz="1400" dirty="0"/>
              <a:t>], </a:t>
            </a:r>
            <a:r>
              <a:rPr lang="en-GB" altLang="zh-CN" sz="1400" dirty="0" err="1">
                <a:solidFill>
                  <a:srgbClr val="660099"/>
                </a:solidFill>
                <a:effectLst/>
              </a:rPr>
              <a:t>random_state</a:t>
            </a:r>
            <a:r>
              <a:rPr lang="en-GB" altLang="zh-CN" sz="1400" dirty="0"/>
              <a:t>=</a:t>
            </a:r>
            <a:r>
              <a:rPr lang="en-GB" altLang="zh-CN" sz="1400" dirty="0">
                <a:solidFill>
                  <a:srgbClr val="1750EB"/>
                </a:solidFill>
                <a:effectLst/>
              </a:rPr>
              <a:t>22</a:t>
            </a:r>
            <a:r>
              <a:rPr lang="en-GB" altLang="zh-CN" sz="1400" dirty="0"/>
              <a:t>)</a:t>
            </a:r>
            <a:br>
              <a:rPr lang="en-GB" altLang="zh-CN" sz="1400" dirty="0"/>
            </a:br>
            <a:br>
              <a:rPr lang="en-GB" altLang="zh-CN" sz="1400" dirty="0"/>
            </a:br>
            <a:r>
              <a:rPr lang="en-GB" altLang="zh-CN" sz="1400" dirty="0"/>
              <a:t>    </a:t>
            </a:r>
            <a:r>
              <a:rPr lang="en-GB" altLang="zh-CN" sz="1400" dirty="0">
                <a:solidFill>
                  <a:srgbClr val="0033B3"/>
                </a:solidFill>
                <a:effectLst/>
              </a:rPr>
              <a:t>for </a:t>
            </a:r>
            <a:r>
              <a:rPr lang="en-GB" altLang="zh-CN" sz="1400" dirty="0" err="1"/>
              <a:t>clu_num</a:t>
            </a:r>
            <a:r>
              <a:rPr lang="en-GB" altLang="zh-CN" sz="1400" dirty="0"/>
              <a:t> </a:t>
            </a:r>
            <a:r>
              <a:rPr lang="en-GB" altLang="zh-CN" sz="1400" dirty="0">
                <a:solidFill>
                  <a:srgbClr val="0033B3"/>
                </a:solidFill>
                <a:effectLst/>
              </a:rPr>
              <a:t>in </a:t>
            </a:r>
            <a:r>
              <a:rPr lang="en-GB" altLang="zh-CN" sz="1400" dirty="0">
                <a:solidFill>
                  <a:srgbClr val="000080"/>
                </a:solidFill>
                <a:effectLst/>
              </a:rPr>
              <a:t>range</a:t>
            </a:r>
            <a:r>
              <a:rPr lang="en-GB" altLang="zh-CN" sz="1400" dirty="0"/>
              <a:t>(</a:t>
            </a:r>
            <a:r>
              <a:rPr lang="en-GB" altLang="zh-CN" sz="1400" dirty="0">
                <a:solidFill>
                  <a:srgbClr val="1750EB"/>
                </a:solidFill>
                <a:effectLst/>
              </a:rPr>
              <a:t>2</a:t>
            </a:r>
            <a:r>
              <a:rPr lang="en-GB" altLang="zh-CN" sz="1400" dirty="0"/>
              <a:t>, </a:t>
            </a:r>
            <a:r>
              <a:rPr lang="en-GB" altLang="zh-CN" sz="1400" dirty="0">
                <a:solidFill>
                  <a:srgbClr val="1750EB"/>
                </a:solidFill>
                <a:effectLst/>
              </a:rPr>
              <a:t>100</a:t>
            </a:r>
            <a:r>
              <a:rPr lang="en-GB" altLang="zh-CN" sz="1400" dirty="0"/>
              <a:t>):</a:t>
            </a:r>
            <a:br>
              <a:rPr lang="en-GB" altLang="zh-CN" sz="1400" dirty="0"/>
            </a:br>
            <a:r>
              <a:rPr lang="en-GB" altLang="zh-CN" sz="1400" dirty="0"/>
              <a:t>        </a:t>
            </a:r>
            <a:r>
              <a:rPr lang="en-GB" altLang="zh-CN" sz="1400" dirty="0" err="1"/>
              <a:t>my_kmeans</a:t>
            </a:r>
            <a:r>
              <a:rPr lang="en-GB" altLang="zh-CN" sz="1400" dirty="0"/>
              <a:t> = </a:t>
            </a:r>
            <a:r>
              <a:rPr lang="en-GB" altLang="zh-CN" sz="1400" dirty="0" err="1"/>
              <a:t>KMeans</a:t>
            </a:r>
            <a:r>
              <a:rPr lang="en-GB" altLang="zh-CN" sz="1400" dirty="0"/>
              <a:t>(</a:t>
            </a:r>
            <a:r>
              <a:rPr lang="en-GB" altLang="zh-CN" sz="1400" dirty="0" err="1">
                <a:solidFill>
                  <a:srgbClr val="660099"/>
                </a:solidFill>
                <a:effectLst/>
              </a:rPr>
              <a:t>n_clusters</a:t>
            </a:r>
            <a:r>
              <a:rPr lang="en-GB" altLang="zh-CN" sz="1400" dirty="0"/>
              <a:t>=</a:t>
            </a:r>
            <a:r>
              <a:rPr lang="en-GB" altLang="zh-CN" sz="1400" dirty="0" err="1"/>
              <a:t>clu_num</a:t>
            </a:r>
            <a:r>
              <a:rPr lang="en-GB" altLang="zh-CN" sz="1400" dirty="0"/>
              <a:t>, </a:t>
            </a:r>
            <a:r>
              <a:rPr lang="en-GB" altLang="zh-CN" sz="1400" dirty="0" err="1">
                <a:solidFill>
                  <a:srgbClr val="660099"/>
                </a:solidFill>
                <a:effectLst/>
              </a:rPr>
              <a:t>max_iter</a:t>
            </a:r>
            <a:r>
              <a:rPr lang="en-GB" altLang="zh-CN" sz="1400" dirty="0"/>
              <a:t>=</a:t>
            </a:r>
            <a:r>
              <a:rPr lang="en-GB" altLang="zh-CN" sz="1400" dirty="0">
                <a:solidFill>
                  <a:srgbClr val="1750EB"/>
                </a:solidFill>
                <a:effectLst/>
              </a:rPr>
              <a:t>100</a:t>
            </a:r>
            <a:r>
              <a:rPr lang="en-GB" altLang="zh-CN" sz="1400" dirty="0"/>
              <a:t>, </a:t>
            </a:r>
            <a:r>
              <a:rPr lang="en-GB" altLang="zh-CN" sz="1400" dirty="0" err="1">
                <a:solidFill>
                  <a:srgbClr val="660099"/>
                </a:solidFill>
                <a:effectLst/>
              </a:rPr>
              <a:t>random_state</a:t>
            </a:r>
            <a:r>
              <a:rPr lang="en-GB" altLang="zh-CN" sz="1400" dirty="0"/>
              <a:t>=</a:t>
            </a:r>
            <a:r>
              <a:rPr lang="en-GB" altLang="zh-CN" sz="1400" dirty="0">
                <a:solidFill>
                  <a:srgbClr val="1750EB"/>
                </a:solidFill>
                <a:effectLst/>
              </a:rPr>
              <a:t>0</a:t>
            </a:r>
            <a:r>
              <a:rPr lang="en-GB" altLang="zh-CN" sz="1400" dirty="0"/>
              <a:t>)</a:t>
            </a:r>
            <a:br>
              <a:rPr lang="en-GB" altLang="zh-CN" sz="1400" dirty="0"/>
            </a:br>
            <a:r>
              <a:rPr lang="en-GB" altLang="zh-CN" sz="1400" dirty="0"/>
              <a:t>        </a:t>
            </a:r>
            <a:r>
              <a:rPr lang="en-GB" altLang="zh-CN" sz="1400" dirty="0" err="1"/>
              <a:t>my_kmeans.fit</a:t>
            </a:r>
            <a:r>
              <a:rPr lang="en-GB" altLang="zh-CN" sz="1400" dirty="0"/>
              <a:t>(x)</a:t>
            </a:r>
            <a:br>
              <a:rPr lang="en-GB" altLang="zh-CN" sz="1400" dirty="0"/>
            </a:br>
            <a:r>
              <a:rPr lang="en-GB" altLang="zh-CN" sz="1400" dirty="0"/>
              <a:t>        ret = </a:t>
            </a:r>
            <a:r>
              <a:rPr lang="en-GB" altLang="zh-CN" sz="1400" dirty="0" err="1"/>
              <a:t>my_kmeans.predict</a:t>
            </a:r>
            <a:r>
              <a:rPr lang="en-GB" altLang="zh-CN" sz="1400" dirty="0"/>
              <a:t>(x)</a:t>
            </a:r>
            <a:br>
              <a:rPr lang="en-GB" altLang="zh-CN" sz="1400" dirty="0"/>
            </a:br>
            <a:br>
              <a:rPr lang="en-GB" altLang="zh-CN" sz="1400" dirty="0"/>
            </a:br>
            <a:r>
              <a:rPr lang="en-GB" altLang="zh-CN" sz="1400" dirty="0"/>
              <a:t>        </a:t>
            </a:r>
            <a:r>
              <a:rPr lang="en-GB" altLang="zh-CN" sz="1400" dirty="0" err="1"/>
              <a:t>tmp_list.append</a:t>
            </a:r>
            <a:r>
              <a:rPr lang="en-GB" altLang="zh-CN" sz="1400" dirty="0"/>
              <a:t>(</a:t>
            </a:r>
            <a:r>
              <a:rPr lang="en-GB" altLang="zh-CN" sz="1400" dirty="0" err="1"/>
              <a:t>calinski_harabasz_score</a:t>
            </a:r>
            <a:r>
              <a:rPr lang="en-GB" altLang="zh-CN" sz="1400" dirty="0"/>
              <a:t>(x, ret))  </a:t>
            </a:r>
            <a:r>
              <a:rPr lang="en-GB" altLang="zh-CN" sz="1400" i="1" dirty="0">
                <a:solidFill>
                  <a:srgbClr val="8C8C8C"/>
                </a:solidFill>
                <a:effectLst/>
              </a:rPr>
              <a:t># </a:t>
            </a:r>
            <a:r>
              <a:rPr lang="en-GB" altLang="zh-CN" sz="1400" i="1" dirty="0" err="1">
                <a:solidFill>
                  <a:srgbClr val="8C8C8C"/>
                </a:solidFill>
                <a:effectLst/>
              </a:rPr>
              <a:t>sc</a:t>
            </a:r>
            <a:br>
              <a:rPr lang="en-GB" altLang="zh-CN" sz="1400" i="1" dirty="0">
                <a:solidFill>
                  <a:srgbClr val="8C8C8C"/>
                </a:solidFill>
                <a:effectLst/>
              </a:rPr>
            </a:br>
            <a:br>
              <a:rPr lang="en-GB" altLang="zh-CN" sz="1400" i="1" dirty="0">
                <a:solidFill>
                  <a:srgbClr val="8C8C8C"/>
                </a:solidFill>
                <a:effectLst/>
              </a:rPr>
            </a:br>
            <a:r>
              <a:rPr lang="en-GB" altLang="zh-CN" sz="1400" i="1" dirty="0">
                <a:solidFill>
                  <a:srgbClr val="8C8C8C"/>
                </a:solidFill>
                <a:effectLst/>
              </a:rPr>
              <a:t>    </a:t>
            </a:r>
            <a:r>
              <a:rPr lang="en-GB" altLang="zh-CN" sz="1400" dirty="0" err="1"/>
              <a:t>plt.figure</a:t>
            </a:r>
            <a:r>
              <a:rPr lang="en-GB" altLang="zh-CN" sz="1400" dirty="0"/>
              <a:t>(</a:t>
            </a:r>
            <a:r>
              <a:rPr lang="en-GB" altLang="zh-CN" sz="1400" dirty="0" err="1">
                <a:solidFill>
                  <a:srgbClr val="660099"/>
                </a:solidFill>
                <a:effectLst/>
              </a:rPr>
              <a:t>figsize</a:t>
            </a:r>
            <a:r>
              <a:rPr lang="en-GB" altLang="zh-CN" sz="1400" dirty="0"/>
              <a:t>=(</a:t>
            </a:r>
            <a:r>
              <a:rPr lang="en-GB" altLang="zh-CN" sz="1400" dirty="0">
                <a:solidFill>
                  <a:srgbClr val="1750EB"/>
                </a:solidFill>
                <a:effectLst/>
              </a:rPr>
              <a:t>18</a:t>
            </a:r>
            <a:r>
              <a:rPr lang="en-GB" altLang="zh-CN" sz="1400" dirty="0"/>
              <a:t>, </a:t>
            </a:r>
            <a:r>
              <a:rPr lang="en-GB" altLang="zh-CN" sz="1400" dirty="0">
                <a:solidFill>
                  <a:srgbClr val="1750EB"/>
                </a:solidFill>
                <a:effectLst/>
              </a:rPr>
              <a:t>8</a:t>
            </a:r>
            <a:r>
              <a:rPr lang="en-GB" altLang="zh-CN" sz="1400" dirty="0"/>
              <a:t>), </a:t>
            </a:r>
            <a:r>
              <a:rPr lang="en-GB" altLang="zh-CN" sz="1400" dirty="0">
                <a:solidFill>
                  <a:srgbClr val="660099"/>
                </a:solidFill>
                <a:effectLst/>
              </a:rPr>
              <a:t>dpi</a:t>
            </a:r>
            <a:r>
              <a:rPr lang="en-GB" altLang="zh-CN" sz="1400" dirty="0"/>
              <a:t>=</a:t>
            </a:r>
            <a:r>
              <a:rPr lang="en-GB" altLang="zh-CN" sz="1400" dirty="0">
                <a:solidFill>
                  <a:srgbClr val="1750EB"/>
                </a:solidFill>
                <a:effectLst/>
              </a:rPr>
              <a:t>100</a:t>
            </a:r>
            <a:r>
              <a:rPr lang="en-GB" altLang="zh-CN" sz="1400" dirty="0"/>
              <a:t>)</a:t>
            </a:r>
            <a:br>
              <a:rPr lang="en-GB" altLang="zh-CN" sz="1400" dirty="0"/>
            </a:br>
            <a:r>
              <a:rPr lang="en-GB" altLang="zh-CN" sz="1400" dirty="0"/>
              <a:t>    </a:t>
            </a:r>
            <a:r>
              <a:rPr lang="en-GB" altLang="zh-CN" sz="1400" dirty="0" err="1"/>
              <a:t>plt.xticks</a:t>
            </a:r>
            <a:r>
              <a:rPr lang="en-GB" altLang="zh-CN" sz="1400" dirty="0"/>
              <a:t>(</a:t>
            </a:r>
            <a:r>
              <a:rPr lang="en-GB" altLang="zh-CN" sz="1400" dirty="0">
                <a:solidFill>
                  <a:srgbClr val="000080"/>
                </a:solidFill>
                <a:effectLst/>
              </a:rPr>
              <a:t>range</a:t>
            </a:r>
            <a:r>
              <a:rPr lang="en-GB" altLang="zh-CN" sz="1400" dirty="0"/>
              <a:t>(</a:t>
            </a:r>
            <a:r>
              <a:rPr lang="en-GB" altLang="zh-CN" sz="1400" dirty="0">
                <a:solidFill>
                  <a:srgbClr val="1750EB"/>
                </a:solidFill>
                <a:effectLst/>
              </a:rPr>
              <a:t>0</a:t>
            </a:r>
            <a:r>
              <a:rPr lang="en-GB" altLang="zh-CN" sz="1400" dirty="0"/>
              <a:t>, </a:t>
            </a:r>
            <a:r>
              <a:rPr lang="en-GB" altLang="zh-CN" sz="1400" dirty="0">
                <a:solidFill>
                  <a:srgbClr val="1750EB"/>
                </a:solidFill>
                <a:effectLst/>
              </a:rPr>
              <a:t>100</a:t>
            </a:r>
            <a:r>
              <a:rPr lang="en-GB" altLang="zh-CN" sz="1400" dirty="0"/>
              <a:t>, </a:t>
            </a:r>
            <a:r>
              <a:rPr lang="en-GB" altLang="zh-CN" sz="1400" dirty="0">
                <a:solidFill>
                  <a:srgbClr val="1750EB"/>
                </a:solidFill>
                <a:effectLst/>
              </a:rPr>
              <a:t>3</a:t>
            </a:r>
            <a:r>
              <a:rPr lang="en-GB" altLang="zh-CN" sz="1400" dirty="0"/>
              <a:t>), </a:t>
            </a:r>
            <a:r>
              <a:rPr lang="en-GB" altLang="zh-CN" sz="1400" dirty="0">
                <a:solidFill>
                  <a:srgbClr val="660099"/>
                </a:solidFill>
                <a:effectLst/>
              </a:rPr>
              <a:t>labels</a:t>
            </a:r>
            <a:r>
              <a:rPr lang="en-GB" altLang="zh-CN" sz="1400" dirty="0"/>
              <a:t>=</a:t>
            </a:r>
            <a:r>
              <a:rPr lang="en-GB" altLang="zh-CN" sz="1400" dirty="0">
                <a:solidFill>
                  <a:srgbClr val="000080"/>
                </a:solidFill>
                <a:effectLst/>
              </a:rPr>
              <a:t>range</a:t>
            </a:r>
            <a:r>
              <a:rPr lang="en-GB" altLang="zh-CN" sz="1400" dirty="0"/>
              <a:t>(</a:t>
            </a:r>
            <a:r>
              <a:rPr lang="en-GB" altLang="zh-CN" sz="1400" dirty="0">
                <a:solidFill>
                  <a:srgbClr val="1750EB"/>
                </a:solidFill>
                <a:effectLst/>
              </a:rPr>
              <a:t>0</a:t>
            </a:r>
            <a:r>
              <a:rPr lang="en-GB" altLang="zh-CN" sz="1400" dirty="0"/>
              <a:t>, </a:t>
            </a:r>
            <a:r>
              <a:rPr lang="en-GB" altLang="zh-CN" sz="1400" dirty="0">
                <a:solidFill>
                  <a:srgbClr val="1750EB"/>
                </a:solidFill>
                <a:effectLst/>
              </a:rPr>
              <a:t>100</a:t>
            </a:r>
            <a:r>
              <a:rPr lang="en-GB" altLang="zh-CN" sz="1400" dirty="0"/>
              <a:t>, </a:t>
            </a:r>
            <a:r>
              <a:rPr lang="en-GB" altLang="zh-CN" sz="1400" dirty="0">
                <a:solidFill>
                  <a:srgbClr val="1750EB"/>
                </a:solidFill>
                <a:effectLst/>
              </a:rPr>
              <a:t>3</a:t>
            </a:r>
            <a:r>
              <a:rPr lang="en-GB" altLang="zh-CN" sz="1400" dirty="0"/>
              <a:t>))</a:t>
            </a:r>
            <a:br>
              <a:rPr lang="en-GB" altLang="zh-CN" sz="1400" dirty="0"/>
            </a:br>
            <a:r>
              <a:rPr lang="en-GB" altLang="zh-CN" sz="1400" dirty="0"/>
              <a:t>    </a:t>
            </a:r>
            <a:r>
              <a:rPr lang="en-GB" altLang="zh-CN" sz="1400" dirty="0" err="1"/>
              <a:t>plt.grid</a:t>
            </a:r>
            <a:r>
              <a:rPr lang="en-GB" altLang="zh-CN" sz="1400" dirty="0"/>
              <a:t>()</a:t>
            </a:r>
            <a:br>
              <a:rPr lang="en-GB" altLang="zh-CN" sz="1400" dirty="0"/>
            </a:br>
            <a:r>
              <a:rPr lang="en-GB" altLang="zh-CN" sz="1400" dirty="0"/>
              <a:t>    </a:t>
            </a:r>
            <a:r>
              <a:rPr lang="en-GB" altLang="zh-CN" sz="1400" dirty="0" err="1"/>
              <a:t>plt.title</a:t>
            </a:r>
            <a:r>
              <a:rPr lang="en-GB" altLang="zh-CN" sz="1400" dirty="0"/>
              <a:t>(</a:t>
            </a:r>
            <a:r>
              <a:rPr lang="en-GB" altLang="zh-CN" sz="1400" dirty="0">
                <a:solidFill>
                  <a:srgbClr val="067D17"/>
                </a:solidFill>
                <a:effectLst/>
              </a:rPr>
              <a:t>'</a:t>
            </a:r>
            <a:r>
              <a:rPr lang="en-GB" altLang="zh-CN" sz="1400" dirty="0" err="1">
                <a:solidFill>
                  <a:srgbClr val="067D17"/>
                </a:solidFill>
                <a:effectLst/>
              </a:rPr>
              <a:t>ch</a:t>
            </a:r>
            <a:r>
              <a:rPr lang="en-GB" altLang="zh-CN" sz="1400" dirty="0">
                <a:solidFill>
                  <a:srgbClr val="067D17"/>
                </a:solidFill>
                <a:effectLst/>
              </a:rPr>
              <a:t>'</a:t>
            </a:r>
            <a:r>
              <a:rPr lang="en-GB" altLang="zh-CN" sz="1400" dirty="0"/>
              <a:t>)</a:t>
            </a:r>
            <a:br>
              <a:rPr lang="en-GB" altLang="zh-CN" sz="1400" dirty="0"/>
            </a:br>
            <a:r>
              <a:rPr lang="en-GB" altLang="zh-CN" sz="1400" dirty="0"/>
              <a:t>    </a:t>
            </a:r>
            <a:r>
              <a:rPr lang="en-GB" altLang="zh-CN" sz="1400" dirty="0" err="1"/>
              <a:t>plt.plot</a:t>
            </a:r>
            <a:r>
              <a:rPr lang="en-GB" altLang="zh-CN" sz="1400" dirty="0"/>
              <a:t>(</a:t>
            </a:r>
            <a:r>
              <a:rPr lang="en-GB" altLang="zh-CN" sz="1400" dirty="0">
                <a:solidFill>
                  <a:srgbClr val="000080"/>
                </a:solidFill>
                <a:effectLst/>
              </a:rPr>
              <a:t>range</a:t>
            </a:r>
            <a:r>
              <a:rPr lang="en-GB" altLang="zh-CN" sz="1400" dirty="0"/>
              <a:t>(</a:t>
            </a:r>
            <a:r>
              <a:rPr lang="en-GB" altLang="zh-CN" sz="1400" dirty="0">
                <a:solidFill>
                  <a:srgbClr val="1750EB"/>
                </a:solidFill>
                <a:effectLst/>
              </a:rPr>
              <a:t>2</a:t>
            </a:r>
            <a:r>
              <a:rPr lang="en-GB" altLang="zh-CN" sz="1400" dirty="0"/>
              <a:t>, </a:t>
            </a:r>
            <a:r>
              <a:rPr lang="en-GB" altLang="zh-CN" sz="1400" dirty="0">
                <a:solidFill>
                  <a:srgbClr val="1750EB"/>
                </a:solidFill>
                <a:effectLst/>
              </a:rPr>
              <a:t>100</a:t>
            </a:r>
            <a:r>
              <a:rPr lang="en-GB" altLang="zh-CN" sz="1400" dirty="0"/>
              <a:t>), </a:t>
            </a:r>
            <a:r>
              <a:rPr lang="en-GB" altLang="zh-CN" sz="1400" dirty="0" err="1"/>
              <a:t>tmp_list</a:t>
            </a:r>
            <a:r>
              <a:rPr lang="en-GB" altLang="zh-CN" sz="1400" dirty="0"/>
              <a:t>, </a:t>
            </a:r>
            <a:r>
              <a:rPr lang="en-GB" altLang="zh-CN" sz="1400" dirty="0">
                <a:solidFill>
                  <a:srgbClr val="067D17"/>
                </a:solidFill>
                <a:effectLst/>
              </a:rPr>
              <a:t>'</a:t>
            </a:r>
            <a:r>
              <a:rPr lang="en-GB" altLang="zh-CN" sz="1400" dirty="0" err="1">
                <a:solidFill>
                  <a:srgbClr val="067D17"/>
                </a:solidFill>
                <a:effectLst/>
              </a:rPr>
              <a:t>og</a:t>
            </a:r>
            <a:r>
              <a:rPr lang="en-GB" altLang="zh-CN" sz="1400" dirty="0">
                <a:solidFill>
                  <a:srgbClr val="067D17"/>
                </a:solidFill>
                <a:effectLst/>
              </a:rPr>
              <a:t>-'</a:t>
            </a:r>
            <a:r>
              <a:rPr lang="en-GB" altLang="zh-CN" sz="1400" dirty="0"/>
              <a:t>)</a:t>
            </a:r>
            <a:br>
              <a:rPr lang="en-GB" altLang="zh-CN" sz="1400" dirty="0"/>
            </a:br>
            <a:r>
              <a:rPr lang="en-GB" altLang="zh-CN" sz="1400" dirty="0"/>
              <a:t>    </a:t>
            </a:r>
            <a:r>
              <a:rPr lang="en-GB" altLang="zh-CN" sz="1400" dirty="0" err="1"/>
              <a:t>plt.show</a:t>
            </a:r>
            <a:r>
              <a:rPr lang="en-GB" altLang="zh-CN" sz="1400" dirty="0"/>
              <a:t>()</a:t>
            </a:r>
            <a:endParaRPr kumimoji="0" lang="en-GB" altLang="zh-CN" sz="14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9982788"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聚类效果评估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代码效果展示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a:t>
            </a:r>
            <a:r>
              <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CH</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系数 </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5" name="文本框 4"/>
          <p:cNvSpPr txBox="1"/>
          <p:nvPr/>
        </p:nvSpPr>
        <p:spPr>
          <a:xfrm>
            <a:off x="2869857" y="5980670"/>
            <a:ext cx="6135130"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通过图像可观察到 </a:t>
            </a:r>
            <a:r>
              <a:rPr kumimoji="0" lang="en-GB" altLang="zh-CN" sz="1600" b="0" i="0" u="none" strike="noStrike" kern="1200" cap="none" spc="0" normalizeH="0" baseline="0" noProof="0" dirty="0" err="1">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n_clusters</a:t>
            </a:r>
            <a:r>
              <a:rPr kumimoji="0" lang="en-GB"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=4 </a:t>
            </a:r>
            <a:r>
              <a:rPr kumimoji="0" lang="zh-CN" altLang="en-GB"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取到</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最大值；</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 </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最佳值</a:t>
            </a:r>
            <a:r>
              <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4</a:t>
            </a:r>
            <a:endPar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pic>
        <p:nvPicPr>
          <p:cNvPr id="2" name="图片 1"/>
          <p:cNvPicPr>
            <a:picLocks noChangeAspect="1"/>
          </p:cNvPicPr>
          <p:nvPr/>
        </p:nvPicPr>
        <p:blipFill>
          <a:blip r:embed="rId1"/>
          <a:stretch>
            <a:fillRect/>
          </a:stretch>
        </p:blipFill>
        <p:spPr>
          <a:xfrm>
            <a:off x="1232586" y="1357169"/>
            <a:ext cx="9715499" cy="444236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4374801" y="956795"/>
            <a:ext cx="559237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1</a:t>
            </a:r>
            <a:r>
              <a:rPr kumimoji="1" lang="zh-CN" altLang="en-US"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rPr>
              <a:t> </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误差平方和</a:t>
            </a:r>
            <a:r>
              <a:rPr kumimoji="1" lang="en-US" altLang="zh-CN" b="1" dirty="0">
                <a:solidFill>
                  <a:prstClr val="black">
                    <a:lumMod val="65000"/>
                    <a:lumOff val="35000"/>
                  </a:prstClr>
                </a:solidFill>
                <a:latin typeface="Alibaba PuHuiTi" pitchFamily="18" charset="-122"/>
                <a:ea typeface="Alibaba PuHuiTi" pitchFamily="18" charset="-122"/>
                <a:cs typeface="Alibaba PuHuiTi" pitchFamily="18" charset="-122"/>
              </a:rPr>
              <a:t>SSE</a:t>
            </a:r>
            <a:endPar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endParaRPr>
          </a:p>
        </p:txBody>
      </p:sp>
      <p:sp>
        <p:nvSpPr>
          <p:cNvPr id="12" name="文本占位符 1"/>
          <p:cNvSpPr txBox="1"/>
          <p:nvPr/>
        </p:nvSpPr>
        <p:spPr>
          <a:xfrm>
            <a:off x="86125" y="181128"/>
            <a:ext cx="7036395" cy="761341"/>
          </a:xfrm>
          <a:prstGeom prst="rect">
            <a:avLst/>
          </a:prstGeom>
        </p:spPr>
        <p:txBody>
          <a:bodyPr/>
          <a:lstStyle>
            <a:lvl1pPr marL="360045"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l"/>
              <a:defRPr lang="en-US" altLang="zh-CN"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gn="l" rtl="0" eaLnBrk="0" fontAlgn="base" hangingPunct="0">
              <a:lnSpc>
                <a:spcPct val="150000"/>
              </a:lnSpc>
              <a:spcBef>
                <a:spcPct val="20000"/>
              </a:spcBef>
              <a:spcAft>
                <a:spcPct val="0"/>
              </a:spcAft>
              <a:buFont typeface="Wingdings" panose="05000000000000000000" pitchFamily="2" charset="2"/>
              <a:buChar char="l"/>
              <a:defRPr lang="en-US" altLang="zh-CN" sz="1400" b="0" i="0" kern="1200" dirty="0">
                <a:solidFill>
                  <a:schemeClr val="tx1"/>
                </a:solidFill>
                <a:latin typeface="Alibaba PuHuiTi R" pitchFamily="18" charset="-122"/>
                <a:ea typeface="Alibaba PuHuiTi R" pitchFamily="18" charset="-122"/>
                <a:cs typeface="Alibaba PuHuiTi R" pitchFamily="18" charset="-122"/>
              </a:defRPr>
            </a:lvl2pPr>
            <a:lvl3pPr marL="1079500" indent="-358775" algn="l" rtl="0" eaLnBrk="0" fontAlgn="base" hangingPunct="0">
              <a:lnSpc>
                <a:spcPct val="150000"/>
              </a:lnSpc>
              <a:spcBef>
                <a:spcPct val="20000"/>
              </a:spcBef>
              <a:spcAft>
                <a:spcPct val="0"/>
              </a:spcAft>
              <a:buFont typeface="Arial" panose="020B0604020202020204" pitchFamily="34" charset="0"/>
              <a:buChar char="•"/>
              <a:defRPr lang="zh-CN" altLang="en-US" sz="1400" b="0" i="0" kern="1200" dirty="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359410" marR="0" lvl="1" indent="0" algn="l" defTabSz="914400" rtl="0" eaLnBrk="0" fontAlgn="base" latinLnBrk="0" hangingPunct="0">
              <a:lnSpc>
                <a:spcPct val="150000"/>
              </a:lnSpc>
              <a:spcBef>
                <a:spcPct val="20000"/>
              </a:spcBef>
              <a:spcAft>
                <a:spcPct val="0"/>
              </a:spcAft>
              <a:buClrTx/>
              <a:buSzTx/>
              <a:buFont typeface="Wingdings" panose="05000000000000000000" pitchFamily="2" charset="2"/>
              <a:buNone/>
              <a:defRPr/>
            </a:pPr>
            <a:endParaRPr kumimoji="1" lang="zh-CN" altLang="en-US" sz="1400" b="0" i="0" u="none" strike="noStrike" kern="1200" cap="none" spc="0" normalizeH="0" baseline="0" noProof="0" dirty="0">
              <a:ln>
                <a:noFill/>
              </a:ln>
              <a:solidFill>
                <a:prstClr val="black"/>
              </a:solidFill>
              <a:effectLst/>
              <a:uLnTx/>
              <a:uFillTx/>
              <a:latin typeface="Alibaba PuHuiTi R" pitchFamily="18" charset="-122"/>
              <a:ea typeface="Alibaba PuHuiTi R" pitchFamily="18" charset="-122"/>
              <a:cs typeface="Alibaba PuHuiTi R" pitchFamily="18" charset="-122"/>
            </a:endParaRPr>
          </a:p>
        </p:txBody>
      </p:sp>
      <p:sp>
        <p:nvSpPr>
          <p:cNvPr id="3" name="文本占位符 2"/>
          <p:cNvSpPr txBox="1"/>
          <p:nvPr/>
        </p:nvSpPr>
        <p:spPr>
          <a:xfrm>
            <a:off x="4843980" y="1326127"/>
            <a:ext cx="4893146" cy="79210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lang="zh-CN" altLang="en-US" sz="1400" dirty="0"/>
              <a:t>误差平方和的值越小越好</a:t>
            </a:r>
            <a:endParaRPr lang="en-US" altLang="zh-CN" sz="1400" dirty="0"/>
          </a:p>
          <a:p>
            <a:pPr marL="285750" indent="-285750">
              <a:buFont typeface="Arial" panose="020B0604020202020204" pitchFamily="34" charset="0"/>
              <a:buChar char="•"/>
              <a:defRPr/>
            </a:pPr>
            <a:r>
              <a:rPr lang="zh-CN" altLang="en-US" sz="1400" dirty="0"/>
              <a:t>主要考量：</a:t>
            </a:r>
            <a:r>
              <a:rPr lang="zh-CN" altLang="en-US" sz="1400" dirty="0">
                <a:solidFill>
                  <a:schemeClr val="accent2">
                    <a:lumMod val="75000"/>
                  </a:schemeClr>
                </a:solidFill>
              </a:rPr>
              <a:t>簇内聚程度</a:t>
            </a:r>
            <a:endParaRPr lang="en-US" altLang="zh-CN" sz="1400" dirty="0">
              <a:solidFill>
                <a:schemeClr val="accent2">
                  <a:lumMod val="75000"/>
                </a:schemeClr>
              </a:solidFill>
            </a:endParaRPr>
          </a:p>
        </p:txBody>
      </p:sp>
      <p:sp>
        <p:nvSpPr>
          <p:cNvPr id="2" name="文本框 1"/>
          <p:cNvSpPr txBox="1"/>
          <p:nvPr/>
        </p:nvSpPr>
        <p:spPr>
          <a:xfrm>
            <a:off x="4374801" y="2492200"/>
            <a:ext cx="559237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b="1" dirty="0">
                <a:solidFill>
                  <a:prstClr val="black">
                    <a:lumMod val="65000"/>
                    <a:lumOff val="35000"/>
                  </a:prstClr>
                </a:solidFill>
                <a:latin typeface="Alibaba PuHuiTi" pitchFamily="18" charset="-122"/>
                <a:ea typeface="Alibaba PuHuiTi" pitchFamily="18" charset="-122"/>
                <a:cs typeface="Alibaba PuHuiTi" pitchFamily="18" charset="-122"/>
              </a:rPr>
              <a:t>2</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 </a:t>
            </a:r>
            <a:r>
              <a:rPr lang="zh-CN" altLang="en-US" b="1" i="0" dirty="0">
                <a:solidFill>
                  <a:srgbClr val="333333"/>
                </a:solidFill>
                <a:effectLst/>
                <a:latin typeface="Alibaba PuHuiTi" pitchFamily="18" charset="-122"/>
                <a:ea typeface="Alibaba PuHuiTi" pitchFamily="18" charset="-122"/>
                <a:cs typeface="Alibaba PuHuiTi" pitchFamily="18" charset="-122"/>
              </a:rPr>
              <a:t>肘部法</a:t>
            </a:r>
            <a:endPar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endParaRPr>
          </a:p>
        </p:txBody>
      </p:sp>
      <p:sp>
        <p:nvSpPr>
          <p:cNvPr id="4" name="文本占位符 2"/>
          <p:cNvSpPr txBox="1"/>
          <p:nvPr/>
        </p:nvSpPr>
        <p:spPr>
          <a:xfrm>
            <a:off x="4843980" y="2861532"/>
            <a:ext cx="4794290" cy="369332"/>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lang="zh-CN" altLang="en-US" sz="1400" dirty="0"/>
              <a:t>下降率突然变缓时即认为是最佳的</a:t>
            </a:r>
            <a:r>
              <a:rPr lang="en-GB" altLang="zh-CN" sz="1400" dirty="0"/>
              <a:t>k</a:t>
            </a:r>
            <a:r>
              <a:rPr lang="zh-CN" altLang="en-US" sz="1400" dirty="0"/>
              <a:t>值</a:t>
            </a:r>
            <a:endParaRPr lang="en-US" altLang="zh-CN" sz="1400" dirty="0"/>
          </a:p>
        </p:txBody>
      </p:sp>
      <p:sp>
        <p:nvSpPr>
          <p:cNvPr id="5" name="文本框 4"/>
          <p:cNvSpPr txBox="1"/>
          <p:nvPr/>
        </p:nvSpPr>
        <p:spPr>
          <a:xfrm>
            <a:off x="4374801" y="3631517"/>
            <a:ext cx="5592377" cy="369332"/>
          </a:xfrm>
          <a:prstGeom prst="rect">
            <a:avLst/>
          </a:prstGeom>
          <a:noFill/>
        </p:spPr>
        <p:txBody>
          <a:bodyPr wrap="square" rtlCol="0">
            <a:spAutoFit/>
          </a:bodyPr>
          <a:lstStyle/>
          <a:p>
            <a:pPr>
              <a:defRPr/>
            </a:pPr>
            <a:r>
              <a:rPr kumimoji="1" lang="en-US" altLang="zh-CN" b="1" dirty="0">
                <a:solidFill>
                  <a:prstClr val="black">
                    <a:lumMod val="65000"/>
                    <a:lumOff val="35000"/>
                  </a:prstClr>
                </a:solidFill>
                <a:latin typeface="Alibaba PuHuiTi" pitchFamily="18" charset="-122"/>
                <a:ea typeface="Alibaba PuHuiTi" pitchFamily="18" charset="-122"/>
                <a:cs typeface="Alibaba PuHuiTi" pitchFamily="18" charset="-122"/>
              </a:rPr>
              <a:t>3</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 </a:t>
            </a:r>
            <a:r>
              <a:rPr lang="en-GB" altLang="zh-CN" b="1" i="0" dirty="0">
                <a:solidFill>
                  <a:srgbClr val="333333"/>
                </a:solidFill>
                <a:effectLst/>
                <a:latin typeface="Alibaba PuHuiTi" pitchFamily="18" charset="-122"/>
                <a:ea typeface="Alibaba PuHuiTi" pitchFamily="18" charset="-122"/>
                <a:cs typeface="Alibaba PuHuiTi" pitchFamily="18" charset="-122"/>
              </a:rPr>
              <a:t>SC</a:t>
            </a:r>
            <a:r>
              <a:rPr lang="zh-CN" altLang="en-US" b="1" i="0" dirty="0">
                <a:solidFill>
                  <a:srgbClr val="333333"/>
                </a:solidFill>
                <a:effectLst/>
                <a:latin typeface="Alibaba PuHuiTi" pitchFamily="18" charset="-122"/>
                <a:ea typeface="Alibaba PuHuiTi" pitchFamily="18" charset="-122"/>
                <a:cs typeface="Alibaba PuHuiTi" pitchFamily="18" charset="-122"/>
              </a:rPr>
              <a:t>系数</a:t>
            </a:r>
            <a:endPar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endParaRPr>
          </a:p>
        </p:txBody>
      </p:sp>
      <p:sp>
        <p:nvSpPr>
          <p:cNvPr id="6" name="文本占位符 2"/>
          <p:cNvSpPr txBox="1"/>
          <p:nvPr/>
        </p:nvSpPr>
        <p:spPr>
          <a:xfrm>
            <a:off x="4843980" y="4000848"/>
            <a:ext cx="4089955" cy="76998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lang="zh-CN" altLang="en-US" sz="1400" dirty="0"/>
              <a:t>取值为</a:t>
            </a:r>
            <a:r>
              <a:rPr lang="en-US" altLang="zh-CN" sz="1400" dirty="0"/>
              <a:t>[-1, 1]</a:t>
            </a:r>
            <a:r>
              <a:rPr lang="zh-CN" altLang="en-US" sz="1400" dirty="0"/>
              <a:t>，其值越大越好</a:t>
            </a:r>
            <a:endParaRPr lang="en-US" altLang="zh-CN" sz="1400" dirty="0"/>
          </a:p>
          <a:p>
            <a:pPr marL="285750" indent="-285750">
              <a:buFont typeface="Arial" panose="020B0604020202020204" pitchFamily="34" charset="0"/>
              <a:buChar char="•"/>
              <a:defRPr/>
            </a:pPr>
            <a:r>
              <a:rPr lang="zh-CN" altLang="en-US" sz="1400" dirty="0"/>
              <a:t>主要考量：</a:t>
            </a:r>
            <a:r>
              <a:rPr lang="zh-CN" altLang="en-US" sz="1400" dirty="0">
                <a:solidFill>
                  <a:schemeClr val="accent2">
                    <a:lumMod val="75000"/>
                  </a:schemeClr>
                </a:solidFill>
              </a:rPr>
              <a:t>簇内聚程度、簇间分离程度</a:t>
            </a:r>
            <a:endParaRPr lang="en-US" altLang="zh-CN" sz="1400" dirty="0">
              <a:solidFill>
                <a:schemeClr val="accent2">
                  <a:lumMod val="75000"/>
                </a:schemeClr>
              </a:solidFill>
            </a:endParaRPr>
          </a:p>
        </p:txBody>
      </p:sp>
      <p:sp>
        <p:nvSpPr>
          <p:cNvPr id="8" name="文本框 7"/>
          <p:cNvSpPr txBox="1"/>
          <p:nvPr/>
        </p:nvSpPr>
        <p:spPr>
          <a:xfrm>
            <a:off x="4374800" y="4970164"/>
            <a:ext cx="5592377" cy="369332"/>
          </a:xfrm>
          <a:prstGeom prst="rect">
            <a:avLst/>
          </a:prstGeom>
          <a:noFill/>
        </p:spPr>
        <p:txBody>
          <a:bodyPr wrap="square" rtlCol="0">
            <a:spAutoFit/>
          </a:bodyPr>
          <a:lstStyle/>
          <a:p>
            <a:pPr>
              <a:defRPr/>
            </a:pPr>
            <a:r>
              <a:rPr kumimoji="1" lang="en-US" altLang="zh-CN" b="1" dirty="0">
                <a:solidFill>
                  <a:prstClr val="black">
                    <a:lumMod val="65000"/>
                    <a:lumOff val="35000"/>
                  </a:prstClr>
                </a:solidFill>
                <a:latin typeface="Alibaba PuHuiTi" pitchFamily="18" charset="-122"/>
                <a:ea typeface="Alibaba PuHuiTi" pitchFamily="18" charset="-122"/>
                <a:cs typeface="Alibaba PuHuiTi" pitchFamily="18" charset="-122"/>
              </a:rPr>
              <a:t>4</a:t>
            </a:r>
            <a:r>
              <a:rPr kumimoji="1" lang="zh-CN" altLang="en-US" b="1" dirty="0">
                <a:solidFill>
                  <a:prstClr val="black">
                    <a:lumMod val="65000"/>
                    <a:lumOff val="35000"/>
                  </a:prstClr>
                </a:solidFill>
                <a:latin typeface="Alibaba PuHuiTi" pitchFamily="18" charset="-122"/>
                <a:ea typeface="Alibaba PuHuiTi" pitchFamily="18" charset="-122"/>
                <a:cs typeface="Alibaba PuHuiTi" pitchFamily="18" charset="-122"/>
              </a:rPr>
              <a:t> </a:t>
            </a:r>
            <a:r>
              <a:rPr lang="en-GB" altLang="zh-CN" b="1" i="0" dirty="0">
                <a:solidFill>
                  <a:srgbClr val="333333"/>
                </a:solidFill>
                <a:effectLst/>
                <a:latin typeface="Alibaba PuHuiTi" pitchFamily="18" charset="-122"/>
                <a:ea typeface="Alibaba PuHuiTi" pitchFamily="18" charset="-122"/>
                <a:cs typeface="Alibaba PuHuiTi" pitchFamily="18" charset="-122"/>
              </a:rPr>
              <a:t>CH</a:t>
            </a:r>
            <a:r>
              <a:rPr lang="zh-CN" altLang="en-US" b="1" i="0" dirty="0">
                <a:solidFill>
                  <a:srgbClr val="333333"/>
                </a:solidFill>
                <a:effectLst/>
                <a:latin typeface="Alibaba PuHuiTi" pitchFamily="18" charset="-122"/>
                <a:ea typeface="Alibaba PuHuiTi" pitchFamily="18" charset="-122"/>
                <a:cs typeface="Alibaba PuHuiTi" pitchFamily="18" charset="-122"/>
              </a:rPr>
              <a:t>系数</a:t>
            </a:r>
            <a:endParaRPr kumimoji="1" lang="en-US" altLang="zh-CN" sz="1800" b="1" i="0" u="none" strike="noStrike" kern="1200" cap="none" spc="0" normalizeH="0" baseline="0" noProof="0" dirty="0">
              <a:ln>
                <a:noFill/>
              </a:ln>
              <a:solidFill>
                <a:prstClr val="black">
                  <a:lumMod val="65000"/>
                  <a:lumOff val="35000"/>
                </a:prstClr>
              </a:solidFill>
              <a:effectLst/>
              <a:uLnTx/>
              <a:uFillTx/>
              <a:latin typeface="Alibaba PuHuiTi" pitchFamily="18" charset="-122"/>
              <a:ea typeface="Alibaba PuHuiTi" pitchFamily="18" charset="-122"/>
              <a:cs typeface="Alibaba PuHuiTi" pitchFamily="18" charset="-122"/>
            </a:endParaRPr>
          </a:p>
        </p:txBody>
      </p:sp>
      <p:sp>
        <p:nvSpPr>
          <p:cNvPr id="9" name="文本占位符 2"/>
          <p:cNvSpPr txBox="1"/>
          <p:nvPr/>
        </p:nvSpPr>
        <p:spPr>
          <a:xfrm>
            <a:off x="4946953" y="5339496"/>
            <a:ext cx="6594258" cy="76998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indent="-285750">
              <a:buFont typeface="Arial" panose="020B0604020202020204" pitchFamily="34" charset="0"/>
              <a:buChar char="•"/>
              <a:defRPr/>
            </a:pPr>
            <a:r>
              <a:rPr lang="zh-CN" altLang="en-US" sz="1400" dirty="0"/>
              <a:t>分数</a:t>
            </a:r>
            <a:r>
              <a:rPr lang="en-GB" altLang="zh-CN" sz="1400" dirty="0"/>
              <a:t>s</a:t>
            </a:r>
            <a:r>
              <a:rPr lang="zh-CN" altLang="en-US" sz="1400" dirty="0"/>
              <a:t>高则聚类效果越好</a:t>
            </a:r>
            <a:endParaRPr lang="zh-CN" altLang="en-US" sz="1400" dirty="0"/>
          </a:p>
          <a:p>
            <a:pPr marL="285750" indent="-285750">
              <a:buFont typeface="Arial" panose="020B0604020202020204" pitchFamily="34" charset="0"/>
              <a:buChar char="•"/>
              <a:defRPr/>
            </a:pPr>
            <a:r>
              <a:rPr lang="en-GB" altLang="zh-CN" sz="1400" dirty="0"/>
              <a:t>CH</a:t>
            </a:r>
            <a:r>
              <a:rPr lang="zh-CN" altLang="en-US" sz="1400" dirty="0"/>
              <a:t>达到的目的：用尽量少的类别聚类尽量多的样本，同时获得较好的聚类效果</a:t>
            </a:r>
            <a:endParaRPr lang="en-US" altLang="zh-CN" sz="1400" dirty="0"/>
          </a:p>
          <a:p>
            <a:pPr marL="285750" indent="-285750">
              <a:buFont typeface="Arial" panose="020B0604020202020204" pitchFamily="34" charset="0"/>
              <a:buChar char="•"/>
              <a:defRPr/>
            </a:pPr>
            <a:r>
              <a:rPr lang="zh-CN" altLang="en-US" sz="1400" dirty="0"/>
              <a:t>主要考量：</a:t>
            </a:r>
            <a:r>
              <a:rPr lang="zh-CN" altLang="en-US" sz="1400" dirty="0">
                <a:solidFill>
                  <a:schemeClr val="accent2">
                    <a:lumMod val="75000"/>
                  </a:schemeClr>
                </a:solidFill>
              </a:rPr>
              <a:t>簇内聚程度、簇间分离程度、质心个数</a:t>
            </a:r>
            <a:endParaRPr lang="zh-CN" altLang="en-US" sz="1400" dirty="0">
              <a:solidFill>
                <a:schemeClr val="accent2">
                  <a:lumMod val="75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3567928" y="4528205"/>
            <a:ext cx="4283656"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rPr>
              <a:t>答案：</a:t>
            </a:r>
            <a:r>
              <a:rPr lang="en-US" altLang="zh-CN" sz="1400" dirty="0">
                <a:solidFill>
                  <a:srgbClr val="C0504D">
                    <a:lumMod val="75000"/>
                  </a:srgbClr>
                </a:solidFill>
                <a:latin typeface="微软雅黑" panose="020B0503020204020204" pitchFamily="34" charset="-122"/>
                <a:ea typeface="微软雅黑" panose="020B0503020204020204" pitchFamily="34" charset="-122"/>
              </a:rPr>
              <a:t>ACD</a:t>
            </a:r>
            <a:endParaRPr kumimoji="0" lang="zh-CN" altLang="en-US" sz="1400" b="0" i="0" u="none" strike="noStrike" kern="1200" cap="none" spc="0" normalizeH="0" baseline="0" noProof="0" dirty="0">
              <a:ln>
                <a:noFill/>
              </a:ln>
              <a:solidFill>
                <a:srgbClr val="C0504D">
                  <a:lumMod val="75000"/>
                </a:srgbClr>
              </a:solidFill>
              <a:effectLst/>
              <a:uLnTx/>
              <a:uFillTx/>
              <a:latin typeface="Alibaba PuHuiTi" pitchFamily="18" charset="-122"/>
              <a:ea typeface="Alibaba PuHuiTi" pitchFamily="18" charset="-122"/>
              <a:cs typeface="Alibaba PuHuiTi" pitchFamily="18" charset="-122"/>
            </a:endParaRPr>
          </a:p>
        </p:txBody>
      </p:sp>
      <p:sp>
        <p:nvSpPr>
          <p:cNvPr id="2" name="矩形 1"/>
          <p:cNvSpPr/>
          <p:nvPr/>
        </p:nvSpPr>
        <p:spPr>
          <a:xfrm>
            <a:off x="2775686" y="1677747"/>
            <a:ext cx="5760640" cy="352917"/>
          </a:xfrm>
          <a:prstGeom prst="rect">
            <a:avLst/>
          </a:prstGeom>
        </p:spPr>
        <p:txBody>
          <a:bodyPr wrap="square">
            <a:spAutoFit/>
          </a:bodyPr>
          <a:lstStyle/>
          <a:p>
            <a:pPr>
              <a:lnSpc>
                <a:spcPct val="130000"/>
              </a:lnSpc>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1</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、下列可用于评估聚类算法的方法或指标的是</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sym typeface="Wingdings" panose="05000000000000000000" pitchFamily="2" charset="2"/>
              </a:rPr>
              <a:t>：（</a:t>
            </a:r>
            <a:r>
              <a:rPr lang="zh-CN" altLang="en-US" sz="1400" b="1" dirty="0">
                <a:solidFill>
                  <a:schemeClr val="tx1">
                    <a:lumMod val="85000"/>
                    <a:lumOff val="15000"/>
                  </a:schemeClr>
                </a:solidFill>
                <a:latin typeface="Alibaba PuHuiTi" pitchFamily="18" charset="-122"/>
                <a:ea typeface="Alibaba PuHuiTi" pitchFamily="18" charset="-122"/>
                <a:cs typeface="Alibaba PuHuiTi" pitchFamily="18" charset="-122"/>
                <a:sym typeface="Wingdings" panose="05000000000000000000" pitchFamily="2" charset="2"/>
              </a:rPr>
              <a:t>多选</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sym typeface="Wingdings" panose="05000000000000000000" pitchFamily="2" charset="2"/>
              </a:rPr>
              <a:t>）</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5" name="矩形 4"/>
          <p:cNvSpPr/>
          <p:nvPr/>
        </p:nvSpPr>
        <p:spPr>
          <a:xfrm>
            <a:off x="3283776" y="2089641"/>
            <a:ext cx="4392488" cy="1354730"/>
          </a:xfrm>
          <a:prstGeom prst="rect">
            <a:avLst/>
          </a:prstGeom>
        </p:spPr>
        <p:txBody>
          <a:bodyPr wrap="square">
            <a:spAutoFit/>
          </a:bodyPr>
          <a:lstStyle/>
          <a:p>
            <a:pPr lvl="0">
              <a:lnSpc>
                <a:spcPct val="150000"/>
              </a:lnSpc>
              <a:defRPr/>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A</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SSE</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：误差平方和</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defRPr/>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B</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肘部法</a:t>
            </a:r>
            <a:endPar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lvl="0">
              <a:lnSpc>
                <a:spcPct val="150000"/>
              </a:lnSpc>
              <a:defRPr/>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C</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Silhouette Coefficient</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 SC</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系数</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a:p>
            <a:pPr>
              <a:lnSpc>
                <a:spcPct val="150000"/>
              </a:lnSpc>
              <a:defRPr/>
            </a:pP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D</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 </a:t>
            </a:r>
            <a:r>
              <a:rPr lang="en-US" altLang="zh-CN" sz="1400" dirty="0" err="1">
                <a:solidFill>
                  <a:schemeClr val="tx1">
                    <a:lumMod val="85000"/>
                    <a:lumOff val="15000"/>
                  </a:schemeClr>
                </a:solidFill>
                <a:latin typeface="Alibaba PuHuiTi" pitchFamily="18" charset="-122"/>
                <a:ea typeface="Alibaba PuHuiTi" pitchFamily="18" charset="-122"/>
                <a:cs typeface="Alibaba PuHuiTi" pitchFamily="18" charset="-122"/>
              </a:rPr>
              <a:t>Calinski-Harabasz</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 Index</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a:t>
            </a:r>
            <a:r>
              <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rPr>
              <a:t> CH</a:t>
            </a:r>
            <a:r>
              <a:rPr lang="zh-CN" altLang="en-US" sz="1400" dirty="0">
                <a:solidFill>
                  <a:schemeClr val="tx1">
                    <a:lumMod val="85000"/>
                    <a:lumOff val="15000"/>
                  </a:schemeClr>
                </a:solidFill>
                <a:latin typeface="Alibaba PuHuiTi" pitchFamily="18" charset="-122"/>
                <a:ea typeface="Alibaba PuHuiTi" pitchFamily="18" charset="-122"/>
                <a:cs typeface="Alibaba PuHuiTi" pitchFamily="18" charset="-122"/>
              </a:rPr>
              <a:t>指数</a:t>
            </a:r>
            <a:endParaRPr lang="en-US" altLang="zh-CN" sz="140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635175" y="1494803"/>
            <a:ext cx="6420620" cy="4497463"/>
          </a:xfrm>
        </p:spPr>
        <p:txBody>
          <a:bodyPr anchor="t"/>
          <a:lstStyle/>
          <a:p>
            <a:r>
              <a:rPr kumimoji="1" lang="zh-CN" altLang="en-US" dirty="0">
                <a:solidFill>
                  <a:schemeClr val="tx1"/>
                </a:solidFill>
                <a:latin typeface="Alibaba PuHuiTi" pitchFamily="18" charset="-122"/>
                <a:ea typeface="Alibaba PuHuiTi" pitchFamily="18" charset="-122"/>
                <a:cs typeface="Alibaba PuHuiTi" pitchFamily="18" charset="-122"/>
              </a:rPr>
              <a:t>聚类算法简介</a:t>
            </a:r>
            <a:endParaRPr kumimoji="1" lang="en-US" altLang="zh-CN" dirty="0">
              <a:solidFill>
                <a:schemeClr val="tx1"/>
              </a:solidFill>
              <a:latin typeface="Alibaba PuHuiTi" pitchFamily="18" charset="-122"/>
              <a:ea typeface="Alibaba PuHuiTi" pitchFamily="18" charset="-122"/>
              <a:cs typeface="Alibaba PuHuiTi" pitchFamily="18" charset="-122"/>
            </a:endParaRPr>
          </a:p>
          <a:p>
            <a:r>
              <a:rPr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聚类算法</a:t>
            </a:r>
            <a:r>
              <a:rPr lang="en-US" altLang="zh-CN" dirty="0">
                <a:solidFill>
                  <a:schemeClr val="tx1">
                    <a:lumMod val="85000"/>
                    <a:lumOff val="15000"/>
                  </a:schemeClr>
                </a:solidFill>
                <a:latin typeface="Alibaba PuHuiTi" pitchFamily="18" charset="-122"/>
                <a:ea typeface="Alibaba PuHuiTi" pitchFamily="18" charset="-122"/>
                <a:cs typeface="Alibaba PuHuiTi" pitchFamily="18" charset="-122"/>
              </a:rPr>
              <a:t>API</a:t>
            </a:r>
            <a:r>
              <a:rPr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的使用</a:t>
            </a:r>
            <a:endParaRPr kumimoji="1"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en-US" altLang="zh-CN" dirty="0" err="1">
                <a:solidFill>
                  <a:schemeClr val="tx1">
                    <a:lumMod val="85000"/>
                    <a:lumOff val="15000"/>
                  </a:schemeClr>
                </a:solidFill>
                <a:latin typeface="Alibaba PuHuiTi" pitchFamily="18" charset="-122"/>
                <a:ea typeface="Alibaba PuHuiTi" pitchFamily="18" charset="-122"/>
                <a:cs typeface="Alibaba PuHuiTi" pitchFamily="18" charset="-122"/>
              </a:rPr>
              <a:t>Kmeans</a:t>
            </a:r>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实现流程</a:t>
            </a:r>
            <a:endParaRPr kumimoji="1" lang="zh-CN" altLang="en-US"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模型评估方法</a:t>
            </a:r>
            <a:endParaRPr kumimoji="1" lang="en-US" altLang="zh-CN" dirty="0">
              <a:solidFill>
                <a:schemeClr val="tx1">
                  <a:lumMod val="85000"/>
                  <a:lumOff val="15000"/>
                </a:schemeClr>
              </a:solidFill>
              <a:latin typeface="Alibaba PuHuiTi" pitchFamily="18" charset="-122"/>
              <a:ea typeface="Alibaba PuHuiTi" pitchFamily="18" charset="-122"/>
              <a:cs typeface="Alibaba PuHuiTi" pitchFamily="18" charset="-122"/>
            </a:endParaRPr>
          </a:p>
          <a:p>
            <a:r>
              <a:rPr kumimoji="1" lang="zh-CN" altLang="en-US" dirty="0">
                <a:solidFill>
                  <a:srgbClr val="C00000"/>
                </a:solidFill>
                <a:latin typeface="Alibaba PuHuiTi" pitchFamily="18" charset="-122"/>
                <a:ea typeface="Alibaba PuHuiTi" pitchFamily="18" charset="-122"/>
                <a:cs typeface="Alibaba PuHuiTi" pitchFamily="18" charset="-122"/>
              </a:rPr>
              <a:t>案例顾客数据聚类分析法</a:t>
            </a:r>
            <a:endParaRPr kumimoji="1" lang="en-US" altLang="zh-CN" sz="1600" b="0" dirty="0">
              <a:solidFill>
                <a:srgbClr val="C00000"/>
              </a:solidFill>
              <a:latin typeface="Alibaba PuHuiTi" pitchFamily="18" charset="-122"/>
              <a:ea typeface="Alibaba PuHuiTi" pitchFamily="18" charset="-122"/>
              <a:cs typeface="Alibaba PuHuiTi" pitchFamily="18" charset="-122"/>
            </a:endParaRPr>
          </a:p>
          <a:p>
            <a:pPr lvl="1"/>
            <a:endParaRPr kumimoji="1" lang="en-US" altLang="zh-CN" sz="1600" b="0" dirty="0">
              <a:solidFill>
                <a:schemeClr val="accent2">
                  <a:lumMod val="75000"/>
                </a:schemeClr>
              </a:solidFill>
              <a:latin typeface="Alibaba PuHuiTi" pitchFamily="18" charset="-122"/>
              <a:ea typeface="Alibaba PuHuiTi" pitchFamily="18" charset="-122"/>
              <a:cs typeface="Alibaba PuHuiTi" pitchFamily="18" charset="-122"/>
            </a:endParaRPr>
          </a:p>
          <a:p>
            <a:pPr lvl="1"/>
            <a:endParaRPr lang="en-US" altLang="zh-CN" sz="1600" b="0"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542105" y="503788"/>
            <a:ext cx="5699175" cy="4453224"/>
          </a:xfrm>
        </p:spPr>
        <p:txBody>
          <a:bodyPr/>
          <a:lstStyle/>
          <a:p>
            <a:r>
              <a:rPr lang="zh-CN" altLang="en-US" dirty="0">
                <a:solidFill>
                  <a:schemeClr val="tx1">
                    <a:lumMod val="85000"/>
                    <a:lumOff val="15000"/>
                  </a:schemeClr>
                </a:solidFill>
              </a:rPr>
              <a:t>能</a:t>
            </a:r>
            <a:r>
              <a:rPr lang="zh-CN" altLang="en-US" dirty="0">
                <a:solidFill>
                  <a:schemeClr val="accent2">
                    <a:lumMod val="75000"/>
                  </a:schemeClr>
                </a:solidFill>
                <a:latin typeface="Helvetica Neue" panose="02000503000000020004" pitchFamily="2" charset="0"/>
              </a:rPr>
              <a:t>使用</a:t>
            </a:r>
            <a:r>
              <a:rPr lang="zh-CN" altLang="en-US" dirty="0">
                <a:solidFill>
                  <a:schemeClr val="tx1">
                    <a:lumMod val="85000"/>
                    <a:lumOff val="15000"/>
                  </a:schemeClr>
                </a:solidFill>
                <a:latin typeface="Helvetica Neue" panose="02000503000000020004" pitchFamily="2" charset="0"/>
              </a:rPr>
              <a:t>聚类算法完成客户案例分析</a:t>
            </a:r>
            <a:endParaRPr lang="en-US" altLang="zh-CN" dirty="0">
              <a:solidFill>
                <a:schemeClr val="tx1">
                  <a:lumMod val="85000"/>
                  <a:lumOff val="15000"/>
                </a:schemeClr>
              </a:solidFill>
              <a:latin typeface="Helvetica Neue" panose="02000503000000020004" pitchFamily="2" charset="0"/>
            </a:endParaRPr>
          </a:p>
          <a:p>
            <a:r>
              <a:rPr lang="zh-CN" altLang="en-US" dirty="0">
                <a:solidFill>
                  <a:srgbClr val="333333"/>
                </a:solidFill>
                <a:latin typeface="Helvetica Neue" panose="02000503000000020004" pitchFamily="2" charset="0"/>
              </a:rPr>
              <a:t>知道怎么求最佳</a:t>
            </a:r>
            <a:r>
              <a:rPr lang="en-US" altLang="zh-CN" dirty="0">
                <a:solidFill>
                  <a:srgbClr val="333333"/>
                </a:solidFill>
                <a:latin typeface="Helvetica Neue" panose="02000503000000020004" pitchFamily="2" charset="0"/>
              </a:rPr>
              <a:t>K</a:t>
            </a:r>
            <a:r>
              <a:rPr lang="zh-CN" altLang="en-US" dirty="0">
                <a:solidFill>
                  <a:srgbClr val="333333"/>
                </a:solidFill>
                <a:latin typeface="Helvetica Neue" panose="02000503000000020004" pitchFamily="2" charset="0"/>
              </a:rPr>
              <a:t>值</a:t>
            </a:r>
            <a:endParaRPr lang="en-US" altLang="zh-CN" b="0" i="0" dirty="0">
              <a:solidFill>
                <a:srgbClr val="333333"/>
              </a:solidFill>
              <a:effectLst/>
              <a:latin typeface="Helvetica Neue" panose="02000503000000020004" pitchFamily="2"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9982788"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案例：顾客数据聚类分析</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2" name="文本占位符 2"/>
          <p:cNvSpPr txBox="1"/>
          <p:nvPr/>
        </p:nvSpPr>
        <p:spPr>
          <a:xfrm>
            <a:off x="1055799" y="1417155"/>
            <a:ext cx="8502872" cy="922008"/>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已知</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r>
              <a:rPr kumimoji="0" lang="zh-CN" altLang="en-US" sz="16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客户性别、年龄、年收入、消费指数</a:t>
            </a:r>
            <a:endParaRPr lang="en-US" altLang="zh-CN" dirty="0">
              <a:solidFill>
                <a:schemeClr val="accent2">
                  <a:lumMod val="75000"/>
                </a:schemeClr>
              </a:solidFill>
              <a:latin typeface="Helvetica Neue" panose="02000503000000020004" pitchFamily="2" charset="0"/>
              <a:ea typeface="Alibaba PuHuiTi" pitchFamily="18" charset="-122"/>
              <a:cs typeface="Alibaba PuHuiTi" pitchFamily="18" charset="-122"/>
            </a:endParaRPr>
          </a:p>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srgbClr val="333333"/>
                </a:solidFill>
                <a:latin typeface="Helvetica Neue" panose="02000503000000020004" pitchFamily="2" charset="0"/>
                <a:ea typeface="Alibaba PuHuiTi" pitchFamily="18" charset="-122"/>
                <a:cs typeface="Alibaba PuHuiTi" pitchFamily="18" charset="-122"/>
              </a:rPr>
              <a:t>需求：</a:t>
            </a:r>
            <a:r>
              <a:rPr kumimoji="0" lang="zh-CN" altLang="en-US" sz="1600" b="0" i="0" u="none" strike="noStrike" kern="1200" cap="none" spc="0" normalizeH="0" baseline="0" noProof="0" dirty="0">
                <a:ln>
                  <a:noFill/>
                </a:ln>
                <a:solidFill>
                  <a:srgbClr val="333333"/>
                </a:solidFill>
                <a:effectLst/>
                <a:uLnTx/>
                <a:uFillTx/>
                <a:latin typeface="Helvetica Neue" panose="02000503000000020004" pitchFamily="2" charset="0"/>
                <a:ea typeface="Alibaba PuHuiTi" pitchFamily="18" charset="-122"/>
                <a:cs typeface="Alibaba PuHuiTi" pitchFamily="18" charset="-122"/>
              </a:rPr>
              <a:t>对客户进行分析，找到</a:t>
            </a:r>
            <a:r>
              <a:rPr kumimoji="0" lang="zh-CN" altLang="en-US" sz="1600" b="0" i="0" u="none" strike="noStrike" kern="1200" cap="none" spc="0" normalizeH="0" baseline="0" noProof="0" dirty="0">
                <a:ln>
                  <a:noFill/>
                </a:ln>
                <a:solidFill>
                  <a:schemeClr val="accent2">
                    <a:lumMod val="75000"/>
                  </a:schemeClr>
                </a:solidFill>
                <a:effectLst/>
                <a:uLnTx/>
                <a:uFillTx/>
                <a:latin typeface="Helvetica Neue" panose="02000503000000020004" pitchFamily="2" charset="0"/>
                <a:ea typeface="Alibaba PuHuiTi" pitchFamily="18" charset="-122"/>
                <a:cs typeface="Alibaba PuHuiTi" pitchFamily="18" charset="-122"/>
              </a:rPr>
              <a:t>业务突破口</a:t>
            </a:r>
            <a:r>
              <a:rPr kumimoji="0" lang="zh-CN" altLang="en-US" sz="1600" b="0" i="0" u="none" strike="noStrike" kern="1200" cap="none" spc="0" normalizeH="0" baseline="0" noProof="0" dirty="0">
                <a:ln>
                  <a:noFill/>
                </a:ln>
                <a:solidFill>
                  <a:srgbClr val="333333"/>
                </a:solidFill>
                <a:effectLst/>
                <a:uLnTx/>
                <a:uFillTx/>
                <a:latin typeface="Helvetica Neue" panose="02000503000000020004" pitchFamily="2" charset="0"/>
                <a:ea typeface="Alibaba PuHuiTi" pitchFamily="18" charset="-122"/>
                <a:cs typeface="Alibaba PuHuiTi" pitchFamily="18" charset="-122"/>
              </a:rPr>
              <a:t>，寻找黄金客户</a:t>
            </a:r>
            <a:endPar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pic>
        <p:nvPicPr>
          <p:cNvPr id="5" name="图片 4"/>
          <p:cNvPicPr>
            <a:picLocks noChangeAspect="1"/>
          </p:cNvPicPr>
          <p:nvPr/>
        </p:nvPicPr>
        <p:blipFill>
          <a:blip r:embed="rId1"/>
          <a:stretch>
            <a:fillRect/>
          </a:stretch>
        </p:blipFill>
        <p:spPr>
          <a:xfrm>
            <a:off x="1912088" y="2493454"/>
            <a:ext cx="7772400" cy="321079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9982788"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案例：顾客数据聚类分析</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2" name="文本占位符 2"/>
          <p:cNvSpPr txBox="1"/>
          <p:nvPr/>
        </p:nvSpPr>
        <p:spPr>
          <a:xfrm>
            <a:off x="1055799" y="1417155"/>
            <a:ext cx="3452406" cy="39038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客户分群效果展示</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endParaRPr kumimoji="0" lang="en-US" altLang="zh-CN" sz="1600" b="0" i="0" u="none" strike="noStrike" kern="1200" cap="none" spc="0" normalizeH="0" baseline="0" noProof="0" dirty="0">
              <a:ln>
                <a:noFill/>
              </a:ln>
              <a:solidFill>
                <a:srgbClr val="C0504D">
                  <a:lumMod val="75000"/>
                </a:srgbClr>
              </a:solidFill>
              <a:effectLst/>
              <a:uLnTx/>
              <a:uFillTx/>
              <a:latin typeface="Helvetica Neue" panose="02000503000000020004" pitchFamily="2" charset="0"/>
              <a:ea typeface="Alibaba PuHuiTi" pitchFamily="18" charset="-122"/>
              <a:cs typeface="Alibaba PuHuiTi" pitchFamily="18" charset="-122"/>
            </a:endParaRPr>
          </a:p>
        </p:txBody>
      </p:sp>
      <p:sp>
        <p:nvSpPr>
          <p:cNvPr id="6" name="文本占位符 2"/>
          <p:cNvSpPr txBox="1"/>
          <p:nvPr/>
        </p:nvSpPr>
        <p:spPr>
          <a:xfrm>
            <a:off x="2184483" y="6198002"/>
            <a:ext cx="7035579" cy="39038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R="0" lvl="0" algn="l" defTabSz="914400" rtl="0" eaLnBrk="0" fontAlgn="base" latinLnBrk="0" hangingPunct="0">
              <a:lnSpc>
                <a:spcPct val="150000"/>
              </a:lnSpc>
              <a:spcBef>
                <a:spcPct val="20000"/>
              </a:spcBef>
              <a:spcAft>
                <a:spcPct val="0"/>
              </a:spcAft>
              <a:buClrTx/>
              <a:buSzTx/>
              <a:defRP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从图中可以看出，聚成</a:t>
            </a:r>
            <a:r>
              <a:rPr lang="en-US" altLang="zh-CN" dirty="0">
                <a:solidFill>
                  <a:prstClr val="black">
                    <a:lumMod val="85000"/>
                    <a:lumOff val="15000"/>
                  </a:prstClr>
                </a:solidFill>
                <a:latin typeface="Alibaba PuHuiTi" pitchFamily="18" charset="-122"/>
                <a:ea typeface="Alibaba PuHuiTi" pitchFamily="18" charset="-122"/>
                <a:cs typeface="Alibaba PuHuiTi" pitchFamily="18" charset="-122"/>
              </a:rPr>
              <a:t>5</a:t>
            </a: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类，右上角属于</a:t>
            </a:r>
            <a:r>
              <a:rPr lang="zh-CN" altLang="en-US" dirty="0">
                <a:solidFill>
                  <a:schemeClr val="accent2">
                    <a:lumMod val="75000"/>
                  </a:schemeClr>
                </a:solidFill>
                <a:latin typeface="Alibaba PuHuiTi" pitchFamily="18" charset="-122"/>
                <a:ea typeface="Alibaba PuHuiTi" pitchFamily="18" charset="-122"/>
                <a:cs typeface="Alibaba PuHuiTi" pitchFamily="18" charset="-122"/>
              </a:rPr>
              <a:t>挣的多，消费的也多</a:t>
            </a: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黄金客户群</a:t>
            </a:r>
            <a:endParaRPr lang="en-US" altLang="zh-CN" dirty="0">
              <a:solidFill>
                <a:prstClr val="black">
                  <a:lumMod val="85000"/>
                  <a:lumOff val="15000"/>
                </a:prstClr>
              </a:solidFill>
              <a:latin typeface="Alibaba PuHuiTi" pitchFamily="18" charset="-122"/>
              <a:ea typeface="Alibaba PuHuiTi" pitchFamily="18" charset="-122"/>
              <a:cs typeface="Alibaba PuHuiTi" pitchFamily="18" charset="-122"/>
            </a:endParaRPr>
          </a:p>
        </p:txBody>
      </p:sp>
      <p:pic>
        <p:nvPicPr>
          <p:cNvPr id="4" name="图片 3"/>
          <p:cNvPicPr>
            <a:picLocks noChangeAspect="1"/>
          </p:cNvPicPr>
          <p:nvPr/>
        </p:nvPicPr>
        <p:blipFill>
          <a:blip r:embed="rId1"/>
          <a:stretch>
            <a:fillRect/>
          </a:stretch>
        </p:blipFill>
        <p:spPr>
          <a:xfrm>
            <a:off x="2078961" y="1775636"/>
            <a:ext cx="6767328" cy="4341552"/>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9982788"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案例：顾客数据聚类分析</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TextBox 3"/>
          <p:cNvSpPr txBox="1"/>
          <p:nvPr/>
        </p:nvSpPr>
        <p:spPr>
          <a:xfrm>
            <a:off x="911045" y="1357169"/>
            <a:ext cx="6457318" cy="5047536"/>
          </a:xfrm>
          <a:prstGeom prst="rect">
            <a:avLst/>
          </a:prstGeom>
          <a:solidFill>
            <a:srgbClr val="FFFFE4"/>
          </a:solidFill>
          <a:ln w="3175">
            <a:solidFill>
              <a:srgbClr val="91919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altLang="zh-CN" sz="1400" dirty="0">
                <a:solidFill>
                  <a:srgbClr val="0033B3"/>
                </a:solidFill>
                <a:effectLst/>
              </a:rPr>
              <a:t>import </a:t>
            </a:r>
            <a:r>
              <a:rPr lang="en-GB" altLang="zh-CN" sz="1400" dirty="0"/>
              <a:t>pandas </a:t>
            </a:r>
            <a:r>
              <a:rPr lang="en-GB" altLang="zh-CN" sz="1400" dirty="0">
                <a:solidFill>
                  <a:srgbClr val="0033B3"/>
                </a:solidFill>
                <a:effectLst/>
              </a:rPr>
              <a:t>as </a:t>
            </a:r>
            <a:r>
              <a:rPr lang="en-GB" altLang="zh-CN" sz="1400" dirty="0"/>
              <a:t>pd</a:t>
            </a:r>
            <a:br>
              <a:rPr lang="en-GB" altLang="zh-CN" sz="1400" dirty="0"/>
            </a:br>
            <a:r>
              <a:rPr lang="en-GB" altLang="zh-CN" sz="1400" dirty="0">
                <a:solidFill>
                  <a:srgbClr val="0033B3"/>
                </a:solidFill>
                <a:effectLst/>
              </a:rPr>
              <a:t>from </a:t>
            </a:r>
            <a:r>
              <a:rPr lang="en-GB" altLang="zh-CN" sz="1400" dirty="0" err="1"/>
              <a:t>sklearn.cluster</a:t>
            </a:r>
            <a:r>
              <a:rPr lang="en-GB" altLang="zh-CN" sz="1400" dirty="0"/>
              <a:t> </a:t>
            </a:r>
            <a:r>
              <a:rPr lang="en-GB" altLang="zh-CN" sz="1400" dirty="0">
                <a:solidFill>
                  <a:srgbClr val="0033B3"/>
                </a:solidFill>
                <a:effectLst/>
              </a:rPr>
              <a:t>import </a:t>
            </a:r>
            <a:r>
              <a:rPr lang="en-GB" altLang="zh-CN" sz="1400" dirty="0" err="1"/>
              <a:t>KMeans</a:t>
            </a:r>
            <a:br>
              <a:rPr lang="en-GB" altLang="zh-CN" sz="1400" dirty="0"/>
            </a:br>
            <a:r>
              <a:rPr lang="en-GB" altLang="zh-CN" sz="1400" dirty="0">
                <a:solidFill>
                  <a:srgbClr val="0033B3"/>
                </a:solidFill>
                <a:effectLst/>
              </a:rPr>
              <a:t>import </a:t>
            </a:r>
            <a:r>
              <a:rPr lang="en-GB" altLang="zh-CN" sz="1400" dirty="0" err="1"/>
              <a:t>matplotlib.pyplot</a:t>
            </a:r>
            <a:r>
              <a:rPr lang="en-GB" altLang="zh-CN" sz="1400" dirty="0"/>
              <a:t> </a:t>
            </a:r>
            <a:r>
              <a:rPr lang="en-GB" altLang="zh-CN" sz="1400" dirty="0">
                <a:solidFill>
                  <a:srgbClr val="0033B3"/>
                </a:solidFill>
                <a:effectLst/>
              </a:rPr>
              <a:t>as </a:t>
            </a:r>
            <a:r>
              <a:rPr lang="en-GB" altLang="zh-CN" sz="1400" dirty="0" err="1"/>
              <a:t>plt</a:t>
            </a:r>
            <a:br>
              <a:rPr lang="en-GB" altLang="zh-CN" sz="1400" dirty="0"/>
            </a:br>
            <a:r>
              <a:rPr lang="en-GB" altLang="zh-CN" sz="1400" dirty="0">
                <a:solidFill>
                  <a:srgbClr val="0033B3"/>
                </a:solidFill>
                <a:effectLst/>
              </a:rPr>
              <a:t>from </a:t>
            </a:r>
            <a:r>
              <a:rPr lang="en-GB" altLang="zh-CN" sz="1400" dirty="0" err="1"/>
              <a:t>sklearn.metrics</a:t>
            </a:r>
            <a:r>
              <a:rPr lang="en-GB" altLang="zh-CN" sz="1400" dirty="0"/>
              <a:t> </a:t>
            </a:r>
            <a:r>
              <a:rPr lang="en-GB" altLang="zh-CN" sz="1400" dirty="0">
                <a:solidFill>
                  <a:srgbClr val="0033B3"/>
                </a:solidFill>
                <a:effectLst/>
              </a:rPr>
              <a:t>import </a:t>
            </a:r>
            <a:r>
              <a:rPr lang="en-GB" altLang="zh-CN" sz="1400" dirty="0" err="1"/>
              <a:t>silhouette_score</a:t>
            </a:r>
            <a:br>
              <a:rPr lang="en-GB" altLang="zh-CN" sz="1400" dirty="0"/>
            </a:br>
            <a:br>
              <a:rPr lang="en-GB" altLang="zh-CN" sz="1400" dirty="0"/>
            </a:br>
            <a:r>
              <a:rPr lang="en-GB" altLang="zh-CN" sz="1400" i="1" dirty="0">
                <a:solidFill>
                  <a:srgbClr val="8C8C8C"/>
                </a:solidFill>
                <a:effectLst/>
              </a:rPr>
              <a:t># </a:t>
            </a:r>
            <a:r>
              <a:rPr lang="zh-CN" altLang="en-US" sz="1400" i="1" dirty="0">
                <a:solidFill>
                  <a:srgbClr val="8C8C8C"/>
                </a:solidFill>
                <a:effectLst/>
              </a:rPr>
              <a:t>聚类分析用户分群</a:t>
            </a:r>
            <a:br>
              <a:rPr lang="zh-CN" altLang="en-US" sz="1400" i="1" dirty="0">
                <a:solidFill>
                  <a:srgbClr val="8C8C8C"/>
                </a:solidFill>
                <a:effectLst/>
              </a:rPr>
            </a:br>
            <a:r>
              <a:rPr lang="en-GB" altLang="zh-CN" sz="1400" dirty="0">
                <a:solidFill>
                  <a:srgbClr val="0033B3"/>
                </a:solidFill>
                <a:effectLst/>
              </a:rPr>
              <a:t>def </a:t>
            </a:r>
            <a:r>
              <a:rPr lang="en-GB" altLang="zh-CN" sz="1400" dirty="0">
                <a:solidFill>
                  <a:srgbClr val="00627A"/>
                </a:solidFill>
                <a:effectLst/>
              </a:rPr>
              <a:t>dm01_</a:t>
            </a:r>
            <a:r>
              <a:rPr lang="zh-CN" altLang="en-US" sz="1400" dirty="0">
                <a:solidFill>
                  <a:srgbClr val="00627A"/>
                </a:solidFill>
                <a:effectLst/>
              </a:rPr>
              <a:t>聚类分析用户群</a:t>
            </a:r>
            <a:r>
              <a:rPr lang="en-US" altLang="zh-CN" sz="1400" dirty="0"/>
              <a:t>():</a:t>
            </a:r>
            <a:br>
              <a:rPr lang="en-US" altLang="zh-CN" sz="1400" dirty="0"/>
            </a:br>
            <a:r>
              <a:rPr lang="en-US" altLang="zh-CN" sz="1400" dirty="0"/>
              <a:t>    </a:t>
            </a:r>
            <a:r>
              <a:rPr lang="en-GB" altLang="zh-CN" sz="1400" dirty="0"/>
              <a:t>dataset = </a:t>
            </a:r>
            <a:r>
              <a:rPr lang="en-GB" altLang="zh-CN" sz="1400" dirty="0" err="1"/>
              <a:t>pd.read_csv</a:t>
            </a:r>
            <a:r>
              <a:rPr lang="en-GB" altLang="zh-CN" sz="1400" dirty="0"/>
              <a:t>(</a:t>
            </a:r>
            <a:r>
              <a:rPr lang="en-GB" altLang="zh-CN" sz="1400" dirty="0">
                <a:solidFill>
                  <a:srgbClr val="067D17"/>
                </a:solidFill>
                <a:effectLst/>
              </a:rPr>
              <a:t>'data/</a:t>
            </a:r>
            <a:r>
              <a:rPr lang="en-GB" altLang="zh-CN" sz="1400" dirty="0" err="1">
                <a:solidFill>
                  <a:srgbClr val="067D17"/>
                </a:solidFill>
                <a:effectLst/>
              </a:rPr>
              <a:t>customers.csv</a:t>
            </a:r>
            <a:r>
              <a:rPr lang="en-GB" altLang="zh-CN" sz="1400" dirty="0">
                <a:solidFill>
                  <a:srgbClr val="067D17"/>
                </a:solidFill>
                <a:effectLst/>
              </a:rPr>
              <a:t>'</a:t>
            </a:r>
            <a:r>
              <a:rPr lang="en-GB" altLang="zh-CN" sz="1400" dirty="0"/>
              <a:t>)</a:t>
            </a:r>
            <a:br>
              <a:rPr lang="en-GB" altLang="zh-CN" sz="1400" dirty="0"/>
            </a:br>
            <a:r>
              <a:rPr lang="en-GB" altLang="zh-CN" sz="1400" dirty="0"/>
              <a:t>    </a:t>
            </a:r>
            <a:r>
              <a:rPr lang="en-GB" altLang="zh-CN" sz="1400" dirty="0" err="1"/>
              <a:t>dataset.info</a:t>
            </a:r>
            <a:r>
              <a:rPr lang="en-GB" altLang="zh-CN" sz="1400" dirty="0"/>
              <a:t>()</a:t>
            </a: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dirty="0">
                <a:solidFill>
                  <a:srgbClr val="067D17"/>
                </a:solidFill>
                <a:effectLst/>
              </a:rPr>
              <a:t>'dataset--&gt;</a:t>
            </a:r>
            <a:r>
              <a:rPr lang="en-GB" altLang="zh-CN" sz="1400" dirty="0">
                <a:solidFill>
                  <a:srgbClr val="0037A6"/>
                </a:solidFill>
                <a:effectLst/>
              </a:rPr>
              <a:t>\n</a:t>
            </a:r>
            <a:r>
              <a:rPr lang="en-GB" altLang="zh-CN" sz="1400" dirty="0">
                <a:solidFill>
                  <a:srgbClr val="067D17"/>
                </a:solidFill>
                <a:effectLst/>
              </a:rPr>
              <a:t>'</a:t>
            </a:r>
            <a:r>
              <a:rPr lang="en-GB" altLang="zh-CN" sz="1400" dirty="0"/>
              <a:t>, dataset)</a:t>
            </a:r>
            <a:br>
              <a:rPr lang="en-GB" altLang="zh-CN" sz="1400" dirty="0"/>
            </a:br>
            <a:br>
              <a:rPr lang="en-GB" altLang="zh-CN" sz="1400" dirty="0"/>
            </a:br>
            <a:r>
              <a:rPr lang="en-GB" altLang="zh-CN" sz="1400" dirty="0"/>
              <a:t>    X = </a:t>
            </a:r>
            <a:r>
              <a:rPr lang="en-GB" altLang="zh-CN" sz="1400" dirty="0" err="1"/>
              <a:t>dataset.iloc</a:t>
            </a:r>
            <a:r>
              <a:rPr lang="en-GB" altLang="zh-CN" sz="1400" dirty="0"/>
              <a:t>[:, [</a:t>
            </a:r>
            <a:r>
              <a:rPr lang="en-GB" altLang="zh-CN" sz="1400" dirty="0">
                <a:solidFill>
                  <a:srgbClr val="1750EB"/>
                </a:solidFill>
                <a:effectLst/>
              </a:rPr>
              <a:t>3</a:t>
            </a:r>
            <a:r>
              <a:rPr lang="en-GB" altLang="zh-CN" sz="1400" dirty="0"/>
              <a:t>, </a:t>
            </a:r>
            <a:r>
              <a:rPr lang="en-GB" altLang="zh-CN" sz="1400" dirty="0">
                <a:solidFill>
                  <a:srgbClr val="1750EB"/>
                </a:solidFill>
                <a:effectLst/>
              </a:rPr>
              <a:t>4</a:t>
            </a:r>
            <a:r>
              <a:rPr lang="en-GB" altLang="zh-CN" sz="1400" dirty="0"/>
              <a:t>]]</a:t>
            </a: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dirty="0">
                <a:solidFill>
                  <a:srgbClr val="067D17"/>
                </a:solidFill>
                <a:effectLst/>
              </a:rPr>
              <a:t>'X--&gt;</a:t>
            </a:r>
            <a:r>
              <a:rPr lang="en-GB" altLang="zh-CN" sz="1400" dirty="0">
                <a:solidFill>
                  <a:srgbClr val="0037A6"/>
                </a:solidFill>
                <a:effectLst/>
              </a:rPr>
              <a:t>\n</a:t>
            </a:r>
            <a:r>
              <a:rPr lang="en-GB" altLang="zh-CN" sz="1400" dirty="0">
                <a:solidFill>
                  <a:srgbClr val="067D17"/>
                </a:solidFill>
                <a:effectLst/>
              </a:rPr>
              <a:t>'</a:t>
            </a:r>
            <a:r>
              <a:rPr lang="en-GB" altLang="zh-CN" sz="1400" dirty="0"/>
              <a:t>, X)</a:t>
            </a:r>
            <a:br>
              <a:rPr lang="en-GB" altLang="zh-CN" sz="1400" dirty="0"/>
            </a:br>
            <a:r>
              <a:rPr lang="en-GB" altLang="zh-CN" sz="1400" dirty="0"/>
              <a:t>    </a:t>
            </a:r>
            <a:r>
              <a:rPr lang="en-GB" altLang="zh-CN" sz="1400" dirty="0" err="1"/>
              <a:t>mysse</a:t>
            </a:r>
            <a:r>
              <a:rPr lang="en-GB" altLang="zh-CN" sz="1400" dirty="0"/>
              <a:t> = []</a:t>
            </a:r>
            <a:br>
              <a:rPr lang="en-GB" altLang="zh-CN" sz="1400" dirty="0"/>
            </a:br>
            <a:r>
              <a:rPr lang="en-GB" altLang="zh-CN" sz="1400" dirty="0"/>
              <a:t>    </a:t>
            </a:r>
            <a:r>
              <a:rPr lang="en-GB" altLang="zh-CN" sz="1400" dirty="0" err="1"/>
              <a:t>mysscore</a:t>
            </a:r>
            <a:r>
              <a:rPr lang="en-GB" altLang="zh-CN" sz="1400" dirty="0"/>
              <a:t> = []</a:t>
            </a:r>
            <a:br>
              <a:rPr lang="en-GB" altLang="zh-CN" sz="1400" dirty="0"/>
            </a:br>
            <a:br>
              <a:rPr lang="en-GB" altLang="zh-CN" sz="1400" dirty="0"/>
            </a:br>
            <a:r>
              <a:rPr lang="en-GB" altLang="zh-CN" sz="1400" dirty="0"/>
              <a:t>    </a:t>
            </a:r>
            <a:r>
              <a:rPr lang="en-GB" altLang="zh-CN" sz="1400" i="1" dirty="0">
                <a:solidFill>
                  <a:srgbClr val="8C8C8C"/>
                </a:solidFill>
                <a:effectLst/>
              </a:rPr>
              <a:t># </a:t>
            </a:r>
            <a:r>
              <a:rPr lang="zh-CN" altLang="en-US" sz="1400" i="1" dirty="0">
                <a:solidFill>
                  <a:srgbClr val="8C8C8C"/>
                </a:solidFill>
                <a:effectLst/>
              </a:rPr>
              <a:t>评估聚类个数</a:t>
            </a:r>
            <a:br>
              <a:rPr lang="zh-CN" altLang="en-US" sz="1400" i="1" dirty="0">
                <a:solidFill>
                  <a:srgbClr val="8C8C8C"/>
                </a:solidFill>
                <a:effectLst/>
              </a:rPr>
            </a:br>
            <a:r>
              <a:rPr lang="zh-CN" altLang="en-US" sz="1400" i="1" dirty="0">
                <a:solidFill>
                  <a:srgbClr val="8C8C8C"/>
                </a:solidFill>
                <a:effectLst/>
              </a:rPr>
              <a:t>    </a:t>
            </a:r>
            <a:r>
              <a:rPr lang="en-GB" altLang="zh-CN" sz="1400" dirty="0">
                <a:solidFill>
                  <a:srgbClr val="0033B3"/>
                </a:solidFill>
                <a:effectLst/>
              </a:rPr>
              <a:t>for </a:t>
            </a:r>
            <a:r>
              <a:rPr lang="en-GB" altLang="zh-CN" sz="1400" dirty="0" err="1"/>
              <a:t>i</a:t>
            </a:r>
            <a:r>
              <a:rPr lang="en-GB" altLang="zh-CN" sz="1400" dirty="0"/>
              <a:t> </a:t>
            </a:r>
            <a:r>
              <a:rPr lang="en-GB" altLang="zh-CN" sz="1400" dirty="0">
                <a:solidFill>
                  <a:srgbClr val="0033B3"/>
                </a:solidFill>
                <a:effectLst/>
              </a:rPr>
              <a:t>in </a:t>
            </a:r>
            <a:r>
              <a:rPr lang="en-GB" altLang="zh-CN" sz="1400" dirty="0">
                <a:solidFill>
                  <a:srgbClr val="000080"/>
                </a:solidFill>
                <a:effectLst/>
              </a:rPr>
              <a:t>range</a:t>
            </a:r>
            <a:r>
              <a:rPr lang="en-GB" altLang="zh-CN" sz="1400" dirty="0"/>
              <a:t>(</a:t>
            </a:r>
            <a:r>
              <a:rPr lang="en-GB" altLang="zh-CN" sz="1400" dirty="0">
                <a:solidFill>
                  <a:srgbClr val="1750EB"/>
                </a:solidFill>
                <a:effectLst/>
              </a:rPr>
              <a:t>2</a:t>
            </a:r>
            <a:r>
              <a:rPr lang="en-GB" altLang="zh-CN" sz="1400" dirty="0"/>
              <a:t>, </a:t>
            </a:r>
            <a:r>
              <a:rPr lang="en-GB" altLang="zh-CN" sz="1400" dirty="0">
                <a:solidFill>
                  <a:srgbClr val="1750EB"/>
                </a:solidFill>
                <a:effectLst/>
              </a:rPr>
              <a:t>11</a:t>
            </a:r>
            <a:r>
              <a:rPr lang="en-GB" altLang="zh-CN" sz="1400" dirty="0"/>
              <a:t>):</a:t>
            </a:r>
            <a:br>
              <a:rPr lang="en-GB" altLang="zh-CN" sz="1400" dirty="0"/>
            </a:br>
            <a:r>
              <a:rPr lang="en-GB" altLang="zh-CN" sz="1400" dirty="0"/>
              <a:t>        </a:t>
            </a:r>
            <a:r>
              <a:rPr lang="en-GB" altLang="zh-CN" sz="1400" dirty="0" err="1"/>
              <a:t>mykeans</a:t>
            </a:r>
            <a:r>
              <a:rPr lang="en-GB" altLang="zh-CN" sz="1400" dirty="0"/>
              <a:t> = </a:t>
            </a:r>
            <a:r>
              <a:rPr lang="en-GB" altLang="zh-CN" sz="1400" dirty="0" err="1"/>
              <a:t>KMeans</a:t>
            </a:r>
            <a:r>
              <a:rPr lang="en-GB" altLang="zh-CN" sz="1400" dirty="0"/>
              <a:t>(</a:t>
            </a:r>
            <a:r>
              <a:rPr lang="en-GB" altLang="zh-CN" sz="1400" dirty="0" err="1">
                <a:solidFill>
                  <a:srgbClr val="660099"/>
                </a:solidFill>
                <a:effectLst/>
              </a:rPr>
              <a:t>n_clusters</a:t>
            </a:r>
            <a:r>
              <a:rPr lang="en-GB" altLang="zh-CN" sz="1400" dirty="0"/>
              <a:t>=</a:t>
            </a:r>
            <a:r>
              <a:rPr lang="en-GB" altLang="zh-CN" sz="1400" dirty="0" err="1"/>
              <a:t>i</a:t>
            </a:r>
            <a:r>
              <a:rPr lang="en-GB" altLang="zh-CN" sz="1400" dirty="0"/>
              <a:t>)</a:t>
            </a:r>
            <a:br>
              <a:rPr lang="en-GB" altLang="zh-CN" sz="1400" dirty="0"/>
            </a:br>
            <a:r>
              <a:rPr lang="en-GB" altLang="zh-CN" sz="1400" dirty="0"/>
              <a:t>        </a:t>
            </a:r>
            <a:r>
              <a:rPr lang="en-GB" altLang="zh-CN" sz="1400" dirty="0" err="1"/>
              <a:t>mykeans.fit</a:t>
            </a:r>
            <a:r>
              <a:rPr lang="en-GB" altLang="zh-CN" sz="1400" dirty="0"/>
              <a:t>(X)</a:t>
            </a:r>
            <a:br>
              <a:rPr lang="en-GB" altLang="zh-CN" sz="1400" dirty="0"/>
            </a:br>
            <a:r>
              <a:rPr lang="en-GB" altLang="zh-CN" sz="1400" dirty="0"/>
              <a:t>        </a:t>
            </a:r>
            <a:r>
              <a:rPr lang="en-GB" altLang="zh-CN" sz="1400" dirty="0" err="1"/>
              <a:t>mysse.append</a:t>
            </a:r>
            <a:r>
              <a:rPr lang="en-GB" altLang="zh-CN" sz="1400" dirty="0"/>
              <a:t>(</a:t>
            </a:r>
            <a:r>
              <a:rPr lang="en-GB" altLang="zh-CN" sz="1400" dirty="0" err="1"/>
              <a:t>mykeans.inertia</a:t>
            </a:r>
            <a:r>
              <a:rPr lang="en-GB" altLang="zh-CN" sz="1400" dirty="0"/>
              <a:t>_)      </a:t>
            </a:r>
            <a:r>
              <a:rPr lang="en-GB" altLang="zh-CN" sz="1400" i="1" dirty="0">
                <a:solidFill>
                  <a:srgbClr val="8C8C8C"/>
                </a:solidFill>
                <a:effectLst/>
              </a:rPr>
              <a:t># inertia </a:t>
            </a:r>
            <a:r>
              <a:rPr lang="zh-CN" altLang="en-US" sz="1400" i="1" dirty="0">
                <a:solidFill>
                  <a:srgbClr val="8C8C8C"/>
                </a:solidFill>
                <a:effectLst/>
              </a:rPr>
              <a:t>簇内误差平方和</a:t>
            </a:r>
            <a:br>
              <a:rPr lang="zh-CN" altLang="en-US" sz="1400" i="1" dirty="0">
                <a:solidFill>
                  <a:srgbClr val="8C8C8C"/>
                </a:solidFill>
                <a:effectLst/>
              </a:rPr>
            </a:br>
            <a:r>
              <a:rPr lang="zh-CN" altLang="en-US" sz="1400" i="1" dirty="0">
                <a:solidFill>
                  <a:srgbClr val="8C8C8C"/>
                </a:solidFill>
                <a:effectLst/>
              </a:rPr>
              <a:t>        </a:t>
            </a:r>
            <a:r>
              <a:rPr lang="en-GB" altLang="zh-CN" sz="1400" dirty="0"/>
              <a:t>ret = </a:t>
            </a:r>
            <a:r>
              <a:rPr lang="en-GB" altLang="zh-CN" sz="1400" dirty="0" err="1"/>
              <a:t>mykeans.predict</a:t>
            </a:r>
            <a:r>
              <a:rPr lang="en-GB" altLang="zh-CN" sz="1400" dirty="0"/>
              <a:t>(X)</a:t>
            </a:r>
            <a:br>
              <a:rPr lang="en-GB" altLang="zh-CN" sz="1400" dirty="0"/>
            </a:br>
            <a:r>
              <a:rPr lang="en-GB" altLang="zh-CN" sz="1400" dirty="0"/>
              <a:t>        </a:t>
            </a:r>
            <a:r>
              <a:rPr lang="en-GB" altLang="zh-CN" sz="1400" dirty="0" err="1"/>
              <a:t>mysscore.append</a:t>
            </a:r>
            <a:r>
              <a:rPr lang="en-GB" altLang="zh-CN" sz="1400" dirty="0"/>
              <a:t>(</a:t>
            </a:r>
            <a:r>
              <a:rPr lang="en-GB" altLang="zh-CN" sz="1400" dirty="0" err="1"/>
              <a:t>silhouette_score</a:t>
            </a:r>
            <a:r>
              <a:rPr lang="en-GB" altLang="zh-CN" sz="1400" dirty="0"/>
              <a:t>(X, ret))    </a:t>
            </a:r>
            <a:r>
              <a:rPr lang="en-GB" altLang="zh-CN" sz="1400" i="1" dirty="0">
                <a:solidFill>
                  <a:srgbClr val="8C8C8C"/>
                </a:solidFill>
                <a:effectLst/>
              </a:rPr>
              <a:t># </a:t>
            </a:r>
            <a:r>
              <a:rPr lang="en-GB" altLang="zh-CN" sz="1400" i="1" dirty="0" err="1">
                <a:solidFill>
                  <a:srgbClr val="8C8C8C"/>
                </a:solidFill>
                <a:effectLst/>
              </a:rPr>
              <a:t>sc</a:t>
            </a:r>
            <a:r>
              <a:rPr lang="zh-CN" altLang="en-US" sz="1400" i="1" dirty="0">
                <a:solidFill>
                  <a:srgbClr val="8C8C8C"/>
                </a:solidFill>
                <a:effectLst/>
              </a:rPr>
              <a:t>系数 聚类需要</a:t>
            </a:r>
            <a:r>
              <a:rPr lang="en-US" altLang="zh-CN" sz="1400" i="1" dirty="0">
                <a:solidFill>
                  <a:srgbClr val="8C8C8C"/>
                </a:solidFill>
                <a:effectLst/>
              </a:rPr>
              <a:t>1</a:t>
            </a:r>
            <a:r>
              <a:rPr lang="zh-CN" altLang="en-US" sz="1400" i="1" dirty="0">
                <a:solidFill>
                  <a:srgbClr val="8C8C8C"/>
                </a:solidFill>
                <a:effectLst/>
              </a:rPr>
              <a:t>个以上的类别</a:t>
            </a:r>
            <a:endParaRPr kumimoji="0" lang="en-GB" altLang="zh-CN" sz="14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endParaRPr>
          </a:p>
        </p:txBody>
      </p:sp>
      <p:sp>
        <p:nvSpPr>
          <p:cNvPr id="2" name="TextBox 3"/>
          <p:cNvSpPr txBox="1"/>
          <p:nvPr/>
        </p:nvSpPr>
        <p:spPr>
          <a:xfrm>
            <a:off x="7797212" y="1357169"/>
            <a:ext cx="3768973" cy="2893100"/>
          </a:xfrm>
          <a:prstGeom prst="rect">
            <a:avLst/>
          </a:prstGeom>
          <a:solidFill>
            <a:srgbClr val="FFFFE4"/>
          </a:solidFill>
          <a:ln w="3175">
            <a:solidFill>
              <a:srgbClr val="91919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br>
              <a:rPr lang="zh-CN" altLang="en-US" sz="1400" i="1" dirty="0">
                <a:solidFill>
                  <a:srgbClr val="8C8C8C"/>
                </a:solidFill>
                <a:effectLst/>
              </a:rPr>
            </a:br>
            <a:r>
              <a:rPr lang="zh-CN" altLang="en-US" sz="1400" i="1" dirty="0">
                <a:solidFill>
                  <a:srgbClr val="8C8C8C"/>
                </a:solidFill>
                <a:effectLst/>
              </a:rPr>
              <a:t>    </a:t>
            </a:r>
            <a:r>
              <a:rPr lang="en-GB" altLang="zh-CN" sz="1400" dirty="0" err="1"/>
              <a:t>plt.plot</a:t>
            </a:r>
            <a:r>
              <a:rPr lang="en-GB" altLang="zh-CN" sz="1400" dirty="0"/>
              <a:t>(</a:t>
            </a:r>
            <a:r>
              <a:rPr lang="en-GB" altLang="zh-CN" sz="1400" dirty="0">
                <a:solidFill>
                  <a:srgbClr val="000080"/>
                </a:solidFill>
                <a:effectLst/>
              </a:rPr>
              <a:t>range</a:t>
            </a:r>
            <a:r>
              <a:rPr lang="en-GB" altLang="zh-CN" sz="1400" dirty="0"/>
              <a:t>(</a:t>
            </a:r>
            <a:r>
              <a:rPr lang="en-GB" altLang="zh-CN" sz="1400" dirty="0">
                <a:solidFill>
                  <a:srgbClr val="1750EB"/>
                </a:solidFill>
                <a:effectLst/>
              </a:rPr>
              <a:t>2</a:t>
            </a:r>
            <a:r>
              <a:rPr lang="en-GB" altLang="zh-CN" sz="1400" dirty="0"/>
              <a:t>, </a:t>
            </a:r>
            <a:r>
              <a:rPr lang="en-GB" altLang="zh-CN" sz="1400" dirty="0">
                <a:solidFill>
                  <a:srgbClr val="1750EB"/>
                </a:solidFill>
                <a:effectLst/>
              </a:rPr>
              <a:t>11</a:t>
            </a:r>
            <a:r>
              <a:rPr lang="en-GB" altLang="zh-CN" sz="1400" dirty="0"/>
              <a:t>), </a:t>
            </a:r>
            <a:r>
              <a:rPr lang="en-GB" altLang="zh-CN" sz="1400" dirty="0" err="1"/>
              <a:t>mysse</a:t>
            </a:r>
            <a:r>
              <a:rPr lang="en-GB" altLang="zh-CN" sz="1400" dirty="0"/>
              <a:t>)</a:t>
            </a:r>
            <a:br>
              <a:rPr lang="en-GB" altLang="zh-CN" sz="1400" dirty="0"/>
            </a:br>
            <a:r>
              <a:rPr lang="en-GB" altLang="zh-CN" sz="1400" dirty="0"/>
              <a:t>    </a:t>
            </a:r>
            <a:r>
              <a:rPr lang="en-GB" altLang="zh-CN" sz="1400" dirty="0" err="1"/>
              <a:t>plt.title</a:t>
            </a:r>
            <a:r>
              <a:rPr lang="en-GB" altLang="zh-CN" sz="1400" dirty="0"/>
              <a:t>(</a:t>
            </a:r>
            <a:r>
              <a:rPr lang="en-GB" altLang="zh-CN" sz="1400" dirty="0">
                <a:solidFill>
                  <a:srgbClr val="067D17"/>
                </a:solidFill>
                <a:effectLst/>
              </a:rPr>
              <a:t>'the elbow method'</a:t>
            </a:r>
            <a:r>
              <a:rPr lang="en-GB" altLang="zh-CN" sz="1400" dirty="0"/>
              <a:t>)</a:t>
            </a:r>
            <a:br>
              <a:rPr lang="en-GB" altLang="zh-CN" sz="1400" dirty="0"/>
            </a:br>
            <a:r>
              <a:rPr lang="en-GB" altLang="zh-CN" sz="1400" dirty="0"/>
              <a:t>    </a:t>
            </a:r>
            <a:r>
              <a:rPr lang="en-GB" altLang="zh-CN" sz="1400" dirty="0" err="1"/>
              <a:t>plt.xlabel</a:t>
            </a:r>
            <a:r>
              <a:rPr lang="en-GB" altLang="zh-CN" sz="1400" dirty="0"/>
              <a:t>(</a:t>
            </a:r>
            <a:r>
              <a:rPr lang="en-GB" altLang="zh-CN" sz="1400" dirty="0">
                <a:solidFill>
                  <a:srgbClr val="067D17"/>
                </a:solidFill>
                <a:effectLst/>
              </a:rPr>
              <a:t>'number of clusters'</a:t>
            </a:r>
            <a:r>
              <a:rPr lang="en-GB" altLang="zh-CN" sz="1400" dirty="0"/>
              <a:t>)</a:t>
            </a:r>
            <a:br>
              <a:rPr lang="en-GB" altLang="zh-CN" sz="1400" dirty="0"/>
            </a:br>
            <a:r>
              <a:rPr lang="en-GB" altLang="zh-CN" sz="1400" dirty="0"/>
              <a:t>    </a:t>
            </a:r>
            <a:r>
              <a:rPr lang="en-GB" altLang="zh-CN" sz="1400" dirty="0" err="1"/>
              <a:t>plt.ylabel</a:t>
            </a:r>
            <a:r>
              <a:rPr lang="en-GB" altLang="zh-CN" sz="1400" dirty="0"/>
              <a:t>(</a:t>
            </a:r>
            <a:r>
              <a:rPr lang="en-GB" altLang="zh-CN" sz="1400" dirty="0">
                <a:solidFill>
                  <a:srgbClr val="067D17"/>
                </a:solidFill>
                <a:effectLst/>
              </a:rPr>
              <a:t>'</a:t>
            </a:r>
            <a:r>
              <a:rPr lang="en-GB" altLang="zh-CN" sz="1400" dirty="0" err="1">
                <a:solidFill>
                  <a:srgbClr val="067D17"/>
                </a:solidFill>
                <a:effectLst/>
              </a:rPr>
              <a:t>mysse</a:t>
            </a:r>
            <a:r>
              <a:rPr lang="en-GB" altLang="zh-CN" sz="1400" dirty="0">
                <a:solidFill>
                  <a:srgbClr val="067D17"/>
                </a:solidFill>
                <a:effectLst/>
              </a:rPr>
              <a:t>'</a:t>
            </a:r>
            <a:r>
              <a:rPr lang="en-GB" altLang="zh-CN" sz="1400" dirty="0"/>
              <a:t>)</a:t>
            </a:r>
            <a:br>
              <a:rPr lang="en-GB" altLang="zh-CN" sz="1400" dirty="0"/>
            </a:br>
            <a:r>
              <a:rPr lang="en-GB" altLang="zh-CN" sz="1400" dirty="0"/>
              <a:t>    </a:t>
            </a:r>
            <a:r>
              <a:rPr lang="en-GB" altLang="zh-CN" sz="1400" dirty="0" err="1"/>
              <a:t>plt.grid</a:t>
            </a:r>
            <a:r>
              <a:rPr lang="en-GB" altLang="zh-CN" sz="1400" dirty="0"/>
              <a:t>()</a:t>
            </a:r>
            <a:br>
              <a:rPr lang="en-GB" altLang="zh-CN" sz="1400" dirty="0"/>
            </a:br>
            <a:r>
              <a:rPr lang="en-GB" altLang="zh-CN" sz="1400" dirty="0"/>
              <a:t>    </a:t>
            </a:r>
            <a:r>
              <a:rPr lang="en-GB" altLang="zh-CN" sz="1400" dirty="0" err="1"/>
              <a:t>plt.show</a:t>
            </a:r>
            <a:r>
              <a:rPr lang="en-GB" altLang="zh-CN" sz="1400" dirty="0"/>
              <a:t>()</a:t>
            </a:r>
            <a:br>
              <a:rPr lang="en-GB" altLang="zh-CN" sz="1400" dirty="0"/>
            </a:br>
            <a:br>
              <a:rPr lang="en-GB" altLang="zh-CN" sz="1400" dirty="0"/>
            </a:br>
            <a:r>
              <a:rPr lang="en-GB" altLang="zh-CN" sz="1400" dirty="0"/>
              <a:t>    </a:t>
            </a:r>
            <a:r>
              <a:rPr lang="en-GB" altLang="zh-CN" sz="1400" dirty="0" err="1"/>
              <a:t>plt.title</a:t>
            </a:r>
            <a:r>
              <a:rPr lang="en-GB" altLang="zh-CN" sz="1400" dirty="0"/>
              <a:t>(</a:t>
            </a:r>
            <a:r>
              <a:rPr lang="en-GB" altLang="zh-CN" sz="1400" dirty="0">
                <a:solidFill>
                  <a:srgbClr val="067D17"/>
                </a:solidFill>
                <a:effectLst/>
              </a:rPr>
              <a:t>'</a:t>
            </a:r>
            <a:r>
              <a:rPr lang="en-GB" altLang="zh-CN" sz="1400" dirty="0" err="1">
                <a:solidFill>
                  <a:srgbClr val="067D17"/>
                </a:solidFill>
                <a:effectLst/>
              </a:rPr>
              <a:t>sh</a:t>
            </a:r>
            <a:r>
              <a:rPr lang="en-GB" altLang="zh-CN" sz="1400" dirty="0">
                <a:solidFill>
                  <a:srgbClr val="067D17"/>
                </a:solidFill>
                <a:effectLst/>
              </a:rPr>
              <a:t>'</a:t>
            </a:r>
            <a:r>
              <a:rPr lang="en-GB" altLang="zh-CN" sz="1400" dirty="0"/>
              <a:t>)</a:t>
            </a:r>
            <a:br>
              <a:rPr lang="en-GB" altLang="zh-CN" sz="1400" dirty="0"/>
            </a:br>
            <a:r>
              <a:rPr lang="en-GB" altLang="zh-CN" sz="1400" dirty="0"/>
              <a:t>    </a:t>
            </a:r>
            <a:r>
              <a:rPr lang="en-GB" altLang="zh-CN" sz="1400" dirty="0" err="1"/>
              <a:t>plt.plot</a:t>
            </a:r>
            <a:r>
              <a:rPr lang="en-GB" altLang="zh-CN" sz="1400" dirty="0"/>
              <a:t>(</a:t>
            </a:r>
            <a:r>
              <a:rPr lang="en-GB" altLang="zh-CN" sz="1400" dirty="0">
                <a:solidFill>
                  <a:srgbClr val="000080"/>
                </a:solidFill>
                <a:effectLst/>
              </a:rPr>
              <a:t>range</a:t>
            </a:r>
            <a:r>
              <a:rPr lang="en-GB" altLang="zh-CN" sz="1400" dirty="0"/>
              <a:t>(</a:t>
            </a:r>
            <a:r>
              <a:rPr lang="en-GB" altLang="zh-CN" sz="1400" dirty="0">
                <a:solidFill>
                  <a:srgbClr val="1750EB"/>
                </a:solidFill>
                <a:effectLst/>
              </a:rPr>
              <a:t>2</a:t>
            </a:r>
            <a:r>
              <a:rPr lang="en-GB" altLang="zh-CN" sz="1400" dirty="0"/>
              <a:t>, </a:t>
            </a:r>
            <a:r>
              <a:rPr lang="en-GB" altLang="zh-CN" sz="1400" dirty="0">
                <a:solidFill>
                  <a:srgbClr val="1750EB"/>
                </a:solidFill>
                <a:effectLst/>
              </a:rPr>
              <a:t>11</a:t>
            </a:r>
            <a:r>
              <a:rPr lang="en-GB" altLang="zh-CN" sz="1400" dirty="0"/>
              <a:t>), </a:t>
            </a:r>
            <a:r>
              <a:rPr lang="en-GB" altLang="zh-CN" sz="1400" dirty="0" err="1"/>
              <a:t>mysscore</a:t>
            </a:r>
            <a:r>
              <a:rPr lang="en-GB" altLang="zh-CN" sz="1400" dirty="0"/>
              <a:t>)</a:t>
            </a:r>
            <a:br>
              <a:rPr lang="en-GB" altLang="zh-CN" sz="1400" dirty="0"/>
            </a:br>
            <a:r>
              <a:rPr lang="en-GB" altLang="zh-CN" sz="1400" dirty="0"/>
              <a:t>    </a:t>
            </a:r>
            <a:r>
              <a:rPr lang="en-GB" altLang="zh-CN" sz="1400" dirty="0" err="1"/>
              <a:t>plt.grid</a:t>
            </a:r>
            <a:r>
              <a:rPr lang="en-GB" altLang="zh-CN" sz="1400" dirty="0"/>
              <a:t>(</a:t>
            </a:r>
            <a:r>
              <a:rPr lang="en-GB" altLang="zh-CN" sz="1400" dirty="0">
                <a:solidFill>
                  <a:srgbClr val="0033B3"/>
                </a:solidFill>
                <a:effectLst/>
              </a:rPr>
              <a:t>True</a:t>
            </a:r>
            <a:r>
              <a:rPr lang="en-GB" altLang="zh-CN" sz="1400" dirty="0"/>
              <a:t>)</a:t>
            </a:r>
            <a:br>
              <a:rPr lang="en-GB" altLang="zh-CN" sz="1400" dirty="0"/>
            </a:br>
            <a:r>
              <a:rPr lang="en-GB" altLang="zh-CN" sz="1400" dirty="0"/>
              <a:t>    </a:t>
            </a:r>
            <a:r>
              <a:rPr lang="en-GB" altLang="zh-CN" sz="1400" dirty="0" err="1"/>
              <a:t>plt.show</a:t>
            </a:r>
            <a:r>
              <a:rPr lang="en-GB" altLang="zh-CN" sz="1400" dirty="0"/>
              <a:t>()</a:t>
            </a:r>
            <a:br>
              <a:rPr lang="en-GB" altLang="zh-CN" sz="1400" dirty="0"/>
            </a:br>
            <a:r>
              <a:rPr lang="en-GB" altLang="zh-CN" sz="1400" dirty="0"/>
              <a:t>    </a:t>
            </a:r>
            <a:r>
              <a:rPr lang="en-GB" altLang="zh-CN" sz="1400" dirty="0">
                <a:solidFill>
                  <a:srgbClr val="0033B3"/>
                </a:solidFill>
                <a:effectLst/>
              </a:rPr>
              <a:t>pass</a:t>
            </a:r>
            <a:endParaRPr kumimoji="0" lang="en-GB" altLang="zh-CN" sz="14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9982788"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案例：顾客数据聚类分析</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2" name="文本占位符 2"/>
          <p:cNvSpPr txBox="1"/>
          <p:nvPr/>
        </p:nvSpPr>
        <p:spPr>
          <a:xfrm>
            <a:off x="1055799" y="1417155"/>
            <a:ext cx="3452406" cy="39038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效果分析</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endParaRPr kumimoji="0" lang="en-US" altLang="zh-CN" sz="1600" b="0" i="0" u="none" strike="noStrike" kern="1200" cap="none" spc="0" normalizeH="0" baseline="0" noProof="0" dirty="0">
              <a:ln>
                <a:noFill/>
              </a:ln>
              <a:solidFill>
                <a:srgbClr val="C0504D">
                  <a:lumMod val="75000"/>
                </a:srgbClr>
              </a:solidFill>
              <a:effectLst/>
              <a:uLnTx/>
              <a:uFillTx/>
              <a:latin typeface="Helvetica Neue" panose="02000503000000020004" pitchFamily="2" charset="0"/>
              <a:ea typeface="Alibaba PuHuiTi" pitchFamily="18" charset="-122"/>
              <a:cs typeface="Alibaba PuHuiTi" pitchFamily="18" charset="-122"/>
            </a:endParaRPr>
          </a:p>
        </p:txBody>
      </p:sp>
      <p:sp>
        <p:nvSpPr>
          <p:cNvPr id="6" name="文本占位符 2"/>
          <p:cNvSpPr txBox="1"/>
          <p:nvPr/>
        </p:nvSpPr>
        <p:spPr>
          <a:xfrm>
            <a:off x="2184483" y="5694728"/>
            <a:ext cx="7035579" cy="39038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0" marR="0" lvl="0" indent="0" algn="l" defTabSz="914400" rtl="0" eaLnBrk="0" fontAlgn="base" latinLnBrk="0" hangingPunct="0">
              <a:lnSpc>
                <a:spcPct val="150000"/>
              </a:lnSpc>
              <a:spcBef>
                <a:spcPct val="20000"/>
              </a:spcBef>
              <a:spcAft>
                <a:spcPct val="0"/>
              </a:spcAft>
              <a:buClrTx/>
              <a:buSzTx/>
              <a:buFont typeface="Arial" panose="020B0604020202020204" pitchFamily="34" charset="0"/>
              <a:buNone/>
              <a:defRPr/>
            </a:pP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通过</a:t>
            </a:r>
            <a:r>
              <a:rPr kumimoji="0" lang="zh-CN" altLang="en-US" sz="16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肘方法、</a:t>
            </a:r>
            <a:r>
              <a:rPr kumimoji="0" lang="en-US" altLang="zh-CN" sz="1600" b="0" i="0" u="none" strike="noStrike" kern="1200" cap="none" spc="0" normalizeH="0" baseline="0" noProof="0" dirty="0" err="1">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sh</a:t>
            </a:r>
            <a:r>
              <a:rPr kumimoji="0" lang="zh-CN" altLang="en-US" sz="16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系数</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都可以看出，</a:t>
            </a:r>
            <a:r>
              <a:rPr kumimoji="0" lang="zh-CN" altLang="en-US" sz="16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聚成</a:t>
            </a:r>
            <a:r>
              <a:rPr kumimoji="0" lang="en-US" altLang="zh-CN" sz="16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5</a:t>
            </a:r>
            <a:r>
              <a:rPr kumimoji="0" lang="zh-CN" altLang="en-US" sz="1600" b="0" i="0" u="none" strike="noStrike" kern="1200" cap="none" spc="0" normalizeH="0" baseline="0" noProof="0" dirty="0">
                <a:ln>
                  <a:noFill/>
                </a:ln>
                <a:solidFill>
                  <a:schemeClr val="accent2">
                    <a:lumMod val="75000"/>
                  </a:schemeClr>
                </a:solidFill>
                <a:effectLst/>
                <a:uLnTx/>
                <a:uFillTx/>
                <a:latin typeface="Alibaba PuHuiTi" pitchFamily="18" charset="-122"/>
                <a:ea typeface="Alibaba PuHuiTi" pitchFamily="18" charset="-122"/>
                <a:cs typeface="Alibaba PuHuiTi" pitchFamily="18" charset="-122"/>
              </a:rPr>
              <a:t>类</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效果最好</a:t>
            </a:r>
            <a:endParaRPr kumimoji="0" lang="en-US" altLang="zh-CN"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endParaRPr>
          </a:p>
        </p:txBody>
      </p:sp>
      <p:pic>
        <p:nvPicPr>
          <p:cNvPr id="5" name="图片 4"/>
          <p:cNvPicPr>
            <a:picLocks noChangeAspect="1"/>
          </p:cNvPicPr>
          <p:nvPr/>
        </p:nvPicPr>
        <p:blipFill>
          <a:blip r:embed="rId1"/>
          <a:stretch>
            <a:fillRect/>
          </a:stretch>
        </p:blipFill>
        <p:spPr>
          <a:xfrm>
            <a:off x="1040697" y="1905738"/>
            <a:ext cx="4822896" cy="3535107"/>
          </a:xfrm>
          <a:prstGeom prst="rect">
            <a:avLst/>
          </a:prstGeom>
        </p:spPr>
      </p:pic>
      <p:pic>
        <p:nvPicPr>
          <p:cNvPr id="7" name="图片 6"/>
          <p:cNvPicPr>
            <a:picLocks noChangeAspect="1"/>
          </p:cNvPicPr>
          <p:nvPr/>
        </p:nvPicPr>
        <p:blipFill>
          <a:blip r:embed="rId2"/>
          <a:stretch>
            <a:fillRect/>
          </a:stretch>
        </p:blipFill>
        <p:spPr>
          <a:xfrm>
            <a:off x="6395291" y="1807535"/>
            <a:ext cx="4298376" cy="3338624"/>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9982788"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案例：顾客数据聚类分析</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7" name="TextBox 3"/>
          <p:cNvSpPr txBox="1"/>
          <p:nvPr/>
        </p:nvSpPr>
        <p:spPr>
          <a:xfrm>
            <a:off x="911045" y="1357169"/>
            <a:ext cx="8785848" cy="4832092"/>
          </a:xfrm>
          <a:prstGeom prst="rect">
            <a:avLst/>
          </a:prstGeom>
          <a:solidFill>
            <a:srgbClr val="FFFFE4"/>
          </a:solidFill>
          <a:ln w="3175">
            <a:solidFill>
              <a:srgbClr val="91919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GB" altLang="zh-CN" sz="1400" dirty="0">
                <a:solidFill>
                  <a:srgbClr val="0033B3"/>
                </a:solidFill>
                <a:effectLst/>
              </a:rPr>
              <a:t>def </a:t>
            </a:r>
            <a:r>
              <a:rPr lang="en-GB" altLang="zh-CN" sz="1400" dirty="0">
                <a:solidFill>
                  <a:srgbClr val="00627A"/>
                </a:solidFill>
                <a:effectLst/>
              </a:rPr>
              <a:t>dm02_</a:t>
            </a:r>
            <a:r>
              <a:rPr lang="zh-CN" altLang="en-US" sz="1400" dirty="0">
                <a:solidFill>
                  <a:srgbClr val="00627A"/>
                </a:solidFill>
                <a:effectLst/>
              </a:rPr>
              <a:t>聚类分析用户群</a:t>
            </a:r>
            <a:r>
              <a:rPr lang="en-US" altLang="zh-CN" sz="1400" dirty="0"/>
              <a:t>():</a:t>
            </a:r>
            <a:br>
              <a:rPr lang="en-US" altLang="zh-CN" sz="1400" dirty="0"/>
            </a:br>
            <a:r>
              <a:rPr lang="en-US" altLang="zh-CN" sz="1400" dirty="0"/>
              <a:t>    </a:t>
            </a:r>
            <a:r>
              <a:rPr lang="en-GB" altLang="zh-CN" sz="1400" dirty="0"/>
              <a:t>dataset = </a:t>
            </a:r>
            <a:r>
              <a:rPr lang="en-GB" altLang="zh-CN" sz="1400" dirty="0" err="1"/>
              <a:t>pd.read_csv</a:t>
            </a:r>
            <a:r>
              <a:rPr lang="en-GB" altLang="zh-CN" sz="1400" dirty="0"/>
              <a:t>(</a:t>
            </a:r>
            <a:r>
              <a:rPr lang="en-GB" altLang="zh-CN" sz="1400" dirty="0">
                <a:solidFill>
                  <a:srgbClr val="067D17"/>
                </a:solidFill>
                <a:effectLst/>
              </a:rPr>
              <a:t>'data/</a:t>
            </a:r>
            <a:r>
              <a:rPr lang="en-GB" altLang="zh-CN" sz="1400" dirty="0" err="1">
                <a:solidFill>
                  <a:srgbClr val="067D17"/>
                </a:solidFill>
                <a:effectLst/>
              </a:rPr>
              <a:t>customers.csv</a:t>
            </a:r>
            <a:r>
              <a:rPr lang="en-GB" altLang="zh-CN" sz="1400" dirty="0">
                <a:solidFill>
                  <a:srgbClr val="067D17"/>
                </a:solidFill>
                <a:effectLst/>
              </a:rPr>
              <a:t>'</a:t>
            </a:r>
            <a:r>
              <a:rPr lang="en-GB" altLang="zh-CN" sz="1400" dirty="0"/>
              <a:t>)</a:t>
            </a:r>
            <a:br>
              <a:rPr lang="en-GB" altLang="zh-CN" sz="1400" dirty="0"/>
            </a:br>
            <a:r>
              <a:rPr lang="en-GB" altLang="zh-CN" sz="1400" dirty="0"/>
              <a:t>    X = </a:t>
            </a:r>
            <a:r>
              <a:rPr lang="en-GB" altLang="zh-CN" sz="1400" dirty="0" err="1"/>
              <a:t>dataset.iloc</a:t>
            </a:r>
            <a:r>
              <a:rPr lang="en-GB" altLang="zh-CN" sz="1400" dirty="0"/>
              <a:t>[:, [</a:t>
            </a:r>
            <a:r>
              <a:rPr lang="en-GB" altLang="zh-CN" sz="1400" dirty="0">
                <a:solidFill>
                  <a:srgbClr val="1750EB"/>
                </a:solidFill>
                <a:effectLst/>
              </a:rPr>
              <a:t>3</a:t>
            </a:r>
            <a:r>
              <a:rPr lang="en-GB" altLang="zh-CN" sz="1400" dirty="0"/>
              <a:t>, </a:t>
            </a:r>
            <a:r>
              <a:rPr lang="en-GB" altLang="zh-CN" sz="1400" dirty="0">
                <a:solidFill>
                  <a:srgbClr val="1750EB"/>
                </a:solidFill>
                <a:effectLst/>
              </a:rPr>
              <a:t>4</a:t>
            </a:r>
            <a:r>
              <a:rPr lang="en-GB" altLang="zh-CN" sz="1400" dirty="0"/>
              <a:t>]]</a:t>
            </a:r>
            <a:br>
              <a:rPr lang="en-GB" altLang="zh-CN" sz="1400" dirty="0"/>
            </a:br>
            <a:r>
              <a:rPr lang="en-GB" altLang="zh-CN" sz="1400" dirty="0"/>
              <a:t>    </a:t>
            </a:r>
            <a:r>
              <a:rPr lang="en-GB" altLang="zh-CN" sz="1400" dirty="0" err="1"/>
              <a:t>mykeans</a:t>
            </a:r>
            <a:r>
              <a:rPr lang="en-GB" altLang="zh-CN" sz="1400" dirty="0"/>
              <a:t> = </a:t>
            </a:r>
            <a:r>
              <a:rPr lang="en-GB" altLang="zh-CN" sz="1400" dirty="0" err="1"/>
              <a:t>KMeans</a:t>
            </a:r>
            <a:r>
              <a:rPr lang="en-GB" altLang="zh-CN" sz="1400" dirty="0"/>
              <a:t>(</a:t>
            </a:r>
            <a:r>
              <a:rPr lang="en-GB" altLang="zh-CN" sz="1400" dirty="0" err="1">
                <a:solidFill>
                  <a:srgbClr val="660099"/>
                </a:solidFill>
                <a:effectLst/>
              </a:rPr>
              <a:t>n_clusters</a:t>
            </a:r>
            <a:r>
              <a:rPr lang="en-GB" altLang="zh-CN" sz="1400" dirty="0"/>
              <a:t>=</a:t>
            </a:r>
            <a:r>
              <a:rPr lang="en-GB" altLang="zh-CN" sz="1400" dirty="0">
                <a:solidFill>
                  <a:srgbClr val="1750EB"/>
                </a:solidFill>
                <a:effectLst/>
              </a:rPr>
              <a:t>5</a:t>
            </a:r>
            <a:r>
              <a:rPr lang="en-GB" altLang="zh-CN" sz="1400" dirty="0"/>
              <a:t>)</a:t>
            </a:r>
            <a:br>
              <a:rPr lang="en-GB" altLang="zh-CN" sz="1400" dirty="0"/>
            </a:br>
            <a:r>
              <a:rPr lang="en-GB" altLang="zh-CN" sz="1400" dirty="0"/>
              <a:t>    </a:t>
            </a:r>
            <a:r>
              <a:rPr lang="en-GB" altLang="zh-CN" sz="1400" dirty="0" err="1"/>
              <a:t>mykeans.fit</a:t>
            </a:r>
            <a:r>
              <a:rPr lang="en-GB" altLang="zh-CN" sz="1400" dirty="0"/>
              <a:t>(X)</a:t>
            </a:r>
            <a:br>
              <a:rPr lang="en-GB" altLang="zh-CN" sz="1400" dirty="0"/>
            </a:br>
            <a:r>
              <a:rPr lang="en-GB" altLang="zh-CN" sz="1400" dirty="0"/>
              <a:t>    </a:t>
            </a:r>
            <a:r>
              <a:rPr lang="en-GB" altLang="zh-CN" sz="1400" dirty="0" err="1"/>
              <a:t>y_kmeans</a:t>
            </a:r>
            <a:r>
              <a:rPr lang="en-GB" altLang="zh-CN" sz="1400" dirty="0"/>
              <a:t> = </a:t>
            </a:r>
            <a:r>
              <a:rPr lang="en-GB" altLang="zh-CN" sz="1400" dirty="0" err="1"/>
              <a:t>mykeans.predict</a:t>
            </a:r>
            <a:r>
              <a:rPr lang="en-GB" altLang="zh-CN" sz="1400" dirty="0"/>
              <a:t>(X)</a:t>
            </a:r>
            <a:br>
              <a:rPr lang="en-GB" altLang="zh-CN" sz="1400" dirty="0"/>
            </a:br>
            <a:br>
              <a:rPr lang="en-GB" altLang="zh-CN" sz="1400" dirty="0"/>
            </a:br>
            <a:r>
              <a:rPr lang="en-GB" altLang="zh-CN" sz="1400" dirty="0"/>
              <a:t>    </a:t>
            </a:r>
            <a:r>
              <a:rPr lang="en-GB" altLang="zh-CN" sz="1400" i="1" dirty="0">
                <a:solidFill>
                  <a:srgbClr val="8C8C8C"/>
                </a:solidFill>
                <a:effectLst/>
              </a:rPr>
              <a:t># </a:t>
            </a:r>
            <a:r>
              <a:rPr lang="zh-CN" altLang="en-US" sz="1400" i="1" dirty="0">
                <a:solidFill>
                  <a:srgbClr val="8C8C8C"/>
                </a:solidFill>
                <a:effectLst/>
              </a:rPr>
              <a:t>把类别是</a:t>
            </a:r>
            <a:r>
              <a:rPr lang="en-US" altLang="zh-CN" sz="1400" i="1" dirty="0">
                <a:solidFill>
                  <a:srgbClr val="8C8C8C"/>
                </a:solidFill>
                <a:effectLst/>
              </a:rPr>
              <a:t>0</a:t>
            </a:r>
            <a:r>
              <a:rPr lang="zh-CN" altLang="en-US" sz="1400" i="1" dirty="0">
                <a:solidFill>
                  <a:srgbClr val="8C8C8C"/>
                </a:solidFill>
                <a:effectLst/>
              </a:rPr>
              <a:t>的</a:t>
            </a:r>
            <a:r>
              <a:rPr lang="en-US" altLang="zh-CN" sz="1400" i="1" dirty="0">
                <a:solidFill>
                  <a:srgbClr val="8C8C8C"/>
                </a:solidFill>
                <a:effectLst/>
              </a:rPr>
              <a:t>, </a:t>
            </a:r>
            <a:r>
              <a:rPr lang="zh-CN" altLang="en-US" sz="1400" i="1" dirty="0">
                <a:solidFill>
                  <a:srgbClr val="8C8C8C"/>
                </a:solidFill>
                <a:effectLst/>
              </a:rPr>
              <a:t>第</a:t>
            </a:r>
            <a:r>
              <a:rPr lang="en-US" altLang="zh-CN" sz="1400" i="1" dirty="0">
                <a:solidFill>
                  <a:srgbClr val="8C8C8C"/>
                </a:solidFill>
                <a:effectLst/>
              </a:rPr>
              <a:t>0</a:t>
            </a:r>
            <a:r>
              <a:rPr lang="zh-CN" altLang="en-US" sz="1400" i="1" dirty="0">
                <a:solidFill>
                  <a:srgbClr val="8C8C8C"/>
                </a:solidFill>
                <a:effectLst/>
              </a:rPr>
              <a:t>类数据</a:t>
            </a:r>
            <a:r>
              <a:rPr lang="en-US" altLang="zh-CN" sz="1400" i="1" dirty="0">
                <a:solidFill>
                  <a:srgbClr val="8C8C8C"/>
                </a:solidFill>
                <a:effectLst/>
              </a:rPr>
              <a:t>,</a:t>
            </a:r>
            <a:r>
              <a:rPr lang="zh-CN" altLang="en-US" sz="1400" i="1" dirty="0">
                <a:solidFill>
                  <a:srgbClr val="8C8C8C"/>
                </a:solidFill>
                <a:effectLst/>
              </a:rPr>
              <a:t>第</a:t>
            </a:r>
            <a:r>
              <a:rPr lang="en-US" altLang="zh-CN" sz="1400" i="1" dirty="0">
                <a:solidFill>
                  <a:srgbClr val="8C8C8C"/>
                </a:solidFill>
                <a:effectLst/>
              </a:rPr>
              <a:t>1</a:t>
            </a:r>
            <a:r>
              <a:rPr lang="zh-CN" altLang="en-US" sz="1400" i="1" dirty="0">
                <a:solidFill>
                  <a:srgbClr val="8C8C8C"/>
                </a:solidFill>
                <a:effectLst/>
              </a:rPr>
              <a:t>列数据</a:t>
            </a:r>
            <a:r>
              <a:rPr lang="en-US" altLang="zh-CN" sz="1400" i="1" dirty="0">
                <a:solidFill>
                  <a:srgbClr val="8C8C8C"/>
                </a:solidFill>
                <a:effectLst/>
              </a:rPr>
              <a:t>, </a:t>
            </a:r>
            <a:r>
              <a:rPr lang="zh-CN" altLang="en-US" sz="1400" i="1" dirty="0">
                <a:solidFill>
                  <a:srgbClr val="8C8C8C"/>
                </a:solidFill>
                <a:effectLst/>
              </a:rPr>
              <a:t>作为</a:t>
            </a:r>
            <a:r>
              <a:rPr lang="en-GB" altLang="zh-CN" sz="1400" i="1" dirty="0">
                <a:solidFill>
                  <a:srgbClr val="8C8C8C"/>
                </a:solidFill>
                <a:effectLst/>
              </a:rPr>
              <a:t>x/y, </a:t>
            </a:r>
            <a:r>
              <a:rPr lang="zh-CN" altLang="en-US" sz="1400" i="1" dirty="0">
                <a:solidFill>
                  <a:srgbClr val="8C8C8C"/>
                </a:solidFill>
                <a:effectLst/>
              </a:rPr>
              <a:t>传给</a:t>
            </a:r>
            <a:r>
              <a:rPr lang="en-GB" altLang="zh-CN" sz="1400" i="1" dirty="0" err="1">
                <a:solidFill>
                  <a:srgbClr val="8C8C8C"/>
                </a:solidFill>
                <a:effectLst/>
              </a:rPr>
              <a:t>plt.scatter</a:t>
            </a:r>
            <a:r>
              <a:rPr lang="zh-CN" altLang="en-US" sz="1400" i="1" dirty="0">
                <a:solidFill>
                  <a:srgbClr val="8C8C8C"/>
                </a:solidFill>
                <a:effectLst/>
              </a:rPr>
              <a:t>函数</a:t>
            </a:r>
            <a:br>
              <a:rPr lang="zh-CN" altLang="en-US" sz="1400" i="1" dirty="0">
                <a:solidFill>
                  <a:srgbClr val="8C8C8C"/>
                </a:solidFill>
                <a:effectLst/>
              </a:rPr>
            </a:br>
            <a:r>
              <a:rPr lang="zh-CN" altLang="en-US" sz="1400" i="1" dirty="0">
                <a:solidFill>
                  <a:srgbClr val="8C8C8C"/>
                </a:solidFill>
                <a:effectLst/>
              </a:rPr>
              <a:t>    </a:t>
            </a:r>
            <a:r>
              <a:rPr lang="en-GB" altLang="zh-CN" sz="1400" dirty="0" err="1"/>
              <a:t>plt.scatter</a:t>
            </a:r>
            <a:r>
              <a:rPr lang="en-GB" altLang="zh-CN" sz="1400" dirty="0"/>
              <a:t>(</a:t>
            </a:r>
            <a:r>
              <a:rPr lang="en-GB" altLang="zh-CN" sz="1400" dirty="0" err="1"/>
              <a:t>X.values</a:t>
            </a:r>
            <a:r>
              <a:rPr lang="en-GB" altLang="zh-CN" sz="1400" dirty="0"/>
              <a:t>[</a:t>
            </a:r>
            <a:r>
              <a:rPr lang="en-GB" altLang="zh-CN" sz="1400" dirty="0" err="1"/>
              <a:t>y_kmeans</a:t>
            </a:r>
            <a:r>
              <a:rPr lang="en-GB" altLang="zh-CN" sz="1400" dirty="0"/>
              <a:t> == </a:t>
            </a:r>
            <a:r>
              <a:rPr lang="en-GB" altLang="zh-CN" sz="1400" dirty="0">
                <a:solidFill>
                  <a:srgbClr val="1750EB"/>
                </a:solidFill>
                <a:effectLst/>
              </a:rPr>
              <a:t>0</a:t>
            </a:r>
            <a:r>
              <a:rPr lang="en-GB" altLang="zh-CN" sz="1400" dirty="0"/>
              <a:t>, </a:t>
            </a:r>
            <a:r>
              <a:rPr lang="en-GB" altLang="zh-CN" sz="1400" dirty="0">
                <a:solidFill>
                  <a:srgbClr val="1750EB"/>
                </a:solidFill>
                <a:effectLst/>
              </a:rPr>
              <a:t>0</a:t>
            </a:r>
            <a:r>
              <a:rPr lang="en-GB" altLang="zh-CN" sz="1400" dirty="0"/>
              <a:t>], </a:t>
            </a:r>
            <a:r>
              <a:rPr lang="en-GB" altLang="zh-CN" sz="1400" dirty="0" err="1"/>
              <a:t>X.values</a:t>
            </a:r>
            <a:r>
              <a:rPr lang="en-GB" altLang="zh-CN" sz="1400" dirty="0"/>
              <a:t>[</a:t>
            </a:r>
            <a:r>
              <a:rPr lang="en-GB" altLang="zh-CN" sz="1400" dirty="0" err="1"/>
              <a:t>y_kmeans</a:t>
            </a:r>
            <a:r>
              <a:rPr lang="en-GB" altLang="zh-CN" sz="1400" dirty="0"/>
              <a:t> == </a:t>
            </a:r>
            <a:r>
              <a:rPr lang="en-GB" altLang="zh-CN" sz="1400" dirty="0">
                <a:solidFill>
                  <a:srgbClr val="1750EB"/>
                </a:solidFill>
                <a:effectLst/>
              </a:rPr>
              <a:t>0</a:t>
            </a:r>
            <a:r>
              <a:rPr lang="en-GB" altLang="zh-CN" sz="1400" dirty="0"/>
              <a:t>, </a:t>
            </a:r>
            <a:r>
              <a:rPr lang="en-GB" altLang="zh-CN" sz="1400" dirty="0">
                <a:solidFill>
                  <a:srgbClr val="1750EB"/>
                </a:solidFill>
                <a:effectLst/>
              </a:rPr>
              <a:t>1</a:t>
            </a:r>
            <a:r>
              <a:rPr lang="en-GB" altLang="zh-CN" sz="1400" dirty="0"/>
              <a:t>], </a:t>
            </a:r>
            <a:r>
              <a:rPr lang="en-GB" altLang="zh-CN" sz="1400" dirty="0">
                <a:solidFill>
                  <a:srgbClr val="660099"/>
                </a:solidFill>
                <a:effectLst/>
              </a:rPr>
              <a:t>s</a:t>
            </a:r>
            <a:r>
              <a:rPr lang="en-GB" altLang="zh-CN" sz="1400" dirty="0"/>
              <a:t>=</a:t>
            </a:r>
            <a:r>
              <a:rPr lang="en-GB" altLang="zh-CN" sz="1400" dirty="0">
                <a:solidFill>
                  <a:srgbClr val="1750EB"/>
                </a:solidFill>
                <a:effectLst/>
              </a:rPr>
              <a:t>100</a:t>
            </a:r>
            <a:r>
              <a:rPr lang="en-GB" altLang="zh-CN" sz="1400" dirty="0"/>
              <a:t>, </a:t>
            </a:r>
            <a:r>
              <a:rPr lang="en-GB" altLang="zh-CN" sz="1400" dirty="0">
                <a:solidFill>
                  <a:srgbClr val="660099"/>
                </a:solidFill>
                <a:effectLst/>
              </a:rPr>
              <a:t>c</a:t>
            </a:r>
            <a:r>
              <a:rPr lang="en-GB" altLang="zh-CN" sz="1400" dirty="0"/>
              <a:t>=</a:t>
            </a:r>
            <a:r>
              <a:rPr lang="en-GB" altLang="zh-CN" sz="1400" dirty="0">
                <a:solidFill>
                  <a:srgbClr val="067D17"/>
                </a:solidFill>
                <a:effectLst/>
              </a:rPr>
              <a:t>'red'</a:t>
            </a:r>
            <a:r>
              <a:rPr lang="en-GB" altLang="zh-CN" sz="1400" dirty="0"/>
              <a:t>, </a:t>
            </a:r>
            <a:r>
              <a:rPr lang="en-GB" altLang="zh-CN" sz="1400" dirty="0">
                <a:solidFill>
                  <a:srgbClr val="660099"/>
                </a:solidFill>
                <a:effectLst/>
              </a:rPr>
              <a:t>label</a:t>
            </a:r>
            <a:r>
              <a:rPr lang="en-GB" altLang="zh-CN" sz="1400" dirty="0"/>
              <a:t>=</a:t>
            </a:r>
            <a:r>
              <a:rPr lang="en-GB" altLang="zh-CN" sz="1400" dirty="0">
                <a:solidFill>
                  <a:srgbClr val="067D17"/>
                </a:solidFill>
                <a:effectLst/>
              </a:rPr>
              <a:t>'Standard'</a:t>
            </a:r>
            <a:r>
              <a:rPr lang="en-GB" altLang="zh-CN" sz="1400" dirty="0"/>
              <a:t>)</a:t>
            </a:r>
            <a:br>
              <a:rPr lang="en-GB" altLang="zh-CN" sz="1400" dirty="0"/>
            </a:br>
            <a:r>
              <a:rPr lang="en-GB" altLang="zh-CN" sz="1400" dirty="0"/>
              <a:t>    </a:t>
            </a:r>
            <a:r>
              <a:rPr lang="en-GB" altLang="zh-CN" sz="1400" i="1" dirty="0">
                <a:solidFill>
                  <a:srgbClr val="8C8C8C"/>
                </a:solidFill>
                <a:effectLst/>
              </a:rPr>
              <a:t># </a:t>
            </a:r>
            <a:r>
              <a:rPr lang="zh-CN" altLang="en-US" sz="1400" i="1" dirty="0">
                <a:solidFill>
                  <a:srgbClr val="8C8C8C"/>
                </a:solidFill>
                <a:effectLst/>
              </a:rPr>
              <a:t>把类别是</a:t>
            </a:r>
            <a:r>
              <a:rPr lang="en-US" altLang="zh-CN" sz="1400" i="1" dirty="0">
                <a:solidFill>
                  <a:srgbClr val="8C8C8C"/>
                </a:solidFill>
                <a:effectLst/>
              </a:rPr>
              <a:t>1</a:t>
            </a:r>
            <a:r>
              <a:rPr lang="zh-CN" altLang="en-US" sz="1400" i="1" dirty="0">
                <a:solidFill>
                  <a:srgbClr val="8C8C8C"/>
                </a:solidFill>
                <a:effectLst/>
              </a:rPr>
              <a:t>的</a:t>
            </a:r>
            <a:r>
              <a:rPr lang="en-US" altLang="zh-CN" sz="1400" i="1" dirty="0">
                <a:solidFill>
                  <a:srgbClr val="8C8C8C"/>
                </a:solidFill>
                <a:effectLst/>
              </a:rPr>
              <a:t>, </a:t>
            </a:r>
            <a:r>
              <a:rPr lang="zh-CN" altLang="en-US" sz="1400" i="1" dirty="0">
                <a:solidFill>
                  <a:srgbClr val="8C8C8C"/>
                </a:solidFill>
                <a:effectLst/>
              </a:rPr>
              <a:t>第</a:t>
            </a:r>
            <a:r>
              <a:rPr lang="en-US" altLang="zh-CN" sz="1400" i="1" dirty="0">
                <a:solidFill>
                  <a:srgbClr val="8C8C8C"/>
                </a:solidFill>
                <a:effectLst/>
              </a:rPr>
              <a:t>0</a:t>
            </a:r>
            <a:r>
              <a:rPr lang="zh-CN" altLang="en-US" sz="1400" i="1" dirty="0">
                <a:solidFill>
                  <a:srgbClr val="8C8C8C"/>
                </a:solidFill>
                <a:effectLst/>
              </a:rPr>
              <a:t>类数据</a:t>
            </a:r>
            <a:r>
              <a:rPr lang="en-US" altLang="zh-CN" sz="1400" i="1" dirty="0">
                <a:solidFill>
                  <a:srgbClr val="8C8C8C"/>
                </a:solidFill>
                <a:effectLst/>
              </a:rPr>
              <a:t>,</a:t>
            </a:r>
            <a:r>
              <a:rPr lang="zh-CN" altLang="en-US" sz="1400" i="1" dirty="0">
                <a:solidFill>
                  <a:srgbClr val="8C8C8C"/>
                </a:solidFill>
                <a:effectLst/>
              </a:rPr>
              <a:t>第</a:t>
            </a:r>
            <a:r>
              <a:rPr lang="en-US" altLang="zh-CN" sz="1400" i="1" dirty="0">
                <a:solidFill>
                  <a:srgbClr val="8C8C8C"/>
                </a:solidFill>
                <a:effectLst/>
              </a:rPr>
              <a:t>1</a:t>
            </a:r>
            <a:r>
              <a:rPr lang="zh-CN" altLang="en-US" sz="1400" i="1" dirty="0">
                <a:solidFill>
                  <a:srgbClr val="8C8C8C"/>
                </a:solidFill>
                <a:effectLst/>
              </a:rPr>
              <a:t>列数据</a:t>
            </a:r>
            <a:r>
              <a:rPr lang="en-US" altLang="zh-CN" sz="1400" i="1" dirty="0">
                <a:solidFill>
                  <a:srgbClr val="8C8C8C"/>
                </a:solidFill>
                <a:effectLst/>
              </a:rPr>
              <a:t>, </a:t>
            </a:r>
            <a:r>
              <a:rPr lang="zh-CN" altLang="en-US" sz="1400" i="1" dirty="0">
                <a:solidFill>
                  <a:srgbClr val="8C8C8C"/>
                </a:solidFill>
                <a:effectLst/>
              </a:rPr>
              <a:t>作为</a:t>
            </a:r>
            <a:r>
              <a:rPr lang="en-GB" altLang="zh-CN" sz="1400" i="1" dirty="0">
                <a:solidFill>
                  <a:srgbClr val="8C8C8C"/>
                </a:solidFill>
                <a:effectLst/>
              </a:rPr>
              <a:t>x/y, </a:t>
            </a:r>
            <a:r>
              <a:rPr lang="zh-CN" altLang="en-US" sz="1400" i="1" dirty="0">
                <a:solidFill>
                  <a:srgbClr val="8C8C8C"/>
                </a:solidFill>
                <a:effectLst/>
              </a:rPr>
              <a:t>传给</a:t>
            </a:r>
            <a:r>
              <a:rPr lang="en-GB" altLang="zh-CN" sz="1400" i="1" dirty="0" err="1">
                <a:solidFill>
                  <a:srgbClr val="8C8C8C"/>
                </a:solidFill>
                <a:effectLst/>
              </a:rPr>
              <a:t>plt.scatter</a:t>
            </a:r>
            <a:r>
              <a:rPr lang="zh-CN" altLang="en-US" sz="1400" i="1" dirty="0">
                <a:solidFill>
                  <a:srgbClr val="8C8C8C"/>
                </a:solidFill>
                <a:effectLst/>
              </a:rPr>
              <a:t>函数</a:t>
            </a:r>
            <a:br>
              <a:rPr lang="zh-CN" altLang="en-US" sz="1400" i="1" dirty="0">
                <a:solidFill>
                  <a:srgbClr val="8C8C8C"/>
                </a:solidFill>
                <a:effectLst/>
              </a:rPr>
            </a:br>
            <a:r>
              <a:rPr lang="zh-CN" altLang="en-US" sz="1400" i="1" dirty="0">
                <a:solidFill>
                  <a:srgbClr val="8C8C8C"/>
                </a:solidFill>
                <a:effectLst/>
              </a:rPr>
              <a:t>    </a:t>
            </a:r>
            <a:r>
              <a:rPr lang="en-GB" altLang="zh-CN" sz="1400" dirty="0" err="1"/>
              <a:t>plt.scatter</a:t>
            </a:r>
            <a:r>
              <a:rPr lang="en-GB" altLang="zh-CN" sz="1400" dirty="0"/>
              <a:t>(</a:t>
            </a:r>
            <a:r>
              <a:rPr lang="en-GB" altLang="zh-CN" sz="1400" dirty="0" err="1"/>
              <a:t>X.values</a:t>
            </a:r>
            <a:r>
              <a:rPr lang="en-GB" altLang="zh-CN" sz="1400" dirty="0"/>
              <a:t>[</a:t>
            </a:r>
            <a:r>
              <a:rPr lang="en-GB" altLang="zh-CN" sz="1400" dirty="0" err="1"/>
              <a:t>y_kmeans</a:t>
            </a:r>
            <a:r>
              <a:rPr lang="en-GB" altLang="zh-CN" sz="1400" dirty="0"/>
              <a:t> == </a:t>
            </a:r>
            <a:r>
              <a:rPr lang="en-GB" altLang="zh-CN" sz="1400" dirty="0">
                <a:solidFill>
                  <a:srgbClr val="1750EB"/>
                </a:solidFill>
                <a:effectLst/>
              </a:rPr>
              <a:t>1</a:t>
            </a:r>
            <a:r>
              <a:rPr lang="en-GB" altLang="zh-CN" sz="1400" dirty="0"/>
              <a:t>, </a:t>
            </a:r>
            <a:r>
              <a:rPr lang="en-GB" altLang="zh-CN" sz="1400" dirty="0">
                <a:solidFill>
                  <a:srgbClr val="1750EB"/>
                </a:solidFill>
                <a:effectLst/>
              </a:rPr>
              <a:t>0</a:t>
            </a:r>
            <a:r>
              <a:rPr lang="en-GB" altLang="zh-CN" sz="1400" dirty="0"/>
              <a:t>], </a:t>
            </a:r>
            <a:r>
              <a:rPr lang="en-GB" altLang="zh-CN" sz="1400" dirty="0" err="1"/>
              <a:t>X.values</a:t>
            </a:r>
            <a:r>
              <a:rPr lang="en-GB" altLang="zh-CN" sz="1400" dirty="0"/>
              <a:t>[</a:t>
            </a:r>
            <a:r>
              <a:rPr lang="en-GB" altLang="zh-CN" sz="1400" dirty="0" err="1"/>
              <a:t>y_kmeans</a:t>
            </a:r>
            <a:r>
              <a:rPr lang="en-GB" altLang="zh-CN" sz="1400" dirty="0"/>
              <a:t> == </a:t>
            </a:r>
            <a:r>
              <a:rPr lang="en-GB" altLang="zh-CN" sz="1400" dirty="0">
                <a:solidFill>
                  <a:srgbClr val="1750EB"/>
                </a:solidFill>
                <a:effectLst/>
              </a:rPr>
              <a:t>1</a:t>
            </a:r>
            <a:r>
              <a:rPr lang="en-GB" altLang="zh-CN" sz="1400" dirty="0"/>
              <a:t>, </a:t>
            </a:r>
            <a:r>
              <a:rPr lang="en-GB" altLang="zh-CN" sz="1400" dirty="0">
                <a:solidFill>
                  <a:srgbClr val="1750EB"/>
                </a:solidFill>
                <a:effectLst/>
              </a:rPr>
              <a:t>1</a:t>
            </a:r>
            <a:r>
              <a:rPr lang="en-GB" altLang="zh-CN" sz="1400" dirty="0"/>
              <a:t>], </a:t>
            </a:r>
            <a:r>
              <a:rPr lang="en-GB" altLang="zh-CN" sz="1400" dirty="0">
                <a:solidFill>
                  <a:srgbClr val="660099"/>
                </a:solidFill>
                <a:effectLst/>
              </a:rPr>
              <a:t>s</a:t>
            </a:r>
            <a:r>
              <a:rPr lang="en-GB" altLang="zh-CN" sz="1400" dirty="0"/>
              <a:t>=</a:t>
            </a:r>
            <a:r>
              <a:rPr lang="en-GB" altLang="zh-CN" sz="1400" dirty="0">
                <a:solidFill>
                  <a:srgbClr val="1750EB"/>
                </a:solidFill>
                <a:effectLst/>
              </a:rPr>
              <a:t>100</a:t>
            </a:r>
            <a:r>
              <a:rPr lang="en-GB" altLang="zh-CN" sz="1400" dirty="0"/>
              <a:t>, </a:t>
            </a:r>
            <a:r>
              <a:rPr lang="en-GB" altLang="zh-CN" sz="1400" dirty="0">
                <a:solidFill>
                  <a:srgbClr val="660099"/>
                </a:solidFill>
                <a:effectLst/>
              </a:rPr>
              <a:t>c</a:t>
            </a:r>
            <a:r>
              <a:rPr lang="en-GB" altLang="zh-CN" sz="1400" dirty="0"/>
              <a:t>=</a:t>
            </a:r>
            <a:r>
              <a:rPr lang="en-GB" altLang="zh-CN" sz="1400" dirty="0">
                <a:solidFill>
                  <a:srgbClr val="067D17"/>
                </a:solidFill>
                <a:effectLst/>
              </a:rPr>
              <a:t>'blue'</a:t>
            </a:r>
            <a:r>
              <a:rPr lang="en-GB" altLang="zh-CN" sz="1400" dirty="0"/>
              <a:t>, </a:t>
            </a:r>
            <a:r>
              <a:rPr lang="en-GB" altLang="zh-CN" sz="1400" dirty="0">
                <a:solidFill>
                  <a:srgbClr val="660099"/>
                </a:solidFill>
                <a:effectLst/>
              </a:rPr>
              <a:t>label</a:t>
            </a:r>
            <a:r>
              <a:rPr lang="en-GB" altLang="zh-CN" sz="1400" dirty="0"/>
              <a:t>=</a:t>
            </a:r>
            <a:r>
              <a:rPr lang="en-GB" altLang="zh-CN" sz="1400" dirty="0">
                <a:solidFill>
                  <a:srgbClr val="067D17"/>
                </a:solidFill>
                <a:effectLst/>
              </a:rPr>
              <a:t>'Traditional'</a:t>
            </a:r>
            <a:r>
              <a:rPr lang="en-GB" altLang="zh-CN" sz="1400" dirty="0"/>
              <a:t>)</a:t>
            </a:r>
            <a:br>
              <a:rPr lang="en-GB" altLang="zh-CN" sz="1400" dirty="0"/>
            </a:br>
            <a:r>
              <a:rPr lang="en-GB" altLang="zh-CN" sz="1400" dirty="0"/>
              <a:t>    </a:t>
            </a:r>
            <a:r>
              <a:rPr lang="en-GB" altLang="zh-CN" sz="1400" i="1" dirty="0">
                <a:solidFill>
                  <a:srgbClr val="8C8C8C"/>
                </a:solidFill>
                <a:effectLst/>
              </a:rPr>
              <a:t># </a:t>
            </a:r>
            <a:r>
              <a:rPr lang="zh-CN" altLang="en-US" sz="1400" i="1" dirty="0">
                <a:solidFill>
                  <a:srgbClr val="8C8C8C"/>
                </a:solidFill>
                <a:effectLst/>
              </a:rPr>
              <a:t>把类别是</a:t>
            </a:r>
            <a:r>
              <a:rPr lang="en-US" altLang="zh-CN" sz="1400" i="1" dirty="0">
                <a:solidFill>
                  <a:srgbClr val="8C8C8C"/>
                </a:solidFill>
                <a:effectLst/>
              </a:rPr>
              <a:t>2</a:t>
            </a:r>
            <a:r>
              <a:rPr lang="zh-CN" altLang="en-US" sz="1400" i="1" dirty="0">
                <a:solidFill>
                  <a:srgbClr val="8C8C8C"/>
                </a:solidFill>
                <a:effectLst/>
              </a:rPr>
              <a:t>的</a:t>
            </a:r>
            <a:r>
              <a:rPr lang="en-US" altLang="zh-CN" sz="1400" i="1" dirty="0">
                <a:solidFill>
                  <a:srgbClr val="8C8C8C"/>
                </a:solidFill>
                <a:effectLst/>
              </a:rPr>
              <a:t>, </a:t>
            </a:r>
            <a:r>
              <a:rPr lang="zh-CN" altLang="en-US" sz="1400" i="1" dirty="0">
                <a:solidFill>
                  <a:srgbClr val="8C8C8C"/>
                </a:solidFill>
                <a:effectLst/>
              </a:rPr>
              <a:t>第</a:t>
            </a:r>
            <a:r>
              <a:rPr lang="en-US" altLang="zh-CN" sz="1400" i="1" dirty="0">
                <a:solidFill>
                  <a:srgbClr val="8C8C8C"/>
                </a:solidFill>
                <a:effectLst/>
              </a:rPr>
              <a:t>0</a:t>
            </a:r>
            <a:r>
              <a:rPr lang="zh-CN" altLang="en-US" sz="1400" i="1" dirty="0">
                <a:solidFill>
                  <a:srgbClr val="8C8C8C"/>
                </a:solidFill>
                <a:effectLst/>
              </a:rPr>
              <a:t>类数据</a:t>
            </a:r>
            <a:r>
              <a:rPr lang="en-US" altLang="zh-CN" sz="1400" i="1" dirty="0">
                <a:solidFill>
                  <a:srgbClr val="8C8C8C"/>
                </a:solidFill>
                <a:effectLst/>
              </a:rPr>
              <a:t>,</a:t>
            </a:r>
            <a:r>
              <a:rPr lang="zh-CN" altLang="en-US" sz="1400" i="1" dirty="0">
                <a:solidFill>
                  <a:srgbClr val="8C8C8C"/>
                </a:solidFill>
                <a:effectLst/>
              </a:rPr>
              <a:t>第</a:t>
            </a:r>
            <a:r>
              <a:rPr lang="en-US" altLang="zh-CN" sz="1400" i="1" dirty="0">
                <a:solidFill>
                  <a:srgbClr val="8C8C8C"/>
                </a:solidFill>
                <a:effectLst/>
              </a:rPr>
              <a:t>1</a:t>
            </a:r>
            <a:r>
              <a:rPr lang="zh-CN" altLang="en-US" sz="1400" i="1" dirty="0">
                <a:solidFill>
                  <a:srgbClr val="8C8C8C"/>
                </a:solidFill>
                <a:effectLst/>
              </a:rPr>
              <a:t>列数据</a:t>
            </a:r>
            <a:r>
              <a:rPr lang="en-US" altLang="zh-CN" sz="1400" i="1" dirty="0">
                <a:solidFill>
                  <a:srgbClr val="8C8C8C"/>
                </a:solidFill>
                <a:effectLst/>
              </a:rPr>
              <a:t>, </a:t>
            </a:r>
            <a:r>
              <a:rPr lang="zh-CN" altLang="en-US" sz="1400" i="1" dirty="0">
                <a:solidFill>
                  <a:srgbClr val="8C8C8C"/>
                </a:solidFill>
                <a:effectLst/>
              </a:rPr>
              <a:t>作为</a:t>
            </a:r>
            <a:r>
              <a:rPr lang="en-GB" altLang="zh-CN" sz="1400" i="1" dirty="0">
                <a:solidFill>
                  <a:srgbClr val="8C8C8C"/>
                </a:solidFill>
                <a:effectLst/>
              </a:rPr>
              <a:t>x/y, </a:t>
            </a:r>
            <a:r>
              <a:rPr lang="zh-CN" altLang="en-US" sz="1400" i="1" dirty="0">
                <a:solidFill>
                  <a:srgbClr val="8C8C8C"/>
                </a:solidFill>
                <a:effectLst/>
              </a:rPr>
              <a:t>传给</a:t>
            </a:r>
            <a:r>
              <a:rPr lang="en-GB" altLang="zh-CN" sz="1400" i="1" dirty="0" err="1">
                <a:solidFill>
                  <a:srgbClr val="8C8C8C"/>
                </a:solidFill>
                <a:effectLst/>
              </a:rPr>
              <a:t>plt.scatter</a:t>
            </a:r>
            <a:r>
              <a:rPr lang="zh-CN" altLang="en-US" sz="1400" i="1" dirty="0">
                <a:solidFill>
                  <a:srgbClr val="8C8C8C"/>
                </a:solidFill>
                <a:effectLst/>
              </a:rPr>
              <a:t>函数</a:t>
            </a:r>
            <a:br>
              <a:rPr lang="zh-CN" altLang="en-US" sz="1400" i="1" dirty="0">
                <a:solidFill>
                  <a:srgbClr val="8C8C8C"/>
                </a:solidFill>
                <a:effectLst/>
              </a:rPr>
            </a:br>
            <a:r>
              <a:rPr lang="zh-CN" altLang="en-US" sz="1400" i="1" dirty="0">
                <a:solidFill>
                  <a:srgbClr val="8C8C8C"/>
                </a:solidFill>
                <a:effectLst/>
              </a:rPr>
              <a:t>    </a:t>
            </a:r>
            <a:r>
              <a:rPr lang="en-GB" altLang="zh-CN" sz="1400" dirty="0" err="1"/>
              <a:t>plt.scatter</a:t>
            </a:r>
            <a:r>
              <a:rPr lang="en-GB" altLang="zh-CN" sz="1400" dirty="0"/>
              <a:t>(</a:t>
            </a:r>
            <a:r>
              <a:rPr lang="en-GB" altLang="zh-CN" sz="1400" dirty="0" err="1"/>
              <a:t>X.values</a:t>
            </a:r>
            <a:r>
              <a:rPr lang="en-GB" altLang="zh-CN" sz="1400" dirty="0"/>
              <a:t>[</a:t>
            </a:r>
            <a:r>
              <a:rPr lang="en-GB" altLang="zh-CN" sz="1400" dirty="0" err="1"/>
              <a:t>y_kmeans</a:t>
            </a:r>
            <a:r>
              <a:rPr lang="en-GB" altLang="zh-CN" sz="1400" dirty="0"/>
              <a:t> == </a:t>
            </a:r>
            <a:r>
              <a:rPr lang="en-GB" altLang="zh-CN" sz="1400" dirty="0">
                <a:solidFill>
                  <a:srgbClr val="1750EB"/>
                </a:solidFill>
                <a:effectLst/>
              </a:rPr>
              <a:t>2</a:t>
            </a:r>
            <a:r>
              <a:rPr lang="en-GB" altLang="zh-CN" sz="1400" dirty="0"/>
              <a:t>, </a:t>
            </a:r>
            <a:r>
              <a:rPr lang="en-GB" altLang="zh-CN" sz="1400" dirty="0">
                <a:solidFill>
                  <a:srgbClr val="1750EB"/>
                </a:solidFill>
                <a:effectLst/>
              </a:rPr>
              <a:t>0</a:t>
            </a:r>
            <a:r>
              <a:rPr lang="en-GB" altLang="zh-CN" sz="1400" dirty="0"/>
              <a:t>], </a:t>
            </a:r>
            <a:r>
              <a:rPr lang="en-GB" altLang="zh-CN" sz="1400" dirty="0" err="1"/>
              <a:t>X.values</a:t>
            </a:r>
            <a:r>
              <a:rPr lang="en-GB" altLang="zh-CN" sz="1400" dirty="0"/>
              <a:t>[</a:t>
            </a:r>
            <a:r>
              <a:rPr lang="en-GB" altLang="zh-CN" sz="1400" dirty="0" err="1"/>
              <a:t>y_kmeans</a:t>
            </a:r>
            <a:r>
              <a:rPr lang="en-GB" altLang="zh-CN" sz="1400" dirty="0"/>
              <a:t> == </a:t>
            </a:r>
            <a:r>
              <a:rPr lang="en-GB" altLang="zh-CN" sz="1400" dirty="0">
                <a:solidFill>
                  <a:srgbClr val="1750EB"/>
                </a:solidFill>
                <a:effectLst/>
              </a:rPr>
              <a:t>2</a:t>
            </a:r>
            <a:r>
              <a:rPr lang="en-GB" altLang="zh-CN" sz="1400" dirty="0"/>
              <a:t>, </a:t>
            </a:r>
            <a:r>
              <a:rPr lang="en-GB" altLang="zh-CN" sz="1400" dirty="0">
                <a:solidFill>
                  <a:srgbClr val="1750EB"/>
                </a:solidFill>
                <a:effectLst/>
              </a:rPr>
              <a:t>1</a:t>
            </a:r>
            <a:r>
              <a:rPr lang="en-GB" altLang="zh-CN" sz="1400" dirty="0"/>
              <a:t>], </a:t>
            </a:r>
            <a:r>
              <a:rPr lang="en-GB" altLang="zh-CN" sz="1400" dirty="0">
                <a:solidFill>
                  <a:srgbClr val="660099"/>
                </a:solidFill>
                <a:effectLst/>
              </a:rPr>
              <a:t>s</a:t>
            </a:r>
            <a:r>
              <a:rPr lang="en-GB" altLang="zh-CN" sz="1400" dirty="0"/>
              <a:t>=</a:t>
            </a:r>
            <a:r>
              <a:rPr lang="en-GB" altLang="zh-CN" sz="1400" dirty="0">
                <a:solidFill>
                  <a:srgbClr val="1750EB"/>
                </a:solidFill>
                <a:effectLst/>
              </a:rPr>
              <a:t>100</a:t>
            </a:r>
            <a:r>
              <a:rPr lang="en-GB" altLang="zh-CN" sz="1400" dirty="0"/>
              <a:t>, </a:t>
            </a:r>
            <a:r>
              <a:rPr lang="en-GB" altLang="zh-CN" sz="1400" dirty="0">
                <a:solidFill>
                  <a:srgbClr val="660099"/>
                </a:solidFill>
                <a:effectLst/>
              </a:rPr>
              <a:t>c</a:t>
            </a:r>
            <a:r>
              <a:rPr lang="en-GB" altLang="zh-CN" sz="1400" dirty="0"/>
              <a:t>=</a:t>
            </a:r>
            <a:r>
              <a:rPr lang="en-GB" altLang="zh-CN" sz="1400" dirty="0">
                <a:solidFill>
                  <a:srgbClr val="067D17"/>
                </a:solidFill>
                <a:effectLst/>
              </a:rPr>
              <a:t>'green'</a:t>
            </a:r>
            <a:r>
              <a:rPr lang="en-GB" altLang="zh-CN" sz="1400" dirty="0"/>
              <a:t>, </a:t>
            </a:r>
            <a:r>
              <a:rPr lang="en-GB" altLang="zh-CN" sz="1400" dirty="0">
                <a:solidFill>
                  <a:srgbClr val="660099"/>
                </a:solidFill>
                <a:effectLst/>
              </a:rPr>
              <a:t>label</a:t>
            </a:r>
            <a:r>
              <a:rPr lang="en-GB" altLang="zh-CN" sz="1400" dirty="0"/>
              <a:t>=</a:t>
            </a:r>
            <a:r>
              <a:rPr lang="en-GB" altLang="zh-CN" sz="1400" dirty="0">
                <a:solidFill>
                  <a:srgbClr val="067D17"/>
                </a:solidFill>
                <a:effectLst/>
              </a:rPr>
              <a:t>'Normal'</a:t>
            </a:r>
            <a:r>
              <a:rPr lang="en-GB" altLang="zh-CN" sz="1400" dirty="0"/>
              <a:t>)</a:t>
            </a:r>
            <a:br>
              <a:rPr lang="en-GB" altLang="zh-CN" sz="1400" dirty="0"/>
            </a:br>
            <a:r>
              <a:rPr lang="en-GB" altLang="zh-CN" sz="1400" dirty="0"/>
              <a:t>    </a:t>
            </a:r>
            <a:r>
              <a:rPr lang="en-GB" altLang="zh-CN" sz="1400" dirty="0" err="1"/>
              <a:t>plt.scatter</a:t>
            </a:r>
            <a:r>
              <a:rPr lang="en-GB" altLang="zh-CN" sz="1400" dirty="0"/>
              <a:t>(</a:t>
            </a:r>
            <a:r>
              <a:rPr lang="en-GB" altLang="zh-CN" sz="1400" dirty="0" err="1"/>
              <a:t>X.values</a:t>
            </a:r>
            <a:r>
              <a:rPr lang="en-GB" altLang="zh-CN" sz="1400" dirty="0"/>
              <a:t>[</a:t>
            </a:r>
            <a:r>
              <a:rPr lang="en-GB" altLang="zh-CN" sz="1400" dirty="0" err="1"/>
              <a:t>y_kmeans</a:t>
            </a:r>
            <a:r>
              <a:rPr lang="en-GB" altLang="zh-CN" sz="1400" dirty="0"/>
              <a:t> == </a:t>
            </a:r>
            <a:r>
              <a:rPr lang="en-GB" altLang="zh-CN" sz="1400" dirty="0">
                <a:solidFill>
                  <a:srgbClr val="1750EB"/>
                </a:solidFill>
                <a:effectLst/>
              </a:rPr>
              <a:t>3</a:t>
            </a:r>
            <a:r>
              <a:rPr lang="en-GB" altLang="zh-CN" sz="1400" dirty="0"/>
              <a:t>, </a:t>
            </a:r>
            <a:r>
              <a:rPr lang="en-GB" altLang="zh-CN" sz="1400" dirty="0">
                <a:solidFill>
                  <a:srgbClr val="1750EB"/>
                </a:solidFill>
                <a:effectLst/>
              </a:rPr>
              <a:t>0</a:t>
            </a:r>
            <a:r>
              <a:rPr lang="en-GB" altLang="zh-CN" sz="1400" dirty="0"/>
              <a:t>], </a:t>
            </a:r>
            <a:r>
              <a:rPr lang="en-GB" altLang="zh-CN" sz="1400" dirty="0" err="1"/>
              <a:t>X.values</a:t>
            </a:r>
            <a:r>
              <a:rPr lang="en-GB" altLang="zh-CN" sz="1400" dirty="0"/>
              <a:t>[</a:t>
            </a:r>
            <a:r>
              <a:rPr lang="en-GB" altLang="zh-CN" sz="1400" dirty="0" err="1"/>
              <a:t>y_kmeans</a:t>
            </a:r>
            <a:r>
              <a:rPr lang="en-GB" altLang="zh-CN" sz="1400" dirty="0"/>
              <a:t> == </a:t>
            </a:r>
            <a:r>
              <a:rPr lang="en-GB" altLang="zh-CN" sz="1400" dirty="0">
                <a:solidFill>
                  <a:srgbClr val="1750EB"/>
                </a:solidFill>
                <a:effectLst/>
              </a:rPr>
              <a:t>3</a:t>
            </a:r>
            <a:r>
              <a:rPr lang="en-GB" altLang="zh-CN" sz="1400" dirty="0"/>
              <a:t>, </a:t>
            </a:r>
            <a:r>
              <a:rPr lang="en-GB" altLang="zh-CN" sz="1400" dirty="0">
                <a:solidFill>
                  <a:srgbClr val="1750EB"/>
                </a:solidFill>
                <a:effectLst/>
              </a:rPr>
              <a:t>1</a:t>
            </a:r>
            <a:r>
              <a:rPr lang="en-GB" altLang="zh-CN" sz="1400" dirty="0"/>
              <a:t>], </a:t>
            </a:r>
            <a:r>
              <a:rPr lang="en-GB" altLang="zh-CN" sz="1400" dirty="0">
                <a:solidFill>
                  <a:srgbClr val="660099"/>
                </a:solidFill>
                <a:effectLst/>
              </a:rPr>
              <a:t>s</a:t>
            </a:r>
            <a:r>
              <a:rPr lang="en-GB" altLang="zh-CN" sz="1400" dirty="0"/>
              <a:t>=</a:t>
            </a:r>
            <a:r>
              <a:rPr lang="en-GB" altLang="zh-CN" sz="1400" dirty="0">
                <a:solidFill>
                  <a:srgbClr val="1750EB"/>
                </a:solidFill>
                <a:effectLst/>
              </a:rPr>
              <a:t>100</a:t>
            </a:r>
            <a:r>
              <a:rPr lang="en-GB" altLang="zh-CN" sz="1400" dirty="0"/>
              <a:t>, </a:t>
            </a:r>
            <a:r>
              <a:rPr lang="en-GB" altLang="zh-CN" sz="1400" dirty="0">
                <a:solidFill>
                  <a:srgbClr val="660099"/>
                </a:solidFill>
                <a:effectLst/>
              </a:rPr>
              <a:t>c</a:t>
            </a:r>
            <a:r>
              <a:rPr lang="en-GB" altLang="zh-CN" sz="1400" dirty="0"/>
              <a:t>=</a:t>
            </a:r>
            <a:r>
              <a:rPr lang="en-GB" altLang="zh-CN" sz="1400" dirty="0">
                <a:solidFill>
                  <a:srgbClr val="067D17"/>
                </a:solidFill>
                <a:effectLst/>
              </a:rPr>
              <a:t>'cyan'</a:t>
            </a:r>
            <a:r>
              <a:rPr lang="en-GB" altLang="zh-CN" sz="1400" dirty="0"/>
              <a:t>, </a:t>
            </a:r>
            <a:r>
              <a:rPr lang="en-GB" altLang="zh-CN" sz="1400" dirty="0">
                <a:solidFill>
                  <a:srgbClr val="660099"/>
                </a:solidFill>
                <a:effectLst/>
              </a:rPr>
              <a:t>label</a:t>
            </a:r>
            <a:r>
              <a:rPr lang="en-GB" altLang="zh-CN" sz="1400" dirty="0"/>
              <a:t>=</a:t>
            </a:r>
            <a:r>
              <a:rPr lang="en-GB" altLang="zh-CN" sz="1400" dirty="0">
                <a:solidFill>
                  <a:srgbClr val="067D17"/>
                </a:solidFill>
                <a:effectLst/>
              </a:rPr>
              <a:t>'Youth'</a:t>
            </a:r>
            <a:r>
              <a:rPr lang="en-GB" altLang="zh-CN" sz="1400" dirty="0"/>
              <a:t>)</a:t>
            </a:r>
            <a:br>
              <a:rPr lang="en-GB" altLang="zh-CN" sz="1400" dirty="0"/>
            </a:br>
            <a:r>
              <a:rPr lang="en-GB" altLang="zh-CN" sz="1400" dirty="0"/>
              <a:t>    </a:t>
            </a:r>
            <a:r>
              <a:rPr lang="en-GB" altLang="zh-CN" sz="1400" dirty="0" err="1"/>
              <a:t>plt.scatter</a:t>
            </a:r>
            <a:r>
              <a:rPr lang="en-GB" altLang="zh-CN" sz="1400" dirty="0"/>
              <a:t>(</a:t>
            </a:r>
            <a:r>
              <a:rPr lang="en-GB" altLang="zh-CN" sz="1400" dirty="0" err="1"/>
              <a:t>X.values</a:t>
            </a:r>
            <a:r>
              <a:rPr lang="en-GB" altLang="zh-CN" sz="1400" dirty="0"/>
              <a:t>[</a:t>
            </a:r>
            <a:r>
              <a:rPr lang="en-GB" altLang="zh-CN" sz="1400" dirty="0" err="1"/>
              <a:t>y_kmeans</a:t>
            </a:r>
            <a:r>
              <a:rPr lang="en-GB" altLang="zh-CN" sz="1400" dirty="0"/>
              <a:t> == </a:t>
            </a:r>
            <a:r>
              <a:rPr lang="en-GB" altLang="zh-CN" sz="1400" dirty="0">
                <a:solidFill>
                  <a:srgbClr val="1750EB"/>
                </a:solidFill>
                <a:effectLst/>
              </a:rPr>
              <a:t>4</a:t>
            </a:r>
            <a:r>
              <a:rPr lang="en-GB" altLang="zh-CN" sz="1400" dirty="0"/>
              <a:t>, </a:t>
            </a:r>
            <a:r>
              <a:rPr lang="en-GB" altLang="zh-CN" sz="1400" dirty="0">
                <a:solidFill>
                  <a:srgbClr val="1750EB"/>
                </a:solidFill>
                <a:effectLst/>
              </a:rPr>
              <a:t>0</a:t>
            </a:r>
            <a:r>
              <a:rPr lang="en-GB" altLang="zh-CN" sz="1400" dirty="0"/>
              <a:t>], </a:t>
            </a:r>
            <a:r>
              <a:rPr lang="en-GB" altLang="zh-CN" sz="1400" dirty="0" err="1"/>
              <a:t>X.values</a:t>
            </a:r>
            <a:r>
              <a:rPr lang="en-GB" altLang="zh-CN" sz="1400" dirty="0"/>
              <a:t>[</a:t>
            </a:r>
            <a:r>
              <a:rPr lang="en-GB" altLang="zh-CN" sz="1400" dirty="0" err="1"/>
              <a:t>y_kmeans</a:t>
            </a:r>
            <a:r>
              <a:rPr lang="en-GB" altLang="zh-CN" sz="1400" dirty="0"/>
              <a:t> == </a:t>
            </a:r>
            <a:r>
              <a:rPr lang="en-GB" altLang="zh-CN" sz="1400" dirty="0">
                <a:solidFill>
                  <a:srgbClr val="1750EB"/>
                </a:solidFill>
                <a:effectLst/>
              </a:rPr>
              <a:t>4</a:t>
            </a:r>
            <a:r>
              <a:rPr lang="en-GB" altLang="zh-CN" sz="1400" dirty="0"/>
              <a:t>, </a:t>
            </a:r>
            <a:r>
              <a:rPr lang="en-GB" altLang="zh-CN" sz="1400" dirty="0">
                <a:solidFill>
                  <a:srgbClr val="1750EB"/>
                </a:solidFill>
                <a:effectLst/>
              </a:rPr>
              <a:t>1</a:t>
            </a:r>
            <a:r>
              <a:rPr lang="en-GB" altLang="zh-CN" sz="1400" dirty="0"/>
              <a:t>], </a:t>
            </a:r>
            <a:r>
              <a:rPr lang="en-GB" altLang="zh-CN" sz="1400" dirty="0">
                <a:solidFill>
                  <a:srgbClr val="660099"/>
                </a:solidFill>
                <a:effectLst/>
              </a:rPr>
              <a:t>s</a:t>
            </a:r>
            <a:r>
              <a:rPr lang="en-GB" altLang="zh-CN" sz="1400" dirty="0"/>
              <a:t>=</a:t>
            </a:r>
            <a:r>
              <a:rPr lang="en-GB" altLang="zh-CN" sz="1400" dirty="0">
                <a:solidFill>
                  <a:srgbClr val="1750EB"/>
                </a:solidFill>
                <a:effectLst/>
              </a:rPr>
              <a:t>100</a:t>
            </a:r>
            <a:r>
              <a:rPr lang="en-GB" altLang="zh-CN" sz="1400" dirty="0"/>
              <a:t>, </a:t>
            </a:r>
            <a:r>
              <a:rPr lang="en-GB" altLang="zh-CN" sz="1400" dirty="0">
                <a:solidFill>
                  <a:srgbClr val="660099"/>
                </a:solidFill>
                <a:effectLst/>
              </a:rPr>
              <a:t>c</a:t>
            </a:r>
            <a:r>
              <a:rPr lang="en-GB" altLang="zh-CN" sz="1400" dirty="0"/>
              <a:t>=</a:t>
            </a:r>
            <a:r>
              <a:rPr lang="en-GB" altLang="zh-CN" sz="1400" dirty="0">
                <a:solidFill>
                  <a:srgbClr val="067D17"/>
                </a:solidFill>
                <a:effectLst/>
              </a:rPr>
              <a:t>'magenta'</a:t>
            </a:r>
            <a:r>
              <a:rPr lang="en-GB" altLang="zh-CN" sz="1400" dirty="0"/>
              <a:t>, </a:t>
            </a:r>
            <a:r>
              <a:rPr lang="en-GB" altLang="zh-CN" sz="1400" dirty="0">
                <a:solidFill>
                  <a:srgbClr val="660099"/>
                </a:solidFill>
                <a:effectLst/>
              </a:rPr>
              <a:t>label</a:t>
            </a:r>
            <a:r>
              <a:rPr lang="en-GB" altLang="zh-CN" sz="1400" dirty="0"/>
              <a:t>=</a:t>
            </a:r>
            <a:r>
              <a:rPr lang="en-GB" altLang="zh-CN" sz="1400" dirty="0">
                <a:solidFill>
                  <a:srgbClr val="067D17"/>
                </a:solidFill>
                <a:effectLst/>
              </a:rPr>
              <a:t>'TA'</a:t>
            </a:r>
            <a:r>
              <a:rPr lang="en-GB" altLang="zh-CN" sz="1400" dirty="0"/>
              <a:t>)</a:t>
            </a:r>
            <a:br>
              <a:rPr lang="en-GB" altLang="zh-CN" sz="1400" dirty="0"/>
            </a:br>
            <a:r>
              <a:rPr lang="en-GB" altLang="zh-CN" sz="1400" dirty="0"/>
              <a:t>    </a:t>
            </a:r>
            <a:r>
              <a:rPr lang="en-GB" altLang="zh-CN" sz="1400" dirty="0" err="1"/>
              <a:t>plt.scatter</a:t>
            </a:r>
            <a:r>
              <a:rPr lang="en-GB" altLang="zh-CN" sz="1400" dirty="0"/>
              <a:t>(</a:t>
            </a:r>
            <a:r>
              <a:rPr lang="en-GB" altLang="zh-CN" sz="1400" dirty="0" err="1"/>
              <a:t>mykeans.cluster_centers</a:t>
            </a:r>
            <a:r>
              <a:rPr lang="en-GB" altLang="zh-CN" sz="1400" dirty="0"/>
              <a:t>_[:, </a:t>
            </a:r>
            <a:r>
              <a:rPr lang="en-GB" altLang="zh-CN" sz="1400" dirty="0">
                <a:solidFill>
                  <a:srgbClr val="1750EB"/>
                </a:solidFill>
                <a:effectLst/>
              </a:rPr>
              <a:t>0</a:t>
            </a:r>
            <a:r>
              <a:rPr lang="en-GB" altLang="zh-CN" sz="1400" dirty="0"/>
              <a:t>], </a:t>
            </a:r>
            <a:r>
              <a:rPr lang="en-GB" altLang="zh-CN" sz="1400" dirty="0" err="1"/>
              <a:t>mykeans.cluster_centers</a:t>
            </a:r>
            <a:r>
              <a:rPr lang="en-GB" altLang="zh-CN" sz="1400" dirty="0"/>
              <a:t>_[:, </a:t>
            </a:r>
            <a:r>
              <a:rPr lang="en-GB" altLang="zh-CN" sz="1400" dirty="0">
                <a:solidFill>
                  <a:srgbClr val="1750EB"/>
                </a:solidFill>
                <a:effectLst/>
              </a:rPr>
              <a:t>1</a:t>
            </a:r>
            <a:r>
              <a:rPr lang="en-GB" altLang="zh-CN" sz="1400" dirty="0"/>
              <a:t>], </a:t>
            </a:r>
            <a:r>
              <a:rPr lang="en-GB" altLang="zh-CN" sz="1400" dirty="0">
                <a:solidFill>
                  <a:srgbClr val="660099"/>
                </a:solidFill>
                <a:effectLst/>
              </a:rPr>
              <a:t>s</a:t>
            </a:r>
            <a:r>
              <a:rPr lang="en-GB" altLang="zh-CN" sz="1400" dirty="0"/>
              <a:t>=</a:t>
            </a:r>
            <a:r>
              <a:rPr lang="en-GB" altLang="zh-CN" sz="1400" dirty="0">
                <a:solidFill>
                  <a:srgbClr val="1750EB"/>
                </a:solidFill>
                <a:effectLst/>
              </a:rPr>
              <a:t>300</a:t>
            </a:r>
            <a:r>
              <a:rPr lang="en-GB" altLang="zh-CN" sz="1400" dirty="0"/>
              <a:t>, </a:t>
            </a:r>
            <a:r>
              <a:rPr lang="en-GB" altLang="zh-CN" sz="1400" dirty="0">
                <a:solidFill>
                  <a:srgbClr val="660099"/>
                </a:solidFill>
                <a:effectLst/>
              </a:rPr>
              <a:t>c</a:t>
            </a:r>
            <a:r>
              <a:rPr lang="en-GB" altLang="zh-CN" sz="1400" dirty="0"/>
              <a:t>=</a:t>
            </a:r>
            <a:r>
              <a:rPr lang="en-GB" altLang="zh-CN" sz="1400" dirty="0">
                <a:solidFill>
                  <a:srgbClr val="067D17"/>
                </a:solidFill>
                <a:effectLst/>
              </a:rPr>
              <a:t>'black'</a:t>
            </a:r>
            <a:r>
              <a:rPr lang="en-GB" altLang="zh-CN" sz="1400" dirty="0"/>
              <a:t>, </a:t>
            </a:r>
            <a:r>
              <a:rPr lang="en-GB" altLang="zh-CN" sz="1400" dirty="0">
                <a:solidFill>
                  <a:srgbClr val="660099"/>
                </a:solidFill>
                <a:effectLst/>
              </a:rPr>
              <a:t>label</a:t>
            </a:r>
            <a:r>
              <a:rPr lang="en-GB" altLang="zh-CN" sz="1400" dirty="0"/>
              <a:t>=</a:t>
            </a:r>
            <a:r>
              <a:rPr lang="en-GB" altLang="zh-CN" sz="1400" dirty="0">
                <a:solidFill>
                  <a:srgbClr val="067D17"/>
                </a:solidFill>
                <a:effectLst/>
              </a:rPr>
              <a:t>'Centroids’</a:t>
            </a:r>
            <a:r>
              <a:rPr lang="en-GB" altLang="zh-CN" sz="1400" dirty="0"/>
              <a:t>)</a:t>
            </a:r>
            <a:endParaRPr lang="en-GB" altLang="zh-CN" sz="1400"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t>    </a:t>
            </a:r>
            <a:endParaRPr lang="en-US" altLang="zh-CN" sz="1400"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400" dirty="0"/>
              <a:t>    </a:t>
            </a:r>
            <a:r>
              <a:rPr lang="en-GB" altLang="zh-CN" sz="1400" dirty="0" err="1"/>
              <a:t>plt.title</a:t>
            </a:r>
            <a:r>
              <a:rPr lang="en-GB" altLang="zh-CN" sz="1400" dirty="0"/>
              <a:t>(</a:t>
            </a:r>
            <a:r>
              <a:rPr lang="en-GB" altLang="zh-CN" sz="1400" dirty="0">
                <a:solidFill>
                  <a:srgbClr val="067D17"/>
                </a:solidFill>
                <a:effectLst/>
              </a:rPr>
              <a:t>'Clusters of customers'</a:t>
            </a:r>
            <a:r>
              <a:rPr lang="en-GB" altLang="zh-CN" sz="1400" dirty="0"/>
              <a:t>)</a:t>
            </a:r>
            <a:br>
              <a:rPr lang="en-GB" altLang="zh-CN" sz="1400" dirty="0"/>
            </a:br>
            <a:r>
              <a:rPr lang="en-GB" altLang="zh-CN" sz="1400" dirty="0"/>
              <a:t>    </a:t>
            </a:r>
            <a:r>
              <a:rPr lang="en-GB" altLang="zh-CN" sz="1400" dirty="0" err="1"/>
              <a:t>plt.xlabel</a:t>
            </a:r>
            <a:r>
              <a:rPr lang="en-GB" altLang="zh-CN" sz="1400" dirty="0"/>
              <a:t>(</a:t>
            </a:r>
            <a:r>
              <a:rPr lang="en-GB" altLang="zh-CN" sz="1400" dirty="0">
                <a:solidFill>
                  <a:srgbClr val="067D17"/>
                </a:solidFill>
                <a:effectLst/>
              </a:rPr>
              <a:t>'Annual Income (k$)'</a:t>
            </a:r>
            <a:r>
              <a:rPr lang="en-GB" altLang="zh-CN" sz="1400" dirty="0"/>
              <a:t>)</a:t>
            </a:r>
            <a:br>
              <a:rPr lang="en-GB" altLang="zh-CN" sz="1400" dirty="0"/>
            </a:br>
            <a:r>
              <a:rPr lang="en-GB" altLang="zh-CN" sz="1400" dirty="0"/>
              <a:t>    </a:t>
            </a:r>
            <a:r>
              <a:rPr lang="en-GB" altLang="zh-CN" sz="1400" dirty="0" err="1"/>
              <a:t>plt.ylabel</a:t>
            </a:r>
            <a:r>
              <a:rPr lang="en-GB" altLang="zh-CN" sz="1400" dirty="0"/>
              <a:t>(</a:t>
            </a:r>
            <a:r>
              <a:rPr lang="en-GB" altLang="zh-CN" sz="1400" dirty="0">
                <a:solidFill>
                  <a:srgbClr val="067D17"/>
                </a:solidFill>
                <a:effectLst/>
              </a:rPr>
              <a:t>'Spending Score (1-100)'</a:t>
            </a:r>
            <a:r>
              <a:rPr lang="en-GB" altLang="zh-CN" sz="1400" dirty="0"/>
              <a:t>)</a:t>
            </a:r>
            <a:br>
              <a:rPr lang="en-GB" altLang="zh-CN" sz="1400" dirty="0"/>
            </a:br>
            <a:r>
              <a:rPr lang="en-GB" altLang="zh-CN" sz="1400" dirty="0"/>
              <a:t>    </a:t>
            </a:r>
            <a:r>
              <a:rPr lang="en-GB" altLang="zh-CN" sz="1400" dirty="0" err="1"/>
              <a:t>plt.legend</a:t>
            </a:r>
            <a:r>
              <a:rPr lang="en-GB" altLang="zh-CN" sz="1400" dirty="0"/>
              <a:t>()</a:t>
            </a:r>
            <a:br>
              <a:rPr lang="en-GB" altLang="zh-CN" sz="1400" dirty="0"/>
            </a:br>
            <a:r>
              <a:rPr lang="en-GB" altLang="zh-CN" sz="1400" dirty="0"/>
              <a:t>    </a:t>
            </a:r>
            <a:r>
              <a:rPr lang="en-GB" altLang="zh-CN" sz="1400" dirty="0" err="1"/>
              <a:t>plt.show</a:t>
            </a:r>
            <a:r>
              <a:rPr lang="en-GB" altLang="zh-CN" sz="1400" dirty="0"/>
              <a:t>()</a:t>
            </a:r>
            <a:endParaRPr kumimoji="0" lang="en-GB" altLang="zh-CN" sz="1400" b="0" i="0" u="none" strike="noStrike" kern="1200" cap="none" spc="0" normalizeH="0" baseline="0" noProof="0" dirty="0">
              <a:ln>
                <a:noFill/>
              </a:ln>
              <a:solidFill>
                <a:srgbClr val="0033B3"/>
              </a:solidFill>
              <a:effectLst/>
              <a:uLnTx/>
              <a:uFillTx/>
              <a:latin typeface="Calibri" panose="020F0502020204030204"/>
              <a:ea typeface="黑体" panose="02010609060101010101" pitchFamily="49" charset="-122"/>
              <a:cs typeface="+mn-c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0879" y="839979"/>
            <a:ext cx="9982788" cy="517190"/>
          </a:xfrm>
        </p:spPr>
        <p:txBody>
          <a:bodyPr/>
          <a:lstStyle/>
          <a:p>
            <a:r>
              <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rPr>
              <a:t> 案例：顾客数据聚类分析</a:t>
            </a:r>
            <a:endParaRPr kumimoji="1" lang="zh-CN" altLang="en-US" dirty="0">
              <a:solidFill>
                <a:schemeClr val="tx1">
                  <a:lumMod val="85000"/>
                  <a:lumOff val="15000"/>
                </a:schemeClr>
              </a:solidFill>
              <a:latin typeface="Alibaba PuHuiTi" pitchFamily="18" charset="-122"/>
              <a:ea typeface="Alibaba PuHuiTi" pitchFamily="18" charset="-122"/>
              <a:cs typeface="Alibaba PuHuiTi" pitchFamily="18" charset="-122"/>
            </a:endParaRPr>
          </a:p>
        </p:txBody>
      </p:sp>
      <p:sp>
        <p:nvSpPr>
          <p:cNvPr id="2" name="文本占位符 2"/>
          <p:cNvSpPr txBox="1"/>
          <p:nvPr/>
        </p:nvSpPr>
        <p:spPr>
          <a:xfrm>
            <a:off x="1055799" y="1417155"/>
            <a:ext cx="3452406" cy="39038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L="285750" marR="0" lvl="0" indent="-28575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客户分群效果展示</a:t>
            </a:r>
            <a:r>
              <a:rPr kumimoji="0" lang="zh-CN" altLang="en-US" sz="1600" b="0" i="0" u="none" strike="noStrike" kern="1200" cap="none" spc="0" normalizeH="0" baseline="0" noProof="0" dirty="0">
                <a:ln>
                  <a:noFill/>
                </a:ln>
                <a:solidFill>
                  <a:prstClr val="black">
                    <a:lumMod val="85000"/>
                    <a:lumOff val="15000"/>
                  </a:prstClr>
                </a:solidFill>
                <a:effectLst/>
                <a:uLnTx/>
                <a:uFillTx/>
                <a:latin typeface="Alibaba PuHuiTi" pitchFamily="18" charset="-122"/>
                <a:ea typeface="Alibaba PuHuiTi" pitchFamily="18" charset="-122"/>
                <a:cs typeface="Alibaba PuHuiTi" pitchFamily="18" charset="-122"/>
              </a:rPr>
              <a:t>：</a:t>
            </a:r>
            <a:endParaRPr kumimoji="0" lang="en-US" altLang="zh-CN" sz="1600" b="0" i="0" u="none" strike="noStrike" kern="1200" cap="none" spc="0" normalizeH="0" baseline="0" noProof="0" dirty="0">
              <a:ln>
                <a:noFill/>
              </a:ln>
              <a:solidFill>
                <a:srgbClr val="C0504D">
                  <a:lumMod val="75000"/>
                </a:srgbClr>
              </a:solidFill>
              <a:effectLst/>
              <a:uLnTx/>
              <a:uFillTx/>
              <a:latin typeface="Helvetica Neue" panose="02000503000000020004" pitchFamily="2" charset="0"/>
              <a:ea typeface="Alibaba PuHuiTi" pitchFamily="18" charset="-122"/>
              <a:cs typeface="Alibaba PuHuiTi" pitchFamily="18" charset="-122"/>
            </a:endParaRPr>
          </a:p>
        </p:txBody>
      </p:sp>
      <p:sp>
        <p:nvSpPr>
          <p:cNvPr id="6" name="文本占位符 2"/>
          <p:cNvSpPr txBox="1"/>
          <p:nvPr/>
        </p:nvSpPr>
        <p:spPr>
          <a:xfrm>
            <a:off x="2184483" y="6198002"/>
            <a:ext cx="7035579" cy="390380"/>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R="0" lvl="0" algn="l" defTabSz="914400" rtl="0" eaLnBrk="0" fontAlgn="base" latinLnBrk="0" hangingPunct="0">
              <a:lnSpc>
                <a:spcPct val="150000"/>
              </a:lnSpc>
              <a:spcBef>
                <a:spcPct val="20000"/>
              </a:spcBef>
              <a:spcAft>
                <a:spcPct val="0"/>
              </a:spcAft>
              <a:buClrTx/>
              <a:buSzTx/>
              <a:defRPr/>
            </a:pP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从图中可以看出，聚成</a:t>
            </a:r>
            <a:r>
              <a:rPr lang="en-US" altLang="zh-CN" dirty="0">
                <a:solidFill>
                  <a:prstClr val="black">
                    <a:lumMod val="85000"/>
                    <a:lumOff val="15000"/>
                  </a:prstClr>
                </a:solidFill>
                <a:latin typeface="Alibaba PuHuiTi" pitchFamily="18" charset="-122"/>
                <a:ea typeface="Alibaba PuHuiTi" pitchFamily="18" charset="-122"/>
                <a:cs typeface="Alibaba PuHuiTi" pitchFamily="18" charset="-122"/>
              </a:rPr>
              <a:t>5</a:t>
            </a: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类，右上角属于</a:t>
            </a:r>
            <a:r>
              <a:rPr lang="zh-CN" altLang="en-US" dirty="0">
                <a:solidFill>
                  <a:schemeClr val="accent2">
                    <a:lumMod val="75000"/>
                  </a:schemeClr>
                </a:solidFill>
                <a:latin typeface="Alibaba PuHuiTi" pitchFamily="18" charset="-122"/>
                <a:ea typeface="Alibaba PuHuiTi" pitchFamily="18" charset="-122"/>
                <a:cs typeface="Alibaba PuHuiTi" pitchFamily="18" charset="-122"/>
              </a:rPr>
              <a:t>挣的多，消费的也多</a:t>
            </a:r>
            <a:r>
              <a:rPr lang="zh-CN" altLang="en-US" dirty="0">
                <a:solidFill>
                  <a:prstClr val="black">
                    <a:lumMod val="85000"/>
                    <a:lumOff val="15000"/>
                  </a:prstClr>
                </a:solidFill>
                <a:latin typeface="Alibaba PuHuiTi" pitchFamily="18" charset="-122"/>
                <a:ea typeface="Alibaba PuHuiTi" pitchFamily="18" charset="-122"/>
                <a:cs typeface="Alibaba PuHuiTi" pitchFamily="18" charset="-122"/>
              </a:rPr>
              <a:t>黄金客户群</a:t>
            </a:r>
            <a:endParaRPr lang="en-US" altLang="zh-CN" dirty="0">
              <a:solidFill>
                <a:prstClr val="black">
                  <a:lumMod val="85000"/>
                  <a:lumOff val="15000"/>
                </a:prstClr>
              </a:solidFill>
              <a:latin typeface="Alibaba PuHuiTi" pitchFamily="18" charset="-122"/>
              <a:ea typeface="Alibaba PuHuiTi" pitchFamily="18" charset="-122"/>
              <a:cs typeface="Alibaba PuHuiTi" pitchFamily="18" charset="-122"/>
            </a:endParaRPr>
          </a:p>
        </p:txBody>
      </p:sp>
      <p:pic>
        <p:nvPicPr>
          <p:cNvPr id="4" name="图片 3"/>
          <p:cNvPicPr>
            <a:picLocks noChangeAspect="1"/>
          </p:cNvPicPr>
          <p:nvPr/>
        </p:nvPicPr>
        <p:blipFill>
          <a:blip r:embed="rId1"/>
          <a:stretch>
            <a:fillRect/>
          </a:stretch>
        </p:blipFill>
        <p:spPr>
          <a:xfrm>
            <a:off x="2078961" y="1775636"/>
            <a:ext cx="6767328" cy="4341552"/>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p="http://schemas.openxmlformats.org/presentationml/2006/main">
  <p:tag name="KSO_WM_TEMPLATE_CATEGORY" val="diagram"/>
  <p:tag name="KSO_WM_TEMPLATE_INDEX" val="20185962"/>
  <p:tag name="KSO_WM_TAG_VERSION" val="1.0"/>
  <p:tag name="KSO_WM_UNIT_TYPE" val="q_h_a"/>
  <p:tag name="KSO_WM_UNIT_INDEX" val="1_1_1"/>
  <p:tag name="KSO_WM_UNIT_ID" val="diagram20185962_1*q_h_a*1_1_1"/>
  <p:tag name="KSO_WM_UNIT_LAYERLEVEL" val="1_1_1"/>
  <p:tag name="KSO_WM_UNIT_VALUE" val="10"/>
  <p:tag name="KSO_WM_UNIT_HIGHLIGHT" val="0"/>
  <p:tag name="KSO_WM_UNIT_COMPATIBLE" val="0"/>
  <p:tag name="KSO_WM_UNIT_CLEAR" val="0"/>
  <p:tag name="KSO_WM_BEAUTIFY_FLAG" val="#wm#"/>
  <p:tag name="KSO_WM_DIAGRAM_GROUP_CODE" val="q1-1"/>
  <p:tag name="KSO_WM_UNIT_PRESET_TEXT" val="标题文本预设"/>
  <p:tag name="KSO_WM_UNIT_TEXT_FILL_FORE_SCHEMECOLOR_INDEX" val="5"/>
  <p:tag name="KSO_WM_UNIT_TEXT_FILL_TYPE" val="1"/>
</p:tagLst>
</file>

<file path=ppt/tags/tag2.xml><?xml version="1.0" encoding="utf-8"?>
<p:tagLst xmlns:p="http://schemas.openxmlformats.org/presentationml/2006/main">
  <p:tag name="KSO_WM_TEMPLATE_CATEGORY" val="diagram"/>
  <p:tag name="KSO_WM_TEMPLATE_INDEX" val="20185962"/>
  <p:tag name="KSO_WM_TAG_VERSION" val="1.0"/>
  <p:tag name="KSO_WM_UNIT_TYPE" val="q_h_i"/>
  <p:tag name="KSO_WM_UNIT_INDEX" val="1_1_1"/>
  <p:tag name="KSO_WM_UNIT_ID" val="diagram20185962_1*q_h_i*1_1_1"/>
  <p:tag name="KSO_WM_UNIT_LAYERLEVEL" val="1_1_1"/>
  <p:tag name="KSO_WM_BEAUTIFY_FLAG" val="#wm#"/>
  <p:tag name="KSO_WM_DIAGRAM_GROUP_CODE" val="q1-1"/>
  <p:tag name="KSO_WM_UNIT_FILL_FORE_SCHEMECOLOR_INDEX" val="5"/>
  <p:tag name="KSO_WM_UNIT_FILL_TYPE" val="1"/>
  <p:tag name="KSO_WM_UNIT_TEXT_FILL_FORE_SCHEMECOLOR_INDEX" val="2"/>
  <p:tag name="KSO_WM_UNIT_TEXT_FILL_TYPE" val="1"/>
</p:tagLst>
</file>

<file path=ppt/tags/tag3.xml><?xml version="1.0" encoding="utf-8"?>
<p:tagLst xmlns:p="http://schemas.openxmlformats.org/presentationml/2006/main">
  <p:tag name="KSO_WM_TEMPLATE_CATEGORY" val="diagram"/>
  <p:tag name="KSO_WM_TEMPLATE_INDEX" val="20185962"/>
  <p:tag name="KSO_WM_TAG_VERSION" val="1.0"/>
  <p:tag name="KSO_WM_UNIT_TYPE" val="q_h_i"/>
  <p:tag name="KSO_WM_UNIT_INDEX" val="1_1_2"/>
  <p:tag name="KSO_WM_UNIT_ID" val="diagram20185962_1*q_h_i*1_1_2"/>
  <p:tag name="KSO_WM_UNIT_LAYERLEVEL" val="1_1_1"/>
  <p:tag name="KSO_WM_BEAUTIFY_FLAG" val="#wm#"/>
  <p:tag name="KSO_WM_DIAGRAM_GROUP_CODE" val="q1-1"/>
  <p:tag name="KSO_WM_UNIT_FILL_FORE_SCHEMECOLOR_INDEX" val="5"/>
  <p:tag name="KSO_WM_UNIT_FILL_TYPE" val="1"/>
  <p:tag name="KSO_WM_UNIT_TEXT_FILL_FORE_SCHEMECOLOR_INDEX" val="2"/>
  <p:tag name="KSO_WM_UNIT_TEXT_FILL_TYPE" val="1"/>
</p:tagLst>
</file>

<file path=ppt/tags/tag4.xml><?xml version="1.0" encoding="utf-8"?>
<p:tagLst xmlns:p="http://schemas.openxmlformats.org/presentationml/2006/main">
  <p:tag name="KSO_WM_TEMPLATE_CATEGORY" val="diagram"/>
  <p:tag name="KSO_WM_TEMPLATE_INDEX" val="20185962"/>
  <p:tag name="KSO_WM_TAG_VERSION" val="1.0"/>
  <p:tag name="KSO_WM_UNIT_TYPE" val="q_h_i"/>
  <p:tag name="KSO_WM_UNIT_INDEX" val="1_2_1"/>
  <p:tag name="KSO_WM_UNIT_ID" val="diagram20185962_1*q_h_i*1_2_1"/>
  <p:tag name="KSO_WM_UNIT_LAYERLEVEL" val="1_1_1"/>
  <p:tag name="KSO_WM_BEAUTIFY_FLAG" val="#wm#"/>
  <p:tag name="KSO_WM_DIAGRAM_GROUP_CODE" val="q1-1"/>
  <p:tag name="KSO_WM_UNIT_FILL_FORE_SCHEMECOLOR_INDEX" val="6"/>
  <p:tag name="KSO_WM_UNIT_FILL_TYPE" val="1"/>
  <p:tag name="KSO_WM_UNIT_TEXT_FILL_FORE_SCHEMECOLOR_INDEX" val="2"/>
  <p:tag name="KSO_WM_UNIT_TEXT_FILL_TYPE" val="1"/>
</p:tagLst>
</file>

<file path=ppt/tags/tag5.xml><?xml version="1.0" encoding="utf-8"?>
<p:tagLst xmlns:p="http://schemas.openxmlformats.org/presentationml/2006/main">
  <p:tag name="KSO_WM_TEMPLATE_CATEGORY" val="diagram"/>
  <p:tag name="KSO_WM_TEMPLATE_INDEX" val="20185962"/>
  <p:tag name="KSO_WM_TAG_VERSION" val="1.0"/>
  <p:tag name="KSO_WM_UNIT_TYPE" val="q_h_i"/>
  <p:tag name="KSO_WM_UNIT_INDEX" val="1_2_2"/>
  <p:tag name="KSO_WM_UNIT_ID" val="diagram20185962_1*q_h_i*1_2_2"/>
  <p:tag name="KSO_WM_UNIT_LAYERLEVEL" val="1_1_1"/>
  <p:tag name="KSO_WM_BEAUTIFY_FLAG" val="#wm#"/>
  <p:tag name="KSO_WM_DIAGRAM_GROUP_CODE" val="q1-1"/>
  <p:tag name="KSO_WM_UNIT_FILL_FORE_SCHEMECOLOR_INDEX" val="6"/>
  <p:tag name="KSO_WM_UNIT_FILL_TYPE" val="1"/>
  <p:tag name="KSO_WM_UNIT_TEXT_FILL_FORE_SCHEMECOLOR_INDEX" val="2"/>
  <p:tag name="KSO_WM_UNIT_TEXT_FILL_TYPE" val="1"/>
</p:tagLst>
</file>

<file path=ppt/tags/tag6.xml><?xml version="1.0" encoding="utf-8"?>
<p:tagLst xmlns:p="http://schemas.openxmlformats.org/presentationml/2006/main">
  <p:tag name="KSO_WM_TEMPLATE_CATEGORY" val="diagram"/>
  <p:tag name="KSO_WM_TEMPLATE_INDEX" val="20185962"/>
  <p:tag name="KSO_WM_TAG_VERSION" val="1.0"/>
  <p:tag name="KSO_WM_UNIT_TYPE" val="q_h_i"/>
  <p:tag name="KSO_WM_UNIT_INDEX" val="1_3_1"/>
  <p:tag name="KSO_WM_UNIT_ID" val="diagram20185962_1*q_h_i*1_3_1"/>
  <p:tag name="KSO_WM_UNIT_LAYERLEVEL" val="1_1_1"/>
  <p:tag name="KSO_WM_BEAUTIFY_FLAG" val="#wm#"/>
  <p:tag name="KSO_WM_DIAGRAM_GROUP_CODE" val="q1-1"/>
  <p:tag name="KSO_WM_UNIT_FILL_FORE_SCHEMECOLOR_INDEX" val="8"/>
  <p:tag name="KSO_WM_UNIT_FILL_TYPE" val="1"/>
  <p:tag name="KSO_WM_UNIT_TEXT_FILL_FORE_SCHEMECOLOR_INDEX" val="2"/>
  <p:tag name="KSO_WM_UNIT_TEXT_FILL_TYPE" val="1"/>
</p:tagLst>
</file>

<file path=ppt/tags/tag7.xml><?xml version="1.0" encoding="utf-8"?>
<p:tagLst xmlns:p="http://schemas.openxmlformats.org/presentationml/2006/main">
  <p:tag name="KSO_WM_TEMPLATE_CATEGORY" val="diagram"/>
  <p:tag name="KSO_WM_TEMPLATE_INDEX" val="20185962"/>
  <p:tag name="KSO_WM_TAG_VERSION" val="1.0"/>
  <p:tag name="KSO_WM_UNIT_TYPE" val="q_h_i"/>
  <p:tag name="KSO_WM_UNIT_INDEX" val="1_3_2"/>
  <p:tag name="KSO_WM_UNIT_ID" val="diagram20185962_1*q_h_i*1_3_2"/>
  <p:tag name="KSO_WM_UNIT_LAYERLEVEL" val="1_1_1"/>
  <p:tag name="KSO_WM_BEAUTIFY_FLAG" val="#wm#"/>
  <p:tag name="KSO_WM_DIAGRAM_GROUP_CODE" val="q1-1"/>
  <p:tag name="KSO_WM_UNIT_FILL_FORE_SCHEMECOLOR_INDEX" val="8"/>
  <p:tag name="KSO_WM_UNIT_FILL_TYPE" val="1"/>
  <p:tag name="KSO_WM_UNIT_TEXT_FILL_FORE_SCHEMECOLOR_INDEX" val="2"/>
  <p:tag name="KSO_WM_UNIT_TEXT_FILL_TYPE" val="1"/>
</p:tagLst>
</file>

<file path=ppt/tags/tag8.xml><?xml version="1.0" encoding="utf-8"?>
<p:tagLst xmlns:p="http://schemas.openxmlformats.org/presentationml/2006/main">
  <p:tag name="KSO_WM_TEMPLATE_CATEGORY" val="diagram"/>
  <p:tag name="KSO_WM_TEMPLATE_INDEX" val="20185962"/>
  <p:tag name="KSO_WM_TAG_VERSION" val="1.0"/>
  <p:tag name="KSO_WM_UNIT_TYPE" val="q_h_a"/>
  <p:tag name="KSO_WM_UNIT_INDEX" val="1_2_1"/>
  <p:tag name="KSO_WM_UNIT_ID" val="diagram20185962_1*q_h_a*1_2_1"/>
  <p:tag name="KSO_WM_UNIT_LAYERLEVEL" val="1_1_1"/>
  <p:tag name="KSO_WM_UNIT_VALUE" val="10"/>
  <p:tag name="KSO_WM_UNIT_HIGHLIGHT" val="0"/>
  <p:tag name="KSO_WM_UNIT_COMPATIBLE" val="0"/>
  <p:tag name="KSO_WM_UNIT_CLEAR" val="0"/>
  <p:tag name="KSO_WM_BEAUTIFY_FLAG" val="#wm#"/>
  <p:tag name="KSO_WM_DIAGRAM_GROUP_CODE" val="q1-1"/>
  <p:tag name="KSO_WM_UNIT_PRESET_TEXT" val="标题文本预设"/>
  <p:tag name="KSO_WM_UNIT_TEXT_FILL_FORE_SCHEMECOLOR_INDEX" val="6"/>
  <p:tag name="KSO_WM_UNIT_TEXT_FILL_TYPE" val="1"/>
</p:tagLst>
</file>

<file path=ppt/tags/tag9.xml><?xml version="1.0" encoding="utf-8"?>
<p:tagLst xmlns:p="http://schemas.openxmlformats.org/presentationml/2006/main">
  <p:tag name="KSO_WM_TEMPLATE_CATEGORY" val="diagram"/>
  <p:tag name="KSO_WM_TEMPLATE_INDEX" val="20185962"/>
  <p:tag name="KSO_WM_TAG_VERSION" val="1.0"/>
  <p:tag name="KSO_WM_UNIT_TYPE" val="q_h_i"/>
  <p:tag name="KSO_WM_UNIT_INDEX" val="1_3_3"/>
  <p:tag name="KSO_WM_UNIT_ID" val="diagram20185962_1*q_h_i*1_3_3"/>
  <p:tag name="KSO_WM_UNIT_LAYERLEVEL" val="1_1_1"/>
  <p:tag name="KSO_WM_BEAUTIFY_FLAG" val="#wm#"/>
  <p:tag name="KSO_WM_DIAGRAM_GROUP_CODE" val="q1-1"/>
  <p:tag name="KSO_WM_UNIT_FILL_FORE_SCHEMECOLOR_INDEX" val="6"/>
  <p:tag name="KSO_WM_UNIT_FILL_TYPE" val="1"/>
  <p:tag name="KSO_WM_UNIT_LINE_FORE_SCHEMECOLOR_INDEX" val="8"/>
  <p:tag name="KSO_WM_UNIT_LINE_FILL_TYPE" val="2"/>
</p:tagLst>
</file>

<file path=ppt/tags/tag10.xml><?xml version="1.0" encoding="utf-8"?>
<p:tagLst xmlns:p="http://schemas.openxmlformats.org/presentationml/2006/main">
  <p:tag name="KSO_WM_TEMPLATE_CATEGORY" val="diagram"/>
  <p:tag name="KSO_WM_TEMPLATE_INDEX" val="20185962"/>
  <p:tag name="KSO_WM_TAG_VERSION" val="1.0"/>
  <p:tag name="KSO_WM_UNIT_TYPE" val="q_h_a"/>
  <p:tag name="KSO_WM_UNIT_INDEX" val="1_3_1"/>
  <p:tag name="KSO_WM_UNIT_ID" val="diagram20185962_1*q_h_a*1_3_1"/>
  <p:tag name="KSO_WM_UNIT_LAYERLEVEL" val="1_1_1"/>
  <p:tag name="KSO_WM_UNIT_VALUE" val="10"/>
  <p:tag name="KSO_WM_UNIT_HIGHLIGHT" val="0"/>
  <p:tag name="KSO_WM_UNIT_COMPATIBLE" val="0"/>
  <p:tag name="KSO_WM_UNIT_CLEAR" val="0"/>
  <p:tag name="KSO_WM_BEAUTIFY_FLAG" val="#wm#"/>
  <p:tag name="KSO_WM_DIAGRAM_GROUP_CODE" val="q1-1"/>
  <p:tag name="KSO_WM_UNIT_PRESET_TEXT" val="标题文本预设"/>
  <p:tag name="KSO_WM_UNIT_TEXT_FILL_FORE_SCHEMECOLOR_INDEX" val="8"/>
  <p:tag name="KSO_WM_UNIT_TEXT_FILL_TYPE" val="1"/>
</p:tagLst>
</file>

<file path=ppt/tags/tag11.xml><?xml version="1.0" encoding="utf-8"?>
<p:tagLst xmlns:p="http://schemas.openxmlformats.org/presentationml/2006/main">
  <p:tag name="KSO_WM_TEMPLATE_CATEGORY" val="diagram"/>
  <p:tag name="KSO_WM_TEMPLATE_INDEX" val="20185962"/>
  <p:tag name="KSO_WM_TAG_VERSION" val="1.0"/>
  <p:tag name="KSO_WM_UNIT_TYPE" val="q_h_i"/>
  <p:tag name="KSO_WM_UNIT_INDEX" val="1_1_4"/>
  <p:tag name="KSO_WM_UNIT_ID" val="diagram20185962_1*q_h_i*1_1_4"/>
  <p:tag name="KSO_WM_UNIT_LAYERLEVEL" val="1_1_1"/>
  <p:tag name="KSO_WM_BEAUTIFY_FLAG" val="#wm#"/>
  <p:tag name="KSO_WM_DIAGRAM_GROUP_CODE" val="q1-1"/>
  <p:tag name="KSO_WM_UNIT_FILL_FORE_SCHEMECOLOR_INDEX" val="6"/>
  <p:tag name="KSO_WM_UNIT_FILL_TYPE" val="1"/>
  <p:tag name="KSO_WM_UNIT_LINE_FORE_SCHEMECOLOR_INDEX" val="5"/>
  <p:tag name="KSO_WM_UNIT_LINE_FILL_TYPE" val="2"/>
</p:tagLst>
</file>

<file path=ppt/tags/tag12.xml><?xml version="1.0" encoding="utf-8"?>
<p:tagLst xmlns:p="http://schemas.openxmlformats.org/presentationml/2006/main">
  <p:tag name="KSO_WM_TEMPLATE_CATEGORY" val="diagram"/>
  <p:tag name="KSO_WM_TEMPLATE_INDEX" val="20185962"/>
  <p:tag name="KSO_WM_TAG_VERSION" val="1.0"/>
  <p:tag name="KSO_WM_UNIT_TYPE" val="q_h_i"/>
  <p:tag name="KSO_WM_UNIT_INDEX" val="1_2_4"/>
  <p:tag name="KSO_WM_UNIT_ID" val="diagram20185962_1*q_h_i*1_2_4"/>
  <p:tag name="KSO_WM_UNIT_LAYERLEVEL" val="1_1_1"/>
  <p:tag name="KSO_WM_BEAUTIFY_FLAG" val="#wm#"/>
  <p:tag name="KSO_WM_DIAGRAM_GROUP_CODE" val="q1-1"/>
  <p:tag name="KSO_WM_UNIT_FILL_FORE_SCHEMECOLOR_INDEX" val="6"/>
  <p:tag name="KSO_WM_UNIT_FILL_TYPE" val="1"/>
  <p:tag name="KSO_WM_UNIT_LINE_FORE_SCHEMECOLOR_INDEX" val="6"/>
  <p:tag name="KSO_WM_UNIT_LINE_FILL_TYPE" val="2"/>
</p:tagLst>
</file>

<file path=ppt/tags/tag13.xml><?xml version="1.0" encoding="utf-8"?>
<p:tagLst xmlns:p="http://schemas.openxmlformats.org/presentationml/2006/main">
  <p:tag name="KSO_WM_DIAGRAM_VIRTUALLY_FRAME" val="{&quot;height&quot;:189.4253543307087,&quot;left&quot;:349.7776377952756,&quot;top&quot;:177.47732283464566,&quot;width&quot;:575.3460629921259}"/>
</p:tagLst>
</file>

<file path=ppt/tags/tag14.xml><?xml version="1.0" encoding="utf-8"?>
<p:tagLst xmlns:p="http://schemas.openxmlformats.org/presentationml/2006/main">
  <p:tag name="KSO_WM_DIAGRAM_VIRTUALLY_FRAME" val="{&quot;height&quot;:189.4253543307087,&quot;left&quot;:349.7776377952756,&quot;top&quot;:177.47732283464566,&quot;width&quot;:575.3460629921259}"/>
</p:tagLst>
</file>

<file path=ppt/tags/tag15.xml><?xml version="1.0" encoding="utf-8"?>
<p:tagLst xmlns:p="http://schemas.openxmlformats.org/presentationml/2006/main">
  <p:tag name="KSO_WM_DIAGRAM_VIRTUALLY_FRAME" val="{&quot;height&quot;:189.4253543307087,&quot;left&quot;:349.7776377952756,&quot;top&quot;:177.47732283464566,&quot;width&quot;:575.3460629921259}"/>
</p:tagLst>
</file>

<file path=ppt/tags/tag16.xml><?xml version="1.0" encoding="utf-8"?>
<p:tagLst xmlns:p="http://schemas.openxmlformats.org/presentationml/2006/main">
  <p:tag name="KSO_WM_DIAGRAM_VIRTUALLY_FRAME" val="{&quot;height&quot;:189.4253543307087,&quot;left&quot;:349.7776377952756,&quot;top&quot;:177.47732283464566,&quot;width&quot;:575.3460629921259}"/>
</p:tagLst>
</file>

<file path=ppt/tags/tag17.xml><?xml version="1.0" encoding="utf-8"?>
<p:tagLst xmlns:p="http://schemas.openxmlformats.org/presentationml/2006/main">
  <p:tag name="KSO_WM_TEMPLATE_CATEGORY" val="diagram"/>
  <p:tag name="KSO_WM_TEMPLATE_INDEX" val="20185962"/>
  <p:tag name="KSO_WM_TAG_VERSION" val="1.0"/>
  <p:tag name="KSO_WM_UNIT_TYPE" val="q_h_a"/>
  <p:tag name="KSO_WM_UNIT_INDEX" val="1_3_1"/>
  <p:tag name="KSO_WM_UNIT_ID" val="diagram20185962_1*q_h_a*1_3_1"/>
  <p:tag name="KSO_WM_UNIT_LAYERLEVEL" val="1_1_1"/>
  <p:tag name="KSO_WM_UNIT_VALUE" val="10"/>
  <p:tag name="KSO_WM_UNIT_HIGHLIGHT" val="0"/>
  <p:tag name="KSO_WM_UNIT_COMPATIBLE" val="0"/>
  <p:tag name="KSO_WM_UNIT_CLEAR" val="0"/>
  <p:tag name="KSO_WM_BEAUTIFY_FLAG" val="#wm#"/>
  <p:tag name="KSO_WM_DIAGRAM_GROUP_CODE" val="q1-1"/>
  <p:tag name="KSO_WM_UNIT_PRESET_TEXT" val="标题文本预设"/>
  <p:tag name="KSO_WM_UNIT_TEXT_FILL_FORE_SCHEMECOLOR_INDEX" val="8"/>
  <p:tag name="KSO_WM_UNIT_TEXT_FILL_TYPE" val="1"/>
  <p:tag name="KSO_WM_DIAGRAM_VIRTUALLY_FRAME" val="{&quot;height&quot;:202.34062992125985,&quot;left&quot;:132.24220472440945,&quot;top&quot;:196.5340157480315,&quot;width&quot;:695.5155118110235}"/>
</p:tagLst>
</file>

<file path=ppt/theme/theme1.xml><?xml version="1.0" encoding="utf-8"?>
<a:theme xmlns:a="http://schemas.openxmlformats.org/drawingml/2006/main" name="封面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目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章节页版式（一级+二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章节页版式（一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结束页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2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3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9753</Words>
  <Application>WPS 演示</Application>
  <PresentationFormat>宽屏</PresentationFormat>
  <Paragraphs>375</Paragraphs>
  <Slides>52</Slides>
  <Notes>34</Notes>
  <HiddenSlides>0</HiddenSlides>
  <MMClips>0</MMClips>
  <ScaleCrop>false</ScaleCrop>
  <HeadingPairs>
    <vt:vector size="6" baseType="variant">
      <vt:variant>
        <vt:lpstr>已用的字体</vt:lpstr>
      </vt:variant>
      <vt:variant>
        <vt:i4>23</vt:i4>
      </vt:variant>
      <vt:variant>
        <vt:lpstr>主题</vt:lpstr>
      </vt:variant>
      <vt:variant>
        <vt:i4>10</vt:i4>
      </vt:variant>
      <vt:variant>
        <vt:lpstr>幻灯片标题</vt:lpstr>
      </vt:variant>
      <vt:variant>
        <vt:i4>52</vt:i4>
      </vt:variant>
    </vt:vector>
  </HeadingPairs>
  <TitlesOfParts>
    <vt:vector size="85" baseType="lpstr">
      <vt:lpstr>Arial</vt:lpstr>
      <vt:lpstr>宋体</vt:lpstr>
      <vt:lpstr>Wingdings</vt:lpstr>
      <vt:lpstr>Calibri</vt:lpstr>
      <vt:lpstr>黑体</vt:lpstr>
      <vt:lpstr>Alibaba PuHuiTi B</vt:lpstr>
      <vt:lpstr>Alibaba PuHuiTi R</vt:lpstr>
      <vt:lpstr>Segoe UI</vt:lpstr>
      <vt:lpstr>微软雅黑</vt:lpstr>
      <vt:lpstr>Verdana</vt:lpstr>
      <vt:lpstr>阿里巴巴普惠体</vt:lpstr>
      <vt:lpstr>华文楷体</vt:lpstr>
      <vt:lpstr>Alibaba PuHuiTi</vt:lpstr>
      <vt:lpstr>Alibaba PuHuiTi Medium</vt:lpstr>
      <vt:lpstr>Alibaba PuHuiTi M</vt:lpstr>
      <vt:lpstr>Segoe UI Light</vt:lpstr>
      <vt:lpstr>微软雅黑 Light</vt:lpstr>
      <vt:lpstr>Open Sans</vt:lpstr>
      <vt:lpstr>Helvetica Neue</vt:lpstr>
      <vt:lpstr>等线</vt:lpstr>
      <vt:lpstr>Calibri</vt:lpstr>
      <vt:lpstr>Arial Unicode MS</vt:lpstr>
      <vt:lpstr>Cambria Math</vt:lpstr>
      <vt:lpstr>封面2</vt:lpstr>
      <vt:lpstr>目录</vt:lpstr>
      <vt:lpstr>学习目标</vt:lpstr>
      <vt:lpstr>章节页版式（一级+二级标题）</vt:lpstr>
      <vt:lpstr>章节页版式（一级标题）</vt:lpstr>
      <vt:lpstr>正文设计方案</vt:lpstr>
      <vt:lpstr>5_结束页设计方案</vt:lpstr>
      <vt:lpstr>1_正文设计方案</vt:lpstr>
      <vt:lpstr>2_正文设计方案</vt:lpstr>
      <vt:lpstr>3_正文设计方案</vt:lpstr>
      <vt:lpstr>聚类算法</vt:lpstr>
      <vt:lpstr>PowerPoint 演示文稿</vt:lpstr>
      <vt:lpstr>PowerPoint 演示文稿</vt:lpstr>
      <vt:lpstr> 聚类算法 – 概念</vt:lpstr>
      <vt:lpstr>聚类算法在现实生活中的应用</vt:lpstr>
      <vt:lpstr> 聚类算法分类</vt:lpstr>
      <vt:lpstr>PowerPoint 演示文稿</vt:lpstr>
      <vt:lpstr>PowerPoint 演示文稿</vt:lpstr>
      <vt:lpstr>PowerPoint 演示文稿</vt:lpstr>
      <vt:lpstr>PowerPoint 演示文稿</vt:lpstr>
      <vt:lpstr> 聚类算法API</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KMeans算法实现流程</vt:lpstr>
      <vt:lpstr> KMeans算法实现流程</vt:lpstr>
      <vt:lpstr> KMeans算法实现流程</vt:lpstr>
      <vt:lpstr> KMeans算法实现流程 – 举例</vt:lpstr>
      <vt:lpstr> KMeans算法实现流程 – 举例</vt:lpstr>
      <vt:lpstr> KMeans算法实现流程 – 举例</vt:lpstr>
      <vt:lpstr> KMeans算法实现流程 – 举例</vt:lpstr>
      <vt:lpstr> KMeans算法实现流程 – 举例</vt:lpstr>
      <vt:lpstr> KMeans算法实现流程 – 举例</vt:lpstr>
      <vt:lpstr>PowerPoint 演示文稿</vt:lpstr>
      <vt:lpstr>PowerPoint 演示文稿</vt:lpstr>
      <vt:lpstr>PowerPoint 演示文稿</vt:lpstr>
      <vt:lpstr>PowerPoint 演示文稿</vt:lpstr>
      <vt:lpstr>误差平方和SSE (The sum of squares due to error) 1</vt:lpstr>
      <vt:lpstr>“肘”方法 (Elbow method) -  K值确定</vt:lpstr>
      <vt:lpstr> 聚类效果评估 – 代码效果展示SSE误差平方和 </vt:lpstr>
      <vt:lpstr> 聚类效果评估 – 代码效果展示SSE误差平方和 </vt:lpstr>
      <vt:lpstr> SC轮廓系数法（Silhouette Coefficient）</vt:lpstr>
      <vt:lpstr> 聚类效果评估 – 代码效果展示 – SC系数 </vt:lpstr>
      <vt:lpstr> 聚类效果评估 – 代码效果展示 – SC系数</vt:lpstr>
      <vt:lpstr> 聚类效果评估 – CH轮廓系数法（Calinski-Harabasz Index）</vt:lpstr>
      <vt:lpstr> 聚类效果评估 – 代码效果展示 – CH系数</vt:lpstr>
      <vt:lpstr> 聚类效果评估 – 代码效果展示 – CH系数 </vt:lpstr>
      <vt:lpstr>PowerPoint 演示文稿</vt:lpstr>
      <vt:lpstr>PowerPoint 演示文稿</vt:lpstr>
      <vt:lpstr>PowerPoint 演示文稿</vt:lpstr>
      <vt:lpstr>PowerPoint 演示文稿</vt:lpstr>
      <vt:lpstr> 案例：顾客数据聚类分析</vt:lpstr>
      <vt:lpstr> 案例：顾客数据聚类分析</vt:lpstr>
      <vt:lpstr>案例：顾客数据聚类分析</vt:lpstr>
      <vt:lpstr> 案例：顾客数据聚类分析</vt:lpstr>
      <vt:lpstr>案例：顾客数据聚类分析</vt:lpstr>
      <vt:lpstr> 案例：顾客数据聚类分析</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8802</dc:creator>
  <cp:lastModifiedBy>武常斌</cp:lastModifiedBy>
  <cp:revision>1627</cp:revision>
  <dcterms:created xsi:type="dcterms:W3CDTF">2020-03-31T02:23:00Z</dcterms:created>
  <dcterms:modified xsi:type="dcterms:W3CDTF">2025-06-01T15:34:47Z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ACFC08EC74A84EC0ACDA683203988642_12</vt:lpwstr>
  </property>
  <property fmtid="{D5CDD505-2E9C-101B-9397-08002B2CF9AE}" pid="3" name="KSOProductBuildVer">
    <vt:lpwstr>2052-12.1.0.21171</vt:lpwstr>
  </property>
</Properties>
</file>