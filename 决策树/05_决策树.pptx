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3.svg" ContentType="image/svg+xml"/>
  <Override PartName="/ppt/media/image5.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 id="2147483652" r:id="rId4"/>
    <p:sldMasterId id="2147483654" r:id="rId5"/>
    <p:sldMasterId id="2147483656" r:id="rId6"/>
    <p:sldMasterId id="2147483658" r:id="rId7"/>
    <p:sldMasterId id="2147483674" r:id="rId8"/>
    <p:sldMasterId id="2147483676" r:id="rId9"/>
  </p:sldMasterIdLst>
  <p:notesMasterIdLst>
    <p:notesMasterId r:id="rId14"/>
  </p:notesMasterIdLst>
  <p:handoutMasterIdLst>
    <p:handoutMasterId r:id="rId78"/>
  </p:handoutMasterIdLst>
  <p:sldIdLst>
    <p:sldId id="1530" r:id="rId10"/>
    <p:sldId id="1517" r:id="rId11"/>
    <p:sldId id="464" r:id="rId12"/>
    <p:sldId id="1447" r:id="rId13"/>
    <p:sldId id="1448" r:id="rId15"/>
    <p:sldId id="1451" r:id="rId16"/>
    <p:sldId id="1538" r:id="rId17"/>
    <p:sldId id="1518" r:id="rId18"/>
    <p:sldId id="1534" r:id="rId19"/>
    <p:sldId id="1454" r:id="rId20"/>
    <p:sldId id="1455" r:id="rId21"/>
    <p:sldId id="1456" r:id="rId22"/>
    <p:sldId id="1458" r:id="rId23"/>
    <p:sldId id="1460" r:id="rId24"/>
    <p:sldId id="1462" r:id="rId25"/>
    <p:sldId id="1531" r:id="rId26"/>
    <p:sldId id="1464" r:id="rId27"/>
    <p:sldId id="1465" r:id="rId28"/>
    <p:sldId id="1195" r:id="rId29"/>
    <p:sldId id="1196" r:id="rId30"/>
    <p:sldId id="1468" r:id="rId31"/>
    <p:sldId id="1519" r:id="rId32"/>
    <p:sldId id="1524" r:id="rId33"/>
    <p:sldId id="1366" r:id="rId34"/>
    <p:sldId id="1470" r:id="rId35"/>
    <p:sldId id="1471" r:id="rId36"/>
    <p:sldId id="1472" r:id="rId37"/>
    <p:sldId id="1384" r:id="rId38"/>
    <p:sldId id="1520" r:id="rId39"/>
    <p:sldId id="1525" r:id="rId40"/>
    <p:sldId id="1532" r:id="rId41"/>
    <p:sldId id="1475" r:id="rId42"/>
    <p:sldId id="1476" r:id="rId43"/>
    <p:sldId id="1477" r:id="rId44"/>
    <p:sldId id="1479" r:id="rId45"/>
    <p:sldId id="1480" r:id="rId46"/>
    <p:sldId id="1481" r:id="rId47"/>
    <p:sldId id="1483" r:id="rId48"/>
    <p:sldId id="1535" r:id="rId49"/>
    <p:sldId id="1485" r:id="rId50"/>
    <p:sldId id="1521" r:id="rId51"/>
    <p:sldId id="1526" r:id="rId52"/>
    <p:sldId id="1495" r:id="rId53"/>
    <p:sldId id="1496" r:id="rId54"/>
    <p:sldId id="1498" r:id="rId55"/>
    <p:sldId id="1533" r:id="rId56"/>
    <p:sldId id="1522" r:id="rId57"/>
    <p:sldId id="1529" r:id="rId58"/>
    <p:sldId id="1488" r:id="rId59"/>
    <p:sldId id="1489" r:id="rId60"/>
    <p:sldId id="1490" r:id="rId61"/>
    <p:sldId id="1491" r:id="rId62"/>
    <p:sldId id="1493" r:id="rId63"/>
    <p:sldId id="1494" r:id="rId64"/>
    <p:sldId id="1537" r:id="rId65"/>
    <p:sldId id="1492" r:id="rId66"/>
    <p:sldId id="1523" r:id="rId67"/>
    <p:sldId id="1528" r:id="rId68"/>
    <p:sldId id="1507" r:id="rId69"/>
    <p:sldId id="1508" r:id="rId70"/>
    <p:sldId id="1509" r:id="rId71"/>
    <p:sldId id="1510" r:id="rId72"/>
    <p:sldId id="1512" r:id="rId73"/>
    <p:sldId id="474" r:id="rId74"/>
    <p:sldId id="1515" r:id="rId75"/>
    <p:sldId id="1516" r:id="rId76"/>
    <p:sldId id="1536" r:id="rId7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0206"/>
    <a:srgbClr val="AD2A26"/>
    <a:srgbClr val="8A8A8A"/>
    <a:srgbClr val="4C5252"/>
    <a:srgbClr val="F9F9F9"/>
    <a:srgbClr val="48504F"/>
    <a:srgbClr val="AD2B26"/>
    <a:srgbClr val="49504F"/>
    <a:srgbClr val="B70006"/>
    <a:srgbClr val="FFFF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08" autoAdjust="0"/>
    <p:restoredTop sz="92535" autoAdjust="0"/>
  </p:normalViewPr>
  <p:slideViewPr>
    <p:cSldViewPr snapToGrid="0">
      <p:cViewPr varScale="1">
        <p:scale>
          <a:sx n="114" d="100"/>
          <a:sy n="114" d="100"/>
        </p:scale>
        <p:origin x="1016" y="168"/>
      </p:cViewPr>
      <p:guideLst/>
    </p:cSldViewPr>
  </p:slideViewPr>
  <p:notesTextViewPr>
    <p:cViewPr>
      <p:scale>
        <a:sx n="1" d="1"/>
        <a:sy n="1" d="1"/>
      </p:scale>
      <p:origin x="0" y="0"/>
    </p:cViewPr>
  </p:notesTextViewPr>
  <p:notesViewPr>
    <p:cSldViewPr snapToGrid="0">
      <p:cViewPr varScale="1">
        <p:scale>
          <a:sx n="97" d="100"/>
          <a:sy n="97" d="100"/>
        </p:scale>
        <p:origin x="3416" y="19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1" Type="http://schemas.openxmlformats.org/officeDocument/2006/relationships/tableStyles" Target="tableStyles.xml"/><Relationship Id="rId80" Type="http://schemas.openxmlformats.org/officeDocument/2006/relationships/viewProps" Target="viewProps.xml"/><Relationship Id="rId8" Type="http://schemas.openxmlformats.org/officeDocument/2006/relationships/slideMaster" Target="slideMasters/slideMaster7.xml"/><Relationship Id="rId79" Type="http://schemas.openxmlformats.org/officeDocument/2006/relationships/presProps" Target="presProps.xml"/><Relationship Id="rId78" Type="http://schemas.openxmlformats.org/officeDocument/2006/relationships/handoutMaster" Target="handoutMasters/handoutMaster1.xml"/><Relationship Id="rId77" Type="http://schemas.openxmlformats.org/officeDocument/2006/relationships/slide" Target="slides/slide67.xml"/><Relationship Id="rId76" Type="http://schemas.openxmlformats.org/officeDocument/2006/relationships/slide" Target="slides/slide66.xml"/><Relationship Id="rId75" Type="http://schemas.openxmlformats.org/officeDocument/2006/relationships/slide" Target="slides/slide65.xml"/><Relationship Id="rId74" Type="http://schemas.openxmlformats.org/officeDocument/2006/relationships/slide" Target="slides/slide64.xml"/><Relationship Id="rId73" Type="http://schemas.openxmlformats.org/officeDocument/2006/relationships/slide" Target="slides/slide63.xml"/><Relationship Id="rId72" Type="http://schemas.openxmlformats.org/officeDocument/2006/relationships/slide" Target="slides/slide62.xml"/><Relationship Id="rId71" Type="http://schemas.openxmlformats.org/officeDocument/2006/relationships/slide" Target="slides/slide61.xml"/><Relationship Id="rId70" Type="http://schemas.openxmlformats.org/officeDocument/2006/relationships/slide" Target="slides/slide60.xml"/><Relationship Id="rId7" Type="http://schemas.openxmlformats.org/officeDocument/2006/relationships/slideMaster" Target="slideMasters/slideMaster6.xml"/><Relationship Id="rId69" Type="http://schemas.openxmlformats.org/officeDocument/2006/relationships/slide" Target="slides/slide59.xml"/><Relationship Id="rId68" Type="http://schemas.openxmlformats.org/officeDocument/2006/relationships/slide" Target="slides/slide58.xml"/><Relationship Id="rId67" Type="http://schemas.openxmlformats.org/officeDocument/2006/relationships/slide" Target="slides/slide57.xml"/><Relationship Id="rId66" Type="http://schemas.openxmlformats.org/officeDocument/2006/relationships/slide" Target="slides/slide56.xml"/><Relationship Id="rId65" Type="http://schemas.openxmlformats.org/officeDocument/2006/relationships/slide" Target="slides/slide55.xml"/><Relationship Id="rId64" Type="http://schemas.openxmlformats.org/officeDocument/2006/relationships/slide" Target="slides/slide54.xml"/><Relationship Id="rId63" Type="http://schemas.openxmlformats.org/officeDocument/2006/relationships/slide" Target="slides/slide53.xml"/><Relationship Id="rId62" Type="http://schemas.openxmlformats.org/officeDocument/2006/relationships/slide" Target="slides/slide52.xml"/><Relationship Id="rId61" Type="http://schemas.openxmlformats.org/officeDocument/2006/relationships/slide" Target="slides/slide51.xml"/><Relationship Id="rId60" Type="http://schemas.openxmlformats.org/officeDocument/2006/relationships/slide" Target="slides/slide50.xml"/><Relationship Id="rId6" Type="http://schemas.openxmlformats.org/officeDocument/2006/relationships/slideMaster" Target="slideMasters/slideMaster5.xml"/><Relationship Id="rId59" Type="http://schemas.openxmlformats.org/officeDocument/2006/relationships/slide" Target="slides/slide49.xml"/><Relationship Id="rId58" Type="http://schemas.openxmlformats.org/officeDocument/2006/relationships/slide" Target="slides/slide48.xml"/><Relationship Id="rId57" Type="http://schemas.openxmlformats.org/officeDocument/2006/relationships/slide" Target="slides/slide47.xml"/><Relationship Id="rId56" Type="http://schemas.openxmlformats.org/officeDocument/2006/relationships/slide" Target="slides/slide46.xml"/><Relationship Id="rId55" Type="http://schemas.openxmlformats.org/officeDocument/2006/relationships/slide" Target="slides/slide45.xml"/><Relationship Id="rId54" Type="http://schemas.openxmlformats.org/officeDocument/2006/relationships/slide" Target="slides/slide44.xml"/><Relationship Id="rId53" Type="http://schemas.openxmlformats.org/officeDocument/2006/relationships/slide" Target="slides/slide43.xml"/><Relationship Id="rId52" Type="http://schemas.openxmlformats.org/officeDocument/2006/relationships/slide" Target="slides/slide42.xml"/><Relationship Id="rId51" Type="http://schemas.openxmlformats.org/officeDocument/2006/relationships/slide" Target="slides/slide41.xml"/><Relationship Id="rId50" Type="http://schemas.openxmlformats.org/officeDocument/2006/relationships/slide" Target="slides/slide40.xml"/><Relationship Id="rId5" Type="http://schemas.openxmlformats.org/officeDocument/2006/relationships/slideMaster" Target="slideMasters/slideMaster4.xml"/><Relationship Id="rId49" Type="http://schemas.openxmlformats.org/officeDocument/2006/relationships/slide" Target="slides/slide39.xml"/><Relationship Id="rId48" Type="http://schemas.openxmlformats.org/officeDocument/2006/relationships/slide" Target="slides/slide38.xml"/><Relationship Id="rId47" Type="http://schemas.openxmlformats.org/officeDocument/2006/relationships/slide" Target="slides/slide37.xml"/><Relationship Id="rId46" Type="http://schemas.openxmlformats.org/officeDocument/2006/relationships/slide" Target="slides/slide36.xml"/><Relationship Id="rId45" Type="http://schemas.openxmlformats.org/officeDocument/2006/relationships/slide" Target="slides/slide35.xml"/><Relationship Id="rId44" Type="http://schemas.openxmlformats.org/officeDocument/2006/relationships/slide" Target="slides/slide34.xml"/><Relationship Id="rId43" Type="http://schemas.openxmlformats.org/officeDocument/2006/relationships/slide" Target="slides/slide33.xml"/><Relationship Id="rId42" Type="http://schemas.openxmlformats.org/officeDocument/2006/relationships/slide" Target="slides/slide32.xml"/><Relationship Id="rId41" Type="http://schemas.openxmlformats.org/officeDocument/2006/relationships/slide" Target="slides/slide31.xml"/><Relationship Id="rId40" Type="http://schemas.openxmlformats.org/officeDocument/2006/relationships/slide" Target="slides/slide30.xml"/><Relationship Id="rId4" Type="http://schemas.openxmlformats.org/officeDocument/2006/relationships/slideMaster" Target="slideMasters/slideMaster3.xml"/><Relationship Id="rId39" Type="http://schemas.openxmlformats.org/officeDocument/2006/relationships/slide" Target="slides/slide29.xml"/><Relationship Id="rId38" Type="http://schemas.openxmlformats.org/officeDocument/2006/relationships/slide" Target="slides/slide28.xml"/><Relationship Id="rId37" Type="http://schemas.openxmlformats.org/officeDocument/2006/relationships/slide" Target="slides/slide27.xml"/><Relationship Id="rId36" Type="http://schemas.openxmlformats.org/officeDocument/2006/relationships/slide" Target="slides/slide26.xml"/><Relationship Id="rId35" Type="http://schemas.openxmlformats.org/officeDocument/2006/relationships/slide" Target="slides/slide25.xml"/><Relationship Id="rId34" Type="http://schemas.openxmlformats.org/officeDocument/2006/relationships/slide" Target="slides/slide24.xml"/><Relationship Id="rId33" Type="http://schemas.openxmlformats.org/officeDocument/2006/relationships/slide" Target="slides/slide23.xml"/><Relationship Id="rId32" Type="http://schemas.openxmlformats.org/officeDocument/2006/relationships/slide" Target="slides/slide22.xml"/><Relationship Id="rId31" Type="http://schemas.openxmlformats.org/officeDocument/2006/relationships/slide" Target="slides/slide21.xml"/><Relationship Id="rId30" Type="http://schemas.openxmlformats.org/officeDocument/2006/relationships/slide" Target="slides/slide20.xml"/><Relationship Id="rId3" Type="http://schemas.openxmlformats.org/officeDocument/2006/relationships/slideMaster" Target="slideMasters/slideMaster2.xml"/><Relationship Id="rId29" Type="http://schemas.openxmlformats.org/officeDocument/2006/relationships/slide" Target="slides/slide19.xml"/><Relationship Id="rId28" Type="http://schemas.openxmlformats.org/officeDocument/2006/relationships/slide" Target="slides/slide18.xml"/><Relationship Id="rId27" Type="http://schemas.openxmlformats.org/officeDocument/2006/relationships/slide" Target="slides/slide17.xml"/><Relationship Id="rId26" Type="http://schemas.openxmlformats.org/officeDocument/2006/relationships/slide" Target="slides/slide16.xml"/><Relationship Id="rId25" Type="http://schemas.openxmlformats.org/officeDocument/2006/relationships/slide" Target="slides/slide15.xml"/><Relationship Id="rId24" Type="http://schemas.openxmlformats.org/officeDocument/2006/relationships/slide" Target="slides/slide14.xml"/><Relationship Id="rId23" Type="http://schemas.openxmlformats.org/officeDocument/2006/relationships/slide" Target="slides/slide13.xml"/><Relationship Id="rId22" Type="http://schemas.openxmlformats.org/officeDocument/2006/relationships/slide" Target="slides/slide12.xml"/><Relationship Id="rId21" Type="http://schemas.openxmlformats.org/officeDocument/2006/relationships/slide" Target="slides/slide11.xml"/><Relationship Id="rId20" Type="http://schemas.openxmlformats.org/officeDocument/2006/relationships/slide" Target="slides/slide10.xml"/><Relationship Id="rId2" Type="http://schemas.openxmlformats.org/officeDocument/2006/relationships/theme" Target="theme/theme1.xml"/><Relationship Id="rId19" Type="http://schemas.openxmlformats.org/officeDocument/2006/relationships/slide" Target="slides/slide9.xml"/><Relationship Id="rId18" Type="http://schemas.openxmlformats.org/officeDocument/2006/relationships/slide" Target="slides/slide8.xml"/><Relationship Id="rId17" Type="http://schemas.openxmlformats.org/officeDocument/2006/relationships/slide" Target="slides/slide7.xml"/><Relationship Id="rId16" Type="http://schemas.openxmlformats.org/officeDocument/2006/relationships/slide" Target="slides/slide6.xml"/><Relationship Id="rId15" Type="http://schemas.openxmlformats.org/officeDocument/2006/relationships/slide" Target="slides/slide5.xml"/><Relationship Id="rId14" Type="http://schemas.openxmlformats.org/officeDocument/2006/relationships/notesMaster" Target="notesMasters/notesMaster1.xml"/><Relationship Id="rId13" Type="http://schemas.openxmlformats.org/officeDocument/2006/relationships/slide" Target="slides/slide4.xml"/><Relationship Id="rId12" Type="http://schemas.openxmlformats.org/officeDocument/2006/relationships/slide" Target="slides/slide3.xml"/><Relationship Id="rId11" Type="http://schemas.openxmlformats.org/officeDocument/2006/relationships/slide" Target="slides/slide2.xml"/><Relationship Id="rId10" Type="http://schemas.openxmlformats.org/officeDocument/2006/relationships/slide" Target="slides/slide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3DFD10-C36A-A44C-AC52-E91D9A58CF7E}" type="datetimeFigureOut">
              <a:rPr kumimoji="1" lang="zh-CN" altLang="en-US" smtClean="0"/>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F0B397-CD8F-1C4C-97BB-ADF18DDD1C00}"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E7ACF5-0677-4CC5-89ED-AE83D3F5859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C63F50-FC71-46DD-9BDC-11F985EF414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CC63F50-FC71-46DD-9BDC-11F985EF414C}"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版式2">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244725"/>
            <a:ext cx="10541000" cy="1158875"/>
          </a:xfrm>
          <a:prstGeom prst="rect">
            <a:avLst/>
          </a:prstGeom>
        </p:spPr>
        <p:txBody>
          <a:bodyPr anchor="ctr"/>
          <a:lstStyle>
            <a:lvl1pPr>
              <a:defRPr sz="7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主标题</a:t>
            </a:r>
            <a:endParaRPr kumimoji="1" lang="zh-CN" altLang="en-US" dirty="0"/>
          </a:p>
        </p:txBody>
      </p:sp>
      <p:sp>
        <p:nvSpPr>
          <p:cNvPr id="3" name="文本占位符 3"/>
          <p:cNvSpPr>
            <a:spLocks noGrp="1"/>
          </p:cNvSpPr>
          <p:nvPr>
            <p:ph type="body" sz="quarter" idx="10" hasCustomPrompt="1"/>
          </p:nvPr>
        </p:nvSpPr>
        <p:spPr>
          <a:xfrm>
            <a:off x="838200" y="3454401"/>
            <a:ext cx="10540999" cy="630237"/>
          </a:xfrm>
          <a:prstGeom prst="rect">
            <a:avLst/>
          </a:prstGeom>
        </p:spPr>
        <p:txBody>
          <a:bodyPr anchor="ctr"/>
          <a:lstStyle>
            <a:lvl1pPr algn="ctr">
              <a:buNone/>
              <a:defRPr sz="24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stStyle>
          <a:p>
            <a:pPr lvl="0"/>
            <a:r>
              <a:rPr kumimoji="1" lang="zh-CN" altLang="en-US" dirty="0"/>
              <a:t>副标题内容，如若没有可以删除</a:t>
            </a:r>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版式">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5019358" y="1006475"/>
            <a:ext cx="5973761" cy="4256405"/>
          </a:xfrm>
          <a:prstGeom prst="rect">
            <a:avLst/>
          </a:prstGeom>
        </p:spPr>
        <p:txBody>
          <a:bodyPr anchor="ctr"/>
          <a:lstStyle>
            <a:lvl1pPr marL="457200" marR="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200" marR="0" lvl="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a:pPr>
            <a:r>
              <a:rPr kumimoji="1" lang="zh-CN" altLang="en-US" dirty="0"/>
              <a:t>此内容上下居中对齐，可根据实际情况微调位置和字体大小</a:t>
            </a:r>
            <a:endParaRPr kumimoji="1" lang="zh-CN" altLang="en-US" dirty="0"/>
          </a:p>
          <a:p>
            <a:pPr lvl="0"/>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vl2pPr>
              <a:buNone/>
              <a:defRPr b="0" i="0">
                <a:latin typeface="Alibaba PuHuiTi R" pitchFamily="18" charset="-122"/>
                <a:ea typeface="Alibaba PuHuiTi R" pitchFamily="18" charset="-122"/>
                <a:cs typeface="Alibaba PuHuiTi R" pitchFamily="18" charset="-122"/>
              </a:defRPr>
            </a:lvl2pPr>
            <a:lvl3pPr>
              <a:defRPr b="0" i="0">
                <a:latin typeface="Alibaba PuHuiTi R" pitchFamily="18" charset="-122"/>
                <a:ea typeface="Alibaba PuHuiTi R" pitchFamily="18" charset="-122"/>
                <a:cs typeface="Alibaba PuHuiTi R" pitchFamily="18" charset="-122"/>
              </a:defRPr>
            </a:lvl3pPr>
            <a:lvl4pPr>
              <a:defRPr b="0" i="0">
                <a:latin typeface="Alibaba PuHuiTi R" pitchFamily="18" charset="-122"/>
                <a:ea typeface="Alibaba PuHuiTi R" pitchFamily="18" charset="-122"/>
                <a:cs typeface="Alibaba PuHuiTi R" pitchFamily="18" charset="-122"/>
              </a:defRPr>
            </a:lvl4pPr>
            <a:lvl5pPr>
              <a:defRPr b="0" i="0">
                <a:latin typeface="Alibaba PuHuiTi R" pitchFamily="18" charset="-122"/>
                <a:ea typeface="Alibaba PuHuiTi R" pitchFamily="18" charset="-122"/>
                <a:cs typeface="Alibaba PuHuiTi R"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版式（一级标题）">
    <p:spTree>
      <p:nvGrpSpPr>
        <p:cNvPr id="1" name=""/>
        <p:cNvGrpSpPr/>
        <p:nvPr/>
      </p:nvGrpSpPr>
      <p:grpSpPr>
        <a:xfrm>
          <a:off x="0" y="0"/>
          <a:ext cx="0" cy="0"/>
          <a:chOff x="0" y="0"/>
          <a:chExt cx="0" cy="0"/>
        </a:xfrm>
      </p:grpSpPr>
      <p:sp>
        <p:nvSpPr>
          <p:cNvPr id="12" name="标题 11"/>
          <p:cNvSpPr>
            <a:spLocks noGrp="1"/>
          </p:cNvSpPr>
          <p:nvPr>
            <p:ph type="title" hasCustomPrompt="1"/>
          </p:nvPr>
        </p:nvSpPr>
        <p:spPr>
          <a:xfrm>
            <a:off x="5232400" y="2766218"/>
            <a:ext cx="6654800" cy="1325563"/>
          </a:xfrm>
          <a:prstGeom prst="rect">
            <a:avLst/>
          </a:prstGeom>
        </p:spPr>
        <p:txBody>
          <a:bodyPr/>
          <a:lstStyle>
            <a:lvl1pPr>
              <a:defRPr sz="3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章节标题，右侧章节数字需自行设置</a:t>
            </a:r>
            <a:endParaRPr kumimoji="1" lang="zh-CN" altLang="en-US" dirty="0"/>
          </a:p>
        </p:txBody>
      </p:sp>
      <p:sp>
        <p:nvSpPr>
          <p:cNvPr id="14" name="文本占位符 13"/>
          <p:cNvSpPr>
            <a:spLocks noGrp="1"/>
          </p:cNvSpPr>
          <p:nvPr>
            <p:ph type="body" sz="quarter" idx="10"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1002232"/>
            <a:ext cx="1069880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24204"/>
            <a:ext cx="10698800" cy="386122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590102"/>
            <a:ext cx="10749598" cy="3850540"/>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119"/>
            <a:ext cx="1074959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03185"/>
            <a:ext cx="10719120" cy="3819718"/>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233"/>
            <a:ext cx="1071911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48056"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628517"/>
            <a:ext cx="10748057" cy="3922461"/>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1612212"/>
            <a:ext cx="9845675" cy="4547802"/>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1000749"/>
            <a:ext cx="9845675"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1002232"/>
            <a:ext cx="1071911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1598036"/>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3"/>
            <a:ext cx="10748057"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1618707"/>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44805"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grpSp>
        <p:nvGrpSpPr>
          <p:cNvPr id="6" name="组合 5"/>
          <p:cNvGrpSpPr/>
          <p:nvPr userDrawn="1"/>
        </p:nvGrpSpPr>
        <p:grpSpPr>
          <a:xfrm>
            <a:off x="806306" y="105625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3440"/>
            <a:ext cx="9214230" cy="517190"/>
          </a:xfrm>
          <a:prstGeom prst="rect">
            <a:avLst/>
          </a:prstGeom>
        </p:spPr>
        <p:txBody>
          <a:bodyPr anchor="ctr" anchorCtr="0"/>
          <a:lstStyle>
            <a:lvl1pPr marL="0" indent="0">
              <a:buNone/>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spcBef>
                <a:spcPct val="0"/>
              </a:spcBef>
            </a:pPr>
            <a:r>
              <a:rPr lang="zh-CN" altLang="en-US" dirty="0"/>
              <a:t>案例标题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743280"/>
            <a:ext cx="9214230" cy="376237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6948"/>
            <a:ext cx="201682" cy="201682"/>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grpSp>
        <p:nvGrpSpPr>
          <p:cNvPr id="6" name="组合 5"/>
          <p:cNvGrpSpPr/>
          <p:nvPr userDrawn="1"/>
        </p:nvGrpSpPr>
        <p:grpSpPr>
          <a:xfrm>
            <a:off x="806306" y="1060146"/>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步骤</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7332"/>
            <a:ext cx="921423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marL="0" lvl="0" indent="0">
              <a:spcBef>
                <a:spcPct val="0"/>
              </a:spcBef>
              <a:buNone/>
            </a:pPr>
            <a:r>
              <a:rPr lang="zh-CN" altLang="en-US" dirty="0"/>
              <a:t>步骤标题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747172"/>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50840"/>
            <a:ext cx="201682" cy="201682"/>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grpSp>
        <p:nvGrpSpPr>
          <p:cNvPr id="6" name="组合 5"/>
          <p:cNvGrpSpPr/>
          <p:nvPr userDrawn="1"/>
        </p:nvGrpSpPr>
        <p:grpSpPr>
          <a:xfrm>
            <a:off x="806306" y="1054782"/>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1968"/>
            <a:ext cx="921423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marL="0" lvl="0" indent="0">
              <a:spcBef>
                <a:spcPct val="0"/>
              </a:spcBef>
              <a:buNone/>
            </a:pPr>
            <a:r>
              <a:rPr lang="zh-CN" altLang="en-US" dirty="0"/>
              <a:t>练习标题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741808"/>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5476"/>
            <a:ext cx="201682" cy="201682"/>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5069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5274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8826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4" name="六边形 23"/>
          <p:cNvSpPr/>
          <p:nvPr userDrawn="1"/>
        </p:nvSpPr>
        <p:spPr>
          <a:xfrm rot="5400000">
            <a:off x="3294074" y="21491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1264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3852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7150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81309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1013943" y="3138371"/>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p:cNvSpPr/>
          <p:nvPr userDrawn="1"/>
        </p:nvSpPr>
        <p:spPr>
          <a:xfrm>
            <a:off x="1645363" y="2308178"/>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p:cNvSpPr txBox="1">
            <a:spLocks noChangeArrowheads="1"/>
          </p:cNvSpPr>
          <p:nvPr userDrawn="1"/>
        </p:nvSpPr>
        <p:spPr bwMode="auto">
          <a:xfrm>
            <a:off x="1938193" y="255362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思路</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泪珠形 22"/>
          <p:cNvSpPr/>
          <p:nvPr userDrawn="1"/>
        </p:nvSpPr>
        <p:spPr>
          <a:xfrm>
            <a:off x="3663313" y="3963112"/>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p:cNvSpPr/>
          <p:nvPr userDrawn="1"/>
        </p:nvSpPr>
        <p:spPr>
          <a:xfrm>
            <a:off x="2152487" y="1924996"/>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p:cNvSpPr/>
          <p:nvPr userDrawn="1"/>
        </p:nvSpPr>
        <p:spPr>
          <a:xfrm>
            <a:off x="844996" y="3255023"/>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2953096"/>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3896183"/>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003998"/>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111232"/>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025081"/>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401118"/>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33" name="标题占位符 1"/>
          <p:cNvSpPr txBox="1">
            <a:spLocks noChangeArrowheads="1"/>
          </p:cNvSpPr>
          <p:nvPr userDrawn="1"/>
        </p:nvSpPr>
        <p:spPr bwMode="auto">
          <a:xfrm>
            <a:off x="1938193" y="254311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329809"/>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1002232"/>
            <a:ext cx="1069880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24204"/>
            <a:ext cx="10698800" cy="386122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590102"/>
            <a:ext cx="10749598" cy="3850540"/>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119"/>
            <a:ext cx="1074959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03185"/>
            <a:ext cx="10719120" cy="3819718"/>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233"/>
            <a:ext cx="1071911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48056"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628517"/>
            <a:ext cx="10748057" cy="3922461"/>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1612212"/>
            <a:ext cx="9845675" cy="4547802"/>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1000749"/>
            <a:ext cx="9845675"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1002232"/>
            <a:ext cx="1071911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1598036"/>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3"/>
            <a:ext cx="10748057"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1618707"/>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44805"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grpSp>
        <p:nvGrpSpPr>
          <p:cNvPr id="6" name="组合 5"/>
          <p:cNvGrpSpPr/>
          <p:nvPr userDrawn="1"/>
        </p:nvGrpSpPr>
        <p:grpSpPr>
          <a:xfrm>
            <a:off x="806306" y="105625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3440"/>
            <a:ext cx="9214230" cy="517190"/>
          </a:xfrm>
          <a:prstGeom prst="rect">
            <a:avLst/>
          </a:prstGeom>
        </p:spPr>
        <p:txBody>
          <a:bodyPr anchor="ctr" anchorCtr="0"/>
          <a:lstStyle>
            <a:lvl1pPr marL="0" indent="0">
              <a:buNone/>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spcBef>
                <a:spcPct val="0"/>
              </a:spcBef>
            </a:pPr>
            <a:r>
              <a:rPr lang="zh-CN" altLang="en-US" dirty="0"/>
              <a:t>案例标题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743280"/>
            <a:ext cx="9214230" cy="376237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6948"/>
            <a:ext cx="201682" cy="201682"/>
          </a:xfrm>
          <a:prstGeom prst="rect">
            <a:avLst/>
          </a:prstGeom>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grpSp>
        <p:nvGrpSpPr>
          <p:cNvPr id="6" name="组合 5"/>
          <p:cNvGrpSpPr/>
          <p:nvPr userDrawn="1"/>
        </p:nvGrpSpPr>
        <p:grpSpPr>
          <a:xfrm>
            <a:off x="806306" y="1060146"/>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步骤</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7332"/>
            <a:ext cx="921423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marL="0" lvl="0" indent="0">
              <a:spcBef>
                <a:spcPct val="0"/>
              </a:spcBef>
              <a:buNone/>
            </a:pPr>
            <a:r>
              <a:rPr lang="zh-CN" altLang="en-US" dirty="0"/>
              <a:t>步骤标题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747172"/>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50840"/>
            <a:ext cx="201682" cy="201682"/>
          </a:xfrm>
          <a:prstGeom prst="rect">
            <a:avLst/>
          </a:prstGeom>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grpSp>
        <p:nvGrpSpPr>
          <p:cNvPr id="6" name="组合 5"/>
          <p:cNvGrpSpPr/>
          <p:nvPr userDrawn="1"/>
        </p:nvGrpSpPr>
        <p:grpSpPr>
          <a:xfrm>
            <a:off x="806306" y="1054782"/>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1968"/>
            <a:ext cx="921423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marL="0" lvl="0" indent="0">
              <a:spcBef>
                <a:spcPct val="0"/>
              </a:spcBef>
              <a:buNone/>
            </a:pPr>
            <a:r>
              <a:rPr lang="zh-CN" altLang="en-US" dirty="0"/>
              <a:t>练习标题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741808"/>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5476"/>
            <a:ext cx="201682" cy="201682"/>
          </a:xfrm>
          <a:prstGeom prst="rect">
            <a:avLst/>
          </a:prstGeom>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5069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5274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8826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4" name="六边形 23"/>
          <p:cNvSpPr/>
          <p:nvPr userDrawn="1"/>
        </p:nvSpPr>
        <p:spPr>
          <a:xfrm rot="5400000">
            <a:off x="3294074" y="21491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1264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3852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7150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81309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1013943" y="3138371"/>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p:cNvSpPr/>
          <p:nvPr userDrawn="1"/>
        </p:nvSpPr>
        <p:spPr>
          <a:xfrm>
            <a:off x="1645363" y="2308178"/>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p:cNvSpPr txBox="1">
            <a:spLocks noChangeArrowheads="1"/>
          </p:cNvSpPr>
          <p:nvPr userDrawn="1"/>
        </p:nvSpPr>
        <p:spPr bwMode="auto">
          <a:xfrm>
            <a:off x="1938193" y="255362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思路</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泪珠形 22"/>
          <p:cNvSpPr/>
          <p:nvPr userDrawn="1"/>
        </p:nvSpPr>
        <p:spPr>
          <a:xfrm>
            <a:off x="3663313" y="3963112"/>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p:cNvSpPr/>
          <p:nvPr userDrawn="1"/>
        </p:nvSpPr>
        <p:spPr>
          <a:xfrm>
            <a:off x="2152487" y="1924996"/>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p:cNvSpPr/>
          <p:nvPr userDrawn="1"/>
        </p:nvSpPr>
        <p:spPr>
          <a:xfrm>
            <a:off x="844996" y="3255023"/>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2953096"/>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3896183"/>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003998"/>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111232"/>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025081"/>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401118"/>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33" name="标题占位符 1"/>
          <p:cNvSpPr txBox="1">
            <a:spLocks noChangeArrowheads="1"/>
          </p:cNvSpPr>
          <p:nvPr userDrawn="1"/>
        </p:nvSpPr>
        <p:spPr bwMode="auto">
          <a:xfrm>
            <a:off x="1938193" y="254311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329809"/>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4" Type="http://schemas.openxmlformats.org/officeDocument/2006/relationships/theme" Target="../theme/theme3.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14.xml"/><Relationship Id="rId8" Type="http://schemas.openxmlformats.org/officeDocument/2006/relationships/slideLayout" Target="../slideLayouts/slideLayout13.xml"/><Relationship Id="rId7" Type="http://schemas.openxmlformats.org/officeDocument/2006/relationships/slideLayout" Target="../slideLayouts/slideLayout12.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3" Type="http://schemas.openxmlformats.org/officeDocument/2006/relationships/slideLayout" Target="../slideLayouts/slideLayout8.xml"/><Relationship Id="rId2" Type="http://schemas.openxmlformats.org/officeDocument/2006/relationships/slideLayout" Target="../slideLayouts/slideLayout7.xml"/><Relationship Id="rId18" Type="http://schemas.openxmlformats.org/officeDocument/2006/relationships/theme" Target="../theme/theme6.xml"/><Relationship Id="rId17" Type="http://schemas.openxmlformats.org/officeDocument/2006/relationships/image" Target="../media/image7.svg"/><Relationship Id="rId16" Type="http://schemas.openxmlformats.org/officeDocument/2006/relationships/image" Target="../media/image6.png"/><Relationship Id="rId15" Type="http://schemas.openxmlformats.org/officeDocument/2006/relationships/slideLayout" Target="../slideLayouts/slideLayout20.xml"/><Relationship Id="rId14" Type="http://schemas.openxmlformats.org/officeDocument/2006/relationships/slideLayout" Target="../slideLayouts/slideLayout19.xml"/><Relationship Id="rId13" Type="http://schemas.openxmlformats.org/officeDocument/2006/relationships/slideLayout" Target="../slideLayouts/slideLayout18.xml"/><Relationship Id="rId12" Type="http://schemas.openxmlformats.org/officeDocument/2006/relationships/slideLayout" Target="../slideLayouts/slideLayout17.xml"/><Relationship Id="rId11" Type="http://schemas.openxmlformats.org/officeDocument/2006/relationships/slideLayout" Target="../slideLayouts/slideLayout16.xml"/><Relationship Id="rId10" Type="http://schemas.openxmlformats.org/officeDocument/2006/relationships/slideLayout" Target="../slideLayouts/slideLayout15.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image" Target="../media/image8.png"/><Relationship Id="rId1" Type="http://schemas.openxmlformats.org/officeDocument/2006/relationships/slideLayout" Target="../slideLayouts/slideLayout21.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30.xml"/><Relationship Id="rId8" Type="http://schemas.openxmlformats.org/officeDocument/2006/relationships/slideLayout" Target="../slideLayouts/slideLayout29.xml"/><Relationship Id="rId7" Type="http://schemas.openxmlformats.org/officeDocument/2006/relationships/slideLayout" Target="../slideLayouts/slideLayout28.xml"/><Relationship Id="rId6" Type="http://schemas.openxmlformats.org/officeDocument/2006/relationships/slideLayout" Target="../slideLayouts/slideLayout27.xml"/><Relationship Id="rId5" Type="http://schemas.openxmlformats.org/officeDocument/2006/relationships/slideLayout" Target="../slideLayouts/slideLayout26.xml"/><Relationship Id="rId4" Type="http://schemas.openxmlformats.org/officeDocument/2006/relationships/slideLayout" Target="../slideLayouts/slideLayout25.xml"/><Relationship Id="rId3" Type="http://schemas.openxmlformats.org/officeDocument/2006/relationships/slideLayout" Target="../slideLayouts/slideLayout24.xml"/><Relationship Id="rId2" Type="http://schemas.openxmlformats.org/officeDocument/2006/relationships/slideLayout" Target="../slideLayouts/slideLayout23.xml"/><Relationship Id="rId18" Type="http://schemas.openxmlformats.org/officeDocument/2006/relationships/theme" Target="../theme/theme8.xml"/><Relationship Id="rId17" Type="http://schemas.openxmlformats.org/officeDocument/2006/relationships/image" Target="../media/image7.svg"/><Relationship Id="rId16" Type="http://schemas.openxmlformats.org/officeDocument/2006/relationships/image" Target="../media/image6.png"/><Relationship Id="rId15" Type="http://schemas.openxmlformats.org/officeDocument/2006/relationships/slideLayout" Target="../slideLayouts/slideLayout36.xml"/><Relationship Id="rId14" Type="http://schemas.openxmlformats.org/officeDocument/2006/relationships/slideLayout" Target="../slideLayouts/slideLayout35.xml"/><Relationship Id="rId13" Type="http://schemas.openxmlformats.org/officeDocument/2006/relationships/slideLayout" Target="../slideLayouts/slideLayout34.xml"/><Relationship Id="rId12" Type="http://schemas.openxmlformats.org/officeDocument/2006/relationships/slideLayout" Target="../slideLayouts/slideLayout33.xml"/><Relationship Id="rId11" Type="http://schemas.openxmlformats.org/officeDocument/2006/relationships/slideLayout" Target="../slideLayouts/slideLayout32.xml"/><Relationship Id="rId10" Type="http://schemas.openxmlformats.org/officeDocument/2006/relationships/slideLayout" Target="../slideLayouts/slideLayout31.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 name="六边形 29"/>
          <p:cNvSpPr/>
          <p:nvPr userDrawn="1"/>
        </p:nvSpPr>
        <p:spPr>
          <a:xfrm rot="5400000">
            <a:off x="8672366" y="-244234"/>
            <a:ext cx="1034350" cy="1136649"/>
          </a:xfrm>
          <a:custGeom>
            <a:avLst/>
            <a:gdLst>
              <a:gd name="connsiteX0" fmla="*/ 0 w 1318512"/>
              <a:gd name="connsiteY0" fmla="*/ 568325 h 1136649"/>
              <a:gd name="connsiteX1" fmla="*/ 284162 w 1318512"/>
              <a:gd name="connsiteY1" fmla="*/ 0 h 1136649"/>
              <a:gd name="connsiteX2" fmla="*/ 1034350 w 1318512"/>
              <a:gd name="connsiteY2" fmla="*/ 0 h 1136649"/>
              <a:gd name="connsiteX3" fmla="*/ 1318512 w 1318512"/>
              <a:gd name="connsiteY3" fmla="*/ 568325 h 1136649"/>
              <a:gd name="connsiteX4" fmla="*/ 1034350 w 1318512"/>
              <a:gd name="connsiteY4" fmla="*/ 1136649 h 1136649"/>
              <a:gd name="connsiteX5" fmla="*/ 284162 w 1318512"/>
              <a:gd name="connsiteY5" fmla="*/ 1136649 h 1136649"/>
              <a:gd name="connsiteX6" fmla="*/ 0 w 1318512"/>
              <a:gd name="connsiteY6" fmla="*/ 568325 h 1136649"/>
              <a:gd name="connsiteX0-1" fmla="*/ 0 w 1034350"/>
              <a:gd name="connsiteY0-2" fmla="*/ 1136649 h 1136649"/>
              <a:gd name="connsiteX1-3" fmla="*/ 0 w 1034350"/>
              <a:gd name="connsiteY1-4" fmla="*/ 0 h 1136649"/>
              <a:gd name="connsiteX2-5" fmla="*/ 750188 w 1034350"/>
              <a:gd name="connsiteY2-6" fmla="*/ 0 h 1136649"/>
              <a:gd name="connsiteX3-7" fmla="*/ 1034350 w 1034350"/>
              <a:gd name="connsiteY3-8" fmla="*/ 568325 h 1136649"/>
              <a:gd name="connsiteX4-9" fmla="*/ 750188 w 1034350"/>
              <a:gd name="connsiteY4-10" fmla="*/ 1136649 h 1136649"/>
              <a:gd name="connsiteX5-11" fmla="*/ 0 w 1034350"/>
              <a:gd name="connsiteY5-12" fmla="*/ 1136649 h 113664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34350" h="1136649">
                <a:moveTo>
                  <a:pt x="0" y="1136649"/>
                </a:moveTo>
                <a:lnTo>
                  <a:pt x="0" y="0"/>
                </a:lnTo>
                <a:lnTo>
                  <a:pt x="750188" y="0"/>
                </a:lnTo>
                <a:lnTo>
                  <a:pt x="1034350" y="568325"/>
                </a:lnTo>
                <a:lnTo>
                  <a:pt x="750188" y="1136649"/>
                </a:lnTo>
                <a:lnTo>
                  <a:pt x="0" y="1136649"/>
                </a:lnTo>
                <a:close/>
              </a:path>
            </a:pathLst>
          </a:cu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六边形 30"/>
          <p:cNvSpPr/>
          <p:nvPr userDrawn="1"/>
        </p:nvSpPr>
        <p:spPr>
          <a:xfrm rot="5400000">
            <a:off x="9521078" y="753888"/>
            <a:ext cx="523072" cy="450925"/>
          </a:xfrm>
          <a:prstGeom prst="hexagon">
            <a:avLst/>
          </a:prstGeom>
          <a:solidFill>
            <a:srgbClr val="49504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六边形 31"/>
          <p:cNvSpPr/>
          <p:nvPr userDrawn="1"/>
        </p:nvSpPr>
        <p:spPr>
          <a:xfrm rot="5400000">
            <a:off x="8027944" y="996957"/>
            <a:ext cx="523072" cy="450925"/>
          </a:xfrm>
          <a:prstGeom prst="hexagon">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六边形 32"/>
          <p:cNvSpPr/>
          <p:nvPr userDrawn="1"/>
        </p:nvSpPr>
        <p:spPr>
          <a:xfrm rot="5400000">
            <a:off x="10287577" y="140894"/>
            <a:ext cx="196767" cy="169627"/>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六边形 33"/>
          <p:cNvSpPr/>
          <p:nvPr userDrawn="1"/>
        </p:nvSpPr>
        <p:spPr>
          <a:xfrm rot="5400000">
            <a:off x="3684719" y="893697"/>
            <a:ext cx="886529" cy="76425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六边形 34"/>
          <p:cNvSpPr/>
          <p:nvPr userDrawn="1"/>
        </p:nvSpPr>
        <p:spPr>
          <a:xfrm rot="5400000">
            <a:off x="11266257" y="1225116"/>
            <a:ext cx="206955" cy="17841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六边形 35"/>
          <p:cNvSpPr/>
          <p:nvPr userDrawn="1"/>
        </p:nvSpPr>
        <p:spPr>
          <a:xfrm rot="5400000">
            <a:off x="918490" y="676500"/>
            <a:ext cx="206955" cy="178410"/>
          </a:xfrm>
          <a:prstGeom prst="hexagon">
            <a:avLst/>
          </a:prstGeom>
          <a:solidFill>
            <a:srgbClr val="AD2B2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六边形 36"/>
          <p:cNvSpPr/>
          <p:nvPr userDrawn="1"/>
        </p:nvSpPr>
        <p:spPr>
          <a:xfrm rot="5400000">
            <a:off x="4564916" y="775592"/>
            <a:ext cx="369001" cy="318105"/>
          </a:xfrm>
          <a:prstGeom prst="hexagon">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 name="直线连接符 2"/>
          <p:cNvCxnSpPr/>
          <p:nvPr userDrawn="1"/>
        </p:nvCxnSpPr>
        <p:spPr>
          <a:xfrm>
            <a:off x="9997213" y="1131213"/>
            <a:ext cx="647089" cy="39664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符 40"/>
          <p:cNvCxnSpPr/>
          <p:nvPr userDrawn="1"/>
        </p:nvCxnSpPr>
        <p:spPr>
          <a:xfrm>
            <a:off x="3898416" y="466240"/>
            <a:ext cx="691948" cy="3663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13018" y="5296483"/>
            <a:ext cx="3565964" cy="58207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grpSp>
        <p:nvGrpSpPr>
          <p:cNvPr id="5" name="组合 4"/>
          <p:cNvGrpSpPr/>
          <p:nvPr userDrawn="1"/>
        </p:nvGrpSpPr>
        <p:grpSpPr>
          <a:xfrm>
            <a:off x="2126595" y="2260317"/>
            <a:ext cx="2280944" cy="1168683"/>
            <a:chOff x="1984355" y="1223746"/>
            <a:chExt cx="2280944" cy="1168683"/>
          </a:xfrm>
        </p:grpSpPr>
        <p:sp>
          <p:nvSpPr>
            <p:cNvPr id="20" name="文本框 19"/>
            <p:cNvSpPr txBox="1"/>
            <p:nvPr/>
          </p:nvSpPr>
          <p:spPr>
            <a:xfrm>
              <a:off x="2549296" y="1223746"/>
              <a:ext cx="1245854"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目录</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1984355" y="1869209"/>
              <a:ext cx="1833941" cy="523220"/>
            </a:xfrm>
            <a:prstGeom prst="rect">
              <a:avLst/>
            </a:prstGeom>
            <a:noFill/>
            <a:ln>
              <a:noFill/>
            </a:ln>
          </p:spPr>
          <p:txBody>
            <a:bodyPr wrap="square" rtlCol="0">
              <a:spAutoFit/>
            </a:bodyPr>
            <a:lstStyle/>
            <a:p>
              <a:pPr algn="ctr"/>
              <a:r>
                <a:rPr lang="en-US" altLang="zh-CN" sz="28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Contents</a:t>
              </a:r>
              <a:endParaRPr lang="zh-CN" altLang="en-US" sz="28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265299" y="1300145"/>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5" name="六边形 24"/>
            <p:cNvSpPr/>
            <p:nvPr/>
          </p:nvSpPr>
          <p:spPr>
            <a:xfrm rot="5400000">
              <a:off x="2142134" y="1404577"/>
              <a:ext cx="437322" cy="377002"/>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六边形 25"/>
            <p:cNvSpPr/>
            <p:nvPr/>
          </p:nvSpPr>
          <p:spPr>
            <a:xfrm rot="5400000">
              <a:off x="2037082" y="1610051"/>
              <a:ext cx="246109" cy="212163"/>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 bg1="lt1" tx1="dk1" bg2="lt2" tx2="dk2" accent1="accent1" accent2="accent2" accent3="accent3" accent4="accent4" accent5="accent5" accent6="accent6" hlink="hlink" folHlink="folHlink"/>
  <p:sldLayoutIdLst>
    <p:sldLayoutId id="2147483651"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9" name="图形 8"/>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653"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六边形 10"/>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矩形 18"/>
          <p:cNvSpPr/>
          <p:nvPr userDrawn="1"/>
        </p:nvSpPr>
        <p:spPr>
          <a:xfrm>
            <a:off x="4504267" y="260138"/>
            <a:ext cx="7687727" cy="430887"/>
          </a:xfrm>
          <a:prstGeom prst="rect">
            <a:avLst/>
          </a:prstGeom>
        </p:spPr>
        <p:txBody>
          <a:bodyPr wrap="square">
            <a:spAutoFit/>
          </a:bodyPr>
          <a:lstStyle/>
          <a:p>
            <a:r>
              <a:rPr lang="zh-CN" altLang="en-US" sz="2100" dirty="0">
                <a:solidFill>
                  <a:srgbClr val="49504F"/>
                </a:solidFill>
                <a:latin typeface="华文楷体" panose="02010600040101010101" pitchFamily="2" charset="-122"/>
                <a:ea typeface="华文楷体" panose="02010600040101010101" pitchFamily="2" charset="-122"/>
                <a:cs typeface="Alibaba PuHuiTi" pitchFamily="18" charset="-122"/>
              </a:rPr>
              <a:t>多一句没有，少一句不行，用更短时间，教会更实用的技术！</a:t>
            </a:r>
            <a:endParaRPr lang="zh-CN" altLang="en-US" sz="2100" dirty="0">
              <a:solidFill>
                <a:srgbClr val="49504F"/>
              </a:solidFill>
              <a:latin typeface="华文楷体" panose="02010600040101010101" pitchFamily="2" charset="-122"/>
              <a:ea typeface="华文楷体" panose="02010600040101010101" pitchFamily="2" charset="-122"/>
              <a:cs typeface="Alibaba PuHuiTi" pitchFamily="18" charset="-122"/>
            </a:endParaRPr>
          </a:p>
        </p:txBody>
      </p:sp>
      <p:sp>
        <p:nvSpPr>
          <p:cNvPr id="21" name="矩形 20"/>
          <p:cNvSpPr/>
          <p:nvPr userDrawn="1"/>
        </p:nvSpPr>
        <p:spPr>
          <a:xfrm>
            <a:off x="-52550" y="0"/>
            <a:ext cx="224790" cy="694841"/>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p:cNvSpPr/>
          <p:nvPr userDrawn="1"/>
        </p:nvSpPr>
        <p:spPr>
          <a:xfrm>
            <a:off x="-52550" y="719892"/>
            <a:ext cx="223200" cy="315311"/>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p:cNvSpPr/>
          <p:nvPr userDrawn="1"/>
        </p:nvSpPr>
        <p:spPr>
          <a:xfrm>
            <a:off x="2567066" y="719635"/>
            <a:ext cx="7023600" cy="21600"/>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矩形 23"/>
          <p:cNvSpPr/>
          <p:nvPr userDrawn="1"/>
        </p:nvSpPr>
        <p:spPr>
          <a:xfrm>
            <a:off x="9481902" y="719635"/>
            <a:ext cx="2163600" cy="216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任意形状 24"/>
          <p:cNvSpPr/>
          <p:nvPr userDrawn="1"/>
        </p:nvSpPr>
        <p:spPr>
          <a:xfrm>
            <a:off x="9612588" y="6582369"/>
            <a:ext cx="400898" cy="208765"/>
          </a:xfrm>
          <a:custGeom>
            <a:avLst/>
            <a:gdLst>
              <a:gd name="connsiteX0" fmla="*/ 200449 w 400898"/>
              <a:gd name="connsiteY0" fmla="*/ 0 h 208765"/>
              <a:gd name="connsiteX1" fmla="*/ 400898 w 400898"/>
              <a:gd name="connsiteY1" fmla="*/ 200449 h 208765"/>
              <a:gd name="connsiteX2" fmla="*/ 392582 w 400898"/>
              <a:gd name="connsiteY2" fmla="*/ 208765 h 208765"/>
              <a:gd name="connsiteX3" fmla="*/ 8316 w 400898"/>
              <a:gd name="connsiteY3" fmla="*/ 208765 h 208765"/>
              <a:gd name="connsiteX4" fmla="*/ 0 w 400898"/>
              <a:gd name="connsiteY4" fmla="*/ 200449 h 208765"/>
              <a:gd name="connsiteX5" fmla="*/ 200449 w 400898"/>
              <a:gd name="connsiteY5" fmla="*/ 0 h 20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898" h="208765">
                <a:moveTo>
                  <a:pt x="200449" y="0"/>
                </a:moveTo>
                <a:lnTo>
                  <a:pt x="400898" y="200449"/>
                </a:lnTo>
                <a:lnTo>
                  <a:pt x="392582" y="208765"/>
                </a:lnTo>
                <a:lnTo>
                  <a:pt x="8316" y="208765"/>
                </a:lnTo>
                <a:lnTo>
                  <a:pt x="0" y="200449"/>
                </a:lnTo>
                <a:lnTo>
                  <a:pt x="200449" y="0"/>
                </a:lnTo>
                <a:close/>
              </a:path>
            </a:pathLst>
          </a:custGeom>
          <a:solidFill>
            <a:srgbClr val="68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6" name="矩形 22"/>
          <p:cNvSpPr>
            <a:spLocks noChangeArrowheads="1"/>
          </p:cNvSpPr>
          <p:nvPr userDrawn="1"/>
        </p:nvSpPr>
        <p:spPr bwMode="auto">
          <a:xfrm>
            <a:off x="-10583" y="6779344"/>
            <a:ext cx="10057936" cy="110793"/>
          </a:xfrm>
          <a:prstGeom prst="rect">
            <a:avLst/>
          </a:prstGeom>
          <a:solidFill>
            <a:srgbClr val="49504F"/>
          </a:solidFill>
          <a:ln w="9525" cap="flat" cmpd="sng" algn="ctr">
            <a:solidFill>
              <a:schemeClr val="bg1"/>
            </a:solidFill>
            <a:prstDash val="solid"/>
            <a:round/>
            <a:headEnd type="none" w="med" len="med"/>
            <a:tailEnd type="none" w="med" len="med"/>
          </a:ln>
          <a:effec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sz="2400" dirty="0">
              <a:latin typeface="Segoe UI" panose="020B0502040204020203" pitchFamily="34" charset="0"/>
              <a:ea typeface="微软雅黑" panose="020B0503020204020204" pitchFamily="34" charset="-122"/>
            </a:endParaRPr>
          </a:p>
        </p:txBody>
      </p:sp>
      <p:sp>
        <p:nvSpPr>
          <p:cNvPr id="27" name="矩形 14"/>
          <p:cNvSpPr/>
          <p:nvPr userDrawn="1"/>
        </p:nvSpPr>
        <p:spPr bwMode="auto">
          <a:xfrm>
            <a:off x="9813037" y="6582369"/>
            <a:ext cx="2378963" cy="307767"/>
          </a:xfrm>
          <a:custGeom>
            <a:avLst/>
            <a:gdLst>
              <a:gd name="connsiteX0" fmla="*/ 0 w 2202525"/>
              <a:gd name="connsiteY0" fmla="*/ 0 h 275631"/>
              <a:gd name="connsiteX1" fmla="*/ 2202525 w 2202525"/>
              <a:gd name="connsiteY1" fmla="*/ 0 h 275631"/>
              <a:gd name="connsiteX2" fmla="*/ 2202525 w 2202525"/>
              <a:gd name="connsiteY2" fmla="*/ 275631 h 275631"/>
              <a:gd name="connsiteX3" fmla="*/ 0 w 2202525"/>
              <a:gd name="connsiteY3" fmla="*/ 275631 h 275631"/>
              <a:gd name="connsiteX4" fmla="*/ 0 w 2202525"/>
              <a:gd name="connsiteY4" fmla="*/ 0 h 275631"/>
              <a:gd name="connsiteX0-1" fmla="*/ 0 w 2202525"/>
              <a:gd name="connsiteY0-2" fmla="*/ 0 h 275631"/>
              <a:gd name="connsiteX1-3" fmla="*/ 2202525 w 2202525"/>
              <a:gd name="connsiteY1-4" fmla="*/ 0 h 275631"/>
              <a:gd name="connsiteX2-5" fmla="*/ 2202525 w 2202525"/>
              <a:gd name="connsiteY2-6" fmla="*/ 275631 h 275631"/>
              <a:gd name="connsiteX3-7" fmla="*/ 104775 w 2202525"/>
              <a:gd name="connsiteY3-8" fmla="*/ 272456 h 275631"/>
              <a:gd name="connsiteX4-9" fmla="*/ 0 w 2202525"/>
              <a:gd name="connsiteY4-10" fmla="*/ 0 h 275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02525" h="275631">
                <a:moveTo>
                  <a:pt x="0" y="0"/>
                </a:moveTo>
                <a:lnTo>
                  <a:pt x="2202525" y="0"/>
                </a:lnTo>
                <a:lnTo>
                  <a:pt x="2202525" y="275631"/>
                </a:lnTo>
                <a:lnTo>
                  <a:pt x="104775" y="272456"/>
                </a:lnTo>
                <a:lnTo>
                  <a:pt x="0" y="0"/>
                </a:lnTo>
                <a:close/>
              </a:path>
            </a:pathLst>
          </a:custGeom>
          <a:solidFill>
            <a:srgbClr val="B60004"/>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8" name="矩形 27"/>
          <p:cNvSpPr/>
          <p:nvPr userDrawn="1"/>
        </p:nvSpPr>
        <p:spPr>
          <a:xfrm>
            <a:off x="9950236" y="6535935"/>
            <a:ext cx="2241763" cy="338554"/>
          </a:xfrm>
          <a:prstGeom prst="rect">
            <a:avLst/>
          </a:prstGeom>
        </p:spPr>
        <p:txBody>
          <a:bodyPr wrap="square">
            <a:spAutoFit/>
          </a:bodyPr>
          <a:lstStyle/>
          <a:p>
            <a:r>
              <a:rPr lang="zh-CN" altLang="en-US" sz="1600" dirty="0">
                <a:solidFill>
                  <a:schemeClr val="bg1"/>
                </a:solidFill>
                <a:latin typeface="华文楷体" panose="02010600040101010101" pitchFamily="2" charset="-122"/>
                <a:ea typeface="华文楷体" panose="02010600040101010101" pitchFamily="2" charset="-122"/>
                <a:cs typeface="Alibaba PuHuiTi" pitchFamily="18" charset="-122"/>
              </a:rPr>
              <a:t>高级软件人才培训专家</a:t>
            </a:r>
            <a:endParaRPr lang="zh-CN" altLang="en-US" sz="1600" dirty="0">
              <a:solidFill>
                <a:schemeClr val="bg1"/>
              </a:solidFill>
              <a:latin typeface="华文楷体" panose="02010600040101010101" pitchFamily="2" charset="-122"/>
              <a:ea typeface="华文楷体" panose="02010600040101010101" pitchFamily="2" charset="-122"/>
              <a:cs typeface="Alibaba PuHuiTi" pitchFamily="18" charset="-122"/>
            </a:endParaRPr>
          </a:p>
        </p:txBody>
      </p:sp>
      <p:pic>
        <p:nvPicPr>
          <p:cNvPr id="12" name="图形 11"/>
          <p:cNvPicPr>
            <a:picLocks noChangeAspect="1"/>
          </p:cNvPicPr>
          <p:nvPr userDrawn="1"/>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9871" y="-85784"/>
            <a:ext cx="2666725" cy="1174541"/>
          </a:xfrm>
          <a:prstGeom prst="rect">
            <a:avLst/>
          </a:prstGeom>
        </p:spPr>
      </p:pic>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11989" y="2322246"/>
            <a:ext cx="3168023" cy="1308460"/>
          </a:xfrm>
          <a:prstGeom prst="rect">
            <a:avLst/>
          </a:prstGeom>
        </p:spPr>
      </p:pic>
    </p:spTree>
  </p:cSld>
  <p:clrMap bg1="lt1" tx1="dk1" bg2="lt2" tx2="dk2" accent1="accent1" accent2="accent2" accent3="accent3" accent4="accent4" accent5="accent5" accent6="accent6" hlink="hlink" folHlink="folHlink"/>
  <p:sldLayoutIdLst>
    <p:sldLayoutId id="2147483675" r:id="rId1"/>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矩形 18"/>
          <p:cNvSpPr/>
          <p:nvPr userDrawn="1"/>
        </p:nvSpPr>
        <p:spPr>
          <a:xfrm>
            <a:off x="4504267" y="260138"/>
            <a:ext cx="7687727" cy="430887"/>
          </a:xfrm>
          <a:prstGeom prst="rect">
            <a:avLst/>
          </a:prstGeom>
        </p:spPr>
        <p:txBody>
          <a:bodyPr wrap="square">
            <a:spAutoFit/>
          </a:bodyPr>
          <a:lstStyle/>
          <a:p>
            <a:r>
              <a:rPr lang="zh-CN" altLang="en-US" sz="2100" dirty="0">
                <a:solidFill>
                  <a:srgbClr val="49504F"/>
                </a:solidFill>
                <a:latin typeface="华文楷体" panose="02010600040101010101" pitchFamily="2" charset="-122"/>
                <a:ea typeface="华文楷体" panose="02010600040101010101" pitchFamily="2" charset="-122"/>
                <a:cs typeface="Alibaba PuHuiTi" pitchFamily="18" charset="-122"/>
              </a:rPr>
              <a:t>多一句没有，少一句不行，用更短时间，教会更实用的技术！</a:t>
            </a:r>
            <a:endParaRPr lang="zh-CN" altLang="en-US" sz="2100" dirty="0">
              <a:solidFill>
                <a:srgbClr val="49504F"/>
              </a:solidFill>
              <a:latin typeface="华文楷体" panose="02010600040101010101" pitchFamily="2" charset="-122"/>
              <a:ea typeface="华文楷体" panose="02010600040101010101" pitchFamily="2" charset="-122"/>
              <a:cs typeface="Alibaba PuHuiTi" pitchFamily="18" charset="-122"/>
            </a:endParaRPr>
          </a:p>
        </p:txBody>
      </p:sp>
      <p:sp>
        <p:nvSpPr>
          <p:cNvPr id="21" name="矩形 20"/>
          <p:cNvSpPr/>
          <p:nvPr userDrawn="1"/>
        </p:nvSpPr>
        <p:spPr>
          <a:xfrm>
            <a:off x="-52550" y="0"/>
            <a:ext cx="224790" cy="694841"/>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p:cNvSpPr/>
          <p:nvPr userDrawn="1"/>
        </p:nvSpPr>
        <p:spPr>
          <a:xfrm>
            <a:off x="-52550" y="719892"/>
            <a:ext cx="223200" cy="315311"/>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p:cNvSpPr/>
          <p:nvPr userDrawn="1"/>
        </p:nvSpPr>
        <p:spPr>
          <a:xfrm>
            <a:off x="2567066" y="719635"/>
            <a:ext cx="7023600" cy="21600"/>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矩形 23"/>
          <p:cNvSpPr/>
          <p:nvPr userDrawn="1"/>
        </p:nvSpPr>
        <p:spPr>
          <a:xfrm>
            <a:off x="9481902" y="719635"/>
            <a:ext cx="2163600" cy="216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任意形状 24"/>
          <p:cNvSpPr/>
          <p:nvPr userDrawn="1"/>
        </p:nvSpPr>
        <p:spPr>
          <a:xfrm>
            <a:off x="9612588" y="6582369"/>
            <a:ext cx="400898" cy="208765"/>
          </a:xfrm>
          <a:custGeom>
            <a:avLst/>
            <a:gdLst>
              <a:gd name="connsiteX0" fmla="*/ 200449 w 400898"/>
              <a:gd name="connsiteY0" fmla="*/ 0 h 208765"/>
              <a:gd name="connsiteX1" fmla="*/ 400898 w 400898"/>
              <a:gd name="connsiteY1" fmla="*/ 200449 h 208765"/>
              <a:gd name="connsiteX2" fmla="*/ 392582 w 400898"/>
              <a:gd name="connsiteY2" fmla="*/ 208765 h 208765"/>
              <a:gd name="connsiteX3" fmla="*/ 8316 w 400898"/>
              <a:gd name="connsiteY3" fmla="*/ 208765 h 208765"/>
              <a:gd name="connsiteX4" fmla="*/ 0 w 400898"/>
              <a:gd name="connsiteY4" fmla="*/ 200449 h 208765"/>
              <a:gd name="connsiteX5" fmla="*/ 200449 w 400898"/>
              <a:gd name="connsiteY5" fmla="*/ 0 h 20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898" h="208765">
                <a:moveTo>
                  <a:pt x="200449" y="0"/>
                </a:moveTo>
                <a:lnTo>
                  <a:pt x="400898" y="200449"/>
                </a:lnTo>
                <a:lnTo>
                  <a:pt x="392582" y="208765"/>
                </a:lnTo>
                <a:lnTo>
                  <a:pt x="8316" y="208765"/>
                </a:lnTo>
                <a:lnTo>
                  <a:pt x="0" y="200449"/>
                </a:lnTo>
                <a:lnTo>
                  <a:pt x="200449" y="0"/>
                </a:lnTo>
                <a:close/>
              </a:path>
            </a:pathLst>
          </a:custGeom>
          <a:solidFill>
            <a:srgbClr val="68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6" name="矩形 22"/>
          <p:cNvSpPr>
            <a:spLocks noChangeArrowheads="1"/>
          </p:cNvSpPr>
          <p:nvPr userDrawn="1"/>
        </p:nvSpPr>
        <p:spPr bwMode="auto">
          <a:xfrm>
            <a:off x="-10583" y="6779344"/>
            <a:ext cx="10057936" cy="110793"/>
          </a:xfrm>
          <a:prstGeom prst="rect">
            <a:avLst/>
          </a:prstGeom>
          <a:solidFill>
            <a:srgbClr val="49504F"/>
          </a:solidFill>
          <a:ln w="9525" cap="flat" cmpd="sng" algn="ctr">
            <a:solidFill>
              <a:schemeClr val="bg1"/>
            </a:solidFill>
            <a:prstDash val="solid"/>
            <a:round/>
            <a:headEnd type="none" w="med" len="med"/>
            <a:tailEnd type="none" w="med" len="med"/>
          </a:ln>
          <a:effec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sz="2400" dirty="0">
              <a:latin typeface="Segoe UI" panose="020B0502040204020203" pitchFamily="34" charset="0"/>
              <a:ea typeface="微软雅黑" panose="020B0503020204020204" pitchFamily="34" charset="-122"/>
            </a:endParaRPr>
          </a:p>
        </p:txBody>
      </p:sp>
      <p:sp>
        <p:nvSpPr>
          <p:cNvPr id="27" name="矩形 14"/>
          <p:cNvSpPr/>
          <p:nvPr userDrawn="1"/>
        </p:nvSpPr>
        <p:spPr bwMode="auto">
          <a:xfrm>
            <a:off x="9813037" y="6582369"/>
            <a:ext cx="2378963" cy="307767"/>
          </a:xfrm>
          <a:custGeom>
            <a:avLst/>
            <a:gdLst>
              <a:gd name="connsiteX0" fmla="*/ 0 w 2202525"/>
              <a:gd name="connsiteY0" fmla="*/ 0 h 275631"/>
              <a:gd name="connsiteX1" fmla="*/ 2202525 w 2202525"/>
              <a:gd name="connsiteY1" fmla="*/ 0 h 275631"/>
              <a:gd name="connsiteX2" fmla="*/ 2202525 w 2202525"/>
              <a:gd name="connsiteY2" fmla="*/ 275631 h 275631"/>
              <a:gd name="connsiteX3" fmla="*/ 0 w 2202525"/>
              <a:gd name="connsiteY3" fmla="*/ 275631 h 275631"/>
              <a:gd name="connsiteX4" fmla="*/ 0 w 2202525"/>
              <a:gd name="connsiteY4" fmla="*/ 0 h 275631"/>
              <a:gd name="connsiteX0-1" fmla="*/ 0 w 2202525"/>
              <a:gd name="connsiteY0-2" fmla="*/ 0 h 275631"/>
              <a:gd name="connsiteX1-3" fmla="*/ 2202525 w 2202525"/>
              <a:gd name="connsiteY1-4" fmla="*/ 0 h 275631"/>
              <a:gd name="connsiteX2-5" fmla="*/ 2202525 w 2202525"/>
              <a:gd name="connsiteY2-6" fmla="*/ 275631 h 275631"/>
              <a:gd name="connsiteX3-7" fmla="*/ 104775 w 2202525"/>
              <a:gd name="connsiteY3-8" fmla="*/ 272456 h 275631"/>
              <a:gd name="connsiteX4-9" fmla="*/ 0 w 2202525"/>
              <a:gd name="connsiteY4-10" fmla="*/ 0 h 275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02525" h="275631">
                <a:moveTo>
                  <a:pt x="0" y="0"/>
                </a:moveTo>
                <a:lnTo>
                  <a:pt x="2202525" y="0"/>
                </a:lnTo>
                <a:lnTo>
                  <a:pt x="2202525" y="275631"/>
                </a:lnTo>
                <a:lnTo>
                  <a:pt x="104775" y="272456"/>
                </a:lnTo>
                <a:lnTo>
                  <a:pt x="0" y="0"/>
                </a:lnTo>
                <a:close/>
              </a:path>
            </a:pathLst>
          </a:custGeom>
          <a:solidFill>
            <a:srgbClr val="B60004"/>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8" name="矩形 27"/>
          <p:cNvSpPr/>
          <p:nvPr userDrawn="1"/>
        </p:nvSpPr>
        <p:spPr>
          <a:xfrm>
            <a:off x="9950236" y="6535935"/>
            <a:ext cx="2241763" cy="338554"/>
          </a:xfrm>
          <a:prstGeom prst="rect">
            <a:avLst/>
          </a:prstGeom>
        </p:spPr>
        <p:txBody>
          <a:bodyPr wrap="square">
            <a:spAutoFit/>
          </a:bodyPr>
          <a:lstStyle/>
          <a:p>
            <a:r>
              <a:rPr lang="zh-CN" altLang="en-US" sz="1600" dirty="0">
                <a:solidFill>
                  <a:schemeClr val="bg1"/>
                </a:solidFill>
                <a:latin typeface="华文楷体" panose="02010600040101010101" pitchFamily="2" charset="-122"/>
                <a:ea typeface="华文楷体" panose="02010600040101010101" pitchFamily="2" charset="-122"/>
                <a:cs typeface="Alibaba PuHuiTi" pitchFamily="18" charset="-122"/>
              </a:rPr>
              <a:t>高级软件人才培训专家</a:t>
            </a:r>
            <a:endParaRPr lang="zh-CN" altLang="en-US" sz="1600" dirty="0">
              <a:solidFill>
                <a:schemeClr val="bg1"/>
              </a:solidFill>
              <a:latin typeface="华文楷体" panose="02010600040101010101" pitchFamily="2" charset="-122"/>
              <a:ea typeface="华文楷体" panose="02010600040101010101" pitchFamily="2" charset="-122"/>
              <a:cs typeface="Alibaba PuHuiTi" pitchFamily="18" charset="-122"/>
            </a:endParaRPr>
          </a:p>
        </p:txBody>
      </p:sp>
      <p:pic>
        <p:nvPicPr>
          <p:cNvPr id="12" name="图形 11"/>
          <p:cNvPicPr>
            <a:picLocks noChangeAspect="1"/>
          </p:cNvPicPr>
          <p:nvPr userDrawn="1"/>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9871" y="-85784"/>
            <a:ext cx="2666725" cy="1174541"/>
          </a:xfrm>
          <a:prstGeom prst="rect">
            <a:avLst/>
          </a:prstGeom>
        </p:spPr>
      </p:pic>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0.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0.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0.xml"/><Relationship Id="rId2" Type="http://schemas.openxmlformats.org/officeDocument/2006/relationships/image" Target="../media/image13.png"/><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0.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0.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0.xml"/><Relationship Id="rId2" Type="http://schemas.openxmlformats.org/officeDocument/2006/relationships/image" Target="../media/image21.png"/><Relationship Id="rId1"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xml"/><Relationship Id="rId1" Type="http://schemas.openxmlformats.org/officeDocument/2006/relationships/image" Target="../media/image22.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0.xml"/><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image" Target="../media/image23.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0.xml"/><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27.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0.xml"/><Relationship Id="rId2" Type="http://schemas.openxmlformats.org/officeDocument/2006/relationships/image" Target="../media/image28.png"/><Relationship Id="rId1" Type="http://schemas.openxmlformats.org/officeDocument/2006/relationships/tags" Target="../tags/tag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0.xml"/><Relationship Id="rId1" Type="http://schemas.openxmlformats.org/officeDocument/2006/relationships/image" Target="../media/image29.pn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0.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tags" Target="../tags/tag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0.xml"/><Relationship Id="rId2" Type="http://schemas.openxmlformats.org/officeDocument/2006/relationships/image" Target="../media/image33.png"/><Relationship Id="rId1"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0.xml"/><Relationship Id="rId1" Type="http://schemas.openxmlformats.org/officeDocument/2006/relationships/image" Target="../media/image34.png"/></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0.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35.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10.xml"/><Relationship Id="rId5" Type="http://schemas.openxmlformats.org/officeDocument/2006/relationships/image" Target="../media/image42.png"/><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0.xml"/><Relationship Id="rId2" Type="http://schemas.openxmlformats.org/officeDocument/2006/relationships/image" Target="../media/image44.png"/><Relationship Id="rId1" Type="http://schemas.openxmlformats.org/officeDocument/2006/relationships/image" Target="../media/image43.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0.xml"/><Relationship Id="rId2" Type="http://schemas.openxmlformats.org/officeDocument/2006/relationships/image" Target="../media/image46.png"/><Relationship Id="rId1" Type="http://schemas.openxmlformats.org/officeDocument/2006/relationships/image" Target="../media/image45.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0.xml"/><Relationship Id="rId1" Type="http://schemas.openxmlformats.org/officeDocument/2006/relationships/tags" Target="../tags/tag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2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0.xml"/><Relationship Id="rId1" Type="http://schemas.openxmlformats.org/officeDocument/2006/relationships/image" Target="../media/image47.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0.xml"/><Relationship Id="rId1" Type="http://schemas.openxmlformats.org/officeDocument/2006/relationships/image" Target="../media/image4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0.xml"/><Relationship Id="rId2" Type="http://schemas.openxmlformats.org/officeDocument/2006/relationships/image" Target="../media/image50.png"/><Relationship Id="rId1" Type="http://schemas.openxmlformats.org/officeDocument/2006/relationships/image" Target="../media/image49.png"/></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0.xml"/><Relationship Id="rId2" Type="http://schemas.openxmlformats.org/officeDocument/2006/relationships/image" Target="../media/image52.png"/><Relationship Id="rId1" Type="http://schemas.openxmlformats.org/officeDocument/2006/relationships/image" Target="../media/image51.png"/></Relationships>
</file>

<file path=ppt/slides/_rels/slide51.xml.rels><?xml version="1.0" encoding="UTF-8" standalone="yes"?>
<Relationships xmlns="http://schemas.openxmlformats.org/package/2006/relationships"><Relationship Id="rId8" Type="http://schemas.openxmlformats.org/officeDocument/2006/relationships/notesSlide" Target="../notesSlides/notesSlide29.xml"/><Relationship Id="rId7" Type="http://schemas.openxmlformats.org/officeDocument/2006/relationships/slideLayout" Target="../slideLayouts/slideLayout10.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image" Target="../media/image53.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0.xml"/><Relationship Id="rId1" Type="http://schemas.openxmlformats.org/officeDocument/2006/relationships/image" Target="../media/image55.png"/></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0.xml"/><Relationship Id="rId2" Type="http://schemas.openxmlformats.org/officeDocument/2006/relationships/image" Target="../media/image59.png"/><Relationship Id="rId1" Type="http://schemas.openxmlformats.org/officeDocument/2006/relationships/image" Target="../media/image50.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0.xml"/><Relationship Id="rId1" Type="http://schemas.openxmlformats.org/officeDocument/2006/relationships/image" Target="../media/image60.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2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0.xml"/><Relationship Id="rId1" Type="http://schemas.openxmlformats.org/officeDocument/2006/relationships/image" Target="../media/image61.png"/></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0.xml"/><Relationship Id="rId2" Type="http://schemas.openxmlformats.org/officeDocument/2006/relationships/image" Target="../media/image63.png"/><Relationship Id="rId1" Type="http://schemas.openxmlformats.org/officeDocument/2006/relationships/image" Target="../media/image62.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0.xml"/><Relationship Id="rId1" Type="http://schemas.openxmlformats.org/officeDocument/2006/relationships/image" Target="../media/image64.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0.xml"/><Relationship Id="rId1" Type="http://schemas.openxmlformats.org/officeDocument/2006/relationships/image" Target="../media/image65.png"/></Relationships>
</file>

<file path=ppt/slides/_rels/slide63.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10.xml"/><Relationship Id="rId2" Type="http://schemas.openxmlformats.org/officeDocument/2006/relationships/image" Target="../media/image67.png"/><Relationship Id="rId1" Type="http://schemas.openxmlformats.org/officeDocument/2006/relationships/image" Target="../media/image66.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2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决策树</a:t>
            </a:r>
            <a:endParaRPr kumimoji="1"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587794" y="937199"/>
            <a:ext cx="6498629" cy="4983602"/>
          </a:xfrm>
        </p:spPr>
        <p:txBody>
          <a:bodyPr anchor="t"/>
          <a:lstStyle/>
          <a:p>
            <a:r>
              <a:rPr lang="zh-CN" altLang="en-US" dirty="0">
                <a:solidFill>
                  <a:schemeClr val="accent2">
                    <a:lumMod val="75000"/>
                  </a:schemeClr>
                </a:solidFill>
                <a:latin typeface="Alibaba PuHuiTi" pitchFamily="18" charset="-122"/>
                <a:ea typeface="Alibaba PuHuiTi" pitchFamily="18" charset="-122"/>
                <a:cs typeface="Alibaba PuHuiTi" pitchFamily="18" charset="-122"/>
              </a:rPr>
              <a:t>决策树简介</a:t>
            </a:r>
            <a:endParaRPr lang="en-US" altLang="zh-CN" sz="1600" b="0" dirty="0">
              <a:solidFill>
                <a:schemeClr val="accent2">
                  <a:lumMod val="75000"/>
                </a:schemeClr>
              </a:solidFill>
              <a:latin typeface="Alibaba PuHuiTi" pitchFamily="18" charset="-122"/>
              <a:ea typeface="Alibaba PuHuiTi" pitchFamily="18" charset="-122"/>
              <a:cs typeface="Alibaba PuHuiTi" pitchFamily="18" charset="-122"/>
            </a:endParaRPr>
          </a:p>
          <a:p>
            <a:r>
              <a:rPr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ID3</a:t>
            </a:r>
            <a:r>
              <a:rPr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决策树 </a:t>
            </a:r>
            <a:endParaRPr lang="en-US" altLang="zh-CN"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C4.5</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决策树</a:t>
            </a:r>
            <a:endParaRPr kumimoji="1" lang="zh-CN" altLang="en-US"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CART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决策树</a:t>
            </a:r>
            <a:endPar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 案例泰坦尼克号生存预测</a:t>
            </a:r>
            <a:r>
              <a:rPr kumimoji="1" lang="zh-CN" altLang="en-US" sz="1400" b="0" dirty="0">
                <a:solidFill>
                  <a:schemeClr val="tx1">
                    <a:lumMod val="85000"/>
                    <a:lumOff val="15000"/>
                  </a:schemeClr>
                </a:solidFill>
                <a:latin typeface="Alibaba PuHuiTi" pitchFamily="18" charset="-122"/>
                <a:ea typeface="Alibaba PuHuiTi" pitchFamily="18" charset="-122"/>
                <a:cs typeface="Alibaba PuHuiTi" pitchFamily="18" charset="-122"/>
              </a:rPr>
              <a:t> </a:t>
            </a:r>
            <a:endParaRPr kumimoji="1"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CART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回归树</a:t>
            </a:r>
            <a:endPar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决策树 剪枝</a:t>
            </a:r>
            <a:endParaRPr kumimoji="1" lang="en-US" altLang="zh-CN" b="0" dirty="0">
              <a:solidFill>
                <a:schemeClr val="tx1">
                  <a:lumMod val="85000"/>
                  <a:lumOff val="15000"/>
                </a:schemeClr>
              </a:solidFill>
              <a:latin typeface="Alibaba PuHuiTi" pitchFamily="18" charset="-122"/>
              <a:ea typeface="Alibaba PuHuiTi" pitchFamily="18" charset="-122"/>
              <a:cs typeface="Alibaba PuHuiTi" pitchFamily="18" charset="-122"/>
            </a:endParaRPr>
          </a:p>
          <a:p>
            <a:pPr lvl="1"/>
            <a:endParaRPr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638358" y="869546"/>
            <a:ext cx="6298881" cy="4855845"/>
          </a:xfrm>
        </p:spPr>
        <p:txBody>
          <a:bodyPr/>
          <a:lstStyle/>
          <a:p>
            <a:pPr algn="l"/>
            <a:r>
              <a:rPr lang="zh-CN" altLang="en-US" b="0" i="0" u="none" strike="noStrike" dirty="0">
                <a:solidFill>
                  <a:srgbClr val="333333"/>
                </a:solidFill>
                <a:effectLst/>
                <a:latin typeface="Open Sans" panose="020B0606030504020204" pitchFamily="34" charset="0"/>
              </a:rPr>
              <a:t>理解决策树算法的基本思想</a:t>
            </a:r>
            <a:endParaRPr lang="zh-CN" altLang="en-US" b="0" i="0" u="none" strike="noStrike" dirty="0">
              <a:solidFill>
                <a:srgbClr val="333333"/>
              </a:solidFill>
              <a:effectLst/>
              <a:latin typeface="Open Sans" panose="020B0606030504020204" pitchFamily="34" charset="0"/>
            </a:endParaRPr>
          </a:p>
          <a:p>
            <a:pPr algn="l"/>
            <a:r>
              <a:rPr lang="zh-CN" altLang="en-US" b="0" i="0" u="none" strike="noStrike" dirty="0">
                <a:solidFill>
                  <a:srgbClr val="333333"/>
                </a:solidFill>
                <a:effectLst/>
                <a:latin typeface="Open Sans" panose="020B0606030504020204" pitchFamily="34" charset="0"/>
              </a:rPr>
              <a:t>知道构建决策树的步骤</a:t>
            </a:r>
            <a:endParaRPr lang="zh-CN" altLang="en-US" b="0" i="0" u="none" strike="noStrike" dirty="0">
              <a:solidFill>
                <a:srgbClr val="333333"/>
              </a:solidFill>
              <a:effectLst/>
              <a:latin typeface="Open Sans" panose="020B0606030504020204" pitchFamily="34" charset="0"/>
            </a:endParaRPr>
          </a:p>
          <a:p>
            <a:pPr marL="0" indent="0">
              <a:buNone/>
            </a:pP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决策树简介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生活中的决策树</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022877" y="1477822"/>
            <a:ext cx="4016262"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女孩相亲的决策树</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pic>
        <p:nvPicPr>
          <p:cNvPr id="7" name="图片 6"/>
          <p:cNvPicPr>
            <a:picLocks noChangeAspect="1"/>
          </p:cNvPicPr>
          <p:nvPr/>
        </p:nvPicPr>
        <p:blipFill>
          <a:blip r:embed="rId1"/>
          <a:stretch>
            <a:fillRect/>
          </a:stretch>
        </p:blipFill>
        <p:spPr>
          <a:xfrm>
            <a:off x="1669367" y="2069772"/>
            <a:ext cx="3469143" cy="2964141"/>
          </a:xfrm>
          <a:prstGeom prst="rect">
            <a:avLst/>
          </a:prstGeom>
        </p:spPr>
      </p:pic>
      <p:pic>
        <p:nvPicPr>
          <p:cNvPr id="14" name="图片 13"/>
          <p:cNvPicPr>
            <a:picLocks noChangeAspect="1"/>
          </p:cNvPicPr>
          <p:nvPr/>
        </p:nvPicPr>
        <p:blipFill>
          <a:blip r:embed="rId2"/>
          <a:stretch>
            <a:fillRect/>
          </a:stretch>
        </p:blipFill>
        <p:spPr>
          <a:xfrm>
            <a:off x="6789541" y="2107481"/>
            <a:ext cx="2345032" cy="2881748"/>
          </a:xfrm>
          <a:prstGeom prst="rect">
            <a:avLst/>
          </a:prstGeom>
        </p:spPr>
      </p:pic>
      <p:pic>
        <p:nvPicPr>
          <p:cNvPr id="15" name="图片 14"/>
          <p:cNvPicPr>
            <a:picLocks noChangeAspect="1"/>
          </p:cNvPicPr>
          <p:nvPr/>
        </p:nvPicPr>
        <p:blipFill>
          <a:blip r:embed="rId3"/>
          <a:stretch>
            <a:fillRect/>
          </a:stretch>
        </p:blipFill>
        <p:spPr>
          <a:xfrm>
            <a:off x="1669367" y="5215028"/>
            <a:ext cx="7772400" cy="125638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决策树简介</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pic>
        <p:nvPicPr>
          <p:cNvPr id="7" name="图片 6"/>
          <p:cNvPicPr>
            <a:picLocks noChangeAspect="1"/>
          </p:cNvPicPr>
          <p:nvPr/>
        </p:nvPicPr>
        <p:blipFill>
          <a:blip r:embed="rId1"/>
          <a:stretch>
            <a:fillRect/>
          </a:stretch>
        </p:blipFill>
        <p:spPr>
          <a:xfrm>
            <a:off x="8376872" y="1727611"/>
            <a:ext cx="3469143" cy="2964141"/>
          </a:xfrm>
          <a:prstGeom prst="rect">
            <a:avLst/>
          </a:prstGeom>
        </p:spPr>
      </p:pic>
      <p:sp>
        <p:nvSpPr>
          <p:cNvPr id="5" name="文本占位符 2"/>
          <p:cNvSpPr txBox="1"/>
          <p:nvPr/>
        </p:nvSpPr>
        <p:spPr>
          <a:xfrm>
            <a:off x="1022877" y="1683417"/>
            <a:ext cx="4016262"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决策树是一种树形结构</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6" name="文本占位符 2"/>
          <p:cNvSpPr txBox="1"/>
          <p:nvPr/>
        </p:nvSpPr>
        <p:spPr>
          <a:xfrm>
            <a:off x="1529380" y="2105847"/>
            <a:ext cx="7146534" cy="98998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r>
              <a:rPr lang="zh-CN" altLang="en-US" dirty="0"/>
              <a:t>树中每个内部节点表示一个特征上的判断，每个分支代表一个判断结果的输出，每个叶子节点代表一种分类结果</a:t>
            </a:r>
            <a:endParaRPr lang="zh-CN" altLang="en-US" dirty="0"/>
          </a:p>
        </p:txBody>
      </p:sp>
      <p:sp>
        <p:nvSpPr>
          <p:cNvPr id="8" name="文本占位符 2"/>
          <p:cNvSpPr txBox="1"/>
          <p:nvPr/>
        </p:nvSpPr>
        <p:spPr>
          <a:xfrm>
            <a:off x="1022877" y="3444800"/>
            <a:ext cx="4016262"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决策树的</a:t>
            </a:r>
            <a:r>
              <a:rPr lang="zh-CN" altLang="en-US" dirty="0">
                <a:solidFill>
                  <a:schemeClr val="accent2">
                    <a:lumMod val="75000"/>
                  </a:schemeClr>
                </a:solidFill>
                <a:latin typeface="Alibaba PuHuiTi" pitchFamily="18" charset="-122"/>
                <a:ea typeface="Alibaba PuHuiTi" pitchFamily="18" charset="-122"/>
                <a:cs typeface="Alibaba PuHuiTi" pitchFamily="18" charset="-122"/>
              </a:rPr>
              <a:t>建立过程</a:t>
            </a:r>
            <a:endParaRPr kumimoji="0" lang="zh-CN" altLang="en-GB" sz="16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p:sp>
        <p:nvSpPr>
          <p:cNvPr id="9" name="文本占位符 2"/>
          <p:cNvSpPr txBox="1"/>
          <p:nvPr/>
        </p:nvSpPr>
        <p:spPr>
          <a:xfrm>
            <a:off x="1529380" y="3921658"/>
            <a:ext cx="8681420" cy="180071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r>
              <a:rPr lang="en-US" altLang="zh-CN" dirty="0"/>
              <a:t>1.</a:t>
            </a:r>
            <a:r>
              <a:rPr lang="zh-CN" altLang="en-US" dirty="0"/>
              <a:t>特征选择：</a:t>
            </a:r>
            <a:r>
              <a:rPr lang="zh-CN" altLang="en-US" dirty="0">
                <a:solidFill>
                  <a:srgbClr val="FF0000"/>
                </a:solidFill>
              </a:rPr>
              <a:t>选取有较强分类能力的特征</a:t>
            </a:r>
            <a:r>
              <a:rPr lang="zh-CN" altLang="en-US" dirty="0"/>
              <a:t>。</a:t>
            </a:r>
            <a:endParaRPr lang="zh-CN" altLang="en-US" dirty="0"/>
          </a:p>
          <a:p>
            <a:r>
              <a:rPr lang="en-US" altLang="zh-CN" dirty="0"/>
              <a:t>2.</a:t>
            </a:r>
            <a:r>
              <a:rPr lang="zh-CN" altLang="en-US" dirty="0"/>
              <a:t>决策树生成：根据选择的特征生成决策树。</a:t>
            </a:r>
            <a:endParaRPr lang="en-US" altLang="zh-CN" dirty="0"/>
          </a:p>
          <a:p>
            <a:r>
              <a:rPr lang="en-US" altLang="zh-CN" dirty="0">
                <a:solidFill>
                  <a:srgbClr val="333333"/>
                </a:solidFill>
                <a:latin typeface="Open Sans" panose="020B0606030504020204" pitchFamily="34" charset="0"/>
              </a:rPr>
              <a:t>3.</a:t>
            </a:r>
            <a:r>
              <a:rPr lang="zh-CN" altLang="en-US" dirty="0">
                <a:solidFill>
                  <a:srgbClr val="333333"/>
                </a:solidFill>
                <a:latin typeface="Open Sans" panose="020B0606030504020204" pitchFamily="34" charset="0"/>
              </a:rPr>
              <a:t> 决策树也易过拟合，采用</a:t>
            </a:r>
            <a:r>
              <a:rPr lang="zh-CN" altLang="en-US" dirty="0">
                <a:solidFill>
                  <a:schemeClr val="accent2">
                    <a:lumMod val="75000"/>
                  </a:schemeClr>
                </a:solidFill>
                <a:latin typeface="Open Sans" panose="020B0606030504020204" pitchFamily="34" charset="0"/>
              </a:rPr>
              <a:t>剪枝的方法</a:t>
            </a:r>
            <a:r>
              <a:rPr lang="zh-CN" altLang="en-US" dirty="0">
                <a:solidFill>
                  <a:srgbClr val="333333"/>
                </a:solidFill>
                <a:latin typeface="Open Sans" panose="020B0606030504020204" pitchFamily="34" charset="0"/>
              </a:rPr>
              <a:t>缓解</a:t>
            </a:r>
            <a:r>
              <a:rPr lang="zh-CN" altLang="en-US" dirty="0">
                <a:solidFill>
                  <a:schemeClr val="accent2">
                    <a:lumMod val="75000"/>
                  </a:schemeClr>
                </a:solidFill>
                <a:latin typeface="Open Sans" panose="020B0606030504020204" pitchFamily="34" charset="0"/>
              </a:rPr>
              <a:t>过拟合</a:t>
            </a:r>
            <a:r>
              <a:rPr lang="zh-CN" altLang="en-US" sz="1665" b="0" dirty="0">
                <a:solidFill>
                  <a:srgbClr val="333333"/>
                </a:solidFill>
                <a:latin typeface="Open Sans" panose="020B0606030504020204" pitchFamily="34" charset="0"/>
                <a:ea typeface="阿里巴巴普惠体" panose="00020600040101010101" pitchFamily="18" charset="-122"/>
                <a:cs typeface="阿里巴巴普惠体" panose="00020600040101010101" pitchFamily="18" charset="-122"/>
              </a:rPr>
              <a:t>。</a:t>
            </a:r>
            <a:endParaRPr lang="en-US" altLang="zh-CN" sz="1665" b="0" dirty="0">
              <a:solidFill>
                <a:srgbClr val="333333"/>
              </a:solidFill>
              <a:latin typeface="Open Sans" panose="020B0606030504020204" pitchFamily="34" charset="0"/>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3947766" y="2259856"/>
            <a:ext cx="5704701" cy="490216"/>
          </a:xfrm>
        </p:spPr>
        <p:txBody>
          <a:bodyPr anchor="t"/>
          <a:lstStyle/>
          <a:p>
            <a:pPr marL="0" indent="0">
              <a:lnSpc>
                <a:spcPct val="150000"/>
              </a:lnSpc>
              <a:buNone/>
            </a:pPr>
            <a:r>
              <a:rPr lang="en-US" altLang="zh-CN" sz="1600" dirty="0"/>
              <a:t>1</a:t>
            </a:r>
            <a:r>
              <a:rPr lang="zh-CN" altLang="en-US" sz="1600" dirty="0"/>
              <a:t>、女孩相亲过程中，更看重哪些特征呢？</a:t>
            </a:r>
            <a:endParaRPr lang="zh-CN" altLang="en-US" sz="1600" dirty="0"/>
          </a:p>
        </p:txBody>
      </p:sp>
      <p:sp>
        <p:nvSpPr>
          <p:cNvPr id="2" name="文本占位符 2"/>
          <p:cNvSpPr txBox="1"/>
          <p:nvPr/>
        </p:nvSpPr>
        <p:spPr>
          <a:xfrm>
            <a:off x="4648668" y="2849197"/>
            <a:ext cx="4302895" cy="579802"/>
          </a:xfrm>
          <a:prstGeom prst="rect">
            <a:avLst/>
          </a:prstGeom>
        </p:spPr>
        <p:txBody>
          <a:bodyPr anchor="t"/>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219200" indent="0" algn="l" rtl="0" eaLnBrk="0" fontAlgn="base" hangingPunct="0">
              <a:spcBef>
                <a:spcPct val="20000"/>
              </a:spcBef>
              <a:spcAft>
                <a:spcPct val="0"/>
              </a:spcAft>
              <a:buFont typeface="Arial" panose="020B0604020202020204" pitchFamily="34" charset="0"/>
              <a:buNone/>
              <a:defRPr sz="1865" b="1" kern="1200">
                <a:solidFill>
                  <a:schemeClr val="tx1"/>
                </a:solidFill>
                <a:latin typeface="黑体" panose="02010609060101010101" pitchFamily="49" charset="-122"/>
                <a:ea typeface="黑体" panose="02010609060101010101" pitchFamily="49" charset="-122"/>
                <a:cs typeface="+mn-cs"/>
              </a:defRPr>
            </a:lvl3pPr>
            <a:lvl4pPr marL="1828800" indent="0" algn="l" rtl="0" eaLnBrk="0" fontAlgn="base" hangingPunct="0">
              <a:spcBef>
                <a:spcPct val="20000"/>
              </a:spcBef>
              <a:spcAft>
                <a:spcPct val="0"/>
              </a:spcAft>
              <a:buFont typeface="Arial" panose="020B0604020202020204" pitchFamily="34" charset="0"/>
              <a:buNone/>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0" lvl="0" indent="0">
              <a:lnSpc>
                <a:spcPct val="150000"/>
              </a:lnSpc>
              <a:buNone/>
            </a:pPr>
            <a:r>
              <a:rPr lang="zh-CN" altLang="en-US" sz="1600" dirty="0"/>
              <a:t>年龄 </a:t>
            </a:r>
            <a:r>
              <a:rPr lang="en-US" altLang="zh-CN" sz="1600" dirty="0"/>
              <a:t>&gt;</a:t>
            </a:r>
            <a:r>
              <a:rPr lang="zh-CN" altLang="en-US" sz="1600" dirty="0"/>
              <a:t> 长相 </a:t>
            </a:r>
            <a:r>
              <a:rPr lang="en-US" altLang="zh-CN" sz="1600" dirty="0"/>
              <a:t>&gt;</a:t>
            </a:r>
            <a:r>
              <a:rPr lang="zh-CN" altLang="en-US" sz="1600" dirty="0"/>
              <a:t> 收入 </a:t>
            </a:r>
            <a:r>
              <a:rPr lang="en-US" altLang="zh-CN" sz="1600" dirty="0"/>
              <a:t>&gt;</a:t>
            </a:r>
            <a:r>
              <a:rPr lang="zh-CN" altLang="en-US" sz="1600" dirty="0"/>
              <a:t> 是否公务员</a:t>
            </a:r>
            <a:endParaRPr kumimoji="0" lang="en-US" altLang="zh-CN" sz="1600" b="0" i="0" u="none" strike="noStrike" kern="1200" cap="none" spc="0" normalizeH="0" baseline="0" noProof="0" dirty="0">
              <a:ln>
                <a:noFill/>
              </a:ln>
              <a:solidFill>
                <a:prstClr val="black">
                  <a:lumMod val="85000"/>
                  <a:lumOff val="15000"/>
                </a:prstClr>
              </a:solidFill>
              <a:effectLst/>
              <a:uLnTx/>
              <a:uFillTx/>
            </a:endParaRPr>
          </a:p>
        </p:txBody>
      </p:sp>
      <p:pic>
        <p:nvPicPr>
          <p:cNvPr id="4" name="图片 3"/>
          <p:cNvPicPr>
            <a:picLocks noChangeAspect="1"/>
          </p:cNvPicPr>
          <p:nvPr/>
        </p:nvPicPr>
        <p:blipFill>
          <a:blip r:embed="rId1"/>
          <a:stretch>
            <a:fillRect/>
          </a:stretch>
        </p:blipFill>
        <p:spPr>
          <a:xfrm>
            <a:off x="8722857" y="1946929"/>
            <a:ext cx="3469143" cy="2964141"/>
          </a:xfrm>
          <a:prstGeom prst="rect">
            <a:avLst/>
          </a:prstGeom>
        </p:spPr>
      </p:pic>
      <p:sp>
        <p:nvSpPr>
          <p:cNvPr id="5" name="文本占位符 2"/>
          <p:cNvSpPr txBox="1"/>
          <p:nvPr/>
        </p:nvSpPr>
        <p:spPr>
          <a:xfrm>
            <a:off x="3944552" y="3428999"/>
            <a:ext cx="4302895" cy="977587"/>
          </a:xfrm>
          <a:prstGeom prst="rect">
            <a:avLst/>
          </a:prstGeom>
        </p:spPr>
        <p:txBody>
          <a:bodyPr anchor="t"/>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219200" indent="0" algn="l" rtl="0" eaLnBrk="0" fontAlgn="base" hangingPunct="0">
              <a:spcBef>
                <a:spcPct val="20000"/>
              </a:spcBef>
              <a:spcAft>
                <a:spcPct val="0"/>
              </a:spcAft>
              <a:buFont typeface="Arial" panose="020B0604020202020204" pitchFamily="34" charset="0"/>
              <a:buNone/>
              <a:defRPr sz="1865" b="1" kern="1200">
                <a:solidFill>
                  <a:schemeClr val="tx1"/>
                </a:solidFill>
                <a:latin typeface="黑体" panose="02010609060101010101" pitchFamily="49" charset="-122"/>
                <a:ea typeface="黑体" panose="02010609060101010101" pitchFamily="49" charset="-122"/>
                <a:cs typeface="+mn-cs"/>
              </a:defRPr>
            </a:lvl3pPr>
            <a:lvl4pPr marL="1828800" indent="0" algn="l" rtl="0" eaLnBrk="0" fontAlgn="base" hangingPunct="0">
              <a:spcBef>
                <a:spcPct val="20000"/>
              </a:spcBef>
              <a:spcAft>
                <a:spcPct val="0"/>
              </a:spcAft>
              <a:buFont typeface="Arial" panose="020B0604020202020204" pitchFamily="34" charset="0"/>
              <a:buNone/>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0" indent="0">
              <a:lnSpc>
                <a:spcPct val="150000"/>
              </a:lnSpc>
              <a:buFont typeface="+mj-lt"/>
              <a:buNone/>
            </a:pPr>
            <a:r>
              <a:rPr lang="en-US" altLang="zh-CN" sz="1600" dirty="0"/>
              <a:t>2</a:t>
            </a:r>
            <a:r>
              <a:rPr lang="zh-CN" altLang="en-US" sz="1600" dirty="0"/>
              <a:t>、机器学习算法中，选择数据集中的</a:t>
            </a:r>
            <a:r>
              <a:rPr lang="zh-CN" altLang="en-US" sz="1600" dirty="0">
                <a:solidFill>
                  <a:schemeClr val="accent2">
                    <a:lumMod val="75000"/>
                  </a:schemeClr>
                </a:solidFill>
              </a:rPr>
              <a:t>哪些特征进行分裂</a:t>
            </a:r>
            <a:r>
              <a:rPr lang="zh-CN" altLang="en-US" sz="1600" dirty="0"/>
              <a:t>，会更好呢？</a:t>
            </a:r>
            <a:endParaRPr lang="zh-CN" altLang="en-US" sz="1600" dirty="0"/>
          </a:p>
        </p:txBody>
      </p:sp>
      <p:sp>
        <p:nvSpPr>
          <p:cNvPr id="6" name="文本框 5"/>
          <p:cNvSpPr txBox="1"/>
          <p:nvPr/>
        </p:nvSpPr>
        <p:spPr>
          <a:xfrm>
            <a:off x="4588510" y="4340860"/>
            <a:ext cx="6096000" cy="337185"/>
          </a:xfrm>
          <a:prstGeom prst="rect">
            <a:avLst/>
          </a:prstGeom>
          <a:noFill/>
        </p:spPr>
        <p:txBody>
          <a:bodyPr wrap="square" anchor="t">
            <a:spAutoFit/>
          </a:bodyPr>
          <a:p>
            <a:pPr fontAlgn="auto">
              <a:spcBef>
                <a:spcPts val="0"/>
              </a:spcBef>
              <a:spcAft>
                <a:spcPts val="0"/>
              </a:spcAft>
            </a:pP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选取有较强分类能力的特征。</a:t>
            </a:r>
            <a:endParaRPr lang="zh-CN" altLang="en-US" sz="1050" dirty="0">
              <a:solidFill>
                <a:schemeClr val="tx1">
                  <a:lumMod val="65000"/>
                  <a:lumOff val="35000"/>
                </a:schemeClr>
              </a:solidFill>
              <a:latin typeface="+mn-lt"/>
              <a:ea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74231" y="2789405"/>
            <a:ext cx="5592377"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决策树</a:t>
            </a:r>
            <a:r>
              <a:rPr kumimoji="1" lang="zh-CN" altLang="en-US" b="1" dirty="0">
                <a:solidFill>
                  <a:prstClr val="black">
                    <a:lumMod val="65000"/>
                    <a:lumOff val="35000"/>
                  </a:prstClr>
                </a:solidFill>
                <a:latin typeface="Alibaba PuHuiTi" pitchFamily="18" charset="-122"/>
                <a:ea typeface="Alibaba PuHuiTi" pitchFamily="18" charset="-122"/>
                <a:cs typeface="Alibaba PuHuiTi" pitchFamily="18" charset="-122"/>
              </a:rPr>
              <a:t>是什么？</a:t>
            </a:r>
            <a:endPar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endParaRPr>
          </a:p>
        </p:txBody>
      </p:sp>
      <p:sp>
        <p:nvSpPr>
          <p:cNvPr id="23" name="文本框 22"/>
          <p:cNvSpPr txBox="1"/>
          <p:nvPr/>
        </p:nvSpPr>
        <p:spPr>
          <a:xfrm>
            <a:off x="4671695" y="3475990"/>
            <a:ext cx="5961380" cy="737235"/>
          </a:xfrm>
          <a:prstGeom prst="rect">
            <a:avLst/>
          </a:prstGeom>
          <a:noFill/>
        </p:spPr>
        <p:txBody>
          <a:bodyPr wrap="square">
            <a:spAutoFit/>
          </a:bodyPr>
          <a:lstStyle/>
          <a:p>
            <a:pPr>
              <a:lnSpc>
                <a:spcPct val="150000"/>
              </a:lnSpc>
            </a:pPr>
            <a:r>
              <a:rPr lang="zh-CN" altLang="en-US" sz="1400" b="0" i="0" u="none" strike="noStrike" dirty="0">
                <a:solidFill>
                  <a:srgbClr val="333333"/>
                </a:solidFill>
                <a:effectLst/>
                <a:latin typeface="Open Sans" panose="020B0606030504020204" pitchFamily="34" charset="0"/>
              </a:rPr>
              <a:t>决策树是一种树形结构，树中每个内部节点表示一个特征上的判断，每个分支代表一个判断结果的输出，每个叶子节点代表一种分类结果</a:t>
            </a:r>
            <a:endParaRPr lang="zh-CN" alt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517457" y="1382676"/>
            <a:ext cx="6498629" cy="4983602"/>
          </a:xfrm>
        </p:spPr>
        <p:txBody>
          <a:bodyPr anchor="t"/>
          <a:lstStyle/>
          <a:p>
            <a:r>
              <a:rPr lang="zh-CN" altLang="en-US" sz="1600" dirty="0">
                <a:solidFill>
                  <a:schemeClr val="tx1"/>
                </a:solidFill>
                <a:latin typeface="Alibaba PuHuiTi" pitchFamily="18" charset="-122"/>
                <a:ea typeface="Alibaba PuHuiTi" pitchFamily="18" charset="-122"/>
                <a:cs typeface="Alibaba PuHuiTi" pitchFamily="18" charset="-122"/>
              </a:rPr>
              <a:t>决策树简介</a:t>
            </a:r>
            <a:endParaRPr lang="en-US" altLang="zh-CN" sz="1400" b="0" dirty="0">
              <a:solidFill>
                <a:schemeClr val="tx1"/>
              </a:solidFill>
              <a:latin typeface="Alibaba PuHuiTi" pitchFamily="18" charset="-122"/>
              <a:ea typeface="Alibaba PuHuiTi" pitchFamily="18" charset="-122"/>
              <a:cs typeface="Alibaba PuHuiTi" pitchFamily="18" charset="-122"/>
            </a:endParaRPr>
          </a:p>
          <a:p>
            <a:r>
              <a:rPr lang="en-US" altLang="zh-CN" sz="1600" dirty="0">
                <a:solidFill>
                  <a:srgbClr val="C00000"/>
                </a:solidFill>
                <a:latin typeface="Alibaba PuHuiTi" pitchFamily="18" charset="-122"/>
                <a:ea typeface="Alibaba PuHuiTi" pitchFamily="18" charset="-122"/>
                <a:cs typeface="Alibaba PuHuiTi" pitchFamily="18" charset="-122"/>
              </a:rPr>
              <a:t>ID3</a:t>
            </a:r>
            <a:r>
              <a:rPr lang="zh-CN" altLang="en-US" sz="1600" dirty="0">
                <a:solidFill>
                  <a:srgbClr val="C00000"/>
                </a:solidFill>
                <a:latin typeface="Alibaba PuHuiTi" pitchFamily="18" charset="-122"/>
                <a:ea typeface="Alibaba PuHuiTi" pitchFamily="18" charset="-122"/>
                <a:cs typeface="Alibaba PuHuiTi" pitchFamily="18" charset="-122"/>
              </a:rPr>
              <a:t>决策树 </a:t>
            </a:r>
            <a:endParaRPr lang="en-US" altLang="zh-CN" sz="1600" dirty="0">
              <a:solidFill>
                <a:srgbClr val="C00000"/>
              </a:solidFill>
              <a:latin typeface="Alibaba PuHuiTi" pitchFamily="18" charset="-122"/>
              <a:ea typeface="Alibaba PuHuiTi" pitchFamily="18" charset="-122"/>
              <a:cs typeface="Alibaba PuHuiTi" pitchFamily="18" charset="-122"/>
            </a:endParaRPr>
          </a:p>
          <a:p>
            <a:r>
              <a:rPr kumimoji="1" lang="en-US" altLang="zh-CN" sz="1600" dirty="0">
                <a:solidFill>
                  <a:schemeClr val="tx1">
                    <a:lumMod val="85000"/>
                    <a:lumOff val="15000"/>
                  </a:schemeClr>
                </a:solidFill>
                <a:latin typeface="Alibaba PuHuiTi" pitchFamily="18" charset="-122"/>
                <a:ea typeface="Alibaba PuHuiTi" pitchFamily="18" charset="-122"/>
                <a:cs typeface="Alibaba PuHuiTi" pitchFamily="18" charset="-122"/>
              </a:rPr>
              <a:t>C4.5</a:t>
            </a:r>
            <a:r>
              <a:rPr kumimoji="1"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决策树</a:t>
            </a:r>
            <a:endParaRPr kumimoji="1" lang="zh-CN" altLang="en-US" sz="1400" b="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en-US" altLang="zh-CN" sz="1600" dirty="0">
                <a:solidFill>
                  <a:schemeClr val="tx1">
                    <a:lumMod val="85000"/>
                    <a:lumOff val="15000"/>
                  </a:schemeClr>
                </a:solidFill>
                <a:latin typeface="Alibaba PuHuiTi" pitchFamily="18" charset="-122"/>
                <a:ea typeface="Alibaba PuHuiTi" pitchFamily="18" charset="-122"/>
                <a:cs typeface="Alibaba PuHuiTi" pitchFamily="18" charset="-122"/>
              </a:rPr>
              <a:t>CART</a:t>
            </a:r>
            <a:r>
              <a:rPr kumimoji="1"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决策树</a:t>
            </a:r>
            <a:endParaRPr kumimoji="1" lang="en-US" altLang="zh-CN" sz="160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案例泰坦尼克号生存预测</a:t>
            </a:r>
            <a:r>
              <a:rPr kumimoji="1" lang="zh-CN" altLang="en-US" sz="1200" b="0" dirty="0">
                <a:solidFill>
                  <a:schemeClr val="tx1">
                    <a:lumMod val="85000"/>
                    <a:lumOff val="15000"/>
                  </a:schemeClr>
                </a:solidFill>
                <a:latin typeface="Alibaba PuHuiTi" pitchFamily="18" charset="-122"/>
                <a:ea typeface="Alibaba PuHuiTi" pitchFamily="18" charset="-122"/>
                <a:cs typeface="Alibaba PuHuiTi" pitchFamily="18" charset="-122"/>
              </a:rPr>
              <a:t> </a:t>
            </a:r>
            <a:endParaRPr kumimoji="1" lang="en-US" altLang="zh-CN" sz="1400" b="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en-US" altLang="zh-CN" sz="1600" dirty="0">
                <a:solidFill>
                  <a:schemeClr val="tx1">
                    <a:lumMod val="85000"/>
                    <a:lumOff val="15000"/>
                  </a:schemeClr>
                </a:solidFill>
                <a:latin typeface="Alibaba PuHuiTi" pitchFamily="18" charset="-122"/>
                <a:ea typeface="Alibaba PuHuiTi" pitchFamily="18" charset="-122"/>
                <a:cs typeface="Alibaba PuHuiTi" pitchFamily="18" charset="-122"/>
              </a:rPr>
              <a:t>CART</a:t>
            </a:r>
            <a:r>
              <a:rPr kumimoji="1"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回归树</a:t>
            </a:r>
            <a:endParaRPr kumimoji="1" lang="en-US" altLang="zh-CN" sz="160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决策树剪枝</a:t>
            </a:r>
            <a:endParaRPr kumimoji="1"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0" i="0" u="none" strike="noStrike" dirty="0">
                <a:solidFill>
                  <a:srgbClr val="333333"/>
                </a:solidFill>
                <a:effectLst/>
                <a:latin typeface="Open Sans" panose="020B0606030504020204" pitchFamily="34" charset="0"/>
              </a:rPr>
              <a:t>理解信息熵的意义</a:t>
            </a:r>
            <a:endParaRPr lang="zh-CN" altLang="en-US" b="0" i="0" u="none" strike="noStrike" dirty="0">
              <a:solidFill>
                <a:srgbClr val="333333"/>
              </a:solidFill>
              <a:effectLst/>
              <a:latin typeface="Open Sans" panose="020B0606030504020204" pitchFamily="34" charset="0"/>
            </a:endParaRPr>
          </a:p>
          <a:p>
            <a:pPr algn="l"/>
            <a:r>
              <a:rPr lang="zh-CN" altLang="en-US" b="0" i="0" u="none" strike="noStrike" dirty="0">
                <a:solidFill>
                  <a:srgbClr val="333333"/>
                </a:solidFill>
                <a:effectLst/>
                <a:latin typeface="Open Sans" panose="020B0606030504020204" pitchFamily="34" charset="0"/>
              </a:rPr>
              <a:t>理解信息增益的作用</a:t>
            </a:r>
            <a:endParaRPr lang="zh-CN" altLang="en-US" b="0" i="0" u="none" strike="noStrike" dirty="0">
              <a:solidFill>
                <a:srgbClr val="333333"/>
              </a:solidFill>
              <a:effectLst/>
              <a:latin typeface="Open Sans" panose="020B0606030504020204" pitchFamily="34" charset="0"/>
            </a:endParaRPr>
          </a:p>
          <a:p>
            <a:pPr algn="l"/>
            <a:r>
              <a:rPr lang="zh-CN" altLang="en-US" b="0" i="0" u="none" strike="noStrike" dirty="0">
                <a:solidFill>
                  <a:srgbClr val="333333"/>
                </a:solidFill>
                <a:effectLst/>
                <a:latin typeface="Open Sans" panose="020B0606030504020204" pitchFamily="34" charset="0"/>
              </a:rPr>
              <a:t>知道</a:t>
            </a:r>
            <a:r>
              <a:rPr lang="en-GB" altLang="zh-CN" b="0" i="0" u="none" strike="noStrike" dirty="0">
                <a:solidFill>
                  <a:srgbClr val="333333"/>
                </a:solidFill>
                <a:effectLst/>
                <a:latin typeface="Open Sans" panose="020B0606030504020204" pitchFamily="34" charset="0"/>
              </a:rPr>
              <a:t>ID3</a:t>
            </a:r>
            <a:r>
              <a:rPr lang="zh-CN" altLang="en-US" b="0" i="0" u="none" strike="noStrike" dirty="0">
                <a:solidFill>
                  <a:srgbClr val="333333"/>
                </a:solidFill>
                <a:effectLst/>
                <a:latin typeface="Open Sans" panose="020B0606030504020204" pitchFamily="34" charset="0"/>
              </a:rPr>
              <a:t>树的构建流程</a:t>
            </a:r>
            <a:endParaRPr lang="zh-CN" altLang="en-US" b="0" i="0" u="none" strike="noStrike" dirty="0">
              <a:solidFill>
                <a:srgbClr val="333333"/>
              </a:solidFill>
              <a:effectLst/>
              <a:latin typeface="Open Sans" panose="020B0606030504020204" pitchFamily="34" charset="0"/>
            </a:endParaRPr>
          </a:p>
          <a:p>
            <a:endParaRPr kumimoji="1"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信息熵</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022985" y="1306195"/>
            <a:ext cx="5641975" cy="211391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lang="zh-CN" altLang="en-US">
                <a:solidFill>
                  <a:schemeClr val="accent2"/>
                </a:solidFill>
                <a:sym typeface="+mn-ea"/>
              </a:rPr>
              <a:t>信息熵</a:t>
            </a:r>
            <a:r>
              <a:rPr lang="en-US" altLang="zh-CN">
                <a:solidFill>
                  <a:schemeClr val="accent2"/>
                </a:solidFill>
                <a:sym typeface="+mn-ea"/>
              </a:rPr>
              <a:t>:</a:t>
            </a:r>
            <a:r>
              <a:rPr lang="zh-CN" altLang="en-US">
                <a:sym typeface="+mn-ea"/>
              </a:rPr>
              <a:t>（</a:t>
            </a:r>
            <a:r>
              <a:rPr lang="en-US" altLang="zh-CN">
                <a:sym typeface="+mn-ea"/>
              </a:rPr>
              <a:t>Information Entropy</a:t>
            </a:r>
            <a:r>
              <a:rPr lang="zh-CN" altLang="en-US">
                <a:sym typeface="+mn-ea"/>
              </a:rPr>
              <a:t>）是</a:t>
            </a:r>
            <a:r>
              <a:rPr lang="en-US" altLang="zh-CN">
                <a:sym typeface="+mn-ea"/>
              </a:rPr>
              <a:t>1948</a:t>
            </a:r>
            <a:r>
              <a:rPr lang="zh-CN" altLang="en-US">
                <a:sym typeface="+mn-ea"/>
              </a:rPr>
              <a:t>年由克劳德</a:t>
            </a:r>
            <a:r>
              <a:rPr lang="en-US" altLang="zh-CN">
                <a:sym typeface="+mn-ea"/>
              </a:rPr>
              <a:t>·</a:t>
            </a:r>
            <a:r>
              <a:rPr lang="zh-CN" altLang="en-US">
                <a:sym typeface="+mn-ea"/>
              </a:rPr>
              <a:t>香农提出，用于量化系统的不确定性或信息量。在机器学习中，熵常用于决策树（</a:t>
            </a:r>
            <a:r>
              <a:rPr lang="en-US" altLang="zh-CN">
                <a:sym typeface="+mn-ea"/>
              </a:rPr>
              <a:t>ID3</a:t>
            </a:r>
            <a:r>
              <a:rPr lang="zh-CN" altLang="en-US">
                <a:sym typeface="+mn-ea"/>
              </a:rPr>
              <a:t>、</a:t>
            </a:r>
            <a:r>
              <a:rPr lang="en-US" altLang="zh-CN">
                <a:sym typeface="+mn-ea"/>
              </a:rPr>
              <a:t>C4.5</a:t>
            </a:r>
            <a:r>
              <a:rPr lang="zh-CN" altLang="en-US">
                <a:sym typeface="+mn-ea"/>
              </a:rPr>
              <a:t>和</a:t>
            </a:r>
            <a:r>
              <a:rPr lang="en-US" altLang="zh-CN">
                <a:sym typeface="+mn-ea"/>
              </a:rPr>
              <a:t>CART</a:t>
            </a:r>
            <a:r>
              <a:rPr lang="zh-CN" altLang="en-US">
                <a:sym typeface="+mn-ea"/>
              </a:rPr>
              <a:t>都利用了熵来选择最佳属性进行数据分割</a:t>
            </a:r>
            <a:r>
              <a:rPr lang="zh-CN" altLang="en-US">
                <a:sym typeface="+mn-ea"/>
              </a:rPr>
              <a:t>）的特征选择，</a:t>
            </a:r>
            <a:r>
              <a:rPr lang="zh-CN" altLang="en-US">
                <a:solidFill>
                  <a:schemeClr val="accent2"/>
                </a:solidFill>
                <a:sym typeface="+mn-ea"/>
              </a:rPr>
              <a:t>决策树通过分裂降低数据熵，提升分类纯度。</a:t>
            </a:r>
            <a:endParaRPr lang="zh-CN" altLang="en-US">
              <a:solidFill>
                <a:schemeClr val="accent2"/>
              </a:solidFill>
              <a:sym typeface="+mn-ea"/>
            </a:endParaRPr>
          </a:p>
          <a:p>
            <a:pPr marL="285750" indent="-285750">
              <a:buFont typeface="Arial" panose="020B0604020202020204" pitchFamily="34" charset="0"/>
              <a:buChar char="•"/>
              <a:defRPr/>
            </a:pPr>
            <a:r>
              <a:rPr lang="zh-CN" altLang="en-US">
                <a:solidFill>
                  <a:schemeClr val="accent2"/>
                </a:solidFill>
                <a:sym typeface="+mn-ea"/>
              </a:rPr>
              <a:t>熵增</a:t>
            </a:r>
            <a:r>
              <a:rPr lang="en-US" altLang="zh-CN">
                <a:sym typeface="+mn-ea"/>
              </a:rPr>
              <a:t>:</a:t>
            </a:r>
            <a:r>
              <a:rPr lang="zh-CN" altLang="en-US"/>
              <a:t>有序</a:t>
            </a:r>
            <a:r>
              <a:rPr lang="en-US" altLang="zh-CN"/>
              <a:t>(</a:t>
            </a:r>
            <a:r>
              <a:rPr lang="zh-CN" altLang="en-US"/>
              <a:t>确定性</a:t>
            </a:r>
            <a:r>
              <a:rPr lang="en-US" altLang="zh-CN"/>
              <a:t>)</a:t>
            </a:r>
            <a:r>
              <a:rPr lang="en-US" altLang="en-US"/>
              <a:t>→</a:t>
            </a:r>
            <a:r>
              <a:rPr lang="zh-CN" altLang="en-US"/>
              <a:t>无序</a:t>
            </a:r>
            <a:r>
              <a:rPr lang="en-US" altLang="zh-CN"/>
              <a:t>(</a:t>
            </a:r>
            <a:r>
              <a:rPr lang="zh-CN" altLang="en-US"/>
              <a:t>不确定性</a:t>
            </a:r>
            <a:r>
              <a:rPr lang="en-US" altLang="zh-CN"/>
              <a:t>),</a:t>
            </a:r>
            <a:r>
              <a:rPr lang="zh-CN" altLang="en-US"/>
              <a:t>模型学习难度越大</a:t>
            </a:r>
            <a:endParaRPr lang="zh-CN" altLang="en-US"/>
          </a:p>
          <a:p>
            <a:pPr marL="285750" indent="-285750">
              <a:buFont typeface="Arial" panose="020B0604020202020204" pitchFamily="34" charset="0"/>
              <a:buChar char="•"/>
              <a:defRPr/>
            </a:pPr>
            <a:r>
              <a:rPr lang="zh-CN" altLang="en-US">
                <a:solidFill>
                  <a:schemeClr val="accent2"/>
                </a:solidFill>
              </a:rPr>
              <a:t>熵减</a:t>
            </a:r>
            <a:r>
              <a:rPr lang="en-US" altLang="zh-CN"/>
              <a:t>:</a:t>
            </a:r>
            <a:r>
              <a:rPr lang="zh-CN" altLang="en-US"/>
              <a:t>混乱</a:t>
            </a:r>
            <a:r>
              <a:rPr lang="en-US" altLang="en-US"/>
              <a:t>→</a:t>
            </a:r>
            <a:r>
              <a:rPr lang="zh-CN" altLang="en-US"/>
              <a:t>有序（信息处理）</a:t>
            </a:r>
            <a:r>
              <a:rPr lang="en-US" altLang="zh-CN"/>
              <a:t>,</a:t>
            </a:r>
            <a:r>
              <a:rPr lang="zh-CN" altLang="en-US"/>
              <a:t>模型学习的核心目标</a:t>
            </a:r>
            <a:endParaRPr lang="zh-CN" altLang="en-US"/>
          </a:p>
          <a:p>
            <a:pPr marL="285750" indent="-285750">
              <a:buFont typeface="Arial" panose="020B0604020202020204" pitchFamily="34" charset="0"/>
              <a:buChar char="•"/>
              <a:defRPr/>
            </a:pPr>
            <a:endParaRPr kumimoji="0" lang="zh-CN" altLang="en-GB" sz="16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p:sp>
        <p:nvSpPr>
          <p:cNvPr id="9" name="文本占位符 2"/>
          <p:cNvSpPr txBox="1"/>
          <p:nvPr/>
        </p:nvSpPr>
        <p:spPr>
          <a:xfrm>
            <a:off x="1375606" y="3873882"/>
            <a:ext cx="5199412" cy="89490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endParaRPr>
          </a:p>
        </p:txBody>
      </p:sp>
      <p:pic>
        <p:nvPicPr>
          <p:cNvPr id="2" name="图片 1"/>
          <p:cNvPicPr>
            <a:picLocks noChangeAspect="1"/>
          </p:cNvPicPr>
          <p:nvPr/>
        </p:nvPicPr>
        <p:blipFill>
          <a:blip r:embed="rId1"/>
          <a:stretch>
            <a:fillRect/>
          </a:stretch>
        </p:blipFill>
        <p:spPr>
          <a:xfrm>
            <a:off x="7104380" y="3155950"/>
            <a:ext cx="4446905" cy="1809750"/>
          </a:xfrm>
          <a:prstGeom prst="rect">
            <a:avLst/>
          </a:prstGeom>
        </p:spPr>
      </p:pic>
      <p:sp>
        <p:nvSpPr>
          <p:cNvPr id="14" name="文本占位符 2"/>
          <p:cNvSpPr txBox="1"/>
          <p:nvPr/>
        </p:nvSpPr>
        <p:spPr>
          <a:xfrm>
            <a:off x="1201395" y="4080257"/>
            <a:ext cx="4300238"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a:buFont typeface="Arial" panose="020B0604020202020204" pitchFamily="34" charset="0"/>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举个栗子：</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16" name="文本框 15"/>
          <p:cNvSpPr txBox="1"/>
          <p:nvPr/>
        </p:nvSpPr>
        <p:spPr>
          <a:xfrm>
            <a:off x="2351652" y="4397158"/>
            <a:ext cx="2624705" cy="708399"/>
          </a:xfrm>
          <a:prstGeom prst="rect">
            <a:avLst/>
          </a:prstGeom>
          <a:noFill/>
        </p:spPr>
        <p:txBody>
          <a:bodyPr wrap="square">
            <a:spAutoFit/>
          </a:bodyPr>
          <a:lstStyle/>
          <a:p>
            <a:pPr algn="l">
              <a:lnSpc>
                <a:spcPct val="150000"/>
              </a:lnSpc>
              <a:buFont typeface="+mj-lt"/>
              <a:buAutoNum type="arabicPeriod"/>
            </a:pPr>
            <a:r>
              <a:rPr lang="zh-CN" altLang="en-US" sz="1400" dirty="0">
                <a:solidFill>
                  <a:srgbClr val="333333"/>
                </a:solidFill>
                <a:latin typeface="Alibaba PuHuiTi" pitchFamily="18" charset="-122"/>
                <a:ea typeface="Alibaba PuHuiTi" pitchFamily="18" charset="-122"/>
                <a:cs typeface="Alibaba PuHuiTi" pitchFamily="18" charset="-122"/>
              </a:rPr>
              <a:t>数据</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 </a:t>
            </a:r>
            <a:r>
              <a:rPr lang="el-GR" altLang="zh-CN" sz="1400" b="0" i="0" u="none" strike="noStrike" dirty="0">
                <a:solidFill>
                  <a:srgbClr val="333333"/>
                </a:solidFill>
                <a:effectLst/>
                <a:latin typeface="Alibaba PuHuiTi" pitchFamily="18" charset="-122"/>
                <a:ea typeface="Alibaba PuHuiTi" pitchFamily="18" charset="-122"/>
                <a:cs typeface="Alibaba PuHuiTi" pitchFamily="18" charset="-122"/>
              </a:rPr>
              <a:t>α</a:t>
            </a:r>
            <a:r>
              <a:rPr lang="zh-CN" altLang="el-GR" sz="1400" b="0" i="0" u="none" strike="noStrike" dirty="0">
                <a:solidFill>
                  <a:srgbClr val="333333"/>
                </a:solidFill>
                <a:effectLst/>
                <a:latin typeface="Alibaba PuHuiTi" pitchFamily="18" charset="-122"/>
                <a:ea typeface="Alibaba PuHuiTi" pitchFamily="18" charset="-122"/>
                <a:cs typeface="Alibaba PuHuiTi" pitchFamily="18" charset="-122"/>
              </a:rPr>
              <a:t>：</a:t>
            </a:r>
            <a:r>
              <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rPr>
              <a:t>ABCDEFGH</a:t>
            </a:r>
            <a:endPar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endParaRPr>
          </a:p>
          <a:p>
            <a:pPr algn="l">
              <a:lnSpc>
                <a:spcPct val="150000"/>
              </a:lnSpc>
              <a:buFont typeface="+mj-lt"/>
              <a:buAutoNum type="arabicPeriod"/>
            </a:pPr>
            <a:r>
              <a:rPr lang="zh-CN" altLang="en-US" sz="1400" dirty="0">
                <a:solidFill>
                  <a:srgbClr val="333333"/>
                </a:solidFill>
                <a:latin typeface="Alibaba PuHuiTi" pitchFamily="18" charset="-122"/>
                <a:ea typeface="Alibaba PuHuiTi" pitchFamily="18" charset="-122"/>
                <a:cs typeface="Alibaba PuHuiTi" pitchFamily="18" charset="-122"/>
              </a:rPr>
              <a:t>数据</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 </a:t>
            </a:r>
            <a:r>
              <a:rPr lang="el-GR" altLang="zh-CN" sz="1400" b="0" i="0" u="none" strike="noStrike" dirty="0">
                <a:solidFill>
                  <a:srgbClr val="333333"/>
                </a:solidFill>
                <a:effectLst/>
                <a:latin typeface="Alibaba PuHuiTi" pitchFamily="18" charset="-122"/>
                <a:ea typeface="Alibaba PuHuiTi" pitchFamily="18" charset="-122"/>
                <a:cs typeface="Alibaba PuHuiTi" pitchFamily="18" charset="-122"/>
              </a:rPr>
              <a:t>β</a:t>
            </a:r>
            <a:r>
              <a:rPr lang="zh-CN" altLang="el-GR" sz="1400" b="0" i="0" u="none" strike="noStrike" dirty="0">
                <a:solidFill>
                  <a:srgbClr val="333333"/>
                </a:solidFill>
                <a:effectLst/>
                <a:latin typeface="Alibaba PuHuiTi" pitchFamily="18" charset="-122"/>
                <a:ea typeface="Alibaba PuHuiTi" pitchFamily="18" charset="-122"/>
                <a:cs typeface="Alibaba PuHuiTi" pitchFamily="18" charset="-122"/>
              </a:rPr>
              <a:t>：</a:t>
            </a:r>
            <a:r>
              <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rPr>
              <a:t>AAAABBCD </a:t>
            </a:r>
            <a:endPar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endParaRPr>
          </a:p>
        </p:txBody>
      </p:sp>
      <p:sp>
        <p:nvSpPr>
          <p:cNvPr id="18" name="文本框 17"/>
          <p:cNvSpPr txBox="1"/>
          <p:nvPr/>
        </p:nvSpPr>
        <p:spPr>
          <a:xfrm>
            <a:off x="1317435" y="5222937"/>
            <a:ext cx="8229967" cy="737235"/>
          </a:xfrm>
          <a:prstGeom prst="rect">
            <a:avLst/>
          </a:prstGeom>
          <a:noFill/>
        </p:spPr>
        <p:txBody>
          <a:bodyPr wrap="square">
            <a:spAutoFit/>
          </a:bodyPr>
          <a:lstStyle/>
          <a:p>
            <a:r>
              <a:rPr lang="zh-CN" altLang="en-US" sz="1400" dirty="0">
                <a:solidFill>
                  <a:srgbClr val="333333"/>
                </a:solidFill>
                <a:latin typeface="Alibaba PuHuiTi" pitchFamily="18" charset="-122"/>
                <a:ea typeface="Alibaba PuHuiTi" pitchFamily="18" charset="-122"/>
                <a:cs typeface="Alibaba PuHuiTi" pitchFamily="18" charset="-122"/>
              </a:rPr>
              <a:t>数据</a:t>
            </a:r>
            <a:r>
              <a:rPr lang="el-GR" altLang="zh-CN" sz="1400" b="0" i="0" u="none" strike="noStrike" dirty="0">
                <a:solidFill>
                  <a:srgbClr val="333333"/>
                </a:solidFill>
                <a:effectLst/>
                <a:latin typeface="Alibaba PuHuiTi" pitchFamily="18" charset="-122"/>
                <a:ea typeface="Alibaba PuHuiTi" pitchFamily="18" charset="-122"/>
                <a:cs typeface="Alibaba PuHuiTi" pitchFamily="18" charset="-122"/>
              </a:rPr>
              <a:t>α </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包含了 </a:t>
            </a:r>
            <a:r>
              <a:rPr lang="en-US" altLang="zh-CN"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8 </a:t>
            </a:r>
            <a:r>
              <a:rPr lang="zh-CN" altLang="en-US"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种信息</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a:t>
            </a:r>
            <a:r>
              <a:rPr lang="zh-CN" altLang="en-US" sz="1400" dirty="0">
                <a:solidFill>
                  <a:srgbClr val="333333"/>
                </a:solidFill>
                <a:latin typeface="Alibaba PuHuiTi" pitchFamily="18" charset="-122"/>
                <a:ea typeface="Alibaba PuHuiTi" pitchFamily="18" charset="-122"/>
                <a:cs typeface="Alibaba PuHuiTi" pitchFamily="18" charset="-122"/>
              </a:rPr>
              <a:t>数据</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 </a:t>
            </a:r>
            <a:r>
              <a:rPr lang="el-GR" altLang="zh-CN" sz="1400" b="0" i="0" u="none" strike="noStrike" dirty="0">
                <a:solidFill>
                  <a:srgbClr val="333333"/>
                </a:solidFill>
                <a:effectLst/>
                <a:latin typeface="Alibaba PuHuiTi" pitchFamily="18" charset="-122"/>
                <a:ea typeface="Alibaba PuHuiTi" pitchFamily="18" charset="-122"/>
                <a:cs typeface="Alibaba PuHuiTi" pitchFamily="18" charset="-122"/>
              </a:rPr>
              <a:t>β </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包含了 </a:t>
            </a:r>
            <a:r>
              <a:rPr lang="en-US" altLang="zh-CN"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4 </a:t>
            </a:r>
            <a:r>
              <a:rPr lang="zh-CN" altLang="en-US"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种信息</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a:t>
            </a:r>
            <a:endPar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endParaRPr>
          </a:p>
          <a:p>
            <a:r>
              <a:rPr lang="zh-CN" altLang="en-US" sz="1400" dirty="0">
                <a:latin typeface="Alibaba PuHuiTi" pitchFamily="18" charset="-122"/>
                <a:ea typeface="Alibaba PuHuiTi" pitchFamily="18" charset="-122"/>
                <a:cs typeface="Alibaba PuHuiTi" pitchFamily="18" charset="-122"/>
              </a:rPr>
              <a:t>数据</a:t>
            </a:r>
            <a:r>
              <a:rPr lang="en-US" altLang="zh-CN" sz="1400" dirty="0">
                <a:latin typeface="Alibaba PuHuiTi" pitchFamily="18" charset="-122"/>
                <a:ea typeface="Alibaba PuHuiTi" pitchFamily="18" charset="-122"/>
                <a:cs typeface="Alibaba PuHuiTi" pitchFamily="18" charset="-122"/>
              </a:rPr>
              <a:t> α </a:t>
            </a:r>
            <a:r>
              <a:rPr lang="zh-CN" altLang="en-US" sz="1400" dirty="0">
                <a:latin typeface="Alibaba PuHuiTi" pitchFamily="18" charset="-122"/>
                <a:ea typeface="Alibaba PuHuiTi" pitchFamily="18" charset="-122"/>
                <a:cs typeface="Alibaba PuHuiTi" pitchFamily="18" charset="-122"/>
              </a:rPr>
              <a:t>的熵更高（更</a:t>
            </a:r>
            <a:r>
              <a:rPr lang="en-US" altLang="zh-CN"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混乱</a:t>
            </a:r>
            <a:r>
              <a:rPr lang="en-US" altLang="zh-CN"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或</a:t>
            </a:r>
            <a:r>
              <a:rPr lang="en-US" altLang="zh-CN"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不可预测</a:t>
            </a:r>
            <a:r>
              <a:rPr lang="en-US" altLang="zh-CN"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a:t>
            </a:r>
            <a:endParaRPr lang="en-US" altLang="zh-CN" sz="1400" dirty="0">
              <a:latin typeface="Alibaba PuHuiTi" pitchFamily="18" charset="-122"/>
              <a:ea typeface="Alibaba PuHuiTi" pitchFamily="18" charset="-122"/>
              <a:cs typeface="Alibaba PuHuiTi" pitchFamily="18" charset="-122"/>
            </a:endParaRPr>
          </a:p>
          <a:p>
            <a:r>
              <a:rPr lang="zh-CN" altLang="en-US" sz="1400" dirty="0">
                <a:latin typeface="Alibaba PuHuiTi" pitchFamily="18" charset="-122"/>
                <a:ea typeface="Alibaba PuHuiTi" pitchFamily="18" charset="-122"/>
                <a:cs typeface="Alibaba PuHuiTi" pitchFamily="18" charset="-122"/>
              </a:rPr>
              <a:t>数据</a:t>
            </a:r>
            <a:r>
              <a:rPr lang="en-US" altLang="zh-CN" sz="1400" dirty="0">
                <a:latin typeface="Alibaba PuHuiTi" pitchFamily="18" charset="-122"/>
                <a:ea typeface="Alibaba PuHuiTi" pitchFamily="18" charset="-122"/>
                <a:cs typeface="Alibaba PuHuiTi" pitchFamily="18" charset="-122"/>
              </a:rPr>
              <a:t> β </a:t>
            </a:r>
            <a:r>
              <a:rPr lang="zh-CN" altLang="en-US" sz="1400" dirty="0">
                <a:latin typeface="Alibaba PuHuiTi" pitchFamily="18" charset="-122"/>
                <a:ea typeface="Alibaba PuHuiTi" pitchFamily="18" charset="-122"/>
                <a:cs typeface="Alibaba PuHuiTi" pitchFamily="18" charset="-122"/>
              </a:rPr>
              <a:t>因重复字符多，熵更低（更</a:t>
            </a:r>
            <a:r>
              <a:rPr lang="en-US" altLang="zh-CN"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有序</a:t>
            </a:r>
            <a:r>
              <a:rPr lang="en-US" altLang="zh-CN"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），适合压缩编码（如用更少比特表示</a:t>
            </a:r>
            <a:r>
              <a:rPr lang="en-US" altLang="zh-CN" sz="1400" dirty="0">
                <a:latin typeface="Alibaba PuHuiTi" pitchFamily="18" charset="-122"/>
                <a:ea typeface="Alibaba PuHuiTi" pitchFamily="18" charset="-122"/>
                <a:cs typeface="Alibaba PuHuiTi" pitchFamily="18" charset="-122"/>
              </a:rPr>
              <a:t>A</a:t>
            </a:r>
            <a:r>
              <a:rPr lang="zh-CN" altLang="en-US" sz="1400" dirty="0">
                <a:latin typeface="Alibaba PuHuiTi" pitchFamily="18" charset="-122"/>
                <a:ea typeface="Alibaba PuHuiTi" pitchFamily="18" charset="-122"/>
                <a:cs typeface="Alibaba PuHuiTi" pitchFamily="18" charset="-122"/>
              </a:rPr>
              <a:t>、</a:t>
            </a:r>
            <a:r>
              <a:rPr lang="en-US" altLang="zh-CN" sz="1400" dirty="0">
                <a:latin typeface="Alibaba PuHuiTi" pitchFamily="18" charset="-122"/>
                <a:ea typeface="Alibaba PuHuiTi" pitchFamily="18" charset="-122"/>
                <a:cs typeface="Alibaba PuHuiTi" pitchFamily="18" charset="-122"/>
              </a:rPr>
              <a:t>B</a:t>
            </a:r>
            <a:r>
              <a:rPr lang="zh-CN" altLang="en-US" sz="1400" dirty="0">
                <a:latin typeface="Alibaba PuHuiTi" pitchFamily="18" charset="-122"/>
                <a:ea typeface="Alibaba PuHuiTi" pitchFamily="18" charset="-122"/>
                <a:cs typeface="Alibaba PuHuiTi" pitchFamily="18" charset="-122"/>
              </a:rPr>
              <a:t>）。</a:t>
            </a:r>
            <a:endParaRPr lang="zh-CN" altLang="en-US" sz="1400" dirty="0">
              <a:latin typeface="Alibaba PuHuiTi" pitchFamily="18" charset="-122"/>
              <a:ea typeface="Alibaba PuHuiTi" pitchFamily="18" charset="-122"/>
              <a:cs typeface="Alibaba PuHuiTi" pitchFamily="18" charset="-122"/>
            </a:endParaRPr>
          </a:p>
        </p:txBody>
      </p:sp>
      <p:pic>
        <p:nvPicPr>
          <p:cNvPr id="11" name="图片 10"/>
          <p:cNvPicPr>
            <a:picLocks noChangeAspect="1"/>
          </p:cNvPicPr>
          <p:nvPr/>
        </p:nvPicPr>
        <p:blipFill>
          <a:blip r:embed="rId2"/>
          <a:stretch>
            <a:fillRect/>
          </a:stretch>
        </p:blipFill>
        <p:spPr>
          <a:xfrm>
            <a:off x="6971030" y="1451610"/>
            <a:ext cx="4875530" cy="15970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信息熵</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186164" y="1477822"/>
            <a:ext cx="5301723"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计算方法</a:t>
            </a:r>
            <a:endParaRPr kumimoji="0" lang="zh-CN" altLang="en-GB" sz="16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p:txBody>
      </p:sp>
      <p:sp>
        <p:nvSpPr>
          <p:cNvPr id="9" name="文本占位符 2"/>
          <p:cNvSpPr txBox="1"/>
          <p:nvPr/>
        </p:nvSpPr>
        <p:spPr>
          <a:xfrm>
            <a:off x="1598953" y="4597816"/>
            <a:ext cx="5199412" cy="89490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endParaRPr>
          </a:p>
        </p:txBody>
      </p:sp>
      <mc:AlternateContent xmlns:mc="http://schemas.openxmlformats.org/markup-compatibility/2006">
        <mc:Choice xmlns:a14="http://schemas.microsoft.com/office/drawing/2010/main" Requires="a14">
          <p:sp>
            <p:nvSpPr>
              <p:cNvPr id="22" name="文本占位符 2"/>
              <p:cNvSpPr txBox="1"/>
              <p:nvPr/>
            </p:nvSpPr>
            <p:spPr>
              <a:xfrm>
                <a:off x="1513113" y="2067771"/>
                <a:ext cx="9578816" cy="74099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lvl="0" indent="-285750">
                  <a:buFont typeface="Arial" panose="020B0604020202020204" pitchFamily="34" charset="0"/>
                  <a:buChar char="•"/>
                  <a:defRPr/>
                </a:pPr>
                <a:r>
                  <a:rPr lang="en-US" altLang="zh-CN" sz="1400" dirty="0">
                    <a:solidFill>
                      <a:srgbClr val="333333"/>
                    </a:solidFill>
                    <a:latin typeface="Alibaba PuHuiTi" pitchFamily="18" charset="-122"/>
                    <a:ea typeface="Alibaba PuHuiTi" pitchFamily="18" charset="-122"/>
                    <a:cs typeface="Alibaba PuHuiTi" pitchFamily="18" charset="-122"/>
                  </a:rPr>
                  <a:t>H(x)</a:t>
                </a:r>
                <a:r>
                  <a:rPr lang="zh-CN" altLang="en-US" sz="1400" dirty="0">
                    <a:solidFill>
                      <a:srgbClr val="333333"/>
                    </a:solidFill>
                    <a:latin typeface="Alibaba PuHuiTi" pitchFamily="18" charset="-122"/>
                    <a:ea typeface="Alibaba PuHuiTi" pitchFamily="18" charset="-122"/>
                    <a:cs typeface="Alibaba PuHuiTi" pitchFamily="18" charset="-122"/>
                  </a:rPr>
                  <a:t> </a:t>
                </a:r>
                <a:r>
                  <a:rPr lang="en-US" altLang="zh-CN" sz="1400" dirty="0">
                    <a:solidFill>
                      <a:srgbClr val="333333"/>
                    </a:solidFill>
                    <a:latin typeface="Alibaba PuHuiTi" pitchFamily="18" charset="-122"/>
                    <a:ea typeface="Alibaba PuHuiTi" pitchFamily="18" charset="-122"/>
                    <a:cs typeface="Alibaba PuHuiTi" pitchFamily="18" charset="-122"/>
                  </a:rPr>
                  <a:t>=</a:t>
                </a:r>
                <a:r>
                  <a:rPr lang="zh-CN" altLang="en-US" sz="1400" dirty="0">
                    <a:solidFill>
                      <a:srgbClr val="333333"/>
                    </a:solidFill>
                    <a:latin typeface="Alibaba PuHuiTi" pitchFamily="18" charset="-122"/>
                    <a:ea typeface="Alibaba PuHuiTi" pitchFamily="18" charset="-122"/>
                    <a:cs typeface="Alibaba PuHuiTi" pitchFamily="18" charset="-122"/>
                  </a:rPr>
                  <a:t> </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 </a:t>
                </a:r>
                <a14:m>
                  <m:oMath xmlns:m="http://schemas.openxmlformats.org/officeDocument/2006/math">
                    <m:nary>
                      <m:naryPr>
                        <m:chr m:val="∑"/>
                        <m:ctrlPr>
                          <a:rPr lang="zh-CN" altLang="en-US" sz="1400" i="1" smtClean="0">
                            <a:solidFill>
                              <a:schemeClr val="tx1">
                                <a:lumMod val="85000"/>
                                <a:lumOff val="15000"/>
                              </a:schemeClr>
                            </a:solidFill>
                            <a:latin typeface="Cambria Math" panose="02040503050406030204" pitchFamily="18" charset="0"/>
                            <a:ea typeface="Alibaba PuHuiTi" pitchFamily="18" charset="-122"/>
                            <a:cs typeface="Alibaba PuHuiTi" pitchFamily="18" charset="-122"/>
                          </a:rPr>
                        </m:ctrlPr>
                      </m:naryPr>
                      <m:sub>
                        <m:r>
                          <m:rPr>
                            <m:brk m:alnAt="23"/>
                          </m:rPr>
                          <a:rPr lang="en-US" altLang="zh-CN" sz="1400" b="0" i="1" smtClean="0">
                            <a:solidFill>
                              <a:schemeClr val="tx1">
                                <a:lumMod val="85000"/>
                                <a:lumOff val="15000"/>
                              </a:schemeClr>
                            </a:solidFill>
                            <a:latin typeface="Cambria Math" panose="02040503050406030204" pitchFamily="18" charset="0"/>
                            <a:ea typeface="Alibaba PuHuiTi" pitchFamily="18" charset="-122"/>
                            <a:cs typeface="Alibaba PuHuiTi" pitchFamily="18" charset="-122"/>
                          </a:rPr>
                          <m:t>𝑖</m:t>
                        </m:r>
                        <m:r>
                          <a:rPr lang="en-US" altLang="zh-CN" sz="1400" b="0" i="1" smtClean="0">
                            <a:solidFill>
                              <a:schemeClr val="tx1">
                                <a:lumMod val="85000"/>
                                <a:lumOff val="15000"/>
                              </a:schemeClr>
                            </a:solidFill>
                            <a:latin typeface="Cambria Math" panose="02040503050406030204" pitchFamily="18" charset="0"/>
                            <a:ea typeface="Alibaba PuHuiTi" pitchFamily="18" charset="-122"/>
                            <a:cs typeface="Alibaba PuHuiTi" pitchFamily="18" charset="-122"/>
                          </a:rPr>
                          <m:t>=</m:t>
                        </m:r>
                        <m:r>
                          <a:rPr lang="en-US" altLang="zh-CN" sz="1400" b="0" i="1" smtClean="0">
                            <a:solidFill>
                              <a:schemeClr val="tx1">
                                <a:lumMod val="85000"/>
                                <a:lumOff val="15000"/>
                              </a:schemeClr>
                            </a:solidFill>
                            <a:latin typeface="Cambria Math" panose="02040503050406030204" pitchFamily="18" charset="0"/>
                            <a:ea typeface="Alibaba PuHuiTi" pitchFamily="18" charset="-122"/>
                            <a:cs typeface="Alibaba PuHuiTi" pitchFamily="18" charset="-122"/>
                          </a:rPr>
                          <m:t>0</m:t>
                        </m:r>
                      </m:sub>
                      <m:sup>
                        <m:r>
                          <a:rPr lang="en-US" altLang="zh-CN" sz="1400" b="0" i="1" smtClean="0">
                            <a:solidFill>
                              <a:schemeClr val="tx1">
                                <a:lumMod val="85000"/>
                                <a:lumOff val="15000"/>
                              </a:schemeClr>
                            </a:solidFill>
                            <a:latin typeface="Cambria Math" panose="02040503050406030204" pitchFamily="18" charset="0"/>
                            <a:ea typeface="Alibaba PuHuiTi" pitchFamily="18" charset="-122"/>
                            <a:cs typeface="Alibaba PuHuiTi" pitchFamily="18" charset="-122"/>
                          </a:rPr>
                          <m:t>𝑛</m:t>
                        </m:r>
                      </m:sup>
                      <m:e>
                        <m:r>
                          <a:rPr lang="en-US" altLang="zh-CN" sz="1400" b="0" i="1" smtClean="0">
                            <a:solidFill>
                              <a:schemeClr val="tx1">
                                <a:lumMod val="85000"/>
                                <a:lumOff val="15000"/>
                              </a:schemeClr>
                            </a:solidFill>
                            <a:latin typeface="Cambria Math" panose="02040503050406030204" pitchFamily="18" charset="0"/>
                            <a:ea typeface="Alibaba PuHuiTi" pitchFamily="18" charset="-122"/>
                            <a:cs typeface="Alibaba PuHuiTi" pitchFamily="18" charset="-122"/>
                          </a:rPr>
                          <m:t>𝑃</m:t>
                        </m:r>
                        <m:d>
                          <m:dPr>
                            <m:ctrlPr>
                              <a:rPr lang="en-US" altLang="zh-CN" sz="1400" b="0" i="1" smtClean="0">
                                <a:solidFill>
                                  <a:schemeClr val="tx1">
                                    <a:lumMod val="85000"/>
                                    <a:lumOff val="15000"/>
                                  </a:schemeClr>
                                </a:solidFill>
                                <a:latin typeface="Cambria Math" panose="02040503050406030204" pitchFamily="18" charset="0"/>
                                <a:ea typeface="Alibaba PuHuiTi" pitchFamily="18" charset="-122"/>
                                <a:cs typeface="Alibaba PuHuiTi" pitchFamily="18" charset="-122"/>
                              </a:rPr>
                            </m:ctrlPr>
                          </m:dPr>
                          <m:e>
                            <m:sSub>
                              <m:sSubPr>
                                <m:ctrlPr>
                                  <a:rPr lang="en-US" altLang="zh-CN" sz="1400" i="1">
                                    <a:solidFill>
                                      <a:schemeClr val="tx1">
                                        <a:lumMod val="85000"/>
                                        <a:lumOff val="15000"/>
                                      </a:schemeClr>
                                    </a:solidFill>
                                    <a:latin typeface="Cambria Math" panose="02040503050406030204" pitchFamily="18" charset="0"/>
                                    <a:ea typeface="Alibaba PuHuiTi" pitchFamily="18" charset="-122"/>
                                    <a:cs typeface="Alibaba PuHuiTi" pitchFamily="18" charset="-122"/>
                                  </a:rPr>
                                </m:ctrlPr>
                              </m:sSubPr>
                              <m:e>
                                <m:r>
                                  <a:rPr lang="en-US" altLang="zh-CN" sz="1400" i="1">
                                    <a:solidFill>
                                      <a:schemeClr val="tx1">
                                        <a:lumMod val="85000"/>
                                        <a:lumOff val="15000"/>
                                      </a:schemeClr>
                                    </a:solidFill>
                                    <a:latin typeface="Cambria Math" panose="02040503050406030204" pitchFamily="18" charset="0"/>
                                    <a:ea typeface="Alibaba PuHuiTi" pitchFamily="18" charset="-122"/>
                                    <a:cs typeface="Alibaba PuHuiTi" pitchFamily="18" charset="-122"/>
                                  </a:rPr>
                                  <m:t>𝑥</m:t>
                                </m:r>
                              </m:e>
                              <m:sub>
                                <m:r>
                                  <a:rPr lang="en-US" altLang="zh-CN" sz="1400" i="1">
                                    <a:solidFill>
                                      <a:schemeClr val="tx1">
                                        <a:lumMod val="85000"/>
                                        <a:lumOff val="15000"/>
                                      </a:schemeClr>
                                    </a:solidFill>
                                    <a:latin typeface="Cambria Math" panose="02040503050406030204" pitchFamily="18" charset="0"/>
                                    <a:ea typeface="Alibaba PuHuiTi" pitchFamily="18" charset="-122"/>
                                    <a:cs typeface="Alibaba PuHuiTi" pitchFamily="18" charset="-122"/>
                                  </a:rPr>
                                  <m:t>𝑖</m:t>
                                </m:r>
                              </m:sub>
                            </m:sSub>
                          </m:e>
                        </m:d>
                        <m:func>
                          <m:funcPr>
                            <m:ctrlPr>
                              <a:rPr lang="en-US" altLang="zh-CN" sz="1400" b="0" i="1" smtClean="0">
                                <a:solidFill>
                                  <a:schemeClr val="tx1">
                                    <a:lumMod val="85000"/>
                                    <a:lumOff val="15000"/>
                                  </a:schemeClr>
                                </a:solidFill>
                                <a:latin typeface="Cambria Math" panose="02040503050406030204" pitchFamily="18" charset="0"/>
                                <a:ea typeface="Alibaba PuHuiTi" pitchFamily="18" charset="-122"/>
                                <a:cs typeface="Alibaba PuHuiTi" pitchFamily="18" charset="-122"/>
                              </a:rPr>
                            </m:ctrlPr>
                          </m:funcPr>
                          <m:fName>
                            <m:sSub>
                              <m:sSubPr>
                                <m:ctrlPr>
                                  <a:rPr lang="en-US" altLang="zh-CN" sz="1400" b="0" i="1" smtClean="0">
                                    <a:solidFill>
                                      <a:schemeClr val="tx1">
                                        <a:lumMod val="85000"/>
                                        <a:lumOff val="15000"/>
                                      </a:schemeClr>
                                    </a:solidFill>
                                    <a:latin typeface="Cambria Math" panose="02040503050406030204" pitchFamily="18" charset="0"/>
                                    <a:ea typeface="Alibaba PuHuiTi" pitchFamily="18" charset="-122"/>
                                    <a:cs typeface="Alibaba PuHuiTi" pitchFamily="18" charset="-122"/>
                                  </a:rPr>
                                </m:ctrlPr>
                              </m:sSubPr>
                              <m:e>
                                <m:r>
                                  <m:rPr>
                                    <m:sty m:val="p"/>
                                  </m:rPr>
                                  <a:rPr lang="en-US" altLang="zh-CN" sz="1400" b="0" i="0" smtClean="0">
                                    <a:solidFill>
                                      <a:schemeClr val="tx1">
                                        <a:lumMod val="85000"/>
                                        <a:lumOff val="15000"/>
                                      </a:schemeClr>
                                    </a:solidFill>
                                    <a:latin typeface="Cambria Math" panose="02040503050406030204" pitchFamily="18" charset="0"/>
                                    <a:ea typeface="Alibaba PuHuiTi" pitchFamily="18" charset="-122"/>
                                    <a:cs typeface="Alibaba PuHuiTi" pitchFamily="18" charset="-122"/>
                                  </a:rPr>
                                  <m:t>log</m:t>
                                </m:r>
                              </m:e>
                              <m:sub>
                                <m:r>
                                  <a:rPr lang="en-US" altLang="zh-CN" sz="1400" b="0" i="1" smtClean="0">
                                    <a:solidFill>
                                      <a:schemeClr val="tx1">
                                        <a:lumMod val="85000"/>
                                        <a:lumOff val="15000"/>
                                      </a:schemeClr>
                                    </a:solidFill>
                                    <a:latin typeface="Cambria Math" panose="02040503050406030204" pitchFamily="18" charset="0"/>
                                    <a:ea typeface="Alibaba PuHuiTi" pitchFamily="18" charset="-122"/>
                                    <a:cs typeface="Alibaba PuHuiTi" pitchFamily="18" charset="-122"/>
                                  </a:rPr>
                                  <m:t>2</m:t>
                                </m:r>
                              </m:sub>
                            </m:sSub>
                          </m:fName>
                          <m:e>
                            <m:r>
                              <a:rPr lang="en-US" altLang="zh-CN" sz="1400" b="0" i="1" smtClean="0">
                                <a:solidFill>
                                  <a:schemeClr val="tx1">
                                    <a:lumMod val="85000"/>
                                    <a:lumOff val="15000"/>
                                  </a:schemeClr>
                                </a:solidFill>
                                <a:latin typeface="Cambria Math" panose="02040503050406030204" pitchFamily="18" charset="0"/>
                                <a:ea typeface="Alibaba PuHuiTi" pitchFamily="18" charset="-122"/>
                                <a:cs typeface="Alibaba PuHuiTi" pitchFamily="18" charset="-122"/>
                              </a:rPr>
                              <m:t>𝑃</m:t>
                            </m:r>
                            <m:r>
                              <a:rPr lang="en-US" altLang="zh-CN" sz="1400" b="0" i="1" smtClean="0">
                                <a:solidFill>
                                  <a:schemeClr val="tx1">
                                    <a:lumMod val="85000"/>
                                    <a:lumOff val="15000"/>
                                  </a:schemeClr>
                                </a:solidFill>
                                <a:latin typeface="Cambria Math" panose="02040503050406030204" pitchFamily="18" charset="0"/>
                                <a:ea typeface="Alibaba PuHuiTi" pitchFamily="18" charset="-122"/>
                                <a:cs typeface="Alibaba PuHuiTi" pitchFamily="18" charset="-122"/>
                              </a:rPr>
                              <m:t>(</m:t>
                            </m:r>
                            <m:sSub>
                              <m:sSubPr>
                                <m:ctrlPr>
                                  <a:rPr lang="en-US" altLang="zh-CN" sz="1400" i="1">
                                    <a:solidFill>
                                      <a:schemeClr val="tx1">
                                        <a:lumMod val="85000"/>
                                        <a:lumOff val="15000"/>
                                      </a:schemeClr>
                                    </a:solidFill>
                                    <a:latin typeface="Cambria Math" panose="02040503050406030204" pitchFamily="18" charset="0"/>
                                    <a:ea typeface="Alibaba PuHuiTi" pitchFamily="18" charset="-122"/>
                                    <a:cs typeface="Alibaba PuHuiTi" pitchFamily="18" charset="-122"/>
                                  </a:rPr>
                                </m:ctrlPr>
                              </m:sSubPr>
                              <m:e>
                                <m:r>
                                  <a:rPr lang="en-US" altLang="zh-CN" sz="1400" i="1">
                                    <a:solidFill>
                                      <a:schemeClr val="tx1">
                                        <a:lumMod val="85000"/>
                                        <a:lumOff val="15000"/>
                                      </a:schemeClr>
                                    </a:solidFill>
                                    <a:latin typeface="Cambria Math" panose="02040503050406030204" pitchFamily="18" charset="0"/>
                                    <a:ea typeface="Alibaba PuHuiTi" pitchFamily="18" charset="-122"/>
                                    <a:cs typeface="Alibaba PuHuiTi" pitchFamily="18" charset="-122"/>
                                  </a:rPr>
                                  <m:t>𝑥</m:t>
                                </m:r>
                              </m:e>
                              <m:sub>
                                <m:r>
                                  <a:rPr lang="en-US" altLang="zh-CN" sz="1400" i="1">
                                    <a:solidFill>
                                      <a:schemeClr val="tx1">
                                        <a:lumMod val="85000"/>
                                        <a:lumOff val="15000"/>
                                      </a:schemeClr>
                                    </a:solidFill>
                                    <a:latin typeface="Cambria Math" panose="02040503050406030204" pitchFamily="18" charset="0"/>
                                    <a:ea typeface="Alibaba PuHuiTi" pitchFamily="18" charset="-122"/>
                                    <a:cs typeface="Alibaba PuHuiTi" pitchFamily="18" charset="-122"/>
                                  </a:rPr>
                                  <m:t>𝑖</m:t>
                                </m:r>
                              </m:sub>
                            </m:sSub>
                            <m:r>
                              <a:rPr lang="en-US" altLang="zh-CN" sz="1400" b="0" i="1" smtClean="0">
                                <a:solidFill>
                                  <a:schemeClr val="tx1">
                                    <a:lumMod val="85000"/>
                                    <a:lumOff val="15000"/>
                                  </a:schemeClr>
                                </a:solidFill>
                                <a:latin typeface="Cambria Math" panose="02040503050406030204" pitchFamily="18" charset="0"/>
                                <a:ea typeface="Alibaba PuHuiTi" pitchFamily="18" charset="-122"/>
                                <a:cs typeface="Alibaba PuHuiTi" pitchFamily="18" charset="-122"/>
                              </a:rPr>
                              <m:t>)</m:t>
                            </m:r>
                          </m:e>
                        </m:func>
                        <m:r>
                          <a:rPr lang="zh-CN" altLang="en-US" sz="1400" b="0" i="1" smtClean="0">
                            <a:solidFill>
                              <a:schemeClr val="tx1">
                                <a:lumMod val="85000"/>
                                <a:lumOff val="15000"/>
                              </a:schemeClr>
                            </a:solidFill>
                            <a:latin typeface="Cambria Math" panose="02040503050406030204" pitchFamily="18" charset="0"/>
                            <a:ea typeface="Alibaba PuHuiTi" pitchFamily="18" charset="-122"/>
                            <a:cs typeface="Alibaba PuHuiTi" pitchFamily="18" charset="-122"/>
                          </a:rPr>
                          <m:t> </m:t>
                        </m:r>
                      </m:e>
                    </m:nary>
                  </m:oMath>
                </a14:m>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  </a:t>
                </a:r>
                <a:endParaRPr kumimoji="0" lang="en-US"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a:p>
                <a:pPr marL="285750" lvl="0" indent="-285750">
                  <a:buFont typeface="Arial" panose="020B0604020202020204" pitchFamily="34" charset="0"/>
                  <a:buChar char="•"/>
                  <a:defRPr/>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其中 </a:t>
                </a:r>
                <a:r>
                  <a:rPr lang="en-GB" altLang="zh-CN" sz="1400" dirty="0">
                    <a:latin typeface="Alibaba PuHuiTi" pitchFamily="18" charset="-122"/>
                    <a:ea typeface="Alibaba PuHuiTi" pitchFamily="18" charset="-122"/>
                    <a:cs typeface="Alibaba PuHuiTi" pitchFamily="18" charset="-122"/>
                  </a:rPr>
                  <a:t>P(x</a:t>
                </a:r>
                <a:r>
                  <a:rPr lang="en-GB" altLang="zh-CN" sz="1400" baseline="-25000" dirty="0">
                    <a:latin typeface="Alibaba PuHuiTi" pitchFamily="18" charset="-122"/>
                    <a:ea typeface="Alibaba PuHuiTi" pitchFamily="18" charset="-122"/>
                    <a:cs typeface="Alibaba PuHuiTi" pitchFamily="18" charset="-122"/>
                  </a:rPr>
                  <a:t>i</a:t>
                </a:r>
                <a:r>
                  <a:rPr lang="en-GB" altLang="zh-CN" sz="1400" dirty="0">
                    <a:latin typeface="Alibaba PuHuiTi" pitchFamily="18" charset="-122"/>
                    <a:ea typeface="Alibaba PuHuiTi" pitchFamily="18" charset="-122"/>
                    <a:cs typeface="Alibaba PuHuiTi" pitchFamily="18" charset="-122"/>
                  </a:rPr>
                  <a:t>) </a:t>
                </a:r>
                <a:r>
                  <a:rPr lang="zh-CN" altLang="en-US" sz="1400" dirty="0">
                    <a:latin typeface="Alibaba PuHuiTi" pitchFamily="18" charset="-122"/>
                    <a:ea typeface="Alibaba PuHuiTi" pitchFamily="18" charset="-122"/>
                    <a:cs typeface="Alibaba PuHuiTi" pitchFamily="18" charset="-122"/>
                  </a:rPr>
                  <a:t>表示数据中类别出现的概率，</a:t>
                </a:r>
                <a:r>
                  <a:rPr lang="en-GB" altLang="zh-CN" sz="1400" dirty="0">
                    <a:latin typeface="Alibaba PuHuiTi" pitchFamily="18" charset="-122"/>
                    <a:ea typeface="Alibaba PuHuiTi" pitchFamily="18" charset="-122"/>
                    <a:cs typeface="Alibaba PuHuiTi" pitchFamily="18" charset="-122"/>
                  </a:rPr>
                  <a:t>H(x) </a:t>
                </a:r>
                <a:r>
                  <a:rPr lang="zh-CN" altLang="en-US" sz="1400" dirty="0">
                    <a:latin typeface="Alibaba PuHuiTi" pitchFamily="18" charset="-122"/>
                    <a:ea typeface="Alibaba PuHuiTi" pitchFamily="18" charset="-122"/>
                    <a:cs typeface="Alibaba PuHuiTi" pitchFamily="18" charset="-122"/>
                  </a:rPr>
                  <a:t>表示信息的信息熵值</a:t>
                </a:r>
                <a:endParaRPr lang="zh-CN" altLang="en-US" sz="1400" dirty="0">
                  <a:latin typeface="Alibaba PuHuiTi" pitchFamily="18" charset="-122"/>
                  <a:ea typeface="Alibaba PuHuiTi" pitchFamily="18" charset="-122"/>
                  <a:cs typeface="Alibaba PuHuiTi" pitchFamily="18" charset="-122"/>
                </a:endParaRPr>
              </a:p>
            </p:txBody>
          </p:sp>
        </mc:Choice>
        <mc:Fallback>
          <p:sp>
            <p:nvSpPr>
              <p:cNvPr id="22" name="文本占位符 2"/>
              <p:cNvSpPr txBox="1">
                <a:spLocks noRot="1" noChangeAspect="1" noMove="1" noResize="1" noEditPoints="1" noAdjustHandles="1" noChangeArrowheads="1" noChangeShapeType="1" noTextEdit="1"/>
              </p:cNvSpPr>
              <p:nvPr/>
            </p:nvSpPr>
            <p:spPr>
              <a:xfrm>
                <a:off x="1513113" y="2067771"/>
                <a:ext cx="9578816" cy="740998"/>
              </a:xfrm>
              <a:prstGeom prst="rect">
                <a:avLst/>
              </a:prstGeom>
              <a:blipFill rotWithShape="1">
                <a:blip r:embed="rId1"/>
                <a:stretch>
                  <a:fillRect l="-6" t="-28" r="4" b="-10861"/>
                </a:stretch>
              </a:blipFill>
            </p:spPr>
            <p:txBody>
              <a:bodyPr/>
              <a:lstStyle/>
              <a:p>
                <a:r>
                  <a:rPr lang="zh-CN" altLang="en-US">
                    <a:noFill/>
                  </a:rPr>
                  <a:t> </a:t>
                </a:r>
              </a:p>
            </p:txBody>
          </p:sp>
        </mc:Fallback>
      </mc:AlternateContent>
      <p:sp>
        <p:nvSpPr>
          <p:cNvPr id="14" name="文本占位符 2"/>
          <p:cNvSpPr txBox="1"/>
          <p:nvPr/>
        </p:nvSpPr>
        <p:spPr>
          <a:xfrm>
            <a:off x="1186164" y="3079750"/>
            <a:ext cx="9492723"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栗子</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1-1</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：计算</a:t>
            </a:r>
            <a:r>
              <a:rPr kumimoji="0" lang="zh-CN" altLang="en-US" sz="1600" kern="1200" cap="none" spc="0" normalizeH="0" baseline="0" noProof="0" dirty="0">
                <a:ln>
                  <a:noFill/>
                </a:ln>
                <a:solidFill>
                  <a:srgbClr val="333333"/>
                </a:solidFill>
                <a:uLnTx/>
                <a:uFillTx/>
                <a:latin typeface="Alibaba PuHuiTi" pitchFamily="18" charset="-122"/>
                <a:ea typeface="Alibaba PuHuiTi" pitchFamily="18" charset="-122"/>
                <a:cs typeface="Alibaba PuHuiTi" pitchFamily="18" charset="-122"/>
              </a:rPr>
              <a:t>数据</a:t>
            </a:r>
            <a:r>
              <a:rPr lang="zh-CN" altLang="en-US" b="0" i="0" u="none" strike="noStrike" dirty="0">
                <a:solidFill>
                  <a:srgbClr val="333333"/>
                </a:solidFill>
                <a:effectLst/>
                <a:latin typeface="Alibaba PuHuiTi" pitchFamily="18" charset="-122"/>
                <a:ea typeface="Alibaba PuHuiTi" pitchFamily="18" charset="-122"/>
                <a:cs typeface="Alibaba PuHuiTi" pitchFamily="18" charset="-122"/>
              </a:rPr>
              <a:t> </a:t>
            </a:r>
            <a:r>
              <a:rPr lang="el-GR" altLang="zh-CN" b="0" i="0" u="none" strike="noStrike" dirty="0">
                <a:solidFill>
                  <a:srgbClr val="333333"/>
                </a:solidFill>
                <a:effectLst/>
                <a:latin typeface="Alibaba PuHuiTi" pitchFamily="18" charset="-122"/>
                <a:ea typeface="Alibaba PuHuiTi" pitchFamily="18" charset="-122"/>
                <a:cs typeface="Alibaba PuHuiTi" pitchFamily="18" charset="-122"/>
              </a:rPr>
              <a:t>α</a:t>
            </a:r>
            <a:r>
              <a:rPr lang="zh-CN" altLang="el-GR" b="0" i="0" u="none" strike="noStrike" dirty="0">
                <a:solidFill>
                  <a:srgbClr val="333333"/>
                </a:solidFill>
                <a:effectLst/>
                <a:latin typeface="Alibaba PuHuiTi" pitchFamily="18" charset="-122"/>
                <a:ea typeface="Alibaba PuHuiTi" pitchFamily="18" charset="-122"/>
                <a:cs typeface="Alibaba PuHuiTi" pitchFamily="18" charset="-122"/>
              </a:rPr>
              <a:t>（</a:t>
            </a:r>
            <a:r>
              <a:rPr lang="en-GB" altLang="zh-CN" b="0" i="0" u="none" strike="noStrike" dirty="0">
                <a:solidFill>
                  <a:srgbClr val="333333"/>
                </a:solidFill>
                <a:effectLst/>
                <a:latin typeface="Alibaba PuHuiTi" pitchFamily="18" charset="-122"/>
                <a:ea typeface="Alibaba PuHuiTi" pitchFamily="18" charset="-122"/>
                <a:cs typeface="Alibaba PuHuiTi" pitchFamily="18" charset="-122"/>
              </a:rPr>
              <a:t>ABCDEFGH</a:t>
            </a:r>
            <a:r>
              <a:rPr lang="zh-CN" altLang="en-GB" b="0" i="0" u="none" strike="noStrike" dirty="0">
                <a:solidFill>
                  <a:srgbClr val="333333"/>
                </a:solidFill>
                <a:effectLst/>
                <a:latin typeface="Alibaba PuHuiTi" pitchFamily="18" charset="-122"/>
                <a:ea typeface="Alibaba PuHuiTi" pitchFamily="18" charset="-122"/>
                <a:cs typeface="Alibaba PuHuiTi" pitchFamily="18" charset="-122"/>
              </a:rPr>
              <a:t>） </a:t>
            </a:r>
            <a:r>
              <a:rPr lang="zh-CN" altLang="en-US" dirty="0">
                <a:solidFill>
                  <a:srgbClr val="333333"/>
                </a:solidFill>
                <a:latin typeface="Alibaba PuHuiTi" pitchFamily="18" charset="-122"/>
                <a:ea typeface="Alibaba PuHuiTi" pitchFamily="18" charset="-122"/>
                <a:cs typeface="Alibaba PuHuiTi" pitchFamily="18" charset="-122"/>
              </a:rPr>
              <a:t>信息熵，其中</a:t>
            </a:r>
            <a:r>
              <a:rPr lang="en-GB" altLang="zh-CN" b="0" i="0" u="none" strike="noStrike" dirty="0">
                <a:solidFill>
                  <a:srgbClr val="333333"/>
                </a:solidFill>
                <a:effectLst/>
                <a:latin typeface="Alibaba PuHuiTi" pitchFamily="18" charset="-122"/>
                <a:ea typeface="Alibaba PuHuiTi" pitchFamily="18" charset="-122"/>
                <a:cs typeface="Alibaba PuHuiTi" pitchFamily="18" charset="-122"/>
              </a:rPr>
              <a:t>A</a:t>
            </a:r>
            <a:r>
              <a:rPr lang="zh-CN" altLang="en-GB" b="0" i="0" u="none" strike="noStrike" dirty="0">
                <a:solidFill>
                  <a:srgbClr val="333333"/>
                </a:solidFill>
                <a:effectLst/>
                <a:latin typeface="Alibaba PuHuiTi" pitchFamily="18" charset="-122"/>
                <a:ea typeface="Alibaba PuHuiTi" pitchFamily="18" charset="-122"/>
                <a:cs typeface="Alibaba PuHuiTi" pitchFamily="18" charset="-122"/>
              </a:rPr>
              <a:t>、</a:t>
            </a:r>
            <a:r>
              <a:rPr lang="en-GB" altLang="zh-CN" b="0" i="0" u="none" strike="noStrike" dirty="0">
                <a:solidFill>
                  <a:srgbClr val="333333"/>
                </a:solidFill>
                <a:effectLst/>
                <a:latin typeface="Alibaba PuHuiTi" pitchFamily="18" charset="-122"/>
                <a:ea typeface="Alibaba PuHuiTi" pitchFamily="18" charset="-122"/>
                <a:cs typeface="Alibaba PuHuiTi" pitchFamily="18" charset="-122"/>
              </a:rPr>
              <a:t>B</a:t>
            </a:r>
            <a:r>
              <a:rPr lang="zh-CN" altLang="en-GB" b="0" i="0" u="none" strike="noStrike" dirty="0">
                <a:solidFill>
                  <a:srgbClr val="333333"/>
                </a:solidFill>
                <a:effectLst/>
                <a:latin typeface="Alibaba PuHuiTi" pitchFamily="18" charset="-122"/>
                <a:ea typeface="Alibaba PuHuiTi" pitchFamily="18" charset="-122"/>
                <a:cs typeface="Alibaba PuHuiTi" pitchFamily="18" charset="-122"/>
              </a:rPr>
              <a:t>、</a:t>
            </a:r>
            <a:r>
              <a:rPr lang="en-GB" altLang="zh-CN" b="0" i="0" u="none" strike="noStrike" dirty="0">
                <a:solidFill>
                  <a:srgbClr val="333333"/>
                </a:solidFill>
                <a:effectLst/>
                <a:latin typeface="Alibaba PuHuiTi" pitchFamily="18" charset="-122"/>
                <a:ea typeface="Alibaba PuHuiTi" pitchFamily="18" charset="-122"/>
                <a:cs typeface="Alibaba PuHuiTi" pitchFamily="18" charset="-122"/>
              </a:rPr>
              <a:t>C</a:t>
            </a:r>
            <a:r>
              <a:rPr lang="zh-CN" altLang="en-GB" b="0" i="0" u="none" strike="noStrike" dirty="0">
                <a:solidFill>
                  <a:srgbClr val="333333"/>
                </a:solidFill>
                <a:effectLst/>
                <a:latin typeface="Alibaba PuHuiTi" pitchFamily="18" charset="-122"/>
                <a:ea typeface="Alibaba PuHuiTi" pitchFamily="18" charset="-122"/>
                <a:cs typeface="Alibaba PuHuiTi" pitchFamily="18" charset="-122"/>
              </a:rPr>
              <a:t>、</a:t>
            </a:r>
            <a:r>
              <a:rPr lang="en-GB" altLang="zh-CN" b="0" i="0" u="none" strike="noStrike" dirty="0">
                <a:solidFill>
                  <a:srgbClr val="333333"/>
                </a:solidFill>
                <a:effectLst/>
                <a:latin typeface="Alibaba PuHuiTi" pitchFamily="18" charset="-122"/>
                <a:ea typeface="Alibaba PuHuiTi" pitchFamily="18" charset="-122"/>
                <a:cs typeface="Alibaba PuHuiTi" pitchFamily="18" charset="-122"/>
              </a:rPr>
              <a:t>D</a:t>
            </a:r>
            <a:r>
              <a:rPr lang="zh-CN" altLang="en-GB" b="0" i="0" u="none" strike="noStrike" dirty="0">
                <a:solidFill>
                  <a:srgbClr val="333333"/>
                </a:solidFill>
                <a:effectLst/>
                <a:latin typeface="Alibaba PuHuiTi" pitchFamily="18" charset="-122"/>
                <a:ea typeface="Alibaba PuHuiTi" pitchFamily="18" charset="-122"/>
                <a:cs typeface="Alibaba PuHuiTi" pitchFamily="18" charset="-122"/>
              </a:rPr>
              <a:t>、</a:t>
            </a:r>
            <a:r>
              <a:rPr lang="en-GB" altLang="zh-CN" b="0" i="0" u="none" strike="noStrike" dirty="0">
                <a:solidFill>
                  <a:srgbClr val="333333"/>
                </a:solidFill>
                <a:effectLst/>
                <a:latin typeface="Alibaba PuHuiTi" pitchFamily="18" charset="-122"/>
                <a:ea typeface="Alibaba PuHuiTi" pitchFamily="18" charset="-122"/>
                <a:cs typeface="Alibaba PuHuiTi" pitchFamily="18" charset="-122"/>
              </a:rPr>
              <a:t>E</a:t>
            </a:r>
            <a:r>
              <a:rPr lang="zh-CN" altLang="en-GB" b="0" i="0" u="none" strike="noStrike" dirty="0">
                <a:solidFill>
                  <a:srgbClr val="333333"/>
                </a:solidFill>
                <a:effectLst/>
                <a:latin typeface="Alibaba PuHuiTi" pitchFamily="18" charset="-122"/>
                <a:ea typeface="Alibaba PuHuiTi" pitchFamily="18" charset="-122"/>
                <a:cs typeface="Alibaba PuHuiTi" pitchFamily="18" charset="-122"/>
              </a:rPr>
              <a:t>、</a:t>
            </a:r>
            <a:r>
              <a:rPr lang="en-GB" altLang="zh-CN" b="0" i="0" u="none" strike="noStrike" dirty="0">
                <a:solidFill>
                  <a:srgbClr val="333333"/>
                </a:solidFill>
                <a:effectLst/>
                <a:latin typeface="Alibaba PuHuiTi" pitchFamily="18" charset="-122"/>
                <a:ea typeface="Alibaba PuHuiTi" pitchFamily="18" charset="-122"/>
                <a:cs typeface="Alibaba PuHuiTi" pitchFamily="18" charset="-122"/>
              </a:rPr>
              <a:t>F</a:t>
            </a:r>
            <a:r>
              <a:rPr lang="zh-CN" altLang="en-GB" b="0" i="0" u="none" strike="noStrike" dirty="0">
                <a:solidFill>
                  <a:srgbClr val="333333"/>
                </a:solidFill>
                <a:effectLst/>
                <a:latin typeface="Alibaba PuHuiTi" pitchFamily="18" charset="-122"/>
                <a:ea typeface="Alibaba PuHuiTi" pitchFamily="18" charset="-122"/>
                <a:cs typeface="Alibaba PuHuiTi" pitchFamily="18" charset="-122"/>
              </a:rPr>
              <a:t>、</a:t>
            </a:r>
            <a:r>
              <a:rPr lang="en-GB" altLang="zh-CN" b="0" i="0" u="none" strike="noStrike" dirty="0">
                <a:solidFill>
                  <a:srgbClr val="333333"/>
                </a:solidFill>
                <a:effectLst/>
                <a:latin typeface="Alibaba PuHuiTi" pitchFamily="18" charset="-122"/>
                <a:ea typeface="Alibaba PuHuiTi" pitchFamily="18" charset="-122"/>
                <a:cs typeface="Alibaba PuHuiTi" pitchFamily="18" charset="-122"/>
              </a:rPr>
              <a:t>G</a:t>
            </a:r>
            <a:r>
              <a:rPr lang="zh-CN" altLang="en-GB" b="0" i="0" u="none" strike="noStrike" dirty="0">
                <a:solidFill>
                  <a:srgbClr val="333333"/>
                </a:solidFill>
                <a:effectLst/>
                <a:latin typeface="Alibaba PuHuiTi" pitchFamily="18" charset="-122"/>
                <a:ea typeface="Alibaba PuHuiTi" pitchFamily="18" charset="-122"/>
                <a:cs typeface="Alibaba PuHuiTi" pitchFamily="18" charset="-122"/>
              </a:rPr>
              <a:t>、</a:t>
            </a:r>
            <a:r>
              <a:rPr lang="en-GB" altLang="zh-CN" b="0" i="0" u="none" strike="noStrike" dirty="0">
                <a:solidFill>
                  <a:srgbClr val="333333"/>
                </a:solidFill>
                <a:effectLst/>
                <a:latin typeface="Alibaba PuHuiTi" pitchFamily="18" charset="-122"/>
                <a:ea typeface="Alibaba PuHuiTi" pitchFamily="18" charset="-122"/>
                <a:cs typeface="Alibaba PuHuiTi" pitchFamily="18" charset="-122"/>
              </a:rPr>
              <a:t>H </a:t>
            </a:r>
            <a:r>
              <a:rPr lang="zh-CN" altLang="en-US" b="0" i="0" u="none" strike="noStrike" dirty="0">
                <a:solidFill>
                  <a:srgbClr val="333333"/>
                </a:solidFill>
                <a:effectLst/>
                <a:latin typeface="Alibaba PuHuiTi" pitchFamily="18" charset="-122"/>
                <a:ea typeface="Alibaba PuHuiTi" pitchFamily="18" charset="-122"/>
                <a:cs typeface="Alibaba PuHuiTi" pitchFamily="18" charset="-122"/>
              </a:rPr>
              <a:t>出现的概率为：</a:t>
            </a:r>
            <a:r>
              <a:rPr lang="en-US" altLang="zh-CN" b="0" i="0" u="none" strike="noStrike" dirty="0">
                <a:solidFill>
                  <a:srgbClr val="333333"/>
                </a:solidFill>
                <a:effectLst/>
                <a:latin typeface="Alibaba PuHuiTi" pitchFamily="18" charset="-122"/>
                <a:ea typeface="Alibaba PuHuiTi" pitchFamily="18" charset="-122"/>
                <a:cs typeface="Alibaba PuHuiTi" pitchFamily="18" charset="-122"/>
              </a:rPr>
              <a:t>1/8</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mc:AlternateContent xmlns:mc="http://schemas.openxmlformats.org/markup-compatibility/2006">
        <mc:Choice xmlns:a14="http://schemas.microsoft.com/office/drawing/2010/main" Requires="a14">
          <p:sp>
            <p:nvSpPr>
              <p:cNvPr id="5" name="文本占位符 2"/>
              <p:cNvSpPr txBox="1"/>
              <p:nvPr/>
            </p:nvSpPr>
            <p:spPr>
              <a:xfrm>
                <a:off x="1787522" y="3537629"/>
                <a:ext cx="5984877" cy="89490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lvl="0" indent="-285750">
                  <a:buFont typeface="Arial" panose="020B0604020202020204" pitchFamily="34" charset="0"/>
                  <a:buChar char="•"/>
                  <a:defRPr/>
                </a:pPr>
                <a:r>
                  <a:rPr lang="en-US" altLang="zh-CN" sz="1400" dirty="0">
                    <a:solidFill>
                      <a:srgbClr val="333333"/>
                    </a:solidFill>
                    <a:latin typeface="Alibaba PuHuiTi" pitchFamily="18" charset="-122"/>
                    <a:ea typeface="Alibaba PuHuiTi" pitchFamily="18" charset="-122"/>
                    <a:cs typeface="Alibaba PuHuiTi" pitchFamily="18" charset="-122"/>
                  </a:rPr>
                  <a:t>H(</a:t>
                </a:r>
                <a:r>
                  <a:rPr lang="el-GR" altLang="zh-CN" sz="1400" dirty="0">
                    <a:solidFill>
                      <a:srgbClr val="333333"/>
                    </a:solidFill>
                    <a:latin typeface="Alibaba PuHuiTi" pitchFamily="18" charset="-122"/>
                    <a:ea typeface="Alibaba PuHuiTi" pitchFamily="18" charset="-122"/>
                    <a:cs typeface="Alibaba PuHuiTi" pitchFamily="18" charset="-122"/>
                  </a:rPr>
                  <a:t>α</a:t>
                </a:r>
                <a:r>
                  <a:rPr lang="en-US" altLang="zh-CN" sz="1400" dirty="0">
                    <a:solidFill>
                      <a:srgbClr val="333333"/>
                    </a:solidFill>
                    <a:latin typeface="Alibaba PuHuiTi" pitchFamily="18" charset="-122"/>
                    <a:ea typeface="Alibaba PuHuiTi" pitchFamily="18" charset="-122"/>
                    <a:cs typeface="Alibaba PuHuiTi" pitchFamily="18" charset="-122"/>
                  </a:rPr>
                  <a:t>)</a:t>
                </a:r>
                <a:r>
                  <a:rPr lang="zh-CN" altLang="en-US" sz="1400" dirty="0">
                    <a:solidFill>
                      <a:srgbClr val="333333"/>
                    </a:solidFill>
                    <a:latin typeface="Alibaba PuHuiTi" pitchFamily="18" charset="-122"/>
                    <a:ea typeface="Alibaba PuHuiTi" pitchFamily="18" charset="-122"/>
                    <a:cs typeface="Alibaba PuHuiTi" pitchFamily="18" charset="-122"/>
                  </a:rPr>
                  <a:t> </a:t>
                </a:r>
                <a:r>
                  <a:rPr lang="en-US" altLang="zh-CN" sz="1400" dirty="0">
                    <a:solidFill>
                      <a:srgbClr val="333333"/>
                    </a:solidFill>
                    <a:latin typeface="Alibaba PuHuiTi" pitchFamily="18" charset="-122"/>
                    <a:ea typeface="Alibaba PuHuiTi" pitchFamily="18" charset="-122"/>
                    <a:cs typeface="Alibaba PuHuiTi" pitchFamily="18" charset="-122"/>
                  </a:rPr>
                  <a:t>=</a:t>
                </a:r>
                <a:r>
                  <a:rPr lang="zh-CN" altLang="en-US" sz="1400" dirty="0">
                    <a:solidFill>
                      <a:srgbClr val="333333"/>
                    </a:solidFill>
                    <a:latin typeface="Alibaba PuHuiTi" pitchFamily="18" charset="-122"/>
                    <a:ea typeface="Alibaba PuHuiTi" pitchFamily="18" charset="-122"/>
                    <a:cs typeface="Alibaba PuHuiTi" pitchFamily="18" charset="-122"/>
                  </a:rPr>
                  <a:t> </a:t>
                </a:r>
                <a:r>
                  <a:rPr lang="en-US" altLang="zh-CN" sz="1400" dirty="0">
                    <a:solidFill>
                      <a:srgbClr val="333333"/>
                    </a:solidFill>
                    <a:latin typeface="Alibaba PuHuiTi" pitchFamily="18" charset="-122"/>
                    <a:ea typeface="Alibaba PuHuiTi" pitchFamily="18" charset="-122"/>
                    <a:cs typeface="Alibaba PuHuiTi" pitchFamily="18" charset="-122"/>
                  </a:rPr>
                  <a:t>-</a:t>
                </a:r>
                <a:r>
                  <a:rPr lang="zh-CN" altLang="en-US" sz="1400" dirty="0">
                    <a:solidFill>
                      <a:srgbClr val="333333"/>
                    </a:solidFill>
                    <a:latin typeface="Alibaba PuHuiTi" pitchFamily="18" charset="-122"/>
                    <a:ea typeface="Alibaba PuHuiTi" pitchFamily="18" charset="-122"/>
                    <a:cs typeface="Alibaba PuHuiTi" pitchFamily="18" charset="-122"/>
                  </a:rPr>
                  <a:t> </a:t>
                </a:r>
                <a14:m>
                  <m:oMath xmlns:m="http://schemas.openxmlformats.org/officeDocument/2006/math">
                    <m:nary>
                      <m:naryPr>
                        <m:chr m:val="∑"/>
                        <m:ctrlPr>
                          <a:rPr lang="zh-CN" altLang="en-US" sz="1400" i="1" smtClean="0">
                            <a:solidFill>
                              <a:srgbClr val="333333"/>
                            </a:solidFill>
                            <a:latin typeface="Cambria Math" panose="02040503050406030204" pitchFamily="18" charset="0"/>
                            <a:ea typeface="Alibaba PuHuiTi" pitchFamily="18" charset="-122"/>
                            <a:cs typeface="Alibaba PuHuiTi" pitchFamily="18" charset="-122"/>
                          </a:rPr>
                        </m:ctrlPr>
                      </m:naryPr>
                      <m:sub>
                        <m:r>
                          <m:rPr>
                            <m:brk m:alnAt="23"/>
                          </m:rPr>
                          <a:rPr lang="en-US" altLang="zh-CN" sz="1400" b="0" i="1" smtClean="0">
                            <a:solidFill>
                              <a:srgbClr val="333333"/>
                            </a:solidFill>
                            <a:latin typeface="Cambria Math" panose="02040503050406030204" pitchFamily="18" charset="0"/>
                            <a:ea typeface="Alibaba PuHuiTi" pitchFamily="18" charset="-122"/>
                            <a:cs typeface="Alibaba PuHuiTi" pitchFamily="18" charset="-122"/>
                          </a:rPr>
                          <m:t>𝑖</m:t>
                        </m:r>
                        <m:r>
                          <a:rPr lang="en-US" altLang="zh-CN" sz="1400" b="0" i="1" smtClean="0">
                            <a:solidFill>
                              <a:srgbClr val="333333"/>
                            </a:solidFill>
                            <a:latin typeface="Cambria Math" panose="02040503050406030204" pitchFamily="18" charset="0"/>
                            <a:ea typeface="Alibaba PuHuiTi" pitchFamily="18" charset="-122"/>
                            <a:cs typeface="Alibaba PuHuiTi" pitchFamily="18" charset="-122"/>
                          </a:rPr>
                          <m:t>=</m:t>
                        </m:r>
                        <m:r>
                          <a:rPr lang="en-US" altLang="zh-CN" sz="1400" b="0" i="1" smtClean="0">
                            <a:solidFill>
                              <a:srgbClr val="333333"/>
                            </a:solidFill>
                            <a:latin typeface="Cambria Math" panose="02040503050406030204" pitchFamily="18" charset="0"/>
                            <a:ea typeface="Alibaba PuHuiTi" pitchFamily="18" charset="-122"/>
                            <a:cs typeface="Alibaba PuHuiTi" pitchFamily="18" charset="-122"/>
                          </a:rPr>
                          <m:t>0</m:t>
                        </m:r>
                      </m:sub>
                      <m:sup>
                        <m:r>
                          <a:rPr lang="en-US" altLang="zh-CN" sz="1400" b="0" i="1" smtClean="0">
                            <a:solidFill>
                              <a:srgbClr val="333333"/>
                            </a:solidFill>
                            <a:latin typeface="Cambria Math" panose="02040503050406030204" pitchFamily="18" charset="0"/>
                            <a:ea typeface="Alibaba PuHuiTi" pitchFamily="18" charset="-122"/>
                            <a:cs typeface="Alibaba PuHuiTi" pitchFamily="18" charset="-122"/>
                          </a:rPr>
                          <m:t>𝑛</m:t>
                        </m:r>
                      </m:sup>
                      <m:e>
                        <m:r>
                          <a:rPr lang="en-US" altLang="zh-CN" sz="1400" b="0" i="1" smtClean="0">
                            <a:solidFill>
                              <a:srgbClr val="333333"/>
                            </a:solidFill>
                            <a:latin typeface="Cambria Math" panose="02040503050406030204" pitchFamily="18" charset="0"/>
                            <a:ea typeface="Alibaba PuHuiTi" pitchFamily="18" charset="-122"/>
                            <a:cs typeface="Alibaba PuHuiTi" pitchFamily="18" charset="-122"/>
                          </a:rPr>
                          <m:t>𝑃</m:t>
                        </m:r>
                        <m:d>
                          <m:dPr>
                            <m:ctrlPr>
                              <a:rPr lang="en-US" altLang="zh-CN" sz="1400" b="0" i="1" smtClean="0">
                                <a:solidFill>
                                  <a:srgbClr val="333333"/>
                                </a:solidFill>
                                <a:latin typeface="Cambria Math" panose="02040503050406030204" pitchFamily="18" charset="0"/>
                                <a:ea typeface="Alibaba PuHuiTi" pitchFamily="18" charset="-122"/>
                                <a:cs typeface="Alibaba PuHuiTi" pitchFamily="18" charset="-122"/>
                              </a:rPr>
                            </m:ctrlPr>
                          </m:dPr>
                          <m:e>
                            <m:sSub>
                              <m:sSubPr>
                                <m:ctrlPr>
                                  <a:rPr lang="en-US" altLang="zh-CN" sz="1400" i="1">
                                    <a:solidFill>
                                      <a:srgbClr val="333333"/>
                                    </a:solidFill>
                                    <a:latin typeface="Cambria Math" panose="02040503050406030204" pitchFamily="18" charset="0"/>
                                    <a:ea typeface="Alibaba PuHuiTi" pitchFamily="18" charset="-122"/>
                                    <a:cs typeface="Alibaba PuHuiTi" pitchFamily="18" charset="-122"/>
                                  </a:rPr>
                                </m:ctrlPr>
                              </m:sSubPr>
                              <m:e>
                                <m:r>
                                  <a:rPr lang="en-US" altLang="zh-CN" sz="1400" i="1">
                                    <a:solidFill>
                                      <a:srgbClr val="333333"/>
                                    </a:solidFill>
                                    <a:latin typeface="Cambria Math" panose="02040503050406030204" pitchFamily="18" charset="0"/>
                                    <a:ea typeface="Alibaba PuHuiTi" pitchFamily="18" charset="-122"/>
                                    <a:cs typeface="Alibaba PuHuiTi" pitchFamily="18" charset="-122"/>
                                  </a:rPr>
                                  <m:t>𝑥</m:t>
                                </m:r>
                              </m:e>
                              <m:sub>
                                <m:r>
                                  <a:rPr lang="en-US" altLang="zh-CN" sz="1400" i="1">
                                    <a:solidFill>
                                      <a:srgbClr val="333333"/>
                                    </a:solidFill>
                                    <a:latin typeface="Cambria Math" panose="02040503050406030204" pitchFamily="18" charset="0"/>
                                    <a:ea typeface="Alibaba PuHuiTi" pitchFamily="18" charset="-122"/>
                                    <a:cs typeface="Alibaba PuHuiTi" pitchFamily="18" charset="-122"/>
                                  </a:rPr>
                                  <m:t>𝑖</m:t>
                                </m:r>
                              </m:sub>
                            </m:sSub>
                          </m:e>
                        </m:d>
                        <m:func>
                          <m:funcPr>
                            <m:ctrlPr>
                              <a:rPr lang="en-US" altLang="zh-CN" sz="1400" b="0" i="1" smtClean="0">
                                <a:solidFill>
                                  <a:srgbClr val="333333"/>
                                </a:solidFill>
                                <a:latin typeface="Cambria Math" panose="02040503050406030204" pitchFamily="18" charset="0"/>
                                <a:ea typeface="Alibaba PuHuiTi" pitchFamily="18" charset="-122"/>
                                <a:cs typeface="Alibaba PuHuiTi" pitchFamily="18" charset="-122"/>
                              </a:rPr>
                            </m:ctrlPr>
                          </m:funcPr>
                          <m:fName>
                            <m:sSub>
                              <m:sSubPr>
                                <m:ctrlPr>
                                  <a:rPr lang="en-US" altLang="zh-CN" sz="1400" b="0" i="1" smtClean="0">
                                    <a:solidFill>
                                      <a:srgbClr val="333333"/>
                                    </a:solidFill>
                                    <a:latin typeface="Cambria Math" panose="02040503050406030204" pitchFamily="18" charset="0"/>
                                    <a:ea typeface="Alibaba PuHuiTi" pitchFamily="18" charset="-122"/>
                                    <a:cs typeface="Alibaba PuHuiTi" pitchFamily="18" charset="-122"/>
                                  </a:rPr>
                                </m:ctrlPr>
                              </m:sSubPr>
                              <m:e>
                                <m:r>
                                  <m:rPr>
                                    <m:sty m:val="p"/>
                                  </m:rPr>
                                  <a:rPr lang="en-US" altLang="zh-CN" sz="1400" b="0" i="0" smtClean="0">
                                    <a:solidFill>
                                      <a:srgbClr val="333333"/>
                                    </a:solidFill>
                                    <a:latin typeface="Cambria Math" panose="02040503050406030204" pitchFamily="18" charset="0"/>
                                    <a:ea typeface="Alibaba PuHuiTi" pitchFamily="18" charset="-122"/>
                                    <a:cs typeface="Alibaba PuHuiTi" pitchFamily="18" charset="-122"/>
                                  </a:rPr>
                                  <m:t>log</m:t>
                                </m:r>
                              </m:e>
                              <m:sub>
                                <m:r>
                                  <a:rPr lang="en-US" altLang="zh-CN" sz="1400" b="0" i="1" smtClean="0">
                                    <a:solidFill>
                                      <a:srgbClr val="333333"/>
                                    </a:solidFill>
                                    <a:latin typeface="Cambria Math" panose="02040503050406030204" pitchFamily="18" charset="0"/>
                                    <a:ea typeface="Alibaba PuHuiTi" pitchFamily="18" charset="-122"/>
                                    <a:cs typeface="Alibaba PuHuiTi" pitchFamily="18" charset="-122"/>
                                  </a:rPr>
                                  <m:t>2</m:t>
                                </m:r>
                              </m:sub>
                            </m:sSub>
                          </m:fName>
                          <m:e>
                            <m:r>
                              <a:rPr lang="en-US" altLang="zh-CN" sz="1400" b="0" i="1" smtClean="0">
                                <a:solidFill>
                                  <a:srgbClr val="333333"/>
                                </a:solidFill>
                                <a:latin typeface="Cambria Math" panose="02040503050406030204" pitchFamily="18" charset="0"/>
                                <a:ea typeface="Alibaba PuHuiTi" pitchFamily="18" charset="-122"/>
                                <a:cs typeface="Alibaba PuHuiTi" pitchFamily="18" charset="-122"/>
                              </a:rPr>
                              <m:t>𝑃</m:t>
                            </m:r>
                            <m:r>
                              <a:rPr lang="en-US" altLang="zh-CN" sz="1400" b="0" i="1" smtClean="0">
                                <a:solidFill>
                                  <a:srgbClr val="333333"/>
                                </a:solidFill>
                                <a:latin typeface="Cambria Math" panose="02040503050406030204" pitchFamily="18" charset="0"/>
                                <a:ea typeface="Alibaba PuHuiTi" pitchFamily="18" charset="-122"/>
                                <a:cs typeface="Alibaba PuHuiTi" pitchFamily="18" charset="-122"/>
                              </a:rPr>
                              <m:t>(</m:t>
                            </m:r>
                            <m:sSub>
                              <m:sSubPr>
                                <m:ctrlPr>
                                  <a:rPr lang="en-US" altLang="zh-CN" sz="1400" i="1">
                                    <a:solidFill>
                                      <a:srgbClr val="333333"/>
                                    </a:solidFill>
                                    <a:latin typeface="Cambria Math" panose="02040503050406030204" pitchFamily="18" charset="0"/>
                                    <a:ea typeface="Alibaba PuHuiTi" pitchFamily="18" charset="-122"/>
                                    <a:cs typeface="Alibaba PuHuiTi" pitchFamily="18" charset="-122"/>
                                  </a:rPr>
                                </m:ctrlPr>
                              </m:sSubPr>
                              <m:e>
                                <m:r>
                                  <a:rPr lang="en-US" altLang="zh-CN" sz="1400" i="1">
                                    <a:solidFill>
                                      <a:srgbClr val="333333"/>
                                    </a:solidFill>
                                    <a:latin typeface="Cambria Math" panose="02040503050406030204" pitchFamily="18" charset="0"/>
                                    <a:ea typeface="Alibaba PuHuiTi" pitchFamily="18" charset="-122"/>
                                    <a:cs typeface="Alibaba PuHuiTi" pitchFamily="18" charset="-122"/>
                                  </a:rPr>
                                  <m:t>𝑥</m:t>
                                </m:r>
                              </m:e>
                              <m:sub>
                                <m:r>
                                  <a:rPr lang="en-US" altLang="zh-CN" sz="1400" i="1">
                                    <a:solidFill>
                                      <a:srgbClr val="333333"/>
                                    </a:solidFill>
                                    <a:latin typeface="Cambria Math" panose="02040503050406030204" pitchFamily="18" charset="0"/>
                                    <a:ea typeface="Alibaba PuHuiTi" pitchFamily="18" charset="-122"/>
                                    <a:cs typeface="Alibaba PuHuiTi" pitchFamily="18" charset="-122"/>
                                  </a:rPr>
                                  <m:t>𝑖</m:t>
                                </m:r>
                              </m:sub>
                            </m:sSub>
                            <m:r>
                              <a:rPr lang="en-US" altLang="zh-CN" sz="1400" b="0" i="1" smtClean="0">
                                <a:solidFill>
                                  <a:srgbClr val="333333"/>
                                </a:solidFill>
                                <a:latin typeface="Cambria Math" panose="02040503050406030204" pitchFamily="18" charset="0"/>
                                <a:ea typeface="Alibaba PuHuiTi" pitchFamily="18" charset="-122"/>
                                <a:cs typeface="Alibaba PuHuiTi" pitchFamily="18" charset="-122"/>
                              </a:rPr>
                              <m:t>)</m:t>
                            </m:r>
                          </m:e>
                        </m:func>
                        <m:r>
                          <a:rPr lang="zh-CN" altLang="en-US" sz="1400" b="0" i="1" smtClean="0">
                            <a:solidFill>
                              <a:srgbClr val="333333"/>
                            </a:solidFill>
                            <a:latin typeface="Cambria Math" panose="02040503050406030204" pitchFamily="18" charset="0"/>
                            <a:ea typeface="Alibaba PuHuiTi" pitchFamily="18" charset="-122"/>
                            <a:cs typeface="Alibaba PuHuiTi" pitchFamily="18" charset="-122"/>
                          </a:rPr>
                          <m:t> </m:t>
                        </m:r>
                      </m:e>
                    </m:nary>
                  </m:oMath>
                </a14:m>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 </a:t>
                </a:r>
                <a14:m>
                  <m:oMath xmlns:m="http://schemas.openxmlformats.org/officeDocument/2006/math">
                    <m:r>
                      <a:rPr kumimoji="0" lang="en-US" altLang="zh-CN" sz="1400" b="0" i="0" u="none" strike="noStrike" kern="1200" cap="none" spc="0" normalizeH="0" baseline="0" noProof="0" smtClean="0">
                        <a:ln>
                          <a:noFill/>
                        </a:ln>
                        <a:solidFill>
                          <a:schemeClr val="accent2">
                            <a:lumMod val="75000"/>
                          </a:schemeClr>
                        </a:solidFill>
                        <a:effectLst/>
                        <a:uLnTx/>
                        <a:uFillTx/>
                        <a:latin typeface="Cambria Math" panose="02040503050406030204" pitchFamily="18" charset="0"/>
                        <a:ea typeface="Alibaba PuHuiTi" pitchFamily="18" charset="-122"/>
                        <a:cs typeface="Alibaba PuHuiTi" pitchFamily="18" charset="-122"/>
                      </a:rPr>
                      <m:t>(−</m:t>
                    </m:r>
                    <m:r>
                      <a:rPr kumimoji="0" lang="zh-CN" altLang="en-US" sz="1400" b="0" i="0" u="none" strike="noStrike" kern="1200" cap="none" spc="0" normalizeH="0" baseline="0" noProof="0" smtClean="0">
                        <a:ln>
                          <a:noFill/>
                        </a:ln>
                        <a:solidFill>
                          <a:schemeClr val="accent2">
                            <a:lumMod val="75000"/>
                          </a:schemeClr>
                        </a:solidFill>
                        <a:effectLst/>
                        <a:uLnTx/>
                        <a:uFillTx/>
                        <a:latin typeface="Cambria Math" panose="02040503050406030204" pitchFamily="18" charset="0"/>
                        <a:ea typeface="Alibaba PuHuiTi" pitchFamily="18" charset="-122"/>
                        <a:cs typeface="Alibaba PuHuiTi" pitchFamily="18" charset="-122"/>
                      </a:rPr>
                      <m:t> </m:t>
                    </m:r>
                    <m:f>
                      <m:fPr>
                        <m:ctrlPr>
                          <a:rPr kumimoji="0" lang="en-US" altLang="zh-CN" sz="1400" b="0" i="1" u="none" strike="noStrike" kern="1200" cap="none" spc="0" normalizeH="0" baseline="0" noProof="0" smtClean="0">
                            <a:ln>
                              <a:noFill/>
                            </a:ln>
                            <a:solidFill>
                              <a:schemeClr val="accent2">
                                <a:lumMod val="75000"/>
                              </a:schemeClr>
                            </a:solidFill>
                            <a:effectLst/>
                            <a:uLnTx/>
                            <a:uFillTx/>
                            <a:latin typeface="Cambria Math" panose="02040503050406030204" pitchFamily="18" charset="0"/>
                            <a:ea typeface="Alibaba PuHuiTi" pitchFamily="18" charset="-122"/>
                            <a:cs typeface="Alibaba PuHuiTi" pitchFamily="18" charset="-122"/>
                          </a:rPr>
                        </m:ctrlPr>
                      </m:fPr>
                      <m:num>
                        <m:r>
                          <a:rPr kumimoji="0" lang="en-US" altLang="zh-CN" sz="1400" b="0" i="1" u="none" strike="noStrike" kern="1200" cap="none" spc="0" normalizeH="0" baseline="0" noProof="0" smtClean="0">
                            <a:ln>
                              <a:noFill/>
                            </a:ln>
                            <a:solidFill>
                              <a:schemeClr val="accent2">
                                <a:lumMod val="75000"/>
                              </a:schemeClr>
                            </a:solidFill>
                            <a:effectLst/>
                            <a:uLnTx/>
                            <a:uFillTx/>
                            <a:latin typeface="Cambria Math" panose="02040503050406030204" pitchFamily="18" charset="0"/>
                            <a:ea typeface="Alibaba PuHuiTi" pitchFamily="18" charset="-122"/>
                            <a:cs typeface="Alibaba PuHuiTi" pitchFamily="18" charset="-122"/>
                          </a:rPr>
                          <m:t>1</m:t>
                        </m:r>
                      </m:num>
                      <m:den>
                        <m:r>
                          <a:rPr kumimoji="0" lang="en-US" altLang="zh-CN" sz="1400" b="0" i="1" u="none" strike="noStrike" kern="1200" cap="none" spc="0" normalizeH="0" baseline="0" noProof="0" smtClean="0">
                            <a:ln>
                              <a:noFill/>
                            </a:ln>
                            <a:solidFill>
                              <a:schemeClr val="accent2">
                                <a:lumMod val="75000"/>
                              </a:schemeClr>
                            </a:solidFill>
                            <a:effectLst/>
                            <a:uLnTx/>
                            <a:uFillTx/>
                            <a:latin typeface="Cambria Math" panose="02040503050406030204" pitchFamily="18" charset="0"/>
                            <a:ea typeface="Alibaba PuHuiTi" pitchFamily="18" charset="-122"/>
                            <a:cs typeface="Alibaba PuHuiTi" pitchFamily="18" charset="-122"/>
                          </a:rPr>
                          <m:t>8</m:t>
                        </m:r>
                      </m:den>
                    </m:f>
                  </m:oMath>
                </a14:m>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 </a:t>
                </a:r>
                <a14:m>
                  <m:oMath xmlns:m="http://schemas.openxmlformats.org/officeDocument/2006/math">
                    <m:func>
                      <m:funcPr>
                        <m:ctrlP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ctrlPr>
                      </m:funcPr>
                      <m:fName>
                        <m:sSub>
                          <m:sSubPr>
                            <m:ctrlP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ctrlPr>
                          </m:sSubPr>
                          <m:e>
                            <m:r>
                              <m:rPr>
                                <m:sty m:val="p"/>
                              </m:rPr>
                              <a:rPr lang="en-US" altLang="zh-CN" sz="1400">
                                <a:solidFill>
                                  <a:schemeClr val="accent2">
                                    <a:lumMod val="75000"/>
                                  </a:schemeClr>
                                </a:solidFill>
                                <a:latin typeface="Cambria Math" panose="02040503050406030204" pitchFamily="18" charset="0"/>
                                <a:ea typeface="Alibaba PuHuiTi" pitchFamily="18" charset="-122"/>
                                <a:cs typeface="Alibaba PuHuiTi" pitchFamily="18" charset="-122"/>
                              </a:rPr>
                              <m:t>log</m:t>
                            </m:r>
                          </m:e>
                          <m:sub>
                            <m: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t>2</m:t>
                            </m:r>
                          </m:sub>
                        </m:sSub>
                      </m:fName>
                      <m:e>
                        <m:f>
                          <m:fPr>
                            <m:ctrlP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ctrlPr>
                          </m:fPr>
                          <m:num>
                            <m: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t>1</m:t>
                            </m:r>
                          </m:num>
                          <m:den>
                            <m: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t>8</m:t>
                            </m:r>
                          </m:den>
                        </m:f>
                        <m:r>
                          <a:rPr lang="zh-CN" altLang="en-US" sz="1400" b="0" i="1" smtClean="0">
                            <a:solidFill>
                              <a:schemeClr val="accent2">
                                <a:lumMod val="75000"/>
                              </a:schemeClr>
                            </a:solidFill>
                            <a:latin typeface="Cambria Math" panose="02040503050406030204" pitchFamily="18" charset="0"/>
                            <a:ea typeface="Alibaba PuHuiTi" pitchFamily="18" charset="-122"/>
                            <a:cs typeface="Alibaba PuHuiTi" pitchFamily="18" charset="-122"/>
                          </a:rPr>
                          <m:t> </m:t>
                        </m:r>
                        <m:r>
                          <a:rPr lang="en-US" altLang="zh-CN" sz="1400" b="0" i="1" smtClean="0">
                            <a:solidFill>
                              <a:schemeClr val="accent2">
                                <a:lumMod val="75000"/>
                              </a:schemeClr>
                            </a:solidFill>
                            <a:latin typeface="Cambria Math" panose="02040503050406030204" pitchFamily="18" charset="0"/>
                            <a:ea typeface="Alibaba PuHuiTi" pitchFamily="18" charset="-122"/>
                            <a:cs typeface="Alibaba PuHuiTi" pitchFamily="18" charset="-122"/>
                          </a:rPr>
                          <m:t>)</m:t>
                        </m:r>
                      </m:e>
                    </m:func>
                    <m:r>
                      <a:rPr lang="zh-CN" altLang="en-US" sz="1400" b="0" i="1" smtClean="0">
                        <a:solidFill>
                          <a:schemeClr val="accent2">
                            <a:lumMod val="75000"/>
                          </a:schemeClr>
                        </a:solidFill>
                        <a:latin typeface="Cambria Math" panose="02040503050406030204" pitchFamily="18" charset="0"/>
                        <a:ea typeface="Alibaba PuHuiTi" pitchFamily="18" charset="-122"/>
                        <a:cs typeface="Alibaba PuHuiTi" pitchFamily="18" charset="-122"/>
                      </a:rPr>
                      <m:t> </m:t>
                    </m:r>
                    <m:r>
                      <a:rPr lang="zh-CN" altLang="en-US" sz="1400" b="0" i="1" smtClean="0">
                        <a:solidFill>
                          <a:srgbClr val="333333"/>
                        </a:solidFill>
                        <a:latin typeface="Cambria Math" panose="02040503050406030204" pitchFamily="18" charset="0"/>
                        <a:ea typeface="Alibaba PuHuiTi" pitchFamily="18" charset="-122"/>
                        <a:cs typeface="Alibaba PuHuiTi" pitchFamily="18" charset="-122"/>
                      </a:rPr>
                      <m:t>∗</m:t>
                    </m:r>
                    <m:r>
                      <a:rPr lang="en-US" altLang="zh-CN" sz="1400" b="0" i="1" smtClean="0">
                        <a:solidFill>
                          <a:srgbClr val="333333"/>
                        </a:solidFill>
                        <a:latin typeface="Cambria Math" panose="02040503050406030204" pitchFamily="18" charset="0"/>
                        <a:ea typeface="Alibaba PuHuiTi" pitchFamily="18" charset="-122"/>
                        <a:cs typeface="Alibaba PuHuiTi" pitchFamily="18" charset="-122"/>
                      </a:rPr>
                      <m:t>8</m:t>
                    </m:r>
                  </m:oMath>
                </a14:m>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3</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   </a:t>
                </a:r>
                <a:endPar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endParaRPr>
              </a:p>
            </p:txBody>
          </p:sp>
        </mc:Choice>
        <mc:Fallback>
          <p:sp>
            <p:nvSpPr>
              <p:cNvPr id="5" name="文本占位符 2"/>
              <p:cNvSpPr txBox="1">
                <a:spLocks noRot="1" noChangeAspect="1" noMove="1" noResize="1" noEditPoints="1" noAdjustHandles="1" noChangeArrowheads="1" noChangeShapeType="1" noTextEdit="1"/>
              </p:cNvSpPr>
              <p:nvPr/>
            </p:nvSpPr>
            <p:spPr>
              <a:xfrm>
                <a:off x="1787522" y="3537629"/>
                <a:ext cx="5984877" cy="894907"/>
              </a:xfrm>
              <a:prstGeom prst="rect">
                <a:avLst/>
              </a:prstGeom>
              <a:blipFill rotWithShape="1">
                <a:blip r:embed="rId2"/>
                <a:stretch>
                  <a:fillRect l="-11" t="-5" r="11" b="26"/>
                </a:stretch>
              </a:blipFill>
            </p:spPr>
            <p:txBody>
              <a:bodyPr/>
              <a:lstStyle/>
              <a:p>
                <a:r>
                  <a:rPr lang="zh-CN" altLang="en-US">
                    <a:noFill/>
                  </a:rPr>
                  <a:t> </a:t>
                </a:r>
              </a:p>
            </p:txBody>
          </p:sp>
        </mc:Fallback>
      </mc:AlternateContent>
      <p:sp>
        <p:nvSpPr>
          <p:cNvPr id="7" name="文本占位符 2"/>
          <p:cNvSpPr txBox="1"/>
          <p:nvPr/>
        </p:nvSpPr>
        <p:spPr>
          <a:xfrm>
            <a:off x="1186180" y="4507865"/>
            <a:ext cx="9556750" cy="89471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栗子</a:t>
            </a:r>
            <a:r>
              <a:rPr lang="en-US" altLang="zh-CN" dirty="0">
                <a:solidFill>
                  <a:prstClr val="black">
                    <a:lumMod val="85000"/>
                    <a:lumOff val="15000"/>
                  </a:prstClr>
                </a:solidFill>
                <a:latin typeface="Alibaba PuHuiTi" pitchFamily="18" charset="-122"/>
                <a:ea typeface="Alibaba PuHuiTi" pitchFamily="18" charset="-122"/>
                <a:cs typeface="Alibaba PuHuiTi" pitchFamily="18" charset="-122"/>
              </a:rPr>
              <a:t>1-2</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：计算</a:t>
            </a:r>
            <a:r>
              <a:rPr kumimoji="0" lang="zh-CN" altLang="en-US" sz="1600" kern="1200" cap="none" spc="0" normalizeH="0" baseline="0" noProof="0" dirty="0">
                <a:ln>
                  <a:noFill/>
                </a:ln>
                <a:solidFill>
                  <a:srgbClr val="333333"/>
                </a:solidFill>
                <a:uLnTx/>
                <a:uFillTx/>
                <a:latin typeface="Alibaba PuHuiTi" pitchFamily="18" charset="-122"/>
                <a:ea typeface="Alibaba PuHuiTi" pitchFamily="18" charset="-122"/>
                <a:cs typeface="Alibaba PuHuiTi" pitchFamily="18" charset="-122"/>
              </a:rPr>
              <a:t>数据</a:t>
            </a:r>
            <a:r>
              <a:rPr lang="zh-CN" altLang="en-US" b="0" i="0" u="none" strike="noStrike" dirty="0">
                <a:solidFill>
                  <a:srgbClr val="333333"/>
                </a:solidFill>
                <a:effectLst/>
                <a:latin typeface="Alibaba PuHuiTi" pitchFamily="18" charset="-122"/>
                <a:ea typeface="Alibaba PuHuiTi" pitchFamily="18" charset="-122"/>
                <a:cs typeface="Alibaba PuHuiTi" pitchFamily="18" charset="-122"/>
              </a:rPr>
              <a:t> </a:t>
            </a:r>
            <a:r>
              <a:rPr lang="el-GR" altLang="zh-CN" b="0" i="0" u="none" strike="noStrike" dirty="0">
                <a:solidFill>
                  <a:srgbClr val="333333"/>
                </a:solidFill>
                <a:effectLst/>
                <a:latin typeface="Open Sans" panose="020B0606030504020204" pitchFamily="34" charset="0"/>
              </a:rPr>
              <a:t>β</a:t>
            </a:r>
            <a:r>
              <a:rPr lang="zh-CN" altLang="el-GR" b="0" i="0" u="none" strike="noStrike" dirty="0">
                <a:solidFill>
                  <a:srgbClr val="333333"/>
                </a:solidFill>
                <a:effectLst/>
                <a:latin typeface="Alibaba PuHuiTi" pitchFamily="18" charset="-122"/>
                <a:ea typeface="Alibaba PuHuiTi" pitchFamily="18" charset="-122"/>
                <a:cs typeface="Alibaba PuHuiTi" pitchFamily="18" charset="-122"/>
              </a:rPr>
              <a:t>（</a:t>
            </a:r>
            <a:r>
              <a:rPr lang="en-GB" altLang="zh-CN" b="0" i="0" u="none" strike="noStrike" dirty="0">
                <a:solidFill>
                  <a:srgbClr val="333333"/>
                </a:solidFill>
                <a:effectLst/>
                <a:latin typeface="Open Sans" panose="020B0606030504020204" pitchFamily="34" charset="0"/>
              </a:rPr>
              <a:t>AAAABBCD</a:t>
            </a:r>
            <a:r>
              <a:rPr lang="zh-CN" altLang="en-GB" b="0" i="0" u="none" strike="noStrike" dirty="0">
                <a:solidFill>
                  <a:srgbClr val="333333"/>
                </a:solidFill>
                <a:effectLst/>
                <a:latin typeface="Alibaba PuHuiTi" pitchFamily="18" charset="-122"/>
                <a:ea typeface="Alibaba PuHuiTi" pitchFamily="18" charset="-122"/>
                <a:cs typeface="Alibaba PuHuiTi" pitchFamily="18" charset="-122"/>
              </a:rPr>
              <a:t>） </a:t>
            </a:r>
            <a:r>
              <a:rPr lang="zh-CN" altLang="en-US" dirty="0">
                <a:solidFill>
                  <a:srgbClr val="333333"/>
                </a:solidFill>
                <a:latin typeface="Alibaba PuHuiTi" pitchFamily="18" charset="-122"/>
                <a:ea typeface="Alibaba PuHuiTi" pitchFamily="18" charset="-122"/>
                <a:cs typeface="Alibaba PuHuiTi" pitchFamily="18" charset="-122"/>
              </a:rPr>
              <a:t>信息熵</a:t>
            </a:r>
            <a:endParaRPr lang="en-US" altLang="zh-CN" dirty="0">
              <a:solidFill>
                <a:srgbClr val="333333"/>
              </a:solidFill>
              <a:latin typeface="Alibaba PuHuiTi" pitchFamily="18" charset="-122"/>
              <a:ea typeface="Alibaba PuHuiTi" pitchFamily="18" charset="-122"/>
              <a:cs typeface="Alibaba PuHuiTi" pitchFamily="18" charset="-122"/>
            </a:endParaRPr>
          </a:p>
          <a:p>
            <a:pPr>
              <a:defRPr/>
            </a:pPr>
            <a:r>
              <a:rPr lang="zh-CN" altLang="en-US" dirty="0">
                <a:solidFill>
                  <a:srgbClr val="333333"/>
                </a:solidFill>
                <a:latin typeface="Alibaba PuHuiTi" pitchFamily="18" charset="-122"/>
                <a:ea typeface="Alibaba PuHuiTi" pitchFamily="18" charset="-122"/>
                <a:cs typeface="Alibaba PuHuiTi" pitchFamily="18" charset="-122"/>
              </a:rPr>
              <a:t>                  其中</a:t>
            </a:r>
            <a:r>
              <a:rPr lang="en-GB" altLang="zh-CN" dirty="0">
                <a:solidFill>
                  <a:srgbClr val="333333"/>
                </a:solidFill>
                <a:latin typeface="Alibaba PuHuiTi" pitchFamily="18" charset="-122"/>
                <a:ea typeface="Alibaba PuHuiTi" pitchFamily="18" charset="-122"/>
                <a:cs typeface="Alibaba PuHuiTi" pitchFamily="18" charset="-122"/>
              </a:rPr>
              <a:t>A </a:t>
            </a:r>
            <a:r>
              <a:rPr lang="zh-CN" altLang="en-US" dirty="0">
                <a:solidFill>
                  <a:srgbClr val="333333"/>
                </a:solidFill>
                <a:latin typeface="Alibaba PuHuiTi" pitchFamily="18" charset="-122"/>
                <a:ea typeface="Alibaba PuHuiTi" pitchFamily="18" charset="-122"/>
                <a:cs typeface="Alibaba PuHuiTi" pitchFamily="18" charset="-122"/>
              </a:rPr>
              <a:t>出现的概率为</a:t>
            </a:r>
            <a:r>
              <a:rPr lang="en-US" altLang="zh-CN" dirty="0">
                <a:solidFill>
                  <a:srgbClr val="333333"/>
                </a:solidFill>
                <a:latin typeface="Alibaba PuHuiTi" pitchFamily="18" charset="-122"/>
                <a:ea typeface="Alibaba PuHuiTi" pitchFamily="18" charset="-122"/>
                <a:cs typeface="Alibaba PuHuiTi" pitchFamily="18" charset="-122"/>
              </a:rPr>
              <a:t>1/2</a:t>
            </a:r>
            <a:r>
              <a:rPr lang="zh-CN" altLang="en-US" dirty="0">
                <a:solidFill>
                  <a:srgbClr val="333333"/>
                </a:solidFill>
                <a:latin typeface="Alibaba PuHuiTi" pitchFamily="18" charset="-122"/>
                <a:ea typeface="Alibaba PuHuiTi" pitchFamily="18" charset="-122"/>
                <a:cs typeface="Alibaba PuHuiTi" pitchFamily="18" charset="-122"/>
              </a:rPr>
              <a:t>，</a:t>
            </a:r>
            <a:r>
              <a:rPr lang="en-GB" altLang="zh-CN" dirty="0">
                <a:solidFill>
                  <a:srgbClr val="333333"/>
                </a:solidFill>
                <a:latin typeface="Alibaba PuHuiTi" pitchFamily="18" charset="-122"/>
                <a:ea typeface="Alibaba PuHuiTi" pitchFamily="18" charset="-122"/>
                <a:cs typeface="Alibaba PuHuiTi" pitchFamily="18" charset="-122"/>
              </a:rPr>
              <a:t>B </a:t>
            </a:r>
            <a:r>
              <a:rPr lang="zh-CN" altLang="en-US" dirty="0">
                <a:solidFill>
                  <a:srgbClr val="333333"/>
                </a:solidFill>
                <a:latin typeface="Alibaba PuHuiTi" pitchFamily="18" charset="-122"/>
                <a:ea typeface="Alibaba PuHuiTi" pitchFamily="18" charset="-122"/>
                <a:cs typeface="Alibaba PuHuiTi" pitchFamily="18" charset="-122"/>
              </a:rPr>
              <a:t>出现的概率为</a:t>
            </a:r>
            <a:r>
              <a:rPr lang="en-US" altLang="zh-CN" dirty="0">
                <a:solidFill>
                  <a:srgbClr val="333333"/>
                </a:solidFill>
                <a:latin typeface="Alibaba PuHuiTi" pitchFamily="18" charset="-122"/>
                <a:ea typeface="Alibaba PuHuiTi" pitchFamily="18" charset="-122"/>
                <a:cs typeface="Alibaba PuHuiTi" pitchFamily="18" charset="-122"/>
              </a:rPr>
              <a:t>1/4</a:t>
            </a:r>
            <a:r>
              <a:rPr lang="zh-CN" altLang="en-US" dirty="0">
                <a:solidFill>
                  <a:srgbClr val="333333"/>
                </a:solidFill>
                <a:latin typeface="Alibaba PuHuiTi" pitchFamily="18" charset="-122"/>
                <a:ea typeface="Alibaba PuHuiTi" pitchFamily="18" charset="-122"/>
                <a:cs typeface="Alibaba PuHuiTi" pitchFamily="18" charset="-122"/>
              </a:rPr>
              <a:t>，</a:t>
            </a:r>
            <a:r>
              <a:rPr lang="en-GB" altLang="zh-CN" dirty="0">
                <a:solidFill>
                  <a:srgbClr val="333333"/>
                </a:solidFill>
                <a:latin typeface="Alibaba PuHuiTi" pitchFamily="18" charset="-122"/>
                <a:ea typeface="Alibaba PuHuiTi" pitchFamily="18" charset="-122"/>
                <a:cs typeface="Alibaba PuHuiTi" pitchFamily="18" charset="-122"/>
              </a:rPr>
              <a:t>C</a:t>
            </a:r>
            <a:r>
              <a:rPr lang="zh-CN" altLang="en-GB" dirty="0">
                <a:solidFill>
                  <a:srgbClr val="333333"/>
                </a:solidFill>
                <a:latin typeface="Alibaba PuHuiTi" pitchFamily="18" charset="-122"/>
                <a:ea typeface="Alibaba PuHuiTi" pitchFamily="18" charset="-122"/>
                <a:cs typeface="Alibaba PuHuiTi" pitchFamily="18" charset="-122"/>
              </a:rPr>
              <a:t>、</a:t>
            </a:r>
            <a:r>
              <a:rPr lang="en-GB" altLang="zh-CN" dirty="0">
                <a:solidFill>
                  <a:srgbClr val="333333"/>
                </a:solidFill>
                <a:latin typeface="Alibaba PuHuiTi" pitchFamily="18" charset="-122"/>
                <a:ea typeface="Alibaba PuHuiTi" pitchFamily="18" charset="-122"/>
                <a:cs typeface="Alibaba PuHuiTi" pitchFamily="18" charset="-122"/>
              </a:rPr>
              <a:t>D </a:t>
            </a:r>
            <a:r>
              <a:rPr lang="zh-CN" altLang="en-US" dirty="0">
                <a:solidFill>
                  <a:srgbClr val="333333"/>
                </a:solidFill>
                <a:latin typeface="Alibaba PuHuiTi" pitchFamily="18" charset="-122"/>
                <a:ea typeface="Alibaba PuHuiTi" pitchFamily="18" charset="-122"/>
                <a:cs typeface="Alibaba PuHuiTi" pitchFamily="18" charset="-122"/>
              </a:rPr>
              <a:t>出现的概率为</a:t>
            </a:r>
            <a:r>
              <a:rPr lang="en-US" altLang="zh-CN" dirty="0">
                <a:solidFill>
                  <a:srgbClr val="333333"/>
                </a:solidFill>
                <a:latin typeface="Alibaba PuHuiTi" pitchFamily="18" charset="-122"/>
                <a:ea typeface="Alibaba PuHuiTi" pitchFamily="18" charset="-122"/>
                <a:cs typeface="Alibaba PuHuiTi" pitchFamily="18" charset="-122"/>
              </a:rPr>
              <a:t>1/8</a:t>
            </a:r>
            <a:endParaRPr lang="en-US" altLang="zh-CN" dirty="0">
              <a:solidFill>
                <a:srgbClr val="333333"/>
              </a:solidFill>
              <a:latin typeface="Alibaba PuHuiTi" pitchFamily="18" charset="-122"/>
              <a:ea typeface="Alibaba PuHuiTi" pitchFamily="18" charset="-122"/>
              <a:cs typeface="Alibaba PuHuiTi" pitchFamily="18" charset="-122"/>
            </a:endParaRPr>
          </a:p>
          <a:p>
            <a:pPr>
              <a:defRPr/>
            </a:pP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mc:AlternateContent xmlns:mc="http://schemas.openxmlformats.org/markup-compatibility/2006">
        <mc:Choice xmlns:a14="http://schemas.microsoft.com/office/drawing/2010/main" Requires="a14">
          <p:sp>
            <p:nvSpPr>
              <p:cNvPr id="8" name="文本占位符 2"/>
              <p:cNvSpPr txBox="1"/>
              <p:nvPr/>
            </p:nvSpPr>
            <p:spPr>
              <a:xfrm>
                <a:off x="1787522" y="5248980"/>
                <a:ext cx="9065536" cy="5484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lvl="0" indent="-285750">
                  <a:buFont typeface="Arial" panose="020B0604020202020204" pitchFamily="34" charset="0"/>
                  <a:buChar char="•"/>
                  <a:defRPr/>
                </a:pPr>
                <a:r>
                  <a:rPr lang="en-US" altLang="zh-CN" sz="1400" dirty="0">
                    <a:solidFill>
                      <a:srgbClr val="333333"/>
                    </a:solidFill>
                    <a:latin typeface="Alibaba PuHuiTi" pitchFamily="18" charset="-122"/>
                    <a:ea typeface="Alibaba PuHuiTi" pitchFamily="18" charset="-122"/>
                    <a:cs typeface="Alibaba PuHuiTi" pitchFamily="18" charset="-122"/>
                  </a:rPr>
                  <a:t>H(</a:t>
                </a:r>
                <a:r>
                  <a:rPr lang="el-GR" altLang="zh-CN" sz="1400" dirty="0">
                    <a:solidFill>
                      <a:srgbClr val="333333"/>
                    </a:solidFill>
                    <a:latin typeface="Open Sans" panose="020B0606030504020204" pitchFamily="34" charset="0"/>
                  </a:rPr>
                  <a:t>β</a:t>
                </a:r>
                <a:r>
                  <a:rPr lang="en-US" altLang="zh-CN" sz="1400" dirty="0">
                    <a:solidFill>
                      <a:srgbClr val="333333"/>
                    </a:solidFill>
                    <a:latin typeface="Alibaba PuHuiTi" pitchFamily="18" charset="-122"/>
                    <a:ea typeface="Alibaba PuHuiTi" pitchFamily="18" charset="-122"/>
                    <a:cs typeface="Alibaba PuHuiTi" pitchFamily="18" charset="-122"/>
                  </a:rPr>
                  <a:t>)</a:t>
                </a:r>
                <a:r>
                  <a:rPr lang="zh-CN" altLang="en-US" sz="1400" dirty="0">
                    <a:solidFill>
                      <a:srgbClr val="333333"/>
                    </a:solidFill>
                    <a:latin typeface="Alibaba PuHuiTi" pitchFamily="18" charset="-122"/>
                    <a:ea typeface="Alibaba PuHuiTi" pitchFamily="18" charset="-122"/>
                    <a:cs typeface="Alibaba PuHuiTi" pitchFamily="18" charset="-122"/>
                  </a:rPr>
                  <a:t> </a:t>
                </a:r>
                <a:r>
                  <a:rPr lang="en-US" altLang="zh-CN" sz="1400" dirty="0">
                    <a:solidFill>
                      <a:srgbClr val="333333"/>
                    </a:solidFill>
                    <a:latin typeface="Alibaba PuHuiTi" pitchFamily="18" charset="-122"/>
                    <a:ea typeface="Alibaba PuHuiTi" pitchFamily="18" charset="-122"/>
                    <a:cs typeface="Alibaba PuHuiTi" pitchFamily="18" charset="-122"/>
                  </a:rPr>
                  <a:t>=</a:t>
                </a:r>
                <a:r>
                  <a:rPr lang="zh-CN" altLang="en-US" sz="1400" dirty="0">
                    <a:solidFill>
                      <a:srgbClr val="333333"/>
                    </a:solidFill>
                    <a:latin typeface="Alibaba PuHuiTi" pitchFamily="18" charset="-122"/>
                    <a:ea typeface="Alibaba PuHuiTi" pitchFamily="18" charset="-122"/>
                    <a:cs typeface="Alibaba PuHuiTi" pitchFamily="18" charset="-122"/>
                  </a:rPr>
                  <a:t> </a:t>
                </a:r>
                <a:r>
                  <a:rPr lang="en-US" altLang="zh-CN" sz="1400" dirty="0">
                    <a:solidFill>
                      <a:srgbClr val="333333"/>
                    </a:solidFill>
                    <a:latin typeface="Alibaba PuHuiTi" pitchFamily="18" charset="-122"/>
                    <a:ea typeface="Alibaba PuHuiTi" pitchFamily="18" charset="-122"/>
                    <a:cs typeface="Alibaba PuHuiTi" pitchFamily="18" charset="-122"/>
                  </a:rPr>
                  <a:t>-</a:t>
                </a:r>
                <a:r>
                  <a:rPr lang="zh-CN" altLang="en-US" sz="1400" dirty="0">
                    <a:solidFill>
                      <a:srgbClr val="333333"/>
                    </a:solidFill>
                    <a:latin typeface="Alibaba PuHuiTi" pitchFamily="18" charset="-122"/>
                    <a:ea typeface="Alibaba PuHuiTi" pitchFamily="18" charset="-122"/>
                    <a:cs typeface="Alibaba PuHuiTi" pitchFamily="18" charset="-122"/>
                  </a:rPr>
                  <a:t> </a:t>
                </a:r>
                <a14:m>
                  <m:oMath xmlns:m="http://schemas.openxmlformats.org/officeDocument/2006/math">
                    <m:nary>
                      <m:naryPr>
                        <m:chr m:val="∑"/>
                        <m:ctrlPr>
                          <a:rPr lang="zh-CN" altLang="en-US" sz="1400" i="1" smtClean="0">
                            <a:solidFill>
                              <a:srgbClr val="333333"/>
                            </a:solidFill>
                            <a:latin typeface="Cambria Math" panose="02040503050406030204" pitchFamily="18" charset="0"/>
                            <a:ea typeface="Alibaba PuHuiTi" pitchFamily="18" charset="-122"/>
                            <a:cs typeface="Alibaba PuHuiTi" pitchFamily="18" charset="-122"/>
                          </a:rPr>
                        </m:ctrlPr>
                      </m:naryPr>
                      <m:sub>
                        <m:r>
                          <m:rPr>
                            <m:brk m:alnAt="23"/>
                          </m:rPr>
                          <a:rPr lang="en-US" altLang="zh-CN" sz="1400" b="0" i="1" smtClean="0">
                            <a:solidFill>
                              <a:srgbClr val="333333"/>
                            </a:solidFill>
                            <a:latin typeface="Cambria Math" panose="02040503050406030204" pitchFamily="18" charset="0"/>
                            <a:ea typeface="Alibaba PuHuiTi" pitchFamily="18" charset="-122"/>
                            <a:cs typeface="Alibaba PuHuiTi" pitchFamily="18" charset="-122"/>
                          </a:rPr>
                          <m:t>𝑖</m:t>
                        </m:r>
                        <m:r>
                          <a:rPr lang="en-US" altLang="zh-CN" sz="1400" b="0" i="1" smtClean="0">
                            <a:solidFill>
                              <a:srgbClr val="333333"/>
                            </a:solidFill>
                            <a:latin typeface="Cambria Math" panose="02040503050406030204" pitchFamily="18" charset="0"/>
                            <a:ea typeface="Alibaba PuHuiTi" pitchFamily="18" charset="-122"/>
                            <a:cs typeface="Alibaba PuHuiTi" pitchFamily="18" charset="-122"/>
                          </a:rPr>
                          <m:t>=</m:t>
                        </m:r>
                        <m:r>
                          <a:rPr lang="en-US" altLang="zh-CN" sz="1400" b="0" i="1" smtClean="0">
                            <a:solidFill>
                              <a:srgbClr val="333333"/>
                            </a:solidFill>
                            <a:latin typeface="Cambria Math" panose="02040503050406030204" pitchFamily="18" charset="0"/>
                            <a:ea typeface="Alibaba PuHuiTi" pitchFamily="18" charset="-122"/>
                            <a:cs typeface="Alibaba PuHuiTi" pitchFamily="18" charset="-122"/>
                          </a:rPr>
                          <m:t>0</m:t>
                        </m:r>
                      </m:sub>
                      <m:sup>
                        <m:r>
                          <a:rPr lang="en-US" altLang="zh-CN" sz="1400" b="0" i="1" smtClean="0">
                            <a:solidFill>
                              <a:srgbClr val="333333"/>
                            </a:solidFill>
                            <a:latin typeface="Cambria Math" panose="02040503050406030204" pitchFamily="18" charset="0"/>
                            <a:ea typeface="Alibaba PuHuiTi" pitchFamily="18" charset="-122"/>
                            <a:cs typeface="Alibaba PuHuiTi" pitchFamily="18" charset="-122"/>
                          </a:rPr>
                          <m:t>𝑛</m:t>
                        </m:r>
                      </m:sup>
                      <m:e>
                        <m:r>
                          <a:rPr lang="en-US" altLang="zh-CN" sz="1400" b="0" i="1" smtClean="0">
                            <a:solidFill>
                              <a:srgbClr val="333333"/>
                            </a:solidFill>
                            <a:latin typeface="Cambria Math" panose="02040503050406030204" pitchFamily="18" charset="0"/>
                            <a:ea typeface="Alibaba PuHuiTi" pitchFamily="18" charset="-122"/>
                            <a:cs typeface="Alibaba PuHuiTi" pitchFamily="18" charset="-122"/>
                          </a:rPr>
                          <m:t>𝑃</m:t>
                        </m:r>
                        <m:d>
                          <m:dPr>
                            <m:ctrlPr>
                              <a:rPr lang="en-US" altLang="zh-CN" sz="1400" b="0" i="1" smtClean="0">
                                <a:solidFill>
                                  <a:srgbClr val="333333"/>
                                </a:solidFill>
                                <a:latin typeface="Cambria Math" panose="02040503050406030204" pitchFamily="18" charset="0"/>
                                <a:ea typeface="Alibaba PuHuiTi" pitchFamily="18" charset="-122"/>
                                <a:cs typeface="Alibaba PuHuiTi" pitchFamily="18" charset="-122"/>
                              </a:rPr>
                            </m:ctrlPr>
                          </m:dPr>
                          <m:e>
                            <m:sSub>
                              <m:sSubPr>
                                <m:ctrlPr>
                                  <a:rPr lang="en-US" altLang="zh-CN" sz="1400" i="1">
                                    <a:solidFill>
                                      <a:srgbClr val="333333"/>
                                    </a:solidFill>
                                    <a:latin typeface="Cambria Math" panose="02040503050406030204" pitchFamily="18" charset="0"/>
                                    <a:ea typeface="Alibaba PuHuiTi" pitchFamily="18" charset="-122"/>
                                    <a:cs typeface="Alibaba PuHuiTi" pitchFamily="18" charset="-122"/>
                                  </a:rPr>
                                </m:ctrlPr>
                              </m:sSubPr>
                              <m:e>
                                <m:r>
                                  <a:rPr lang="en-US" altLang="zh-CN" sz="1400" i="1">
                                    <a:solidFill>
                                      <a:srgbClr val="333333"/>
                                    </a:solidFill>
                                    <a:latin typeface="Cambria Math" panose="02040503050406030204" pitchFamily="18" charset="0"/>
                                    <a:ea typeface="Alibaba PuHuiTi" pitchFamily="18" charset="-122"/>
                                    <a:cs typeface="Alibaba PuHuiTi" pitchFamily="18" charset="-122"/>
                                  </a:rPr>
                                  <m:t>𝑥</m:t>
                                </m:r>
                              </m:e>
                              <m:sub>
                                <m:r>
                                  <a:rPr lang="en-US" altLang="zh-CN" sz="1400" i="1">
                                    <a:solidFill>
                                      <a:srgbClr val="333333"/>
                                    </a:solidFill>
                                    <a:latin typeface="Cambria Math" panose="02040503050406030204" pitchFamily="18" charset="0"/>
                                    <a:ea typeface="Alibaba PuHuiTi" pitchFamily="18" charset="-122"/>
                                    <a:cs typeface="Alibaba PuHuiTi" pitchFamily="18" charset="-122"/>
                                  </a:rPr>
                                  <m:t>𝑖</m:t>
                                </m:r>
                              </m:sub>
                            </m:sSub>
                          </m:e>
                        </m:d>
                        <m:func>
                          <m:funcPr>
                            <m:ctrlPr>
                              <a:rPr lang="en-US" altLang="zh-CN" sz="1400" b="0" i="1" smtClean="0">
                                <a:solidFill>
                                  <a:srgbClr val="333333"/>
                                </a:solidFill>
                                <a:latin typeface="Cambria Math" panose="02040503050406030204" pitchFamily="18" charset="0"/>
                                <a:ea typeface="Alibaba PuHuiTi" pitchFamily="18" charset="-122"/>
                                <a:cs typeface="Alibaba PuHuiTi" pitchFamily="18" charset="-122"/>
                              </a:rPr>
                            </m:ctrlPr>
                          </m:funcPr>
                          <m:fName>
                            <m:sSub>
                              <m:sSubPr>
                                <m:ctrlPr>
                                  <a:rPr lang="en-US" altLang="zh-CN" sz="1400" b="0" i="1" smtClean="0">
                                    <a:solidFill>
                                      <a:srgbClr val="333333"/>
                                    </a:solidFill>
                                    <a:latin typeface="Cambria Math" panose="02040503050406030204" pitchFamily="18" charset="0"/>
                                    <a:ea typeface="Alibaba PuHuiTi" pitchFamily="18" charset="-122"/>
                                    <a:cs typeface="Alibaba PuHuiTi" pitchFamily="18" charset="-122"/>
                                  </a:rPr>
                                </m:ctrlPr>
                              </m:sSubPr>
                              <m:e>
                                <m:r>
                                  <m:rPr>
                                    <m:sty m:val="p"/>
                                  </m:rPr>
                                  <a:rPr lang="en-US" altLang="zh-CN" sz="1400" b="0" i="0" smtClean="0">
                                    <a:solidFill>
                                      <a:srgbClr val="333333"/>
                                    </a:solidFill>
                                    <a:latin typeface="Cambria Math" panose="02040503050406030204" pitchFamily="18" charset="0"/>
                                    <a:ea typeface="Alibaba PuHuiTi" pitchFamily="18" charset="-122"/>
                                    <a:cs typeface="Alibaba PuHuiTi" pitchFamily="18" charset="-122"/>
                                  </a:rPr>
                                  <m:t>log</m:t>
                                </m:r>
                              </m:e>
                              <m:sub>
                                <m:r>
                                  <a:rPr lang="en-US" altLang="zh-CN" sz="1400" b="0" i="1" smtClean="0">
                                    <a:solidFill>
                                      <a:srgbClr val="333333"/>
                                    </a:solidFill>
                                    <a:latin typeface="Cambria Math" panose="02040503050406030204" pitchFamily="18" charset="0"/>
                                    <a:ea typeface="Alibaba PuHuiTi" pitchFamily="18" charset="-122"/>
                                    <a:cs typeface="Alibaba PuHuiTi" pitchFamily="18" charset="-122"/>
                                  </a:rPr>
                                  <m:t>2</m:t>
                                </m:r>
                              </m:sub>
                            </m:sSub>
                          </m:fName>
                          <m:e>
                            <m:r>
                              <a:rPr lang="en-US" altLang="zh-CN" sz="1400" b="0" i="1" smtClean="0">
                                <a:solidFill>
                                  <a:srgbClr val="333333"/>
                                </a:solidFill>
                                <a:latin typeface="Cambria Math" panose="02040503050406030204" pitchFamily="18" charset="0"/>
                                <a:ea typeface="Alibaba PuHuiTi" pitchFamily="18" charset="-122"/>
                                <a:cs typeface="Alibaba PuHuiTi" pitchFamily="18" charset="-122"/>
                              </a:rPr>
                              <m:t>𝑃</m:t>
                            </m:r>
                            <m:r>
                              <a:rPr lang="en-US" altLang="zh-CN" sz="1400" b="0" i="1" smtClean="0">
                                <a:solidFill>
                                  <a:srgbClr val="333333"/>
                                </a:solidFill>
                                <a:latin typeface="Cambria Math" panose="02040503050406030204" pitchFamily="18" charset="0"/>
                                <a:ea typeface="Alibaba PuHuiTi" pitchFamily="18" charset="-122"/>
                                <a:cs typeface="Alibaba PuHuiTi" pitchFamily="18" charset="-122"/>
                              </a:rPr>
                              <m:t>(</m:t>
                            </m:r>
                            <m:sSub>
                              <m:sSubPr>
                                <m:ctrlPr>
                                  <a:rPr lang="en-US" altLang="zh-CN" sz="1400" i="1">
                                    <a:solidFill>
                                      <a:srgbClr val="333333"/>
                                    </a:solidFill>
                                    <a:latin typeface="Cambria Math" panose="02040503050406030204" pitchFamily="18" charset="0"/>
                                    <a:ea typeface="Alibaba PuHuiTi" pitchFamily="18" charset="-122"/>
                                    <a:cs typeface="Alibaba PuHuiTi" pitchFamily="18" charset="-122"/>
                                  </a:rPr>
                                </m:ctrlPr>
                              </m:sSubPr>
                              <m:e>
                                <m:r>
                                  <a:rPr lang="en-US" altLang="zh-CN" sz="1400" i="1">
                                    <a:solidFill>
                                      <a:srgbClr val="333333"/>
                                    </a:solidFill>
                                    <a:latin typeface="Cambria Math" panose="02040503050406030204" pitchFamily="18" charset="0"/>
                                    <a:ea typeface="Alibaba PuHuiTi" pitchFamily="18" charset="-122"/>
                                    <a:cs typeface="Alibaba PuHuiTi" pitchFamily="18" charset="-122"/>
                                  </a:rPr>
                                  <m:t>𝑥</m:t>
                                </m:r>
                              </m:e>
                              <m:sub>
                                <m:r>
                                  <a:rPr lang="en-US" altLang="zh-CN" sz="1400" i="1">
                                    <a:solidFill>
                                      <a:srgbClr val="333333"/>
                                    </a:solidFill>
                                    <a:latin typeface="Cambria Math" panose="02040503050406030204" pitchFamily="18" charset="0"/>
                                    <a:ea typeface="Alibaba PuHuiTi" pitchFamily="18" charset="-122"/>
                                    <a:cs typeface="Alibaba PuHuiTi" pitchFamily="18" charset="-122"/>
                                  </a:rPr>
                                  <m:t>𝑖</m:t>
                                </m:r>
                              </m:sub>
                            </m:sSub>
                            <m:r>
                              <a:rPr lang="en-US" altLang="zh-CN" sz="1400" b="0" i="1" smtClean="0">
                                <a:solidFill>
                                  <a:srgbClr val="333333"/>
                                </a:solidFill>
                                <a:latin typeface="Cambria Math" panose="02040503050406030204" pitchFamily="18" charset="0"/>
                                <a:ea typeface="Alibaba PuHuiTi" pitchFamily="18" charset="-122"/>
                                <a:cs typeface="Alibaba PuHuiTi" pitchFamily="18" charset="-122"/>
                              </a:rPr>
                              <m:t>)</m:t>
                            </m:r>
                          </m:e>
                        </m:func>
                        <m:r>
                          <a:rPr lang="zh-CN" altLang="en-US" sz="1400" b="0" i="1" smtClean="0">
                            <a:solidFill>
                              <a:srgbClr val="333333"/>
                            </a:solidFill>
                            <a:latin typeface="Cambria Math" panose="02040503050406030204" pitchFamily="18" charset="0"/>
                            <a:ea typeface="Alibaba PuHuiTi" pitchFamily="18" charset="-122"/>
                            <a:cs typeface="Alibaba PuHuiTi" pitchFamily="18" charset="-122"/>
                          </a:rPr>
                          <m:t> </m:t>
                        </m:r>
                      </m:e>
                    </m:nary>
                  </m:oMath>
                </a14:m>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 </a:t>
                </a:r>
                <a14:m>
                  <m:oMath xmlns:m="http://schemas.openxmlformats.org/officeDocument/2006/math">
                    <m:r>
                      <a:rPr kumimoji="0" lang="en-US" altLang="zh-CN" sz="1400" b="0" i="0" u="none" strike="noStrike" kern="1200" cap="none" spc="0" normalizeH="0" baseline="0" noProof="0" smtClean="0">
                        <a:ln>
                          <a:noFill/>
                        </a:ln>
                        <a:solidFill>
                          <a:schemeClr val="accent2">
                            <a:lumMod val="75000"/>
                          </a:schemeClr>
                        </a:solidFill>
                        <a:effectLst/>
                        <a:uLnTx/>
                        <a:uFillTx/>
                        <a:latin typeface="Cambria Math" panose="02040503050406030204" pitchFamily="18" charset="0"/>
                        <a:ea typeface="Alibaba PuHuiTi" pitchFamily="18" charset="-122"/>
                        <a:cs typeface="Alibaba PuHuiTi" pitchFamily="18" charset="-122"/>
                      </a:rPr>
                      <m:t>(−</m:t>
                    </m:r>
                    <m:r>
                      <a:rPr kumimoji="0" lang="zh-CN" altLang="en-US" sz="1400" b="0" i="0" u="none" strike="noStrike" kern="1200" cap="none" spc="0" normalizeH="0" baseline="0" noProof="0" smtClean="0">
                        <a:ln>
                          <a:noFill/>
                        </a:ln>
                        <a:solidFill>
                          <a:schemeClr val="accent2">
                            <a:lumMod val="75000"/>
                          </a:schemeClr>
                        </a:solidFill>
                        <a:effectLst/>
                        <a:uLnTx/>
                        <a:uFillTx/>
                        <a:latin typeface="Cambria Math" panose="02040503050406030204" pitchFamily="18" charset="0"/>
                        <a:ea typeface="Alibaba PuHuiTi" pitchFamily="18" charset="-122"/>
                        <a:cs typeface="Alibaba PuHuiTi" pitchFamily="18" charset="-122"/>
                      </a:rPr>
                      <m:t> </m:t>
                    </m:r>
                    <m:f>
                      <m:fPr>
                        <m:ctrlPr>
                          <a:rPr kumimoji="0" lang="en-US" altLang="zh-CN" sz="1400" b="0" i="1" u="none" strike="noStrike" kern="1200" cap="none" spc="0" normalizeH="0" baseline="0" noProof="0" smtClean="0">
                            <a:ln>
                              <a:noFill/>
                            </a:ln>
                            <a:solidFill>
                              <a:schemeClr val="accent2">
                                <a:lumMod val="75000"/>
                              </a:schemeClr>
                            </a:solidFill>
                            <a:effectLst/>
                            <a:uLnTx/>
                            <a:uFillTx/>
                            <a:latin typeface="Cambria Math" panose="02040503050406030204" pitchFamily="18" charset="0"/>
                            <a:ea typeface="Alibaba PuHuiTi" pitchFamily="18" charset="-122"/>
                            <a:cs typeface="Alibaba PuHuiTi" pitchFamily="18" charset="-122"/>
                          </a:rPr>
                        </m:ctrlPr>
                      </m:fPr>
                      <m:num>
                        <m:r>
                          <a:rPr kumimoji="0" lang="en-US" altLang="zh-CN" sz="1400" b="0" i="1" u="none" strike="noStrike" kern="1200" cap="none" spc="0" normalizeH="0" baseline="0" noProof="0" smtClean="0">
                            <a:ln>
                              <a:noFill/>
                            </a:ln>
                            <a:solidFill>
                              <a:schemeClr val="accent2">
                                <a:lumMod val="75000"/>
                              </a:schemeClr>
                            </a:solidFill>
                            <a:effectLst/>
                            <a:uLnTx/>
                            <a:uFillTx/>
                            <a:latin typeface="Cambria Math" panose="02040503050406030204" pitchFamily="18" charset="0"/>
                            <a:ea typeface="Alibaba PuHuiTi" pitchFamily="18" charset="-122"/>
                            <a:cs typeface="Alibaba PuHuiTi" pitchFamily="18" charset="-122"/>
                          </a:rPr>
                          <m:t>1</m:t>
                        </m:r>
                      </m:num>
                      <m:den>
                        <m:r>
                          <a:rPr kumimoji="0" lang="en-US" altLang="zh-CN" sz="1400" b="0" i="1" u="none" strike="noStrike" kern="1200" cap="none" spc="0" normalizeH="0" baseline="0" noProof="0" smtClean="0">
                            <a:ln>
                              <a:noFill/>
                            </a:ln>
                            <a:solidFill>
                              <a:schemeClr val="accent2">
                                <a:lumMod val="75000"/>
                              </a:schemeClr>
                            </a:solidFill>
                            <a:effectLst/>
                            <a:uLnTx/>
                            <a:uFillTx/>
                            <a:latin typeface="Cambria Math" panose="02040503050406030204" pitchFamily="18" charset="0"/>
                            <a:ea typeface="Alibaba PuHuiTi" pitchFamily="18" charset="-122"/>
                            <a:cs typeface="Alibaba PuHuiTi" pitchFamily="18" charset="-122"/>
                          </a:rPr>
                          <m:t>2</m:t>
                        </m:r>
                      </m:den>
                    </m:f>
                  </m:oMath>
                </a14:m>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 </a:t>
                </a:r>
                <a14:m>
                  <m:oMath xmlns:m="http://schemas.openxmlformats.org/officeDocument/2006/math">
                    <m:func>
                      <m:funcPr>
                        <m:ctrlP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ctrlPr>
                      </m:funcPr>
                      <m:fName>
                        <m:sSub>
                          <m:sSubPr>
                            <m:ctrlP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ctrlPr>
                          </m:sSubPr>
                          <m:e>
                            <m:r>
                              <m:rPr>
                                <m:sty m:val="p"/>
                              </m:rPr>
                              <a:rPr lang="en-US" altLang="zh-CN" sz="1400">
                                <a:solidFill>
                                  <a:schemeClr val="accent2">
                                    <a:lumMod val="75000"/>
                                  </a:schemeClr>
                                </a:solidFill>
                                <a:latin typeface="Cambria Math" panose="02040503050406030204" pitchFamily="18" charset="0"/>
                                <a:ea typeface="Alibaba PuHuiTi" pitchFamily="18" charset="-122"/>
                                <a:cs typeface="Alibaba PuHuiTi" pitchFamily="18" charset="-122"/>
                              </a:rPr>
                              <m:t>log</m:t>
                            </m:r>
                          </m:e>
                          <m:sub>
                            <m: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t>2</m:t>
                            </m:r>
                          </m:sub>
                        </m:sSub>
                      </m:fName>
                      <m:e>
                        <m:f>
                          <m:fPr>
                            <m:ctrlP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ctrlPr>
                          </m:fPr>
                          <m:num>
                            <m: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t>1</m:t>
                            </m:r>
                          </m:num>
                          <m:den>
                            <m:r>
                              <a:rPr lang="en-US" altLang="zh-CN" sz="1400" b="0" i="1" smtClean="0">
                                <a:solidFill>
                                  <a:schemeClr val="accent2">
                                    <a:lumMod val="75000"/>
                                  </a:schemeClr>
                                </a:solidFill>
                                <a:latin typeface="Cambria Math" panose="02040503050406030204" pitchFamily="18" charset="0"/>
                                <a:ea typeface="Alibaba PuHuiTi" pitchFamily="18" charset="-122"/>
                                <a:cs typeface="Alibaba PuHuiTi" pitchFamily="18" charset="-122"/>
                              </a:rPr>
                              <m:t>2</m:t>
                            </m:r>
                          </m:den>
                        </m:f>
                        <m:r>
                          <a:rPr lang="zh-CN" altLang="en-US" sz="1400" b="0" i="1" smtClean="0">
                            <a:solidFill>
                              <a:schemeClr val="accent2">
                                <a:lumMod val="75000"/>
                              </a:schemeClr>
                            </a:solidFill>
                            <a:latin typeface="Cambria Math" panose="02040503050406030204" pitchFamily="18" charset="0"/>
                            <a:ea typeface="Alibaba PuHuiTi" pitchFamily="18" charset="-122"/>
                            <a:cs typeface="Alibaba PuHuiTi" pitchFamily="18" charset="-122"/>
                          </a:rPr>
                          <m:t> </m:t>
                        </m:r>
                        <m:r>
                          <a:rPr lang="en-US" altLang="zh-CN" sz="1400" b="0" i="1" smtClean="0">
                            <a:solidFill>
                              <a:schemeClr val="accent2">
                                <a:lumMod val="75000"/>
                              </a:schemeClr>
                            </a:solidFill>
                            <a:latin typeface="Cambria Math" panose="02040503050406030204" pitchFamily="18" charset="0"/>
                            <a:ea typeface="Alibaba PuHuiTi" pitchFamily="18" charset="-122"/>
                            <a:cs typeface="Alibaba PuHuiTi" pitchFamily="18" charset="-122"/>
                          </a:rPr>
                          <m:t>)</m:t>
                        </m:r>
                      </m:e>
                    </m:func>
                    <m:r>
                      <a:rPr lang="zh-CN" altLang="en-US" sz="1400" b="0" i="1" smtClean="0">
                        <a:solidFill>
                          <a:schemeClr val="accent2">
                            <a:lumMod val="75000"/>
                          </a:schemeClr>
                        </a:solidFill>
                        <a:latin typeface="Cambria Math" panose="02040503050406030204" pitchFamily="18" charset="0"/>
                        <a:ea typeface="Alibaba PuHuiTi" pitchFamily="18" charset="-122"/>
                        <a:cs typeface="Alibaba PuHuiTi" pitchFamily="18" charset="-122"/>
                      </a:rPr>
                      <m:t> </m:t>
                    </m:r>
                  </m:oMath>
                </a14:m>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 </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 </a:t>
                </a:r>
                <a14:m>
                  <m:oMath xmlns:m="http://schemas.openxmlformats.org/officeDocument/2006/math">
                    <m:r>
                      <a:rPr lang="en-US" altLang="zh-CN" sz="1400">
                        <a:solidFill>
                          <a:schemeClr val="accent2">
                            <a:lumMod val="75000"/>
                          </a:schemeClr>
                        </a:solidFill>
                        <a:latin typeface="Cambria Math" panose="02040503050406030204" pitchFamily="18" charset="0"/>
                        <a:ea typeface="Alibaba PuHuiTi" pitchFamily="18" charset="-122"/>
                        <a:cs typeface="Alibaba PuHuiTi" pitchFamily="18" charset="-122"/>
                      </a:rPr>
                      <m:t>(−</m:t>
                    </m:r>
                    <m:r>
                      <a:rPr lang="zh-CN" altLang="en-US" sz="1400">
                        <a:solidFill>
                          <a:schemeClr val="accent2">
                            <a:lumMod val="75000"/>
                          </a:schemeClr>
                        </a:solidFill>
                        <a:latin typeface="Cambria Math" panose="02040503050406030204" pitchFamily="18" charset="0"/>
                        <a:ea typeface="Alibaba PuHuiTi" pitchFamily="18" charset="-122"/>
                        <a:cs typeface="Alibaba PuHuiTi" pitchFamily="18" charset="-122"/>
                      </a:rPr>
                      <m:t> </m:t>
                    </m:r>
                    <m:f>
                      <m:fPr>
                        <m:ctrlP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ctrlPr>
                      </m:fPr>
                      <m:num>
                        <m: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t>1</m:t>
                        </m:r>
                      </m:num>
                      <m:den>
                        <m:r>
                          <a:rPr lang="en-US" altLang="zh-CN" sz="1400" b="0" i="1" smtClean="0">
                            <a:solidFill>
                              <a:schemeClr val="accent2">
                                <a:lumMod val="75000"/>
                              </a:schemeClr>
                            </a:solidFill>
                            <a:latin typeface="Cambria Math" panose="02040503050406030204" pitchFamily="18" charset="0"/>
                            <a:ea typeface="Alibaba PuHuiTi" pitchFamily="18" charset="-122"/>
                            <a:cs typeface="Alibaba PuHuiTi" pitchFamily="18" charset="-122"/>
                          </a:rPr>
                          <m:t>4</m:t>
                        </m:r>
                      </m:den>
                    </m:f>
                  </m:oMath>
                </a14:m>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 </a:t>
                </a:r>
                <a14:m>
                  <m:oMath xmlns:m="http://schemas.openxmlformats.org/officeDocument/2006/math">
                    <m:func>
                      <m:funcPr>
                        <m:ctrlP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ctrlPr>
                      </m:funcPr>
                      <m:fName>
                        <m:sSub>
                          <m:sSubPr>
                            <m:ctrlP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ctrlPr>
                          </m:sSubPr>
                          <m:e>
                            <m:r>
                              <m:rPr>
                                <m:sty m:val="p"/>
                              </m:rPr>
                              <a:rPr lang="en-US" altLang="zh-CN" sz="1400">
                                <a:solidFill>
                                  <a:schemeClr val="accent2">
                                    <a:lumMod val="75000"/>
                                  </a:schemeClr>
                                </a:solidFill>
                                <a:latin typeface="Cambria Math" panose="02040503050406030204" pitchFamily="18" charset="0"/>
                                <a:ea typeface="Alibaba PuHuiTi" pitchFamily="18" charset="-122"/>
                                <a:cs typeface="Alibaba PuHuiTi" pitchFamily="18" charset="-122"/>
                              </a:rPr>
                              <m:t>log</m:t>
                            </m:r>
                          </m:e>
                          <m:sub>
                            <m: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t>2</m:t>
                            </m:r>
                          </m:sub>
                        </m:sSub>
                      </m:fName>
                      <m:e>
                        <m:f>
                          <m:fPr>
                            <m:ctrlP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ctrlPr>
                          </m:fPr>
                          <m:num>
                            <m: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t>1</m:t>
                            </m:r>
                          </m:num>
                          <m:den>
                            <m:r>
                              <a:rPr lang="en-US" altLang="zh-CN" sz="1400" b="0" i="1" smtClean="0">
                                <a:solidFill>
                                  <a:schemeClr val="accent2">
                                    <a:lumMod val="75000"/>
                                  </a:schemeClr>
                                </a:solidFill>
                                <a:latin typeface="Cambria Math" panose="02040503050406030204" pitchFamily="18" charset="0"/>
                                <a:ea typeface="Alibaba PuHuiTi" pitchFamily="18" charset="-122"/>
                                <a:cs typeface="Alibaba PuHuiTi" pitchFamily="18" charset="-122"/>
                              </a:rPr>
                              <m:t>4</m:t>
                            </m:r>
                          </m:den>
                        </m:f>
                        <m:r>
                          <a:rPr lang="zh-CN" altLang="en-US" sz="1400" i="1">
                            <a:solidFill>
                              <a:schemeClr val="accent2">
                                <a:lumMod val="75000"/>
                              </a:schemeClr>
                            </a:solidFill>
                            <a:latin typeface="Cambria Math" panose="02040503050406030204" pitchFamily="18" charset="0"/>
                            <a:ea typeface="Alibaba PuHuiTi" pitchFamily="18" charset="-122"/>
                            <a:cs typeface="Alibaba PuHuiTi" pitchFamily="18" charset="-122"/>
                          </a:rPr>
                          <m:t> </m:t>
                        </m:r>
                        <m: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t>)</m:t>
                        </m:r>
                      </m:e>
                    </m:func>
                  </m:oMath>
                </a14:m>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 </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 </a:t>
                </a:r>
                <a14:m>
                  <m:oMath xmlns:m="http://schemas.openxmlformats.org/officeDocument/2006/math">
                    <m:r>
                      <a:rPr lang="en-US" altLang="zh-CN" sz="1400">
                        <a:solidFill>
                          <a:schemeClr val="accent2">
                            <a:lumMod val="75000"/>
                          </a:schemeClr>
                        </a:solidFill>
                        <a:latin typeface="Cambria Math" panose="02040503050406030204" pitchFamily="18" charset="0"/>
                        <a:ea typeface="Alibaba PuHuiTi" pitchFamily="18" charset="-122"/>
                        <a:cs typeface="Alibaba PuHuiTi" pitchFamily="18" charset="-122"/>
                      </a:rPr>
                      <m:t>(−</m:t>
                    </m:r>
                    <m:r>
                      <a:rPr lang="zh-CN" altLang="en-US" sz="1400">
                        <a:solidFill>
                          <a:schemeClr val="accent2">
                            <a:lumMod val="75000"/>
                          </a:schemeClr>
                        </a:solidFill>
                        <a:latin typeface="Cambria Math" panose="02040503050406030204" pitchFamily="18" charset="0"/>
                        <a:ea typeface="Alibaba PuHuiTi" pitchFamily="18" charset="-122"/>
                        <a:cs typeface="Alibaba PuHuiTi" pitchFamily="18" charset="-122"/>
                      </a:rPr>
                      <m:t> </m:t>
                    </m:r>
                    <m:f>
                      <m:fPr>
                        <m:ctrlP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ctrlPr>
                      </m:fPr>
                      <m:num>
                        <m: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t>1</m:t>
                        </m:r>
                      </m:num>
                      <m:den>
                        <m:r>
                          <a:rPr lang="en-US" altLang="zh-CN" sz="1400" b="0" i="1" smtClean="0">
                            <a:solidFill>
                              <a:schemeClr val="accent2">
                                <a:lumMod val="75000"/>
                              </a:schemeClr>
                            </a:solidFill>
                            <a:latin typeface="Cambria Math" panose="02040503050406030204" pitchFamily="18" charset="0"/>
                            <a:ea typeface="Alibaba PuHuiTi" pitchFamily="18" charset="-122"/>
                            <a:cs typeface="Alibaba PuHuiTi" pitchFamily="18" charset="-122"/>
                          </a:rPr>
                          <m:t>8</m:t>
                        </m:r>
                      </m:den>
                    </m:f>
                  </m:oMath>
                </a14:m>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 </a:t>
                </a:r>
                <a14:m>
                  <m:oMath xmlns:m="http://schemas.openxmlformats.org/officeDocument/2006/math">
                    <m:func>
                      <m:funcPr>
                        <m:ctrlP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ctrlPr>
                      </m:funcPr>
                      <m:fName>
                        <m:sSub>
                          <m:sSubPr>
                            <m:ctrlP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ctrlPr>
                          </m:sSubPr>
                          <m:e>
                            <m:r>
                              <m:rPr>
                                <m:sty m:val="p"/>
                              </m:rPr>
                              <a:rPr lang="en-US" altLang="zh-CN" sz="1400">
                                <a:solidFill>
                                  <a:schemeClr val="accent2">
                                    <a:lumMod val="75000"/>
                                  </a:schemeClr>
                                </a:solidFill>
                                <a:latin typeface="Cambria Math" panose="02040503050406030204" pitchFamily="18" charset="0"/>
                                <a:ea typeface="Alibaba PuHuiTi" pitchFamily="18" charset="-122"/>
                                <a:cs typeface="Alibaba PuHuiTi" pitchFamily="18" charset="-122"/>
                              </a:rPr>
                              <m:t>log</m:t>
                            </m:r>
                          </m:e>
                          <m:sub>
                            <m: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t>2</m:t>
                            </m:r>
                          </m:sub>
                        </m:sSub>
                      </m:fName>
                      <m:e>
                        <m:f>
                          <m:fPr>
                            <m:ctrlP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ctrlPr>
                          </m:fPr>
                          <m:num>
                            <m: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t>1</m:t>
                            </m:r>
                          </m:num>
                          <m:den>
                            <m: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t>8</m:t>
                            </m:r>
                          </m:den>
                        </m:f>
                        <m:r>
                          <a:rPr lang="zh-CN" altLang="en-US" sz="1400" i="1">
                            <a:solidFill>
                              <a:schemeClr val="accent2">
                                <a:lumMod val="75000"/>
                              </a:schemeClr>
                            </a:solidFill>
                            <a:latin typeface="Cambria Math" panose="02040503050406030204" pitchFamily="18" charset="0"/>
                            <a:ea typeface="Alibaba PuHuiTi" pitchFamily="18" charset="-122"/>
                            <a:cs typeface="Alibaba PuHuiTi" pitchFamily="18" charset="-122"/>
                          </a:rPr>
                          <m:t> </m:t>
                        </m:r>
                        <m: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t>)</m:t>
                        </m:r>
                      </m:e>
                    </m:func>
                    <m:r>
                      <a:rPr lang="zh-CN" altLang="en-US" sz="1400" b="0" i="1" smtClean="0">
                        <a:solidFill>
                          <a:schemeClr val="accent2">
                            <a:lumMod val="75000"/>
                          </a:schemeClr>
                        </a:solidFill>
                        <a:latin typeface="Cambria Math" panose="02040503050406030204" pitchFamily="18" charset="0"/>
                        <a:ea typeface="Alibaba PuHuiTi" pitchFamily="18" charset="-122"/>
                        <a:cs typeface="Alibaba PuHuiTi" pitchFamily="18" charset="-122"/>
                      </a:rPr>
                      <m:t> ∗</m:t>
                    </m:r>
                    <m:r>
                      <a:rPr lang="en-US" altLang="zh-CN" sz="1400" b="0" i="1" smtClean="0">
                        <a:solidFill>
                          <a:schemeClr val="accent2">
                            <a:lumMod val="75000"/>
                          </a:schemeClr>
                        </a:solidFill>
                        <a:latin typeface="Cambria Math" panose="02040503050406030204" pitchFamily="18" charset="0"/>
                        <a:ea typeface="Alibaba PuHuiTi" pitchFamily="18" charset="-122"/>
                        <a:cs typeface="Alibaba PuHuiTi" pitchFamily="18" charset="-122"/>
                      </a:rPr>
                      <m:t>2</m:t>
                    </m:r>
                    <m:r>
                      <a:rPr lang="zh-CN" altLang="en-US" sz="1400" b="0" i="1" smtClean="0">
                        <a:solidFill>
                          <a:schemeClr val="accent2">
                            <a:lumMod val="75000"/>
                          </a:schemeClr>
                        </a:solidFill>
                        <a:latin typeface="Cambria Math" panose="02040503050406030204" pitchFamily="18" charset="0"/>
                        <a:ea typeface="Alibaba PuHuiTi" pitchFamily="18" charset="-122"/>
                        <a:cs typeface="Alibaba PuHuiTi" pitchFamily="18" charset="-122"/>
                      </a:rPr>
                      <m:t> </m:t>
                    </m:r>
                  </m:oMath>
                </a14:m>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 </a:t>
                </a:r>
                <a:endParaRPr lang="zh-CN" altLang="en-US" sz="1400" dirty="0">
                  <a:solidFill>
                    <a:schemeClr val="accent2">
                      <a:lumMod val="75000"/>
                    </a:schemeClr>
                  </a:solidFill>
                  <a:latin typeface="Alibaba PuHuiTi" pitchFamily="18" charset="-122"/>
                  <a:ea typeface="Alibaba PuHuiTi" pitchFamily="18" charset="-122"/>
                  <a:cs typeface="Alibaba PuHuiTi" pitchFamily="18" charset="-122"/>
                </a:endParaRPr>
              </a:p>
              <a:p>
                <a:pPr lvl="0">
                  <a:buFont typeface="Arial" panose="020B0604020202020204" pitchFamily="34" charset="0"/>
                  <a:defRPr/>
                </a:pP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                               =</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  </a:t>
                </a:r>
                <a14:m>
                  <m:oMath xmlns:m="http://schemas.openxmlformats.org/officeDocument/2006/math">
                    <m:f>
                      <m:fPr>
                        <m:ctrlPr>
                          <a:rPr lang="en-US" altLang="zh-CN" sz="1400" i="1" smtClean="0">
                            <a:solidFill>
                              <a:prstClr val="black">
                                <a:lumMod val="85000"/>
                                <a:lumOff val="15000"/>
                              </a:prstClr>
                            </a:solidFill>
                            <a:latin typeface="Cambria Math" panose="02040503050406030204" pitchFamily="18" charset="0"/>
                            <a:ea typeface="Alibaba PuHuiTi" pitchFamily="18" charset="-122"/>
                            <a:cs typeface="Alibaba PuHuiTi" pitchFamily="18" charset="-122"/>
                          </a:rPr>
                        </m:ctrlPr>
                      </m:fPr>
                      <m:num>
                        <m:r>
                          <a:rPr lang="en-US" altLang="zh-CN" sz="1400" b="0" i="1" smtClean="0">
                            <a:solidFill>
                              <a:prstClr val="black">
                                <a:lumMod val="85000"/>
                                <a:lumOff val="15000"/>
                              </a:prstClr>
                            </a:solidFill>
                            <a:latin typeface="Cambria Math" panose="02040503050406030204" pitchFamily="18" charset="0"/>
                            <a:ea typeface="Alibaba PuHuiTi" pitchFamily="18" charset="-122"/>
                            <a:cs typeface="Alibaba PuHuiTi" pitchFamily="18" charset="-122"/>
                          </a:rPr>
                          <m:t>1</m:t>
                        </m:r>
                      </m:num>
                      <m:den>
                        <m:r>
                          <a:rPr lang="en-US" altLang="zh-CN" sz="1400" b="0" i="1" smtClean="0">
                            <a:solidFill>
                              <a:prstClr val="black">
                                <a:lumMod val="85000"/>
                                <a:lumOff val="15000"/>
                              </a:prstClr>
                            </a:solidFill>
                            <a:latin typeface="Cambria Math" panose="02040503050406030204" pitchFamily="18" charset="0"/>
                            <a:ea typeface="Alibaba PuHuiTi" pitchFamily="18" charset="-122"/>
                            <a:cs typeface="Alibaba PuHuiTi" pitchFamily="18" charset="-122"/>
                          </a:rPr>
                          <m:t>2</m:t>
                        </m:r>
                      </m:den>
                    </m:f>
                    <m:r>
                      <a:rPr lang="zh-CN" altLang="en-US" sz="1400" b="0" i="1" smtClean="0">
                        <a:solidFill>
                          <a:prstClr val="black">
                            <a:lumMod val="85000"/>
                            <a:lumOff val="15000"/>
                          </a:prstClr>
                        </a:solidFill>
                        <a:latin typeface="Cambria Math" panose="02040503050406030204" pitchFamily="18" charset="0"/>
                        <a:ea typeface="Alibaba PuHuiTi" pitchFamily="18" charset="-122"/>
                        <a:cs typeface="Alibaba PuHuiTi" pitchFamily="18" charset="-122"/>
                      </a:rPr>
                      <m:t>∗</m:t>
                    </m:r>
                  </m:oMath>
                </a14:m>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1</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 </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 </a:t>
                </a:r>
                <a14:m>
                  <m:oMath xmlns:m="http://schemas.openxmlformats.org/officeDocument/2006/math">
                    <m:f>
                      <m:fPr>
                        <m:ctrlPr>
                          <a:rPr lang="en-US"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ctrlPr>
                      </m:fPr>
                      <m:num>
                        <m:r>
                          <a:rPr lang="en-US"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1</m:t>
                        </m:r>
                      </m:num>
                      <m:den>
                        <m:r>
                          <a:rPr lang="en-US"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4</m:t>
                        </m:r>
                      </m:den>
                    </m:f>
                  </m:oMath>
                </a14:m>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 *</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2</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 </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 </a:t>
                </a:r>
                <a14:m>
                  <m:oMath xmlns:m="http://schemas.openxmlformats.org/officeDocument/2006/math">
                    <m:f>
                      <m:fPr>
                        <m:ctrlPr>
                          <a:rPr lang="en-US"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ctrlPr>
                      </m:fPr>
                      <m:num>
                        <m:r>
                          <a:rPr lang="en-US"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1</m:t>
                        </m:r>
                      </m:num>
                      <m:den>
                        <m:r>
                          <a:rPr lang="en-US" altLang="zh-CN" sz="1400" b="0" i="1" smtClean="0">
                            <a:solidFill>
                              <a:prstClr val="black">
                                <a:lumMod val="85000"/>
                                <a:lumOff val="15000"/>
                              </a:prstClr>
                            </a:solidFill>
                            <a:latin typeface="Cambria Math" panose="02040503050406030204" pitchFamily="18" charset="0"/>
                            <a:ea typeface="Alibaba PuHuiTi" pitchFamily="18" charset="-122"/>
                            <a:cs typeface="Alibaba PuHuiTi" pitchFamily="18" charset="-122"/>
                          </a:rPr>
                          <m:t>8</m:t>
                        </m:r>
                      </m:den>
                    </m:f>
                  </m:oMath>
                </a14:m>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 *</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3</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2</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 </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 </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1.75</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   </a:t>
                </a:r>
                <a:endPar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endParaRPr>
              </a:p>
            </p:txBody>
          </p:sp>
        </mc:Choice>
        <mc:Fallback>
          <p:sp>
            <p:nvSpPr>
              <p:cNvPr id="8" name="文本占位符 2"/>
              <p:cNvSpPr txBox="1">
                <a:spLocks noRot="1" noChangeAspect="1" noMove="1" noResize="1" noEditPoints="1" noAdjustHandles="1" noChangeArrowheads="1" noChangeShapeType="1" noTextEdit="1"/>
              </p:cNvSpPr>
              <p:nvPr/>
            </p:nvSpPr>
            <p:spPr>
              <a:xfrm>
                <a:off x="1787522" y="5248980"/>
                <a:ext cx="9065536" cy="548478"/>
              </a:xfrm>
              <a:prstGeom prst="rect">
                <a:avLst/>
              </a:prstGeom>
              <a:blipFill rotWithShape="1">
                <a:blip r:embed="rId3"/>
                <a:stretch>
                  <a:fillRect l="-7" t="-13" r="3" b="-94836"/>
                </a:stretch>
              </a:blipFill>
            </p:spPr>
            <p:txBody>
              <a:bodyPr/>
              <a:lstStyle/>
              <a:p>
                <a:r>
                  <a:rPr lang="zh-CN" alt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信息熵</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9" name="文本占位符 2"/>
          <p:cNvSpPr txBox="1"/>
          <p:nvPr/>
        </p:nvSpPr>
        <p:spPr>
          <a:xfrm>
            <a:off x="1443991" y="3302958"/>
            <a:ext cx="7792856" cy="46929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endParaRPr kumimoji="0" lang="zh-CN" altLang="en-US" sz="18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endParaRPr>
          </a:p>
        </p:txBody>
      </p:sp>
      <p:sp>
        <p:nvSpPr>
          <p:cNvPr id="14" name="文本占位符 2"/>
          <p:cNvSpPr txBox="1"/>
          <p:nvPr/>
        </p:nvSpPr>
        <p:spPr>
          <a:xfrm>
            <a:off x="881539" y="1856930"/>
            <a:ext cx="7792856" cy="46929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kumimoji="0" lang="zh-CN" altLang="en-US"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栗子</a:t>
            </a:r>
            <a:r>
              <a:rPr kumimoji="0" lang="en-US" altLang="zh-CN"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2-1</a:t>
            </a:r>
            <a:r>
              <a:rPr kumimoji="0" lang="zh-CN" altLang="en-US"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：假如数据集有三个类别，分别占比为：</a:t>
            </a:r>
            <a:r>
              <a:rPr kumimoji="0" lang="en-US" altLang="zh-CN"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{⅓,</a:t>
            </a:r>
            <a:r>
              <a:rPr kumimoji="0" lang="zh-CN" altLang="en-US"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en-US" altLang="zh-CN"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⅓,</a:t>
            </a:r>
            <a:r>
              <a:rPr kumimoji="0" lang="zh-CN" altLang="en-US"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en-US" altLang="zh-CN"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⅓}</a:t>
            </a:r>
            <a:r>
              <a:rPr kumimoji="0" lang="zh-CN" altLang="en-US"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，信息熵：</a:t>
            </a:r>
            <a:endParaRPr kumimoji="0" lang="zh-CN" altLang="en-GB"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7" name="文本占位符 2"/>
          <p:cNvSpPr txBox="1"/>
          <p:nvPr/>
        </p:nvSpPr>
        <p:spPr>
          <a:xfrm>
            <a:off x="845556" y="3357844"/>
            <a:ext cx="8817806" cy="42871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栗子</a:t>
            </a:r>
            <a:r>
              <a:rPr kumimoji="0" lang="en-US" altLang="zh-CN"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2-2</a:t>
            </a:r>
            <a:r>
              <a:rPr kumimoji="0" lang="zh-CN" altLang="en-US"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lang="zh-CN" altLang="en-US" sz="1800" b="0" i="0" dirty="0">
                <a:effectLst/>
                <a:latin typeface="Alibaba PuHuiTi" pitchFamily="18" charset="-122"/>
                <a:ea typeface="Alibaba PuHuiTi" pitchFamily="18" charset="-122"/>
                <a:cs typeface="Alibaba PuHuiTi" pitchFamily="18" charset="-122"/>
              </a:rPr>
              <a:t>假如数据集有三个类别，分别占比为：</a:t>
            </a:r>
            <a:r>
              <a:rPr lang="en-US" altLang="zh-CN" sz="1800" b="0" i="0" dirty="0">
                <a:effectLst/>
                <a:latin typeface="Alibaba PuHuiTi" pitchFamily="18" charset="-122"/>
                <a:ea typeface="Alibaba PuHuiTi" pitchFamily="18" charset="-122"/>
                <a:cs typeface="Alibaba PuHuiTi" pitchFamily="18" charset="-122"/>
              </a:rPr>
              <a:t>{1/10,</a:t>
            </a:r>
            <a:r>
              <a:rPr lang="zh-CN" altLang="en-US" sz="1800" b="0" i="0" dirty="0">
                <a:effectLst/>
                <a:latin typeface="Alibaba PuHuiTi" pitchFamily="18" charset="-122"/>
                <a:ea typeface="Alibaba PuHuiTi" pitchFamily="18" charset="-122"/>
                <a:cs typeface="Alibaba PuHuiTi" pitchFamily="18" charset="-122"/>
              </a:rPr>
              <a:t> </a:t>
            </a:r>
            <a:r>
              <a:rPr lang="en-US" altLang="zh-CN" sz="1800" b="0" i="0" dirty="0">
                <a:effectLst/>
                <a:latin typeface="Alibaba PuHuiTi" pitchFamily="18" charset="-122"/>
                <a:ea typeface="Alibaba PuHuiTi" pitchFamily="18" charset="-122"/>
                <a:cs typeface="Alibaba PuHuiTi" pitchFamily="18" charset="-122"/>
              </a:rPr>
              <a:t>2/10,</a:t>
            </a:r>
            <a:r>
              <a:rPr lang="zh-CN" altLang="en-US" sz="1800" b="0" i="0" dirty="0">
                <a:effectLst/>
                <a:latin typeface="Alibaba PuHuiTi" pitchFamily="18" charset="-122"/>
                <a:ea typeface="Alibaba PuHuiTi" pitchFamily="18" charset="-122"/>
                <a:cs typeface="Alibaba PuHuiTi" pitchFamily="18" charset="-122"/>
              </a:rPr>
              <a:t> </a:t>
            </a:r>
            <a:r>
              <a:rPr lang="en-US" altLang="zh-CN" sz="1800" b="0" i="0" dirty="0">
                <a:effectLst/>
                <a:latin typeface="Alibaba PuHuiTi" pitchFamily="18" charset="-122"/>
                <a:ea typeface="Alibaba PuHuiTi" pitchFamily="18" charset="-122"/>
                <a:cs typeface="Alibaba PuHuiTi" pitchFamily="18" charset="-122"/>
              </a:rPr>
              <a:t>7/10}</a:t>
            </a:r>
            <a:r>
              <a:rPr lang="zh-CN" altLang="en-US" sz="1800" b="0" i="0" dirty="0">
                <a:effectLst/>
                <a:latin typeface="Alibaba PuHuiTi" pitchFamily="18" charset="-122"/>
                <a:ea typeface="Alibaba PuHuiTi" pitchFamily="18" charset="-122"/>
                <a:cs typeface="Alibaba PuHuiTi" pitchFamily="18" charset="-122"/>
              </a:rPr>
              <a:t>，信息熵：</a:t>
            </a:r>
            <a:endParaRPr kumimoji="0" lang="en-US" altLang="zh-CN"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endParaRPr kumimoji="0" lang="zh-CN" altLang="en-GB"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mc:AlternateContent xmlns:mc="http://schemas.openxmlformats.org/markup-compatibility/2006">
        <mc:Choice xmlns:a14="http://schemas.microsoft.com/office/drawing/2010/main" Requires="a14">
          <p:sp>
            <p:nvSpPr>
              <p:cNvPr id="18" name="文本占位符 2"/>
              <p:cNvSpPr txBox="1"/>
              <p:nvPr/>
            </p:nvSpPr>
            <p:spPr>
              <a:xfrm>
                <a:off x="1632560" y="2517559"/>
                <a:ext cx="7079129" cy="48897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en-US" altLang="zh-CN"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H</a:t>
                </a:r>
                <a:r>
                  <a:rPr kumimoji="0" lang="zh-CN" altLang="en-US"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en-US" altLang="zh-CN"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zh-CN" altLang="en-US"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en-US" altLang="zh-CN"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zh-CN" altLang="en-US"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14:m>
                  <m:oMath xmlns:m="http://schemas.openxmlformats.org/officeDocument/2006/math">
                    <m:nary>
                      <m:naryPr>
                        <m:chr m:val="∑"/>
                        <m:ctrlPr>
                          <a:rPr kumimoji="0" lang="zh-CN" altLang="en-US"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ctrlPr>
                      </m:naryPr>
                      <m:sub>
                        <m:r>
                          <m:rPr>
                            <m:brk m:alnAt="23"/>
                          </m:rP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𝑖</m:t>
                        </m:r>
                        <m: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m:t>
                        </m:r>
                        <m: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0</m:t>
                        </m:r>
                      </m:sub>
                      <m:sup>
                        <m: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𝑛</m:t>
                        </m:r>
                      </m:sup>
                      <m:e>
                        <m: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𝑃</m:t>
                        </m:r>
                        <m:d>
                          <m:dPr>
                            <m:ctrlP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ctrlPr>
                          </m:dPr>
                          <m:e>
                            <m:sSub>
                              <m:sSubPr>
                                <m:ctrlPr>
                                  <a:rPr kumimoji="0" lang="en-US" altLang="zh-CN" sz="18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ctrlPr>
                              </m:sSubPr>
                              <m:e>
                                <m:r>
                                  <a:rPr kumimoji="0" lang="en-US" altLang="zh-CN" sz="18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t>𝑥</m:t>
                                </m:r>
                              </m:e>
                              <m:sub>
                                <m:r>
                                  <a:rPr kumimoji="0" lang="en-US" altLang="zh-CN" sz="18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t>𝑖</m:t>
                                </m:r>
                              </m:sub>
                            </m:sSub>
                          </m:e>
                        </m:d>
                        <m:func>
                          <m:funcPr>
                            <m:ctrlP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ctrlPr>
                          </m:funcPr>
                          <m:fName>
                            <m:sSub>
                              <m:sSubPr>
                                <m:ctrlP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ctrlPr>
                              </m:sSubPr>
                              <m:e>
                                <m:r>
                                  <m:rPr>
                                    <m:sty m:val="p"/>
                                  </m:rPr>
                                  <a:rPr kumimoji="0" lang="en-US" altLang="zh-CN" sz="1800" b="0" i="0"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log</m:t>
                                </m:r>
                              </m:e>
                              <m:sub>
                                <m: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2</m:t>
                                </m:r>
                              </m:sub>
                            </m:sSub>
                          </m:fName>
                          <m:e>
                            <m: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𝑃</m:t>
                            </m:r>
                            <m: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m:t>
                            </m:r>
                            <m:sSub>
                              <m:sSubPr>
                                <m:ctrlPr>
                                  <a:rPr kumimoji="0" lang="en-US" altLang="zh-CN" sz="18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ctrlPr>
                              </m:sSubPr>
                              <m:e>
                                <m:r>
                                  <a:rPr kumimoji="0" lang="en-US" altLang="zh-CN" sz="18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t>𝑥</m:t>
                                </m:r>
                              </m:e>
                              <m:sub>
                                <m:r>
                                  <a:rPr kumimoji="0" lang="en-US" altLang="zh-CN" sz="18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t>𝑖</m:t>
                                </m:r>
                              </m:sub>
                            </m:sSub>
                            <m: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m:t>
                            </m:r>
                          </m:e>
                        </m:func>
                        <m:r>
                          <a:rPr kumimoji="0" lang="zh-CN" altLang="en-US"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 </m:t>
                        </m:r>
                      </m:e>
                    </m:nary>
                  </m:oMath>
                </a14:m>
                <a:r>
                  <a:rPr kumimoji="0" lang="zh-CN" altLang="en-US"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en-US" altLang="zh-CN" sz="18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zh-CN" altLang="en-US" sz="18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14:m>
                  <m:oMath xmlns:m="http://schemas.openxmlformats.org/officeDocument/2006/math">
                    <m:r>
                      <a:rPr kumimoji="0" lang="en-US" altLang="zh-CN" sz="1800" b="0" i="0"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m:t>
                    </m:r>
                    <m:r>
                      <a:rPr kumimoji="0" lang="zh-CN" altLang="en-US" sz="1800" b="0" i="0"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 </m:t>
                    </m:r>
                    <m:f>
                      <m:fPr>
                        <m:ctrlPr>
                          <a:rPr kumimoji="0" lang="en-US" altLang="zh-CN" sz="18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ctrlPr>
                      </m:fPr>
                      <m:num>
                        <m:r>
                          <a:rPr kumimoji="0" lang="en-US" altLang="zh-CN" sz="18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1</m:t>
                        </m:r>
                      </m:num>
                      <m:den>
                        <m:r>
                          <a:rPr kumimoji="0" lang="en-US" altLang="zh-CN" sz="18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3</m:t>
                        </m:r>
                      </m:den>
                    </m:f>
                  </m:oMath>
                </a14:m>
                <a:r>
                  <a:rPr kumimoji="0" lang="zh-CN" altLang="en-US" sz="18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14:m>
                  <m:oMath xmlns:m="http://schemas.openxmlformats.org/officeDocument/2006/math">
                    <m:func>
                      <m:funcPr>
                        <m:ctrlPr>
                          <a:rPr kumimoji="0" lang="en-US" altLang="zh-CN" sz="18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ctrlPr>
                      </m:funcPr>
                      <m:fName>
                        <m:sSub>
                          <m:sSubPr>
                            <m:ctrlPr>
                              <a:rPr kumimoji="0" lang="en-US" altLang="zh-CN" sz="18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ctrlPr>
                          </m:sSubPr>
                          <m:e>
                            <m:r>
                              <m:rPr>
                                <m:sty m:val="p"/>
                              </m:rPr>
                              <a:rPr kumimoji="0" lang="en-US" altLang="zh-CN" sz="1800" b="0" i="0"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log</m:t>
                            </m:r>
                          </m:e>
                          <m:sub>
                            <m:r>
                              <a:rPr kumimoji="0" lang="en-US" altLang="zh-CN" sz="18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2</m:t>
                            </m:r>
                          </m:sub>
                        </m:sSub>
                      </m:fName>
                      <m:e>
                        <m:f>
                          <m:fPr>
                            <m:ctrlPr>
                              <a:rPr kumimoji="0" lang="en-US" altLang="zh-CN" sz="18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ctrlPr>
                          </m:fPr>
                          <m:num>
                            <m:r>
                              <a:rPr kumimoji="0" lang="en-US" altLang="zh-CN" sz="18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1</m:t>
                            </m:r>
                          </m:num>
                          <m:den>
                            <m:r>
                              <a:rPr kumimoji="0" lang="en-US" altLang="zh-CN" sz="18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3</m:t>
                            </m:r>
                          </m:den>
                        </m:f>
                        <m:r>
                          <a:rPr kumimoji="0" lang="zh-CN" altLang="en-US" sz="18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 </m:t>
                        </m:r>
                        <m:r>
                          <a:rPr kumimoji="0" lang="en-US" altLang="zh-CN" sz="18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m:t>
                        </m:r>
                      </m:e>
                    </m:func>
                    <m:r>
                      <a:rPr kumimoji="0" lang="zh-CN" altLang="en-US" sz="18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 </m:t>
                    </m:r>
                  </m:oMath>
                </a14:m>
                <a:r>
                  <a:rPr kumimoji="0" lang="zh-CN" altLang="en-US" sz="18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en-US" altLang="zh-CN" sz="18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3</a:t>
                </a:r>
                <a:r>
                  <a:rPr kumimoji="0" lang="zh-CN" altLang="en-US" sz="18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en-US" altLang="zh-CN" sz="18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en-US" altLang="zh-CN" sz="18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a:t> </a:t>
                </a:r>
                <a:r>
                  <a:rPr kumimoji="0" lang="en-US" altLang="zh-CN" sz="1800" b="0"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a:t>1.58496</a:t>
                </a:r>
                <a:endParaRPr kumimoji="0" lang="en-US" altLang="zh-CN" sz="1800" b="0"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endParaRPr>
              </a:p>
            </p:txBody>
          </p:sp>
        </mc:Choice>
        <mc:Fallback>
          <p:sp>
            <p:nvSpPr>
              <p:cNvPr id="18" name="文本占位符 2"/>
              <p:cNvSpPr txBox="1">
                <a:spLocks noRot="1" noChangeAspect="1" noMove="1" noResize="1" noEditPoints="1" noAdjustHandles="1" noChangeArrowheads="1" noChangeShapeType="1" noTextEdit="1"/>
              </p:cNvSpPr>
              <p:nvPr/>
            </p:nvSpPr>
            <p:spPr>
              <a:xfrm>
                <a:off x="1632560" y="2517559"/>
                <a:ext cx="7079129" cy="488970"/>
              </a:xfrm>
              <a:prstGeom prst="rect">
                <a:avLst/>
              </a:prstGeom>
              <a:blipFill rotWithShape="1">
                <a:blip r:embed="rId1"/>
                <a:stretch>
                  <a:fillRect l="-9" t="-86" r="2" b="-2913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占位符 2"/>
              <p:cNvSpPr txBox="1"/>
              <p:nvPr/>
            </p:nvSpPr>
            <p:spPr>
              <a:xfrm>
                <a:off x="1681480" y="3786505"/>
                <a:ext cx="9891395" cy="31496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lvl="0" indent="-285750" algn="l">
                  <a:buClrTx/>
                  <a:buSzTx/>
                  <a:buFont typeface="Arial" panose="020B0604020202020204" pitchFamily="34" charset="0"/>
                  <a:buChar char="•"/>
                  <a:defRPr/>
                </a:pPr>
                <a:r>
                  <a:rPr kumimoji="0" lang="en-US" altLang="zh-CN"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H</a:t>
                </a:r>
                <a:r>
                  <a:rPr kumimoji="0" lang="zh-CN" altLang="en-US"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en-US" altLang="zh-CN"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zh-CN" altLang="en-US"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en-US" altLang="zh-CN"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zh-CN" altLang="en-US"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14:m>
                  <m:oMath xmlns:m="http://schemas.openxmlformats.org/officeDocument/2006/math">
                    <m:nary>
                      <m:naryPr>
                        <m:chr m:val="∑"/>
                        <m:ctrlPr>
                          <a:rPr kumimoji="0" lang="zh-CN" altLang="en-US"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ctrlPr>
                      </m:naryPr>
                      <m:sub>
                        <m:r>
                          <m:rPr>
                            <m:brk m:alnAt="23"/>
                          </m:rP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𝑖</m:t>
                        </m:r>
                        <m: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m:t>
                        </m:r>
                        <m: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0</m:t>
                        </m:r>
                      </m:sub>
                      <m:sup>
                        <m: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𝑛</m:t>
                        </m:r>
                      </m:sup>
                      <m:e>
                        <m: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𝑃</m:t>
                        </m:r>
                        <m:d>
                          <m:dPr>
                            <m:ctrlP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ctrlPr>
                          </m:dPr>
                          <m:e>
                            <m:sSub>
                              <m:sSubPr>
                                <m:ctrlPr>
                                  <a:rPr kumimoji="0" lang="en-US" altLang="zh-CN" sz="18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ctrlPr>
                              </m:sSubPr>
                              <m:e>
                                <m:r>
                                  <a:rPr kumimoji="0" lang="en-US" altLang="zh-CN" sz="18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t>𝑥</m:t>
                                </m:r>
                              </m:e>
                              <m:sub>
                                <m:r>
                                  <a:rPr kumimoji="0" lang="en-US" altLang="zh-CN" sz="18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t>𝑖</m:t>
                                </m:r>
                              </m:sub>
                            </m:sSub>
                          </m:e>
                        </m:d>
                        <m:func>
                          <m:funcPr>
                            <m:ctrlP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ctrlPr>
                          </m:funcPr>
                          <m:fName>
                            <m:sSub>
                              <m:sSubPr>
                                <m:ctrlP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ctrlPr>
                              </m:sSubPr>
                              <m:e>
                                <m:r>
                                  <m:rPr>
                                    <m:sty m:val="p"/>
                                  </m:rPr>
                                  <a:rPr kumimoji="0" lang="en-US" altLang="zh-CN" sz="1800" b="0" i="0"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log</m:t>
                                </m:r>
                              </m:e>
                              <m:sub>
                                <m: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2</m:t>
                                </m:r>
                              </m:sub>
                            </m:sSub>
                          </m:fName>
                          <m:e>
                            <m: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𝑃</m:t>
                            </m:r>
                            <m: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m:t>
                            </m:r>
                            <m:sSub>
                              <m:sSubPr>
                                <m:ctrlPr>
                                  <a:rPr kumimoji="0" lang="en-US" altLang="zh-CN" sz="18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ctrlPr>
                              </m:sSubPr>
                              <m:e>
                                <m:r>
                                  <a:rPr kumimoji="0" lang="en-US" altLang="zh-CN" sz="18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t>𝑥</m:t>
                                </m:r>
                              </m:e>
                              <m:sub>
                                <m:r>
                                  <a:rPr kumimoji="0" lang="en-US" altLang="zh-CN" sz="18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t>𝑖</m:t>
                                </m:r>
                              </m:sub>
                            </m:sSub>
                            <m: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m:t>
                            </m:r>
                          </m:e>
                        </m:func>
                        <m:r>
                          <a:rPr kumimoji="0" lang="zh-CN" altLang="en-US"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 </m:t>
                        </m:r>
                      </m:e>
                    </m:nary>
                  </m:oMath>
                </a14:m>
                <a:r>
                  <a:rPr kumimoji="0" lang="zh-CN" altLang="en-US"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en-US" altLang="zh-CN" sz="18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zh-CN" altLang="en-US" sz="18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14:m>
                  <m:oMath xmlns:m="http://schemas.openxmlformats.org/officeDocument/2006/math">
                    <m:r>
                      <a:rPr kumimoji="0" lang="en-US" altLang="zh-CN" sz="1800" b="0" i="0"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m:t>
                    </m:r>
                    <m:r>
                      <a:rPr kumimoji="0" lang="zh-CN" altLang="en-US" sz="1800" b="0" i="0"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 </m:t>
                    </m:r>
                    <m:f>
                      <m:fPr>
                        <m:ctrlPr>
                          <a:rPr kumimoji="0" lang="en-US" altLang="zh-CN" sz="18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ctrlPr>
                      </m:fPr>
                      <m:num>
                        <m:r>
                          <a:rPr kumimoji="0" lang="en-US" altLang="zh-CN" sz="18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1</m:t>
                        </m:r>
                      </m:num>
                      <m:den>
                        <m:r>
                          <a:rPr kumimoji="0" lang="en-US" altLang="zh-CN" sz="18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10</m:t>
                        </m:r>
                      </m:den>
                    </m:f>
                  </m:oMath>
                </a14:m>
                <a:r>
                  <a:rPr kumimoji="0" lang="zh-CN" altLang="en-US" sz="18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14:m>
                  <m:oMath xmlns:m="http://schemas.openxmlformats.org/officeDocument/2006/math">
                    <m:func>
                      <m:funcPr>
                        <m:ctrlPr>
                          <a:rPr kumimoji="0" lang="en-US" altLang="zh-CN" sz="18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ctrlPr>
                      </m:funcPr>
                      <m:fName>
                        <m:sSub>
                          <m:sSubPr>
                            <m:ctrlPr>
                              <a:rPr kumimoji="0" lang="en-US" altLang="zh-CN" sz="18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ctrlPr>
                          </m:sSubPr>
                          <m:e>
                            <m:r>
                              <m:rPr>
                                <m:sty m:val="p"/>
                              </m:rPr>
                              <a:rPr kumimoji="0" lang="en-US" altLang="zh-CN" sz="1800" b="0" i="0"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log</m:t>
                            </m:r>
                          </m:e>
                          <m:sub>
                            <m:r>
                              <a:rPr kumimoji="0" lang="en-US" altLang="zh-CN" sz="18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2</m:t>
                            </m:r>
                          </m:sub>
                        </m:sSub>
                      </m:fName>
                      <m:e>
                        <m:f>
                          <m:fPr>
                            <m:ctrlPr>
                              <a:rPr kumimoji="0" lang="en-US" altLang="zh-CN" sz="18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ctrlPr>
                          </m:fPr>
                          <m:num>
                            <m:r>
                              <a:rPr kumimoji="0" lang="en-US" altLang="zh-CN" sz="18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1</m:t>
                            </m:r>
                          </m:num>
                          <m:den>
                            <m:r>
                              <a:rPr kumimoji="0" lang="en-US" altLang="zh-CN" sz="18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10</m:t>
                            </m:r>
                          </m:den>
                        </m:f>
                        <m:r>
                          <a:rPr kumimoji="0" lang="zh-CN" altLang="en-US" sz="18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 </m:t>
                        </m:r>
                        <m:r>
                          <a:rPr kumimoji="0" lang="en-US" altLang="zh-CN" sz="18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m:t>
                        </m:r>
                      </m:e>
                    </m:func>
                  </m:oMath>
                </a14:m>
                <a:r>
                  <a:rPr kumimoji="0" lang="zh-CN" altLang="en-US" sz="18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en-US" altLang="zh-CN" sz="18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zh-CN" altLang="en-US" sz="18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14:m>
                  <m:oMath xmlns:m="http://schemas.openxmlformats.org/officeDocument/2006/math">
                    <m:r>
                      <a:rPr lang="en-US" altLang="zh-CN" sz="1800">
                        <a:solidFill>
                          <a:srgbClr val="C0504D">
                            <a:lumMod val="75000"/>
                          </a:srgbClr>
                        </a:solidFill>
                        <a:latin typeface="Cambria Math" panose="02040503050406030204" pitchFamily="18" charset="0"/>
                        <a:ea typeface="Alibaba PuHuiTi" pitchFamily="18" charset="-122"/>
                        <a:cs typeface="Alibaba PuHuiTi" pitchFamily="18" charset="-122"/>
                      </a:rPr>
                      <m:t>(−</m:t>
                    </m:r>
                    <m:r>
                      <a:rPr lang="zh-CN" altLang="en-US" sz="1800">
                        <a:solidFill>
                          <a:srgbClr val="C0504D">
                            <a:lumMod val="75000"/>
                          </a:srgbClr>
                        </a:solidFill>
                        <a:latin typeface="Cambria Math" panose="02040503050406030204" pitchFamily="18" charset="0"/>
                        <a:ea typeface="Alibaba PuHuiTi" pitchFamily="18" charset="-122"/>
                        <a:cs typeface="Alibaba PuHuiTi" pitchFamily="18" charset="-122"/>
                      </a:rPr>
                      <m:t> </m:t>
                    </m:r>
                    <m:f>
                      <m:fPr>
                        <m:ctrlPr>
                          <a:rPr lang="en-US" altLang="zh-CN" sz="1800" i="1">
                            <a:solidFill>
                              <a:srgbClr val="C0504D">
                                <a:lumMod val="75000"/>
                              </a:srgbClr>
                            </a:solidFill>
                            <a:latin typeface="Cambria Math" panose="02040503050406030204" pitchFamily="18" charset="0"/>
                            <a:ea typeface="Alibaba PuHuiTi" pitchFamily="18" charset="-122"/>
                            <a:cs typeface="Alibaba PuHuiTi" pitchFamily="18" charset="-122"/>
                          </a:rPr>
                        </m:ctrlPr>
                      </m:fPr>
                      <m:num>
                        <m:r>
                          <a:rPr lang="en-US" altLang="zh-CN" sz="1800" b="0" i="1" smtClean="0">
                            <a:solidFill>
                              <a:srgbClr val="C0504D">
                                <a:lumMod val="75000"/>
                              </a:srgbClr>
                            </a:solidFill>
                            <a:latin typeface="Cambria Math" panose="02040503050406030204" pitchFamily="18" charset="0"/>
                            <a:ea typeface="Alibaba PuHuiTi" pitchFamily="18" charset="-122"/>
                            <a:cs typeface="Alibaba PuHuiTi" pitchFamily="18" charset="-122"/>
                          </a:rPr>
                          <m:t>2</m:t>
                        </m:r>
                      </m:num>
                      <m:den>
                        <m:r>
                          <a:rPr lang="en-US" altLang="zh-CN" sz="1800" i="1">
                            <a:solidFill>
                              <a:srgbClr val="C0504D">
                                <a:lumMod val="75000"/>
                              </a:srgbClr>
                            </a:solidFill>
                            <a:latin typeface="Cambria Math" panose="02040503050406030204" pitchFamily="18" charset="0"/>
                            <a:ea typeface="Alibaba PuHuiTi" pitchFamily="18" charset="-122"/>
                            <a:cs typeface="Alibaba PuHuiTi" pitchFamily="18" charset="-122"/>
                          </a:rPr>
                          <m:t>10</m:t>
                        </m:r>
                      </m:den>
                    </m:f>
                  </m:oMath>
                </a14:m>
                <a:r>
                  <a:rPr lang="zh-CN" altLang="en-US" sz="1800" dirty="0">
                    <a:solidFill>
                      <a:srgbClr val="C0504D">
                        <a:lumMod val="75000"/>
                      </a:srgbClr>
                    </a:solidFill>
                    <a:latin typeface="Alibaba PuHuiTi" pitchFamily="18" charset="-122"/>
                    <a:ea typeface="Alibaba PuHuiTi" pitchFamily="18" charset="-122"/>
                    <a:cs typeface="Alibaba PuHuiTi" pitchFamily="18" charset="-122"/>
                  </a:rPr>
                  <a:t> </a:t>
                </a:r>
                <a14:m>
                  <m:oMath xmlns:m="http://schemas.openxmlformats.org/officeDocument/2006/math">
                    <m:func>
                      <m:funcPr>
                        <m:ctrlPr>
                          <a:rPr lang="en-US" altLang="zh-CN" sz="1800" i="1">
                            <a:solidFill>
                              <a:srgbClr val="C0504D">
                                <a:lumMod val="75000"/>
                              </a:srgbClr>
                            </a:solidFill>
                            <a:latin typeface="Cambria Math" panose="02040503050406030204" pitchFamily="18" charset="0"/>
                            <a:ea typeface="Alibaba PuHuiTi" pitchFamily="18" charset="-122"/>
                            <a:cs typeface="Alibaba PuHuiTi" pitchFamily="18" charset="-122"/>
                          </a:rPr>
                        </m:ctrlPr>
                      </m:funcPr>
                      <m:fName>
                        <m:sSub>
                          <m:sSubPr>
                            <m:ctrlPr>
                              <a:rPr lang="en-US" altLang="zh-CN" sz="1800" i="1">
                                <a:solidFill>
                                  <a:srgbClr val="C0504D">
                                    <a:lumMod val="75000"/>
                                  </a:srgbClr>
                                </a:solidFill>
                                <a:latin typeface="Cambria Math" panose="02040503050406030204" pitchFamily="18" charset="0"/>
                                <a:ea typeface="Alibaba PuHuiTi" pitchFamily="18" charset="-122"/>
                                <a:cs typeface="Alibaba PuHuiTi" pitchFamily="18" charset="-122"/>
                              </a:rPr>
                            </m:ctrlPr>
                          </m:sSubPr>
                          <m:e>
                            <m:r>
                              <m:rPr>
                                <m:sty m:val="p"/>
                              </m:rPr>
                              <a:rPr lang="en-US" altLang="zh-CN" sz="1800">
                                <a:solidFill>
                                  <a:srgbClr val="C0504D">
                                    <a:lumMod val="75000"/>
                                  </a:srgbClr>
                                </a:solidFill>
                                <a:latin typeface="Cambria Math" panose="02040503050406030204" pitchFamily="18" charset="0"/>
                                <a:ea typeface="Alibaba PuHuiTi" pitchFamily="18" charset="-122"/>
                                <a:cs typeface="Alibaba PuHuiTi" pitchFamily="18" charset="-122"/>
                              </a:rPr>
                              <m:t>log</m:t>
                            </m:r>
                          </m:e>
                          <m:sub>
                            <m:r>
                              <a:rPr lang="en-US" altLang="zh-CN" sz="1800" i="1">
                                <a:solidFill>
                                  <a:srgbClr val="C0504D">
                                    <a:lumMod val="75000"/>
                                  </a:srgbClr>
                                </a:solidFill>
                                <a:latin typeface="Cambria Math" panose="02040503050406030204" pitchFamily="18" charset="0"/>
                                <a:ea typeface="Alibaba PuHuiTi" pitchFamily="18" charset="-122"/>
                                <a:cs typeface="Alibaba PuHuiTi" pitchFamily="18" charset="-122"/>
                              </a:rPr>
                              <m:t>2</m:t>
                            </m:r>
                          </m:sub>
                        </m:sSub>
                      </m:fName>
                      <m:e>
                        <m:f>
                          <m:fPr>
                            <m:ctrlPr>
                              <a:rPr lang="en-US" altLang="zh-CN" sz="1800" i="1">
                                <a:solidFill>
                                  <a:srgbClr val="C0504D">
                                    <a:lumMod val="75000"/>
                                  </a:srgbClr>
                                </a:solidFill>
                                <a:latin typeface="Cambria Math" panose="02040503050406030204" pitchFamily="18" charset="0"/>
                                <a:ea typeface="Alibaba PuHuiTi" pitchFamily="18" charset="-122"/>
                                <a:cs typeface="Alibaba PuHuiTi" pitchFamily="18" charset="-122"/>
                              </a:rPr>
                            </m:ctrlPr>
                          </m:fPr>
                          <m:num>
                            <m:r>
                              <a:rPr lang="en-US" altLang="zh-CN" sz="1800" b="0" i="1" smtClean="0">
                                <a:solidFill>
                                  <a:srgbClr val="C0504D">
                                    <a:lumMod val="75000"/>
                                  </a:srgbClr>
                                </a:solidFill>
                                <a:latin typeface="Cambria Math" panose="02040503050406030204" pitchFamily="18" charset="0"/>
                                <a:ea typeface="Alibaba PuHuiTi" pitchFamily="18" charset="-122"/>
                                <a:cs typeface="Alibaba PuHuiTi" pitchFamily="18" charset="-122"/>
                              </a:rPr>
                              <m:t>2</m:t>
                            </m:r>
                          </m:num>
                          <m:den>
                            <m:r>
                              <a:rPr lang="en-US" altLang="zh-CN" sz="1800" i="1">
                                <a:solidFill>
                                  <a:srgbClr val="C0504D">
                                    <a:lumMod val="75000"/>
                                  </a:srgbClr>
                                </a:solidFill>
                                <a:latin typeface="Cambria Math" panose="02040503050406030204" pitchFamily="18" charset="0"/>
                                <a:ea typeface="Alibaba PuHuiTi" pitchFamily="18" charset="-122"/>
                                <a:cs typeface="Alibaba PuHuiTi" pitchFamily="18" charset="-122"/>
                              </a:rPr>
                              <m:t>10</m:t>
                            </m:r>
                          </m:den>
                        </m:f>
                        <m:r>
                          <a:rPr lang="zh-CN" altLang="en-US" sz="1800" i="1">
                            <a:solidFill>
                              <a:srgbClr val="C0504D">
                                <a:lumMod val="75000"/>
                              </a:srgbClr>
                            </a:solidFill>
                            <a:latin typeface="Cambria Math" panose="02040503050406030204" pitchFamily="18" charset="0"/>
                            <a:ea typeface="Alibaba PuHuiTi" pitchFamily="18" charset="-122"/>
                            <a:cs typeface="Alibaba PuHuiTi" pitchFamily="18" charset="-122"/>
                          </a:rPr>
                          <m:t> </m:t>
                        </m:r>
                        <m:r>
                          <a:rPr lang="en-US" altLang="zh-CN" sz="1800" i="1">
                            <a:solidFill>
                              <a:srgbClr val="C0504D">
                                <a:lumMod val="75000"/>
                              </a:srgbClr>
                            </a:solidFill>
                            <a:latin typeface="Cambria Math" panose="02040503050406030204" pitchFamily="18" charset="0"/>
                            <a:ea typeface="Alibaba PuHuiTi" pitchFamily="18" charset="-122"/>
                            <a:cs typeface="Alibaba PuHuiTi" pitchFamily="18" charset="-122"/>
                          </a:rPr>
                          <m:t>)</m:t>
                        </m:r>
                      </m:e>
                    </m:func>
                  </m:oMath>
                </a14:m>
                <a:r>
                  <a:rPr lang="zh-CN" altLang="en-US" sz="1800" dirty="0">
                    <a:solidFill>
                      <a:srgbClr val="C0504D">
                        <a:lumMod val="75000"/>
                      </a:srgbClr>
                    </a:solidFill>
                    <a:latin typeface="Alibaba PuHuiTi" pitchFamily="18" charset="-122"/>
                    <a:ea typeface="Alibaba PuHuiTi" pitchFamily="18" charset="-122"/>
                    <a:cs typeface="Alibaba PuHuiTi" pitchFamily="18" charset="-122"/>
                  </a:rPr>
                  <a:t>  </a:t>
                </a:r>
                <a:r>
                  <a:rPr lang="en-US" altLang="zh-CN" sz="1800" dirty="0">
                    <a:solidFill>
                      <a:srgbClr val="C0504D">
                        <a:lumMod val="75000"/>
                      </a:srgbClr>
                    </a:solidFill>
                    <a:latin typeface="Alibaba PuHuiTi" pitchFamily="18" charset="-122"/>
                    <a:ea typeface="Alibaba PuHuiTi" pitchFamily="18" charset="-122"/>
                    <a:cs typeface="Alibaba PuHuiTi" pitchFamily="18" charset="-122"/>
                  </a:rPr>
                  <a:t>+</a:t>
                </a:r>
                <a:r>
                  <a:rPr lang="zh-CN" altLang="en-US" sz="1800" dirty="0">
                    <a:solidFill>
                      <a:srgbClr val="C0504D">
                        <a:lumMod val="75000"/>
                      </a:srgbClr>
                    </a:solidFill>
                    <a:latin typeface="Alibaba PuHuiTi" pitchFamily="18" charset="-122"/>
                    <a:ea typeface="Alibaba PuHuiTi" pitchFamily="18" charset="-122"/>
                    <a:cs typeface="Alibaba PuHuiTi" pitchFamily="18" charset="-122"/>
                  </a:rPr>
                  <a:t> </a:t>
                </a:r>
                <a14:m>
                  <m:oMath xmlns:m="http://schemas.openxmlformats.org/officeDocument/2006/math">
                    <m:r>
                      <a:rPr lang="en-US" altLang="zh-CN" sz="1800">
                        <a:solidFill>
                          <a:srgbClr val="C0504D">
                            <a:lumMod val="75000"/>
                          </a:srgbClr>
                        </a:solidFill>
                        <a:latin typeface="Cambria Math" panose="02040503050406030204" pitchFamily="18" charset="0"/>
                        <a:ea typeface="Alibaba PuHuiTi" pitchFamily="18" charset="-122"/>
                        <a:cs typeface="Alibaba PuHuiTi" pitchFamily="18" charset="-122"/>
                      </a:rPr>
                      <m:t>(−</m:t>
                    </m:r>
                    <m:r>
                      <a:rPr lang="zh-CN" altLang="en-US" sz="1800">
                        <a:solidFill>
                          <a:srgbClr val="C0504D">
                            <a:lumMod val="75000"/>
                          </a:srgbClr>
                        </a:solidFill>
                        <a:latin typeface="Cambria Math" panose="02040503050406030204" pitchFamily="18" charset="0"/>
                        <a:ea typeface="Alibaba PuHuiTi" pitchFamily="18" charset="-122"/>
                        <a:cs typeface="Alibaba PuHuiTi" pitchFamily="18" charset="-122"/>
                      </a:rPr>
                      <m:t> </m:t>
                    </m:r>
                    <m:f>
                      <m:fPr>
                        <m:ctrlPr>
                          <a:rPr lang="en-US" altLang="zh-CN" sz="1800" i="1">
                            <a:solidFill>
                              <a:srgbClr val="C0504D">
                                <a:lumMod val="75000"/>
                              </a:srgbClr>
                            </a:solidFill>
                            <a:latin typeface="Cambria Math" panose="02040503050406030204" pitchFamily="18" charset="0"/>
                            <a:ea typeface="Alibaba PuHuiTi" pitchFamily="18" charset="-122"/>
                            <a:cs typeface="Alibaba PuHuiTi" pitchFamily="18" charset="-122"/>
                          </a:rPr>
                        </m:ctrlPr>
                      </m:fPr>
                      <m:num>
                        <m:r>
                          <a:rPr lang="en-US" altLang="zh-CN" sz="1800" b="0" i="1" smtClean="0">
                            <a:solidFill>
                              <a:srgbClr val="C0504D">
                                <a:lumMod val="75000"/>
                              </a:srgbClr>
                            </a:solidFill>
                            <a:latin typeface="Cambria Math" panose="02040503050406030204" pitchFamily="18" charset="0"/>
                            <a:ea typeface="Alibaba PuHuiTi" pitchFamily="18" charset="-122"/>
                            <a:cs typeface="Alibaba PuHuiTi" pitchFamily="18" charset="-122"/>
                          </a:rPr>
                          <m:t>7</m:t>
                        </m:r>
                      </m:num>
                      <m:den>
                        <m:r>
                          <a:rPr lang="en-US" altLang="zh-CN" sz="1800" i="1">
                            <a:solidFill>
                              <a:srgbClr val="C0504D">
                                <a:lumMod val="75000"/>
                              </a:srgbClr>
                            </a:solidFill>
                            <a:latin typeface="Cambria Math" panose="02040503050406030204" pitchFamily="18" charset="0"/>
                            <a:ea typeface="Alibaba PuHuiTi" pitchFamily="18" charset="-122"/>
                            <a:cs typeface="Alibaba PuHuiTi" pitchFamily="18" charset="-122"/>
                          </a:rPr>
                          <m:t>10</m:t>
                        </m:r>
                      </m:den>
                    </m:f>
                  </m:oMath>
                </a14:m>
                <a:r>
                  <a:rPr lang="zh-CN" altLang="en-US" sz="1800" dirty="0">
                    <a:solidFill>
                      <a:srgbClr val="C0504D">
                        <a:lumMod val="75000"/>
                      </a:srgbClr>
                    </a:solidFill>
                    <a:latin typeface="Alibaba PuHuiTi" pitchFamily="18" charset="-122"/>
                    <a:ea typeface="Alibaba PuHuiTi" pitchFamily="18" charset="-122"/>
                    <a:cs typeface="Alibaba PuHuiTi" pitchFamily="18" charset="-122"/>
                  </a:rPr>
                  <a:t> </a:t>
                </a:r>
                <a14:m>
                  <m:oMath xmlns:m="http://schemas.openxmlformats.org/officeDocument/2006/math">
                    <m:func>
                      <m:funcPr>
                        <m:ctrlPr>
                          <a:rPr lang="en-US" altLang="zh-CN" sz="1800" i="1">
                            <a:solidFill>
                              <a:srgbClr val="C0504D">
                                <a:lumMod val="75000"/>
                              </a:srgbClr>
                            </a:solidFill>
                            <a:latin typeface="Cambria Math" panose="02040503050406030204" pitchFamily="18" charset="0"/>
                            <a:ea typeface="Alibaba PuHuiTi" pitchFamily="18" charset="-122"/>
                            <a:cs typeface="Alibaba PuHuiTi" pitchFamily="18" charset="-122"/>
                          </a:rPr>
                        </m:ctrlPr>
                      </m:funcPr>
                      <m:fName>
                        <m:sSub>
                          <m:sSubPr>
                            <m:ctrlPr>
                              <a:rPr lang="en-US" altLang="zh-CN" sz="1800" i="1">
                                <a:solidFill>
                                  <a:srgbClr val="C0504D">
                                    <a:lumMod val="75000"/>
                                  </a:srgbClr>
                                </a:solidFill>
                                <a:latin typeface="Cambria Math" panose="02040503050406030204" pitchFamily="18" charset="0"/>
                                <a:ea typeface="Alibaba PuHuiTi" pitchFamily="18" charset="-122"/>
                                <a:cs typeface="Alibaba PuHuiTi" pitchFamily="18" charset="-122"/>
                              </a:rPr>
                            </m:ctrlPr>
                          </m:sSubPr>
                          <m:e>
                            <m:r>
                              <m:rPr>
                                <m:sty m:val="p"/>
                              </m:rPr>
                              <a:rPr lang="en-US" altLang="zh-CN" sz="1800">
                                <a:solidFill>
                                  <a:srgbClr val="C0504D">
                                    <a:lumMod val="75000"/>
                                  </a:srgbClr>
                                </a:solidFill>
                                <a:latin typeface="Cambria Math" panose="02040503050406030204" pitchFamily="18" charset="0"/>
                                <a:ea typeface="Alibaba PuHuiTi" pitchFamily="18" charset="-122"/>
                                <a:cs typeface="Alibaba PuHuiTi" pitchFamily="18" charset="-122"/>
                              </a:rPr>
                              <m:t>log</m:t>
                            </m:r>
                          </m:e>
                          <m:sub>
                            <m:r>
                              <a:rPr lang="en-US" altLang="zh-CN" sz="1800" i="1">
                                <a:solidFill>
                                  <a:srgbClr val="C0504D">
                                    <a:lumMod val="75000"/>
                                  </a:srgbClr>
                                </a:solidFill>
                                <a:latin typeface="Cambria Math" panose="02040503050406030204" pitchFamily="18" charset="0"/>
                                <a:ea typeface="Alibaba PuHuiTi" pitchFamily="18" charset="-122"/>
                                <a:cs typeface="Alibaba PuHuiTi" pitchFamily="18" charset="-122"/>
                              </a:rPr>
                              <m:t>2</m:t>
                            </m:r>
                          </m:sub>
                        </m:sSub>
                      </m:fName>
                      <m:e>
                        <m:f>
                          <m:fPr>
                            <m:ctrlPr>
                              <a:rPr lang="en-US" altLang="zh-CN" sz="1800" i="1">
                                <a:solidFill>
                                  <a:srgbClr val="C0504D">
                                    <a:lumMod val="75000"/>
                                  </a:srgbClr>
                                </a:solidFill>
                                <a:latin typeface="Cambria Math" panose="02040503050406030204" pitchFamily="18" charset="0"/>
                                <a:ea typeface="Alibaba PuHuiTi" pitchFamily="18" charset="-122"/>
                                <a:cs typeface="Alibaba PuHuiTi" pitchFamily="18" charset="-122"/>
                              </a:rPr>
                            </m:ctrlPr>
                          </m:fPr>
                          <m:num>
                            <m:r>
                              <a:rPr lang="en-US" altLang="zh-CN" sz="1800" b="0" i="1" smtClean="0">
                                <a:solidFill>
                                  <a:srgbClr val="C0504D">
                                    <a:lumMod val="75000"/>
                                  </a:srgbClr>
                                </a:solidFill>
                                <a:latin typeface="Cambria Math" panose="02040503050406030204" pitchFamily="18" charset="0"/>
                                <a:ea typeface="Alibaba PuHuiTi" pitchFamily="18" charset="-122"/>
                                <a:cs typeface="Alibaba PuHuiTi" pitchFamily="18" charset="-122"/>
                              </a:rPr>
                              <m:t>7</m:t>
                            </m:r>
                          </m:num>
                          <m:den>
                            <m:r>
                              <a:rPr lang="en-US" altLang="zh-CN" sz="1800" i="1">
                                <a:solidFill>
                                  <a:srgbClr val="C0504D">
                                    <a:lumMod val="75000"/>
                                  </a:srgbClr>
                                </a:solidFill>
                                <a:latin typeface="Cambria Math" panose="02040503050406030204" pitchFamily="18" charset="0"/>
                                <a:ea typeface="Alibaba PuHuiTi" pitchFamily="18" charset="-122"/>
                                <a:cs typeface="Alibaba PuHuiTi" pitchFamily="18" charset="-122"/>
                              </a:rPr>
                              <m:t>10</m:t>
                            </m:r>
                          </m:den>
                        </m:f>
                        <m:r>
                          <a:rPr lang="zh-CN" altLang="en-US" sz="1800" i="1">
                            <a:solidFill>
                              <a:srgbClr val="C0504D">
                                <a:lumMod val="75000"/>
                              </a:srgbClr>
                            </a:solidFill>
                            <a:latin typeface="Cambria Math" panose="02040503050406030204" pitchFamily="18" charset="0"/>
                            <a:ea typeface="Alibaba PuHuiTi" pitchFamily="18" charset="-122"/>
                            <a:cs typeface="Alibaba PuHuiTi" pitchFamily="18" charset="-122"/>
                          </a:rPr>
                          <m:t> </m:t>
                        </m:r>
                        <m:r>
                          <a:rPr lang="en-US" altLang="zh-CN" sz="1800" i="1">
                            <a:solidFill>
                              <a:srgbClr val="C0504D">
                                <a:lumMod val="75000"/>
                              </a:srgbClr>
                            </a:solidFill>
                            <a:latin typeface="Cambria Math" panose="02040503050406030204" pitchFamily="18" charset="0"/>
                            <a:ea typeface="Alibaba PuHuiTi" pitchFamily="18" charset="-122"/>
                            <a:cs typeface="Alibaba PuHuiTi" pitchFamily="18" charset="-122"/>
                          </a:rPr>
                          <m:t>)</m:t>
                        </m:r>
                      </m:e>
                    </m:func>
                  </m:oMath>
                </a14:m>
                <a:r>
                  <a:rPr lang="zh-CN" altLang="en-US" sz="1800" dirty="0">
                    <a:solidFill>
                      <a:srgbClr val="C0504D">
                        <a:lumMod val="75000"/>
                      </a:srgbClr>
                    </a:solidFill>
                    <a:latin typeface="Alibaba PuHuiTi" pitchFamily="18" charset="-122"/>
                    <a:ea typeface="Alibaba PuHuiTi" pitchFamily="18" charset="-122"/>
                    <a:cs typeface="Alibaba PuHuiTi" pitchFamily="18" charset="-122"/>
                  </a:rPr>
                  <a:t>  </a:t>
                </a:r>
                <a:r>
                  <a:rPr kumimoji="0" lang="en-US" altLang="zh-CN" sz="18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zh-CN" altLang="en-US" sz="18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en-US" altLang="zh-CN" sz="1800" b="0"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a:t>1.1568</a:t>
                </a:r>
                <a:endParaRPr kumimoji="0" lang="en-US" altLang="zh-CN" sz="1800" b="0"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endParaRPr>
              </a:p>
            </p:txBody>
          </p:sp>
        </mc:Choice>
        <mc:Fallback>
          <p:sp>
            <p:nvSpPr>
              <p:cNvPr id="19" name="文本占位符 2"/>
              <p:cNvSpPr txBox="1">
                <a:spLocks noRot="1" noChangeAspect="1" noMove="1" noResize="1" noEditPoints="1" noAdjustHandles="1" noChangeArrowheads="1" noChangeShapeType="1" noTextEdit="1"/>
              </p:cNvSpPr>
              <p:nvPr/>
            </p:nvSpPr>
            <p:spPr>
              <a:xfrm>
                <a:off x="1681480" y="3786505"/>
                <a:ext cx="9891395" cy="314960"/>
              </a:xfrm>
              <a:prstGeom prst="rect">
                <a:avLst/>
              </a:prstGeom>
              <a:blipFill rotWithShape="1">
                <a:blip r:embed="rId2"/>
                <a:stretch>
                  <a:fillRect b="-100605"/>
                </a:stretch>
              </a:blipFill>
            </p:spPr>
            <p:txBody>
              <a:bodyPr/>
              <a:lstStyle/>
              <a:p>
                <a:r>
                  <a:rPr lang="zh-CN" altLang="en-US">
                    <a:noFill/>
                  </a:rPr>
                  <a:t> </a:t>
                </a:r>
              </a:p>
            </p:txBody>
          </p:sp>
        </mc:Fallback>
      </mc:AlternateContent>
      <p:sp>
        <p:nvSpPr>
          <p:cNvPr id="20" name="文本占位符 2"/>
          <p:cNvSpPr txBox="1"/>
          <p:nvPr/>
        </p:nvSpPr>
        <p:spPr>
          <a:xfrm>
            <a:off x="1649600" y="6259201"/>
            <a:ext cx="7792856" cy="46929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endParaRPr>
          </a:p>
        </p:txBody>
      </p:sp>
      <p:sp>
        <p:nvSpPr>
          <p:cNvPr id="21" name="文本占位符 2"/>
          <p:cNvSpPr txBox="1"/>
          <p:nvPr/>
        </p:nvSpPr>
        <p:spPr>
          <a:xfrm>
            <a:off x="881539" y="4562069"/>
            <a:ext cx="7830150"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栗子</a:t>
            </a:r>
            <a:r>
              <a:rPr kumimoji="0" lang="en-US" altLang="zh-CN"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2-3</a:t>
            </a:r>
            <a:r>
              <a:rPr kumimoji="0" lang="zh-CN" altLang="en-US"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lang="zh-CN" altLang="en-US" sz="1800" b="0" i="0" dirty="0">
                <a:effectLst/>
                <a:latin typeface="Roboto" panose="02000000000000000000" pitchFamily="2" charset="0"/>
              </a:rPr>
              <a:t>假如数据集有三个类别，分别占比为：</a:t>
            </a:r>
            <a:r>
              <a:rPr lang="en-US" altLang="zh-CN" sz="1800" b="0" i="0" dirty="0">
                <a:effectLst/>
                <a:latin typeface="Roboto" panose="02000000000000000000" pitchFamily="2" charset="0"/>
              </a:rPr>
              <a:t>{1,</a:t>
            </a:r>
            <a:r>
              <a:rPr lang="zh-CN" altLang="en-US" sz="1800" b="0" i="0" dirty="0">
                <a:effectLst/>
                <a:latin typeface="Roboto" panose="02000000000000000000" pitchFamily="2" charset="0"/>
              </a:rPr>
              <a:t> </a:t>
            </a:r>
            <a:r>
              <a:rPr lang="en-US" altLang="zh-CN" sz="1800" dirty="0">
                <a:latin typeface="Roboto" panose="02000000000000000000" pitchFamily="2" charset="0"/>
              </a:rPr>
              <a:t>0</a:t>
            </a:r>
            <a:r>
              <a:rPr lang="en-US" altLang="zh-CN" sz="1800" b="0" i="0" dirty="0">
                <a:effectLst/>
                <a:latin typeface="Roboto" panose="02000000000000000000" pitchFamily="2" charset="0"/>
              </a:rPr>
              <a:t>,</a:t>
            </a:r>
            <a:r>
              <a:rPr lang="zh-CN" altLang="en-US" sz="1800" b="0" i="0" dirty="0">
                <a:effectLst/>
                <a:latin typeface="Roboto" panose="02000000000000000000" pitchFamily="2" charset="0"/>
              </a:rPr>
              <a:t> </a:t>
            </a:r>
            <a:r>
              <a:rPr lang="zh-CN" altLang="en-US" sz="1800" dirty="0">
                <a:latin typeface="Roboto" panose="02000000000000000000" pitchFamily="2" charset="0"/>
              </a:rPr>
              <a:t> </a:t>
            </a:r>
            <a:r>
              <a:rPr lang="en-US" altLang="zh-CN" sz="1800" dirty="0">
                <a:latin typeface="Roboto" panose="02000000000000000000" pitchFamily="2" charset="0"/>
              </a:rPr>
              <a:t>0</a:t>
            </a:r>
            <a:r>
              <a:rPr lang="en-US" altLang="zh-CN" sz="1800" b="0" i="0" dirty="0">
                <a:effectLst/>
                <a:latin typeface="Roboto" panose="02000000000000000000" pitchFamily="2" charset="0"/>
              </a:rPr>
              <a:t>}</a:t>
            </a:r>
            <a:r>
              <a:rPr lang="zh-CN" altLang="en-US" sz="1800" b="0" i="0" dirty="0">
                <a:effectLst/>
                <a:latin typeface="Roboto" panose="02000000000000000000" pitchFamily="2" charset="0"/>
              </a:rPr>
              <a:t>，信息熵：</a:t>
            </a:r>
            <a:endParaRPr kumimoji="0" lang="en-US" altLang="zh-CN"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endParaRPr kumimoji="0" lang="zh-CN" altLang="en-GB"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mc:AlternateContent xmlns:mc="http://schemas.openxmlformats.org/markup-compatibility/2006">
        <mc:Choice xmlns:a14="http://schemas.microsoft.com/office/drawing/2010/main" Requires="a14">
          <p:sp>
            <p:nvSpPr>
              <p:cNvPr id="23" name="文本占位符 2"/>
              <p:cNvSpPr txBox="1"/>
              <p:nvPr/>
            </p:nvSpPr>
            <p:spPr>
              <a:xfrm>
                <a:off x="1649600" y="5229032"/>
                <a:ext cx="7209719"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lvl="0" indent="-285750">
                  <a:buFont typeface="Arial" panose="020B0604020202020204" pitchFamily="34" charset="0"/>
                  <a:buChar char="•"/>
                  <a:defRPr/>
                </a:pPr>
                <a:r>
                  <a:rPr kumimoji="0" lang="en-US" altLang="zh-CN"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H</a:t>
                </a:r>
                <a:r>
                  <a:rPr kumimoji="0" lang="zh-CN" altLang="en-US"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en-US" altLang="zh-CN"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zh-CN" altLang="en-US"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en-US" altLang="zh-CN"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zh-CN" altLang="en-US"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14:m>
                  <m:oMath xmlns:m="http://schemas.openxmlformats.org/officeDocument/2006/math">
                    <m:nary>
                      <m:naryPr>
                        <m:chr m:val="∑"/>
                        <m:ctrlPr>
                          <a:rPr kumimoji="0" lang="zh-CN" altLang="en-US"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ctrlPr>
                      </m:naryPr>
                      <m:sub>
                        <m:r>
                          <m:rPr>
                            <m:brk m:alnAt="23"/>
                          </m:rP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𝑖</m:t>
                        </m:r>
                        <m: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m:t>
                        </m:r>
                        <m: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0</m:t>
                        </m:r>
                      </m:sub>
                      <m:sup>
                        <m: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𝑛</m:t>
                        </m:r>
                      </m:sup>
                      <m:e>
                        <m: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𝑃</m:t>
                        </m:r>
                        <m:d>
                          <m:dPr>
                            <m:ctrlP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ctrlPr>
                          </m:dPr>
                          <m:e>
                            <m:sSub>
                              <m:sSubPr>
                                <m:ctrlPr>
                                  <a:rPr kumimoji="0" lang="en-US" altLang="zh-CN" sz="18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ctrlPr>
                              </m:sSubPr>
                              <m:e>
                                <m:r>
                                  <a:rPr kumimoji="0" lang="en-US" altLang="zh-CN" sz="18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t>𝑥</m:t>
                                </m:r>
                              </m:e>
                              <m:sub>
                                <m:r>
                                  <a:rPr kumimoji="0" lang="en-US" altLang="zh-CN" sz="18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t>𝑖</m:t>
                                </m:r>
                              </m:sub>
                            </m:sSub>
                          </m:e>
                        </m:d>
                        <m:func>
                          <m:funcPr>
                            <m:ctrlP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ctrlPr>
                          </m:funcPr>
                          <m:fName>
                            <m:sSub>
                              <m:sSubPr>
                                <m:ctrlP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ctrlPr>
                              </m:sSubPr>
                              <m:e>
                                <m:r>
                                  <m:rPr>
                                    <m:sty m:val="p"/>
                                  </m:rPr>
                                  <a:rPr kumimoji="0" lang="en-US" altLang="zh-CN" sz="1800" b="0" i="0"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log</m:t>
                                </m:r>
                              </m:e>
                              <m:sub>
                                <m: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2</m:t>
                                </m:r>
                              </m:sub>
                            </m:sSub>
                          </m:fName>
                          <m:e>
                            <m: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𝑃</m:t>
                            </m:r>
                            <m: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m:t>
                            </m:r>
                            <m:sSub>
                              <m:sSubPr>
                                <m:ctrlPr>
                                  <a:rPr kumimoji="0" lang="en-US" altLang="zh-CN" sz="18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ctrlPr>
                              </m:sSubPr>
                              <m:e>
                                <m:r>
                                  <a:rPr kumimoji="0" lang="en-US" altLang="zh-CN" sz="18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t>𝑥</m:t>
                                </m:r>
                              </m:e>
                              <m:sub>
                                <m:r>
                                  <a:rPr kumimoji="0" lang="en-US" altLang="zh-CN" sz="18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t>𝑖</m:t>
                                </m:r>
                              </m:sub>
                            </m:sSub>
                            <m:r>
                              <a:rPr kumimoji="0" lang="en-US" altLang="zh-CN"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m:t>
                            </m:r>
                          </m:e>
                        </m:func>
                        <m:r>
                          <a:rPr kumimoji="0" lang="zh-CN" altLang="en-US" sz="18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 </m:t>
                        </m:r>
                      </m:e>
                    </m:nary>
                  </m:oMath>
                </a14:m>
                <a:r>
                  <a:rPr kumimoji="0" lang="zh-CN" altLang="en-US"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en-US" altLang="zh-CN" sz="18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zh-CN" altLang="en-US" sz="18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14:m>
                  <m:oMath xmlns:m="http://schemas.openxmlformats.org/officeDocument/2006/math">
                    <m:r>
                      <a:rPr kumimoji="0" lang="en-US" altLang="zh-CN" sz="1800" b="0" i="0"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m:t>
                    </m:r>
                    <m:r>
                      <a:rPr kumimoji="0" lang="en-US" altLang="zh-CN" sz="18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1</m:t>
                    </m:r>
                    <m:func>
                      <m:funcPr>
                        <m:ctrlPr>
                          <a:rPr kumimoji="0" lang="en-US" altLang="zh-CN" sz="18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ctrlPr>
                      </m:funcPr>
                      <m:fName>
                        <m:sSub>
                          <m:sSubPr>
                            <m:ctrlPr>
                              <a:rPr kumimoji="0" lang="en-US" altLang="zh-CN" sz="18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ctrlPr>
                          </m:sSubPr>
                          <m:e>
                            <m:r>
                              <m:rPr>
                                <m:sty m:val="p"/>
                              </m:rPr>
                              <a:rPr kumimoji="0" lang="en-US" altLang="zh-CN" sz="1800" b="0" i="0"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log</m:t>
                            </m:r>
                          </m:e>
                          <m:sub>
                            <m:r>
                              <a:rPr kumimoji="0" lang="en-US" altLang="zh-CN" sz="18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2</m:t>
                            </m:r>
                          </m:sub>
                        </m:sSub>
                      </m:fName>
                      <m:e>
                        <m:r>
                          <a:rPr kumimoji="0" lang="en-US" altLang="zh-CN" sz="18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1</m:t>
                        </m:r>
                        <m:r>
                          <a:rPr kumimoji="0" lang="zh-CN" altLang="en-US" sz="18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 </m:t>
                        </m:r>
                        <m:r>
                          <a:rPr kumimoji="0" lang="en-US" altLang="zh-CN" sz="18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m:t>
                        </m:r>
                      </m:e>
                    </m:func>
                  </m:oMath>
                </a14:m>
                <a:r>
                  <a:rPr kumimoji="0" lang="zh-CN" altLang="en-US"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en-US" altLang="zh-CN"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zh-CN" altLang="en-US"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en-US" altLang="zh-CN"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0</a:t>
                </a:r>
                <a:endParaRPr kumimoji="0" lang="en-US" altLang="zh-CN" sz="18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mc:Choice>
        <mc:Fallback>
          <p:sp>
            <p:nvSpPr>
              <p:cNvPr id="23" name="文本占位符 2"/>
              <p:cNvSpPr txBox="1">
                <a:spLocks noRot="1" noChangeAspect="1" noMove="1" noResize="1" noEditPoints="1" noAdjustHandles="1" noChangeArrowheads="1" noChangeShapeType="1" noTextEdit="1"/>
              </p:cNvSpPr>
              <p:nvPr/>
            </p:nvSpPr>
            <p:spPr>
              <a:xfrm>
                <a:off x="1649600" y="5229032"/>
                <a:ext cx="7209719" cy="499578"/>
              </a:xfrm>
              <a:prstGeom prst="rect">
                <a:avLst/>
              </a:prstGeom>
              <a:blipFill rotWithShape="1">
                <a:blip r:embed="rId3"/>
                <a:stretch>
                  <a:fillRect l="-7" t="-88" r="6" b="-6936"/>
                </a:stretch>
              </a:blipFill>
            </p:spPr>
            <p:txBody>
              <a:bodyPr/>
              <a:lstStyle/>
              <a:p>
                <a:r>
                  <a:rPr lang="zh-CN"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信息增益</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109965" y="1347194"/>
            <a:ext cx="4517952"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概念</a:t>
            </a:r>
            <a:endParaRPr kumimoji="0" lang="zh-CN" altLang="en-GB" sz="16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p:txBody>
      </p:sp>
      <p:sp>
        <p:nvSpPr>
          <p:cNvPr id="14" name="文本占位符 2"/>
          <p:cNvSpPr txBox="1"/>
          <p:nvPr/>
        </p:nvSpPr>
        <p:spPr>
          <a:xfrm>
            <a:off x="1109965" y="2963734"/>
            <a:ext cx="1541795"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数学公式</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5" name="文本占位符 2"/>
          <p:cNvSpPr txBox="1"/>
          <p:nvPr/>
        </p:nvSpPr>
        <p:spPr>
          <a:xfrm>
            <a:off x="1361846" y="1810029"/>
            <a:ext cx="9468307" cy="75977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lvl="0">
              <a:defRPr/>
            </a:pP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信息增益</a:t>
            </a:r>
            <a:r>
              <a:rPr kumimoji="0" lang="en-US"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rPr>
              <a:t>Information Gain, IG</a:t>
            </a:r>
            <a:r>
              <a:rPr kumimoji="0" lang="zh-CN" altLang="en-US"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rPr>
              <a:t>）是决策树算法中用于选择最佳分裂属性的一种度量方式。它基于信息论中的熵概念，用来评估通过某个特征对数据集进行分割后所带来的纯度提升或不确定性减少的程度。简单来说，信息增益越大，表示使用该特征进行划分能更有效地降低数据集的混乱程度。</a:t>
            </a:r>
            <a:endParaRPr kumimoji="0" lang="zh-CN" altLang="en-US"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endParaRPr>
          </a:p>
        </p:txBody>
      </p:sp>
      <p:sp>
        <p:nvSpPr>
          <p:cNvPr id="20" name="文本占位符 2"/>
          <p:cNvSpPr txBox="1"/>
          <p:nvPr/>
        </p:nvSpPr>
        <p:spPr>
          <a:xfrm>
            <a:off x="1649600" y="6259201"/>
            <a:ext cx="7792856" cy="46929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endParaRPr>
          </a:p>
        </p:txBody>
      </p:sp>
      <p:sp>
        <p:nvSpPr>
          <p:cNvPr id="2" name="文本占位符 2"/>
          <p:cNvSpPr txBox="1"/>
          <p:nvPr/>
        </p:nvSpPr>
        <p:spPr>
          <a:xfrm>
            <a:off x="2743202" y="3023745"/>
            <a:ext cx="6853559" cy="48718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a:defRPr/>
            </a:pPr>
            <a:r>
              <a:rPr lang="en-US" altLang="zh-CN" sz="1400" dirty="0">
                <a:latin typeface="Alibaba PuHuiTi" pitchFamily="18" charset="-122"/>
                <a:ea typeface="Alibaba PuHuiTi" pitchFamily="18" charset="-122"/>
                <a:cs typeface="Alibaba PuHuiTi" pitchFamily="18" charset="-122"/>
              </a:rPr>
              <a:t>                   </a:t>
            </a:r>
            <a:r>
              <a:rPr lang="zh-CN" altLang="en-US" sz="1400" dirty="0">
                <a:solidFill>
                  <a:schemeClr val="accent2"/>
                </a:solidFill>
                <a:latin typeface="Alibaba PuHuiTi" pitchFamily="18" charset="-122"/>
                <a:ea typeface="Alibaba PuHuiTi" pitchFamily="18" charset="-122"/>
                <a:cs typeface="Alibaba PuHuiTi" pitchFamily="18" charset="-122"/>
              </a:rPr>
              <a:t>信息增益 </a:t>
            </a:r>
            <a:r>
              <a:rPr lang="en-US" altLang="zh-CN" sz="1400" dirty="0">
                <a:solidFill>
                  <a:schemeClr val="accent2"/>
                </a:solidFill>
                <a:latin typeface="Alibaba PuHuiTi" pitchFamily="18" charset="-122"/>
                <a:ea typeface="Alibaba PuHuiTi" pitchFamily="18" charset="-122"/>
                <a:cs typeface="Alibaba PuHuiTi" pitchFamily="18" charset="-122"/>
              </a:rPr>
              <a:t>=  </a:t>
            </a:r>
            <a:r>
              <a:rPr lang="zh-CN" altLang="en-US" sz="1400" dirty="0">
                <a:solidFill>
                  <a:schemeClr val="accent2"/>
                </a:solidFill>
                <a:latin typeface="Alibaba PuHuiTi" pitchFamily="18" charset="-122"/>
                <a:ea typeface="Alibaba PuHuiTi" pitchFamily="18" charset="-122"/>
                <a:cs typeface="Alibaba PuHuiTi" pitchFamily="18" charset="-122"/>
              </a:rPr>
              <a:t>熵</a:t>
            </a:r>
            <a:r>
              <a:rPr lang="en-US" altLang="zh-CN" sz="1400" dirty="0">
                <a:solidFill>
                  <a:schemeClr val="accent2"/>
                </a:solidFill>
                <a:latin typeface="Alibaba PuHuiTi" pitchFamily="18" charset="-122"/>
                <a:ea typeface="Alibaba PuHuiTi" pitchFamily="18" charset="-122"/>
                <a:cs typeface="Alibaba PuHuiTi" pitchFamily="18" charset="-122"/>
              </a:rPr>
              <a:t> </a:t>
            </a:r>
            <a:r>
              <a:rPr lang="zh-CN" altLang="en-US" sz="1400" dirty="0">
                <a:solidFill>
                  <a:schemeClr val="accent2"/>
                </a:solidFill>
                <a:latin typeface="Alibaba PuHuiTi" pitchFamily="18" charset="-122"/>
                <a:ea typeface="Alibaba PuHuiTi" pitchFamily="18" charset="-122"/>
                <a:cs typeface="Alibaba PuHuiTi" pitchFamily="18" charset="-122"/>
              </a:rPr>
              <a:t> </a:t>
            </a:r>
            <a:r>
              <a:rPr lang="en-US" altLang="zh-CN" sz="1400" dirty="0">
                <a:solidFill>
                  <a:schemeClr val="accent2"/>
                </a:solidFill>
                <a:latin typeface="Alibaba PuHuiTi" pitchFamily="18" charset="-122"/>
                <a:ea typeface="Alibaba PuHuiTi" pitchFamily="18" charset="-122"/>
                <a:cs typeface="Alibaba PuHuiTi" pitchFamily="18" charset="-122"/>
              </a:rPr>
              <a:t>- </a:t>
            </a:r>
            <a:r>
              <a:rPr lang="zh-CN" altLang="en-US" sz="1400" dirty="0">
                <a:solidFill>
                  <a:schemeClr val="accent2"/>
                </a:solidFill>
                <a:latin typeface="Alibaba PuHuiTi" pitchFamily="18" charset="-122"/>
                <a:ea typeface="Alibaba PuHuiTi" pitchFamily="18" charset="-122"/>
                <a:cs typeface="Alibaba PuHuiTi" pitchFamily="18" charset="-122"/>
              </a:rPr>
              <a:t>条件熵</a:t>
            </a:r>
            <a:endParaRPr lang="zh-CN" altLang="en-US" sz="1400" dirty="0">
              <a:solidFill>
                <a:schemeClr val="accent2"/>
              </a:solidFill>
              <a:latin typeface="Alibaba PuHuiTi" pitchFamily="18" charset="-122"/>
              <a:ea typeface="Alibaba PuHuiTi" pitchFamily="18" charset="-122"/>
              <a:cs typeface="Alibaba PuHuiTi" pitchFamily="18" charset="-122"/>
            </a:endParaRPr>
          </a:p>
        </p:txBody>
      </p:sp>
      <mc:AlternateContent xmlns:mc="http://schemas.openxmlformats.org/markup-compatibility/2006">
        <mc:Choice xmlns:a14="http://schemas.microsoft.com/office/drawing/2010/main" Requires="a14">
          <p:sp>
            <p:nvSpPr>
              <p:cNvPr id="9" name="文本占位符 2"/>
              <p:cNvSpPr txBox="1"/>
              <p:nvPr/>
            </p:nvSpPr>
            <p:spPr>
              <a:xfrm>
                <a:off x="1906365" y="5636478"/>
                <a:ext cx="7315838" cy="75977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a:defRPr/>
                </a:pPr>
                <a:r>
                  <a:rPr lang="en-US" altLang="zh-CN" sz="1400" dirty="0">
                    <a:solidFill>
                      <a:srgbClr val="C0504D">
                        <a:lumMod val="75000"/>
                      </a:srgbClr>
                    </a:solidFill>
                    <a:latin typeface="Alibaba PuHuiTi" pitchFamily="18" charset="-122"/>
                    <a:ea typeface="Alibaba PuHuiTi" pitchFamily="18" charset="-122"/>
                    <a:cs typeface="Alibaba PuHuiTi" pitchFamily="18" charset="-122"/>
                  </a:rPr>
                  <a:t>H(D</a:t>
                </a:r>
                <a:r>
                  <a:rPr lang="zh-CN" altLang="en-US" sz="1400" dirty="0">
                    <a:solidFill>
                      <a:srgbClr val="C0504D">
                        <a:lumMod val="75000"/>
                      </a:srgbClr>
                    </a:solidFill>
                    <a:latin typeface="Alibaba PuHuiTi" pitchFamily="18" charset="-122"/>
                    <a:ea typeface="Alibaba PuHuiTi" pitchFamily="18" charset="-122"/>
                    <a:cs typeface="Alibaba PuHuiTi" pitchFamily="18" charset="-122"/>
                  </a:rPr>
                  <a:t> </a:t>
                </a:r>
                <a:r>
                  <a:rPr lang="en-US" altLang="zh-CN" sz="1400" dirty="0">
                    <a:solidFill>
                      <a:srgbClr val="C0504D">
                        <a:lumMod val="75000"/>
                      </a:srgbClr>
                    </a:solidFill>
                    <a:latin typeface="Alibaba PuHuiTi" pitchFamily="18" charset="-122"/>
                    <a:ea typeface="Alibaba PuHuiTi" pitchFamily="18" charset="-122"/>
                    <a:cs typeface="Alibaba PuHuiTi" pitchFamily="18" charset="-122"/>
                  </a:rPr>
                  <a:t>|</a:t>
                </a:r>
                <a:r>
                  <a:rPr lang="el-GR" altLang="zh-CN" sz="1400" dirty="0">
                    <a:solidFill>
                      <a:srgbClr val="C0504D">
                        <a:lumMod val="75000"/>
                      </a:srgbClr>
                    </a:solidFill>
                    <a:latin typeface="Alibaba PuHuiTi" pitchFamily="18" charset="-122"/>
                    <a:ea typeface="Alibaba PuHuiTi" pitchFamily="18" charset="-122"/>
                    <a:cs typeface="Alibaba PuHuiTi" pitchFamily="18" charset="-122"/>
                  </a:rPr>
                  <a:t> A</a:t>
                </a:r>
                <a:r>
                  <a:rPr lang="en-US" altLang="zh-CN" sz="1400" dirty="0">
                    <a:solidFill>
                      <a:srgbClr val="C0504D">
                        <a:lumMod val="75000"/>
                      </a:srgbClr>
                    </a:solidFill>
                    <a:latin typeface="Alibaba PuHuiTi" pitchFamily="18" charset="-122"/>
                    <a:ea typeface="Alibaba PuHuiTi" pitchFamily="18" charset="-122"/>
                    <a:cs typeface="Alibaba PuHuiTi" pitchFamily="18" charset="-122"/>
                  </a:rPr>
                  <a:t>)</a:t>
                </a:r>
                <a:r>
                  <a:rPr lang="zh-CN" altLang="en-US" sz="1400" dirty="0">
                    <a:solidFill>
                      <a:srgbClr val="C0504D">
                        <a:lumMod val="75000"/>
                      </a:srgbClr>
                    </a:solidFill>
                    <a:latin typeface="Alibaba PuHuiTi" pitchFamily="18" charset="-122"/>
                    <a:ea typeface="Alibaba PuHuiTi" pitchFamily="18" charset="-122"/>
                    <a:cs typeface="Alibaba PuHuiTi" pitchFamily="18" charset="-122"/>
                  </a:rPr>
                  <a:t> </a:t>
                </a:r>
                <a:r>
                  <a:rPr lang="en-US" altLang="zh-CN" sz="1400" dirty="0">
                    <a:solidFill>
                      <a:srgbClr val="C0504D">
                        <a:lumMod val="75000"/>
                      </a:srgbClr>
                    </a:solidFill>
                    <a:latin typeface="Alibaba PuHuiTi" pitchFamily="18" charset="-122"/>
                    <a:ea typeface="Alibaba PuHuiTi" pitchFamily="18" charset="-122"/>
                    <a:cs typeface="Alibaba PuHuiTi" pitchFamily="18" charset="-122"/>
                  </a:rPr>
                  <a:t>=</a:t>
                </a:r>
                <a:r>
                  <a:rPr lang="zh-CN" altLang="en-US" sz="1400" dirty="0">
                    <a:solidFill>
                      <a:srgbClr val="C0504D">
                        <a:lumMod val="75000"/>
                      </a:srgbClr>
                    </a:solidFill>
                    <a:latin typeface="Alibaba PuHuiTi" pitchFamily="18" charset="-122"/>
                    <a:ea typeface="Alibaba PuHuiTi" pitchFamily="18" charset="-122"/>
                    <a:cs typeface="Alibaba PuHuiTi" pitchFamily="18" charset="-122"/>
                  </a:rPr>
                  <a:t> </a:t>
                </a:r>
                <a14:m>
                  <m:oMath xmlns:m="http://schemas.openxmlformats.org/officeDocument/2006/math">
                    <m:nary>
                      <m:naryPr>
                        <m:chr m:val="∑"/>
                        <m:ctrlPr>
                          <a:rPr lang="zh-CN" altLang="en-US" sz="1400" i="1">
                            <a:solidFill>
                              <a:srgbClr val="333333"/>
                            </a:solidFill>
                            <a:latin typeface="Cambria Math" panose="02040503050406030204" pitchFamily="18" charset="0"/>
                            <a:ea typeface="Alibaba PuHuiTi" pitchFamily="18" charset="-122"/>
                            <a:cs typeface="Alibaba PuHuiTi" pitchFamily="18" charset="-122"/>
                          </a:rPr>
                        </m:ctrlPr>
                      </m:naryPr>
                      <m:sub>
                        <m:r>
                          <a:rPr lang="en-US" altLang="zh-CN" sz="1400" i="1">
                            <a:solidFill>
                              <a:srgbClr val="333333"/>
                            </a:solidFill>
                            <a:latin typeface="Cambria Math" panose="02040503050406030204" pitchFamily="18" charset="0"/>
                            <a:ea typeface="Alibaba PuHuiTi" pitchFamily="18" charset="-122"/>
                            <a:cs typeface="Alibaba PuHuiTi" pitchFamily="18" charset="-122"/>
                          </a:rPr>
                          <m:t>𝑣</m:t>
                        </m:r>
                        <m:r>
                          <a:rPr lang="en-US" altLang="zh-CN" sz="1400" i="1">
                            <a:solidFill>
                              <a:srgbClr val="333333"/>
                            </a:solidFill>
                            <a:latin typeface="Cambria Math" panose="02040503050406030204" pitchFamily="18" charset="0"/>
                            <a:ea typeface="Alibaba PuHuiTi" pitchFamily="18" charset="-122"/>
                            <a:cs typeface="Alibaba PuHuiTi" pitchFamily="18" charset="-122"/>
                          </a:rPr>
                          <m:t>=</m:t>
                        </m:r>
                        <m:r>
                          <a:rPr lang="en-US" altLang="zh-CN" sz="1400" i="1">
                            <a:solidFill>
                              <a:srgbClr val="333333"/>
                            </a:solidFill>
                            <a:latin typeface="Cambria Math" panose="02040503050406030204" pitchFamily="18" charset="0"/>
                            <a:ea typeface="Alibaba PuHuiTi" pitchFamily="18" charset="-122"/>
                            <a:cs typeface="Alibaba PuHuiTi" pitchFamily="18" charset="-122"/>
                          </a:rPr>
                          <m:t>1</m:t>
                        </m:r>
                      </m:sub>
                      <m:sup>
                        <m:r>
                          <a:rPr lang="en-US" altLang="zh-CN" sz="1400" i="1">
                            <a:solidFill>
                              <a:srgbClr val="333333"/>
                            </a:solidFill>
                            <a:latin typeface="Cambria Math" panose="02040503050406030204" pitchFamily="18" charset="0"/>
                            <a:ea typeface="Alibaba PuHuiTi" pitchFamily="18" charset="-122"/>
                            <a:cs typeface="Alibaba PuHuiTi" pitchFamily="18" charset="-122"/>
                          </a:rPr>
                          <m:t>𝑛</m:t>
                        </m:r>
                      </m:sup>
                      <m:e>
                        <m:f>
                          <m:fPr>
                            <m:ctrlPr>
                              <a:rPr lang="en-US" altLang="zh-CN" sz="1400" i="1">
                                <a:solidFill>
                                  <a:srgbClr val="333333"/>
                                </a:solidFill>
                                <a:latin typeface="Cambria Math" panose="02040503050406030204" pitchFamily="18" charset="0"/>
                                <a:ea typeface="Alibaba PuHuiTi" pitchFamily="18" charset="-122"/>
                                <a:cs typeface="Alibaba PuHuiTi" pitchFamily="18" charset="-122"/>
                              </a:rPr>
                            </m:ctrlPr>
                          </m:fPr>
                          <m:num>
                            <m:sSup>
                              <m:sSupPr>
                                <m:ctrlPr>
                                  <a:rPr lang="en-US" altLang="zh-CN" sz="1400" i="1">
                                    <a:solidFill>
                                      <a:srgbClr val="333333"/>
                                    </a:solidFill>
                                    <a:latin typeface="Cambria Math" panose="02040503050406030204" pitchFamily="18" charset="0"/>
                                    <a:ea typeface="Alibaba PuHuiTi" pitchFamily="18" charset="-122"/>
                                    <a:cs typeface="Alibaba PuHuiTi" pitchFamily="18" charset="-122"/>
                                  </a:rPr>
                                </m:ctrlPr>
                              </m:sSupPr>
                              <m:e>
                                <m:r>
                                  <a:rPr lang="en-US" altLang="zh-CN" sz="1400" i="1">
                                    <a:solidFill>
                                      <a:srgbClr val="333333"/>
                                    </a:solidFill>
                                    <a:latin typeface="Cambria Math" panose="02040503050406030204" pitchFamily="18" charset="0"/>
                                    <a:ea typeface="Alibaba PuHuiTi" pitchFamily="18" charset="-122"/>
                                    <a:cs typeface="Alibaba PuHuiTi" pitchFamily="18" charset="-122"/>
                                  </a:rPr>
                                  <m:t>𝐷</m:t>
                                </m:r>
                              </m:e>
                              <m:sup>
                                <m:r>
                                  <a:rPr lang="en-US" altLang="zh-CN" sz="1400" i="1">
                                    <a:solidFill>
                                      <a:srgbClr val="333333"/>
                                    </a:solidFill>
                                    <a:latin typeface="Cambria Math" panose="02040503050406030204" pitchFamily="18" charset="0"/>
                                    <a:ea typeface="Alibaba PuHuiTi" pitchFamily="18" charset="-122"/>
                                    <a:cs typeface="Alibaba PuHuiTi" pitchFamily="18" charset="-122"/>
                                  </a:rPr>
                                  <m:t>𝑉</m:t>
                                </m:r>
                              </m:sup>
                            </m:sSup>
                          </m:num>
                          <m:den>
                            <m:r>
                              <a:rPr lang="en-US" altLang="zh-CN" sz="1400" i="1">
                                <a:solidFill>
                                  <a:srgbClr val="333333"/>
                                </a:solidFill>
                                <a:latin typeface="Cambria Math" panose="02040503050406030204" pitchFamily="18" charset="0"/>
                                <a:ea typeface="Alibaba PuHuiTi" pitchFamily="18" charset="-122"/>
                                <a:cs typeface="Alibaba PuHuiTi" pitchFamily="18" charset="-122"/>
                              </a:rPr>
                              <m:t>𝐷</m:t>
                            </m:r>
                          </m:den>
                        </m:f>
                        <m:r>
                          <a:rPr lang="zh-CN" altLang="en-US" sz="1400" i="1">
                            <a:solidFill>
                              <a:srgbClr val="333333"/>
                            </a:solidFill>
                            <a:latin typeface="Cambria Math" panose="02040503050406030204" pitchFamily="18" charset="0"/>
                            <a:ea typeface="Alibaba PuHuiTi" pitchFamily="18" charset="-122"/>
                            <a:cs typeface="Alibaba PuHuiTi" pitchFamily="18" charset="-122"/>
                          </a:rPr>
                          <m:t> </m:t>
                        </m:r>
                        <m:r>
                          <m:rPr>
                            <m:sty m:val="p"/>
                          </m:rPr>
                          <a:rPr lang="en-US" altLang="zh-CN" sz="1400" i="1">
                            <a:solidFill>
                              <a:srgbClr val="333333"/>
                            </a:solidFill>
                            <a:latin typeface="Cambria Math" panose="02040503050406030204" pitchFamily="18" charset="0"/>
                            <a:ea typeface="Alibaba PuHuiTi" pitchFamily="18" charset="-122"/>
                            <a:cs typeface="Alibaba PuHuiTi" pitchFamily="18" charset="-122"/>
                          </a:rPr>
                          <m:t>H</m:t>
                        </m:r>
                        <m:r>
                          <a:rPr lang="en-US" altLang="zh-CN" sz="1400" i="1">
                            <a:solidFill>
                              <a:srgbClr val="333333"/>
                            </a:solidFill>
                            <a:latin typeface="Cambria Math" panose="02040503050406030204" pitchFamily="18" charset="0"/>
                            <a:ea typeface="Alibaba PuHuiTi" pitchFamily="18" charset="-122"/>
                            <a:cs typeface="Alibaba PuHuiTi" pitchFamily="18" charset="-122"/>
                          </a:rPr>
                          <m:t>(</m:t>
                        </m:r>
                        <m:sSup>
                          <m:sSupPr>
                            <m:ctrlPr>
                              <a:rPr lang="en-US" altLang="zh-CN" sz="1400" i="1">
                                <a:solidFill>
                                  <a:srgbClr val="333333"/>
                                </a:solidFill>
                                <a:latin typeface="Cambria Math" panose="02040503050406030204" pitchFamily="18" charset="0"/>
                                <a:ea typeface="Alibaba PuHuiTi" pitchFamily="18" charset="-122"/>
                                <a:cs typeface="Alibaba PuHuiTi" pitchFamily="18" charset="-122"/>
                              </a:rPr>
                            </m:ctrlPr>
                          </m:sSupPr>
                          <m:e>
                            <m:r>
                              <a:rPr lang="en-US" altLang="zh-CN" sz="1400" i="1">
                                <a:solidFill>
                                  <a:srgbClr val="333333"/>
                                </a:solidFill>
                                <a:latin typeface="Cambria Math" panose="02040503050406030204" pitchFamily="18" charset="0"/>
                                <a:ea typeface="Alibaba PuHuiTi" pitchFamily="18" charset="-122"/>
                                <a:cs typeface="Alibaba PuHuiTi" pitchFamily="18" charset="-122"/>
                              </a:rPr>
                              <m:t>𝐷</m:t>
                            </m:r>
                          </m:e>
                          <m:sup>
                            <m:r>
                              <a:rPr lang="en-US" altLang="zh-CN" sz="1400" i="1">
                                <a:solidFill>
                                  <a:srgbClr val="333333"/>
                                </a:solidFill>
                                <a:latin typeface="Cambria Math" panose="02040503050406030204" pitchFamily="18" charset="0"/>
                                <a:ea typeface="Alibaba PuHuiTi" pitchFamily="18" charset="-122"/>
                                <a:cs typeface="Alibaba PuHuiTi" pitchFamily="18" charset="-122"/>
                              </a:rPr>
                              <m:t>𝑉</m:t>
                            </m:r>
                          </m:sup>
                        </m:sSup>
                        <m:r>
                          <a:rPr lang="en-US" altLang="zh-CN" sz="1400" i="1">
                            <a:solidFill>
                              <a:srgbClr val="333333"/>
                            </a:solidFill>
                            <a:latin typeface="Cambria Math" panose="02040503050406030204" pitchFamily="18" charset="0"/>
                            <a:ea typeface="Alibaba PuHuiTi" pitchFamily="18" charset="-122"/>
                            <a:cs typeface="Alibaba PuHuiTi" pitchFamily="18" charset="-122"/>
                          </a:rPr>
                          <m:t>) </m:t>
                        </m:r>
                      </m:e>
                    </m:nary>
                  </m:oMath>
                </a14:m>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lang="en-US" altLang="zh-CN" sz="1400" dirty="0">
                    <a:solidFill>
                      <a:srgbClr val="C0504D">
                        <a:lumMod val="75000"/>
                      </a:srgbClr>
                    </a:solidFill>
                    <a:latin typeface="Alibaba PuHuiTi" pitchFamily="18" charset="-122"/>
                    <a:ea typeface="Alibaba PuHuiTi" pitchFamily="18" charset="-122"/>
                    <a:cs typeface="Alibaba PuHuiTi" pitchFamily="18" charset="-122"/>
                  </a:rPr>
                  <a:t>=</a:t>
                </a:r>
                <a:r>
                  <a:rPr lang="zh-CN" altLang="en-US" sz="1400" dirty="0">
                    <a:solidFill>
                      <a:srgbClr val="C0504D">
                        <a:lumMod val="75000"/>
                      </a:srgbClr>
                    </a:solidFill>
                    <a:latin typeface="Alibaba PuHuiTi" pitchFamily="18" charset="-122"/>
                    <a:ea typeface="Alibaba PuHuiTi" pitchFamily="18" charset="-122"/>
                    <a:cs typeface="Alibaba PuHuiTi" pitchFamily="18" charset="-122"/>
                  </a:rPr>
                  <a:t> </a:t>
                </a:r>
                <a14:m>
                  <m:oMath xmlns:m="http://schemas.openxmlformats.org/officeDocument/2006/math">
                    <m:nary>
                      <m:naryPr>
                        <m:chr m:val="∑"/>
                        <m:ctrlPr>
                          <a:rPr lang="zh-CN" altLang="en-US" sz="1400" i="1">
                            <a:solidFill>
                              <a:srgbClr val="333333"/>
                            </a:solidFill>
                            <a:latin typeface="Cambria Math" panose="02040503050406030204" pitchFamily="18" charset="0"/>
                            <a:ea typeface="Alibaba PuHuiTi" pitchFamily="18" charset="-122"/>
                            <a:cs typeface="Alibaba PuHuiTi" pitchFamily="18" charset="-122"/>
                          </a:rPr>
                        </m:ctrlPr>
                      </m:naryPr>
                      <m:sub>
                        <m:r>
                          <a:rPr lang="en-US" altLang="zh-CN" sz="1400" i="1">
                            <a:solidFill>
                              <a:srgbClr val="333333"/>
                            </a:solidFill>
                            <a:latin typeface="Cambria Math" panose="02040503050406030204" pitchFamily="18" charset="0"/>
                            <a:ea typeface="Alibaba PuHuiTi" pitchFamily="18" charset="-122"/>
                            <a:cs typeface="Alibaba PuHuiTi" pitchFamily="18" charset="-122"/>
                          </a:rPr>
                          <m:t>𝑣</m:t>
                        </m:r>
                        <m:r>
                          <a:rPr lang="en-US" altLang="zh-CN" sz="1400" i="1">
                            <a:solidFill>
                              <a:srgbClr val="333333"/>
                            </a:solidFill>
                            <a:latin typeface="Cambria Math" panose="02040503050406030204" pitchFamily="18" charset="0"/>
                            <a:ea typeface="Alibaba PuHuiTi" pitchFamily="18" charset="-122"/>
                            <a:cs typeface="Alibaba PuHuiTi" pitchFamily="18" charset="-122"/>
                          </a:rPr>
                          <m:t>=</m:t>
                        </m:r>
                        <m:r>
                          <a:rPr lang="en-US" altLang="zh-CN" sz="1400" i="1">
                            <a:solidFill>
                              <a:srgbClr val="333333"/>
                            </a:solidFill>
                            <a:latin typeface="Cambria Math" panose="02040503050406030204" pitchFamily="18" charset="0"/>
                            <a:ea typeface="Alibaba PuHuiTi" pitchFamily="18" charset="-122"/>
                            <a:cs typeface="Alibaba PuHuiTi" pitchFamily="18" charset="-122"/>
                          </a:rPr>
                          <m:t>1</m:t>
                        </m:r>
                      </m:sub>
                      <m:sup>
                        <m:r>
                          <a:rPr lang="en-US" altLang="zh-CN" sz="1400" i="1">
                            <a:solidFill>
                              <a:srgbClr val="333333"/>
                            </a:solidFill>
                            <a:latin typeface="Cambria Math" panose="02040503050406030204" pitchFamily="18" charset="0"/>
                            <a:ea typeface="Alibaba PuHuiTi" pitchFamily="18" charset="-122"/>
                            <a:cs typeface="Alibaba PuHuiTi" pitchFamily="18" charset="-122"/>
                          </a:rPr>
                          <m:t>𝑛</m:t>
                        </m:r>
                      </m:sup>
                      <m:e>
                        <m:f>
                          <m:fPr>
                            <m:ctrlPr>
                              <a:rPr lang="en-US" altLang="zh-CN" sz="1400" i="1">
                                <a:solidFill>
                                  <a:srgbClr val="333333"/>
                                </a:solidFill>
                                <a:latin typeface="Cambria Math" panose="02040503050406030204" pitchFamily="18" charset="0"/>
                                <a:ea typeface="Alibaba PuHuiTi" pitchFamily="18" charset="-122"/>
                                <a:cs typeface="Alibaba PuHuiTi" pitchFamily="18" charset="-122"/>
                              </a:rPr>
                            </m:ctrlPr>
                          </m:fPr>
                          <m:num>
                            <m:sSup>
                              <m:sSupPr>
                                <m:ctrlPr>
                                  <a:rPr lang="en-US" altLang="zh-CN" sz="1400" i="1">
                                    <a:solidFill>
                                      <a:srgbClr val="333333"/>
                                    </a:solidFill>
                                    <a:latin typeface="Cambria Math" panose="02040503050406030204" pitchFamily="18" charset="0"/>
                                    <a:ea typeface="Alibaba PuHuiTi" pitchFamily="18" charset="-122"/>
                                    <a:cs typeface="Alibaba PuHuiTi" pitchFamily="18" charset="-122"/>
                                  </a:rPr>
                                </m:ctrlPr>
                              </m:sSupPr>
                              <m:e>
                                <m:r>
                                  <a:rPr lang="en-US" altLang="zh-CN" sz="1400" i="1">
                                    <a:solidFill>
                                      <a:srgbClr val="333333"/>
                                    </a:solidFill>
                                    <a:latin typeface="Cambria Math" panose="02040503050406030204" pitchFamily="18" charset="0"/>
                                    <a:ea typeface="Alibaba PuHuiTi" pitchFamily="18" charset="-122"/>
                                    <a:cs typeface="Alibaba PuHuiTi" pitchFamily="18" charset="-122"/>
                                  </a:rPr>
                                  <m:t>𝐷</m:t>
                                </m:r>
                              </m:e>
                              <m:sup>
                                <m:r>
                                  <a:rPr lang="en-US" altLang="zh-CN" sz="1400" i="1">
                                    <a:solidFill>
                                      <a:srgbClr val="333333"/>
                                    </a:solidFill>
                                    <a:latin typeface="Cambria Math" panose="02040503050406030204" pitchFamily="18" charset="0"/>
                                    <a:ea typeface="Alibaba PuHuiTi" pitchFamily="18" charset="-122"/>
                                    <a:cs typeface="Alibaba PuHuiTi" pitchFamily="18" charset="-122"/>
                                  </a:rPr>
                                  <m:t>𝑉</m:t>
                                </m:r>
                              </m:sup>
                            </m:sSup>
                          </m:num>
                          <m:den>
                            <m:r>
                              <a:rPr lang="en-US" altLang="zh-CN" sz="1400" i="1">
                                <a:solidFill>
                                  <a:srgbClr val="333333"/>
                                </a:solidFill>
                                <a:latin typeface="Cambria Math" panose="02040503050406030204" pitchFamily="18" charset="0"/>
                                <a:ea typeface="Alibaba PuHuiTi" pitchFamily="18" charset="-122"/>
                                <a:cs typeface="Alibaba PuHuiTi" pitchFamily="18" charset="-122"/>
                              </a:rPr>
                              <m:t>𝐷</m:t>
                            </m:r>
                          </m:den>
                        </m:f>
                        <m:nary>
                          <m:naryPr>
                            <m:chr m:val="∑"/>
                            <m:ctrlPr>
                              <a:rPr lang="zh-CN" altLang="en-US" sz="1400" i="1">
                                <a:solidFill>
                                  <a:srgbClr val="333333"/>
                                </a:solidFill>
                                <a:latin typeface="Cambria Math" panose="02040503050406030204" pitchFamily="18" charset="0"/>
                                <a:ea typeface="Alibaba PuHuiTi" pitchFamily="18" charset="-122"/>
                                <a:cs typeface="Alibaba PuHuiTi" pitchFamily="18" charset="-122"/>
                              </a:rPr>
                            </m:ctrlPr>
                          </m:naryPr>
                          <m:sub>
                            <m:r>
                              <m:rPr>
                                <m:sty m:val="p"/>
                              </m:rPr>
                              <a:rPr lang="en-US" altLang="zh-CN" sz="1400" i="1" smtClean="0">
                                <a:solidFill>
                                  <a:srgbClr val="333333"/>
                                </a:solidFill>
                                <a:latin typeface="Cambria Math" panose="02040503050406030204" pitchFamily="18" charset="0"/>
                                <a:ea typeface="Alibaba PuHuiTi" pitchFamily="18" charset="-122"/>
                                <a:cs typeface="Alibaba PuHuiTi" pitchFamily="18" charset="-122"/>
                              </a:rPr>
                              <m:t>k</m:t>
                            </m:r>
                            <m:r>
                              <a:rPr lang="en-US" altLang="zh-CN" sz="1400" i="1">
                                <a:solidFill>
                                  <a:srgbClr val="333333"/>
                                </a:solidFill>
                                <a:latin typeface="Cambria Math" panose="02040503050406030204" pitchFamily="18" charset="0"/>
                                <a:ea typeface="Alibaba PuHuiTi" pitchFamily="18" charset="-122"/>
                                <a:cs typeface="Alibaba PuHuiTi" pitchFamily="18" charset="-122"/>
                              </a:rPr>
                              <m:t>=</m:t>
                            </m:r>
                            <m:r>
                              <a:rPr lang="en-US" altLang="zh-CN" sz="1400" i="1">
                                <a:solidFill>
                                  <a:srgbClr val="333333"/>
                                </a:solidFill>
                                <a:latin typeface="Cambria Math" panose="02040503050406030204" pitchFamily="18" charset="0"/>
                                <a:ea typeface="Alibaba PuHuiTi" pitchFamily="18" charset="-122"/>
                                <a:cs typeface="Alibaba PuHuiTi" pitchFamily="18" charset="-122"/>
                              </a:rPr>
                              <m:t>1</m:t>
                            </m:r>
                          </m:sub>
                          <m:sup>
                            <m:r>
                              <m:rPr>
                                <m:sty m:val="p"/>
                              </m:rPr>
                              <a:rPr lang="en-US" altLang="zh-CN" sz="1400" i="1">
                                <a:solidFill>
                                  <a:srgbClr val="333333"/>
                                </a:solidFill>
                                <a:latin typeface="Cambria Math" panose="02040503050406030204" pitchFamily="18" charset="0"/>
                                <a:ea typeface="Alibaba PuHuiTi" pitchFamily="18" charset="-122"/>
                                <a:cs typeface="Alibaba PuHuiTi" pitchFamily="18" charset="-122"/>
                              </a:rPr>
                              <m:t>k</m:t>
                            </m:r>
                          </m:sup>
                          <m:e>
                            <m:f>
                              <m:fPr>
                                <m:ctrlPr>
                                  <a:rPr lang="en-US" altLang="zh-CN" sz="1400" i="1">
                                    <a:solidFill>
                                      <a:srgbClr val="333333"/>
                                    </a:solidFill>
                                    <a:latin typeface="Cambria Math" panose="02040503050406030204" pitchFamily="18" charset="0"/>
                                    <a:ea typeface="Alibaba PuHuiTi" pitchFamily="18" charset="-122"/>
                                    <a:cs typeface="Alibaba PuHuiTi" pitchFamily="18" charset="-122"/>
                                  </a:rPr>
                                </m:ctrlPr>
                              </m:fPr>
                              <m:num>
                                <m:sSup>
                                  <m:sSupPr>
                                    <m:ctrlPr>
                                      <a:rPr lang="en-US" altLang="zh-CN" sz="1400" i="1">
                                        <a:solidFill>
                                          <a:srgbClr val="333333"/>
                                        </a:solidFill>
                                        <a:latin typeface="Cambria Math" panose="02040503050406030204" pitchFamily="18" charset="0"/>
                                        <a:ea typeface="Alibaba PuHuiTi" pitchFamily="18" charset="-122"/>
                                        <a:cs typeface="Alibaba PuHuiTi" pitchFamily="18" charset="-122"/>
                                      </a:rPr>
                                    </m:ctrlPr>
                                  </m:sSupPr>
                                  <m:e>
                                    <m:r>
                                      <a:rPr lang="en-US" altLang="zh-CN" sz="1400" b="0" i="1" smtClean="0">
                                        <a:solidFill>
                                          <a:srgbClr val="333333"/>
                                        </a:solidFill>
                                        <a:latin typeface="Cambria Math" panose="02040503050406030204" pitchFamily="18" charset="0"/>
                                        <a:ea typeface="Alibaba PuHuiTi" pitchFamily="18" charset="-122"/>
                                        <a:cs typeface="Alibaba PuHuiTi" pitchFamily="18" charset="-122"/>
                                      </a:rPr>
                                      <m:t>𝐶</m:t>
                                    </m:r>
                                  </m:e>
                                  <m:sup>
                                    <m:r>
                                      <a:rPr lang="en-US" altLang="zh-CN" sz="1400" b="0" i="1" smtClean="0">
                                        <a:solidFill>
                                          <a:srgbClr val="333333"/>
                                        </a:solidFill>
                                        <a:latin typeface="Cambria Math" panose="02040503050406030204" pitchFamily="18" charset="0"/>
                                        <a:ea typeface="Alibaba PuHuiTi" pitchFamily="18" charset="-122"/>
                                        <a:cs typeface="Alibaba PuHuiTi" pitchFamily="18" charset="-122"/>
                                      </a:rPr>
                                      <m:t>𝑘</m:t>
                                    </m:r>
                                    <m:r>
                                      <a:rPr lang="en-US" altLang="zh-CN" sz="1400" i="1">
                                        <a:solidFill>
                                          <a:srgbClr val="333333"/>
                                        </a:solidFill>
                                        <a:latin typeface="Cambria Math" panose="02040503050406030204" pitchFamily="18" charset="0"/>
                                        <a:ea typeface="Alibaba PuHuiTi" pitchFamily="18" charset="-122"/>
                                        <a:cs typeface="Alibaba PuHuiTi" pitchFamily="18" charset="-122"/>
                                      </a:rPr>
                                      <m:t>𝑉</m:t>
                                    </m:r>
                                  </m:sup>
                                </m:sSup>
                              </m:num>
                              <m:den>
                                <m:sSup>
                                  <m:sSupPr>
                                    <m:ctrlPr>
                                      <a:rPr lang="en-US" altLang="zh-CN" sz="1400" i="1">
                                        <a:solidFill>
                                          <a:srgbClr val="333333"/>
                                        </a:solidFill>
                                        <a:latin typeface="Cambria Math" panose="02040503050406030204" pitchFamily="18" charset="0"/>
                                        <a:ea typeface="Alibaba PuHuiTi" pitchFamily="18" charset="-122"/>
                                        <a:cs typeface="Alibaba PuHuiTi" pitchFamily="18" charset="-122"/>
                                      </a:rPr>
                                    </m:ctrlPr>
                                  </m:sSupPr>
                                  <m:e>
                                    <m:r>
                                      <a:rPr lang="en-US" altLang="zh-CN" sz="1400" i="1">
                                        <a:solidFill>
                                          <a:srgbClr val="333333"/>
                                        </a:solidFill>
                                        <a:latin typeface="Cambria Math" panose="02040503050406030204" pitchFamily="18" charset="0"/>
                                        <a:ea typeface="Alibaba PuHuiTi" pitchFamily="18" charset="-122"/>
                                        <a:cs typeface="Alibaba PuHuiTi" pitchFamily="18" charset="-122"/>
                                      </a:rPr>
                                      <m:t>𝐷</m:t>
                                    </m:r>
                                  </m:e>
                                  <m:sup>
                                    <m:r>
                                      <a:rPr lang="en-US" altLang="zh-CN" sz="1400" i="1">
                                        <a:solidFill>
                                          <a:srgbClr val="333333"/>
                                        </a:solidFill>
                                        <a:latin typeface="Cambria Math" panose="02040503050406030204" pitchFamily="18" charset="0"/>
                                        <a:ea typeface="Alibaba PuHuiTi" pitchFamily="18" charset="-122"/>
                                        <a:cs typeface="Alibaba PuHuiTi" pitchFamily="18" charset="-122"/>
                                      </a:rPr>
                                      <m:t>𝑉</m:t>
                                    </m:r>
                                  </m:sup>
                                </m:sSup>
                              </m:den>
                            </m:f>
                            <m:r>
                              <a:rPr lang="zh-CN" altLang="en-US" sz="1400" i="1">
                                <a:solidFill>
                                  <a:srgbClr val="333333"/>
                                </a:solidFill>
                                <a:latin typeface="Cambria Math" panose="02040503050406030204" pitchFamily="18" charset="0"/>
                                <a:ea typeface="Alibaba PuHuiTi" pitchFamily="18" charset="-122"/>
                                <a:cs typeface="Alibaba PuHuiTi" pitchFamily="18" charset="-122"/>
                              </a:rPr>
                              <m:t> </m:t>
                            </m:r>
                            <m:r>
                              <a:rPr lang="en-US" altLang="zh-CN" sz="1400" b="0" i="1" smtClean="0">
                                <a:solidFill>
                                  <a:srgbClr val="333333"/>
                                </a:solidFill>
                                <a:latin typeface="Cambria Math" panose="02040503050406030204" pitchFamily="18" charset="0"/>
                                <a:ea typeface="Alibaba PuHuiTi" pitchFamily="18" charset="-122"/>
                                <a:cs typeface="Alibaba PuHuiTi" pitchFamily="18" charset="-122"/>
                              </a:rPr>
                              <m:t>𝑙𝑜𝑔</m:t>
                            </m:r>
                            <m:f>
                              <m:fPr>
                                <m:ctrlPr>
                                  <a:rPr lang="en-US" altLang="zh-CN" sz="1400" i="1">
                                    <a:solidFill>
                                      <a:srgbClr val="333333"/>
                                    </a:solidFill>
                                    <a:latin typeface="Cambria Math" panose="02040503050406030204" pitchFamily="18" charset="0"/>
                                    <a:ea typeface="Alibaba PuHuiTi" pitchFamily="18" charset="-122"/>
                                    <a:cs typeface="Alibaba PuHuiTi" pitchFamily="18" charset="-122"/>
                                  </a:rPr>
                                </m:ctrlPr>
                              </m:fPr>
                              <m:num>
                                <m:sSup>
                                  <m:sSupPr>
                                    <m:ctrlPr>
                                      <a:rPr lang="en-US" altLang="zh-CN" sz="1400" i="1">
                                        <a:solidFill>
                                          <a:srgbClr val="333333"/>
                                        </a:solidFill>
                                        <a:latin typeface="Cambria Math" panose="02040503050406030204" pitchFamily="18" charset="0"/>
                                        <a:ea typeface="Alibaba PuHuiTi" pitchFamily="18" charset="-122"/>
                                        <a:cs typeface="Alibaba PuHuiTi" pitchFamily="18" charset="-122"/>
                                      </a:rPr>
                                    </m:ctrlPr>
                                  </m:sSupPr>
                                  <m:e>
                                    <m:r>
                                      <a:rPr lang="en-US" altLang="zh-CN" sz="1400" i="1">
                                        <a:solidFill>
                                          <a:srgbClr val="333333"/>
                                        </a:solidFill>
                                        <a:latin typeface="Cambria Math" panose="02040503050406030204" pitchFamily="18" charset="0"/>
                                        <a:ea typeface="Alibaba PuHuiTi" pitchFamily="18" charset="-122"/>
                                        <a:cs typeface="Alibaba PuHuiTi" pitchFamily="18" charset="-122"/>
                                      </a:rPr>
                                      <m:t>𝐶</m:t>
                                    </m:r>
                                  </m:e>
                                  <m:sup>
                                    <m:r>
                                      <a:rPr lang="en-US" altLang="zh-CN" sz="1400" i="1">
                                        <a:solidFill>
                                          <a:srgbClr val="333333"/>
                                        </a:solidFill>
                                        <a:latin typeface="Cambria Math" panose="02040503050406030204" pitchFamily="18" charset="0"/>
                                        <a:ea typeface="Alibaba PuHuiTi" pitchFamily="18" charset="-122"/>
                                        <a:cs typeface="Alibaba PuHuiTi" pitchFamily="18" charset="-122"/>
                                      </a:rPr>
                                      <m:t>𝑘𝑉</m:t>
                                    </m:r>
                                  </m:sup>
                                </m:sSup>
                              </m:num>
                              <m:den>
                                <m:sSup>
                                  <m:sSupPr>
                                    <m:ctrlPr>
                                      <a:rPr lang="en-US" altLang="zh-CN" sz="1400" i="1">
                                        <a:solidFill>
                                          <a:srgbClr val="333333"/>
                                        </a:solidFill>
                                        <a:latin typeface="Cambria Math" panose="02040503050406030204" pitchFamily="18" charset="0"/>
                                        <a:ea typeface="Alibaba PuHuiTi" pitchFamily="18" charset="-122"/>
                                        <a:cs typeface="Alibaba PuHuiTi" pitchFamily="18" charset="-122"/>
                                      </a:rPr>
                                    </m:ctrlPr>
                                  </m:sSupPr>
                                  <m:e>
                                    <m:r>
                                      <a:rPr lang="en-US" altLang="zh-CN" sz="1400" i="1">
                                        <a:solidFill>
                                          <a:srgbClr val="333333"/>
                                        </a:solidFill>
                                        <a:latin typeface="Cambria Math" panose="02040503050406030204" pitchFamily="18" charset="0"/>
                                        <a:ea typeface="Alibaba PuHuiTi" pitchFamily="18" charset="-122"/>
                                        <a:cs typeface="Alibaba PuHuiTi" pitchFamily="18" charset="-122"/>
                                      </a:rPr>
                                      <m:t>𝐷</m:t>
                                    </m:r>
                                  </m:e>
                                  <m:sup>
                                    <m:r>
                                      <a:rPr lang="en-US" altLang="zh-CN" sz="1400" i="1">
                                        <a:solidFill>
                                          <a:srgbClr val="333333"/>
                                        </a:solidFill>
                                        <a:latin typeface="Cambria Math" panose="02040503050406030204" pitchFamily="18" charset="0"/>
                                        <a:ea typeface="Alibaba PuHuiTi" pitchFamily="18" charset="-122"/>
                                        <a:cs typeface="Alibaba PuHuiTi" pitchFamily="18" charset="-122"/>
                                      </a:rPr>
                                      <m:t>𝑉</m:t>
                                    </m:r>
                                  </m:sup>
                                </m:sSup>
                              </m:den>
                            </m:f>
                          </m:e>
                        </m:nary>
                      </m:e>
                    </m:nary>
                  </m:oMath>
                </a14:m>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endPar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p:txBody>
          </p:sp>
        </mc:Choice>
        <mc:Fallback>
          <p:sp>
            <p:nvSpPr>
              <p:cNvPr id="9" name="文本占位符 2"/>
              <p:cNvSpPr txBox="1">
                <a:spLocks noRot="1" noChangeAspect="1" noMove="1" noResize="1" noEditPoints="1" noAdjustHandles="1" noChangeArrowheads="1" noChangeShapeType="1" noTextEdit="1"/>
              </p:cNvSpPr>
              <p:nvPr/>
            </p:nvSpPr>
            <p:spPr>
              <a:xfrm>
                <a:off x="1906365" y="5636478"/>
                <a:ext cx="7315838" cy="759777"/>
              </a:xfrm>
              <a:prstGeom prst="rect">
                <a:avLst/>
              </a:prstGeom>
              <a:blipFill rotWithShape="1">
                <a:blip r:embed="rId1"/>
                <a:stretch>
                  <a:fillRect l="-1" t="-29" r="1" b="70"/>
                </a:stretch>
              </a:blipFill>
            </p:spPr>
            <p:txBody>
              <a:bodyPr/>
              <a:lstStyle/>
              <a:p>
                <a:r>
                  <a:rPr lang="zh-CN" altLang="en-US">
                    <a:noFill/>
                  </a:rPr>
                  <a:t> </a:t>
                </a:r>
              </a:p>
            </p:txBody>
          </p:sp>
        </mc:Fallback>
      </mc:AlternateContent>
      <p:sp>
        <p:nvSpPr>
          <p:cNvPr id="10" name="文本占位符 2"/>
          <p:cNvSpPr txBox="1"/>
          <p:nvPr/>
        </p:nvSpPr>
        <p:spPr>
          <a:xfrm>
            <a:off x="1109965" y="5231659"/>
            <a:ext cx="1541795"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条件熵</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pic>
        <p:nvPicPr>
          <p:cNvPr id="6" name="图片 5"/>
          <p:cNvPicPr>
            <a:picLocks noChangeAspect="1"/>
          </p:cNvPicPr>
          <p:nvPr/>
        </p:nvPicPr>
        <p:blipFill>
          <a:blip r:embed="rId2"/>
          <a:stretch>
            <a:fillRect/>
          </a:stretch>
        </p:blipFill>
        <p:spPr>
          <a:xfrm>
            <a:off x="2071370" y="3569335"/>
            <a:ext cx="7371080" cy="1620520"/>
          </a:xfrm>
          <a:prstGeom prst="rect">
            <a:avLst/>
          </a:prstGeom>
        </p:spPr>
      </p:pic>
      <p:sp>
        <p:nvSpPr>
          <p:cNvPr id="8" name="文本框 7"/>
          <p:cNvSpPr txBox="1"/>
          <p:nvPr/>
        </p:nvSpPr>
        <p:spPr>
          <a:xfrm>
            <a:off x="1960880" y="6258878"/>
            <a:ext cx="5080000" cy="337185"/>
          </a:xfrm>
          <a:prstGeom prst="rect">
            <a:avLst/>
          </a:prstGeom>
        </p:spPr>
        <p:txBody>
          <a:bodyPr>
            <a:spAutoFit/>
          </a:bodyPr>
          <a:p>
            <a:r>
              <a:rPr lang="zh-CN" altLang="en-US" sz="1600">
                <a:solidFill>
                  <a:schemeClr val="accent2"/>
                </a:solidFill>
              </a:rPr>
              <a:t>条件熵是所有分类占比与对应子集熵的加权和</a:t>
            </a:r>
            <a:endParaRPr lang="zh-CN" altLang="en-US" sz="1600">
              <a:solidFill>
                <a:schemeClr val="accent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信息增益</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graphicFrame>
        <p:nvGraphicFramePr>
          <p:cNvPr id="10" name="表格 9"/>
          <p:cNvGraphicFramePr/>
          <p:nvPr>
            <p:custDataLst>
              <p:tags r:id="rId1"/>
            </p:custDataLst>
          </p:nvPr>
        </p:nvGraphicFramePr>
        <p:xfrm>
          <a:off x="879617" y="1734429"/>
          <a:ext cx="1874441" cy="2254535"/>
        </p:xfrm>
        <a:graphic>
          <a:graphicData uri="http://schemas.openxmlformats.org/drawingml/2006/table">
            <a:tbl>
              <a:tblPr firstRow="1" bandRow="1">
                <a:tableStyleId>{5C22544A-7EE6-4342-B048-85BDC9FD1C3A}</a:tableStyleId>
              </a:tblPr>
              <a:tblGrid>
                <a:gridCol w="838121"/>
                <a:gridCol w="1036320"/>
              </a:tblGrid>
              <a:tr h="398454">
                <a:tc>
                  <a:txBody>
                    <a:bodyPr/>
                    <a:lstStyle/>
                    <a:p>
                      <a:pPr indent="0" algn="ctr">
                        <a:buNone/>
                      </a:pPr>
                      <a:r>
                        <a:rPr lang="zh-CN" altLang="en-US" sz="1400" b="0" dirty="0">
                          <a:solidFill>
                            <a:schemeClr val="bg1"/>
                          </a:solidFill>
                          <a:latin typeface="阿里巴巴普惠体" panose="00020600040101010101" pitchFamily="18" charset="-122"/>
                          <a:ea typeface="阿里巴巴普惠体" panose="00020600040101010101" pitchFamily="18" charset="-122"/>
                        </a:rPr>
                        <a:t>特征</a:t>
                      </a:r>
                      <a:r>
                        <a:rPr lang="en-US" altLang="zh-CN" sz="1400" b="0" dirty="0">
                          <a:solidFill>
                            <a:schemeClr val="bg1"/>
                          </a:solidFill>
                          <a:latin typeface="阿里巴巴普惠体" panose="00020600040101010101" pitchFamily="18" charset="-122"/>
                          <a:ea typeface="阿里巴巴普惠体" panose="00020600040101010101" pitchFamily="18" charset="-122"/>
                        </a:rPr>
                        <a:t>a</a:t>
                      </a:r>
                      <a:endParaRPr lang="en-US" altLang="zh-CN" sz="1400" b="0" dirty="0">
                        <a:solidFill>
                          <a:schemeClr val="bg1"/>
                        </a:solidFill>
                        <a:latin typeface="阿里巴巴普惠体" panose="00020600040101010101" pitchFamily="18" charset="-122"/>
                        <a:ea typeface="阿里巴巴普惠体" panose="00020600040101010101" pitchFamily="18" charset="-122"/>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p>
                      <a:pPr indent="0" algn="ctr">
                        <a:buNone/>
                      </a:pPr>
                      <a:r>
                        <a:rPr lang="zh-CN" altLang="en-US" sz="1400" b="0" dirty="0">
                          <a:solidFill>
                            <a:schemeClr val="bg1"/>
                          </a:solidFill>
                          <a:latin typeface="阿里巴巴普惠体" panose="00020600040101010101" pitchFamily="18" charset="-122"/>
                          <a:ea typeface="阿里巴巴普惠体" panose="00020600040101010101" pitchFamily="18" charset="-122"/>
                        </a:rPr>
                        <a:t>目标值</a:t>
                      </a:r>
                      <a:endParaRPr lang="en-US" altLang="zh-CN" sz="1400" b="0" dirty="0">
                        <a:solidFill>
                          <a:schemeClr val="bg1"/>
                        </a:solidFill>
                        <a:latin typeface="阿里巴巴普惠体" panose="00020600040101010101" pitchFamily="18" charset="-122"/>
                        <a:ea typeface="阿里巴巴普惠体" panose="00020600040101010101" pitchFamily="18" charset="-122"/>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solidFill>
                  </a:tcPr>
                </a:tc>
              </a:tr>
              <a:tr h="332081">
                <a:tc>
                  <a:txBody>
                    <a:bodyPr/>
                    <a:lstStyle/>
                    <a:p>
                      <a:pPr algn="ctr">
                        <a:buClrTx/>
                        <a:buSzTx/>
                        <a:buFontTx/>
                        <a:buNone/>
                      </a:pPr>
                      <a:r>
                        <a:rPr lang="el-GR" altLang="zh-CN" sz="1400" dirty="0">
                          <a:solidFill>
                            <a:srgbClr val="C0504D">
                              <a:lumMod val="75000"/>
                            </a:srgbClr>
                          </a:solidFill>
                          <a:latin typeface="Alibaba PuHuiTi" pitchFamily="18" charset="-122"/>
                          <a:ea typeface="Alibaba PuHuiTi" pitchFamily="18" charset="-122"/>
                          <a:cs typeface="Alibaba PuHuiTi" pitchFamily="18" charset="-122"/>
                        </a:rPr>
                        <a:t>α</a:t>
                      </a:r>
                      <a:endParaRPr 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ClrTx/>
                        <a:buSzTx/>
                        <a:buFontTx/>
                        <a:buNone/>
                      </a:pPr>
                      <a:r>
                        <a:rPr lang="en-US"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a:t>
                      </a:r>
                      <a:endParaRPr 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58644">
                <a:tc>
                  <a:txBody>
                    <a:bodyPr/>
                    <a:lstStyle/>
                    <a:p>
                      <a:pPr indent="0" algn="ctr">
                        <a:buNone/>
                      </a:pPr>
                      <a:r>
                        <a:rPr lang="el-GR" altLang="zh-CN" sz="1400" dirty="0">
                          <a:solidFill>
                            <a:srgbClr val="C0504D">
                              <a:lumMod val="75000"/>
                            </a:srgbClr>
                          </a:solidFill>
                          <a:latin typeface="Alibaba PuHuiTi" pitchFamily="18" charset="-122"/>
                          <a:ea typeface="Alibaba PuHuiTi" pitchFamily="18" charset="-122"/>
                          <a:cs typeface="Alibaba PuHuiTi" pitchFamily="18" charset="-122"/>
                        </a:rPr>
                        <a:t>α</a:t>
                      </a:r>
                      <a:endParaRPr lang="zh-CN" altLang="en-US"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ClrTx/>
                        <a:buSzTx/>
                        <a:buFontTx/>
                        <a:buNone/>
                      </a:pPr>
                      <a:r>
                        <a:rPr lang="en-US"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a:t>
                      </a:r>
                      <a:endParaRPr 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58644">
                <a:tc>
                  <a:txBody>
                    <a:bodyPr/>
                    <a:lstStyle/>
                    <a:p>
                      <a:pPr marL="0" marR="0" indent="0" algn="ctr" defTabSz="1219200" rtl="0" eaLnBrk="1" fontAlgn="auto" latinLnBrk="0" hangingPunct="1">
                        <a:lnSpc>
                          <a:spcPct val="100000"/>
                        </a:lnSpc>
                        <a:spcBef>
                          <a:spcPts val="0"/>
                        </a:spcBef>
                        <a:spcAft>
                          <a:spcPts val="0"/>
                        </a:spcAft>
                        <a:buClrTx/>
                        <a:buSzTx/>
                        <a:buFontTx/>
                        <a:buNone/>
                        <a:defRPr/>
                      </a:pPr>
                      <a:r>
                        <a:rPr lang="el-GR"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β</a:t>
                      </a:r>
                      <a:endParaRPr lang="zh-CN" altLang="en-US"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ClrTx/>
                        <a:buSzTx/>
                        <a:buFontTx/>
                        <a:buNone/>
                      </a:pPr>
                      <a:r>
                        <a:rPr lang="en-US"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B</a:t>
                      </a:r>
                      <a:endParaRPr 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58644">
                <a:tc>
                  <a:txBody>
                    <a:bodyPr/>
                    <a:lstStyle/>
                    <a:p>
                      <a:pPr marL="0" marR="0" lvl="0" indent="0" algn="ctr" defTabSz="1219200" rtl="0" eaLnBrk="1" fontAlgn="auto" latinLnBrk="0" hangingPunct="1">
                        <a:lnSpc>
                          <a:spcPct val="100000"/>
                        </a:lnSpc>
                        <a:spcBef>
                          <a:spcPts val="0"/>
                        </a:spcBef>
                        <a:spcAft>
                          <a:spcPts val="0"/>
                        </a:spcAft>
                        <a:buClrTx/>
                        <a:buSzTx/>
                        <a:buFontTx/>
                        <a:buNone/>
                        <a:defRPr/>
                      </a:pPr>
                      <a:r>
                        <a:rPr lang="el-GR" altLang="zh-CN" sz="1400" dirty="0">
                          <a:solidFill>
                            <a:srgbClr val="C0504D">
                              <a:lumMod val="75000"/>
                            </a:srgbClr>
                          </a:solidFill>
                          <a:latin typeface="Alibaba PuHuiTi" pitchFamily="18" charset="-122"/>
                          <a:ea typeface="Alibaba PuHuiTi" pitchFamily="18" charset="-122"/>
                          <a:cs typeface="Alibaba PuHuiTi" pitchFamily="18" charset="-122"/>
                        </a:rPr>
                        <a:t>α</a:t>
                      </a:r>
                      <a:endParaRPr lang="zh-CN" altLang="en-US"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ClrTx/>
                        <a:buSzTx/>
                        <a:buFontTx/>
                        <a:buNone/>
                      </a:pPr>
                      <a:r>
                        <a:rPr lang="en-US"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a:t>
                      </a:r>
                      <a:endParaRPr 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58644">
                <a:tc>
                  <a:txBody>
                    <a:bodyPr/>
                    <a:lstStyle/>
                    <a:p>
                      <a:pPr marL="0" marR="0" lvl="0" indent="0" algn="ctr" defTabSz="1219200" rtl="0" eaLnBrk="1" fontAlgn="auto" latinLnBrk="0" hangingPunct="1">
                        <a:lnSpc>
                          <a:spcPct val="100000"/>
                        </a:lnSpc>
                        <a:spcBef>
                          <a:spcPts val="0"/>
                        </a:spcBef>
                        <a:spcAft>
                          <a:spcPts val="0"/>
                        </a:spcAft>
                        <a:buClrTx/>
                        <a:buSzTx/>
                        <a:buFontTx/>
                        <a:buNone/>
                        <a:defRPr/>
                      </a:pPr>
                      <a:r>
                        <a:rPr lang="el-GR"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β</a:t>
                      </a:r>
                      <a:endParaRPr lang="zh-CN" altLang="en-US"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ClrTx/>
                        <a:buSzTx/>
                        <a:buFontTx/>
                        <a:buNone/>
                      </a:pPr>
                      <a:r>
                        <a:rPr lang="en-US"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B</a:t>
                      </a:r>
                      <a:endParaRPr 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58644">
                <a:tc>
                  <a:txBody>
                    <a:bodyPr/>
                    <a:lstStyle/>
                    <a:p>
                      <a:pPr marL="0" marR="0" lvl="0" indent="0" algn="ctr" defTabSz="1219200" rtl="0" eaLnBrk="1" fontAlgn="auto" latinLnBrk="0" hangingPunct="1">
                        <a:lnSpc>
                          <a:spcPct val="100000"/>
                        </a:lnSpc>
                        <a:spcBef>
                          <a:spcPts val="0"/>
                        </a:spcBef>
                        <a:spcAft>
                          <a:spcPts val="0"/>
                        </a:spcAft>
                        <a:buClrTx/>
                        <a:buSzTx/>
                        <a:buFontTx/>
                        <a:buNone/>
                        <a:defRPr/>
                      </a:pPr>
                      <a:r>
                        <a:rPr lang="el-GR" altLang="zh-CN" sz="1400" dirty="0">
                          <a:solidFill>
                            <a:srgbClr val="C0504D">
                              <a:lumMod val="75000"/>
                            </a:srgbClr>
                          </a:solidFill>
                          <a:latin typeface="Alibaba PuHuiTi" pitchFamily="18" charset="-122"/>
                          <a:ea typeface="Alibaba PuHuiTi" pitchFamily="18" charset="-122"/>
                          <a:cs typeface="Alibaba PuHuiTi" pitchFamily="18" charset="-122"/>
                        </a:rPr>
                        <a:t>α</a:t>
                      </a:r>
                      <a:endParaRPr lang="zh-CN" altLang="en-US"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ClrTx/>
                        <a:buSzTx/>
                        <a:buFontTx/>
                        <a:buNone/>
                      </a:pPr>
                      <a:r>
                        <a:rPr lang="en-US"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B</a:t>
                      </a:r>
                      <a:endParaRPr 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
        <p:nvSpPr>
          <p:cNvPr id="11" name="椭圆 10"/>
          <p:cNvSpPr/>
          <p:nvPr/>
        </p:nvSpPr>
        <p:spPr>
          <a:xfrm>
            <a:off x="9594122" y="1239731"/>
            <a:ext cx="762000" cy="633108"/>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600" dirty="0"/>
              <a:t>3A</a:t>
            </a:r>
            <a:endParaRPr kumimoji="1" lang="en-US" altLang="zh-CN" sz="1600" dirty="0"/>
          </a:p>
          <a:p>
            <a:pPr algn="ctr"/>
            <a:r>
              <a:rPr kumimoji="1" lang="en-US" altLang="zh-CN" sz="1600" dirty="0"/>
              <a:t>3B</a:t>
            </a:r>
            <a:endParaRPr kumimoji="1" lang="zh-CN" altLang="en-US" sz="1600" dirty="0"/>
          </a:p>
        </p:txBody>
      </p:sp>
      <p:sp>
        <p:nvSpPr>
          <p:cNvPr id="12" name="椭圆 11"/>
          <p:cNvSpPr/>
          <p:nvPr/>
        </p:nvSpPr>
        <p:spPr>
          <a:xfrm>
            <a:off x="8859573" y="2187641"/>
            <a:ext cx="762000" cy="633108"/>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600" dirty="0"/>
              <a:t>3A</a:t>
            </a:r>
            <a:endParaRPr kumimoji="1" lang="en-US" altLang="zh-CN" sz="1600" dirty="0"/>
          </a:p>
          <a:p>
            <a:pPr algn="ctr"/>
            <a:r>
              <a:rPr kumimoji="1" lang="en-US" altLang="zh-CN" sz="1600" dirty="0"/>
              <a:t>1B</a:t>
            </a:r>
            <a:endParaRPr kumimoji="1" lang="zh-CN" altLang="en-US" sz="1600" dirty="0"/>
          </a:p>
        </p:txBody>
      </p:sp>
      <p:sp>
        <p:nvSpPr>
          <p:cNvPr id="13" name="椭圆 12"/>
          <p:cNvSpPr/>
          <p:nvPr/>
        </p:nvSpPr>
        <p:spPr>
          <a:xfrm>
            <a:off x="10301693" y="2141212"/>
            <a:ext cx="762000" cy="633108"/>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600" dirty="0"/>
              <a:t>2B</a:t>
            </a:r>
            <a:endParaRPr kumimoji="1" lang="zh-CN" altLang="en-US" sz="1600" dirty="0"/>
          </a:p>
        </p:txBody>
      </p:sp>
      <p:cxnSp>
        <p:nvCxnSpPr>
          <p:cNvPr id="15" name="直线箭头连接符 14"/>
          <p:cNvCxnSpPr>
            <a:stCxn id="11" idx="4"/>
            <a:endCxn id="12" idx="0"/>
          </p:cNvCxnSpPr>
          <p:nvPr/>
        </p:nvCxnSpPr>
        <p:spPr>
          <a:xfrm flipH="1">
            <a:off x="9240573" y="1872839"/>
            <a:ext cx="734549" cy="3148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线箭头连接符 15"/>
          <p:cNvCxnSpPr>
            <a:stCxn id="11" idx="4"/>
            <a:endCxn id="13" idx="0"/>
          </p:cNvCxnSpPr>
          <p:nvPr/>
        </p:nvCxnSpPr>
        <p:spPr>
          <a:xfrm>
            <a:off x="9975122" y="1872839"/>
            <a:ext cx="707571" cy="2683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3751594" y="1269281"/>
            <a:ext cx="5228620" cy="1337945"/>
          </a:xfrm>
          <a:prstGeom prst="rect">
            <a:avLst/>
          </a:prstGeom>
          <a:noFill/>
        </p:spPr>
        <p:txBody>
          <a:bodyPr wrap="square">
            <a:spAutoFit/>
          </a:bodyPr>
          <a:lstStyle/>
          <a:p>
            <a:pPr>
              <a:lnSpc>
                <a:spcPct val="150000"/>
              </a:lnSpc>
            </a:pPr>
            <a:r>
              <a:rPr lang="zh-CN" altLang="en-US" dirty="0">
                <a:latin typeface="Alibaba PuHuiTi" pitchFamily="18" charset="-122"/>
                <a:ea typeface="Alibaba PuHuiTi" pitchFamily="18" charset="-122"/>
                <a:cs typeface="Alibaba PuHuiTi" pitchFamily="18" charset="-122"/>
              </a:rPr>
              <a:t>已知</a:t>
            </a:r>
            <a:r>
              <a:rPr lang="en-US" altLang="zh-CN" dirty="0">
                <a:latin typeface="Alibaba PuHuiTi" pitchFamily="18" charset="-122"/>
                <a:ea typeface="Alibaba PuHuiTi" pitchFamily="18" charset="-122"/>
                <a:cs typeface="Alibaba PuHuiTi" pitchFamily="18" charset="-122"/>
              </a:rPr>
              <a:t>6</a:t>
            </a:r>
            <a:r>
              <a:rPr lang="zh-CN" altLang="en-US" dirty="0">
                <a:latin typeface="Alibaba PuHuiTi" pitchFamily="18" charset="-122"/>
                <a:ea typeface="Alibaba PuHuiTi" pitchFamily="18" charset="-122"/>
                <a:cs typeface="Alibaba PuHuiTi" pitchFamily="18" charset="-122"/>
              </a:rPr>
              <a:t>个样本，根据特征</a:t>
            </a:r>
            <a:r>
              <a:rPr lang="en-US" altLang="zh-CN" dirty="0">
                <a:latin typeface="Alibaba PuHuiTi" pitchFamily="18" charset="-122"/>
                <a:ea typeface="Alibaba PuHuiTi" pitchFamily="18" charset="-122"/>
                <a:cs typeface="Alibaba PuHuiTi" pitchFamily="18" charset="-122"/>
              </a:rPr>
              <a:t>a</a:t>
            </a:r>
            <a:r>
              <a:rPr lang="zh-CN" altLang="en-US" dirty="0">
                <a:latin typeface="Alibaba PuHuiTi" pitchFamily="18" charset="-122"/>
                <a:ea typeface="Alibaba PuHuiTi" pitchFamily="18" charset="-122"/>
                <a:cs typeface="Alibaba PuHuiTi" pitchFamily="18" charset="-122"/>
              </a:rPr>
              <a:t>：</a:t>
            </a:r>
            <a:endParaRPr lang="en-US" altLang="zh-CN" dirty="0">
              <a:latin typeface="Alibaba PuHuiTi" pitchFamily="18" charset="-122"/>
              <a:ea typeface="Alibaba PuHuiTi" pitchFamily="18" charset="-122"/>
              <a:cs typeface="Alibaba PuHuiTi" pitchFamily="18" charset="-122"/>
            </a:endParaRPr>
          </a:p>
          <a:p>
            <a:pPr>
              <a:lnSpc>
                <a:spcPct val="150000"/>
              </a:lnSpc>
            </a:pPr>
            <a:r>
              <a:rPr lang="el-GR" altLang="zh-CN" dirty="0">
                <a:latin typeface="Alibaba PuHuiTi" pitchFamily="18" charset="-122"/>
                <a:ea typeface="Alibaba PuHuiTi" pitchFamily="18" charset="-122"/>
                <a:cs typeface="Alibaba PuHuiTi" pitchFamily="18" charset="-122"/>
              </a:rPr>
              <a:t>α </a:t>
            </a:r>
            <a:r>
              <a:rPr lang="zh-CN" altLang="en-US" dirty="0">
                <a:latin typeface="Alibaba PuHuiTi" pitchFamily="18" charset="-122"/>
                <a:ea typeface="Alibaba PuHuiTi" pitchFamily="18" charset="-122"/>
                <a:cs typeface="Alibaba PuHuiTi" pitchFamily="18" charset="-122"/>
              </a:rPr>
              <a:t>部分对应的目标值为： </a:t>
            </a:r>
            <a:r>
              <a:rPr lang="en-GB" altLang="zh-CN" dirty="0">
                <a:solidFill>
                  <a:schemeClr val="accent2">
                    <a:lumMod val="75000"/>
                  </a:schemeClr>
                </a:solidFill>
                <a:latin typeface="Alibaba PuHuiTi" pitchFamily="18" charset="-122"/>
                <a:ea typeface="Alibaba PuHuiTi" pitchFamily="18" charset="-122"/>
                <a:cs typeface="Alibaba PuHuiTi" pitchFamily="18" charset="-122"/>
              </a:rPr>
              <a:t>AAAB</a:t>
            </a:r>
            <a:endParaRPr lang="en-GB" altLang="zh-CN" dirty="0">
              <a:solidFill>
                <a:schemeClr val="accent2">
                  <a:lumMod val="75000"/>
                </a:schemeClr>
              </a:solidFill>
              <a:latin typeface="Alibaba PuHuiTi" pitchFamily="18" charset="-122"/>
              <a:ea typeface="Alibaba PuHuiTi" pitchFamily="18" charset="-122"/>
              <a:cs typeface="Alibaba PuHuiTi" pitchFamily="18" charset="-122"/>
            </a:endParaRPr>
          </a:p>
          <a:p>
            <a:pPr>
              <a:lnSpc>
                <a:spcPct val="150000"/>
              </a:lnSpc>
            </a:pPr>
            <a:r>
              <a:rPr lang="el-GR" altLang="zh-CN" dirty="0">
                <a:latin typeface="Alibaba PuHuiTi" pitchFamily="18" charset="-122"/>
                <a:ea typeface="Alibaba PuHuiTi" pitchFamily="18" charset="-122"/>
                <a:cs typeface="Alibaba PuHuiTi" pitchFamily="18" charset="-122"/>
              </a:rPr>
              <a:t>β </a:t>
            </a:r>
            <a:r>
              <a:rPr lang="zh-CN" altLang="en-US" dirty="0">
                <a:latin typeface="Alibaba PuHuiTi" pitchFamily="18" charset="-122"/>
                <a:ea typeface="Alibaba PuHuiTi" pitchFamily="18" charset="-122"/>
                <a:cs typeface="Alibaba PuHuiTi" pitchFamily="18" charset="-122"/>
              </a:rPr>
              <a:t>部分对应的目标值为：</a:t>
            </a:r>
            <a:r>
              <a:rPr lang="en-GB" altLang="zh-CN" dirty="0">
                <a:solidFill>
                  <a:schemeClr val="accent2">
                    <a:lumMod val="75000"/>
                  </a:schemeClr>
                </a:solidFill>
                <a:latin typeface="Alibaba PuHuiTi" pitchFamily="18" charset="-122"/>
                <a:ea typeface="Alibaba PuHuiTi" pitchFamily="18" charset="-122"/>
                <a:cs typeface="Alibaba PuHuiTi" pitchFamily="18" charset="-122"/>
              </a:rPr>
              <a:t>BB</a:t>
            </a:r>
            <a:endParaRPr lang="en-GB" altLang="zh-CN" dirty="0">
              <a:solidFill>
                <a:schemeClr val="accent2">
                  <a:lumMod val="75000"/>
                </a:schemeClr>
              </a:solidFill>
              <a:latin typeface="Alibaba PuHuiTi" pitchFamily="18" charset="-122"/>
              <a:ea typeface="Alibaba PuHuiTi" pitchFamily="18" charset="-122"/>
              <a:cs typeface="Alibaba PuHuiTi" pitchFamily="18" charset="-122"/>
            </a:endParaRPr>
          </a:p>
        </p:txBody>
      </p:sp>
      <p:sp>
        <p:nvSpPr>
          <p:cNvPr id="21" name="文本框 20"/>
          <p:cNvSpPr txBox="1"/>
          <p:nvPr/>
        </p:nvSpPr>
        <p:spPr>
          <a:xfrm>
            <a:off x="9257328" y="1716798"/>
            <a:ext cx="350520" cy="369332"/>
          </a:xfrm>
          <a:prstGeom prst="rect">
            <a:avLst/>
          </a:prstGeom>
          <a:noFill/>
        </p:spPr>
        <p:txBody>
          <a:bodyPr wrap="square">
            <a:spAutoFit/>
          </a:bodyPr>
          <a:lstStyle/>
          <a:p>
            <a:pPr algn="ctr">
              <a:buClrTx/>
              <a:buSzTx/>
              <a:buFontTx/>
              <a:buNone/>
            </a:pPr>
            <a:r>
              <a:rPr lang="el-GR" altLang="zh-CN" sz="1800" dirty="0">
                <a:solidFill>
                  <a:srgbClr val="C0504D">
                    <a:lumMod val="75000"/>
                  </a:srgbClr>
                </a:solidFill>
                <a:latin typeface="Alibaba PuHuiTi" pitchFamily="18" charset="-122"/>
                <a:ea typeface="Alibaba PuHuiTi" pitchFamily="18" charset="-122"/>
                <a:cs typeface="Alibaba PuHuiTi" pitchFamily="18" charset="-122"/>
              </a:rPr>
              <a:t>α</a:t>
            </a:r>
            <a:endParaRPr lang="zh-CN" altLang="zh-CN" sz="18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文本框 22"/>
          <p:cNvSpPr txBox="1"/>
          <p:nvPr/>
        </p:nvSpPr>
        <p:spPr>
          <a:xfrm>
            <a:off x="10235481" y="1742724"/>
            <a:ext cx="360680" cy="369332"/>
          </a:xfrm>
          <a:prstGeom prst="rect">
            <a:avLst/>
          </a:prstGeom>
          <a:noFill/>
        </p:spPr>
        <p:txBody>
          <a:bodyPr wrap="square">
            <a:spAutoFit/>
          </a:bodyPr>
          <a:lstStyle/>
          <a:p>
            <a:pPr marL="0" marR="0" indent="0" algn="ctr" defTabSz="1219200" rtl="0" eaLnBrk="1" fontAlgn="auto" latinLnBrk="0" hangingPunct="1">
              <a:lnSpc>
                <a:spcPct val="100000"/>
              </a:lnSpc>
              <a:spcBef>
                <a:spcPts val="0"/>
              </a:spcBef>
              <a:spcAft>
                <a:spcPts val="0"/>
              </a:spcAft>
              <a:buClrTx/>
              <a:buSzTx/>
              <a:buFontTx/>
              <a:buNone/>
              <a:defRPr/>
            </a:pPr>
            <a:r>
              <a:rPr lang="el-GR" altLang="zh-CN" sz="18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β</a:t>
            </a:r>
            <a:endParaRPr lang="zh-CN" altLang="en-US" sz="18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4" name="文本占位符 2"/>
          <p:cNvSpPr txBox="1"/>
          <p:nvPr/>
        </p:nvSpPr>
        <p:spPr>
          <a:xfrm>
            <a:off x="3409632" y="3081216"/>
            <a:ext cx="7902751" cy="236082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lang="zh-CN" altLang="en-US" sz="1800" dirty="0">
                <a:latin typeface="Alibaba PuHuiTi" pitchFamily="18" charset="-122"/>
                <a:ea typeface="Alibaba PuHuiTi" pitchFamily="18" charset="-122"/>
                <a:cs typeface="Alibaba PuHuiTi" pitchFamily="18" charset="-122"/>
              </a:rPr>
              <a:t>条件为</a:t>
            </a:r>
            <a:r>
              <a:rPr lang="el-GR" altLang="zh-CN" sz="1800" dirty="0">
                <a:latin typeface="Alibaba PuHuiTi" pitchFamily="18" charset="-122"/>
                <a:ea typeface="Alibaba PuHuiTi" pitchFamily="18" charset="-122"/>
                <a:cs typeface="Alibaba PuHuiTi" pitchFamily="18" charset="-122"/>
              </a:rPr>
              <a:t>α</a:t>
            </a:r>
            <a:r>
              <a:rPr lang="zh-CN" altLang="en-US" sz="1800" dirty="0">
                <a:latin typeface="Alibaba PuHuiTi" pitchFamily="18" charset="-122"/>
                <a:ea typeface="Alibaba PuHuiTi" pitchFamily="18" charset="-122"/>
                <a:cs typeface="Alibaba PuHuiTi" pitchFamily="18" charset="-122"/>
              </a:rPr>
              <a:t>熵： </a:t>
            </a:r>
            <a:r>
              <a:rPr lang="en-GB" altLang="zh-CN" sz="1800" dirty="0">
                <a:latin typeface="Alibaba PuHuiTi" pitchFamily="18" charset="-122"/>
                <a:ea typeface="Alibaba PuHuiTi" pitchFamily="18" charset="-122"/>
                <a:cs typeface="Alibaba PuHuiTi" pitchFamily="18" charset="-122"/>
              </a:rPr>
              <a:t>-3/4*</a:t>
            </a:r>
            <a:r>
              <a:rPr lang="en-GB" altLang="zh-CN" sz="1800" dirty="0" err="1">
                <a:latin typeface="Alibaba PuHuiTi" pitchFamily="18" charset="-122"/>
                <a:ea typeface="Alibaba PuHuiTi" pitchFamily="18" charset="-122"/>
                <a:cs typeface="Alibaba PuHuiTi" pitchFamily="18" charset="-122"/>
              </a:rPr>
              <a:t>math.log</a:t>
            </a:r>
            <a:r>
              <a:rPr lang="en-GB" altLang="zh-CN" sz="1800" dirty="0">
                <a:latin typeface="Alibaba PuHuiTi" pitchFamily="18" charset="-122"/>
                <a:ea typeface="Alibaba PuHuiTi" pitchFamily="18" charset="-122"/>
                <a:cs typeface="Alibaba PuHuiTi" pitchFamily="18" charset="-122"/>
              </a:rPr>
              <a:t>(3/4, 2) - 1/4*</a:t>
            </a:r>
            <a:r>
              <a:rPr lang="en-GB" altLang="zh-CN" sz="1800" dirty="0" err="1">
                <a:latin typeface="Alibaba PuHuiTi" pitchFamily="18" charset="-122"/>
                <a:ea typeface="Alibaba PuHuiTi" pitchFamily="18" charset="-122"/>
                <a:cs typeface="Alibaba PuHuiTi" pitchFamily="18" charset="-122"/>
              </a:rPr>
              <a:t>math.log</a:t>
            </a:r>
            <a:r>
              <a:rPr lang="en-GB" altLang="zh-CN" sz="1800" dirty="0">
                <a:latin typeface="Alibaba PuHuiTi" pitchFamily="18" charset="-122"/>
                <a:ea typeface="Alibaba PuHuiTi" pitchFamily="18" charset="-122"/>
                <a:cs typeface="Alibaba PuHuiTi" pitchFamily="18" charset="-122"/>
              </a:rPr>
              <a:t>(1/4, 2) = 0.81</a:t>
            </a:r>
            <a:r>
              <a:rPr kumimoji="0" lang="zh-CN" altLang="en-US"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 </a:t>
            </a:r>
            <a:endParaRPr kumimoji="0" lang="en-US" altLang="zh-CN"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endParaRPr>
          </a:p>
          <a:p>
            <a:pPr marL="285750" indent="-285750">
              <a:buFont typeface="Arial" panose="020B0604020202020204" pitchFamily="34" charset="0"/>
              <a:buChar char="•"/>
              <a:defRPr/>
            </a:pPr>
            <a:r>
              <a:rPr lang="zh-CN" altLang="en-US" sz="1800" dirty="0">
                <a:latin typeface="Alibaba PuHuiTi" pitchFamily="18" charset="-122"/>
                <a:ea typeface="Alibaba PuHuiTi" pitchFamily="18" charset="-122"/>
                <a:cs typeface="Alibaba PuHuiTi" pitchFamily="18" charset="-122"/>
              </a:rPr>
              <a:t>条件为</a:t>
            </a:r>
            <a:r>
              <a:rPr lang="el-GR" altLang="zh-CN" sz="1800" b="0" dirty="0">
                <a:latin typeface="Alibaba PuHuiTi" pitchFamily="18" charset="-122"/>
                <a:ea typeface="Alibaba PuHuiTi" pitchFamily="18" charset="-122"/>
                <a:cs typeface="Alibaba PuHuiTi" pitchFamily="18" charset="-122"/>
              </a:rPr>
              <a:t>β</a:t>
            </a:r>
            <a:r>
              <a:rPr lang="zh-CN" altLang="en-US" sz="1800" dirty="0">
                <a:latin typeface="Alibaba PuHuiTi" pitchFamily="18" charset="-122"/>
                <a:ea typeface="Alibaba PuHuiTi" pitchFamily="18" charset="-122"/>
                <a:cs typeface="Alibaba PuHuiTi" pitchFamily="18" charset="-122"/>
              </a:rPr>
              <a:t>熵：</a:t>
            </a:r>
            <a:r>
              <a:rPr kumimoji="0" lang="zh-CN" altLang="en-US"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 </a:t>
            </a:r>
            <a:r>
              <a:rPr kumimoji="0" lang="en-GB" altLang="zh-CN"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a:t>
            </a:r>
            <a:r>
              <a:rPr lang="en-US" altLang="zh-CN" sz="1800" dirty="0">
                <a:latin typeface="Alibaba PuHuiTi" pitchFamily="18" charset="-122"/>
                <a:ea typeface="Alibaba PuHuiTi" pitchFamily="18" charset="-122"/>
                <a:cs typeface="Alibaba PuHuiTi" pitchFamily="18" charset="-122"/>
              </a:rPr>
              <a:t>(</a:t>
            </a:r>
            <a:r>
              <a:rPr kumimoji="0" lang="en-GB" altLang="zh-CN"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2/2</a:t>
            </a:r>
            <a:r>
              <a:rPr lang="zh-CN" altLang="en-US" sz="1800" dirty="0">
                <a:latin typeface="Alibaba PuHuiTi" pitchFamily="18" charset="-122"/>
                <a:ea typeface="Alibaba PuHuiTi" pitchFamily="18" charset="-122"/>
                <a:cs typeface="Alibaba PuHuiTi" pitchFamily="18" charset="-122"/>
              </a:rPr>
              <a:t>）</a:t>
            </a:r>
            <a:r>
              <a:rPr kumimoji="0" lang="en-GB" altLang="zh-CN"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a:t>
            </a:r>
            <a:r>
              <a:rPr kumimoji="0" lang="en-GB" altLang="zh-CN" sz="1800" b="0" i="0" u="none" strike="noStrike" kern="1200" cap="none" spc="0" normalizeH="0" baseline="0" noProof="0" dirty="0" err="1">
                <a:ln>
                  <a:noFill/>
                </a:ln>
                <a:effectLst/>
                <a:uLnTx/>
                <a:uFillTx/>
                <a:latin typeface="Alibaba PuHuiTi" pitchFamily="18" charset="-122"/>
                <a:ea typeface="Alibaba PuHuiTi" pitchFamily="18" charset="-122"/>
                <a:cs typeface="Alibaba PuHuiTi" pitchFamily="18" charset="-122"/>
              </a:rPr>
              <a:t>math.log</a:t>
            </a:r>
            <a:r>
              <a:rPr kumimoji="0" lang="en-GB" altLang="zh-CN"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(2/2, 2) = 0</a:t>
            </a:r>
            <a:endParaRPr kumimoji="0" lang="en-GB" altLang="zh-CN"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endParaRPr>
          </a:p>
          <a:p>
            <a:pPr marL="285750" indent="-285750">
              <a:buFont typeface="Arial" panose="020B0604020202020204" pitchFamily="34" charset="0"/>
              <a:buChar char="•"/>
              <a:defRPr/>
            </a:pPr>
            <a:r>
              <a:rPr lang="zh-CN" altLang="en-US" sz="1800" dirty="0">
                <a:latin typeface="Alibaba PuHuiTi" pitchFamily="18" charset="-122"/>
                <a:ea typeface="Alibaba PuHuiTi" pitchFamily="18" charset="-122"/>
                <a:cs typeface="Alibaba PuHuiTi" pitchFamily="18" charset="-122"/>
              </a:rPr>
              <a:t>条件熵：</a:t>
            </a:r>
            <a:r>
              <a:rPr lang="el-GR" altLang="zh-CN" sz="1800" dirty="0">
                <a:latin typeface="Alibaba PuHuiTi" pitchFamily="18" charset="-122"/>
                <a:ea typeface="Alibaba PuHuiTi" pitchFamily="18" charset="-122"/>
                <a:cs typeface="Alibaba PuHuiTi" pitchFamily="18" charset="-122"/>
              </a:rPr>
              <a:t># </a:t>
            </a:r>
            <a:r>
              <a:rPr lang="el-GR" altLang="zh-CN" sz="1800" dirty="0">
                <a:solidFill>
                  <a:schemeClr val="accent2">
                    <a:lumMod val="75000"/>
                  </a:schemeClr>
                </a:solidFill>
                <a:latin typeface="Alibaba PuHuiTi" pitchFamily="18" charset="-122"/>
                <a:ea typeface="Alibaba PuHuiTi" pitchFamily="18" charset="-122"/>
                <a:cs typeface="Alibaba PuHuiTi" pitchFamily="18" charset="-122"/>
              </a:rPr>
              <a:t>α </a:t>
            </a:r>
            <a:r>
              <a:rPr lang="zh-CN" altLang="en-US" sz="1800" dirty="0">
                <a:solidFill>
                  <a:schemeClr val="accent2">
                    <a:lumMod val="75000"/>
                  </a:schemeClr>
                </a:solidFill>
                <a:latin typeface="Alibaba PuHuiTi" pitchFamily="18" charset="-122"/>
                <a:ea typeface="Alibaba PuHuiTi" pitchFamily="18" charset="-122"/>
                <a:cs typeface="Alibaba PuHuiTi" pitchFamily="18" charset="-122"/>
              </a:rPr>
              <a:t>部分占了 </a:t>
            </a:r>
            <a:r>
              <a:rPr lang="en-US" altLang="zh-CN" sz="1800" dirty="0">
                <a:solidFill>
                  <a:schemeClr val="accent2">
                    <a:lumMod val="75000"/>
                  </a:schemeClr>
                </a:solidFill>
                <a:latin typeface="Alibaba PuHuiTi" pitchFamily="18" charset="-122"/>
                <a:ea typeface="Alibaba PuHuiTi" pitchFamily="18" charset="-122"/>
                <a:cs typeface="Alibaba PuHuiTi" pitchFamily="18" charset="-122"/>
              </a:rPr>
              <a:t>4/6</a:t>
            </a:r>
            <a:r>
              <a:rPr lang="zh-CN" altLang="en-US" sz="1800" dirty="0">
                <a:latin typeface="Alibaba PuHuiTi" pitchFamily="18" charset="-122"/>
                <a:ea typeface="Alibaba PuHuiTi" pitchFamily="18" charset="-122"/>
                <a:cs typeface="Alibaba PuHuiTi" pitchFamily="18" charset="-122"/>
              </a:rPr>
              <a:t>，</a:t>
            </a:r>
            <a:r>
              <a:rPr lang="el-GR" altLang="zh-CN" sz="1800" dirty="0">
                <a:solidFill>
                  <a:schemeClr val="accent2">
                    <a:lumMod val="75000"/>
                  </a:schemeClr>
                </a:solidFill>
                <a:latin typeface="Alibaba PuHuiTi" pitchFamily="18" charset="-122"/>
                <a:ea typeface="Alibaba PuHuiTi" pitchFamily="18" charset="-122"/>
                <a:cs typeface="Alibaba PuHuiTi" pitchFamily="18" charset="-122"/>
              </a:rPr>
              <a:t>β </a:t>
            </a:r>
            <a:r>
              <a:rPr lang="zh-CN" altLang="en-US" sz="1800" dirty="0">
                <a:solidFill>
                  <a:schemeClr val="accent2">
                    <a:lumMod val="75000"/>
                  </a:schemeClr>
                </a:solidFill>
                <a:latin typeface="Alibaba PuHuiTi" pitchFamily="18" charset="-122"/>
                <a:ea typeface="Alibaba PuHuiTi" pitchFamily="18" charset="-122"/>
                <a:cs typeface="Alibaba PuHuiTi" pitchFamily="18" charset="-122"/>
              </a:rPr>
              <a:t>部分占了 </a:t>
            </a:r>
            <a:r>
              <a:rPr lang="en-US" altLang="zh-CN" sz="1800" dirty="0">
                <a:solidFill>
                  <a:schemeClr val="accent2">
                    <a:lumMod val="75000"/>
                  </a:schemeClr>
                </a:solidFill>
                <a:latin typeface="Alibaba PuHuiTi" pitchFamily="18" charset="-122"/>
                <a:ea typeface="Alibaba PuHuiTi" pitchFamily="18" charset="-122"/>
                <a:cs typeface="Alibaba PuHuiTi" pitchFamily="18" charset="-122"/>
              </a:rPr>
              <a:t>2/6</a:t>
            </a:r>
            <a:endParaRPr lang="en-US" altLang="zh-CN" sz="1800" dirty="0">
              <a:solidFill>
                <a:schemeClr val="accent2">
                  <a:lumMod val="75000"/>
                </a:schemeClr>
              </a:solidFill>
              <a:latin typeface="Alibaba PuHuiTi" pitchFamily="18" charset="-122"/>
              <a:ea typeface="Alibaba PuHuiTi" pitchFamily="18" charset="-122"/>
              <a:cs typeface="Alibaba PuHuiTi" pitchFamily="18" charset="-122"/>
            </a:endParaRPr>
          </a:p>
          <a:p>
            <a:pPr lvl="1" indent="0">
              <a:lnSpc>
                <a:spcPct val="150000"/>
              </a:lnSpc>
              <a:buNone/>
              <a:defRPr/>
            </a:pPr>
            <a:r>
              <a:rPr kumimoji="0" lang="en-US" altLang="zh-CN"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(4/6)</a:t>
            </a:r>
            <a:r>
              <a:rPr kumimoji="0" lang="zh-CN" altLang="en-US"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a:t>
            </a:r>
            <a:r>
              <a:rPr lang="en-US" altLang="zh-CN" b="0" dirty="0">
                <a:latin typeface="Alibaba PuHuiTi" pitchFamily="18" charset="-122"/>
                <a:ea typeface="Alibaba PuHuiTi" pitchFamily="18" charset="-122"/>
                <a:cs typeface="Alibaba PuHuiTi" pitchFamily="18" charset="-122"/>
              </a:rPr>
              <a:t>0.81</a:t>
            </a:r>
            <a:r>
              <a:rPr kumimoji="0" lang="en-US" altLang="zh-CN"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 + </a:t>
            </a:r>
            <a:r>
              <a:rPr kumimoji="0" lang="en-US" altLang="zh-CN"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(2/6</a:t>
            </a:r>
            <a:r>
              <a:rPr kumimoji="0" lang="en-US" altLang="zh-CN"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)*0 = 0.54</a:t>
            </a:r>
            <a:endParaRPr lang="en-US" altLang="zh-CN" b="0" dirty="0">
              <a:latin typeface="Alibaba PuHuiTi" pitchFamily="18" charset="-122"/>
              <a:ea typeface="Alibaba PuHuiTi" pitchFamily="18" charset="-122"/>
              <a:cs typeface="Alibaba PuHuiTi" pitchFamily="18" charset="-122"/>
            </a:endParaRPr>
          </a:p>
          <a:p>
            <a:pPr marL="285750" indent="-285750">
              <a:buFont typeface="Arial" panose="020B0604020202020204" pitchFamily="34" charset="0"/>
              <a:buChar char="•"/>
              <a:defRPr/>
            </a:pPr>
            <a:r>
              <a:rPr lang="zh-CN" altLang="en-US" sz="1800" dirty="0">
                <a:solidFill>
                  <a:schemeClr val="tx1">
                    <a:lumMod val="95000"/>
                    <a:lumOff val="5000"/>
                  </a:schemeClr>
                </a:solidFill>
                <a:latin typeface="Alibaba PuHuiTi" pitchFamily="18" charset="-122"/>
                <a:ea typeface="Alibaba PuHuiTi" pitchFamily="18" charset="-122"/>
                <a:cs typeface="Alibaba PuHuiTi" pitchFamily="18" charset="-122"/>
              </a:rPr>
              <a:t>熵：</a:t>
            </a:r>
            <a:r>
              <a:rPr lang="en-GB" altLang="zh-CN" sz="1800" dirty="0">
                <a:solidFill>
                  <a:schemeClr val="tx1">
                    <a:lumMod val="95000"/>
                    <a:lumOff val="5000"/>
                  </a:schemeClr>
                </a:solidFill>
                <a:latin typeface="Alibaba PuHuiTi" pitchFamily="18" charset="-122"/>
                <a:ea typeface="Alibaba PuHuiTi" pitchFamily="18" charset="-122"/>
                <a:cs typeface="Alibaba PuHuiTi" pitchFamily="18" charset="-122"/>
              </a:rPr>
              <a:t>-3/6*</a:t>
            </a:r>
            <a:r>
              <a:rPr lang="en-GB" altLang="zh-CN" sz="1800" dirty="0" err="1">
                <a:solidFill>
                  <a:schemeClr val="tx1">
                    <a:lumMod val="95000"/>
                    <a:lumOff val="5000"/>
                  </a:schemeClr>
                </a:solidFill>
                <a:latin typeface="Alibaba PuHuiTi" pitchFamily="18" charset="-122"/>
                <a:ea typeface="Alibaba PuHuiTi" pitchFamily="18" charset="-122"/>
                <a:cs typeface="Alibaba PuHuiTi" pitchFamily="18" charset="-122"/>
              </a:rPr>
              <a:t>math.log</a:t>
            </a:r>
            <a:r>
              <a:rPr lang="en-GB" altLang="zh-CN" sz="1800" dirty="0">
                <a:solidFill>
                  <a:schemeClr val="tx1">
                    <a:lumMod val="95000"/>
                    <a:lumOff val="5000"/>
                  </a:schemeClr>
                </a:solidFill>
                <a:latin typeface="Alibaba PuHuiTi" pitchFamily="18" charset="-122"/>
                <a:ea typeface="Alibaba PuHuiTi" pitchFamily="18" charset="-122"/>
                <a:cs typeface="Alibaba PuHuiTi" pitchFamily="18" charset="-122"/>
              </a:rPr>
              <a:t>(3/6, 2) – 3/6*</a:t>
            </a:r>
            <a:r>
              <a:rPr lang="en-GB" altLang="zh-CN" sz="1800" dirty="0" err="1">
                <a:solidFill>
                  <a:schemeClr val="tx1">
                    <a:lumMod val="95000"/>
                    <a:lumOff val="5000"/>
                  </a:schemeClr>
                </a:solidFill>
                <a:latin typeface="Alibaba PuHuiTi" pitchFamily="18" charset="-122"/>
                <a:ea typeface="Alibaba PuHuiTi" pitchFamily="18" charset="-122"/>
                <a:cs typeface="Alibaba PuHuiTi" pitchFamily="18" charset="-122"/>
              </a:rPr>
              <a:t>math.log</a:t>
            </a:r>
            <a:r>
              <a:rPr lang="en-GB" altLang="zh-CN" sz="1800" dirty="0">
                <a:solidFill>
                  <a:schemeClr val="tx1">
                    <a:lumMod val="95000"/>
                    <a:lumOff val="5000"/>
                  </a:schemeClr>
                </a:solidFill>
                <a:latin typeface="Alibaba PuHuiTi" pitchFamily="18" charset="-122"/>
                <a:ea typeface="Alibaba PuHuiTi" pitchFamily="18" charset="-122"/>
                <a:cs typeface="Alibaba PuHuiTi" pitchFamily="18" charset="-122"/>
              </a:rPr>
              <a:t>(3/6, 2) = 1</a:t>
            </a:r>
            <a:endParaRPr lang="en-US" altLang="zh-CN" sz="1800" dirty="0">
              <a:solidFill>
                <a:schemeClr val="tx1">
                  <a:lumMod val="95000"/>
                  <a:lumOff val="5000"/>
                </a:schemeClr>
              </a:solidFill>
              <a:latin typeface="Alibaba PuHuiTi" pitchFamily="18" charset="-122"/>
              <a:ea typeface="Alibaba PuHuiTi" pitchFamily="18" charset="-122"/>
              <a:cs typeface="Alibaba PuHuiTi" pitchFamily="18" charset="-122"/>
            </a:endParaRPr>
          </a:p>
          <a:p>
            <a:pPr marL="285750" indent="-285750">
              <a:buFont typeface="Arial" panose="020B0604020202020204" pitchFamily="34" charset="0"/>
              <a:buChar char="•"/>
              <a:defRPr/>
            </a:pPr>
            <a:r>
              <a:rPr lang="zh-CN" altLang="en-US" sz="1800" dirty="0">
                <a:solidFill>
                  <a:schemeClr val="tx1">
                    <a:lumMod val="95000"/>
                    <a:lumOff val="5000"/>
                  </a:schemeClr>
                </a:solidFill>
                <a:latin typeface="Alibaba PuHuiTi" pitchFamily="18" charset="-122"/>
                <a:ea typeface="Alibaba PuHuiTi" pitchFamily="18" charset="-122"/>
                <a:cs typeface="Alibaba PuHuiTi" pitchFamily="18" charset="-122"/>
              </a:rPr>
              <a:t>信息增益：熵 </a:t>
            </a:r>
            <a:r>
              <a:rPr lang="en-US" altLang="zh-CN" sz="1800" dirty="0">
                <a:solidFill>
                  <a:schemeClr val="tx1">
                    <a:lumMod val="95000"/>
                    <a:lumOff val="5000"/>
                  </a:schemeClr>
                </a:solidFill>
                <a:latin typeface="Alibaba PuHuiTi" pitchFamily="18" charset="-122"/>
                <a:ea typeface="Alibaba PuHuiTi" pitchFamily="18" charset="-122"/>
                <a:cs typeface="Alibaba PuHuiTi" pitchFamily="18" charset="-122"/>
              </a:rPr>
              <a:t>– </a:t>
            </a:r>
            <a:r>
              <a:rPr lang="zh-CN" altLang="en-US" sz="1800" dirty="0">
                <a:solidFill>
                  <a:schemeClr val="tx1">
                    <a:lumMod val="95000"/>
                    <a:lumOff val="5000"/>
                  </a:schemeClr>
                </a:solidFill>
                <a:latin typeface="Alibaba PuHuiTi" pitchFamily="18" charset="-122"/>
                <a:ea typeface="Alibaba PuHuiTi" pitchFamily="18" charset="-122"/>
                <a:cs typeface="Alibaba PuHuiTi" pitchFamily="18" charset="-122"/>
              </a:rPr>
              <a:t>条件熵： </a:t>
            </a:r>
            <a:r>
              <a:rPr lang="en-US" altLang="zh-CN" sz="1800" dirty="0">
                <a:solidFill>
                  <a:schemeClr val="tx1">
                    <a:lumMod val="95000"/>
                    <a:lumOff val="5000"/>
                  </a:schemeClr>
                </a:solidFill>
              </a:rPr>
              <a:t>1.0 – 0.54 = 0.46</a:t>
            </a:r>
            <a:endParaRPr lang="en-US" altLang="zh-CN" sz="1800" dirty="0">
              <a:solidFill>
                <a:schemeClr val="tx1">
                  <a:lumMod val="95000"/>
                  <a:lumOff val="5000"/>
                </a:schemeClr>
              </a:solidFill>
            </a:endParaRPr>
          </a:p>
          <a:p>
            <a:pPr lvl="1" indent="0">
              <a:lnSpc>
                <a:spcPct val="150000"/>
              </a:lnSpc>
              <a:buNone/>
              <a:defRPr/>
            </a:pPr>
            <a:endParaRPr kumimoji="0" lang="en-US" altLang="zh-CN" sz="14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0"/>
          </p:nvPr>
        </p:nvSpPr>
        <p:spPr>
          <a:xfrm>
            <a:off x="5126584" y="1463040"/>
            <a:ext cx="6151016" cy="4511040"/>
          </a:xfrm>
        </p:spPr>
        <p:txBody>
          <a:bodyPr/>
          <a:lstStyle/>
          <a:p>
            <a:pPr algn="l">
              <a:buFont typeface="+mj-lt"/>
              <a:buAutoNum type="arabicPeriod"/>
            </a:pPr>
            <a:r>
              <a:rPr lang="zh-CN" altLang="en-US" b="0" i="0" u="none" strike="noStrike" dirty="0">
                <a:solidFill>
                  <a:srgbClr val="333333"/>
                </a:solidFill>
                <a:effectLst/>
                <a:latin typeface="Open Sans" panose="020B0606030504020204" pitchFamily="34" charset="0"/>
              </a:rPr>
              <a:t>计算每个特征的信息增益</a:t>
            </a:r>
            <a:endParaRPr lang="zh-CN" altLang="en-US" b="0" i="0" u="none" strike="noStrike" dirty="0">
              <a:solidFill>
                <a:srgbClr val="333333"/>
              </a:solidFill>
              <a:effectLst/>
              <a:latin typeface="Open Sans" panose="020B0606030504020204" pitchFamily="34" charset="0"/>
            </a:endParaRPr>
          </a:p>
          <a:p>
            <a:pPr algn="l">
              <a:buFont typeface="+mj-lt"/>
              <a:buAutoNum type="arabicPeriod"/>
            </a:pPr>
            <a:r>
              <a:rPr lang="zh-CN" altLang="en-US" b="0" i="0" u="none" strike="noStrike" dirty="0">
                <a:solidFill>
                  <a:srgbClr val="333333"/>
                </a:solidFill>
                <a:effectLst/>
                <a:latin typeface="Open Sans" panose="020B0606030504020204" pitchFamily="34" charset="0"/>
              </a:rPr>
              <a:t>使用信息增益最大的特征将数据集 </a:t>
            </a:r>
            <a:r>
              <a:rPr lang="en-GB" altLang="zh-CN" b="0" i="0" u="none" strike="noStrike" dirty="0">
                <a:solidFill>
                  <a:srgbClr val="333333"/>
                </a:solidFill>
                <a:effectLst/>
                <a:latin typeface="Open Sans" panose="020B0606030504020204" pitchFamily="34" charset="0"/>
              </a:rPr>
              <a:t> </a:t>
            </a:r>
            <a:r>
              <a:rPr lang="zh-CN" altLang="en-US" b="0" i="0" u="none" strike="noStrike" dirty="0">
                <a:solidFill>
                  <a:srgbClr val="333333"/>
                </a:solidFill>
                <a:effectLst/>
                <a:latin typeface="Open Sans" panose="020B0606030504020204" pitchFamily="34" charset="0"/>
              </a:rPr>
              <a:t>拆分为子集</a:t>
            </a:r>
            <a:endParaRPr lang="zh-CN" altLang="en-US" b="0" i="0" u="none" strike="noStrike" dirty="0">
              <a:solidFill>
                <a:srgbClr val="333333"/>
              </a:solidFill>
              <a:effectLst/>
              <a:latin typeface="Open Sans" panose="020B0606030504020204" pitchFamily="34" charset="0"/>
            </a:endParaRPr>
          </a:p>
          <a:p>
            <a:pPr algn="l">
              <a:buFont typeface="+mj-lt"/>
              <a:buAutoNum type="arabicPeriod"/>
            </a:pPr>
            <a:r>
              <a:rPr lang="zh-CN" altLang="en-US" b="0" i="0" u="none" strike="noStrike" dirty="0">
                <a:solidFill>
                  <a:srgbClr val="333333"/>
                </a:solidFill>
                <a:effectLst/>
                <a:latin typeface="Open Sans" panose="020B0606030504020204" pitchFamily="34" charset="0"/>
              </a:rPr>
              <a:t>使用该特征（信息增益最大的特征）作为决策树的一个节点</a:t>
            </a:r>
            <a:endParaRPr lang="zh-CN" altLang="en-US" b="0" i="0" u="none" strike="noStrike" dirty="0">
              <a:solidFill>
                <a:srgbClr val="333333"/>
              </a:solidFill>
              <a:effectLst/>
              <a:latin typeface="Open Sans" panose="020B0606030504020204" pitchFamily="34" charset="0"/>
            </a:endParaRPr>
          </a:p>
          <a:p>
            <a:pPr algn="l">
              <a:buFont typeface="+mj-lt"/>
              <a:buAutoNum type="arabicPeriod"/>
            </a:pPr>
            <a:r>
              <a:rPr lang="zh-CN" altLang="en-US" b="0" i="0" u="none" strike="noStrike" dirty="0">
                <a:solidFill>
                  <a:srgbClr val="333333"/>
                </a:solidFill>
                <a:effectLst/>
                <a:latin typeface="Open Sans" panose="020B0606030504020204" pitchFamily="34" charset="0"/>
              </a:rPr>
              <a:t>使用剩余特征对子集重复上述（</a:t>
            </a:r>
            <a:r>
              <a:rPr lang="en-US" altLang="zh-CN" b="0" i="0" u="none" strike="noStrike" dirty="0">
                <a:solidFill>
                  <a:srgbClr val="333333"/>
                </a:solidFill>
                <a:effectLst/>
                <a:latin typeface="Open Sans" panose="020B0606030504020204" pitchFamily="34" charset="0"/>
              </a:rPr>
              <a:t>1</a:t>
            </a:r>
            <a:r>
              <a:rPr lang="zh-CN" altLang="en-US" b="0" i="0" u="none" strike="noStrike" dirty="0">
                <a:solidFill>
                  <a:srgbClr val="333333"/>
                </a:solidFill>
                <a:effectLst/>
                <a:latin typeface="Open Sans" panose="020B0606030504020204" pitchFamily="34" charset="0"/>
              </a:rPr>
              <a:t>，</a:t>
            </a:r>
            <a:r>
              <a:rPr lang="en-US" altLang="zh-CN" b="0" i="0" u="none" strike="noStrike" dirty="0">
                <a:solidFill>
                  <a:srgbClr val="333333"/>
                </a:solidFill>
                <a:effectLst/>
                <a:latin typeface="Open Sans" panose="020B0606030504020204" pitchFamily="34" charset="0"/>
              </a:rPr>
              <a:t>2</a:t>
            </a:r>
            <a:r>
              <a:rPr lang="zh-CN" altLang="en-US" b="0" i="0" u="none" strike="noStrike" dirty="0">
                <a:solidFill>
                  <a:srgbClr val="333333"/>
                </a:solidFill>
                <a:effectLst/>
                <a:latin typeface="Open Sans" panose="020B0606030504020204" pitchFamily="34" charset="0"/>
              </a:rPr>
              <a:t>，</a:t>
            </a:r>
            <a:r>
              <a:rPr lang="en-US" altLang="zh-CN" b="0" i="0" u="none" strike="noStrike" dirty="0">
                <a:solidFill>
                  <a:srgbClr val="333333"/>
                </a:solidFill>
                <a:effectLst/>
                <a:latin typeface="Open Sans" panose="020B0606030504020204" pitchFamily="34" charset="0"/>
              </a:rPr>
              <a:t>3</a:t>
            </a:r>
            <a:r>
              <a:rPr lang="zh-CN" altLang="en-US" b="0" i="0" u="none" strike="noStrike" dirty="0">
                <a:solidFill>
                  <a:srgbClr val="333333"/>
                </a:solidFill>
                <a:effectLst/>
                <a:latin typeface="Open Sans" panose="020B0606030504020204" pitchFamily="34" charset="0"/>
              </a:rPr>
              <a:t>）过程</a:t>
            </a:r>
            <a:endParaRPr lang="zh-CN" altLang="en-US" b="0" i="0" u="none" strike="noStrike" dirty="0">
              <a:solidFill>
                <a:srgbClr val="333333"/>
              </a:solidFill>
              <a:effectLst/>
              <a:latin typeface="Open Sans" panose="020B0606030504020204" pitchFamily="34" charset="0"/>
            </a:endParaRPr>
          </a:p>
        </p:txBody>
      </p:sp>
      <p:sp>
        <p:nvSpPr>
          <p:cNvPr id="3" name="标题 2"/>
          <p:cNvSpPr>
            <a:spLocks noGrp="1"/>
          </p:cNvSpPr>
          <p:nvPr>
            <p:ph type="title" idx="4294967295"/>
          </p:nvPr>
        </p:nvSpPr>
        <p:spPr>
          <a:xfrm>
            <a:off x="4972323" y="1463040"/>
            <a:ext cx="6459538" cy="517525"/>
          </a:xfrm>
          <a:prstGeom prst="rect">
            <a:avLst/>
          </a:prstGeom>
        </p:spPr>
        <p:txBody>
          <a:bodyPr/>
          <a:lstStyle/>
          <a:p>
            <a:r>
              <a:rPr kumimoji="1" lang="zh-CN" altLang="en-US" sz="2400"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sz="2400" dirty="0">
                <a:solidFill>
                  <a:schemeClr val="tx1">
                    <a:lumMod val="85000"/>
                    <a:lumOff val="15000"/>
                  </a:schemeClr>
                </a:solidFill>
                <a:latin typeface="Alibaba PuHuiTi" pitchFamily="18" charset="-122"/>
                <a:ea typeface="Alibaba PuHuiTi" pitchFamily="18" charset="-122"/>
                <a:cs typeface="Alibaba PuHuiTi" pitchFamily="18" charset="-122"/>
              </a:rPr>
              <a:t>ID3</a:t>
            </a:r>
            <a:r>
              <a:rPr kumimoji="1" lang="zh-CN" altLang="en-US" sz="2400" dirty="0">
                <a:solidFill>
                  <a:schemeClr val="tx1">
                    <a:lumMod val="85000"/>
                    <a:lumOff val="15000"/>
                  </a:schemeClr>
                </a:solidFill>
                <a:latin typeface="Alibaba PuHuiTi" pitchFamily="18" charset="-122"/>
                <a:ea typeface="Alibaba PuHuiTi" pitchFamily="18" charset="-122"/>
                <a:cs typeface="Alibaba PuHuiTi" pitchFamily="18" charset="-122"/>
              </a:rPr>
              <a:t>决策树构建流程</a:t>
            </a:r>
            <a:endParaRPr kumimoji="1" lang="zh-CN" altLang="en-US" sz="2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ID3</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决策树</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6" name="文本占位符 2"/>
          <p:cNvSpPr txBox="1"/>
          <p:nvPr/>
        </p:nvSpPr>
        <p:spPr>
          <a:xfrm>
            <a:off x="999092" y="1275698"/>
            <a:ext cx="1262458"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已知</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18" name="文本框 17"/>
          <p:cNvSpPr txBox="1"/>
          <p:nvPr/>
        </p:nvSpPr>
        <p:spPr>
          <a:xfrm>
            <a:off x="2129419" y="1319374"/>
            <a:ext cx="5180073" cy="385234"/>
          </a:xfrm>
          <a:prstGeom prst="rect">
            <a:avLst/>
          </a:prstGeom>
          <a:noFill/>
        </p:spPr>
        <p:txBody>
          <a:bodyPr wrap="square">
            <a:spAutoFit/>
          </a:bodyPr>
          <a:lstStyle/>
          <a:p>
            <a:pPr marR="0" lvl="0" algn="l" defTabSz="914400" rtl="0" eaLnBrk="1" fontAlgn="auto" latinLnBrk="0" hangingPunct="1">
              <a:lnSpc>
                <a:spcPct val="150000"/>
              </a:lnSpc>
              <a:spcBef>
                <a:spcPts val="0"/>
              </a:spcBef>
              <a:spcAft>
                <a:spcPts val="0"/>
              </a:spcAft>
              <a:buClrTx/>
              <a:buSzTx/>
              <a:defRPr/>
            </a:pPr>
            <a:r>
              <a:rPr kumimoji="0" lang="zh-CN" altLang="en-US"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某一个论坛客户流失率</a:t>
            </a:r>
            <a:r>
              <a:rPr lang="zh-CN" altLang="en-US" sz="1400" dirty="0">
                <a:solidFill>
                  <a:prstClr val="black"/>
                </a:solidFill>
                <a:latin typeface="Alibaba PuHuiTi" pitchFamily="18" charset="-122"/>
                <a:ea typeface="Alibaba PuHuiTi" pitchFamily="18" charset="-122"/>
                <a:cs typeface="Alibaba PuHuiTi" pitchFamily="18" charset="-122"/>
              </a:rPr>
              <a:t>数据</a:t>
            </a:r>
            <a:endParaRPr lang="en-US" altLang="zh-CN" sz="1400" dirty="0">
              <a:solidFill>
                <a:prstClr val="black"/>
              </a:solidFill>
              <a:latin typeface="Alibaba PuHuiTi" pitchFamily="18" charset="-122"/>
              <a:ea typeface="Alibaba PuHuiTi" pitchFamily="18" charset="-122"/>
              <a:cs typeface="Alibaba PuHuiTi" pitchFamily="18" charset="-122"/>
            </a:endParaRPr>
          </a:p>
        </p:txBody>
      </p:sp>
      <p:sp>
        <p:nvSpPr>
          <p:cNvPr id="2" name="文本占位符 2"/>
          <p:cNvSpPr txBox="1"/>
          <p:nvPr/>
        </p:nvSpPr>
        <p:spPr>
          <a:xfrm>
            <a:off x="957825" y="1864247"/>
            <a:ext cx="1262458"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需求</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5" name="文本框 4"/>
          <p:cNvSpPr txBox="1"/>
          <p:nvPr/>
        </p:nvSpPr>
        <p:spPr>
          <a:xfrm>
            <a:off x="2047087" y="1856637"/>
            <a:ext cx="5344736" cy="380873"/>
          </a:xfrm>
          <a:prstGeom prst="rect">
            <a:avLst/>
          </a:prstGeom>
          <a:noFill/>
        </p:spPr>
        <p:txBody>
          <a:bodyPr wrap="square">
            <a:spAutoFit/>
          </a:bodyPr>
          <a:lstStyle/>
          <a:p>
            <a:pPr marR="0" lvl="0" algn="l" defTabSz="914400" rtl="0" eaLnBrk="1" fontAlgn="auto" latinLnBrk="0" hangingPunct="1">
              <a:lnSpc>
                <a:spcPct val="150000"/>
              </a:lnSpc>
              <a:spcBef>
                <a:spcPts val="0"/>
              </a:spcBef>
              <a:spcAft>
                <a:spcPts val="0"/>
              </a:spcAft>
              <a:buClrTx/>
              <a:buSzTx/>
              <a:defRPr/>
            </a:pPr>
            <a:r>
              <a:rPr lang="zh-CN" altLang="en-US" sz="1400" dirty="0">
                <a:solidFill>
                  <a:prstClr val="black"/>
                </a:solidFill>
                <a:latin typeface="Alibaba PuHuiTi" pitchFamily="18" charset="-122"/>
                <a:ea typeface="Alibaba PuHuiTi" pitchFamily="18" charset="-122"/>
                <a:cs typeface="Alibaba PuHuiTi" pitchFamily="18" charset="-122"/>
              </a:rPr>
              <a:t>考察</a:t>
            </a:r>
            <a:r>
              <a:rPr lang="zh-CN" altLang="en-US" sz="1400" b="0" i="0" dirty="0">
                <a:solidFill>
                  <a:schemeClr val="accent2">
                    <a:lumMod val="75000"/>
                  </a:schemeClr>
                </a:solidFill>
                <a:effectLst/>
                <a:latin typeface="Helvetica Neue" panose="02000503000000020004" pitchFamily="2" charset="0"/>
              </a:rPr>
              <a:t>性别、活跃度特征</a:t>
            </a:r>
            <a:r>
              <a:rPr lang="zh-CN" altLang="en-US" sz="1400" b="0" i="0" dirty="0">
                <a:solidFill>
                  <a:srgbClr val="333333"/>
                </a:solidFill>
                <a:effectLst/>
                <a:latin typeface="Helvetica Neue" panose="02000503000000020004" pitchFamily="2" charset="0"/>
              </a:rPr>
              <a:t>哪一个特征对流失率的影响更大</a:t>
            </a:r>
            <a:endParaRPr kumimoji="0" lang="en-GB"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p:txBody>
      </p:sp>
      <p:pic>
        <p:nvPicPr>
          <p:cNvPr id="8" name="图片 7"/>
          <p:cNvPicPr>
            <a:picLocks noChangeAspect="1"/>
          </p:cNvPicPr>
          <p:nvPr/>
        </p:nvPicPr>
        <p:blipFill>
          <a:blip r:embed="rId1"/>
          <a:stretch>
            <a:fillRect/>
          </a:stretch>
        </p:blipFill>
        <p:spPr>
          <a:xfrm>
            <a:off x="7922422" y="1405925"/>
            <a:ext cx="2975014" cy="3302577"/>
          </a:xfrm>
          <a:prstGeom prst="rect">
            <a:avLst/>
          </a:prstGeom>
        </p:spPr>
      </p:pic>
      <p:sp>
        <p:nvSpPr>
          <p:cNvPr id="14" name="文本占位符 2"/>
          <p:cNvSpPr txBox="1"/>
          <p:nvPr/>
        </p:nvSpPr>
        <p:spPr>
          <a:xfrm>
            <a:off x="999092" y="2557636"/>
            <a:ext cx="1262458"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分析 </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20" name="文本框 19"/>
          <p:cNvSpPr txBox="1"/>
          <p:nvPr/>
        </p:nvSpPr>
        <p:spPr>
          <a:xfrm>
            <a:off x="2047087" y="2531533"/>
            <a:ext cx="4745008" cy="1677895"/>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defRPr/>
            </a:pPr>
            <a:r>
              <a:rPr lang="en-US" altLang="zh-CN" sz="1400" dirty="0">
                <a:solidFill>
                  <a:prstClr val="black"/>
                </a:solidFill>
                <a:latin typeface="Alibaba PuHuiTi" pitchFamily="18" charset="-122"/>
                <a:ea typeface="Alibaba PuHuiTi" pitchFamily="18" charset="-122"/>
                <a:cs typeface="Alibaba PuHuiTi" pitchFamily="18" charset="-122"/>
              </a:rPr>
              <a:t>15</a:t>
            </a:r>
            <a:r>
              <a:rPr lang="zh-CN" altLang="en-US" sz="1400" dirty="0">
                <a:solidFill>
                  <a:prstClr val="black"/>
                </a:solidFill>
                <a:latin typeface="Alibaba PuHuiTi" pitchFamily="18" charset="-122"/>
                <a:ea typeface="Alibaba PuHuiTi" pitchFamily="18" charset="-122"/>
                <a:cs typeface="Alibaba PuHuiTi" pitchFamily="18" charset="-122"/>
              </a:rPr>
              <a:t>条样本：</a:t>
            </a:r>
            <a:r>
              <a:rPr lang="en-US" altLang="zh-CN" sz="1400" dirty="0">
                <a:solidFill>
                  <a:prstClr val="black"/>
                </a:solidFill>
                <a:latin typeface="Alibaba PuHuiTi" pitchFamily="18" charset="-122"/>
                <a:ea typeface="Alibaba PuHuiTi" pitchFamily="18" charset="-122"/>
                <a:cs typeface="Alibaba PuHuiTi" pitchFamily="18" charset="-122"/>
              </a:rPr>
              <a:t>5</a:t>
            </a:r>
            <a:r>
              <a:rPr lang="zh-CN" altLang="en-US" sz="1400" dirty="0">
                <a:solidFill>
                  <a:prstClr val="black"/>
                </a:solidFill>
                <a:latin typeface="Alibaba PuHuiTi" pitchFamily="18" charset="-122"/>
                <a:ea typeface="Alibaba PuHuiTi" pitchFamily="18" charset="-122"/>
                <a:cs typeface="Alibaba PuHuiTi" pitchFamily="18" charset="-122"/>
              </a:rPr>
              <a:t>个正样本、</a:t>
            </a:r>
            <a:r>
              <a:rPr lang="en-US" altLang="zh-CN" sz="1400" dirty="0">
                <a:solidFill>
                  <a:prstClr val="black"/>
                </a:solidFill>
                <a:latin typeface="Alibaba PuHuiTi" pitchFamily="18" charset="-122"/>
                <a:ea typeface="Alibaba PuHuiTi" pitchFamily="18" charset="-122"/>
                <a:cs typeface="Alibaba PuHuiTi" pitchFamily="18" charset="-122"/>
              </a:rPr>
              <a:t>10</a:t>
            </a:r>
            <a:r>
              <a:rPr lang="zh-CN" altLang="en-US" sz="1400" dirty="0">
                <a:solidFill>
                  <a:prstClr val="black"/>
                </a:solidFill>
                <a:latin typeface="Alibaba PuHuiTi" pitchFamily="18" charset="-122"/>
                <a:ea typeface="Alibaba PuHuiTi" pitchFamily="18" charset="-122"/>
                <a:cs typeface="Alibaba PuHuiTi" pitchFamily="18" charset="-122"/>
              </a:rPr>
              <a:t>个负样本</a:t>
            </a:r>
            <a:endParaRPr lang="en-US" altLang="zh-CN" sz="1400" dirty="0">
              <a:solidFill>
                <a:prstClr val="black"/>
              </a:solidFill>
              <a:latin typeface="Alibaba PuHuiTi" pitchFamily="18" charset="-122"/>
              <a:ea typeface="Alibaba PuHuiTi" pitchFamily="18" charset="-122"/>
              <a:cs typeface="Alibaba PuHuiTi" pitchFamily="18"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defRPr/>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1</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计算</a:t>
            </a:r>
            <a:r>
              <a:rPr kumimoji="0" lang="zh-CN" altLang="en-US" sz="14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熵</a:t>
            </a:r>
            <a:endParaRPr kumimoji="0" lang="en-US" altLang="zh-CN" sz="14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defRPr/>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2</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计算</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性别</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信息增益</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defRPr/>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3</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计算</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活跃度</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信息增益</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defRPr/>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4</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比较两个特征的信息增益</a:t>
            </a:r>
            <a:endParaRPr kumimoji="0" lang="en-GB" altLang="zh-CN" sz="14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ID3</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决策树</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信息增益案例</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6" name="文本占位符 2"/>
          <p:cNvSpPr txBox="1"/>
          <p:nvPr/>
        </p:nvSpPr>
        <p:spPr>
          <a:xfrm>
            <a:off x="1002646" y="1408904"/>
            <a:ext cx="2827674"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计算熵</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2" name="文本占位符 2"/>
          <p:cNvSpPr txBox="1"/>
          <p:nvPr/>
        </p:nvSpPr>
        <p:spPr>
          <a:xfrm>
            <a:off x="1002646" y="2511303"/>
            <a:ext cx="5459114"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计算性别条件熵</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GB"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性别</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mc:AlternateContent xmlns:mc="http://schemas.openxmlformats.org/markup-compatibility/2006">
        <mc:Choice xmlns:a14="http://schemas.microsoft.com/office/drawing/2010/main" Requires="a14">
          <p:sp>
            <p:nvSpPr>
              <p:cNvPr id="5" name="文本框 4"/>
              <p:cNvSpPr txBox="1"/>
              <p:nvPr/>
            </p:nvSpPr>
            <p:spPr>
              <a:xfrm>
                <a:off x="1558726" y="2928570"/>
                <a:ext cx="6240126" cy="1379220"/>
              </a:xfrm>
              <a:prstGeom prst="rect">
                <a:avLst/>
              </a:prstGeom>
              <a:noFill/>
            </p:spPr>
            <p:txBody>
              <a:bodyPr wrap="square">
                <a:spAutoFit/>
              </a:bodyPr>
              <a:lstStyle/>
              <a:p>
                <a:pPr>
                  <a:lnSpc>
                    <a:spcPct val="150000"/>
                  </a:lnSpc>
                </a:pPr>
                <a:r>
                  <a:rPr lang="en-US" altLang="zh-CN" sz="1400" dirty="0">
                    <a:solidFill>
                      <a:srgbClr val="333333"/>
                    </a:solidFill>
                    <a:latin typeface="Alibaba PuHuiTi" pitchFamily="18" charset="-122"/>
                    <a:ea typeface="Alibaba PuHuiTi" pitchFamily="18" charset="-122"/>
                    <a:cs typeface="Alibaba PuHuiTi" pitchFamily="18" charset="-122"/>
                  </a:rPr>
                  <a:t>H</a:t>
                </a:r>
                <a:r>
                  <a:rPr lang="en-US" altLang="zh-CN" sz="1400" noProof="0" dirty="0">
                    <a:solidFill>
                      <a:srgbClr val="333333"/>
                    </a:solidFill>
                    <a:latin typeface="Alibaba PuHuiTi" pitchFamily="18" charset="-122"/>
                    <a:ea typeface="Alibaba PuHuiTi" pitchFamily="18" charset="-122"/>
                    <a:cs typeface="Alibaba PuHuiTi" pitchFamily="18" charset="-122"/>
                  </a:rPr>
                  <a:t>(D</a:t>
                </a:r>
                <a:r>
                  <a:rPr lang="en-US" altLang="zh-CN" sz="1400" dirty="0">
                    <a:solidFill>
                      <a:srgbClr val="333333"/>
                    </a:solidFill>
                    <a:latin typeface="Alibaba PuHuiTi" pitchFamily="18" charset="-122"/>
                    <a:ea typeface="Alibaba PuHuiTi" pitchFamily="18" charset="-122"/>
                    <a:cs typeface="Alibaba PuHuiTi" pitchFamily="18" charset="-122"/>
                  </a:rPr>
                  <a:t>,</a:t>
                </a:r>
                <a:r>
                  <a:rPr lang="zh-CN" altLang="en-US" sz="1400" dirty="0">
                    <a:solidFill>
                      <a:srgbClr val="333333"/>
                    </a:solidFill>
                    <a:latin typeface="Alibaba PuHuiTi" pitchFamily="18" charset="-122"/>
                    <a:ea typeface="Alibaba PuHuiTi" pitchFamily="18" charset="-122"/>
                    <a:cs typeface="Alibaba PuHuiTi" pitchFamily="18" charset="-122"/>
                  </a:rPr>
                  <a:t> </a:t>
                </a:r>
                <a:r>
                  <a:rPr lang="zh-CN" altLang="en-US" sz="1400" noProof="0" dirty="0">
                    <a:solidFill>
                      <a:srgbClr val="333333"/>
                    </a:solidFill>
                    <a:latin typeface="Alibaba PuHuiTi" pitchFamily="18" charset="-122"/>
                    <a:ea typeface="Alibaba PuHuiTi" pitchFamily="18" charset="-122"/>
                    <a:cs typeface="Alibaba PuHuiTi" pitchFamily="18" charset="-122"/>
                  </a:rPr>
                  <a:t>性别</a:t>
                </a:r>
                <a:r>
                  <a:rPr lang="en-US" altLang="zh-CN" sz="1400" noProof="0" dirty="0">
                    <a:solidFill>
                      <a:srgbClr val="333333"/>
                    </a:solidFill>
                    <a:latin typeface="Alibaba PuHuiTi" pitchFamily="18" charset="-122"/>
                    <a:ea typeface="Alibaba PuHuiTi" pitchFamily="18" charset="-122"/>
                    <a:cs typeface="Alibaba PuHuiTi" pitchFamily="18" charset="-122"/>
                  </a:rPr>
                  <a:t>)</a:t>
                </a:r>
                <a:r>
                  <a:rPr lang="zh-CN" altLang="en-US" sz="1400" noProof="0" dirty="0">
                    <a:solidFill>
                      <a:srgbClr val="333333"/>
                    </a:solidFill>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14:m>
                  <m:oMath xmlns:m="http://schemas.openxmlformats.org/officeDocument/2006/math">
                    <m:nary>
                      <m:naryPr>
                        <m:chr m:val="∑"/>
                        <m:ctrlPr>
                          <a:rPr lang="zh-CN" altLang="en-US" sz="1400" i="1" smtClean="0">
                            <a:solidFill>
                              <a:srgbClr val="333333"/>
                            </a:solidFill>
                            <a:latin typeface="Cambria Math" panose="02040503050406030204" pitchFamily="18" charset="0"/>
                            <a:ea typeface="Alibaba PuHuiTi" pitchFamily="18" charset="-122"/>
                            <a:cs typeface="Alibaba PuHuiTi" pitchFamily="18" charset="-122"/>
                          </a:rPr>
                        </m:ctrlPr>
                      </m:naryPr>
                      <m:sub>
                        <m:r>
                          <a:rPr lang="en-US" altLang="zh-CN" sz="1400" i="1">
                            <a:solidFill>
                              <a:srgbClr val="333333"/>
                            </a:solidFill>
                            <a:latin typeface="Cambria Math" panose="02040503050406030204" pitchFamily="18" charset="0"/>
                            <a:ea typeface="Alibaba PuHuiTi" pitchFamily="18" charset="-122"/>
                            <a:cs typeface="Alibaba PuHuiTi" pitchFamily="18" charset="-122"/>
                          </a:rPr>
                          <m:t>𝑣</m:t>
                        </m:r>
                        <m:r>
                          <a:rPr lang="en-US" altLang="zh-CN" sz="1400" i="1">
                            <a:solidFill>
                              <a:srgbClr val="333333"/>
                            </a:solidFill>
                            <a:latin typeface="Cambria Math" panose="02040503050406030204" pitchFamily="18" charset="0"/>
                            <a:ea typeface="Alibaba PuHuiTi" pitchFamily="18" charset="-122"/>
                            <a:cs typeface="Alibaba PuHuiTi" pitchFamily="18" charset="-122"/>
                          </a:rPr>
                          <m:t>=</m:t>
                        </m:r>
                        <m:r>
                          <a:rPr lang="en-US" altLang="zh-CN" sz="1400" i="1">
                            <a:solidFill>
                              <a:srgbClr val="333333"/>
                            </a:solidFill>
                            <a:latin typeface="Cambria Math" panose="02040503050406030204" pitchFamily="18" charset="0"/>
                            <a:ea typeface="Alibaba PuHuiTi" pitchFamily="18" charset="-122"/>
                            <a:cs typeface="Alibaba PuHuiTi" pitchFamily="18" charset="-122"/>
                          </a:rPr>
                          <m:t>1</m:t>
                        </m:r>
                      </m:sub>
                      <m:sup>
                        <m:r>
                          <a:rPr lang="en-US" altLang="zh-CN" sz="1400" i="1">
                            <a:solidFill>
                              <a:srgbClr val="333333"/>
                            </a:solidFill>
                            <a:latin typeface="Cambria Math" panose="02040503050406030204" pitchFamily="18" charset="0"/>
                            <a:ea typeface="Alibaba PuHuiTi" pitchFamily="18" charset="-122"/>
                            <a:cs typeface="Alibaba PuHuiTi" pitchFamily="18" charset="-122"/>
                          </a:rPr>
                          <m:t>𝑛</m:t>
                        </m:r>
                      </m:sup>
                      <m:e>
                        <m:f>
                          <m:fPr>
                            <m:ctrlPr>
                              <a:rPr lang="en-US" altLang="zh-CN" sz="1400" i="1">
                                <a:solidFill>
                                  <a:srgbClr val="333333"/>
                                </a:solidFill>
                                <a:latin typeface="Cambria Math" panose="02040503050406030204" pitchFamily="18" charset="0"/>
                                <a:ea typeface="Alibaba PuHuiTi" pitchFamily="18" charset="-122"/>
                                <a:cs typeface="Alibaba PuHuiTi" pitchFamily="18" charset="-122"/>
                              </a:rPr>
                            </m:ctrlPr>
                          </m:fPr>
                          <m:num>
                            <m:sSup>
                              <m:sSupPr>
                                <m:ctrlPr>
                                  <a:rPr lang="en-US" altLang="zh-CN" sz="1400" i="1">
                                    <a:solidFill>
                                      <a:srgbClr val="333333"/>
                                    </a:solidFill>
                                    <a:latin typeface="Cambria Math" panose="02040503050406030204" pitchFamily="18" charset="0"/>
                                    <a:ea typeface="Alibaba PuHuiTi" pitchFamily="18" charset="-122"/>
                                    <a:cs typeface="Alibaba PuHuiTi" pitchFamily="18" charset="-122"/>
                                  </a:rPr>
                                </m:ctrlPr>
                              </m:sSupPr>
                              <m:e>
                                <m:r>
                                  <a:rPr lang="en-US" altLang="zh-CN" sz="1400" i="1">
                                    <a:solidFill>
                                      <a:srgbClr val="333333"/>
                                    </a:solidFill>
                                    <a:latin typeface="Cambria Math" panose="02040503050406030204" pitchFamily="18" charset="0"/>
                                    <a:ea typeface="Alibaba PuHuiTi" pitchFamily="18" charset="-122"/>
                                    <a:cs typeface="Alibaba PuHuiTi" pitchFamily="18" charset="-122"/>
                                  </a:rPr>
                                  <m:t>𝐷</m:t>
                                </m:r>
                              </m:e>
                              <m:sup>
                                <m:r>
                                  <a:rPr lang="en-US" altLang="zh-CN" sz="1400" i="1">
                                    <a:solidFill>
                                      <a:srgbClr val="333333"/>
                                    </a:solidFill>
                                    <a:latin typeface="Cambria Math" panose="02040503050406030204" pitchFamily="18" charset="0"/>
                                    <a:ea typeface="Alibaba PuHuiTi" pitchFamily="18" charset="-122"/>
                                    <a:cs typeface="Alibaba PuHuiTi" pitchFamily="18" charset="-122"/>
                                  </a:rPr>
                                  <m:t>𝑉</m:t>
                                </m:r>
                              </m:sup>
                            </m:sSup>
                          </m:num>
                          <m:den>
                            <m:r>
                              <a:rPr lang="en-US" altLang="zh-CN" sz="1400" i="1">
                                <a:solidFill>
                                  <a:srgbClr val="333333"/>
                                </a:solidFill>
                                <a:latin typeface="Cambria Math" panose="02040503050406030204" pitchFamily="18" charset="0"/>
                                <a:ea typeface="Alibaba PuHuiTi" pitchFamily="18" charset="-122"/>
                                <a:cs typeface="Alibaba PuHuiTi" pitchFamily="18" charset="-122"/>
                              </a:rPr>
                              <m:t>𝐷</m:t>
                            </m:r>
                          </m:den>
                        </m:f>
                        <m:r>
                          <a:rPr lang="zh-CN" altLang="en-US" sz="1400" i="1">
                            <a:solidFill>
                              <a:srgbClr val="333333"/>
                            </a:solidFill>
                            <a:latin typeface="Cambria Math" panose="02040503050406030204" pitchFamily="18" charset="0"/>
                            <a:ea typeface="Alibaba PuHuiTi" pitchFamily="18" charset="-122"/>
                            <a:cs typeface="Alibaba PuHuiTi" pitchFamily="18" charset="-122"/>
                          </a:rPr>
                          <m:t> </m:t>
                        </m:r>
                        <m:r>
                          <m:rPr>
                            <m:sty m:val="p"/>
                          </m:rPr>
                          <a:rPr lang="en-US" altLang="zh-CN" sz="1400" i="1">
                            <a:solidFill>
                              <a:srgbClr val="333333"/>
                            </a:solidFill>
                            <a:latin typeface="Cambria Math" panose="02040503050406030204" pitchFamily="18" charset="0"/>
                            <a:ea typeface="Alibaba PuHuiTi" pitchFamily="18" charset="-122"/>
                            <a:cs typeface="Alibaba PuHuiTi" pitchFamily="18" charset="-122"/>
                          </a:rPr>
                          <m:t>H</m:t>
                        </m:r>
                        <m:r>
                          <a:rPr lang="en-US" altLang="zh-CN" sz="1400" i="1">
                            <a:solidFill>
                              <a:srgbClr val="333333"/>
                            </a:solidFill>
                            <a:latin typeface="Cambria Math" panose="02040503050406030204" pitchFamily="18" charset="0"/>
                            <a:ea typeface="Alibaba PuHuiTi" pitchFamily="18" charset="-122"/>
                            <a:cs typeface="Alibaba PuHuiTi" pitchFamily="18" charset="-122"/>
                          </a:rPr>
                          <m:t>(</m:t>
                        </m:r>
                        <m:sSup>
                          <m:sSupPr>
                            <m:ctrlPr>
                              <a:rPr lang="en-US" altLang="zh-CN" sz="1400" i="1">
                                <a:solidFill>
                                  <a:srgbClr val="333333"/>
                                </a:solidFill>
                                <a:latin typeface="Cambria Math" panose="02040503050406030204" pitchFamily="18" charset="0"/>
                                <a:ea typeface="Alibaba PuHuiTi" pitchFamily="18" charset="-122"/>
                                <a:cs typeface="Alibaba PuHuiTi" pitchFamily="18" charset="-122"/>
                              </a:rPr>
                            </m:ctrlPr>
                          </m:sSupPr>
                          <m:e>
                            <m:r>
                              <a:rPr lang="en-US" altLang="zh-CN" sz="1400" i="1">
                                <a:solidFill>
                                  <a:srgbClr val="333333"/>
                                </a:solidFill>
                                <a:latin typeface="Cambria Math" panose="02040503050406030204" pitchFamily="18" charset="0"/>
                                <a:ea typeface="Alibaba PuHuiTi" pitchFamily="18" charset="-122"/>
                                <a:cs typeface="Alibaba PuHuiTi" pitchFamily="18" charset="-122"/>
                              </a:rPr>
                              <m:t>𝐷</m:t>
                            </m:r>
                          </m:e>
                          <m:sup>
                            <m:r>
                              <a:rPr lang="en-US" altLang="zh-CN" sz="1400" i="1">
                                <a:solidFill>
                                  <a:srgbClr val="333333"/>
                                </a:solidFill>
                                <a:latin typeface="Cambria Math" panose="02040503050406030204" pitchFamily="18" charset="0"/>
                                <a:ea typeface="Alibaba PuHuiTi" pitchFamily="18" charset="-122"/>
                                <a:cs typeface="Alibaba PuHuiTi" pitchFamily="18" charset="-122"/>
                              </a:rPr>
                              <m:t>𝑉</m:t>
                            </m:r>
                          </m:sup>
                        </m:sSup>
                        <m:r>
                          <a:rPr lang="en-US" altLang="zh-CN" sz="1400" i="1">
                            <a:solidFill>
                              <a:srgbClr val="333333"/>
                            </a:solidFill>
                            <a:latin typeface="Cambria Math" panose="02040503050406030204" pitchFamily="18" charset="0"/>
                            <a:ea typeface="Alibaba PuHuiTi" pitchFamily="18" charset="-122"/>
                            <a:cs typeface="Alibaba PuHuiTi" pitchFamily="18" charset="-122"/>
                          </a:rPr>
                          <m:t>) </m:t>
                        </m:r>
                      </m:e>
                    </m:nary>
                  </m:oMath>
                </a14:m>
                <a:endParaRPr kumimoji="0" lang="en-US" altLang="zh-CN" sz="1400" b="0" i="0" u="none" strike="noStrike" kern="1200" cap="none" spc="0" normalizeH="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a:p>
                <a:pPr>
                  <a:lnSpc>
                    <a:spcPct val="150000"/>
                  </a:lnSpc>
                </a:pPr>
                <a:r>
                  <a:rPr lang="zh-CN" altLang="en-US" sz="1400" dirty="0">
                    <a:solidFill>
                      <a:srgbClr val="C0504D">
                        <a:lumMod val="75000"/>
                      </a:srgbClr>
                    </a:solidFill>
                    <a:latin typeface="Alibaba PuHuiTi" pitchFamily="18" charset="-122"/>
                    <a:ea typeface="Alibaba PuHuiTi" pitchFamily="18" charset="-122"/>
                    <a:cs typeface="Alibaba PuHuiTi" pitchFamily="18" charset="-122"/>
                  </a:rPr>
                  <a:t>     </a:t>
                </a:r>
                <a:r>
                  <a:rPr lang="en-US" altLang="zh-CN" sz="1400" dirty="0">
                    <a:solidFill>
                      <a:srgbClr val="C0504D">
                        <a:lumMod val="75000"/>
                      </a:srgbClr>
                    </a:solidFill>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14:m>
                  <m:oMath xmlns:m="http://schemas.openxmlformats.org/officeDocument/2006/math">
                    <m:f>
                      <m:fPr>
                        <m:ctrlPr>
                          <a:rPr kumimoji="0" lang="en-US" altLang="zh-CN" sz="1400" b="0" i="1" u="none" strike="noStrike" kern="1200" cap="none" spc="0" normalizeH="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ctrlPr>
                      </m:fPr>
                      <m:num>
                        <m:r>
                          <a:rPr kumimoji="0" lang="en-US" altLang="zh-CN" sz="1400" b="0" i="1" u="none" strike="noStrike" kern="1200" cap="none" spc="0" normalizeH="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8</m:t>
                        </m:r>
                      </m:num>
                      <m:den>
                        <m:r>
                          <a:rPr kumimoji="0" lang="en-US" altLang="zh-CN" sz="1400" b="0" i="1" u="none" strike="noStrike" kern="1200" cap="none" spc="0" normalizeH="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15</m:t>
                        </m:r>
                      </m:den>
                    </m:f>
                  </m:oMath>
                </a14:m>
                <a:r>
                  <a:rPr kumimoji="0" lang="en-US" altLang="zh-CN" sz="1400" b="0" i="0" u="none" strike="noStrike" kern="1200" cap="none" spc="0" normalizeH="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lang="en-US" altLang="zh-CN" sz="1400" dirty="0">
                    <a:solidFill>
                      <a:srgbClr val="C0504D">
                        <a:lumMod val="75000"/>
                      </a:srgbClr>
                    </a:solidFill>
                    <a:ea typeface="Alibaba PuHuiTi" pitchFamily="18" charset="-122"/>
                    <a:cs typeface="Alibaba PuHuiTi" pitchFamily="18" charset="-122"/>
                  </a:rPr>
                  <a:t> </a:t>
                </a:r>
                <a14:m>
                  <m:oMath xmlns:m="http://schemas.openxmlformats.org/officeDocument/2006/math">
                    <m:f>
                      <m:fPr>
                        <m:ctrlP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ctrlPr>
                      </m:fPr>
                      <m:num>
                        <m:r>
                          <a:rPr lang="en-US" altLang="zh-CN" sz="1400" b="0" i="1" smtClean="0">
                            <a:solidFill>
                              <a:srgbClr val="C0504D">
                                <a:lumMod val="75000"/>
                              </a:srgbClr>
                            </a:solidFill>
                            <a:latin typeface="Cambria Math" panose="02040503050406030204" pitchFamily="18" charset="0"/>
                            <a:ea typeface="Alibaba PuHuiTi" pitchFamily="18" charset="-122"/>
                            <a:cs typeface="Alibaba PuHuiTi" pitchFamily="18" charset="-122"/>
                          </a:rPr>
                          <m:t>3</m:t>
                        </m:r>
                      </m:num>
                      <m:den>
                        <m:r>
                          <a:rPr lang="en-US" altLang="zh-CN" sz="1400" b="0" i="1" smtClean="0">
                            <a:solidFill>
                              <a:srgbClr val="C0504D">
                                <a:lumMod val="75000"/>
                              </a:srgbClr>
                            </a:solidFill>
                            <a:latin typeface="Cambria Math" panose="02040503050406030204" pitchFamily="18" charset="0"/>
                            <a:ea typeface="Alibaba PuHuiTi" pitchFamily="18" charset="-122"/>
                            <a:cs typeface="Alibaba PuHuiTi" pitchFamily="18" charset="-122"/>
                          </a:rPr>
                          <m:t>8</m:t>
                        </m:r>
                      </m:den>
                    </m:f>
                    <m:func>
                      <m:funcPr>
                        <m:ctrlP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ctrlPr>
                      </m:funcPr>
                      <m:fName>
                        <m:sSub>
                          <m:sSubPr>
                            <m:ctrlP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ctrlPr>
                          </m:sSubPr>
                          <m:e>
                            <m:r>
                              <m:rPr>
                                <m:sty m:val="p"/>
                              </m:rPr>
                              <a:rPr lang="en-US" altLang="zh-CN" sz="1400">
                                <a:solidFill>
                                  <a:srgbClr val="C0504D">
                                    <a:lumMod val="75000"/>
                                  </a:srgbClr>
                                </a:solidFill>
                                <a:latin typeface="Cambria Math" panose="02040503050406030204" pitchFamily="18" charset="0"/>
                                <a:ea typeface="Alibaba PuHuiTi" pitchFamily="18" charset="-122"/>
                                <a:cs typeface="Alibaba PuHuiTi" pitchFamily="18" charset="-122"/>
                              </a:rPr>
                              <m:t>log</m:t>
                            </m:r>
                          </m:e>
                          <m:sub>
                            <m: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t>2</m:t>
                            </m:r>
                          </m:sub>
                        </m:sSub>
                      </m:fName>
                      <m:e>
                        <m:f>
                          <m:fPr>
                            <m:ctrlP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ctrlPr>
                          </m:fPr>
                          <m:num>
                            <m:r>
                              <a:rPr lang="en-US" altLang="zh-CN" sz="1400" b="0" i="1" smtClean="0">
                                <a:solidFill>
                                  <a:srgbClr val="C0504D">
                                    <a:lumMod val="75000"/>
                                  </a:srgbClr>
                                </a:solidFill>
                                <a:latin typeface="Cambria Math" panose="02040503050406030204" pitchFamily="18" charset="0"/>
                                <a:ea typeface="Alibaba PuHuiTi" pitchFamily="18" charset="-122"/>
                                <a:cs typeface="Alibaba PuHuiTi" pitchFamily="18" charset="-122"/>
                              </a:rPr>
                              <m:t>3</m:t>
                            </m:r>
                          </m:num>
                          <m:den>
                            <m:r>
                              <a:rPr lang="en-US" altLang="zh-CN" sz="1400" b="0" i="1" smtClean="0">
                                <a:solidFill>
                                  <a:srgbClr val="C0504D">
                                    <a:lumMod val="75000"/>
                                  </a:srgbClr>
                                </a:solidFill>
                                <a:latin typeface="Cambria Math" panose="02040503050406030204" pitchFamily="18" charset="0"/>
                                <a:ea typeface="Alibaba PuHuiTi" pitchFamily="18" charset="-122"/>
                                <a:cs typeface="Alibaba PuHuiTi" pitchFamily="18" charset="-122"/>
                              </a:rPr>
                              <m:t>8</m:t>
                            </m:r>
                          </m:den>
                        </m:f>
                        <m:r>
                          <a:rPr lang="zh-CN" altLang="en-US" sz="1400" i="1">
                            <a:solidFill>
                              <a:srgbClr val="C0504D">
                                <a:lumMod val="75000"/>
                              </a:srgbClr>
                            </a:solidFill>
                            <a:latin typeface="Cambria Math" panose="02040503050406030204" pitchFamily="18" charset="0"/>
                            <a:ea typeface="Alibaba PuHuiTi" pitchFamily="18" charset="-122"/>
                            <a:cs typeface="Alibaba PuHuiTi" pitchFamily="18" charset="-122"/>
                          </a:rPr>
                          <m:t> </m:t>
                        </m:r>
                        <m:r>
                          <a:rPr lang="zh-CN" altLang="en-US" sz="1400" b="0" i="1" smtClean="0">
                            <a:solidFill>
                              <a:srgbClr val="C0504D">
                                <a:lumMod val="75000"/>
                              </a:srgbClr>
                            </a:solidFill>
                            <a:latin typeface="Cambria Math" panose="02040503050406030204" pitchFamily="18" charset="0"/>
                            <a:ea typeface="Alibaba PuHuiTi" pitchFamily="18" charset="-122"/>
                            <a:cs typeface="Alibaba PuHuiTi" pitchFamily="18" charset="-122"/>
                          </a:rPr>
                          <m:t> </m:t>
                        </m:r>
                        <m:r>
                          <a:rPr lang="en-US" altLang="zh-CN" sz="1400" b="0" i="1" smtClean="0">
                            <a:solidFill>
                              <a:srgbClr val="C0504D">
                                <a:lumMod val="75000"/>
                              </a:srgbClr>
                            </a:solidFill>
                            <a:latin typeface="Cambria Math" panose="02040503050406030204" pitchFamily="18" charset="0"/>
                            <a:ea typeface="Alibaba PuHuiTi" pitchFamily="18" charset="-122"/>
                            <a:cs typeface="Alibaba PuHuiTi" pitchFamily="18" charset="-122"/>
                          </a:rPr>
                          <m:t>−</m:t>
                        </m:r>
                        <m:f>
                          <m:fPr>
                            <m:ctrlP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ctrlPr>
                          </m:fPr>
                          <m:num>
                            <m:r>
                              <a:rPr lang="en-US" altLang="zh-CN" sz="1400" b="0" i="1" smtClean="0">
                                <a:solidFill>
                                  <a:srgbClr val="C0504D">
                                    <a:lumMod val="75000"/>
                                  </a:srgbClr>
                                </a:solidFill>
                                <a:latin typeface="Cambria Math" panose="02040503050406030204" pitchFamily="18" charset="0"/>
                                <a:ea typeface="Alibaba PuHuiTi" pitchFamily="18" charset="-122"/>
                                <a:cs typeface="Alibaba PuHuiTi" pitchFamily="18" charset="-122"/>
                              </a:rPr>
                              <m:t>5</m:t>
                            </m:r>
                          </m:num>
                          <m:den>
                            <m: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t>8</m:t>
                            </m:r>
                          </m:den>
                        </m:f>
                        <m:func>
                          <m:funcPr>
                            <m:ctrlP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ctrlPr>
                          </m:funcPr>
                          <m:fName>
                            <m:sSub>
                              <m:sSubPr>
                                <m:ctrlP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ctrlPr>
                              </m:sSubPr>
                              <m:e>
                                <m:r>
                                  <m:rPr>
                                    <m:sty m:val="p"/>
                                  </m:rPr>
                                  <a:rPr lang="en-US" altLang="zh-CN" sz="1400">
                                    <a:solidFill>
                                      <a:srgbClr val="C0504D">
                                        <a:lumMod val="75000"/>
                                      </a:srgbClr>
                                    </a:solidFill>
                                    <a:latin typeface="Cambria Math" panose="02040503050406030204" pitchFamily="18" charset="0"/>
                                    <a:ea typeface="Alibaba PuHuiTi" pitchFamily="18" charset="-122"/>
                                    <a:cs typeface="Alibaba PuHuiTi" pitchFamily="18" charset="-122"/>
                                  </a:rPr>
                                  <m:t>log</m:t>
                                </m:r>
                              </m:e>
                              <m:sub>
                                <m: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t>2</m:t>
                                </m:r>
                              </m:sub>
                            </m:sSub>
                          </m:fName>
                          <m:e>
                            <m:f>
                              <m:fPr>
                                <m:ctrlP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ctrlPr>
                              </m:fPr>
                              <m:num>
                                <m:r>
                                  <a:rPr lang="en-US" altLang="zh-CN" sz="1400" b="0" i="1" smtClean="0">
                                    <a:solidFill>
                                      <a:srgbClr val="C0504D">
                                        <a:lumMod val="75000"/>
                                      </a:srgbClr>
                                    </a:solidFill>
                                    <a:latin typeface="Cambria Math" panose="02040503050406030204" pitchFamily="18" charset="0"/>
                                    <a:ea typeface="Alibaba PuHuiTi" pitchFamily="18" charset="-122"/>
                                    <a:cs typeface="Alibaba PuHuiTi" pitchFamily="18" charset="-122"/>
                                  </a:rPr>
                                  <m:t>5</m:t>
                                </m:r>
                              </m:num>
                              <m:den>
                                <m: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t>8</m:t>
                                </m:r>
                              </m:den>
                            </m:f>
                            <m:r>
                              <a:rPr lang="zh-CN" altLang="en-US" sz="1400" i="1">
                                <a:solidFill>
                                  <a:srgbClr val="C0504D">
                                    <a:lumMod val="75000"/>
                                  </a:srgbClr>
                                </a:solidFill>
                                <a:latin typeface="Cambria Math" panose="02040503050406030204" pitchFamily="18" charset="0"/>
                                <a:ea typeface="Alibaba PuHuiTi" pitchFamily="18" charset="-122"/>
                                <a:cs typeface="Alibaba PuHuiTi" pitchFamily="18" charset="-122"/>
                              </a:rPr>
                              <m:t> </m:t>
                            </m:r>
                          </m:e>
                        </m:func>
                      </m:e>
                    </m:func>
                  </m:oMath>
                </a14:m>
                <a:r>
                  <a:rPr kumimoji="0" lang="en-US" altLang="zh-CN" sz="1400" b="0" i="0" u="none" strike="noStrike" kern="1200" cap="none" spc="0" normalizeH="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lang="en-US" altLang="zh-CN" sz="1400" dirty="0">
                    <a:solidFill>
                      <a:srgbClr val="C0504D">
                        <a:lumMod val="75000"/>
                      </a:srgbClr>
                    </a:solidFill>
                    <a:latin typeface="Alibaba PuHuiTi" pitchFamily="18" charset="-122"/>
                    <a:ea typeface="Alibaba PuHuiTi" pitchFamily="18" charset="-122"/>
                    <a:cs typeface="Alibaba PuHuiTi" pitchFamily="18" charset="-122"/>
                  </a:rPr>
                  <a:t>(</a:t>
                </a:r>
                <a14:m>
                  <m:oMath xmlns:m="http://schemas.openxmlformats.org/officeDocument/2006/math">
                    <m:f>
                      <m:fPr>
                        <m:ctrlP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ctrlPr>
                      </m:fPr>
                      <m:num>
                        <m:r>
                          <a:rPr lang="en-US" altLang="zh-CN" sz="1400" b="0" i="1" smtClean="0">
                            <a:solidFill>
                              <a:srgbClr val="C0504D">
                                <a:lumMod val="75000"/>
                              </a:srgbClr>
                            </a:solidFill>
                            <a:latin typeface="Cambria Math" panose="02040503050406030204" pitchFamily="18" charset="0"/>
                            <a:ea typeface="Alibaba PuHuiTi" pitchFamily="18" charset="-122"/>
                            <a:cs typeface="Alibaba PuHuiTi" pitchFamily="18" charset="-122"/>
                          </a:rPr>
                          <m:t>7</m:t>
                        </m:r>
                      </m:num>
                      <m:den>
                        <m: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t>15</m:t>
                        </m:r>
                      </m:den>
                    </m:f>
                  </m:oMath>
                </a14:m>
                <a:r>
                  <a:rPr lang="en-US" altLang="zh-CN" sz="1400" dirty="0">
                    <a:solidFill>
                      <a:srgbClr val="C0504D">
                        <a:lumMod val="75000"/>
                      </a:srgbClr>
                    </a:solidFill>
                    <a:latin typeface="Alibaba PuHuiTi" pitchFamily="18" charset="-122"/>
                    <a:ea typeface="Alibaba PuHuiTi" pitchFamily="18" charset="-122"/>
                    <a:cs typeface="Alibaba PuHuiTi" pitchFamily="18" charset="-122"/>
                  </a:rPr>
                  <a:t>)(-</a:t>
                </a:r>
                <a:r>
                  <a:rPr lang="en-US" altLang="zh-CN" sz="1400" dirty="0">
                    <a:solidFill>
                      <a:srgbClr val="C0504D">
                        <a:lumMod val="75000"/>
                      </a:srgbClr>
                    </a:solidFill>
                    <a:ea typeface="Alibaba PuHuiTi" pitchFamily="18" charset="-122"/>
                    <a:cs typeface="Alibaba PuHuiTi" pitchFamily="18" charset="-122"/>
                  </a:rPr>
                  <a:t> </a:t>
                </a:r>
                <a14:m>
                  <m:oMath xmlns:m="http://schemas.openxmlformats.org/officeDocument/2006/math">
                    <m:f>
                      <m:fPr>
                        <m:ctrlP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ctrlPr>
                      </m:fPr>
                      <m:num>
                        <m:r>
                          <a:rPr lang="en-US" altLang="zh-CN" sz="1400" b="0" i="1" smtClean="0">
                            <a:solidFill>
                              <a:srgbClr val="C0504D">
                                <a:lumMod val="75000"/>
                              </a:srgbClr>
                            </a:solidFill>
                            <a:latin typeface="Cambria Math" panose="02040503050406030204" pitchFamily="18" charset="0"/>
                            <a:ea typeface="Alibaba PuHuiTi" pitchFamily="18" charset="-122"/>
                            <a:cs typeface="Alibaba PuHuiTi" pitchFamily="18" charset="-122"/>
                          </a:rPr>
                          <m:t>2</m:t>
                        </m:r>
                      </m:num>
                      <m:den>
                        <m:r>
                          <a:rPr lang="en-US" altLang="zh-CN" sz="1400" b="0" i="1" smtClean="0">
                            <a:solidFill>
                              <a:srgbClr val="C0504D">
                                <a:lumMod val="75000"/>
                              </a:srgbClr>
                            </a:solidFill>
                            <a:latin typeface="Cambria Math" panose="02040503050406030204" pitchFamily="18" charset="0"/>
                            <a:ea typeface="Alibaba PuHuiTi" pitchFamily="18" charset="-122"/>
                            <a:cs typeface="Alibaba PuHuiTi" pitchFamily="18" charset="-122"/>
                          </a:rPr>
                          <m:t>7</m:t>
                        </m:r>
                      </m:den>
                    </m:f>
                    <m:func>
                      <m:funcPr>
                        <m:ctrlP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ctrlPr>
                      </m:funcPr>
                      <m:fName>
                        <m:sSub>
                          <m:sSubPr>
                            <m:ctrlP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ctrlPr>
                          </m:sSubPr>
                          <m:e>
                            <m:r>
                              <m:rPr>
                                <m:sty m:val="p"/>
                              </m:rPr>
                              <a:rPr lang="en-US" altLang="zh-CN" sz="1400">
                                <a:solidFill>
                                  <a:srgbClr val="C0504D">
                                    <a:lumMod val="75000"/>
                                  </a:srgbClr>
                                </a:solidFill>
                                <a:latin typeface="Cambria Math" panose="02040503050406030204" pitchFamily="18" charset="0"/>
                                <a:ea typeface="Alibaba PuHuiTi" pitchFamily="18" charset="-122"/>
                                <a:cs typeface="Alibaba PuHuiTi" pitchFamily="18" charset="-122"/>
                              </a:rPr>
                              <m:t>log</m:t>
                            </m:r>
                          </m:e>
                          <m:sub>
                            <m: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t>2</m:t>
                            </m:r>
                          </m:sub>
                        </m:sSub>
                      </m:fName>
                      <m:e>
                        <m:f>
                          <m:fPr>
                            <m:ctrlP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ctrlPr>
                          </m:fPr>
                          <m:num>
                            <m:r>
                              <a:rPr lang="en-US" altLang="zh-CN" sz="1400" b="0" i="1" smtClean="0">
                                <a:solidFill>
                                  <a:srgbClr val="C0504D">
                                    <a:lumMod val="75000"/>
                                  </a:srgbClr>
                                </a:solidFill>
                                <a:latin typeface="Cambria Math" panose="02040503050406030204" pitchFamily="18" charset="0"/>
                                <a:ea typeface="Alibaba PuHuiTi" pitchFamily="18" charset="-122"/>
                                <a:cs typeface="Alibaba PuHuiTi" pitchFamily="18" charset="-122"/>
                              </a:rPr>
                              <m:t>2</m:t>
                            </m:r>
                          </m:num>
                          <m:den>
                            <m:r>
                              <a:rPr lang="en-US" altLang="zh-CN" sz="1400" b="0" i="1" smtClean="0">
                                <a:solidFill>
                                  <a:srgbClr val="C0504D">
                                    <a:lumMod val="75000"/>
                                  </a:srgbClr>
                                </a:solidFill>
                                <a:latin typeface="Cambria Math" panose="02040503050406030204" pitchFamily="18" charset="0"/>
                                <a:ea typeface="Alibaba PuHuiTi" pitchFamily="18" charset="-122"/>
                                <a:cs typeface="Alibaba PuHuiTi" pitchFamily="18" charset="-122"/>
                              </a:rPr>
                              <m:t>7</m:t>
                            </m:r>
                          </m:den>
                        </m:f>
                        <m:r>
                          <a:rPr lang="zh-CN" altLang="en-US" sz="1400" i="1">
                            <a:solidFill>
                              <a:srgbClr val="C0504D">
                                <a:lumMod val="75000"/>
                              </a:srgbClr>
                            </a:solidFill>
                            <a:latin typeface="Cambria Math" panose="02040503050406030204" pitchFamily="18" charset="0"/>
                            <a:ea typeface="Alibaba PuHuiTi" pitchFamily="18" charset="-122"/>
                            <a:cs typeface="Alibaba PuHuiTi" pitchFamily="18" charset="-122"/>
                          </a:rPr>
                          <m:t>  </m:t>
                        </m:r>
                        <m: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t>−</m:t>
                        </m:r>
                        <m:f>
                          <m:fPr>
                            <m:ctrlP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ctrlPr>
                          </m:fPr>
                          <m:num>
                            <m: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t>5</m:t>
                            </m:r>
                          </m:num>
                          <m:den>
                            <m:r>
                              <a:rPr lang="en-US" altLang="zh-CN" sz="1400" b="0" i="1" smtClean="0">
                                <a:solidFill>
                                  <a:srgbClr val="C0504D">
                                    <a:lumMod val="75000"/>
                                  </a:srgbClr>
                                </a:solidFill>
                                <a:latin typeface="Cambria Math" panose="02040503050406030204" pitchFamily="18" charset="0"/>
                                <a:ea typeface="Alibaba PuHuiTi" pitchFamily="18" charset="-122"/>
                                <a:cs typeface="Alibaba PuHuiTi" pitchFamily="18" charset="-122"/>
                              </a:rPr>
                              <m:t>7</m:t>
                            </m:r>
                          </m:den>
                        </m:f>
                        <m:func>
                          <m:funcPr>
                            <m:ctrlP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ctrlPr>
                          </m:funcPr>
                          <m:fName>
                            <m:sSub>
                              <m:sSubPr>
                                <m:ctrlP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ctrlPr>
                              </m:sSubPr>
                              <m:e>
                                <m:r>
                                  <m:rPr>
                                    <m:sty m:val="p"/>
                                  </m:rPr>
                                  <a:rPr lang="en-US" altLang="zh-CN" sz="1400">
                                    <a:solidFill>
                                      <a:srgbClr val="C0504D">
                                        <a:lumMod val="75000"/>
                                      </a:srgbClr>
                                    </a:solidFill>
                                    <a:latin typeface="Cambria Math" panose="02040503050406030204" pitchFamily="18" charset="0"/>
                                    <a:ea typeface="Alibaba PuHuiTi" pitchFamily="18" charset="-122"/>
                                    <a:cs typeface="Alibaba PuHuiTi" pitchFamily="18" charset="-122"/>
                                  </a:rPr>
                                  <m:t>log</m:t>
                                </m:r>
                              </m:e>
                              <m:sub>
                                <m: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t>2</m:t>
                                </m:r>
                              </m:sub>
                            </m:sSub>
                          </m:fName>
                          <m:e>
                            <m:f>
                              <m:fPr>
                                <m:ctrlP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ctrlPr>
                              </m:fPr>
                              <m:num>
                                <m: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t>5</m:t>
                                </m:r>
                              </m:num>
                              <m:den>
                                <m:r>
                                  <a:rPr lang="en-US" altLang="zh-CN" sz="1400" b="0" i="1" smtClean="0">
                                    <a:solidFill>
                                      <a:srgbClr val="C0504D">
                                        <a:lumMod val="75000"/>
                                      </a:srgbClr>
                                    </a:solidFill>
                                    <a:latin typeface="Cambria Math" panose="02040503050406030204" pitchFamily="18" charset="0"/>
                                    <a:ea typeface="Alibaba PuHuiTi" pitchFamily="18" charset="-122"/>
                                    <a:cs typeface="Alibaba PuHuiTi" pitchFamily="18" charset="-122"/>
                                  </a:rPr>
                                  <m:t>7</m:t>
                                </m:r>
                              </m:den>
                            </m:f>
                            <m:r>
                              <a:rPr lang="zh-CN" altLang="en-US" sz="1400" i="1">
                                <a:solidFill>
                                  <a:srgbClr val="C0504D">
                                    <a:lumMod val="75000"/>
                                  </a:srgbClr>
                                </a:solidFill>
                                <a:latin typeface="Cambria Math" panose="02040503050406030204" pitchFamily="18" charset="0"/>
                                <a:ea typeface="Alibaba PuHuiTi" pitchFamily="18" charset="-122"/>
                                <a:cs typeface="Alibaba PuHuiTi" pitchFamily="18" charset="-122"/>
                              </a:rPr>
                              <m:t> </m:t>
                            </m:r>
                          </m:e>
                        </m:func>
                      </m:e>
                    </m:func>
                  </m:oMath>
                </a14:m>
                <a:r>
                  <a:rPr lang="en-US" altLang="zh-CN" sz="1400" dirty="0">
                    <a:solidFill>
                      <a:srgbClr val="C0504D">
                        <a:lumMod val="75000"/>
                      </a:srgbClr>
                    </a:solidFill>
                    <a:latin typeface="Alibaba PuHuiTi" pitchFamily="18" charset="-122"/>
                    <a:ea typeface="Alibaba PuHuiTi" pitchFamily="18" charset="-122"/>
                    <a:cs typeface="Alibaba PuHuiTi" pitchFamily="18" charset="-122"/>
                  </a:rPr>
                  <a:t>)</a:t>
                </a:r>
                <a:endParaRPr lang="en-US" altLang="zh-CN" sz="1400" dirty="0">
                  <a:solidFill>
                    <a:srgbClr val="C0504D">
                      <a:lumMod val="75000"/>
                    </a:srgbClr>
                  </a:solidFill>
                  <a:latin typeface="Alibaba PuHuiTi" pitchFamily="18" charset="-122"/>
                  <a:ea typeface="Alibaba PuHuiTi" pitchFamily="18" charset="-122"/>
                  <a:cs typeface="Alibaba PuHuiTi" pitchFamily="18" charset="-122"/>
                </a:endParaRPr>
              </a:p>
              <a:p>
                <a:pPr>
                  <a:lnSpc>
                    <a:spcPct val="150000"/>
                  </a:lnSpc>
                </a:pP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 </a:t>
                </a:r>
                <a:r>
                  <a:rPr kumimoji="0" lang="en-US" altLang="zh-CN" sz="1400" b="0" i="0" u="none" strike="noStrike" kern="1200" cap="none" spc="0" normalizeH="0" baseline="0" noProof="0" dirty="0">
                    <a:ln>
                      <a:noFill/>
                    </a:ln>
                    <a:solidFill>
                      <a:schemeClr val="accent2"/>
                    </a:solidFill>
                    <a:effectLst/>
                    <a:uLnTx/>
                    <a:uFillTx/>
                    <a:latin typeface="Alibaba PuHuiTi" pitchFamily="18" charset="-122"/>
                    <a:ea typeface="Alibaba PuHuiTi" pitchFamily="18" charset="-122"/>
                    <a:cs typeface="Alibaba PuHuiTi" pitchFamily="18" charset="-122"/>
                  </a:rPr>
                  <a:t>0.911</a:t>
                </a:r>
                <a:endParaRPr kumimoji="0" lang="en-US" altLang="zh-CN" sz="1400" b="0" i="0" u="none" strike="noStrike" kern="1200" cap="none" spc="0" normalizeH="0" baseline="0" noProof="0" dirty="0">
                  <a:ln>
                    <a:noFill/>
                  </a:ln>
                  <a:solidFill>
                    <a:schemeClr val="accent2"/>
                  </a:solidFill>
                  <a:effectLst/>
                  <a:uLnTx/>
                  <a:uFillTx/>
                  <a:latin typeface="Alibaba PuHuiTi" pitchFamily="18" charset="-122"/>
                  <a:ea typeface="Alibaba PuHuiTi" pitchFamily="18" charset="-122"/>
                  <a:cs typeface="Alibaba PuHuiTi" pitchFamily="18" charset="-122"/>
                </a:endParaRPr>
              </a:p>
            </p:txBody>
          </p:sp>
        </mc:Choice>
        <mc:Fallback>
          <p:sp>
            <p:nvSpPr>
              <p:cNvPr id="5" name="文本框 4"/>
              <p:cNvSpPr txBox="1">
                <a:spLocks noRot="1" noChangeAspect="1" noMove="1" noResize="1" noEditPoints="1" noAdjustHandles="1" noChangeArrowheads="1" noChangeShapeType="1" noTextEdit="1"/>
              </p:cNvSpPr>
              <p:nvPr/>
            </p:nvSpPr>
            <p:spPr>
              <a:xfrm>
                <a:off x="1558726" y="2928570"/>
                <a:ext cx="6240126" cy="1379220"/>
              </a:xfrm>
              <a:prstGeom prst="rect">
                <a:avLst/>
              </a:prstGeom>
              <a:blipFill rotWithShape="1">
                <a:blip r:embed="rId1"/>
                <a:stretch>
                  <a:fillRect l="-7" t="-42" r="7" b="42"/>
                </a:stretch>
              </a:blipFill>
            </p:spPr>
            <p:txBody>
              <a:bodyPr/>
              <a:lstStyle/>
              <a:p>
                <a:r>
                  <a:rPr lang="zh-CN" altLang="en-US">
                    <a:noFill/>
                  </a:rPr>
                  <a:t> </a:t>
                </a:r>
              </a:p>
            </p:txBody>
          </p:sp>
        </mc:Fallback>
      </mc:AlternateContent>
      <p:pic>
        <p:nvPicPr>
          <p:cNvPr id="8" name="图片 7"/>
          <p:cNvPicPr>
            <a:picLocks noChangeAspect="1"/>
          </p:cNvPicPr>
          <p:nvPr/>
        </p:nvPicPr>
        <p:blipFill>
          <a:blip r:embed="rId2"/>
          <a:stretch>
            <a:fillRect/>
          </a:stretch>
        </p:blipFill>
        <p:spPr>
          <a:xfrm>
            <a:off x="8081978" y="1107439"/>
            <a:ext cx="2975014" cy="3302577"/>
          </a:xfrm>
          <a:prstGeom prst="rect">
            <a:avLst/>
          </a:prstGeom>
        </p:spPr>
      </p:pic>
      <p:pic>
        <p:nvPicPr>
          <p:cNvPr id="9" name="图片 8"/>
          <p:cNvPicPr>
            <a:picLocks noChangeAspect="1"/>
          </p:cNvPicPr>
          <p:nvPr/>
        </p:nvPicPr>
        <p:blipFill>
          <a:blip r:embed="rId3"/>
          <a:stretch>
            <a:fillRect/>
          </a:stretch>
        </p:blipFill>
        <p:spPr>
          <a:xfrm>
            <a:off x="8081978" y="4625279"/>
            <a:ext cx="3036537" cy="1910080"/>
          </a:xfrm>
          <a:prstGeom prst="rect">
            <a:avLst/>
          </a:prstGeom>
        </p:spPr>
      </p:pic>
      <mc:AlternateContent xmlns:mc="http://schemas.openxmlformats.org/markup-compatibility/2006">
        <mc:Choice xmlns:a14="http://schemas.microsoft.com/office/drawing/2010/main" Requires="a14">
          <p:sp>
            <p:nvSpPr>
              <p:cNvPr id="4" name="文本占位符 2"/>
              <p:cNvSpPr txBox="1"/>
              <p:nvPr/>
            </p:nvSpPr>
            <p:spPr>
              <a:xfrm>
                <a:off x="1556041" y="1924265"/>
                <a:ext cx="4255345"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lvl="0">
                  <a:defRPr/>
                </a:pPr>
                <a:r>
                  <a:rPr lang="en-US" altLang="zh-CN" sz="1400" dirty="0">
                    <a:solidFill>
                      <a:srgbClr val="333333"/>
                    </a:solidFill>
                    <a:latin typeface="Alibaba PuHuiTi" pitchFamily="18" charset="-122"/>
                    <a:ea typeface="Alibaba PuHuiTi" pitchFamily="18" charset="-122"/>
                    <a:cs typeface="Alibaba PuHuiTi" pitchFamily="18" charset="-122"/>
                  </a:rPr>
                  <a:t>H</a:t>
                </a:r>
                <a:r>
                  <a:rPr lang="en-US" altLang="zh-CN" sz="1400" noProof="0" dirty="0">
                    <a:solidFill>
                      <a:srgbClr val="333333"/>
                    </a:solidFill>
                    <a:latin typeface="Alibaba PuHuiTi" pitchFamily="18" charset="-122"/>
                    <a:ea typeface="Alibaba PuHuiTi" pitchFamily="18" charset="-122"/>
                    <a:cs typeface="Alibaba PuHuiTi" pitchFamily="18" charset="-122"/>
                  </a:rPr>
                  <a:t>(D)</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14:m>
                  <m:oMath xmlns:m="http://schemas.openxmlformats.org/officeDocument/2006/math">
                    <m:r>
                      <a:rPr kumimoji="0" lang="en-US" altLang="zh-CN" sz="1400" b="0" i="0"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m:t>
                    </m:r>
                    <m:r>
                      <a:rPr kumimoji="0" lang="zh-CN" altLang="en-US" sz="1400" b="0" i="0"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 </m:t>
                    </m:r>
                    <m:f>
                      <m:fPr>
                        <m:ctrlPr>
                          <a:rPr kumimoji="0" lang="en-US" altLang="zh-CN" sz="14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ctrlPr>
                      </m:fPr>
                      <m:num>
                        <m:r>
                          <a:rPr kumimoji="0" lang="en-US" altLang="zh-CN" sz="14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5</m:t>
                        </m:r>
                      </m:num>
                      <m:den>
                        <m:r>
                          <a:rPr kumimoji="0" lang="en-US" altLang="zh-CN" sz="14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15</m:t>
                        </m:r>
                      </m:den>
                    </m:f>
                  </m:oMath>
                </a14:m>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14:m>
                  <m:oMath xmlns:m="http://schemas.openxmlformats.org/officeDocument/2006/math">
                    <m:func>
                      <m:funcPr>
                        <m:ctrlPr>
                          <a:rPr kumimoji="0" lang="en-US" altLang="zh-CN" sz="14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ctrlPr>
                      </m:funcPr>
                      <m:fName>
                        <m:sSub>
                          <m:sSubPr>
                            <m:ctrlPr>
                              <a:rPr kumimoji="0" lang="en-US" altLang="zh-CN" sz="14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ctrlPr>
                          </m:sSubPr>
                          <m:e>
                            <m:r>
                              <m:rPr>
                                <m:sty m:val="p"/>
                              </m:rPr>
                              <a:rPr kumimoji="0" lang="en-US" altLang="zh-CN" sz="1400" b="0" i="0"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log</m:t>
                            </m:r>
                          </m:e>
                          <m:sub>
                            <m:r>
                              <a:rPr kumimoji="0" lang="en-US" altLang="zh-CN" sz="14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2</m:t>
                            </m:r>
                          </m:sub>
                        </m:sSub>
                      </m:fName>
                      <m:e>
                        <m:f>
                          <m:fPr>
                            <m:ctrlPr>
                              <a:rPr kumimoji="0" lang="en-US" altLang="zh-CN" sz="14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ctrlPr>
                          </m:fPr>
                          <m:num>
                            <m:r>
                              <a:rPr kumimoji="0" lang="en-US" altLang="zh-CN" sz="14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5</m:t>
                            </m:r>
                          </m:num>
                          <m:den>
                            <m:r>
                              <a:rPr kumimoji="0" lang="en-US" altLang="zh-CN" sz="14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15</m:t>
                            </m:r>
                          </m:den>
                        </m:f>
                        <m:r>
                          <a:rPr kumimoji="0" lang="zh-CN" altLang="en-US" sz="14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 </m:t>
                        </m:r>
                        <m:r>
                          <a:rPr kumimoji="0" lang="en-US" altLang="zh-CN" sz="14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m:t>
                        </m:r>
                      </m:e>
                    </m:func>
                  </m:oMath>
                </a14:m>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14:m>
                  <m:oMath xmlns:m="http://schemas.openxmlformats.org/officeDocument/2006/math">
                    <m:r>
                      <a:rPr lang="en-US" altLang="zh-CN" sz="1400">
                        <a:solidFill>
                          <a:srgbClr val="C0504D">
                            <a:lumMod val="75000"/>
                          </a:srgbClr>
                        </a:solidFill>
                        <a:latin typeface="Cambria Math" panose="02040503050406030204" pitchFamily="18" charset="0"/>
                        <a:ea typeface="Alibaba PuHuiTi" pitchFamily="18" charset="-122"/>
                        <a:cs typeface="Alibaba PuHuiTi" pitchFamily="18" charset="-122"/>
                      </a:rPr>
                      <m:t>(−</m:t>
                    </m:r>
                    <m:r>
                      <a:rPr lang="zh-CN" altLang="en-US" sz="1400">
                        <a:solidFill>
                          <a:srgbClr val="C0504D">
                            <a:lumMod val="75000"/>
                          </a:srgbClr>
                        </a:solidFill>
                        <a:latin typeface="Cambria Math" panose="02040503050406030204" pitchFamily="18" charset="0"/>
                        <a:ea typeface="Alibaba PuHuiTi" pitchFamily="18" charset="-122"/>
                        <a:cs typeface="Alibaba PuHuiTi" pitchFamily="18" charset="-122"/>
                      </a:rPr>
                      <m:t> </m:t>
                    </m:r>
                    <m:f>
                      <m:fPr>
                        <m:ctrlP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ctrlPr>
                      </m:fPr>
                      <m:num>
                        <m:r>
                          <a:rPr lang="en-US" altLang="zh-CN" sz="1400" b="0" i="1" smtClean="0">
                            <a:solidFill>
                              <a:srgbClr val="C0504D">
                                <a:lumMod val="75000"/>
                              </a:srgbClr>
                            </a:solidFill>
                            <a:latin typeface="Cambria Math" panose="02040503050406030204" pitchFamily="18" charset="0"/>
                            <a:ea typeface="Alibaba PuHuiTi" pitchFamily="18" charset="-122"/>
                            <a:cs typeface="Alibaba PuHuiTi" pitchFamily="18" charset="-122"/>
                          </a:rPr>
                          <m:t>10</m:t>
                        </m:r>
                      </m:num>
                      <m:den>
                        <m: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t>1</m:t>
                        </m:r>
                        <m:r>
                          <a:rPr lang="en-US" altLang="zh-CN" sz="1400" b="0" i="1" smtClean="0">
                            <a:solidFill>
                              <a:srgbClr val="C0504D">
                                <a:lumMod val="75000"/>
                              </a:srgbClr>
                            </a:solidFill>
                            <a:latin typeface="Cambria Math" panose="02040503050406030204" pitchFamily="18" charset="0"/>
                            <a:ea typeface="Alibaba PuHuiTi" pitchFamily="18" charset="-122"/>
                            <a:cs typeface="Alibaba PuHuiTi" pitchFamily="18" charset="-122"/>
                          </a:rPr>
                          <m:t>5</m:t>
                        </m:r>
                      </m:den>
                    </m:f>
                  </m:oMath>
                </a14:m>
                <a:r>
                  <a:rPr lang="zh-CN" altLang="en-US" sz="1400" dirty="0">
                    <a:solidFill>
                      <a:srgbClr val="C0504D">
                        <a:lumMod val="75000"/>
                      </a:srgbClr>
                    </a:solidFill>
                    <a:latin typeface="Alibaba PuHuiTi" pitchFamily="18" charset="-122"/>
                    <a:ea typeface="Alibaba PuHuiTi" pitchFamily="18" charset="-122"/>
                    <a:cs typeface="Alibaba PuHuiTi" pitchFamily="18" charset="-122"/>
                  </a:rPr>
                  <a:t> </a:t>
                </a:r>
                <a14:m>
                  <m:oMath xmlns:m="http://schemas.openxmlformats.org/officeDocument/2006/math">
                    <m:func>
                      <m:funcPr>
                        <m:ctrlP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ctrlPr>
                      </m:funcPr>
                      <m:fName>
                        <m:sSub>
                          <m:sSubPr>
                            <m:ctrlP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ctrlPr>
                          </m:sSubPr>
                          <m:e>
                            <m:r>
                              <m:rPr>
                                <m:sty m:val="p"/>
                              </m:rPr>
                              <a:rPr lang="en-US" altLang="zh-CN" sz="1400">
                                <a:solidFill>
                                  <a:srgbClr val="C0504D">
                                    <a:lumMod val="75000"/>
                                  </a:srgbClr>
                                </a:solidFill>
                                <a:latin typeface="Cambria Math" panose="02040503050406030204" pitchFamily="18" charset="0"/>
                                <a:ea typeface="Alibaba PuHuiTi" pitchFamily="18" charset="-122"/>
                                <a:cs typeface="Alibaba PuHuiTi" pitchFamily="18" charset="-122"/>
                              </a:rPr>
                              <m:t>log</m:t>
                            </m:r>
                          </m:e>
                          <m:sub>
                            <m: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t>2</m:t>
                            </m:r>
                          </m:sub>
                        </m:sSub>
                      </m:fName>
                      <m:e>
                        <m:f>
                          <m:fPr>
                            <m:ctrlP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ctrlPr>
                          </m:fPr>
                          <m:num>
                            <m:r>
                              <a:rPr lang="en-US" altLang="zh-CN" sz="1400" b="0" i="1" smtClean="0">
                                <a:solidFill>
                                  <a:srgbClr val="C0504D">
                                    <a:lumMod val="75000"/>
                                  </a:srgbClr>
                                </a:solidFill>
                                <a:latin typeface="Cambria Math" panose="02040503050406030204" pitchFamily="18" charset="0"/>
                                <a:ea typeface="Alibaba PuHuiTi" pitchFamily="18" charset="-122"/>
                                <a:cs typeface="Alibaba PuHuiTi" pitchFamily="18" charset="-122"/>
                              </a:rPr>
                              <m:t>10</m:t>
                            </m:r>
                          </m:num>
                          <m:den>
                            <m: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t>1</m:t>
                            </m:r>
                            <m:r>
                              <a:rPr lang="en-US" altLang="zh-CN" sz="1400" b="0" i="1" smtClean="0">
                                <a:solidFill>
                                  <a:srgbClr val="C0504D">
                                    <a:lumMod val="75000"/>
                                  </a:srgbClr>
                                </a:solidFill>
                                <a:latin typeface="Cambria Math" panose="02040503050406030204" pitchFamily="18" charset="0"/>
                                <a:ea typeface="Alibaba PuHuiTi" pitchFamily="18" charset="-122"/>
                                <a:cs typeface="Alibaba PuHuiTi" pitchFamily="18" charset="-122"/>
                              </a:rPr>
                              <m:t>5</m:t>
                            </m:r>
                          </m:den>
                        </m:f>
                        <m:r>
                          <a:rPr lang="zh-CN" altLang="en-US" sz="1400" i="1">
                            <a:solidFill>
                              <a:srgbClr val="C0504D">
                                <a:lumMod val="75000"/>
                              </a:srgbClr>
                            </a:solidFill>
                            <a:latin typeface="Cambria Math" panose="02040503050406030204" pitchFamily="18" charset="0"/>
                            <a:ea typeface="Alibaba PuHuiTi" pitchFamily="18" charset="-122"/>
                            <a:cs typeface="Alibaba PuHuiTi" pitchFamily="18" charset="-122"/>
                          </a:rPr>
                          <m:t> </m:t>
                        </m:r>
                        <m: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t>)</m:t>
                        </m:r>
                      </m:e>
                    </m:func>
                  </m:oMath>
                </a14:m>
                <a:r>
                  <a:rPr lang="zh-CN" altLang="en-US" sz="1400" dirty="0">
                    <a:solidFill>
                      <a:srgbClr val="C0504D">
                        <a:lumMod val="75000"/>
                      </a:srgbClr>
                    </a:solidFill>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lang="en-US" altLang="zh-CN" sz="1400" dirty="0">
                    <a:solidFill>
                      <a:srgbClr val="C0504D">
                        <a:lumMod val="75000"/>
                      </a:srgbClr>
                    </a:solidFill>
                    <a:latin typeface="Alibaba PuHuiTi" pitchFamily="18" charset="-122"/>
                    <a:ea typeface="Alibaba PuHuiTi" pitchFamily="18" charset="-122"/>
                    <a:cs typeface="Alibaba PuHuiTi" pitchFamily="18" charset="-122"/>
                  </a:rPr>
                  <a:t>0</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.9183</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mc:Choice>
        <mc:Fallback>
          <p:sp>
            <p:nvSpPr>
              <p:cNvPr id="4" name="文本占位符 2"/>
              <p:cNvSpPr txBox="1">
                <a:spLocks noRot="1" noChangeAspect="1" noMove="1" noResize="1" noEditPoints="1" noAdjustHandles="1" noChangeArrowheads="1" noChangeShapeType="1" noTextEdit="1"/>
              </p:cNvSpPr>
              <p:nvPr/>
            </p:nvSpPr>
            <p:spPr>
              <a:xfrm>
                <a:off x="1556041" y="1924265"/>
                <a:ext cx="4255345" cy="499578"/>
              </a:xfrm>
              <a:prstGeom prst="rect">
                <a:avLst/>
              </a:prstGeom>
              <a:blipFill rotWithShape="1">
                <a:blip r:embed="rId4"/>
                <a:stretch>
                  <a:fillRect l="-7" t="-43" r="12" b="-1007"/>
                </a:stretch>
              </a:blipFill>
            </p:spPr>
            <p:txBody>
              <a:bodyPr/>
              <a:lstStyle/>
              <a:p>
                <a:r>
                  <a:rPr lang="zh-CN" altLang="en-US">
                    <a:noFill/>
                  </a:rPr>
                  <a:t> </a:t>
                </a:r>
              </a:p>
            </p:txBody>
          </p:sp>
        </mc:Fallback>
      </mc:AlternateContent>
      <p:sp>
        <p:nvSpPr>
          <p:cNvPr id="7" name="文本占位符 2"/>
          <p:cNvSpPr txBox="1"/>
          <p:nvPr/>
        </p:nvSpPr>
        <p:spPr>
          <a:xfrm>
            <a:off x="1100763" y="4269105"/>
            <a:ext cx="5459114"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计算性别信息增益</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GB"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性别</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10" name="文本框 9"/>
          <p:cNvSpPr txBox="1"/>
          <p:nvPr/>
        </p:nvSpPr>
        <p:spPr>
          <a:xfrm>
            <a:off x="1657350" y="4740910"/>
            <a:ext cx="7049770" cy="1060450"/>
          </a:xfrm>
          <a:prstGeom prst="rect">
            <a:avLst/>
          </a:prstGeom>
          <a:noFill/>
        </p:spPr>
        <p:txBody>
          <a:bodyPr wrap="square">
            <a:spAutoFit/>
          </a:bodyPr>
          <a:lstStyle/>
          <a:p>
            <a:pPr>
              <a:lnSpc>
                <a:spcPct val="150000"/>
              </a:lnSpc>
            </a:pPr>
            <a:r>
              <a:rPr lang="en-US" altLang="zh-CN" sz="1400" dirty="0">
                <a:solidFill>
                  <a:srgbClr val="333333"/>
                </a:solidFill>
                <a:latin typeface="Alibaba PuHuiTi" pitchFamily="18" charset="-122"/>
                <a:ea typeface="Alibaba PuHuiTi" pitchFamily="18" charset="-122"/>
                <a:cs typeface="Alibaba PuHuiTi" pitchFamily="18" charset="-122"/>
              </a:rPr>
              <a:t>g(D,</a:t>
            </a:r>
            <a:r>
              <a:rPr lang="zh-CN" altLang="en-US" sz="1400" dirty="0">
                <a:solidFill>
                  <a:srgbClr val="333333"/>
                </a:solidFill>
                <a:latin typeface="Alibaba PuHuiTi" pitchFamily="18" charset="-122"/>
                <a:ea typeface="Alibaba PuHuiTi" pitchFamily="18" charset="-122"/>
                <a:cs typeface="Alibaba PuHuiTi" pitchFamily="18" charset="-122"/>
              </a:rPr>
              <a:t> </a:t>
            </a:r>
            <a:r>
              <a:rPr lang="el-GR" altLang="zh-CN" sz="1400" dirty="0">
                <a:solidFill>
                  <a:srgbClr val="333333"/>
                </a:solidFill>
                <a:latin typeface="Alibaba PuHuiTi" pitchFamily="18" charset="-122"/>
                <a:ea typeface="Alibaba PuHuiTi" pitchFamily="18" charset="-122"/>
                <a:cs typeface="Alibaba PuHuiTi" pitchFamily="18" charset="-122"/>
              </a:rPr>
              <a:t>α</a:t>
            </a:r>
            <a:r>
              <a:rPr lang="en-US" altLang="zh-CN" sz="1400" dirty="0">
                <a:solidFill>
                  <a:srgbClr val="333333"/>
                </a:solidFill>
                <a:latin typeface="Alibaba PuHuiTi" pitchFamily="18" charset="-122"/>
                <a:ea typeface="Alibaba PuHuiTi" pitchFamily="18" charset="-122"/>
                <a:cs typeface="Alibaba PuHuiTi" pitchFamily="18" charset="-122"/>
              </a:rPr>
              <a:t>)</a:t>
            </a:r>
            <a:r>
              <a:rPr lang="zh-CN" altLang="en-US" sz="1400" dirty="0">
                <a:solidFill>
                  <a:srgbClr val="333333"/>
                </a:solidFill>
                <a:latin typeface="Alibaba PuHuiTi" pitchFamily="18" charset="-122"/>
                <a:ea typeface="Alibaba PuHuiTi" pitchFamily="18" charset="-122"/>
                <a:cs typeface="Alibaba PuHuiTi" pitchFamily="18" charset="-122"/>
              </a:rPr>
              <a:t> </a:t>
            </a:r>
            <a:r>
              <a:rPr lang="en-US" altLang="zh-CN" sz="1400" dirty="0">
                <a:solidFill>
                  <a:srgbClr val="333333"/>
                </a:solidFill>
                <a:latin typeface="Alibaba PuHuiTi" pitchFamily="18" charset="-122"/>
                <a:ea typeface="Alibaba PuHuiTi" pitchFamily="18" charset="-122"/>
                <a:cs typeface="Alibaba PuHuiTi" pitchFamily="18" charset="-122"/>
              </a:rPr>
              <a:t>=</a:t>
            </a:r>
            <a:r>
              <a:rPr lang="zh-CN" altLang="en-US" sz="1400" dirty="0">
                <a:solidFill>
                  <a:srgbClr val="333333"/>
                </a:solidFill>
                <a:latin typeface="Alibaba PuHuiTi" pitchFamily="18" charset="-122"/>
                <a:ea typeface="Alibaba PuHuiTi" pitchFamily="18" charset="-122"/>
                <a:cs typeface="Alibaba PuHuiTi" pitchFamily="18" charset="-122"/>
              </a:rPr>
              <a:t> </a:t>
            </a:r>
            <a:r>
              <a:rPr lang="en-US" altLang="zh-CN" sz="1400" dirty="0">
                <a:solidFill>
                  <a:srgbClr val="333333"/>
                </a:solidFill>
                <a:latin typeface="Alibaba PuHuiTi" pitchFamily="18" charset="-122"/>
                <a:ea typeface="Alibaba PuHuiTi" pitchFamily="18" charset="-122"/>
                <a:cs typeface="Alibaba PuHuiTi" pitchFamily="18" charset="-122"/>
              </a:rPr>
              <a:t>H(D)</a:t>
            </a:r>
            <a:r>
              <a:rPr lang="zh-CN" altLang="en-US" sz="1400" dirty="0">
                <a:solidFill>
                  <a:srgbClr val="333333"/>
                </a:solidFill>
                <a:latin typeface="Alibaba PuHuiTi" pitchFamily="18" charset="-122"/>
                <a:ea typeface="Alibaba PuHuiTi" pitchFamily="18" charset="-122"/>
                <a:cs typeface="Alibaba PuHuiTi" pitchFamily="18" charset="-122"/>
              </a:rPr>
              <a:t> </a:t>
            </a:r>
            <a:r>
              <a:rPr lang="en-US" altLang="zh-CN" sz="1400" dirty="0">
                <a:solidFill>
                  <a:srgbClr val="333333"/>
                </a:solidFill>
                <a:latin typeface="Alibaba PuHuiTi" pitchFamily="18" charset="-122"/>
                <a:ea typeface="Alibaba PuHuiTi" pitchFamily="18" charset="-122"/>
                <a:cs typeface="Alibaba PuHuiTi" pitchFamily="18" charset="-122"/>
              </a:rPr>
              <a:t>–</a:t>
            </a:r>
            <a:r>
              <a:rPr lang="zh-CN" altLang="en-US" sz="1400" dirty="0">
                <a:solidFill>
                  <a:srgbClr val="333333"/>
                </a:solidFill>
                <a:latin typeface="Alibaba PuHuiTi" pitchFamily="18" charset="-122"/>
                <a:ea typeface="Alibaba PuHuiTi" pitchFamily="18" charset="-122"/>
                <a:cs typeface="Alibaba PuHuiTi" pitchFamily="18" charset="-122"/>
              </a:rPr>
              <a:t> </a:t>
            </a:r>
            <a:r>
              <a:rPr lang="en-US" altLang="zh-CN" sz="1400" dirty="0">
                <a:solidFill>
                  <a:srgbClr val="333333"/>
                </a:solidFill>
                <a:latin typeface="Alibaba PuHuiTi" pitchFamily="18" charset="-122"/>
                <a:ea typeface="Alibaba PuHuiTi" pitchFamily="18" charset="-122"/>
                <a:cs typeface="Alibaba PuHuiTi" pitchFamily="18" charset="-122"/>
              </a:rPr>
              <a:t>H(D</a:t>
            </a:r>
            <a:r>
              <a:rPr lang="zh-CN" altLang="en-US" sz="1400" dirty="0">
                <a:solidFill>
                  <a:srgbClr val="333333"/>
                </a:solidFill>
                <a:latin typeface="Alibaba PuHuiTi" pitchFamily="18" charset="-122"/>
                <a:ea typeface="Alibaba PuHuiTi" pitchFamily="18" charset="-122"/>
                <a:cs typeface="Alibaba PuHuiTi" pitchFamily="18" charset="-122"/>
              </a:rPr>
              <a:t> </a:t>
            </a:r>
            <a:r>
              <a:rPr lang="en-US" altLang="zh-CN" sz="1400" dirty="0">
                <a:solidFill>
                  <a:srgbClr val="333333"/>
                </a:solidFill>
                <a:latin typeface="Alibaba PuHuiTi" pitchFamily="18" charset="-122"/>
                <a:ea typeface="Alibaba PuHuiTi" pitchFamily="18" charset="-122"/>
                <a:cs typeface="Alibaba PuHuiTi" pitchFamily="18" charset="-122"/>
              </a:rPr>
              <a:t>|</a:t>
            </a:r>
            <a:r>
              <a:rPr lang="el-GR" altLang="zh-CN" sz="1400" dirty="0">
                <a:solidFill>
                  <a:srgbClr val="333333"/>
                </a:solidFill>
                <a:latin typeface="Alibaba PuHuiTi" pitchFamily="18" charset="-122"/>
                <a:ea typeface="Alibaba PuHuiTi" pitchFamily="18" charset="-122"/>
                <a:cs typeface="Alibaba PuHuiTi" pitchFamily="18" charset="-122"/>
              </a:rPr>
              <a:t> α</a:t>
            </a:r>
            <a:r>
              <a:rPr lang="en-US" altLang="zh-CN" sz="1400" dirty="0">
                <a:solidFill>
                  <a:srgbClr val="333333"/>
                </a:solidFill>
                <a:latin typeface="Alibaba PuHuiTi" pitchFamily="18" charset="-122"/>
                <a:ea typeface="Alibaba PuHuiTi" pitchFamily="18" charset="-122"/>
                <a:cs typeface="Alibaba PuHuiTi" pitchFamily="18" charset="-122"/>
              </a:rPr>
              <a:t>)</a:t>
            </a:r>
            <a:endParaRPr lang="en-US" altLang="zh-CN" sz="1400" dirty="0">
              <a:solidFill>
                <a:srgbClr val="333333"/>
              </a:solidFill>
              <a:latin typeface="Alibaba PuHuiTi" pitchFamily="18" charset="-122"/>
              <a:ea typeface="Alibaba PuHuiTi" pitchFamily="18" charset="-122"/>
              <a:cs typeface="Alibaba PuHuiTi" pitchFamily="18" charset="-122"/>
            </a:endParaRPr>
          </a:p>
          <a:p>
            <a:pPr>
              <a:lnSpc>
                <a:spcPct val="150000"/>
              </a:lnSpc>
            </a:pPr>
            <a:r>
              <a:rPr kumimoji="0" lang="en-US" altLang="zh-CN" sz="1400" b="0" i="0" u="none" strike="noStrike" kern="1200" cap="none" spc="0" normalizeH="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zh-CN" altLang="en-US" sz="1400" b="0" i="0" u="none" strike="noStrike" kern="1200" cap="none" spc="0" normalizeH="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0.9183 - 0.911</a:t>
            </a:r>
            <a:r>
              <a:rPr lang="zh-CN" altLang="en-US" sz="1400" dirty="0">
                <a:solidFill>
                  <a:srgbClr val="C0504D">
                    <a:lumMod val="75000"/>
                  </a:srgbClr>
                </a:solidFill>
                <a:latin typeface="Alibaba PuHuiTi" pitchFamily="18" charset="-122"/>
                <a:ea typeface="Alibaba PuHuiTi" pitchFamily="18" charset="-122"/>
                <a:cs typeface="Alibaba PuHuiTi" pitchFamily="18" charset="-122"/>
              </a:rPr>
              <a:t> </a:t>
            </a:r>
            <a:endParaRPr lang="zh-CN" altLang="en-US" sz="1400" dirty="0">
              <a:solidFill>
                <a:srgbClr val="C0504D">
                  <a:lumMod val="75000"/>
                </a:srgbClr>
              </a:solidFill>
              <a:latin typeface="Alibaba PuHuiTi" pitchFamily="18" charset="-122"/>
              <a:ea typeface="Alibaba PuHuiTi" pitchFamily="18" charset="-122"/>
              <a:cs typeface="Alibaba PuHuiTi" pitchFamily="18" charset="-122"/>
            </a:endParaRPr>
          </a:p>
          <a:p>
            <a:pPr>
              <a:lnSpc>
                <a:spcPct val="150000"/>
              </a:lnSpc>
            </a:pPr>
            <a:r>
              <a:rPr lang="zh-CN" altLang="en-US" sz="1400" dirty="0">
                <a:solidFill>
                  <a:srgbClr val="C0504D">
                    <a:lumMod val="75000"/>
                  </a:srgbClr>
                </a:solidFill>
                <a:latin typeface="Alibaba PuHuiTi" pitchFamily="18" charset="-122"/>
                <a:ea typeface="Alibaba PuHuiTi" pitchFamily="18" charset="-122"/>
                <a:cs typeface="Alibaba PuHuiTi" pitchFamily="18" charset="-122"/>
              </a:rPr>
              <a:t> </a:t>
            </a:r>
            <a:r>
              <a:rPr lang="en-US" altLang="zh-CN" sz="1400" dirty="0">
                <a:solidFill>
                  <a:srgbClr val="C0504D">
                    <a:lumMod val="75000"/>
                  </a:srgbClr>
                </a:solidFill>
                <a:latin typeface="Alibaba PuHuiTi" pitchFamily="18" charset="-122"/>
                <a:ea typeface="Alibaba PuHuiTi" pitchFamily="18" charset="-122"/>
                <a:cs typeface="Alibaba PuHuiTi" pitchFamily="18" charset="-122"/>
              </a:rPr>
              <a:t>       =</a:t>
            </a:r>
            <a:r>
              <a:rPr lang="zh-CN" altLang="en-US" sz="1400" dirty="0">
                <a:solidFill>
                  <a:srgbClr val="C0504D">
                    <a:lumMod val="75000"/>
                  </a:srgbClr>
                </a:solidFill>
                <a:latin typeface="Alibaba PuHuiTi" pitchFamily="18" charset="-122"/>
                <a:ea typeface="Alibaba PuHuiTi" pitchFamily="18" charset="-122"/>
                <a:cs typeface="Alibaba PuHuiTi" pitchFamily="18" charset="-122"/>
              </a:rPr>
              <a:t> </a:t>
            </a:r>
            <a:r>
              <a:rPr lang="en-US" altLang="zh-CN" sz="1400" dirty="0">
                <a:solidFill>
                  <a:srgbClr val="C0504D">
                    <a:lumMod val="75000"/>
                  </a:srgbClr>
                </a:solidFill>
                <a:latin typeface="Alibaba PuHuiTi" pitchFamily="18" charset="-122"/>
                <a:ea typeface="Alibaba PuHuiTi" pitchFamily="18" charset="-122"/>
                <a:cs typeface="Alibaba PuHuiTi" pitchFamily="18" charset="-122"/>
              </a:rPr>
              <a:t>0.0073</a:t>
            </a:r>
            <a:endPar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ID3</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决策树</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信息增益案例</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2" name="文本占位符 2"/>
          <p:cNvSpPr txBox="1"/>
          <p:nvPr/>
        </p:nvSpPr>
        <p:spPr>
          <a:xfrm>
            <a:off x="1002646" y="1393266"/>
            <a:ext cx="5459114"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计算</a:t>
            </a:r>
            <a:r>
              <a:rPr kumimoji="0" lang="zh-CN" altLang="en-US" sz="16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活跃度</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条件熵</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GB"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活跃度</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mc:AlternateContent xmlns:mc="http://schemas.openxmlformats.org/markup-compatibility/2006">
        <mc:Choice xmlns:a14="http://schemas.microsoft.com/office/drawing/2010/main" Requires="a14">
          <p:sp>
            <p:nvSpPr>
              <p:cNvPr id="5" name="文本框 4"/>
              <p:cNvSpPr txBox="1"/>
              <p:nvPr/>
            </p:nvSpPr>
            <p:spPr>
              <a:xfrm>
                <a:off x="1464287" y="1707092"/>
                <a:ext cx="4952986" cy="1379220"/>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en-US" altLang="zh-CN" sz="1400" dirty="0">
                    <a:solidFill>
                      <a:srgbClr val="333333"/>
                    </a:solidFill>
                    <a:latin typeface="Alibaba PuHuiTi" pitchFamily="18" charset="-122"/>
                    <a:ea typeface="Alibaba PuHuiTi" pitchFamily="18" charset="-122"/>
                    <a:cs typeface="Alibaba PuHuiTi" pitchFamily="18" charset="-122"/>
                  </a:rPr>
                  <a:t>H</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(D,</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活跃度</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14:m>
                  <m:oMath xmlns:m="http://schemas.openxmlformats.org/officeDocument/2006/math">
                    <m:nary>
                      <m:naryPr>
                        <m:chr m:val="∑"/>
                        <m:ctrlPr>
                          <a:rPr kumimoji="0" lang="zh-CN" altLang="en-US" sz="14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ctrlPr>
                      </m:naryPr>
                      <m:sub>
                        <m:r>
                          <a:rPr kumimoji="0" lang="en-US" altLang="zh-CN" sz="14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t>𝑣</m:t>
                        </m:r>
                        <m:r>
                          <a:rPr kumimoji="0" lang="en-US" altLang="zh-CN" sz="14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t>=</m:t>
                        </m:r>
                        <m:r>
                          <a:rPr kumimoji="0" lang="en-US" altLang="zh-CN" sz="14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t>1</m:t>
                        </m:r>
                      </m:sub>
                      <m:sup>
                        <m:r>
                          <a:rPr kumimoji="0" lang="en-US" altLang="zh-CN" sz="14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t>𝑛</m:t>
                        </m:r>
                      </m:sup>
                      <m:e>
                        <m:f>
                          <m:fPr>
                            <m:ctrlPr>
                              <a:rPr kumimoji="0" lang="en-US" altLang="zh-CN" sz="14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ctrlPr>
                          </m:fPr>
                          <m:num>
                            <m:sSup>
                              <m:sSupPr>
                                <m:ctrlPr>
                                  <a:rPr kumimoji="0" lang="en-US" altLang="zh-CN" sz="14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ctrlPr>
                              </m:sSupPr>
                              <m:e>
                                <m:r>
                                  <a:rPr kumimoji="0" lang="en-US" altLang="zh-CN" sz="14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t>𝐷</m:t>
                                </m:r>
                              </m:e>
                              <m:sup>
                                <m:r>
                                  <a:rPr kumimoji="0" lang="en-US" altLang="zh-CN" sz="14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t>𝑉</m:t>
                                </m:r>
                              </m:sup>
                            </m:sSup>
                          </m:num>
                          <m:den>
                            <m:r>
                              <a:rPr kumimoji="0" lang="en-US" altLang="zh-CN" sz="14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t>𝐷</m:t>
                            </m:r>
                          </m:den>
                        </m:f>
                        <m:r>
                          <a:rPr kumimoji="0" lang="zh-CN" altLang="en-US" sz="14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t> </m:t>
                        </m:r>
                        <m:r>
                          <a:rPr kumimoji="0" lang="en-US" altLang="zh-CN" sz="1400" b="0" i="1" u="none" strike="noStrike" kern="1200" cap="none" spc="0" normalizeH="0" baseline="0" noProof="0" smtClean="0">
                            <a:ln>
                              <a:noFill/>
                            </a:ln>
                            <a:solidFill>
                              <a:srgbClr val="333333"/>
                            </a:solidFill>
                            <a:effectLst/>
                            <a:uLnTx/>
                            <a:uFillTx/>
                            <a:latin typeface="Cambria Math" panose="02040503050406030204" pitchFamily="18" charset="0"/>
                            <a:ea typeface="Alibaba PuHuiTi" pitchFamily="18" charset="-122"/>
                            <a:cs typeface="Alibaba PuHuiTi" pitchFamily="18" charset="-122"/>
                          </a:rPr>
                          <m:t>𝐻</m:t>
                        </m:r>
                        <m:r>
                          <a:rPr kumimoji="0" lang="en-US" altLang="zh-CN" sz="14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t>(</m:t>
                        </m:r>
                        <m:sSup>
                          <m:sSupPr>
                            <m:ctrlPr>
                              <a:rPr kumimoji="0" lang="en-US" altLang="zh-CN" sz="14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ctrlPr>
                          </m:sSupPr>
                          <m:e>
                            <m:r>
                              <a:rPr kumimoji="0" lang="en-US" altLang="zh-CN" sz="14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t>𝐷</m:t>
                            </m:r>
                          </m:e>
                          <m:sup>
                            <m:r>
                              <a:rPr kumimoji="0" lang="en-US" altLang="zh-CN" sz="14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t>𝑉</m:t>
                            </m:r>
                          </m:sup>
                        </m:sSup>
                        <m:r>
                          <a:rPr kumimoji="0" lang="en-US" altLang="zh-CN" sz="1400" b="0" i="1" u="none" strike="noStrike" kern="1200" cap="none" spc="0" normalizeH="0" baseline="0" noProof="0">
                            <a:ln>
                              <a:noFill/>
                            </a:ln>
                            <a:solidFill>
                              <a:srgbClr val="333333"/>
                            </a:solidFill>
                            <a:effectLst/>
                            <a:uLnTx/>
                            <a:uFillTx/>
                            <a:latin typeface="Cambria Math" panose="02040503050406030204" pitchFamily="18" charset="0"/>
                            <a:ea typeface="Alibaba PuHuiTi" pitchFamily="18" charset="-122"/>
                            <a:cs typeface="Alibaba PuHuiTi" pitchFamily="18" charset="-122"/>
                          </a:rPr>
                          <m:t>) </m:t>
                        </m:r>
                      </m:e>
                    </m:nary>
                  </m:oMath>
                </a14:m>
                <a:endPar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a:p>
                <a:pPr lvl="0">
                  <a:lnSpc>
                    <a:spcPct val="150000"/>
                  </a:lnSpc>
                </a:pP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14:m>
                  <m:oMath xmlns:m="http://schemas.openxmlformats.org/officeDocument/2006/math">
                    <m:f>
                      <m:fPr>
                        <m:ctrlPr>
                          <a:rPr kumimoji="0" lang="en-US" altLang="zh-CN" sz="14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ctrlPr>
                      </m:fPr>
                      <m:num>
                        <m:r>
                          <a:rPr kumimoji="0" lang="en-US" altLang="zh-CN" sz="14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6</m:t>
                        </m:r>
                      </m:num>
                      <m:den>
                        <m:r>
                          <a:rPr kumimoji="0" lang="en-US" altLang="zh-CN" sz="14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15</m:t>
                        </m:r>
                      </m:den>
                    </m:f>
                  </m:oMath>
                </a14:m>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)(0)</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14:m>
                  <m:oMath xmlns:m="http://schemas.openxmlformats.org/officeDocument/2006/math">
                    <m:f>
                      <m:fPr>
                        <m:ctrlPr>
                          <a:rPr kumimoji="0" lang="en-US" altLang="zh-CN" sz="14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ctrlPr>
                      </m:fPr>
                      <m:num>
                        <m:r>
                          <a:rPr kumimoji="0" lang="en-US" altLang="zh-CN" sz="14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5</m:t>
                        </m:r>
                      </m:num>
                      <m:den>
                        <m:r>
                          <a:rPr kumimoji="0" lang="en-US" altLang="zh-CN" sz="14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15</m:t>
                        </m:r>
                      </m:den>
                    </m:f>
                  </m:oMath>
                </a14:m>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srgbClr val="C0504D">
                        <a:lumMod val="75000"/>
                      </a:srgbClr>
                    </a:solidFill>
                    <a:effectLst/>
                    <a:uLnTx/>
                    <a:uFillTx/>
                    <a:latin typeface="Calibri" panose="020F0502020204030204"/>
                    <a:ea typeface="Alibaba PuHuiTi" pitchFamily="18" charset="-122"/>
                    <a:cs typeface="Alibaba PuHuiTi" pitchFamily="18" charset="-122"/>
                  </a:rPr>
                  <a:t> </a:t>
                </a:r>
                <a14:m>
                  <m:oMath xmlns:m="http://schemas.openxmlformats.org/officeDocument/2006/math">
                    <m:f>
                      <m:fPr>
                        <m:ctrlPr>
                          <a:rPr kumimoji="0" lang="en-US" altLang="zh-CN" sz="14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ctrlPr>
                      </m:fPr>
                      <m:num>
                        <m:r>
                          <a:rPr kumimoji="0" lang="en-US" altLang="zh-CN" sz="14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1</m:t>
                        </m:r>
                      </m:num>
                      <m:den>
                        <m:r>
                          <a:rPr kumimoji="0" lang="en-US" altLang="zh-CN" sz="14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5</m:t>
                        </m:r>
                      </m:den>
                    </m:f>
                    <m:func>
                      <m:funcPr>
                        <m:ctrlPr>
                          <a:rPr kumimoji="0" lang="en-US" altLang="zh-CN" sz="14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ctrlPr>
                      </m:funcPr>
                      <m:fName>
                        <m:sSub>
                          <m:sSubPr>
                            <m:ctrlPr>
                              <a:rPr kumimoji="0" lang="en-US" altLang="zh-CN" sz="14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ctrlPr>
                          </m:sSubPr>
                          <m:e>
                            <m:r>
                              <m:rPr>
                                <m:sty m:val="p"/>
                              </m:rPr>
                              <a:rPr kumimoji="0" lang="en-US" altLang="zh-CN" sz="1400" b="0" i="0"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log</m:t>
                            </m:r>
                          </m:e>
                          <m:sub>
                            <m:r>
                              <a:rPr kumimoji="0" lang="en-US" altLang="zh-CN" sz="14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2</m:t>
                            </m:r>
                          </m:sub>
                        </m:sSub>
                      </m:fName>
                      <m:e>
                        <m:f>
                          <m:fPr>
                            <m:ctrlPr>
                              <a:rPr kumimoji="0" lang="en-US" altLang="zh-CN" sz="14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ctrlPr>
                          </m:fPr>
                          <m:num>
                            <m:r>
                              <a:rPr kumimoji="0" lang="en-US" altLang="zh-CN" sz="14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1</m:t>
                            </m:r>
                          </m:num>
                          <m:den>
                            <m:r>
                              <a:rPr kumimoji="0" lang="en-US" altLang="zh-CN" sz="14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5</m:t>
                            </m:r>
                          </m:den>
                        </m:f>
                        <m:r>
                          <a:rPr kumimoji="0" lang="zh-CN" altLang="en-US" sz="14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  </m:t>
                        </m:r>
                        <m:r>
                          <a:rPr kumimoji="0" lang="en-US" altLang="zh-CN" sz="14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m:t>
                        </m:r>
                        <m:f>
                          <m:fPr>
                            <m:ctrlPr>
                              <a:rPr kumimoji="0" lang="en-US" altLang="zh-CN" sz="14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ctrlPr>
                          </m:fPr>
                          <m:num>
                            <m:r>
                              <a:rPr kumimoji="0" lang="en-US" altLang="zh-CN" sz="14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4</m:t>
                            </m:r>
                          </m:num>
                          <m:den>
                            <m:r>
                              <a:rPr kumimoji="0" lang="en-US" altLang="zh-CN" sz="14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5</m:t>
                            </m:r>
                          </m:den>
                        </m:f>
                        <m:func>
                          <m:funcPr>
                            <m:ctrlPr>
                              <a:rPr kumimoji="0" lang="en-US" altLang="zh-CN" sz="14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ctrlPr>
                          </m:funcPr>
                          <m:fName>
                            <m:sSub>
                              <m:sSubPr>
                                <m:ctrlPr>
                                  <a:rPr kumimoji="0" lang="en-US" altLang="zh-CN" sz="14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ctrlPr>
                              </m:sSubPr>
                              <m:e>
                                <m:r>
                                  <m:rPr>
                                    <m:sty m:val="p"/>
                                  </m:rPr>
                                  <a:rPr kumimoji="0" lang="en-US" altLang="zh-CN" sz="1400" b="0" i="0"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log</m:t>
                                </m:r>
                              </m:e>
                              <m:sub>
                                <m:r>
                                  <a:rPr kumimoji="0" lang="en-US" altLang="zh-CN" sz="14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2</m:t>
                                </m:r>
                              </m:sub>
                            </m:sSub>
                          </m:fName>
                          <m:e>
                            <m:f>
                              <m:fPr>
                                <m:ctrlPr>
                                  <a:rPr kumimoji="0" lang="en-US" altLang="zh-CN" sz="14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ctrlPr>
                              </m:fPr>
                              <m:num>
                                <m:r>
                                  <a:rPr kumimoji="0" lang="en-US" altLang="zh-CN" sz="14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4</m:t>
                                </m:r>
                              </m:num>
                              <m:den>
                                <m:r>
                                  <a:rPr kumimoji="0" lang="en-US" altLang="zh-CN" sz="1400" b="0" i="1" u="none" strike="noStrike" kern="1200" cap="none" spc="0" normalizeH="0" baseline="0" noProof="0" smtClean="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5</m:t>
                                </m:r>
                              </m:den>
                            </m:f>
                            <m:r>
                              <a:rPr kumimoji="0" lang="zh-CN" altLang="en-US" sz="1400" b="0" i="1" u="none" strike="noStrike" kern="1200" cap="none" spc="0" normalizeH="0" baseline="0" noProof="0">
                                <a:ln>
                                  <a:noFill/>
                                </a:ln>
                                <a:solidFill>
                                  <a:srgbClr val="C0504D">
                                    <a:lumMod val="75000"/>
                                  </a:srgbClr>
                                </a:solidFill>
                                <a:effectLst/>
                                <a:uLnTx/>
                                <a:uFillTx/>
                                <a:latin typeface="Cambria Math" panose="02040503050406030204" pitchFamily="18" charset="0"/>
                                <a:ea typeface="Alibaba PuHuiTi" pitchFamily="18" charset="-122"/>
                                <a:cs typeface="Alibaba PuHuiTi" pitchFamily="18" charset="-122"/>
                              </a:rPr>
                              <m:t> </m:t>
                            </m:r>
                          </m:e>
                        </m:func>
                      </m:e>
                    </m:func>
                  </m:oMath>
                </a14:m>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lang="en-US" altLang="zh-CN" sz="1400" dirty="0">
                    <a:solidFill>
                      <a:srgbClr val="C0504D">
                        <a:lumMod val="75000"/>
                      </a:srgbClr>
                    </a:solidFill>
                    <a:latin typeface="Alibaba PuHuiTi" pitchFamily="18" charset="-122"/>
                    <a:ea typeface="Alibaba PuHuiTi" pitchFamily="18" charset="-122"/>
                    <a:cs typeface="Alibaba PuHuiTi" pitchFamily="18" charset="-122"/>
                  </a:rPr>
                  <a:t>(</a:t>
                </a:r>
                <a14:m>
                  <m:oMath xmlns:m="http://schemas.openxmlformats.org/officeDocument/2006/math">
                    <m:f>
                      <m:fPr>
                        <m:ctrlP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ctrlPr>
                      </m:fPr>
                      <m:num>
                        <m:r>
                          <a:rPr lang="en-US" altLang="zh-CN" sz="1400" b="0" i="1" smtClean="0">
                            <a:solidFill>
                              <a:srgbClr val="C0504D">
                                <a:lumMod val="75000"/>
                              </a:srgbClr>
                            </a:solidFill>
                            <a:latin typeface="Cambria Math" panose="02040503050406030204" pitchFamily="18" charset="0"/>
                            <a:ea typeface="Alibaba PuHuiTi" pitchFamily="18" charset="-122"/>
                            <a:cs typeface="Alibaba PuHuiTi" pitchFamily="18" charset="-122"/>
                          </a:rPr>
                          <m:t>4</m:t>
                        </m:r>
                      </m:num>
                      <m:den>
                        <m:r>
                          <a:rPr lang="en-US" altLang="zh-CN" sz="1400" i="1">
                            <a:solidFill>
                              <a:srgbClr val="C0504D">
                                <a:lumMod val="75000"/>
                              </a:srgbClr>
                            </a:solidFill>
                            <a:latin typeface="Cambria Math" panose="02040503050406030204" pitchFamily="18" charset="0"/>
                            <a:ea typeface="Alibaba PuHuiTi" pitchFamily="18" charset="-122"/>
                            <a:cs typeface="Alibaba PuHuiTi" pitchFamily="18" charset="-122"/>
                          </a:rPr>
                          <m:t>15</m:t>
                        </m:r>
                      </m:den>
                    </m:f>
                  </m:oMath>
                </a14:m>
                <a:r>
                  <a:rPr lang="en-US" altLang="zh-CN" sz="1400" dirty="0">
                    <a:solidFill>
                      <a:srgbClr val="C0504D">
                        <a:lumMod val="75000"/>
                      </a:srgbClr>
                    </a:solidFill>
                    <a:latin typeface="Alibaba PuHuiTi" pitchFamily="18" charset="-122"/>
                    <a:ea typeface="Alibaba PuHuiTi" pitchFamily="18" charset="-122"/>
                    <a:cs typeface="Alibaba PuHuiTi" pitchFamily="18" charset="-122"/>
                  </a:rPr>
                  <a:t>)</a:t>
                </a:r>
                <a:r>
                  <a:rPr lang="zh-CN" altLang="en-US" sz="1400" dirty="0">
                    <a:solidFill>
                      <a:srgbClr val="C0504D">
                        <a:lumMod val="75000"/>
                      </a:srgbClr>
                    </a:solidFill>
                    <a:latin typeface="Alibaba PuHuiTi" pitchFamily="18" charset="-122"/>
                    <a:ea typeface="Alibaba PuHuiTi" pitchFamily="18" charset="-122"/>
                    <a:cs typeface="Alibaba PuHuiTi" pitchFamily="18" charset="-122"/>
                  </a:rPr>
                  <a:t> </a:t>
                </a:r>
                <a:r>
                  <a:rPr lang="en-US" altLang="zh-CN" sz="1400" dirty="0">
                    <a:solidFill>
                      <a:srgbClr val="C0504D">
                        <a:lumMod val="75000"/>
                      </a:srgbClr>
                    </a:solidFill>
                    <a:latin typeface="Alibaba PuHuiTi" pitchFamily="18" charset="-122"/>
                    <a:ea typeface="Alibaba PuHuiTi" pitchFamily="18" charset="-122"/>
                    <a:cs typeface="Alibaba PuHuiTi" pitchFamily="18" charset="-122"/>
                  </a:rPr>
                  <a:t>(0)</a:t>
                </a:r>
                <a:endParaRPr lang="en-US" altLang="zh-CN" sz="1400" dirty="0">
                  <a:solidFill>
                    <a:srgbClr val="C0504D">
                      <a:lumMod val="75000"/>
                    </a:srgbClr>
                  </a:solidFill>
                  <a:latin typeface="Alibaba PuHuiTi" pitchFamily="18" charset="-122"/>
                  <a:ea typeface="Alibaba PuHuiTi" pitchFamily="18" charset="-122"/>
                  <a:cs typeface="Alibaba PuHuiTi" pitchFamily="18" charset="-122"/>
                </a:endParaRPr>
              </a:p>
              <a:p>
                <a:pPr lvl="0">
                  <a:lnSpc>
                    <a:spcPct val="150000"/>
                  </a:lnSpc>
                </a:pP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 </a:t>
                </a:r>
                <a:r>
                  <a:rPr kumimoji="0" lang="en-US" altLang="zh-CN" sz="1400" b="0" i="0" u="none" strike="noStrike" kern="1200" cap="none" spc="0" normalizeH="0" baseline="0" noProof="0" dirty="0">
                    <a:ln>
                      <a:noFill/>
                    </a:ln>
                    <a:solidFill>
                      <a:schemeClr val="accent2"/>
                    </a:solidFill>
                    <a:effectLst/>
                    <a:uLnTx/>
                    <a:uFillTx/>
                    <a:latin typeface="Alibaba PuHuiTi" pitchFamily="18" charset="-122"/>
                    <a:ea typeface="Alibaba PuHuiTi" pitchFamily="18" charset="-122"/>
                    <a:cs typeface="Alibaba PuHuiTi" pitchFamily="18" charset="-122"/>
                  </a:rPr>
                  <a:t>0.2406</a:t>
                </a:r>
                <a:endParaRPr kumimoji="0" lang="en-US" altLang="zh-CN" sz="1400" b="0" i="0" u="none" strike="noStrike" kern="1200" cap="none" spc="0" normalizeH="0" baseline="0" noProof="0" dirty="0">
                  <a:ln>
                    <a:noFill/>
                  </a:ln>
                  <a:solidFill>
                    <a:schemeClr val="accent2"/>
                  </a:solidFill>
                  <a:effectLst/>
                  <a:uLnTx/>
                  <a:uFillTx/>
                  <a:latin typeface="Alibaba PuHuiTi" pitchFamily="18" charset="-122"/>
                  <a:ea typeface="Alibaba PuHuiTi" pitchFamily="18" charset="-122"/>
                  <a:cs typeface="Alibaba PuHuiTi" pitchFamily="18" charset="-122"/>
                </a:endParaRPr>
              </a:p>
            </p:txBody>
          </p:sp>
        </mc:Choice>
        <mc:Fallback>
          <p:sp>
            <p:nvSpPr>
              <p:cNvPr id="5" name="文本框 4"/>
              <p:cNvSpPr txBox="1">
                <a:spLocks noRot="1" noChangeAspect="1" noMove="1" noResize="1" noEditPoints="1" noAdjustHandles="1" noChangeArrowheads="1" noChangeShapeType="1" noTextEdit="1"/>
              </p:cNvSpPr>
              <p:nvPr/>
            </p:nvSpPr>
            <p:spPr>
              <a:xfrm>
                <a:off x="1464287" y="1707092"/>
                <a:ext cx="4952986" cy="1379220"/>
              </a:xfrm>
              <a:prstGeom prst="rect">
                <a:avLst/>
              </a:prstGeom>
              <a:blipFill rotWithShape="1">
                <a:blip r:embed="rId1"/>
                <a:stretch>
                  <a:fillRect l="-12" t="-15" r="12" b="15"/>
                </a:stretch>
              </a:blipFill>
            </p:spPr>
            <p:txBody>
              <a:bodyPr/>
              <a:lstStyle/>
              <a:p>
                <a:r>
                  <a:rPr lang="zh-CN" altLang="en-US">
                    <a:noFill/>
                  </a:rPr>
                  <a:t> </a:t>
                </a:r>
              </a:p>
            </p:txBody>
          </p:sp>
        </mc:Fallback>
      </mc:AlternateContent>
      <p:pic>
        <p:nvPicPr>
          <p:cNvPr id="8" name="图片 7"/>
          <p:cNvPicPr>
            <a:picLocks noChangeAspect="1"/>
          </p:cNvPicPr>
          <p:nvPr/>
        </p:nvPicPr>
        <p:blipFill>
          <a:blip r:embed="rId2"/>
          <a:stretch>
            <a:fillRect/>
          </a:stretch>
        </p:blipFill>
        <p:spPr>
          <a:xfrm>
            <a:off x="8081978" y="1107439"/>
            <a:ext cx="2975014" cy="3302577"/>
          </a:xfrm>
          <a:prstGeom prst="rect">
            <a:avLst/>
          </a:prstGeom>
        </p:spPr>
      </p:pic>
      <p:pic>
        <p:nvPicPr>
          <p:cNvPr id="9" name="图片 8"/>
          <p:cNvPicPr>
            <a:picLocks noChangeAspect="1"/>
          </p:cNvPicPr>
          <p:nvPr/>
        </p:nvPicPr>
        <p:blipFill>
          <a:blip r:embed="rId3"/>
          <a:stretch>
            <a:fillRect/>
          </a:stretch>
        </p:blipFill>
        <p:spPr>
          <a:xfrm>
            <a:off x="8081978" y="4625279"/>
            <a:ext cx="3036537" cy="1910080"/>
          </a:xfrm>
          <a:prstGeom prst="rect">
            <a:avLst/>
          </a:prstGeom>
        </p:spPr>
      </p:pic>
      <p:sp>
        <p:nvSpPr>
          <p:cNvPr id="7" name="文本占位符 2"/>
          <p:cNvSpPr txBox="1"/>
          <p:nvPr/>
        </p:nvSpPr>
        <p:spPr>
          <a:xfrm>
            <a:off x="1100763" y="2899608"/>
            <a:ext cx="5459114"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计算</a:t>
            </a:r>
            <a:r>
              <a:rPr kumimoji="0" lang="zh-CN" altLang="en-US" sz="16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活跃度</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信息增益</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GB"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a:t>
            </a:r>
            <a:r>
              <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活跃度</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10" name="文本框 9"/>
          <p:cNvSpPr txBox="1"/>
          <p:nvPr/>
        </p:nvSpPr>
        <p:spPr>
          <a:xfrm>
            <a:off x="1652270" y="3429000"/>
            <a:ext cx="6971030" cy="1060450"/>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en-US" altLang="zh-CN" sz="1400" dirty="0">
                <a:solidFill>
                  <a:srgbClr val="333333"/>
                </a:solidFill>
                <a:latin typeface="Alibaba PuHuiTi" pitchFamily="18" charset="-122"/>
                <a:ea typeface="Alibaba PuHuiTi" pitchFamily="18" charset="-122"/>
                <a:cs typeface="Alibaba PuHuiTi" pitchFamily="18" charset="-122"/>
              </a:rPr>
              <a:t>g</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(D,</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el-GR"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α</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lang="en-US" altLang="zh-CN" sz="1400" dirty="0">
                <a:solidFill>
                  <a:srgbClr val="333333"/>
                </a:solidFill>
                <a:latin typeface="Alibaba PuHuiTi" pitchFamily="18" charset="-122"/>
                <a:ea typeface="Alibaba PuHuiTi" pitchFamily="18" charset="-122"/>
                <a:cs typeface="Alibaba PuHuiTi" pitchFamily="18" charset="-122"/>
              </a:rPr>
              <a:t>H</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(D)</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lang="en-US" altLang="zh-CN" sz="1400" dirty="0">
                <a:solidFill>
                  <a:srgbClr val="333333"/>
                </a:solidFill>
                <a:latin typeface="Alibaba PuHuiTi" pitchFamily="18" charset="-122"/>
                <a:ea typeface="Alibaba PuHuiTi" pitchFamily="18" charset="-122"/>
                <a:cs typeface="Alibaba PuHuiTi" pitchFamily="18" charset="-122"/>
              </a:rPr>
              <a:t>H</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(D</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el-GR"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α</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endPar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lang="zh-CN" altLang="en-US" sz="140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sym typeface="+mn-ea"/>
              </a:rPr>
              <a:t> </a:t>
            </a:r>
            <a:r>
              <a:rPr lang="en-US" altLang="zh-CN" sz="140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sym typeface="+mn-ea"/>
              </a:rPr>
              <a:t>0.9183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lang="en-US" altLang="zh-CN" sz="1400" noProof="0" dirty="0">
                <a:ln>
                  <a:noFill/>
                </a:ln>
                <a:solidFill>
                  <a:schemeClr val="accent2"/>
                </a:solidFill>
                <a:effectLst/>
                <a:uLnTx/>
                <a:uFillTx/>
                <a:latin typeface="Alibaba PuHuiTi" pitchFamily="18" charset="-122"/>
                <a:ea typeface="Alibaba PuHuiTi" pitchFamily="18" charset="-122"/>
                <a:cs typeface="Alibaba PuHuiTi" pitchFamily="18" charset="-122"/>
                <a:sym typeface="+mn-ea"/>
              </a:rPr>
              <a:t>0.2406 </a:t>
            </a:r>
            <a:endParaRPr lang="en-US" altLang="zh-CN" sz="1400" noProof="0" dirty="0">
              <a:ln>
                <a:noFill/>
              </a:ln>
              <a:solidFill>
                <a:schemeClr val="accent2"/>
              </a:solidFill>
              <a:effectLst/>
              <a:uLnTx/>
              <a:uFillTx/>
              <a:latin typeface="Alibaba PuHuiTi" pitchFamily="18" charset="-122"/>
              <a:ea typeface="Alibaba PuHuiTi" pitchFamily="18" charset="-122"/>
              <a:cs typeface="Alibaba PuHuiTi" pitchFamily="18" charset="-122"/>
              <a:sym typeface="+mn-ea"/>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lang="en-US" altLang="zh-CN" sz="1400" dirty="0">
                <a:solidFill>
                  <a:srgbClr val="C0504D">
                    <a:lumMod val="75000"/>
                  </a:srgbClr>
                </a:solidFill>
                <a:latin typeface="Alibaba PuHuiTi" pitchFamily="18" charset="-122"/>
                <a:ea typeface="Alibaba PuHuiTi" pitchFamily="18" charset="-122"/>
                <a:cs typeface="Alibaba PuHuiTi" pitchFamily="18" charset="-122"/>
              </a:rPr>
              <a:t>0.6777</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12" name="文本框 11"/>
          <p:cNvSpPr txBox="1"/>
          <p:nvPr/>
        </p:nvSpPr>
        <p:spPr>
          <a:xfrm>
            <a:off x="1328832" y="5226087"/>
            <a:ext cx="4806742" cy="796436"/>
          </a:xfrm>
          <a:prstGeom prst="rect">
            <a:avLst/>
          </a:prstGeom>
          <a:noFill/>
        </p:spPr>
        <p:txBody>
          <a:bodyPr wrap="square">
            <a:spAutoFit/>
          </a:bodyPr>
          <a:lstStyle/>
          <a:p>
            <a:pPr>
              <a:lnSpc>
                <a:spcPct val="150000"/>
              </a:lnSpc>
            </a:pPr>
            <a:r>
              <a:rPr lang="zh-CN" altLang="en-US" sz="1600" b="1" dirty="0">
                <a:solidFill>
                  <a:schemeClr val="tx1">
                    <a:lumMod val="85000"/>
                    <a:lumOff val="15000"/>
                  </a:schemeClr>
                </a:solidFill>
                <a:latin typeface="Alibaba PuHuiTi" pitchFamily="18" charset="-122"/>
                <a:ea typeface="Alibaba PuHuiTi" pitchFamily="18" charset="-122"/>
                <a:cs typeface="Alibaba PuHuiTi" pitchFamily="18" charset="-122"/>
              </a:rPr>
              <a:t>结论</a:t>
            </a:r>
            <a:r>
              <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600" i="0" dirty="0">
                <a:solidFill>
                  <a:schemeClr val="accent2">
                    <a:lumMod val="75000"/>
                  </a:schemeClr>
                </a:solidFill>
                <a:effectLst/>
                <a:latin typeface="Alibaba PuHuiTi" pitchFamily="18" charset="-122"/>
                <a:ea typeface="Alibaba PuHuiTi" pitchFamily="18" charset="-122"/>
                <a:cs typeface="Alibaba PuHuiTi" pitchFamily="18" charset="-122"/>
              </a:rPr>
              <a:t>活跃度的</a:t>
            </a:r>
            <a:r>
              <a:rPr lang="zh-CN" altLang="en-US" sz="1600" i="0" dirty="0">
                <a:solidFill>
                  <a:schemeClr val="tx1">
                    <a:lumMod val="85000"/>
                    <a:lumOff val="15000"/>
                  </a:schemeClr>
                </a:solidFill>
                <a:effectLst/>
                <a:latin typeface="Alibaba PuHuiTi" pitchFamily="18" charset="-122"/>
                <a:ea typeface="Alibaba PuHuiTi" pitchFamily="18" charset="-122"/>
                <a:cs typeface="Alibaba PuHuiTi" pitchFamily="18" charset="-122"/>
              </a:rPr>
              <a:t>信息增益比</a:t>
            </a:r>
            <a:r>
              <a:rPr lang="zh-CN" altLang="en-US" sz="1600" i="0" dirty="0">
                <a:solidFill>
                  <a:schemeClr val="accent2">
                    <a:lumMod val="75000"/>
                  </a:schemeClr>
                </a:solidFill>
                <a:effectLst/>
                <a:latin typeface="Alibaba PuHuiTi" pitchFamily="18" charset="-122"/>
                <a:ea typeface="Alibaba PuHuiTi" pitchFamily="18" charset="-122"/>
                <a:cs typeface="Alibaba PuHuiTi" pitchFamily="18" charset="-122"/>
              </a:rPr>
              <a:t>性别</a:t>
            </a:r>
            <a:r>
              <a:rPr lang="zh-CN" altLang="en-US" sz="1600" i="0" dirty="0">
                <a:solidFill>
                  <a:schemeClr val="tx1">
                    <a:lumMod val="85000"/>
                    <a:lumOff val="15000"/>
                  </a:schemeClr>
                </a:solidFill>
                <a:effectLst/>
                <a:latin typeface="Alibaba PuHuiTi" pitchFamily="18" charset="-122"/>
                <a:ea typeface="Alibaba PuHuiTi" pitchFamily="18" charset="-122"/>
                <a:cs typeface="Alibaba PuHuiTi" pitchFamily="18" charset="-122"/>
              </a:rPr>
              <a:t>的信息增益大，对</a:t>
            </a:r>
            <a:r>
              <a:rPr lang="zh-CN" altLang="en-US" sz="1600" i="0" dirty="0">
                <a:solidFill>
                  <a:schemeClr val="accent2">
                    <a:lumMod val="75000"/>
                  </a:schemeClr>
                </a:solidFill>
                <a:effectLst/>
                <a:latin typeface="Alibaba PuHuiTi" pitchFamily="18" charset="-122"/>
                <a:ea typeface="Alibaba PuHuiTi" pitchFamily="18" charset="-122"/>
                <a:cs typeface="Alibaba PuHuiTi" pitchFamily="18" charset="-122"/>
              </a:rPr>
              <a:t>用户流失</a:t>
            </a:r>
            <a:r>
              <a:rPr lang="zh-CN" altLang="en-US" sz="1600" i="0" dirty="0">
                <a:solidFill>
                  <a:schemeClr val="tx1">
                    <a:lumMod val="85000"/>
                    <a:lumOff val="15000"/>
                  </a:schemeClr>
                </a:solidFill>
                <a:effectLst/>
                <a:latin typeface="Alibaba PuHuiTi" pitchFamily="18" charset="-122"/>
                <a:ea typeface="Alibaba PuHuiTi" pitchFamily="18" charset="-122"/>
                <a:cs typeface="Alibaba PuHuiTi" pitchFamily="18" charset="-122"/>
              </a:rPr>
              <a:t>的影响比性别大。</a:t>
            </a:r>
            <a:endPar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p:cNvSpPr txBox="1"/>
          <p:nvPr/>
        </p:nvSpPr>
        <p:spPr>
          <a:xfrm>
            <a:off x="86125" y="181128"/>
            <a:ext cx="7036395" cy="761341"/>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l"/>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gn="l" rtl="0" eaLnBrk="0" fontAlgn="base" hangingPunct="0">
              <a:lnSpc>
                <a:spcPct val="150000"/>
              </a:lnSpc>
              <a:spcBef>
                <a:spcPct val="20000"/>
              </a:spcBef>
              <a:spcAft>
                <a:spcPct val="0"/>
              </a:spcAft>
              <a:buFont typeface="Wingdings" panose="05000000000000000000" pitchFamily="2" charset="2"/>
              <a:buChar char="l"/>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defRPr lang="zh-CN" altLang="en-US" sz="1400" b="0" i="0" kern="1200" dirty="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359410" marR="0" lvl="1" indent="0" algn="l" defTabSz="914400" rtl="0" eaLnBrk="0" fontAlgn="base" latinLnBrk="0" hangingPunct="0">
              <a:lnSpc>
                <a:spcPct val="150000"/>
              </a:lnSpc>
              <a:spcBef>
                <a:spcPct val="20000"/>
              </a:spcBef>
              <a:spcAft>
                <a:spcPct val="0"/>
              </a:spcAft>
              <a:buClrTx/>
              <a:buSzTx/>
              <a:buFont typeface="Wingdings" panose="05000000000000000000" pitchFamily="2" charset="2"/>
              <a:buNone/>
              <a:defRPr/>
            </a:pPr>
            <a:endParaRPr kumimoji="1" lang="zh-CN" altLang="en-US" sz="1400" b="0" i="0" u="none" strike="noStrike" kern="1200" cap="none" spc="0" normalizeH="0" baseline="0" noProof="0" dirty="0">
              <a:ln>
                <a:noFill/>
              </a:ln>
              <a:solidFill>
                <a:prstClr val="black"/>
              </a:solidFill>
              <a:effectLst/>
              <a:uLnTx/>
              <a:uFillTx/>
              <a:latin typeface="Alibaba PuHuiTi R" pitchFamily="18" charset="-122"/>
              <a:ea typeface="Alibaba PuHuiTi R" pitchFamily="18" charset="-122"/>
              <a:cs typeface="Alibaba PuHuiTi R" pitchFamily="18" charset="-122"/>
            </a:endParaRPr>
          </a:p>
        </p:txBody>
      </p:sp>
      <p:sp>
        <p:nvSpPr>
          <p:cNvPr id="10" name="文本框 9"/>
          <p:cNvSpPr txBox="1"/>
          <p:nvPr/>
        </p:nvSpPr>
        <p:spPr>
          <a:xfrm>
            <a:off x="4442175" y="2009012"/>
            <a:ext cx="3493509"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1.</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信息熵</a:t>
            </a:r>
            <a:r>
              <a:rPr kumimoji="1" lang="zh-CN" altLang="en-US" b="1" dirty="0">
                <a:solidFill>
                  <a:prstClr val="black">
                    <a:lumMod val="65000"/>
                    <a:lumOff val="35000"/>
                  </a:prstClr>
                </a:solidFill>
                <a:latin typeface="Alibaba PuHuiTi" pitchFamily="18" charset="-122"/>
                <a:ea typeface="Alibaba PuHuiTi" pitchFamily="18" charset="-122"/>
                <a:cs typeface="Alibaba PuHuiTi" pitchFamily="18" charset="-122"/>
              </a:rPr>
              <a:t>？</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a:t>
            </a:r>
            <a:endParaRPr kumimoji="1" lang="zh-CN" altLang="en-US"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黑体" panose="02010609060101010101" pitchFamily="49" charset="-122"/>
              <a:cs typeface="+mn-cs"/>
            </a:endParaRPr>
          </a:p>
        </p:txBody>
      </p:sp>
      <p:sp>
        <p:nvSpPr>
          <p:cNvPr id="13" name="文本框 12"/>
          <p:cNvSpPr txBox="1"/>
          <p:nvPr/>
        </p:nvSpPr>
        <p:spPr>
          <a:xfrm>
            <a:off x="4442174" y="2943520"/>
            <a:ext cx="3493509"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b="1" dirty="0">
                <a:solidFill>
                  <a:prstClr val="black">
                    <a:lumMod val="65000"/>
                    <a:lumOff val="35000"/>
                  </a:prstClr>
                </a:solidFill>
                <a:latin typeface="Alibaba PuHuiTi" pitchFamily="18" charset="-122"/>
                <a:ea typeface="Alibaba PuHuiTi" pitchFamily="18" charset="-122"/>
                <a:cs typeface="Alibaba PuHuiTi" pitchFamily="18" charset="-122"/>
              </a:rPr>
              <a:t>2.</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信息增益  ？</a:t>
            </a:r>
            <a:endParaRPr kumimoji="1" lang="zh-CN" altLang="en-US"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黑体" panose="02010609060101010101" pitchFamily="49" charset="-122"/>
              <a:cs typeface="+mn-cs"/>
            </a:endParaRPr>
          </a:p>
        </p:txBody>
      </p:sp>
      <p:sp>
        <p:nvSpPr>
          <p:cNvPr id="22" name="文本框 21"/>
          <p:cNvSpPr txBox="1"/>
          <p:nvPr/>
        </p:nvSpPr>
        <p:spPr>
          <a:xfrm>
            <a:off x="4442174" y="4020811"/>
            <a:ext cx="3493509"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3.</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a:t>
            </a:r>
            <a:r>
              <a:rPr kumimoji="1" lang="en-US" altLang="zh-CN" b="1" dirty="0">
                <a:solidFill>
                  <a:prstClr val="black">
                    <a:lumMod val="65000"/>
                    <a:lumOff val="35000"/>
                  </a:prstClr>
                </a:solidFill>
                <a:latin typeface="Alibaba PuHuiTi" pitchFamily="18" charset="-122"/>
                <a:ea typeface="Alibaba PuHuiTi" pitchFamily="18" charset="-122"/>
                <a:cs typeface="Alibaba PuHuiTi" pitchFamily="18" charset="-122"/>
              </a:rPr>
              <a:t>ID3</a:t>
            </a:r>
            <a:r>
              <a:rPr kumimoji="1" lang="zh-CN" altLang="en-US" b="1" dirty="0">
                <a:solidFill>
                  <a:prstClr val="black">
                    <a:lumMod val="65000"/>
                    <a:lumOff val="35000"/>
                  </a:prstClr>
                </a:solidFill>
                <a:latin typeface="Alibaba PuHuiTi" pitchFamily="18" charset="-122"/>
                <a:ea typeface="Alibaba PuHuiTi" pitchFamily="18" charset="-122"/>
                <a:cs typeface="Alibaba PuHuiTi" pitchFamily="18" charset="-122"/>
              </a:rPr>
              <a:t>树的构建流程</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a:t>
            </a:r>
            <a:endParaRPr kumimoji="1" lang="zh-CN" altLang="en-US"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黑体" panose="02010609060101010101" pitchFamily="49" charset="-122"/>
              <a:cs typeface="+mn-cs"/>
            </a:endParaRPr>
          </a:p>
        </p:txBody>
      </p:sp>
      <p:sp>
        <p:nvSpPr>
          <p:cNvPr id="24" name="文本框 23"/>
          <p:cNvSpPr txBox="1"/>
          <p:nvPr/>
        </p:nvSpPr>
        <p:spPr>
          <a:xfrm>
            <a:off x="4733004" y="2484217"/>
            <a:ext cx="6134100" cy="307777"/>
          </a:xfrm>
          <a:prstGeom prst="rect">
            <a:avLst/>
          </a:prstGeom>
          <a:noFill/>
        </p:spPr>
        <p:txBody>
          <a:bodyPr wrap="square">
            <a:spAutoFit/>
          </a:bodyPr>
          <a:lstStyle/>
          <a:p>
            <a:r>
              <a:rPr lang="zh-CN" altLang="en-US" sz="1400" b="0" i="0" u="none" strike="noStrike" dirty="0">
                <a:solidFill>
                  <a:srgbClr val="333333"/>
                </a:solidFill>
                <a:effectLst/>
                <a:latin typeface="Open Sans" panose="020B0606030504020204" pitchFamily="34" charset="0"/>
              </a:rPr>
              <a:t>在信息论中代表随机变量不确定度的度量</a:t>
            </a:r>
            <a:endParaRPr lang="zh-CN" altLang="en-US" sz="1400" dirty="0"/>
          </a:p>
        </p:txBody>
      </p:sp>
      <p:sp>
        <p:nvSpPr>
          <p:cNvPr id="26" name="文本框 25"/>
          <p:cNvSpPr txBox="1"/>
          <p:nvPr/>
        </p:nvSpPr>
        <p:spPr>
          <a:xfrm>
            <a:off x="4619974" y="3463790"/>
            <a:ext cx="6134100" cy="307777"/>
          </a:xfrm>
          <a:prstGeom prst="rect">
            <a:avLst/>
          </a:prstGeom>
          <a:noFill/>
        </p:spPr>
        <p:txBody>
          <a:bodyPr wrap="square">
            <a:spAutoFit/>
          </a:bodyPr>
          <a:lstStyle/>
          <a:p>
            <a:r>
              <a:rPr lang="zh-CN" altLang="en-US" sz="1400" i="0" u="none" strike="noStrike" dirty="0">
                <a:solidFill>
                  <a:srgbClr val="333333"/>
                </a:solidFill>
                <a:effectLst/>
                <a:latin typeface="Open Sans" panose="020B0606030504020204" pitchFamily="34" charset="0"/>
              </a:rPr>
              <a:t>由于特征</a:t>
            </a:r>
            <a:r>
              <a:rPr lang="en-GB" altLang="zh-CN" sz="1400" i="0" u="none" strike="noStrike" dirty="0">
                <a:solidFill>
                  <a:srgbClr val="333333"/>
                </a:solidFill>
                <a:effectLst/>
                <a:latin typeface="Open Sans" panose="020B0606030504020204" pitchFamily="34" charset="0"/>
              </a:rPr>
              <a:t>A</a:t>
            </a:r>
            <a:r>
              <a:rPr lang="zh-CN" altLang="en-US" sz="1400" i="0" u="none" strike="noStrike" dirty="0">
                <a:solidFill>
                  <a:srgbClr val="333333"/>
                </a:solidFill>
                <a:effectLst/>
                <a:latin typeface="Open Sans" panose="020B0606030504020204" pitchFamily="34" charset="0"/>
              </a:rPr>
              <a:t>而使得对数据</a:t>
            </a:r>
            <a:r>
              <a:rPr lang="en-GB" altLang="zh-CN" sz="1400" i="0" u="none" strike="noStrike" dirty="0">
                <a:solidFill>
                  <a:srgbClr val="333333"/>
                </a:solidFill>
                <a:effectLst/>
                <a:latin typeface="Open Sans" panose="020B0606030504020204" pitchFamily="34" charset="0"/>
              </a:rPr>
              <a:t>D</a:t>
            </a:r>
            <a:r>
              <a:rPr lang="zh-CN" altLang="en-US" sz="1400" i="0" u="none" strike="noStrike" dirty="0">
                <a:solidFill>
                  <a:srgbClr val="333333"/>
                </a:solidFill>
                <a:effectLst/>
                <a:latin typeface="Open Sans" panose="020B0606030504020204" pitchFamily="34" charset="0"/>
              </a:rPr>
              <a:t>的分类不确定性减少的程度。</a:t>
            </a:r>
            <a:endParaRPr lang="zh-CN" altLang="en-US" sz="1400" dirty="0"/>
          </a:p>
        </p:txBody>
      </p:sp>
      <p:sp>
        <p:nvSpPr>
          <p:cNvPr id="27" name="文本框 26"/>
          <p:cNvSpPr txBox="1"/>
          <p:nvPr/>
        </p:nvSpPr>
        <p:spPr>
          <a:xfrm>
            <a:off x="4732998" y="4615800"/>
            <a:ext cx="4105611" cy="1348126"/>
          </a:xfrm>
          <a:prstGeom prst="rect">
            <a:avLst/>
          </a:prstGeom>
          <a:noFill/>
        </p:spPr>
        <p:txBody>
          <a:bodyPr wrap="none" rtlCol="0">
            <a:spAutoFit/>
          </a:bodyPr>
          <a:lstStyle/>
          <a:p>
            <a:pPr algn="l">
              <a:lnSpc>
                <a:spcPct val="150000"/>
              </a:lnSpc>
              <a:buFont typeface="+mj-lt"/>
              <a:buAutoNum type="arabicPeriod"/>
            </a:pPr>
            <a:r>
              <a:rPr lang="zh-CN" altLang="en-US" sz="1400" b="0" i="0" u="none" strike="noStrike" dirty="0">
                <a:solidFill>
                  <a:srgbClr val="333333"/>
                </a:solidFill>
                <a:effectLst/>
                <a:latin typeface="Open Sans" panose="020B0606030504020204" pitchFamily="34" charset="0"/>
              </a:rPr>
              <a:t>计算每个特征的信息增益</a:t>
            </a:r>
            <a:endParaRPr lang="zh-CN" altLang="en-US" sz="1400" b="0" i="0" u="none" strike="noStrike" dirty="0">
              <a:solidFill>
                <a:srgbClr val="333333"/>
              </a:solidFill>
              <a:effectLst/>
              <a:latin typeface="Open Sans" panose="020B0606030504020204" pitchFamily="34" charset="0"/>
            </a:endParaRPr>
          </a:p>
          <a:p>
            <a:pPr algn="l">
              <a:lnSpc>
                <a:spcPct val="150000"/>
              </a:lnSpc>
              <a:buFont typeface="+mj-lt"/>
              <a:buAutoNum type="arabicPeriod"/>
            </a:pPr>
            <a:r>
              <a:rPr lang="zh-CN" altLang="en-US" sz="1400" b="0" i="0" u="none" strike="noStrike" dirty="0">
                <a:solidFill>
                  <a:srgbClr val="333333"/>
                </a:solidFill>
                <a:effectLst/>
                <a:latin typeface="Open Sans" panose="020B0606030504020204" pitchFamily="34" charset="0"/>
              </a:rPr>
              <a:t>使用信息增益最大的特征将数据集</a:t>
            </a:r>
            <a:r>
              <a:rPr lang="en-GB" altLang="zh-CN" sz="1400" b="0" i="0" u="none" strike="noStrike" dirty="0">
                <a:solidFill>
                  <a:srgbClr val="333333"/>
                </a:solidFill>
                <a:effectLst/>
                <a:latin typeface="Open Sans" panose="020B0606030504020204" pitchFamily="34" charset="0"/>
              </a:rPr>
              <a:t> </a:t>
            </a:r>
            <a:r>
              <a:rPr lang="zh-CN" altLang="en-US" sz="1400" b="0" i="0" u="none" strike="noStrike" dirty="0">
                <a:solidFill>
                  <a:srgbClr val="333333"/>
                </a:solidFill>
                <a:effectLst/>
                <a:latin typeface="Open Sans" panose="020B0606030504020204" pitchFamily="34" charset="0"/>
              </a:rPr>
              <a:t>拆分为子集</a:t>
            </a:r>
            <a:endParaRPr lang="zh-CN" altLang="en-US" sz="1400" b="0" i="0" u="none" strike="noStrike" dirty="0">
              <a:solidFill>
                <a:srgbClr val="333333"/>
              </a:solidFill>
              <a:effectLst/>
              <a:latin typeface="Open Sans" panose="020B0606030504020204" pitchFamily="34" charset="0"/>
            </a:endParaRPr>
          </a:p>
          <a:p>
            <a:pPr algn="l">
              <a:lnSpc>
                <a:spcPct val="150000"/>
              </a:lnSpc>
              <a:buFont typeface="+mj-lt"/>
              <a:buAutoNum type="arabicPeriod"/>
            </a:pPr>
            <a:r>
              <a:rPr lang="zh-CN" altLang="en-US" sz="1400" b="0" i="0" u="none" strike="noStrike" dirty="0">
                <a:solidFill>
                  <a:srgbClr val="333333"/>
                </a:solidFill>
                <a:effectLst/>
                <a:latin typeface="Open Sans" panose="020B0606030504020204" pitchFamily="34" charset="0"/>
              </a:rPr>
              <a:t>使用信息增益最大的特征作为决策树的一个节点</a:t>
            </a:r>
            <a:endParaRPr lang="zh-CN" altLang="en-US" sz="1400" b="0" i="0" u="none" strike="noStrike" dirty="0">
              <a:solidFill>
                <a:srgbClr val="333333"/>
              </a:solidFill>
              <a:effectLst/>
              <a:latin typeface="Open Sans" panose="020B0606030504020204" pitchFamily="34" charset="0"/>
            </a:endParaRPr>
          </a:p>
          <a:p>
            <a:pPr algn="l">
              <a:lnSpc>
                <a:spcPct val="150000"/>
              </a:lnSpc>
              <a:buFont typeface="+mj-lt"/>
              <a:buAutoNum type="arabicPeriod"/>
            </a:pPr>
            <a:r>
              <a:rPr lang="zh-CN" altLang="en-US" sz="1400" b="0" i="0" u="none" strike="noStrike" dirty="0">
                <a:solidFill>
                  <a:srgbClr val="333333"/>
                </a:solidFill>
                <a:effectLst/>
                <a:latin typeface="Open Sans" panose="020B0606030504020204" pitchFamily="34" charset="0"/>
              </a:rPr>
              <a:t>重复上述步骤</a:t>
            </a:r>
            <a:endParaRPr kumimoji="1" lang="zh-CN" altLang="en-US" sz="1050" dirty="0">
              <a:solidFill>
                <a:schemeClr val="tx1">
                  <a:lumMod val="65000"/>
                  <a:lumOff val="35000"/>
                </a:schemeClr>
              </a:solidFill>
              <a:latin typeface="+mn-lt"/>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6" grpId="0"/>
      <p:bldP spid="2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01 (82)"/>
          <p:cNvPicPr>
            <a:picLocks noChangeAspect="1"/>
          </p:cNvPicPr>
          <p:nvPr/>
        </p:nvPicPr>
        <p:blipFill>
          <a:blip r:embed="rId1"/>
          <a:stretch>
            <a:fillRect/>
          </a:stretch>
        </p:blipFill>
        <p:spPr>
          <a:xfrm>
            <a:off x="10505900" y="5174812"/>
            <a:ext cx="1481455" cy="1481455"/>
          </a:xfrm>
          <a:prstGeom prst="rect">
            <a:avLst/>
          </a:prstGeom>
        </p:spPr>
      </p:pic>
      <p:sp>
        <p:nvSpPr>
          <p:cNvPr id="6" name="文本框 5"/>
          <p:cNvSpPr txBox="1"/>
          <p:nvPr/>
        </p:nvSpPr>
        <p:spPr>
          <a:xfrm>
            <a:off x="2270142" y="1444844"/>
            <a:ext cx="3522118" cy="307777"/>
          </a:xfrm>
          <a:prstGeom prst="rect">
            <a:avLst/>
          </a:prstGeom>
          <a:noFill/>
        </p:spPr>
        <p:txBody>
          <a:bodyPr wrap="none" rtlCol="0">
            <a:spAutoFit/>
          </a:bodyPr>
          <a:lstStyle/>
          <a:p>
            <a:pPr fontAlgn="auto">
              <a:spcBef>
                <a:spcPts val="0"/>
              </a:spcBef>
              <a:spcAft>
                <a:spcPts val="0"/>
              </a:spcAft>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1</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、下列关于决策树的概念描述错误的是？</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7" name="矩形 6"/>
          <p:cNvSpPr/>
          <p:nvPr/>
        </p:nvSpPr>
        <p:spPr>
          <a:xfrm>
            <a:off x="2902043" y="1752621"/>
            <a:ext cx="4202369" cy="1354794"/>
          </a:xfrm>
          <a:prstGeom prst="rect">
            <a:avLst/>
          </a:prstGeom>
        </p:spPr>
        <p:txBody>
          <a:bodyPr wrap="square">
            <a:spAutoFit/>
          </a:bodyPr>
          <a:lstStyle/>
          <a:p>
            <a:pPr>
              <a:lnSpc>
                <a:spcPct val="150000"/>
              </a:lnSpc>
            </a:pPr>
            <a:r>
              <a:rPr lang="en-US" altLang="zh-CN" sz="1400" b="1" dirty="0">
                <a:solidFill>
                  <a:schemeClr val="tx1">
                    <a:lumMod val="85000"/>
                    <a:lumOff val="15000"/>
                  </a:schemeClr>
                </a:solidFill>
                <a:latin typeface="Alibaba PuHuiTi" pitchFamily="18" charset="-122"/>
                <a:ea typeface="Alibaba PuHuiTi" pitchFamily="18" charset="-122"/>
                <a:cs typeface="Alibaba PuHuiTi" pitchFamily="18" charset="-122"/>
              </a:rPr>
              <a:t>A</a:t>
            </a:r>
            <a:r>
              <a:rPr lang="zh-CN" altLang="en-US" sz="1400" b="1"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决策树算法需要构建树结构</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50000"/>
              </a:lnSpc>
            </a:pPr>
            <a:r>
              <a:rPr lang="en-US" altLang="zh-CN" sz="1400" b="1" dirty="0">
                <a:solidFill>
                  <a:schemeClr val="tx1">
                    <a:lumMod val="85000"/>
                    <a:lumOff val="15000"/>
                  </a:schemeClr>
                </a:solidFill>
                <a:latin typeface="Alibaba PuHuiTi" pitchFamily="18" charset="-122"/>
                <a:ea typeface="Alibaba PuHuiTi" pitchFamily="18" charset="-122"/>
                <a:cs typeface="Alibaba PuHuiTi" pitchFamily="18" charset="-122"/>
              </a:rPr>
              <a:t>B</a:t>
            </a:r>
            <a:r>
              <a:rPr lang="zh-CN" altLang="en-US" sz="1400" b="1"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决策树上的每一个节点代表一个判断条件</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50000"/>
              </a:lnSpc>
            </a:pPr>
            <a:r>
              <a:rPr lang="en-US" altLang="zh-CN" sz="1400" b="1" dirty="0">
                <a:solidFill>
                  <a:schemeClr val="tx1">
                    <a:lumMod val="85000"/>
                    <a:lumOff val="15000"/>
                  </a:schemeClr>
                </a:solidFill>
                <a:latin typeface="Alibaba PuHuiTi" pitchFamily="18" charset="-122"/>
                <a:ea typeface="Alibaba PuHuiTi" pitchFamily="18" charset="-122"/>
                <a:cs typeface="Alibaba PuHuiTi" pitchFamily="18" charset="-122"/>
              </a:rPr>
              <a:t>C</a:t>
            </a:r>
            <a:r>
              <a:rPr lang="zh-CN" altLang="en-US" sz="1400" b="1"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决策树上的每一个叶节点代表一种分类结果</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50000"/>
              </a:lnSpc>
            </a:pPr>
            <a:r>
              <a:rPr lang="en-US" altLang="zh-CN" sz="1400" b="1" dirty="0">
                <a:solidFill>
                  <a:schemeClr val="tx1">
                    <a:lumMod val="85000"/>
                    <a:lumOff val="15000"/>
                  </a:schemeClr>
                </a:solidFill>
                <a:latin typeface="Alibaba PuHuiTi" pitchFamily="18" charset="-122"/>
                <a:ea typeface="Alibaba PuHuiTi" pitchFamily="18" charset="-122"/>
                <a:cs typeface="Alibaba PuHuiTi" pitchFamily="18" charset="-122"/>
              </a:rPr>
              <a:t>D</a:t>
            </a:r>
            <a:r>
              <a:rPr lang="zh-CN" altLang="en-US" sz="1400" b="1"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通过决策树不能明确特征的重要性程度</a:t>
            </a: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8" name="文本框 7"/>
          <p:cNvSpPr txBox="1"/>
          <p:nvPr/>
        </p:nvSpPr>
        <p:spPr>
          <a:xfrm>
            <a:off x="8344026" y="2095061"/>
            <a:ext cx="3262432" cy="336695"/>
          </a:xfrm>
          <a:prstGeom prst="rect">
            <a:avLst/>
          </a:prstGeom>
          <a:noFill/>
        </p:spPr>
        <p:txBody>
          <a:bodyPr wrap="none" rtlCol="0">
            <a:spAutoFit/>
          </a:bodyPr>
          <a:lstStyle/>
          <a:p>
            <a:pPr fontAlgn="auto">
              <a:lnSpc>
                <a:spcPct val="150000"/>
              </a:lnSpc>
              <a:spcBef>
                <a:spcPts val="0"/>
              </a:spcBef>
              <a:spcAft>
                <a:spcPts val="0"/>
              </a:spcAft>
            </a:pPr>
            <a:r>
              <a:rPr lang="zh-CN" altLang="en-US" sz="1200" dirty="0">
                <a:solidFill>
                  <a:schemeClr val="accent2">
                    <a:lumMod val="75000"/>
                  </a:schemeClr>
                </a:solidFill>
                <a:latin typeface="微软雅黑" panose="020B0503020204020204" pitchFamily="34" charset="-122"/>
                <a:ea typeface="微软雅黑" panose="020B0503020204020204" pitchFamily="34" charset="-122"/>
              </a:rPr>
              <a:t>答案解析：决策树要根据特征重要性进行分裂</a:t>
            </a:r>
            <a:endParaRPr lang="zh-CN" altLang="en-US" sz="120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8352800" y="2556458"/>
            <a:ext cx="922047" cy="276999"/>
          </a:xfrm>
          <a:prstGeom prst="rect">
            <a:avLst/>
          </a:prstGeom>
          <a:noFill/>
        </p:spPr>
        <p:txBody>
          <a:bodyPr wrap="none" rtlCol="0">
            <a:spAutoFit/>
          </a:bodyPr>
          <a:lstStyle/>
          <a:p>
            <a:pPr fontAlgn="auto">
              <a:spcBef>
                <a:spcPts val="0"/>
              </a:spcBef>
              <a:spcAft>
                <a:spcPts val="0"/>
              </a:spcAft>
            </a:pPr>
            <a:r>
              <a:rPr lang="zh-CN" altLang="en-US" sz="1200" dirty="0">
                <a:solidFill>
                  <a:schemeClr val="accent2">
                    <a:lumMod val="75000"/>
                  </a:schemeClr>
                </a:solidFill>
                <a:latin typeface="微软雅黑" panose="020B0503020204020204" pitchFamily="34" charset="-122"/>
                <a:ea typeface="微软雅黑" panose="020B0503020204020204" pitchFamily="34" charset="-122"/>
              </a:rPr>
              <a:t>答案：</a:t>
            </a:r>
            <a:r>
              <a:rPr lang="en-US" altLang="zh-CN" sz="1200" dirty="0">
                <a:solidFill>
                  <a:schemeClr val="accent2">
                    <a:lumMod val="75000"/>
                  </a:schemeClr>
                </a:solidFill>
                <a:latin typeface="微软雅黑" panose="020B0503020204020204" pitchFamily="34" charset="-122"/>
                <a:ea typeface="微软雅黑" panose="020B0503020204020204" pitchFamily="34" charset="-122"/>
              </a:rPr>
              <a:t>D</a:t>
            </a:r>
            <a:r>
              <a:rPr lang="zh-CN" altLang="en-US" sz="1200" dirty="0">
                <a:solidFill>
                  <a:schemeClr val="accent2">
                    <a:lumMod val="75000"/>
                  </a:schemeClr>
                </a:solidFill>
                <a:latin typeface="微软雅黑" panose="020B0503020204020204" pitchFamily="34" charset="-122"/>
                <a:ea typeface="微软雅黑" panose="020B0503020204020204" pitchFamily="34" charset="-122"/>
              </a:rPr>
              <a:t>。</a:t>
            </a:r>
            <a:endParaRPr lang="zh-CN" altLang="en-US" sz="120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2270142" y="3759200"/>
            <a:ext cx="3888432" cy="307777"/>
          </a:xfrm>
          <a:prstGeom prst="rect">
            <a:avLst/>
          </a:prstGeom>
          <a:noFill/>
        </p:spPr>
        <p:txBody>
          <a:bodyPr wrap="square" rtlCol="0">
            <a:spAutoFit/>
          </a:bodyPr>
          <a:lstStyle/>
          <a:p>
            <a:pPr fontAlgn="auto">
              <a:spcBef>
                <a:spcPts val="0"/>
              </a:spcBef>
              <a:spcAft>
                <a:spcPts val="0"/>
              </a:spcAft>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2</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、下列关于熵和信息熵的描述错误的是？</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11" name="矩形 10"/>
          <p:cNvSpPr/>
          <p:nvPr/>
        </p:nvSpPr>
        <p:spPr>
          <a:xfrm>
            <a:off x="2819400" y="4175125"/>
            <a:ext cx="5647055" cy="1060450"/>
          </a:xfrm>
          <a:prstGeom prst="rect">
            <a:avLst/>
          </a:prstGeom>
        </p:spPr>
        <p:txBody>
          <a:bodyPr wrap="square">
            <a:spAutoFit/>
          </a:bodyPr>
          <a:lstStyle/>
          <a:p>
            <a:pPr>
              <a:lnSpc>
                <a:spcPct val="150000"/>
              </a:lnSpc>
            </a:pPr>
            <a:r>
              <a:rPr lang="en-US" altLang="zh-CN" sz="1400" b="1" dirty="0">
                <a:solidFill>
                  <a:schemeClr val="tx1">
                    <a:lumMod val="85000"/>
                    <a:lumOff val="15000"/>
                  </a:schemeClr>
                </a:solidFill>
                <a:latin typeface="Alibaba PuHuiTi" pitchFamily="18" charset="-122"/>
                <a:ea typeface="Alibaba PuHuiTi" pitchFamily="18" charset="-122"/>
                <a:cs typeface="Alibaba PuHuiTi" pitchFamily="18" charset="-122"/>
              </a:rPr>
              <a:t>A</a:t>
            </a:r>
            <a:r>
              <a:rPr lang="zh-CN" altLang="en-US" sz="1400" b="1"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熵越大，系统的混乱程度越小</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50000"/>
              </a:lnSpc>
            </a:pPr>
            <a:r>
              <a:rPr lang="en-US" altLang="zh-CN" sz="1400" b="1" dirty="0">
                <a:solidFill>
                  <a:schemeClr val="tx1">
                    <a:lumMod val="85000"/>
                    <a:lumOff val="15000"/>
                  </a:schemeClr>
                </a:solidFill>
                <a:latin typeface="Alibaba PuHuiTi" pitchFamily="18" charset="-122"/>
                <a:ea typeface="Alibaba PuHuiTi" pitchFamily="18" charset="-122"/>
                <a:cs typeface="Alibaba PuHuiTi" pitchFamily="18" charset="-122"/>
              </a:rPr>
              <a:t>B</a:t>
            </a:r>
            <a:r>
              <a:rPr lang="zh-CN" altLang="en-US" sz="1400" b="1"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信息熵是用来描述信息的完整性和有序性的</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50000"/>
              </a:lnSpc>
            </a:pPr>
            <a:r>
              <a:rPr lang="en-US" altLang="zh-CN" sz="1400" b="1" dirty="0">
                <a:solidFill>
                  <a:schemeClr val="tx1">
                    <a:lumMod val="85000"/>
                    <a:lumOff val="15000"/>
                  </a:schemeClr>
                </a:solidFill>
                <a:latin typeface="Alibaba PuHuiTi" pitchFamily="18" charset="-122"/>
                <a:ea typeface="Alibaba PuHuiTi" pitchFamily="18" charset="-122"/>
                <a:cs typeface="Alibaba PuHuiTi" pitchFamily="18" charset="-122"/>
              </a:rPr>
              <a:t>C</a:t>
            </a:r>
            <a:r>
              <a:rPr lang="zh-CN" altLang="en-US" sz="1400" b="1"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信息的有序状态越一致、数据越集中，信息熵越小，反之越大</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12" name="文本框 11"/>
          <p:cNvSpPr txBox="1"/>
          <p:nvPr/>
        </p:nvSpPr>
        <p:spPr>
          <a:xfrm>
            <a:off x="8352800" y="4684943"/>
            <a:ext cx="3040414" cy="708399"/>
          </a:xfrm>
          <a:prstGeom prst="rect">
            <a:avLst/>
          </a:prstGeom>
          <a:noFill/>
        </p:spPr>
        <p:txBody>
          <a:bodyPr wrap="square" rtlCol="0">
            <a:spAutoFit/>
          </a:bodyPr>
          <a:lstStyle/>
          <a:p>
            <a:pPr fontAlgn="auto">
              <a:lnSpc>
                <a:spcPct val="150000"/>
              </a:lnSpc>
              <a:spcBef>
                <a:spcPts val="0"/>
              </a:spcBef>
              <a:spcAft>
                <a:spcPts val="0"/>
              </a:spcAft>
            </a:pP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答案解析：信息越混乱熵越大</a:t>
            </a:r>
            <a:endParaRPr lang="en-US" altLang="zh-CN" sz="1400" dirty="0">
              <a:solidFill>
                <a:schemeClr val="accent2">
                  <a:lumMod val="75000"/>
                </a:schemeClr>
              </a:solidFill>
              <a:latin typeface="Alibaba PuHuiTi" pitchFamily="18" charset="-122"/>
              <a:ea typeface="Alibaba PuHuiTi" pitchFamily="18" charset="-122"/>
              <a:cs typeface="Alibaba PuHuiTi" pitchFamily="18" charset="-122"/>
            </a:endParaRPr>
          </a:p>
          <a:p>
            <a:pPr fontAlgn="auto">
              <a:lnSpc>
                <a:spcPct val="150000"/>
              </a:lnSpc>
              <a:spcBef>
                <a:spcPts val="0"/>
              </a:spcBef>
              <a:spcAft>
                <a:spcPts val="0"/>
              </a:spcAft>
            </a:pP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答案：</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A</a:t>
            </a:r>
            <a:endParaRPr lang="zh-CN" altLang="en-US" sz="1400" dirty="0">
              <a:solidFill>
                <a:schemeClr val="accent2">
                  <a:lumMod val="75000"/>
                </a:schemeClr>
              </a:solidFill>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randombar(horizontal)">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01 (82)"/>
          <p:cNvPicPr>
            <a:picLocks noChangeAspect="1"/>
          </p:cNvPicPr>
          <p:nvPr/>
        </p:nvPicPr>
        <p:blipFill>
          <a:blip r:embed="rId1"/>
          <a:stretch>
            <a:fillRect/>
          </a:stretch>
        </p:blipFill>
        <p:spPr>
          <a:xfrm>
            <a:off x="10505900" y="5174812"/>
            <a:ext cx="1481455" cy="1481455"/>
          </a:xfrm>
          <a:prstGeom prst="rect">
            <a:avLst/>
          </a:prstGeom>
        </p:spPr>
      </p:pic>
      <p:sp>
        <p:nvSpPr>
          <p:cNvPr id="9" name="文本框 8"/>
          <p:cNvSpPr txBox="1"/>
          <p:nvPr/>
        </p:nvSpPr>
        <p:spPr>
          <a:xfrm>
            <a:off x="2999297" y="4897736"/>
            <a:ext cx="429768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C0504D">
                    <a:lumMod val="75000"/>
                  </a:srgbClr>
                </a:solidFill>
                <a:effectLst/>
                <a:uLnTx/>
                <a:uFillTx/>
                <a:latin typeface="微软雅黑" panose="020B0503020204020204" pitchFamily="34" charset="-122"/>
                <a:ea typeface="微软雅黑" panose="020B0503020204020204" pitchFamily="34" charset="-122"/>
                <a:cs typeface="+mn-cs"/>
              </a:rPr>
              <a:t>答案：</a:t>
            </a:r>
            <a:r>
              <a:rPr kumimoji="0" lang="en-US" altLang="zh-CN" sz="1200" b="0" i="0" u="none" strike="noStrike" kern="1200" cap="none" spc="0" normalizeH="0" baseline="0" noProof="0" dirty="0">
                <a:ln>
                  <a:noFill/>
                </a:ln>
                <a:solidFill>
                  <a:srgbClr val="C0504D">
                    <a:lumMod val="75000"/>
                  </a:srgbClr>
                </a:solidFill>
                <a:effectLst/>
                <a:uLnTx/>
                <a:uFillTx/>
                <a:latin typeface="微软雅黑" panose="020B0503020204020204" pitchFamily="34" charset="-122"/>
                <a:ea typeface="微软雅黑" panose="020B0503020204020204" pitchFamily="34" charset="-122"/>
                <a:cs typeface="+mn-cs"/>
              </a:rPr>
              <a:t>ABD</a:t>
            </a:r>
            <a:r>
              <a:rPr kumimoji="0" lang="zh-CN" altLang="en-US" sz="1200" b="0" i="0" u="none" strike="noStrike" kern="1200" cap="none" spc="0" normalizeH="0" baseline="0" noProof="0" dirty="0">
                <a:ln>
                  <a:noFill/>
                </a:ln>
                <a:solidFill>
                  <a:srgbClr val="C0504D">
                    <a:lumMod val="75000"/>
                  </a:srgbClr>
                </a:solidFill>
                <a:effectLst/>
                <a:uLnTx/>
                <a:uFillTx/>
                <a:latin typeface="微软雅黑" panose="020B0503020204020204" pitchFamily="34" charset="-122"/>
                <a:ea typeface="微软雅黑" panose="020B0503020204020204" pitchFamily="34" charset="-122"/>
                <a:cs typeface="+mn-cs"/>
              </a:rPr>
              <a:t>。</a:t>
            </a:r>
            <a:endParaRPr kumimoji="0" lang="zh-CN" altLang="en-US" sz="1200" b="0" i="0" u="none" strike="noStrike" kern="1200" cap="none" spc="0" normalizeH="0" baseline="0" noProof="0" dirty="0">
              <a:ln>
                <a:noFill/>
              </a:ln>
              <a:solidFill>
                <a:srgbClr val="C0504D">
                  <a:lumMod val="75000"/>
                </a:srgb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C0504D">
                    <a:lumMod val="75000"/>
                  </a:srgbClr>
                </a:solidFill>
                <a:effectLst/>
                <a:uLnTx/>
                <a:uFillTx/>
                <a:latin typeface="微软雅黑" panose="020B0503020204020204" pitchFamily="34" charset="-122"/>
                <a:ea typeface="微软雅黑" panose="020B0503020204020204" pitchFamily="34" charset="-122"/>
                <a:cs typeface="+mn-cs"/>
              </a:rPr>
              <a:t>消除的不确定性越大，信息增益越大，表示这个特征越重要。</a:t>
            </a:r>
            <a:endParaRPr kumimoji="0" lang="zh-CN" altLang="en-US" sz="1200" b="0" i="0" u="none" strike="noStrike" kern="1200" cap="none" spc="0" normalizeH="0" baseline="0" noProof="0" dirty="0">
              <a:ln>
                <a:noFill/>
              </a:ln>
              <a:solidFill>
                <a:srgbClr val="C0504D">
                  <a:lumMod val="75000"/>
                </a:srgbClr>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nvSpPr>
        <p:spPr>
          <a:xfrm>
            <a:off x="2160112" y="2218872"/>
            <a:ext cx="4060727" cy="307777"/>
          </a:xfrm>
          <a:prstGeom prst="rect">
            <a:avLst/>
          </a:prstGeom>
          <a:noFill/>
        </p:spPr>
        <p:txBody>
          <a:bodyPr wrap="none" rtlCol="0">
            <a:spAutoFit/>
          </a:bodyPr>
          <a:lstStyle/>
          <a:p>
            <a:pPr fontAlgn="auto">
              <a:spcBef>
                <a:spcPts val="0"/>
              </a:spcBef>
              <a:spcAft>
                <a:spcPts val="0"/>
              </a:spcAft>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3</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、下列关于信息增益的描述正确的是？（</a:t>
            </a:r>
            <a:r>
              <a:rPr lang="zh-CN" altLang="en-US" sz="1400" b="1" dirty="0">
                <a:solidFill>
                  <a:schemeClr val="tx1">
                    <a:lumMod val="85000"/>
                    <a:lumOff val="15000"/>
                  </a:schemeClr>
                </a:solidFill>
                <a:latin typeface="微软雅黑" panose="020B0503020204020204" pitchFamily="34" charset="-122"/>
                <a:ea typeface="微软雅黑" panose="020B0503020204020204" pitchFamily="34" charset="-122"/>
              </a:rPr>
              <a:t>多选</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a:t>
            </a: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3" name="矩形 2"/>
          <p:cNvSpPr/>
          <p:nvPr/>
        </p:nvSpPr>
        <p:spPr>
          <a:xfrm>
            <a:off x="2784088" y="2622023"/>
            <a:ext cx="6433484" cy="1354730"/>
          </a:xfrm>
          <a:prstGeom prst="rect">
            <a:avLst/>
          </a:prstGeom>
        </p:spPr>
        <p:txBody>
          <a:bodyPr wrap="square">
            <a:spAutoFit/>
          </a:bodyPr>
          <a:lstStyle/>
          <a:p>
            <a:pPr>
              <a:lnSpc>
                <a:spcPct val="150000"/>
              </a:lnSpc>
            </a:pPr>
            <a:r>
              <a:rPr lang="en-US" altLang="zh-CN" sz="1400" b="1" dirty="0">
                <a:solidFill>
                  <a:schemeClr val="tx1">
                    <a:lumMod val="85000"/>
                    <a:lumOff val="15000"/>
                  </a:schemeClr>
                </a:solidFill>
                <a:latin typeface="Alibaba PuHuiTi" pitchFamily="18" charset="-122"/>
                <a:ea typeface="Alibaba PuHuiTi" pitchFamily="18" charset="-122"/>
                <a:cs typeface="Alibaba PuHuiTi" pitchFamily="18" charset="-122"/>
              </a:rPr>
              <a:t>A</a:t>
            </a:r>
            <a:r>
              <a:rPr lang="zh-CN" altLang="en-US" sz="1400" b="1"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表达的是在用某个特征对数据集进行分裂</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50000"/>
              </a:lnSpc>
            </a:pPr>
            <a:r>
              <a:rPr lang="en-US" altLang="zh-CN" sz="1400" b="1" dirty="0">
                <a:solidFill>
                  <a:schemeClr val="tx1">
                    <a:lumMod val="85000"/>
                    <a:lumOff val="15000"/>
                  </a:schemeClr>
                </a:solidFill>
                <a:latin typeface="Alibaba PuHuiTi" pitchFamily="18" charset="-122"/>
                <a:ea typeface="Alibaba PuHuiTi" pitchFamily="18" charset="-122"/>
                <a:cs typeface="Alibaba PuHuiTi" pitchFamily="18" charset="-122"/>
              </a:rPr>
              <a:t>B</a:t>
            </a:r>
            <a:r>
              <a:rPr lang="zh-CN" altLang="en-US" sz="1400" b="1"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是</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ID3</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算法中的核心</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50000"/>
              </a:lnSpc>
            </a:pPr>
            <a:r>
              <a:rPr lang="en-US" altLang="zh-CN" sz="1400" b="1" dirty="0">
                <a:solidFill>
                  <a:schemeClr val="tx1">
                    <a:lumMod val="85000"/>
                    <a:lumOff val="15000"/>
                  </a:schemeClr>
                </a:solidFill>
                <a:latin typeface="Alibaba PuHuiTi" pitchFamily="18" charset="-122"/>
                <a:ea typeface="Alibaba PuHuiTi" pitchFamily="18" charset="-122"/>
                <a:cs typeface="Alibaba PuHuiTi" pitchFamily="18" charset="-122"/>
              </a:rPr>
              <a:t>C</a:t>
            </a:r>
            <a:r>
              <a:rPr lang="zh-CN" altLang="en-US" sz="1400" b="1"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消除的不确定性越大，信息增益越小，表示这个特征越不重要</a:t>
            </a:r>
            <a:endParaRPr lang="en-US" altLang="zh-CN" sz="12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50000"/>
              </a:lnSpc>
            </a:pPr>
            <a:r>
              <a:rPr lang="en-US" altLang="zh-CN" sz="1400" b="1" dirty="0">
                <a:solidFill>
                  <a:schemeClr val="tx1">
                    <a:lumMod val="85000"/>
                    <a:lumOff val="15000"/>
                  </a:schemeClr>
                </a:solidFill>
                <a:latin typeface="Alibaba PuHuiTi" pitchFamily="18" charset="-122"/>
                <a:ea typeface="Alibaba PuHuiTi" pitchFamily="18" charset="-122"/>
                <a:cs typeface="Alibaba PuHuiTi" pitchFamily="18" charset="-122"/>
              </a:rPr>
              <a:t>D</a:t>
            </a:r>
            <a:r>
              <a:rPr lang="zh-CN" altLang="en-US" sz="1400" b="1"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对类别数较多的特征比较青睐</a:t>
            </a: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564349" y="937199"/>
            <a:ext cx="6498629" cy="4983602"/>
          </a:xfrm>
        </p:spPr>
        <p:txBody>
          <a:bodyPr anchor="t"/>
          <a:lstStyle/>
          <a:p>
            <a:r>
              <a:rPr lang="zh-CN" altLang="en-US" sz="1600" dirty="0">
                <a:solidFill>
                  <a:schemeClr val="tx1"/>
                </a:solidFill>
                <a:latin typeface="Alibaba PuHuiTi" pitchFamily="18" charset="-122"/>
                <a:ea typeface="Alibaba PuHuiTi" pitchFamily="18" charset="-122"/>
                <a:cs typeface="Alibaba PuHuiTi" pitchFamily="18" charset="-122"/>
              </a:rPr>
              <a:t>决策树简介</a:t>
            </a:r>
            <a:endParaRPr lang="en-US" altLang="zh-CN" sz="1400" b="0" dirty="0">
              <a:solidFill>
                <a:schemeClr val="tx1"/>
              </a:solidFill>
              <a:latin typeface="Alibaba PuHuiTi" pitchFamily="18" charset="-122"/>
              <a:ea typeface="Alibaba PuHuiTi" pitchFamily="18" charset="-122"/>
              <a:cs typeface="Alibaba PuHuiTi" pitchFamily="18" charset="-122"/>
            </a:endParaRPr>
          </a:p>
          <a:p>
            <a:r>
              <a:rPr lang="en-US" altLang="zh-CN" sz="1600" dirty="0">
                <a:solidFill>
                  <a:schemeClr val="tx1"/>
                </a:solidFill>
                <a:latin typeface="Alibaba PuHuiTi" pitchFamily="18" charset="-122"/>
                <a:ea typeface="Alibaba PuHuiTi" pitchFamily="18" charset="-122"/>
                <a:cs typeface="Alibaba PuHuiTi" pitchFamily="18" charset="-122"/>
              </a:rPr>
              <a:t>ID3</a:t>
            </a:r>
            <a:r>
              <a:rPr lang="zh-CN" altLang="en-US" sz="1600" dirty="0">
                <a:solidFill>
                  <a:schemeClr val="tx1"/>
                </a:solidFill>
                <a:latin typeface="Alibaba PuHuiTi" pitchFamily="18" charset="-122"/>
                <a:ea typeface="Alibaba PuHuiTi" pitchFamily="18" charset="-122"/>
                <a:cs typeface="Alibaba PuHuiTi" pitchFamily="18" charset="-122"/>
              </a:rPr>
              <a:t>决策树 </a:t>
            </a:r>
            <a:endParaRPr lang="en-US" altLang="zh-CN" sz="1600" dirty="0">
              <a:solidFill>
                <a:schemeClr val="tx1"/>
              </a:solidFill>
              <a:latin typeface="Alibaba PuHuiTi" pitchFamily="18" charset="-122"/>
              <a:ea typeface="Alibaba PuHuiTi" pitchFamily="18" charset="-122"/>
              <a:cs typeface="Alibaba PuHuiTi" pitchFamily="18" charset="-122"/>
            </a:endParaRPr>
          </a:p>
          <a:p>
            <a:r>
              <a:rPr kumimoji="1" lang="en-US" altLang="zh-CN" sz="1600" dirty="0">
                <a:solidFill>
                  <a:srgbClr val="C00000"/>
                </a:solidFill>
                <a:latin typeface="Alibaba PuHuiTi" pitchFamily="18" charset="-122"/>
                <a:ea typeface="Alibaba PuHuiTi" pitchFamily="18" charset="-122"/>
                <a:cs typeface="Alibaba PuHuiTi" pitchFamily="18" charset="-122"/>
              </a:rPr>
              <a:t>C4.5</a:t>
            </a:r>
            <a:r>
              <a:rPr kumimoji="1" lang="zh-CN" altLang="en-US" sz="1600" dirty="0">
                <a:solidFill>
                  <a:srgbClr val="C00000"/>
                </a:solidFill>
                <a:latin typeface="Alibaba PuHuiTi" pitchFamily="18" charset="-122"/>
                <a:ea typeface="Alibaba PuHuiTi" pitchFamily="18" charset="-122"/>
                <a:cs typeface="Alibaba PuHuiTi" pitchFamily="18" charset="-122"/>
              </a:rPr>
              <a:t>决策树</a:t>
            </a:r>
            <a:endParaRPr kumimoji="1" lang="zh-CN" altLang="en-US" sz="1400" b="0" dirty="0">
              <a:solidFill>
                <a:srgbClr val="C00000"/>
              </a:solidFill>
              <a:latin typeface="Alibaba PuHuiTi" pitchFamily="18" charset="-122"/>
              <a:ea typeface="Alibaba PuHuiTi" pitchFamily="18" charset="-122"/>
              <a:cs typeface="Alibaba PuHuiTi" pitchFamily="18" charset="-122"/>
            </a:endParaRPr>
          </a:p>
          <a:p>
            <a:r>
              <a:rPr kumimoji="1" lang="en-US" altLang="zh-CN" sz="1600" dirty="0">
                <a:solidFill>
                  <a:schemeClr val="tx1">
                    <a:lumMod val="85000"/>
                    <a:lumOff val="15000"/>
                  </a:schemeClr>
                </a:solidFill>
                <a:latin typeface="Alibaba PuHuiTi" pitchFamily="18" charset="-122"/>
                <a:ea typeface="Alibaba PuHuiTi" pitchFamily="18" charset="-122"/>
                <a:cs typeface="Alibaba PuHuiTi" pitchFamily="18" charset="-122"/>
              </a:rPr>
              <a:t>CART</a:t>
            </a:r>
            <a:r>
              <a:rPr kumimoji="1"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决策树</a:t>
            </a:r>
            <a:endParaRPr kumimoji="1" lang="en-US" altLang="zh-CN" sz="160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案例泰坦尼克号生存预测</a:t>
            </a:r>
            <a:r>
              <a:rPr kumimoji="1" lang="zh-CN" altLang="en-US" sz="1200" b="0" dirty="0">
                <a:solidFill>
                  <a:schemeClr val="tx1">
                    <a:lumMod val="85000"/>
                    <a:lumOff val="15000"/>
                  </a:schemeClr>
                </a:solidFill>
                <a:latin typeface="Alibaba PuHuiTi" pitchFamily="18" charset="-122"/>
                <a:ea typeface="Alibaba PuHuiTi" pitchFamily="18" charset="-122"/>
                <a:cs typeface="Alibaba PuHuiTi" pitchFamily="18" charset="-122"/>
              </a:rPr>
              <a:t> </a:t>
            </a:r>
            <a:endParaRPr kumimoji="1" lang="en-US" altLang="zh-CN" sz="1400" b="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en-US" altLang="zh-CN" sz="1600" dirty="0">
                <a:solidFill>
                  <a:schemeClr val="tx1">
                    <a:lumMod val="85000"/>
                    <a:lumOff val="15000"/>
                  </a:schemeClr>
                </a:solidFill>
                <a:latin typeface="Alibaba PuHuiTi" pitchFamily="18" charset="-122"/>
                <a:ea typeface="Alibaba PuHuiTi" pitchFamily="18" charset="-122"/>
                <a:cs typeface="Alibaba PuHuiTi" pitchFamily="18" charset="-122"/>
              </a:rPr>
              <a:t>CART</a:t>
            </a:r>
            <a:r>
              <a:rPr kumimoji="1"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回归树</a:t>
            </a:r>
            <a:endParaRPr kumimoji="1" lang="en-US" altLang="zh-CN" sz="160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决策树剪枝</a:t>
            </a:r>
            <a:endParaRPr kumimoji="1"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a:p>
            <a:pPr lvl="1"/>
            <a:endParaRPr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638358" y="588192"/>
            <a:ext cx="6298881" cy="4855845"/>
          </a:xfrm>
        </p:spPr>
        <p:txBody>
          <a:bodyPr/>
          <a:lstStyle/>
          <a:p>
            <a:pPr algn="l"/>
            <a:r>
              <a:rPr lang="zh-CN" altLang="en-US" b="0" i="0" u="none" strike="noStrike" dirty="0">
                <a:solidFill>
                  <a:srgbClr val="333333"/>
                </a:solidFill>
                <a:effectLst/>
                <a:latin typeface="Open Sans" panose="020B0606030504020204" pitchFamily="34" charset="0"/>
              </a:rPr>
              <a:t>理解信息增益率的意义</a:t>
            </a:r>
            <a:endParaRPr lang="zh-CN" altLang="en-US" b="0" i="0" u="none" strike="noStrike" dirty="0">
              <a:solidFill>
                <a:srgbClr val="333333"/>
              </a:solidFill>
              <a:effectLst/>
              <a:latin typeface="Open Sans" panose="020B0606030504020204" pitchFamily="34" charset="0"/>
            </a:endParaRPr>
          </a:p>
          <a:p>
            <a:pPr algn="l"/>
            <a:r>
              <a:rPr lang="zh-CN" altLang="en-US" b="0" i="0" u="none" strike="noStrike" dirty="0">
                <a:solidFill>
                  <a:srgbClr val="333333"/>
                </a:solidFill>
                <a:effectLst/>
                <a:latin typeface="Open Sans" panose="020B0606030504020204" pitchFamily="34" charset="0"/>
              </a:rPr>
              <a:t>知道</a:t>
            </a:r>
            <a:r>
              <a:rPr lang="en-GB" altLang="zh-CN" b="0" i="0" u="none" strike="noStrike" dirty="0">
                <a:solidFill>
                  <a:srgbClr val="333333"/>
                </a:solidFill>
                <a:effectLst/>
                <a:latin typeface="Open Sans" panose="020B0606030504020204" pitchFamily="34" charset="0"/>
              </a:rPr>
              <a:t>C4.5</a:t>
            </a:r>
            <a:r>
              <a:rPr lang="zh-CN" altLang="en-US" b="0" i="0" u="none" strike="noStrike" dirty="0">
                <a:solidFill>
                  <a:srgbClr val="333333"/>
                </a:solidFill>
                <a:effectLst/>
                <a:latin typeface="Open Sans" panose="020B0606030504020204" pitchFamily="34" charset="0"/>
              </a:rPr>
              <a:t>树的构建方法</a:t>
            </a:r>
            <a:endParaRPr lang="zh-CN" altLang="en-US" b="0" i="0" u="none" strike="noStrike" dirty="0">
              <a:solidFill>
                <a:srgbClr val="333333"/>
              </a:solidFill>
              <a:effectLst/>
              <a:latin typeface="Open Sans" panose="020B0606030504020204" pitchFamily="34" charset="0"/>
            </a:endParaRPr>
          </a:p>
          <a:p>
            <a:pPr marL="0" indent="0">
              <a:buNone/>
            </a:pP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C4.5</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决策树</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022877" y="1398310"/>
            <a:ext cx="4016262"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en-US" altLang="zh-CN" dirty="0">
                <a:solidFill>
                  <a:prstClr val="black">
                    <a:lumMod val="85000"/>
                    <a:lumOff val="15000"/>
                  </a:prstClr>
                </a:solidFill>
                <a:latin typeface="Alibaba PuHuiTi" pitchFamily="18" charset="-122"/>
                <a:ea typeface="Alibaba PuHuiTi" pitchFamily="18" charset="-122"/>
                <a:cs typeface="Alibaba PuHuiTi" pitchFamily="18" charset="-122"/>
              </a:rPr>
              <a:t>ID3</a:t>
            </a: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树</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的不足</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17" name="文本框 16"/>
          <p:cNvSpPr txBox="1"/>
          <p:nvPr/>
        </p:nvSpPr>
        <p:spPr>
          <a:xfrm>
            <a:off x="1666258" y="1826730"/>
            <a:ext cx="3710812" cy="385234"/>
          </a:xfrm>
          <a:prstGeom prst="rect">
            <a:avLst/>
          </a:prstGeom>
          <a:noFill/>
        </p:spPr>
        <p:txBody>
          <a:bodyPr wrap="square">
            <a:spAutoFit/>
          </a:bodyPr>
          <a:lstStyle/>
          <a:p>
            <a:pPr>
              <a:lnSpc>
                <a:spcPct val="150000"/>
              </a:lnSpc>
              <a:defRPr/>
            </a:pPr>
            <a:r>
              <a:rPr kumimoji="0" lang="zh-CN" altLang="en-US" sz="14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偏向于选择</a:t>
            </a: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种类多的特征</a:t>
            </a:r>
            <a:r>
              <a:rPr kumimoji="0" lang="zh-CN" altLang="en-US" sz="14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作为分裂依据</a:t>
            </a:r>
            <a:endParaRPr kumimoji="0" lang="zh-CN" altLang="en-US" sz="14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endParaRPr>
          </a:p>
        </p:txBody>
      </p:sp>
      <p:sp>
        <p:nvSpPr>
          <p:cNvPr id="19" name="文本占位符 2"/>
          <p:cNvSpPr txBox="1"/>
          <p:nvPr/>
        </p:nvSpPr>
        <p:spPr>
          <a:xfrm>
            <a:off x="1022877" y="2181392"/>
            <a:ext cx="1485022"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举个栗子</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graphicFrame>
        <p:nvGraphicFramePr>
          <p:cNvPr id="6" name="表格 5"/>
          <p:cNvGraphicFramePr/>
          <p:nvPr>
            <p:custDataLst>
              <p:tags r:id="rId1"/>
            </p:custDataLst>
          </p:nvPr>
        </p:nvGraphicFramePr>
        <p:xfrm>
          <a:off x="1793873" y="2680970"/>
          <a:ext cx="1863604" cy="2254535"/>
        </p:xfrm>
        <a:graphic>
          <a:graphicData uri="http://schemas.openxmlformats.org/drawingml/2006/table">
            <a:tbl>
              <a:tblPr firstRow="1" bandRow="1">
                <a:tableStyleId>{5C22544A-7EE6-4342-B048-85BDC9FD1C3A}</a:tableStyleId>
              </a:tblPr>
              <a:tblGrid>
                <a:gridCol w="568325"/>
                <a:gridCol w="579160"/>
                <a:gridCol w="716119"/>
              </a:tblGrid>
              <a:tr h="398454">
                <a:tc>
                  <a:txBody>
                    <a:bodyPr/>
                    <a:lstStyle/>
                    <a:p>
                      <a:pPr indent="0" algn="ctr">
                        <a:buNone/>
                      </a:pPr>
                      <a:r>
                        <a:rPr lang="zh-CN" altLang="en-US" sz="1400" b="0" dirty="0">
                          <a:solidFill>
                            <a:schemeClr val="bg1"/>
                          </a:solidFill>
                          <a:latin typeface="阿里巴巴普惠体" panose="00020600040101010101" pitchFamily="18" charset="-122"/>
                          <a:ea typeface="阿里巴巴普惠体" panose="00020600040101010101" pitchFamily="18" charset="-122"/>
                        </a:rPr>
                        <a:t>特征</a:t>
                      </a:r>
                      <a:r>
                        <a:rPr lang="en-US" altLang="zh-CN" sz="1400" b="0" dirty="0">
                          <a:solidFill>
                            <a:schemeClr val="bg1"/>
                          </a:solidFill>
                          <a:latin typeface="阿里巴巴普惠体" panose="00020600040101010101" pitchFamily="18" charset="-122"/>
                          <a:ea typeface="阿里巴巴普惠体" panose="00020600040101010101" pitchFamily="18" charset="-122"/>
                        </a:rPr>
                        <a:t>b</a:t>
                      </a:r>
                      <a:endParaRPr lang="en-US" altLang="zh-CN" sz="1400" b="0" dirty="0">
                        <a:solidFill>
                          <a:schemeClr val="bg1"/>
                        </a:solidFill>
                        <a:latin typeface="阿里巴巴普惠体" panose="00020600040101010101" pitchFamily="18" charset="-122"/>
                        <a:ea typeface="阿里巴巴普惠体" panose="00020600040101010101" pitchFamily="18" charset="-122"/>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p>
                      <a:pPr indent="0" algn="ctr">
                        <a:buNone/>
                      </a:pPr>
                      <a:r>
                        <a:rPr lang="zh-CN" altLang="en-US" sz="1400" b="0" dirty="0">
                          <a:solidFill>
                            <a:schemeClr val="bg1"/>
                          </a:solidFill>
                          <a:latin typeface="阿里巴巴普惠体" panose="00020600040101010101" pitchFamily="18" charset="-122"/>
                          <a:ea typeface="阿里巴巴普惠体" panose="00020600040101010101" pitchFamily="18" charset="-122"/>
                        </a:rPr>
                        <a:t>特征</a:t>
                      </a:r>
                      <a:r>
                        <a:rPr lang="en-US" altLang="zh-CN" sz="1400" b="0" dirty="0">
                          <a:solidFill>
                            <a:schemeClr val="bg1"/>
                          </a:solidFill>
                          <a:latin typeface="阿里巴巴普惠体" panose="00020600040101010101" pitchFamily="18" charset="-122"/>
                          <a:ea typeface="阿里巴巴普惠体" panose="00020600040101010101" pitchFamily="18" charset="-122"/>
                        </a:rPr>
                        <a:t>a</a:t>
                      </a:r>
                      <a:endParaRPr lang="en-US" altLang="zh-CN" sz="1400" b="0" dirty="0">
                        <a:solidFill>
                          <a:schemeClr val="bg1"/>
                        </a:solidFill>
                        <a:latin typeface="阿里巴巴普惠体" panose="00020600040101010101" pitchFamily="18" charset="-122"/>
                        <a:ea typeface="阿里巴巴普惠体" panose="00020600040101010101" pitchFamily="18" charset="-122"/>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p>
                      <a:pPr indent="0" algn="ctr">
                        <a:buNone/>
                      </a:pPr>
                      <a:r>
                        <a:rPr lang="zh-CN" altLang="en-US" sz="1400" b="0" dirty="0">
                          <a:solidFill>
                            <a:schemeClr val="bg1"/>
                          </a:solidFill>
                          <a:latin typeface="阿里巴巴普惠体" panose="00020600040101010101" pitchFamily="18" charset="-122"/>
                          <a:ea typeface="阿里巴巴普惠体" panose="00020600040101010101" pitchFamily="18" charset="-122"/>
                        </a:rPr>
                        <a:t>目标值</a:t>
                      </a:r>
                      <a:endParaRPr lang="en-US" altLang="zh-CN" sz="1400" b="0" dirty="0">
                        <a:solidFill>
                          <a:schemeClr val="bg1"/>
                        </a:solidFill>
                        <a:latin typeface="阿里巴巴普惠体" panose="00020600040101010101" pitchFamily="18" charset="-122"/>
                        <a:ea typeface="阿里巴巴普惠体" panose="00020600040101010101" pitchFamily="18" charset="-122"/>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solidFill>
                  </a:tcPr>
                </a:tc>
              </a:tr>
              <a:tr h="332081">
                <a:tc>
                  <a:txBody>
                    <a:bodyPr/>
                    <a:lstStyle/>
                    <a:p>
                      <a:pPr algn="ctr">
                        <a:buClrTx/>
                        <a:buSzTx/>
                        <a:buFontTx/>
                        <a:buNone/>
                      </a:pPr>
                      <a:r>
                        <a:rPr lang="en-US"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1</a:t>
                      </a:r>
                      <a:endParaRPr 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ClrTx/>
                        <a:buSzTx/>
                        <a:buFontTx/>
                        <a:buNone/>
                      </a:pPr>
                      <a:r>
                        <a:rPr lang="el-GR" altLang="zh-CN" sz="1400" dirty="0">
                          <a:solidFill>
                            <a:srgbClr val="C0504D">
                              <a:lumMod val="75000"/>
                            </a:srgbClr>
                          </a:solidFill>
                          <a:latin typeface="Alibaba PuHuiTi" pitchFamily="18" charset="-122"/>
                          <a:ea typeface="Alibaba PuHuiTi" pitchFamily="18" charset="-122"/>
                          <a:cs typeface="Alibaba PuHuiTi" pitchFamily="18" charset="-122"/>
                        </a:rPr>
                        <a:t>α</a:t>
                      </a:r>
                      <a:endParaRPr 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ClrTx/>
                        <a:buSzTx/>
                        <a:buFontTx/>
                        <a:buNone/>
                      </a:pPr>
                      <a:r>
                        <a:rPr lang="en-US"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a:t>
                      </a:r>
                      <a:endParaRPr 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58644">
                <a:tc>
                  <a:txBody>
                    <a:bodyPr/>
                    <a:lstStyle/>
                    <a:p>
                      <a:pPr indent="0" algn="ctr">
                        <a:buNone/>
                      </a:pPr>
                      <a:r>
                        <a:rPr lang="en-US"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a:t>
                      </a:r>
                      <a:endParaRPr lang="zh-CN" altLang="en-US"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indent="0" algn="ctr">
                        <a:buNone/>
                      </a:pPr>
                      <a:r>
                        <a:rPr lang="el-GR" altLang="zh-CN" sz="1400" dirty="0">
                          <a:solidFill>
                            <a:srgbClr val="C0504D">
                              <a:lumMod val="75000"/>
                            </a:srgbClr>
                          </a:solidFill>
                          <a:latin typeface="Alibaba PuHuiTi" pitchFamily="18" charset="-122"/>
                          <a:ea typeface="Alibaba PuHuiTi" pitchFamily="18" charset="-122"/>
                          <a:cs typeface="Alibaba PuHuiTi" pitchFamily="18" charset="-122"/>
                        </a:rPr>
                        <a:t>α</a:t>
                      </a:r>
                      <a:endParaRPr lang="zh-CN" altLang="en-US"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ClrTx/>
                        <a:buSzTx/>
                        <a:buFontTx/>
                        <a:buNone/>
                      </a:pPr>
                      <a:r>
                        <a:rPr lang="en-US"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a:t>
                      </a:r>
                      <a:endParaRPr 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58644">
                <a:tc>
                  <a:txBody>
                    <a:bodyPr/>
                    <a:lstStyle/>
                    <a:p>
                      <a:pPr marL="0" marR="0" indent="0" algn="ctr" defTabSz="1219200" rtl="0" eaLnBrk="1" fontAlgn="auto" latinLnBrk="0" hangingPunct="1">
                        <a:lnSpc>
                          <a:spcPct val="100000"/>
                        </a:lnSpc>
                        <a:spcBef>
                          <a:spcPts val="0"/>
                        </a:spcBef>
                        <a:spcAft>
                          <a:spcPts val="0"/>
                        </a:spcAft>
                        <a:buClrTx/>
                        <a:buSzTx/>
                        <a:buFontTx/>
                        <a:buNone/>
                        <a:defRPr/>
                      </a:pPr>
                      <a:r>
                        <a:rPr lang="en-US"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3</a:t>
                      </a:r>
                      <a:endParaRPr lang="zh-CN" altLang="en-US"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indent="0" algn="ctr" defTabSz="1219200" rtl="0" eaLnBrk="1" fontAlgn="auto" latinLnBrk="0" hangingPunct="1">
                        <a:lnSpc>
                          <a:spcPct val="100000"/>
                        </a:lnSpc>
                        <a:spcBef>
                          <a:spcPts val="0"/>
                        </a:spcBef>
                        <a:spcAft>
                          <a:spcPts val="0"/>
                        </a:spcAft>
                        <a:buClrTx/>
                        <a:buSzTx/>
                        <a:buFontTx/>
                        <a:buNone/>
                        <a:defRPr/>
                      </a:pPr>
                      <a:r>
                        <a:rPr lang="el-GR"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β</a:t>
                      </a:r>
                      <a:endParaRPr lang="zh-CN" altLang="en-US"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ClrTx/>
                        <a:buSzTx/>
                        <a:buFontTx/>
                        <a:buNone/>
                      </a:pPr>
                      <a:r>
                        <a:rPr lang="en-US"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B</a:t>
                      </a:r>
                      <a:endParaRPr 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58644">
                <a:tc>
                  <a:txBody>
                    <a:bodyPr/>
                    <a:lstStyle/>
                    <a:p>
                      <a:pPr marL="0" marR="0" lvl="0" indent="0" algn="ctr" defTabSz="1219200" rtl="0" eaLnBrk="1" fontAlgn="auto" latinLnBrk="0" hangingPunct="1">
                        <a:lnSpc>
                          <a:spcPct val="100000"/>
                        </a:lnSpc>
                        <a:spcBef>
                          <a:spcPts val="0"/>
                        </a:spcBef>
                        <a:spcAft>
                          <a:spcPts val="0"/>
                        </a:spcAft>
                        <a:buClrTx/>
                        <a:buSzTx/>
                        <a:buFontTx/>
                        <a:buNone/>
                        <a:defRPr/>
                      </a:pPr>
                      <a:r>
                        <a:rPr lang="en-US"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4</a:t>
                      </a:r>
                      <a:endParaRPr lang="zh-CN" altLang="en-US"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219200" rtl="0" eaLnBrk="1" fontAlgn="auto" latinLnBrk="0" hangingPunct="1">
                        <a:lnSpc>
                          <a:spcPct val="100000"/>
                        </a:lnSpc>
                        <a:spcBef>
                          <a:spcPts val="0"/>
                        </a:spcBef>
                        <a:spcAft>
                          <a:spcPts val="0"/>
                        </a:spcAft>
                        <a:buClrTx/>
                        <a:buSzTx/>
                        <a:buFontTx/>
                        <a:buNone/>
                        <a:defRPr/>
                      </a:pPr>
                      <a:r>
                        <a:rPr lang="el-GR" altLang="zh-CN" sz="1400" dirty="0">
                          <a:solidFill>
                            <a:srgbClr val="C0504D">
                              <a:lumMod val="75000"/>
                            </a:srgbClr>
                          </a:solidFill>
                          <a:latin typeface="Alibaba PuHuiTi" pitchFamily="18" charset="-122"/>
                          <a:ea typeface="Alibaba PuHuiTi" pitchFamily="18" charset="-122"/>
                          <a:cs typeface="Alibaba PuHuiTi" pitchFamily="18" charset="-122"/>
                        </a:rPr>
                        <a:t>α</a:t>
                      </a:r>
                      <a:endParaRPr lang="zh-CN" altLang="en-US"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ClrTx/>
                        <a:buSzTx/>
                        <a:buFontTx/>
                        <a:buNone/>
                      </a:pPr>
                      <a:r>
                        <a:rPr lang="en-US"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a:t>
                      </a:r>
                      <a:endParaRPr 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58644">
                <a:tc>
                  <a:txBody>
                    <a:bodyPr/>
                    <a:lstStyle/>
                    <a:p>
                      <a:pPr marL="0" marR="0" lvl="0" indent="0" algn="ctr" defTabSz="1219200" rtl="0" eaLnBrk="1" fontAlgn="auto" latinLnBrk="0" hangingPunct="1">
                        <a:lnSpc>
                          <a:spcPct val="100000"/>
                        </a:lnSpc>
                        <a:spcBef>
                          <a:spcPts val="0"/>
                        </a:spcBef>
                        <a:spcAft>
                          <a:spcPts val="0"/>
                        </a:spcAft>
                        <a:buClrTx/>
                        <a:buSzTx/>
                        <a:buFontTx/>
                        <a:buNone/>
                        <a:defRPr/>
                      </a:pPr>
                      <a:r>
                        <a:rPr lang="en-US"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5</a:t>
                      </a:r>
                      <a:endParaRPr lang="zh-CN" altLang="en-US"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219200" rtl="0" eaLnBrk="1" fontAlgn="auto" latinLnBrk="0" hangingPunct="1">
                        <a:lnSpc>
                          <a:spcPct val="100000"/>
                        </a:lnSpc>
                        <a:spcBef>
                          <a:spcPts val="0"/>
                        </a:spcBef>
                        <a:spcAft>
                          <a:spcPts val="0"/>
                        </a:spcAft>
                        <a:buClrTx/>
                        <a:buSzTx/>
                        <a:buFontTx/>
                        <a:buNone/>
                        <a:defRPr/>
                      </a:pPr>
                      <a:r>
                        <a:rPr lang="el-GR"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β</a:t>
                      </a:r>
                      <a:endParaRPr lang="zh-CN" altLang="en-US"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ClrTx/>
                        <a:buSzTx/>
                        <a:buFontTx/>
                        <a:buNone/>
                      </a:pPr>
                      <a:r>
                        <a:rPr lang="en-US"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B</a:t>
                      </a:r>
                      <a:endParaRPr 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58644">
                <a:tc>
                  <a:txBody>
                    <a:bodyPr/>
                    <a:lstStyle/>
                    <a:p>
                      <a:pPr marL="0" marR="0" lvl="0" indent="0" algn="ctr" defTabSz="1219200" rtl="0" eaLnBrk="1" fontAlgn="auto" latinLnBrk="0" hangingPunct="1">
                        <a:lnSpc>
                          <a:spcPct val="100000"/>
                        </a:lnSpc>
                        <a:spcBef>
                          <a:spcPts val="0"/>
                        </a:spcBef>
                        <a:spcAft>
                          <a:spcPts val="0"/>
                        </a:spcAft>
                        <a:buClrTx/>
                        <a:buSzTx/>
                        <a:buFontTx/>
                        <a:buNone/>
                        <a:defRPr/>
                      </a:pPr>
                      <a:r>
                        <a:rPr lang="en-US"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6</a:t>
                      </a:r>
                      <a:endParaRPr lang="zh-CN" altLang="en-US"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219200" rtl="0" eaLnBrk="1" fontAlgn="auto" latinLnBrk="0" hangingPunct="1">
                        <a:lnSpc>
                          <a:spcPct val="100000"/>
                        </a:lnSpc>
                        <a:spcBef>
                          <a:spcPts val="0"/>
                        </a:spcBef>
                        <a:spcAft>
                          <a:spcPts val="0"/>
                        </a:spcAft>
                        <a:buClrTx/>
                        <a:buSzTx/>
                        <a:buFontTx/>
                        <a:buNone/>
                        <a:defRPr/>
                      </a:pPr>
                      <a:r>
                        <a:rPr lang="el-GR" altLang="zh-CN" sz="1400" dirty="0">
                          <a:solidFill>
                            <a:srgbClr val="C0504D">
                              <a:lumMod val="75000"/>
                            </a:srgbClr>
                          </a:solidFill>
                          <a:latin typeface="Alibaba PuHuiTi" pitchFamily="18" charset="-122"/>
                          <a:ea typeface="Alibaba PuHuiTi" pitchFamily="18" charset="-122"/>
                          <a:cs typeface="Alibaba PuHuiTi" pitchFamily="18" charset="-122"/>
                        </a:rPr>
                        <a:t>α</a:t>
                      </a:r>
                      <a:endParaRPr lang="zh-CN" altLang="en-US"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ClrTx/>
                        <a:buSzTx/>
                        <a:buFontTx/>
                        <a:buNone/>
                      </a:pPr>
                      <a:r>
                        <a:rPr lang="en-US"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B</a:t>
                      </a:r>
                      <a:endParaRPr 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
        <p:nvSpPr>
          <p:cNvPr id="7" name="文本框 6"/>
          <p:cNvSpPr txBox="1"/>
          <p:nvPr/>
        </p:nvSpPr>
        <p:spPr>
          <a:xfrm>
            <a:off x="1826902" y="5111502"/>
            <a:ext cx="1694762" cy="708399"/>
          </a:xfrm>
          <a:prstGeom prst="rect">
            <a:avLst/>
          </a:prstGeom>
          <a:noFill/>
        </p:spPr>
        <p:txBody>
          <a:bodyPr wrap="square">
            <a:spAutoFit/>
          </a:bodyPr>
          <a:lstStyle/>
          <a:p>
            <a:pPr>
              <a:lnSpc>
                <a:spcPct val="150000"/>
              </a:lnSpc>
              <a:defRPr/>
            </a:pPr>
            <a:r>
              <a:rPr kumimoji="0" lang="zh-CN" altLang="en-US" sz="14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特征</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a</a:t>
            </a:r>
            <a:r>
              <a:rPr kumimoji="0" lang="zh-CN" altLang="en-US" sz="14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有</a:t>
            </a:r>
            <a:r>
              <a:rPr kumimoji="0" lang="en-US"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2</a:t>
            </a: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个取值</a:t>
            </a:r>
            <a:endParaRPr kumimoji="0" lang="en-US"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a:p>
            <a:pPr>
              <a:lnSpc>
                <a:spcPct val="150000"/>
              </a:lnSpc>
              <a:defRPr/>
            </a:pP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特征</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b</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有</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6</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个取值</a:t>
            </a:r>
            <a:endPar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p:pic>
        <p:nvPicPr>
          <p:cNvPr id="8" name="图片 7"/>
          <p:cNvPicPr>
            <a:picLocks noChangeAspect="1"/>
          </p:cNvPicPr>
          <p:nvPr/>
        </p:nvPicPr>
        <p:blipFill>
          <a:blip r:embed="rId2"/>
          <a:stretch>
            <a:fillRect/>
          </a:stretch>
        </p:blipFill>
        <p:spPr>
          <a:xfrm>
            <a:off x="5926308" y="2760974"/>
            <a:ext cx="3897225" cy="2224908"/>
          </a:xfrm>
          <a:prstGeom prst="rect">
            <a:avLst/>
          </a:prstGeom>
        </p:spPr>
      </p:pic>
      <p:sp>
        <p:nvSpPr>
          <p:cNvPr id="11" name="文本框 10"/>
          <p:cNvSpPr txBox="1"/>
          <p:nvPr/>
        </p:nvSpPr>
        <p:spPr>
          <a:xfrm>
            <a:off x="4616726" y="5199318"/>
            <a:ext cx="6902725" cy="737235"/>
          </a:xfrm>
          <a:prstGeom prst="rect">
            <a:avLst/>
          </a:prstGeom>
          <a:noFill/>
        </p:spPr>
        <p:txBody>
          <a:bodyPr wrap="square">
            <a:spAutoFit/>
          </a:bodyPr>
          <a:lstStyle/>
          <a:p>
            <a:pPr algn="l">
              <a:lnSpc>
                <a:spcPct val="150000"/>
              </a:lnSpc>
            </a:pPr>
            <a:r>
              <a:rPr lang="en-US" altLang="zh-CN" sz="1400" b="0" i="0" u="none" strike="noStrike" dirty="0">
                <a:solidFill>
                  <a:schemeClr val="tx1">
                    <a:lumMod val="85000"/>
                    <a:lumOff val="15000"/>
                  </a:schemeClr>
                </a:solidFill>
                <a:effectLst/>
                <a:latin typeface="Alibaba PuHuiTi" pitchFamily="18" charset="-122"/>
                <a:ea typeface="Alibaba PuHuiTi" pitchFamily="18" charset="-122"/>
                <a:cs typeface="Alibaba PuHuiTi" pitchFamily="18" charset="-122"/>
              </a:rPr>
              <a:t>1</a:t>
            </a:r>
            <a:r>
              <a:rPr lang="zh-CN" altLang="en-US" sz="1400" b="0" i="0" u="none" strike="noStrike" dirty="0">
                <a:solidFill>
                  <a:schemeClr val="tx1">
                    <a:lumMod val="85000"/>
                    <a:lumOff val="15000"/>
                  </a:schemeClr>
                </a:solidFill>
                <a:effectLst/>
                <a:latin typeface="Alibaba PuHuiTi" pitchFamily="18" charset="-122"/>
                <a:ea typeface="Alibaba PuHuiTi" pitchFamily="18" charset="-122"/>
                <a:cs typeface="Alibaba PuHuiTi" pitchFamily="18" charset="-122"/>
              </a:rPr>
              <a:t> </a:t>
            </a:r>
            <a:r>
              <a:rPr lang="zh-CN" altLang="en-US"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特征</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b</a:t>
            </a:r>
            <a:r>
              <a:rPr lang="zh-CN" altLang="en-US" sz="1400" b="0" i="0" u="none" strike="noStrike" dirty="0">
                <a:solidFill>
                  <a:schemeClr val="tx1">
                    <a:lumMod val="85000"/>
                    <a:lumOff val="15000"/>
                  </a:schemeClr>
                </a:solidFill>
                <a:effectLst/>
                <a:latin typeface="Alibaba PuHuiTi" pitchFamily="18" charset="-122"/>
                <a:ea typeface="Alibaba PuHuiTi" pitchFamily="18" charset="-122"/>
                <a:cs typeface="Alibaba PuHuiTi" pitchFamily="18" charset="-122"/>
              </a:rPr>
              <a:t>作为分裂特征，会构造</a:t>
            </a:r>
            <a:r>
              <a:rPr lang="zh-CN" altLang="en-US"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一棵深度为</a:t>
            </a:r>
            <a:r>
              <a:rPr lang="en-US" altLang="zh-CN"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2</a:t>
            </a:r>
            <a:r>
              <a:rPr lang="zh-CN" altLang="en-US" sz="1400" b="0" i="0" u="none" strike="noStrike" dirty="0">
                <a:solidFill>
                  <a:schemeClr val="tx1">
                    <a:lumMod val="85000"/>
                    <a:lumOff val="15000"/>
                  </a:schemeClr>
                </a:solidFill>
                <a:effectLst/>
                <a:latin typeface="Alibaba PuHuiTi" pitchFamily="18" charset="-122"/>
                <a:ea typeface="Alibaba PuHuiTi" pitchFamily="18" charset="-122"/>
                <a:cs typeface="Alibaba PuHuiTi" pitchFamily="18" charset="-122"/>
              </a:rPr>
              <a:t>的决策树，该树的预测准确率可能非常高</a:t>
            </a:r>
            <a:endParaRPr lang="zh-CN" altLang="en-US" sz="1400" b="0" i="0" u="none" strike="noStrike" dirty="0">
              <a:solidFill>
                <a:schemeClr val="tx1">
                  <a:lumMod val="85000"/>
                  <a:lumOff val="15000"/>
                </a:schemeClr>
              </a:solidFill>
              <a:effectLst/>
              <a:latin typeface="Alibaba PuHuiTi" pitchFamily="18" charset="-122"/>
              <a:ea typeface="Alibaba PuHuiTi" pitchFamily="18" charset="-122"/>
              <a:cs typeface="Alibaba PuHuiTi" pitchFamily="18" charset="-122"/>
            </a:endParaRPr>
          </a:p>
          <a:p>
            <a:pPr algn="l">
              <a:lnSpc>
                <a:spcPct val="150000"/>
              </a:lnSpc>
            </a:pPr>
            <a:r>
              <a:rPr lang="en-US" altLang="zh-CN" sz="1400" b="0" i="0" u="none" strike="noStrike" dirty="0">
                <a:solidFill>
                  <a:schemeClr val="tx1">
                    <a:lumMod val="85000"/>
                    <a:lumOff val="15000"/>
                  </a:schemeClr>
                </a:solidFill>
                <a:effectLst/>
                <a:latin typeface="Alibaba PuHuiTi" pitchFamily="18" charset="-122"/>
                <a:ea typeface="Alibaba PuHuiTi" pitchFamily="18" charset="-122"/>
                <a:cs typeface="Alibaba PuHuiTi" pitchFamily="18" charset="-122"/>
              </a:rPr>
              <a:t>2</a:t>
            </a:r>
            <a:r>
              <a:rPr lang="zh-CN" altLang="en-US" sz="1400" b="0" i="0" u="none" strike="noStrike" dirty="0">
                <a:solidFill>
                  <a:schemeClr val="tx1">
                    <a:lumMod val="85000"/>
                    <a:lumOff val="15000"/>
                  </a:schemeClr>
                </a:solidFill>
                <a:effectLst/>
                <a:latin typeface="Alibaba PuHuiTi" pitchFamily="18" charset="-122"/>
                <a:ea typeface="Alibaba PuHuiTi" pitchFamily="18" charset="-122"/>
                <a:cs typeface="Alibaba PuHuiTi" pitchFamily="18" charset="-122"/>
              </a:rPr>
              <a:t> 但整棵树过于</a:t>
            </a:r>
            <a:r>
              <a:rPr lang="zh-CN" altLang="en-US"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依赖少数的特征（只根据少数特征进行学习）</a:t>
            </a:r>
            <a:r>
              <a:rPr lang="zh-CN" altLang="en-US" sz="1400" b="0" i="0" u="none" strike="noStrike" dirty="0">
                <a:solidFill>
                  <a:schemeClr val="tx1">
                    <a:lumMod val="85000"/>
                    <a:lumOff val="15000"/>
                  </a:schemeClr>
                </a:solidFill>
                <a:effectLst/>
                <a:latin typeface="Alibaba PuHuiTi" pitchFamily="18" charset="-122"/>
                <a:ea typeface="Alibaba PuHuiTi" pitchFamily="18" charset="-122"/>
                <a:cs typeface="Alibaba PuHuiTi" pitchFamily="18" charset="-122"/>
              </a:rPr>
              <a:t>，</a:t>
            </a:r>
            <a:r>
              <a:rPr lang="zh-CN" altLang="en-US"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导致过拟合</a:t>
            </a:r>
            <a:endParaRPr lang="zh-CN" altLang="en-US"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endParaRPr>
          </a:p>
        </p:txBody>
      </p:sp>
      <p:sp>
        <p:nvSpPr>
          <p:cNvPr id="2" name="文本框 1"/>
          <p:cNvSpPr txBox="1"/>
          <p:nvPr/>
        </p:nvSpPr>
        <p:spPr>
          <a:xfrm>
            <a:off x="5118100" y="1442085"/>
            <a:ext cx="6167755" cy="1512570"/>
          </a:xfrm>
          <a:prstGeom prst="rect">
            <a:avLst/>
          </a:prstGeom>
        </p:spPr>
        <p:txBody>
          <a:bodyPr wrap="square">
            <a:spAutoFit/>
          </a:bodyPr>
          <a:p>
            <a:pPr indent="0" algn="l" eaLnBrk="0" fontAlgn="base" hangingPunct="0">
              <a:lnSpc>
                <a:spcPct val="150000"/>
              </a:lnSpc>
              <a:spcBef>
                <a:spcPct val="20000"/>
              </a:spcBef>
              <a:buClrTx/>
              <a:buSzTx/>
              <a:buFont typeface="Arial" panose="020B0604020202020204" pitchFamily="34" charset="0"/>
              <a:buNone/>
              <a:defRPr/>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ID3的过拟合本质是将数据唯一标识符误判为有效特征</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如下图</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a:t>
            </a:r>
            <a:endPar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endParaRPr>
          </a:p>
          <a:p>
            <a:pPr marL="285750" indent="-285750" algn="l" eaLnBrk="0" fontAlgn="base" hangingPunct="0">
              <a:lnSpc>
                <a:spcPct val="150000"/>
              </a:lnSpc>
              <a:spcBef>
                <a:spcPct val="20000"/>
              </a:spcBef>
              <a:buClrTx/>
              <a:buSzTx/>
              <a:buFont typeface="Arial" panose="020B0604020202020204" pitchFamily="34" charset="0"/>
              <a:buChar char="•"/>
              <a:defRPr/>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sym typeface="+mn-ea"/>
              </a:rPr>
              <a:t>深度浅但宽度大：1层分裂产生6个分支</a:t>
            </a:r>
            <a:endPar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endParaRPr>
          </a:p>
          <a:p>
            <a:pPr marL="285750" indent="-285750" algn="l" eaLnBrk="0" fontAlgn="base" hangingPunct="0">
              <a:lnSpc>
                <a:spcPct val="150000"/>
              </a:lnSpc>
              <a:spcBef>
                <a:spcPct val="20000"/>
              </a:spcBef>
              <a:buClrTx/>
              <a:buSzTx/>
              <a:buFont typeface="Arial" panose="020B0604020202020204" pitchFamily="34" charset="0"/>
              <a:buChar char="•"/>
              <a:defRPr/>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sym typeface="+mn-ea"/>
              </a:rPr>
              <a:t>每个叶节点仅1个样本：完全记忆训练数据</a:t>
            </a:r>
            <a:endPar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endParaRPr>
          </a:p>
          <a:p>
            <a:pPr marL="285750" indent="-285750" algn="l" eaLnBrk="0" fontAlgn="base" hangingPunct="0">
              <a:lnSpc>
                <a:spcPct val="150000"/>
              </a:lnSpc>
              <a:spcBef>
                <a:spcPct val="20000"/>
              </a:spcBef>
              <a:buClrTx/>
              <a:buSzTx/>
              <a:buFont typeface="Arial" panose="020B0604020202020204" pitchFamily="34" charset="0"/>
              <a:buChar char="•"/>
              <a:defRPr/>
            </a:pPr>
            <a:endParaRPr lang="zh-CN" altLang="en-US" sz="1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信息增益率</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17" name="文本框 16"/>
          <p:cNvSpPr txBox="1"/>
          <p:nvPr/>
        </p:nvSpPr>
        <p:spPr>
          <a:xfrm>
            <a:off x="2481309" y="2117150"/>
            <a:ext cx="7375041" cy="414020"/>
          </a:xfrm>
          <a:prstGeom prst="rect">
            <a:avLst/>
          </a:prstGeom>
          <a:noFill/>
        </p:spPr>
        <p:txBody>
          <a:bodyPr wrap="square">
            <a:spAutoFit/>
          </a:bodyPr>
          <a:lstStyle/>
          <a:p>
            <a:pPr indent="0">
              <a:lnSpc>
                <a:spcPct val="150000"/>
              </a:lnSpc>
              <a:buFont typeface="Arial" panose="020B0604020202020204" pitchFamily="34" charset="0"/>
              <a:buNone/>
              <a:defRPr/>
            </a:pPr>
            <a:r>
              <a:rPr lang="zh-CN" altLang="en-US" sz="1400" b="0" i="0" dirty="0">
                <a:solidFill>
                  <a:srgbClr val="374151"/>
                </a:solidFill>
                <a:effectLst/>
                <a:latin typeface="Alibaba PuHuiTi" pitchFamily="18" charset="-122"/>
                <a:ea typeface="Alibaba PuHuiTi" pitchFamily="18" charset="-122"/>
                <a:cs typeface="Alibaba PuHuiTi" pitchFamily="18" charset="-122"/>
              </a:rPr>
              <a:t>信息增益率 </a:t>
            </a:r>
            <a:r>
              <a:rPr lang="en-US" altLang="zh-CN" sz="1400" b="0" i="0" dirty="0">
                <a:solidFill>
                  <a:srgbClr val="374151"/>
                </a:solidFill>
                <a:effectLst/>
                <a:latin typeface="Alibaba PuHuiTi" pitchFamily="18" charset="-122"/>
                <a:ea typeface="Alibaba PuHuiTi" pitchFamily="18" charset="-122"/>
                <a:cs typeface="Alibaba PuHuiTi" pitchFamily="18" charset="-122"/>
              </a:rPr>
              <a:t>= </a:t>
            </a:r>
            <a:r>
              <a:rPr lang="zh-CN" altLang="en-US" sz="1400" b="0" i="0" dirty="0">
                <a:solidFill>
                  <a:srgbClr val="374151"/>
                </a:solidFill>
                <a:effectLst/>
                <a:latin typeface="Alibaba PuHuiTi" pitchFamily="18" charset="-122"/>
                <a:ea typeface="Alibaba PuHuiTi" pitchFamily="18" charset="-122"/>
                <a:cs typeface="Alibaba PuHuiTi" pitchFamily="18" charset="-122"/>
              </a:rPr>
              <a:t>信息增益 </a:t>
            </a:r>
            <a:r>
              <a:rPr lang="en-US" altLang="zh-CN" sz="1400" b="0" i="0" dirty="0">
                <a:solidFill>
                  <a:srgbClr val="374151"/>
                </a:solidFill>
                <a:effectLst/>
                <a:latin typeface="Alibaba PuHuiTi" pitchFamily="18" charset="-122"/>
                <a:ea typeface="Alibaba PuHuiTi" pitchFamily="18" charset="-122"/>
                <a:cs typeface="Alibaba PuHuiTi" pitchFamily="18" charset="-122"/>
              </a:rPr>
              <a:t>/ </a:t>
            </a:r>
            <a:r>
              <a:rPr lang="zh-CN" altLang="en-US" sz="1400" b="0" i="0" dirty="0">
                <a:solidFill>
                  <a:srgbClr val="374151"/>
                </a:solidFill>
                <a:effectLst/>
                <a:latin typeface="Alibaba PuHuiTi" pitchFamily="18" charset="-122"/>
                <a:ea typeface="Alibaba PuHuiTi" pitchFamily="18" charset="-122"/>
                <a:cs typeface="Alibaba PuHuiTi" pitchFamily="18" charset="-122"/>
              </a:rPr>
              <a:t>特征熵</a:t>
            </a:r>
            <a:endParaRPr lang="en-US" altLang="zh-CN" sz="1400" b="0" i="0" dirty="0">
              <a:solidFill>
                <a:schemeClr val="accent2">
                  <a:lumMod val="75000"/>
                </a:schemeClr>
              </a:solidFill>
              <a:effectLst/>
              <a:latin typeface="Alibaba PuHuiTi" pitchFamily="18" charset="-122"/>
              <a:ea typeface="Alibaba PuHuiTi" pitchFamily="18" charset="-122"/>
              <a:cs typeface="Alibaba PuHuiTi" pitchFamily="18" charset="-122"/>
            </a:endParaRPr>
          </a:p>
        </p:txBody>
      </p:sp>
      <p:sp>
        <p:nvSpPr>
          <p:cNvPr id="19" name="文本占位符 2"/>
          <p:cNvSpPr txBox="1"/>
          <p:nvPr/>
        </p:nvSpPr>
        <p:spPr>
          <a:xfrm>
            <a:off x="1022877" y="4230772"/>
            <a:ext cx="2537350"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信息增益率的本质</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2" name="文本框 1"/>
          <p:cNvSpPr txBox="1"/>
          <p:nvPr/>
        </p:nvSpPr>
        <p:spPr>
          <a:xfrm>
            <a:off x="1771747" y="4777256"/>
            <a:ext cx="7375041" cy="1432893"/>
          </a:xfrm>
          <a:prstGeom prst="rect">
            <a:avLst/>
          </a:prstGeom>
          <a:noFill/>
        </p:spPr>
        <p:txBody>
          <a:bodyPr wrap="square">
            <a:spAutoFit/>
          </a:bodyPr>
          <a:lstStyle/>
          <a:p>
            <a:pPr marL="285750" indent="-285750">
              <a:lnSpc>
                <a:spcPct val="150000"/>
              </a:lnSpc>
              <a:buFont typeface="Arial" panose="020B0604020202020204" pitchFamily="34" charset="0"/>
              <a:buChar char="•"/>
              <a:defRPr/>
            </a:pP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特征的信息增益 ➗ 特征的内在信息</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marL="285750" indent="-285750">
              <a:lnSpc>
                <a:spcPct val="150000"/>
              </a:lnSpc>
              <a:buFont typeface="Arial" panose="020B0604020202020204" pitchFamily="34" charset="0"/>
              <a:buChar char="•"/>
              <a:defRPr/>
            </a:pPr>
            <a:r>
              <a:rPr kumimoji="0" lang="zh-CN" altLang="en-US" sz="1400" u="none" strike="noStrike" kern="1200" cap="none" spc="0" normalizeH="0" baseline="0" noProof="0" dirty="0">
                <a:ln>
                  <a:noFill/>
                </a:ln>
                <a:solidFill>
                  <a:schemeClr val="tx1">
                    <a:lumMod val="85000"/>
                    <a:lumOff val="15000"/>
                  </a:schemeClr>
                </a:solidFill>
                <a:uLnTx/>
                <a:uFillTx/>
                <a:latin typeface="Alibaba PuHuiTi" pitchFamily="18" charset="-122"/>
                <a:ea typeface="Alibaba PuHuiTi" pitchFamily="18" charset="-122"/>
                <a:cs typeface="Alibaba PuHuiTi" pitchFamily="18" charset="-122"/>
              </a:rPr>
              <a:t>相当于</a:t>
            </a:r>
            <a:r>
              <a:rPr kumimoji="0" lang="zh-CN" altLang="en-US" sz="1400" u="none" strike="noStrike" kern="1200" cap="none" spc="0" normalizeH="0" baseline="0" noProof="0" dirty="0">
                <a:ln>
                  <a:noFill/>
                </a:ln>
                <a:solidFill>
                  <a:schemeClr val="accent2">
                    <a:lumMod val="75000"/>
                  </a:schemeClr>
                </a:solidFill>
                <a:uLnTx/>
                <a:uFillTx/>
                <a:latin typeface="Alibaba PuHuiTi" pitchFamily="18" charset="-122"/>
                <a:ea typeface="Alibaba PuHuiTi" pitchFamily="18" charset="-122"/>
                <a:cs typeface="Alibaba PuHuiTi" pitchFamily="18" charset="-122"/>
              </a:rPr>
              <a:t>对信息增益进行修正</a:t>
            </a:r>
            <a:r>
              <a:rPr kumimoji="0" lang="zh-CN" altLang="en-US" sz="1400" u="none" strike="noStrike" kern="1200" cap="none" spc="0" normalizeH="0" baseline="0" noProof="0" dirty="0">
                <a:ln>
                  <a:noFill/>
                </a:ln>
                <a:solidFill>
                  <a:schemeClr val="tx1">
                    <a:lumMod val="85000"/>
                    <a:lumOff val="15000"/>
                  </a:schemeClr>
                </a:solidFill>
                <a:uLnTx/>
                <a:uFillTx/>
                <a:latin typeface="Alibaba PuHuiTi" pitchFamily="18" charset="-122"/>
                <a:ea typeface="Alibaba PuHuiTi" pitchFamily="18" charset="-122"/>
                <a:cs typeface="Alibaba PuHuiTi" pitchFamily="18" charset="-122"/>
              </a:rPr>
              <a:t>，</a:t>
            </a:r>
            <a:r>
              <a:rPr lang="zh-CN" altLang="en-US" sz="1400" noProof="0" dirty="0">
                <a:solidFill>
                  <a:schemeClr val="tx1">
                    <a:lumMod val="85000"/>
                    <a:lumOff val="15000"/>
                  </a:schemeClr>
                </a:solidFill>
                <a:latin typeface="Alibaba PuHuiTi" pitchFamily="18" charset="-122"/>
                <a:ea typeface="Alibaba PuHuiTi" pitchFamily="18" charset="-122"/>
                <a:cs typeface="Alibaba PuHuiTi" pitchFamily="18" charset="-122"/>
              </a:rPr>
              <a:t>增加</a:t>
            </a:r>
            <a:r>
              <a:rPr kumimoji="0" lang="zh-CN" altLang="en-US" sz="1400" u="none" strike="noStrike" kern="1200" cap="none" spc="0" normalizeH="0" baseline="0" noProof="0" dirty="0">
                <a:ln>
                  <a:noFill/>
                </a:ln>
                <a:solidFill>
                  <a:schemeClr val="accent2">
                    <a:lumMod val="75000"/>
                  </a:schemeClr>
                </a:solidFill>
                <a:uLnTx/>
                <a:uFillTx/>
                <a:latin typeface="Alibaba PuHuiTi" pitchFamily="18" charset="-122"/>
                <a:ea typeface="Alibaba PuHuiTi" pitchFamily="18" charset="-122"/>
                <a:cs typeface="Alibaba PuHuiTi" pitchFamily="18" charset="-122"/>
              </a:rPr>
              <a:t>一个惩罚系数</a:t>
            </a:r>
            <a:endParaRPr kumimoji="0" lang="en-US" altLang="zh-CN" sz="1400" u="none" strike="noStrike" kern="1200" cap="none" spc="0" normalizeH="0" baseline="0" noProof="0" dirty="0">
              <a:ln>
                <a:noFill/>
              </a:ln>
              <a:solidFill>
                <a:schemeClr val="accent2">
                  <a:lumMod val="75000"/>
                </a:schemeClr>
              </a:solidFill>
              <a:uLnTx/>
              <a:uFillTx/>
              <a:latin typeface="Alibaba PuHuiTi" pitchFamily="18" charset="-122"/>
              <a:ea typeface="Alibaba PuHuiTi" pitchFamily="18" charset="-122"/>
              <a:cs typeface="Alibaba PuHuiTi" pitchFamily="18" charset="-122"/>
            </a:endParaRPr>
          </a:p>
          <a:p>
            <a:pPr marL="285750" indent="-285750">
              <a:lnSpc>
                <a:spcPct val="150000"/>
              </a:lnSpc>
              <a:buFont typeface="Arial" panose="020B0604020202020204" pitchFamily="34" charset="0"/>
              <a:buChar char="•"/>
              <a:defRPr/>
            </a:pP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特征取值个数较多时，惩罚系数较小；特征取值个数较少时，惩罚系数较大。</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marL="285750" indent="-285750">
              <a:lnSpc>
                <a:spcPct val="150000"/>
              </a:lnSpc>
              <a:buFont typeface="Arial" panose="020B0604020202020204" pitchFamily="34" charset="0"/>
              <a:buChar char="•"/>
              <a:defRPr/>
            </a:pP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惩罚系数：数据集</a:t>
            </a:r>
            <a:r>
              <a:rPr lang="en-GB"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D</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以特征</a:t>
            </a:r>
            <a:r>
              <a:rPr lang="en-GB"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a</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作为随机变量的熵的倒数</a:t>
            </a:r>
            <a:r>
              <a:rPr lang="zh-CN" altLang="en-US" b="1" dirty="0"/>
              <a:t>。</a:t>
            </a:r>
            <a:endParaRPr kumimoji="0" lang="en-US" altLang="zh-CN" sz="1400" u="none" strike="noStrike" kern="1200" cap="none" spc="0" normalizeH="0" baseline="0" noProof="0" dirty="0">
              <a:ln>
                <a:noFill/>
              </a:ln>
              <a:solidFill>
                <a:schemeClr val="accent2">
                  <a:lumMod val="75000"/>
                </a:schemeClr>
              </a:solidFill>
              <a:uLnTx/>
              <a:uFillTx/>
              <a:latin typeface="Alibaba PuHuiTi" pitchFamily="18" charset="-122"/>
              <a:ea typeface="Alibaba PuHuiTi" pitchFamily="18" charset="-122"/>
              <a:cs typeface="Alibaba PuHuiTi" pitchFamily="18" charset="-122"/>
            </a:endParaRPr>
          </a:p>
        </p:txBody>
      </p:sp>
      <mc:AlternateContent xmlns:mc="http://schemas.openxmlformats.org/markup-compatibility/2006">
        <mc:Choice xmlns:a14="http://schemas.microsoft.com/office/drawing/2010/main" Requires="a14">
          <p:sp>
            <p:nvSpPr>
              <p:cNvPr id="5" name="文本框 4"/>
              <p:cNvSpPr txBox="1"/>
              <p:nvPr/>
            </p:nvSpPr>
            <p:spPr>
              <a:xfrm>
                <a:off x="1666257" y="2559206"/>
                <a:ext cx="7375041" cy="1421765"/>
              </a:xfrm>
              <a:prstGeom prst="rect">
                <a:avLst/>
              </a:prstGeom>
              <a:noFill/>
            </p:spPr>
            <p:txBody>
              <a:bodyPr wrap="square">
                <a:spAutoFit/>
              </a:bodyPr>
              <a:lstStyle/>
              <a:p>
                <a:pPr>
                  <a:lnSpc>
                    <a:spcPct val="150000"/>
                  </a:lnSpc>
                  <a:defRPr/>
                </a:pPr>
                <a:r>
                  <a:rPr kumimoji="0" lang="en-US" altLang="zh-CN" sz="1400" u="none" strike="noStrike" kern="1200" cap="none" spc="0" normalizeH="0" baseline="0" noProof="0" dirty="0" err="1">
                    <a:ln>
                      <a:noFill/>
                    </a:ln>
                    <a:solidFill>
                      <a:schemeClr val="accent2">
                        <a:lumMod val="75000"/>
                      </a:schemeClr>
                    </a:solidFill>
                    <a:uLnTx/>
                    <a:uFillTx/>
                    <a:latin typeface="Alibaba PuHuiTi" pitchFamily="18" charset="-122"/>
                    <a:ea typeface="Alibaba PuHuiTi" pitchFamily="18" charset="-122"/>
                    <a:cs typeface="Alibaba PuHuiTi" pitchFamily="18" charset="-122"/>
                  </a:rPr>
                  <a:t>Gain_Ratio</a:t>
                </a:r>
                <a:r>
                  <a:rPr kumimoji="0" lang="en-US" altLang="zh-CN" sz="1400" u="none" strike="noStrike" kern="1200" cap="none" spc="0" normalizeH="0" baseline="0" noProof="0" dirty="0">
                    <a:ln>
                      <a:noFill/>
                    </a:ln>
                    <a:solidFill>
                      <a:schemeClr val="accent2">
                        <a:lumMod val="75000"/>
                      </a:schemeClr>
                    </a:solidFill>
                    <a:uLnTx/>
                    <a:uFillTx/>
                    <a:latin typeface="Alibaba PuHuiTi" pitchFamily="18" charset="-122"/>
                    <a:ea typeface="Alibaba PuHuiTi" pitchFamily="18" charset="-122"/>
                    <a:cs typeface="Alibaba PuHuiTi" pitchFamily="18" charset="-122"/>
                  </a:rPr>
                  <a:t>(D,</a:t>
                </a:r>
                <a:r>
                  <a:rPr kumimoji="0" lang="zh-CN" altLang="en-US" sz="1400" u="none" strike="noStrike" kern="1200" cap="none" spc="0" normalizeH="0" baseline="0" noProof="0" dirty="0">
                    <a:ln>
                      <a:noFill/>
                    </a:ln>
                    <a:solidFill>
                      <a:schemeClr val="accent2">
                        <a:lumMod val="75000"/>
                      </a:schemeClr>
                    </a:solidFill>
                    <a:uLnTx/>
                    <a:uFillTx/>
                    <a:latin typeface="Alibaba PuHuiTi" pitchFamily="18" charset="-122"/>
                    <a:ea typeface="Alibaba PuHuiTi" pitchFamily="18" charset="-122"/>
                    <a:cs typeface="Alibaba PuHuiTi" pitchFamily="18" charset="-122"/>
                  </a:rPr>
                  <a:t> </a:t>
                </a:r>
                <a:r>
                  <a:rPr kumimoji="0" lang="en-US" altLang="zh-CN" sz="1400" u="none" strike="noStrike" kern="1200" cap="none" spc="0" normalizeH="0" baseline="0" noProof="0" dirty="0">
                    <a:ln>
                      <a:noFill/>
                    </a:ln>
                    <a:solidFill>
                      <a:schemeClr val="accent2">
                        <a:lumMod val="75000"/>
                      </a:schemeClr>
                    </a:solidFill>
                    <a:uLnTx/>
                    <a:uFillTx/>
                    <a:latin typeface="Alibaba PuHuiTi" pitchFamily="18" charset="-122"/>
                    <a:ea typeface="Alibaba PuHuiTi" pitchFamily="18" charset="-122"/>
                    <a:cs typeface="Alibaba PuHuiTi" pitchFamily="18" charset="-122"/>
                  </a:rPr>
                  <a:t>a)</a:t>
                </a:r>
                <a:r>
                  <a:rPr kumimoji="0" lang="zh-CN" altLang="en-US" sz="1400" u="none" strike="noStrike" kern="1200" cap="none" spc="0" normalizeH="0" baseline="0" noProof="0" dirty="0">
                    <a:ln>
                      <a:noFill/>
                    </a:ln>
                    <a:solidFill>
                      <a:schemeClr val="accent2">
                        <a:lumMod val="75000"/>
                      </a:schemeClr>
                    </a:solidFill>
                    <a:uLnTx/>
                    <a:uFillTx/>
                    <a:latin typeface="Alibaba PuHuiTi" pitchFamily="18" charset="-122"/>
                    <a:ea typeface="Alibaba PuHuiTi" pitchFamily="18" charset="-122"/>
                    <a:cs typeface="Alibaba PuHuiTi" pitchFamily="18" charset="-122"/>
                  </a:rPr>
                  <a:t> </a:t>
                </a:r>
                <a:r>
                  <a:rPr kumimoji="0" lang="en-US" altLang="zh-CN" sz="1400" u="none" strike="noStrike" kern="1200" cap="none" spc="0" normalizeH="0" baseline="0" noProof="0" dirty="0">
                    <a:ln>
                      <a:noFill/>
                    </a:ln>
                    <a:solidFill>
                      <a:schemeClr val="accent2">
                        <a:lumMod val="75000"/>
                      </a:schemeClr>
                    </a:solidFill>
                    <a:uLnTx/>
                    <a:uFillTx/>
                    <a:latin typeface="Alibaba PuHuiTi" pitchFamily="18" charset="-122"/>
                    <a:ea typeface="Alibaba PuHuiTi" pitchFamily="18" charset="-122"/>
                    <a:cs typeface="Alibaba PuHuiTi" pitchFamily="18" charset="-122"/>
                  </a:rPr>
                  <a:t>=</a:t>
                </a:r>
                <a:r>
                  <a:rPr kumimoji="0" lang="zh-CN" altLang="en-US" sz="1400" u="none" strike="noStrike" kern="1200" cap="none" spc="0" normalizeH="0" baseline="0" noProof="0" dirty="0">
                    <a:ln>
                      <a:noFill/>
                    </a:ln>
                    <a:solidFill>
                      <a:schemeClr val="accent2">
                        <a:lumMod val="75000"/>
                      </a:schemeClr>
                    </a:solidFill>
                    <a:uLnTx/>
                    <a:uFillTx/>
                    <a:latin typeface="Alibaba PuHuiTi" pitchFamily="18" charset="-122"/>
                    <a:ea typeface="Alibaba PuHuiTi" pitchFamily="18" charset="-122"/>
                    <a:cs typeface="Alibaba PuHuiTi" pitchFamily="18" charset="-122"/>
                  </a:rPr>
                  <a:t> </a:t>
                </a:r>
                <a14:m>
                  <m:oMath xmlns:m="http://schemas.openxmlformats.org/officeDocument/2006/math">
                    <m:f>
                      <m:fPr>
                        <m:ctrlPr>
                          <a:rPr kumimoji="0" lang="en-US" altLang="zh-CN" sz="1400" i="1" u="none" strike="noStrike" kern="1200" cap="none" spc="0" normalizeH="0" baseline="0" noProof="0" smtClean="0">
                            <a:ln>
                              <a:noFill/>
                            </a:ln>
                            <a:solidFill>
                              <a:schemeClr val="accent2">
                                <a:lumMod val="75000"/>
                              </a:schemeClr>
                            </a:solidFill>
                            <a:uLnTx/>
                            <a:uFillTx/>
                            <a:latin typeface="Cambria Math" panose="02040503050406030204" pitchFamily="18" charset="0"/>
                            <a:ea typeface="Alibaba PuHuiTi" pitchFamily="18" charset="-122"/>
                            <a:cs typeface="Alibaba PuHuiTi" pitchFamily="18" charset="-122"/>
                          </a:rPr>
                        </m:ctrlPr>
                      </m:fPr>
                      <m:num>
                        <m:r>
                          <a:rPr kumimoji="0" lang="en-US" altLang="zh-CN" sz="1400" b="0" i="1" u="none" strike="noStrike" kern="1200" cap="none" spc="0" normalizeH="0" baseline="0" noProof="0" smtClean="0">
                            <a:ln>
                              <a:noFill/>
                            </a:ln>
                            <a:solidFill>
                              <a:schemeClr val="accent2">
                                <a:lumMod val="75000"/>
                              </a:schemeClr>
                            </a:solidFill>
                            <a:uLnTx/>
                            <a:uFillTx/>
                            <a:latin typeface="Cambria Math" panose="02040503050406030204" pitchFamily="18" charset="0"/>
                            <a:ea typeface="Alibaba PuHuiTi" pitchFamily="18" charset="-122"/>
                            <a:cs typeface="Alibaba PuHuiTi" pitchFamily="18" charset="-122"/>
                          </a:rPr>
                          <m:t>𝐺𝑎𝑖𝑛</m:t>
                        </m:r>
                        <m:r>
                          <a:rPr kumimoji="0" lang="en-US" altLang="zh-CN" sz="1400" b="0" i="1" u="none" strike="noStrike" kern="1200" cap="none" spc="0" normalizeH="0" baseline="0" noProof="0" smtClean="0">
                            <a:ln>
                              <a:noFill/>
                            </a:ln>
                            <a:solidFill>
                              <a:schemeClr val="accent2">
                                <a:lumMod val="75000"/>
                              </a:schemeClr>
                            </a:solidFill>
                            <a:uLnTx/>
                            <a:uFillTx/>
                            <a:latin typeface="Cambria Math" panose="02040503050406030204" pitchFamily="18" charset="0"/>
                            <a:ea typeface="Alibaba PuHuiTi" pitchFamily="18" charset="-122"/>
                            <a:cs typeface="Alibaba PuHuiTi" pitchFamily="18" charset="-122"/>
                          </a:rPr>
                          <m:t>(</m:t>
                        </m:r>
                        <m:r>
                          <a:rPr kumimoji="0" lang="en-US" altLang="zh-CN" sz="1400" b="0" i="1" u="none" strike="noStrike" kern="1200" cap="none" spc="0" normalizeH="0" baseline="0" noProof="0" smtClean="0">
                            <a:ln>
                              <a:noFill/>
                            </a:ln>
                            <a:solidFill>
                              <a:schemeClr val="accent2">
                                <a:lumMod val="75000"/>
                              </a:schemeClr>
                            </a:solidFill>
                            <a:uLnTx/>
                            <a:uFillTx/>
                            <a:latin typeface="Cambria Math" panose="02040503050406030204" pitchFamily="18" charset="0"/>
                            <a:ea typeface="Alibaba PuHuiTi" pitchFamily="18" charset="-122"/>
                            <a:cs typeface="Alibaba PuHuiTi" pitchFamily="18" charset="-122"/>
                          </a:rPr>
                          <m:t>𝐷</m:t>
                        </m:r>
                        <m:r>
                          <a:rPr kumimoji="0" lang="en-US" altLang="zh-CN" sz="1400" b="0" i="1" u="none" strike="noStrike" kern="1200" cap="none" spc="0" normalizeH="0" baseline="0" noProof="0" smtClean="0">
                            <a:ln>
                              <a:noFill/>
                            </a:ln>
                            <a:solidFill>
                              <a:schemeClr val="accent2">
                                <a:lumMod val="75000"/>
                              </a:schemeClr>
                            </a:solidFill>
                            <a:uLnTx/>
                            <a:uFillTx/>
                            <a:latin typeface="Cambria Math" panose="02040503050406030204" pitchFamily="18" charset="0"/>
                            <a:ea typeface="Alibaba PuHuiTi" pitchFamily="18" charset="-122"/>
                            <a:cs typeface="Alibaba PuHuiTi" pitchFamily="18" charset="-122"/>
                          </a:rPr>
                          <m:t>,</m:t>
                        </m:r>
                        <m:r>
                          <a:rPr kumimoji="0" lang="zh-CN" altLang="en-US" sz="1400" b="0" i="1" u="none" strike="noStrike" kern="1200" cap="none" spc="0" normalizeH="0" baseline="0" noProof="0" smtClean="0">
                            <a:ln>
                              <a:noFill/>
                            </a:ln>
                            <a:solidFill>
                              <a:schemeClr val="accent2">
                                <a:lumMod val="75000"/>
                              </a:schemeClr>
                            </a:solidFill>
                            <a:uLnTx/>
                            <a:uFillTx/>
                            <a:latin typeface="Cambria Math" panose="02040503050406030204" pitchFamily="18" charset="0"/>
                            <a:ea typeface="Alibaba PuHuiTi" pitchFamily="18" charset="-122"/>
                            <a:cs typeface="Alibaba PuHuiTi" pitchFamily="18" charset="-122"/>
                          </a:rPr>
                          <m:t> </m:t>
                        </m:r>
                        <m:r>
                          <a:rPr kumimoji="0" lang="en-US" altLang="zh-CN" sz="1400" b="0" i="1" u="none" strike="noStrike" kern="1200" cap="none" spc="0" normalizeH="0" baseline="0" noProof="0" smtClean="0">
                            <a:ln>
                              <a:noFill/>
                            </a:ln>
                            <a:solidFill>
                              <a:schemeClr val="accent2">
                                <a:lumMod val="75000"/>
                              </a:schemeClr>
                            </a:solidFill>
                            <a:uLnTx/>
                            <a:uFillTx/>
                            <a:latin typeface="Cambria Math" panose="02040503050406030204" pitchFamily="18" charset="0"/>
                            <a:ea typeface="Alibaba PuHuiTi" pitchFamily="18" charset="-122"/>
                            <a:cs typeface="Alibaba PuHuiTi" pitchFamily="18" charset="-122"/>
                          </a:rPr>
                          <m:t>,</m:t>
                        </m:r>
                        <m:r>
                          <a:rPr kumimoji="0" lang="zh-CN" altLang="en-US" sz="1400" b="0" i="1" u="none" strike="noStrike" kern="1200" cap="none" spc="0" normalizeH="0" baseline="0" noProof="0" smtClean="0">
                            <a:ln>
                              <a:noFill/>
                            </a:ln>
                            <a:solidFill>
                              <a:schemeClr val="accent2">
                                <a:lumMod val="75000"/>
                              </a:schemeClr>
                            </a:solidFill>
                            <a:uLnTx/>
                            <a:uFillTx/>
                            <a:latin typeface="Cambria Math" panose="02040503050406030204" pitchFamily="18" charset="0"/>
                            <a:ea typeface="Alibaba PuHuiTi" pitchFamily="18" charset="-122"/>
                            <a:cs typeface="Alibaba PuHuiTi" pitchFamily="18" charset="-122"/>
                          </a:rPr>
                          <m:t> </m:t>
                        </m:r>
                        <m:r>
                          <a:rPr kumimoji="0" lang="en-US" altLang="zh-CN" sz="1400" b="0" i="1" u="none" strike="noStrike" kern="1200" cap="none" spc="0" normalizeH="0" baseline="0" noProof="0" smtClean="0">
                            <a:ln>
                              <a:noFill/>
                            </a:ln>
                            <a:solidFill>
                              <a:schemeClr val="accent2">
                                <a:lumMod val="75000"/>
                              </a:schemeClr>
                            </a:solidFill>
                            <a:uLnTx/>
                            <a:uFillTx/>
                            <a:latin typeface="Cambria Math" panose="02040503050406030204" pitchFamily="18" charset="0"/>
                            <a:ea typeface="Alibaba PuHuiTi" pitchFamily="18" charset="-122"/>
                            <a:cs typeface="Alibaba PuHuiTi" pitchFamily="18" charset="-122"/>
                          </a:rPr>
                          <m:t>𝑎</m:t>
                        </m:r>
                        <m:r>
                          <a:rPr kumimoji="0" lang="en-US" altLang="zh-CN" sz="1400" b="0" i="1" u="none" strike="noStrike" kern="1200" cap="none" spc="0" normalizeH="0" baseline="0" noProof="0" smtClean="0">
                            <a:ln>
                              <a:noFill/>
                            </a:ln>
                            <a:solidFill>
                              <a:schemeClr val="accent2">
                                <a:lumMod val="75000"/>
                              </a:schemeClr>
                            </a:solidFill>
                            <a:uLnTx/>
                            <a:uFillTx/>
                            <a:latin typeface="Cambria Math" panose="02040503050406030204" pitchFamily="18" charset="0"/>
                            <a:ea typeface="Alibaba PuHuiTi" pitchFamily="18" charset="-122"/>
                            <a:cs typeface="Alibaba PuHuiTi" pitchFamily="18" charset="-122"/>
                          </a:rPr>
                          <m:t>)</m:t>
                        </m:r>
                      </m:num>
                      <m:den>
                        <m:r>
                          <a:rPr kumimoji="0" lang="en-US" altLang="zh-CN" sz="1400" b="0" i="1" u="none" strike="noStrike" kern="1200" cap="none" spc="0" normalizeH="0" baseline="0" noProof="0" smtClean="0">
                            <a:ln>
                              <a:noFill/>
                            </a:ln>
                            <a:solidFill>
                              <a:schemeClr val="accent2">
                                <a:lumMod val="75000"/>
                              </a:schemeClr>
                            </a:solidFill>
                            <a:uLnTx/>
                            <a:uFillTx/>
                            <a:latin typeface="Cambria Math" panose="02040503050406030204" pitchFamily="18" charset="0"/>
                            <a:ea typeface="Alibaba PuHuiTi" pitchFamily="18" charset="-122"/>
                            <a:cs typeface="Alibaba PuHuiTi" pitchFamily="18" charset="-122"/>
                          </a:rPr>
                          <m:t>𝐼𝑉</m:t>
                        </m:r>
                        <m:r>
                          <a:rPr kumimoji="0" lang="en-US" altLang="zh-CN" sz="1400" b="0" i="1" u="none" strike="noStrike" kern="1200" cap="none" spc="0" normalizeH="0" baseline="0" noProof="0" smtClean="0">
                            <a:ln>
                              <a:noFill/>
                            </a:ln>
                            <a:solidFill>
                              <a:schemeClr val="accent2">
                                <a:lumMod val="75000"/>
                              </a:schemeClr>
                            </a:solidFill>
                            <a:uLnTx/>
                            <a:uFillTx/>
                            <a:latin typeface="Cambria Math" panose="02040503050406030204" pitchFamily="18" charset="0"/>
                            <a:ea typeface="Alibaba PuHuiTi" pitchFamily="18" charset="-122"/>
                            <a:cs typeface="Alibaba PuHuiTi" pitchFamily="18" charset="-122"/>
                          </a:rPr>
                          <m:t>(</m:t>
                        </m:r>
                        <m:r>
                          <a:rPr kumimoji="0" lang="en-US" altLang="zh-CN" sz="1400" b="0" i="1" u="none" strike="noStrike" kern="1200" cap="none" spc="0" normalizeH="0" baseline="0" noProof="0" smtClean="0">
                            <a:ln>
                              <a:noFill/>
                            </a:ln>
                            <a:solidFill>
                              <a:schemeClr val="accent2">
                                <a:lumMod val="75000"/>
                              </a:schemeClr>
                            </a:solidFill>
                            <a:uLnTx/>
                            <a:uFillTx/>
                            <a:latin typeface="Cambria Math" panose="02040503050406030204" pitchFamily="18" charset="0"/>
                            <a:ea typeface="Alibaba PuHuiTi" pitchFamily="18" charset="-122"/>
                            <a:cs typeface="Alibaba PuHuiTi" pitchFamily="18" charset="-122"/>
                          </a:rPr>
                          <m:t>𝑎</m:t>
                        </m:r>
                        <m:r>
                          <a:rPr kumimoji="0" lang="en-US" altLang="zh-CN" sz="1400" b="0" i="1" u="none" strike="noStrike" kern="1200" cap="none" spc="0" normalizeH="0" baseline="0" noProof="0" smtClean="0">
                            <a:ln>
                              <a:noFill/>
                            </a:ln>
                            <a:solidFill>
                              <a:schemeClr val="accent2">
                                <a:lumMod val="75000"/>
                              </a:schemeClr>
                            </a:solidFill>
                            <a:uLnTx/>
                            <a:uFillTx/>
                            <a:latin typeface="Cambria Math" panose="02040503050406030204" pitchFamily="18" charset="0"/>
                            <a:ea typeface="Alibaba PuHuiTi" pitchFamily="18" charset="-122"/>
                            <a:cs typeface="Alibaba PuHuiTi" pitchFamily="18" charset="-122"/>
                          </a:rPr>
                          <m:t>)</m:t>
                        </m:r>
                      </m:den>
                    </m:f>
                  </m:oMath>
                </a14:m>
                <a:r>
                  <a:rPr kumimoji="0" lang="zh-CN" altLang="en-US" sz="1400" u="none" strike="noStrike" kern="1200" cap="none" spc="0" normalizeH="0" baseline="0" noProof="0" dirty="0">
                    <a:ln>
                      <a:noFill/>
                    </a:ln>
                    <a:solidFill>
                      <a:schemeClr val="accent2">
                        <a:lumMod val="75000"/>
                      </a:schemeClr>
                    </a:solidFill>
                    <a:uLnTx/>
                    <a:uFillTx/>
                    <a:latin typeface="Alibaba PuHuiTi" pitchFamily="18" charset="-122"/>
                    <a:ea typeface="Alibaba PuHuiTi" pitchFamily="18" charset="-122"/>
                    <a:cs typeface="Alibaba PuHuiTi" pitchFamily="18" charset="-122"/>
                  </a:rPr>
                  <a:t>   ，</a:t>
                </a:r>
                <a:endParaRPr kumimoji="0" lang="en-US" altLang="zh-CN" sz="1400" u="none" strike="noStrike" kern="1200" cap="none" spc="0" normalizeH="0" baseline="0" noProof="0" dirty="0">
                  <a:ln>
                    <a:noFill/>
                  </a:ln>
                  <a:solidFill>
                    <a:schemeClr val="accent2">
                      <a:lumMod val="75000"/>
                    </a:schemeClr>
                  </a:solidFill>
                  <a:uLnTx/>
                  <a:uFillTx/>
                  <a:latin typeface="Alibaba PuHuiTi" pitchFamily="18" charset="-122"/>
                  <a:ea typeface="Alibaba PuHuiTi" pitchFamily="18" charset="-122"/>
                  <a:cs typeface="Alibaba PuHuiTi" pitchFamily="18" charset="-122"/>
                </a:endParaRPr>
              </a:p>
              <a:p>
                <a:pPr indent="-285750">
                  <a:lnSpc>
                    <a:spcPct val="150000"/>
                  </a:lnSpc>
                  <a:buFont typeface="Arial" panose="020B0604020202020204" pitchFamily="34" charset="0"/>
                  <a:buChar char="•"/>
                  <a:defRPr/>
                </a:pPr>
                <a:r>
                  <a:rPr lang="en-US" altLang="zh-CN" sz="1400" dirty="0" err="1">
                    <a:solidFill>
                      <a:schemeClr val="accent2">
                        <a:lumMod val="75000"/>
                      </a:schemeClr>
                    </a:solidFill>
                    <a:latin typeface="Alibaba PuHuiTi" pitchFamily="18" charset="-122"/>
                    <a:ea typeface="Alibaba PuHuiTi" pitchFamily="18" charset="-122"/>
                    <a:cs typeface="Alibaba PuHuiTi" pitchFamily="18" charset="-122"/>
                  </a:rPr>
                  <a:t>Gain_Ratio</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(D,</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 </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a)</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  信息增益率</a:t>
                </a:r>
                <a:endParaRPr kumimoji="0" lang="en-US" altLang="zh-CN" sz="1400" u="none" strike="noStrike" kern="1200" cap="none" spc="0" normalizeH="0" baseline="0" noProof="0" dirty="0">
                  <a:ln>
                    <a:noFill/>
                  </a:ln>
                  <a:solidFill>
                    <a:schemeClr val="accent2">
                      <a:lumMod val="75000"/>
                    </a:schemeClr>
                  </a:solidFill>
                  <a:uLnTx/>
                  <a:uFillTx/>
                  <a:latin typeface="Alibaba PuHuiTi" pitchFamily="18" charset="-122"/>
                  <a:ea typeface="Alibaba PuHuiTi" pitchFamily="18" charset="-122"/>
                  <a:cs typeface="Alibaba PuHuiTi" pitchFamily="18" charset="-122"/>
                </a:endParaRPr>
              </a:p>
              <a:p>
                <a:pPr indent="-285750">
                  <a:lnSpc>
                    <a:spcPct val="150000"/>
                  </a:lnSpc>
                  <a:buFont typeface="Arial" panose="020B0604020202020204" pitchFamily="34" charset="0"/>
                  <a:buChar char="•"/>
                  <a:defRPr/>
                </a:pP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IV(a)</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 </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 </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a:t>
                </a:r>
                <a14:m>
                  <m:oMath xmlns:m="http://schemas.openxmlformats.org/officeDocument/2006/math">
                    <m:nary>
                      <m:naryPr>
                        <m:chr m:val="∑"/>
                        <m:ctrlPr>
                          <a:rPr kumimoji="0" lang="zh-CN" altLang="en-US" sz="1400" b="0" i="1" u="none" strike="noStrike" kern="1200" cap="none" spc="0" normalizeH="0" baseline="0" noProof="0" smtClean="0">
                            <a:ln>
                              <a:noFill/>
                            </a:ln>
                            <a:solidFill>
                              <a:schemeClr val="tx1">
                                <a:lumMod val="85000"/>
                                <a:lumOff val="15000"/>
                              </a:schemeClr>
                            </a:solidFill>
                            <a:effectLst/>
                            <a:uLnTx/>
                            <a:uFillTx/>
                            <a:latin typeface="Cambria Math" panose="02040503050406030204" pitchFamily="18" charset="0"/>
                            <a:ea typeface="Alibaba PuHuiTi" pitchFamily="18" charset="-122"/>
                            <a:cs typeface="Alibaba PuHuiTi" pitchFamily="18" charset="-122"/>
                          </a:rPr>
                        </m:ctrlPr>
                      </m:naryPr>
                      <m:sub>
                        <m:r>
                          <a:rPr kumimoji="0" lang="en-US" altLang="zh-CN" sz="1400" b="0" i="1" u="none" strike="noStrike" kern="1200" cap="none" spc="0" normalizeH="0" baseline="0" noProof="0">
                            <a:ln>
                              <a:noFill/>
                            </a:ln>
                            <a:solidFill>
                              <a:schemeClr val="tx1">
                                <a:lumMod val="85000"/>
                                <a:lumOff val="15000"/>
                              </a:schemeClr>
                            </a:solidFill>
                            <a:effectLst/>
                            <a:uLnTx/>
                            <a:uFillTx/>
                            <a:latin typeface="Cambria Math" panose="02040503050406030204" pitchFamily="18" charset="0"/>
                            <a:ea typeface="Alibaba PuHuiTi" pitchFamily="18" charset="-122"/>
                            <a:cs typeface="Alibaba PuHuiTi" pitchFamily="18" charset="-122"/>
                          </a:rPr>
                          <m:t>𝑣</m:t>
                        </m:r>
                        <m:r>
                          <a:rPr kumimoji="0" lang="en-US" altLang="zh-CN" sz="1400" b="0" i="1" u="none" strike="noStrike" kern="1200" cap="none" spc="0" normalizeH="0" baseline="0" noProof="0">
                            <a:ln>
                              <a:noFill/>
                            </a:ln>
                            <a:solidFill>
                              <a:schemeClr val="tx1">
                                <a:lumMod val="85000"/>
                                <a:lumOff val="15000"/>
                              </a:schemeClr>
                            </a:solidFill>
                            <a:effectLst/>
                            <a:uLnTx/>
                            <a:uFillTx/>
                            <a:latin typeface="Cambria Math" panose="02040503050406030204" pitchFamily="18" charset="0"/>
                            <a:ea typeface="Alibaba PuHuiTi" pitchFamily="18" charset="-122"/>
                            <a:cs typeface="Alibaba PuHuiTi" pitchFamily="18" charset="-122"/>
                          </a:rPr>
                          <m:t>=</m:t>
                        </m:r>
                        <m:r>
                          <a:rPr kumimoji="0" lang="en-US" altLang="zh-CN" sz="1400" b="0" i="1" u="none" strike="noStrike" kern="1200" cap="none" spc="0" normalizeH="0" baseline="0" noProof="0">
                            <a:ln>
                              <a:noFill/>
                            </a:ln>
                            <a:solidFill>
                              <a:schemeClr val="tx1">
                                <a:lumMod val="85000"/>
                                <a:lumOff val="15000"/>
                              </a:schemeClr>
                            </a:solidFill>
                            <a:effectLst/>
                            <a:uLnTx/>
                            <a:uFillTx/>
                            <a:latin typeface="Cambria Math" panose="02040503050406030204" pitchFamily="18" charset="0"/>
                            <a:ea typeface="Alibaba PuHuiTi" pitchFamily="18" charset="-122"/>
                            <a:cs typeface="Alibaba PuHuiTi" pitchFamily="18" charset="-122"/>
                          </a:rPr>
                          <m:t>1</m:t>
                        </m:r>
                      </m:sub>
                      <m:sup>
                        <m:r>
                          <a:rPr kumimoji="0" lang="en-US" altLang="zh-CN" sz="1400" b="0" i="1" u="none" strike="noStrike" kern="1200" cap="none" spc="0" normalizeH="0" baseline="0" noProof="0">
                            <a:ln>
                              <a:noFill/>
                            </a:ln>
                            <a:solidFill>
                              <a:schemeClr val="tx1">
                                <a:lumMod val="85000"/>
                                <a:lumOff val="15000"/>
                              </a:schemeClr>
                            </a:solidFill>
                            <a:effectLst/>
                            <a:uLnTx/>
                            <a:uFillTx/>
                            <a:latin typeface="Cambria Math" panose="02040503050406030204" pitchFamily="18" charset="0"/>
                            <a:ea typeface="Alibaba PuHuiTi" pitchFamily="18" charset="-122"/>
                            <a:cs typeface="Alibaba PuHuiTi" pitchFamily="18" charset="-122"/>
                          </a:rPr>
                          <m:t>𝑛</m:t>
                        </m:r>
                      </m:sup>
                      <m:e>
                        <m:f>
                          <m:fPr>
                            <m:ctrlPr>
                              <a:rPr kumimoji="0" lang="en-US" altLang="zh-CN" sz="1400" b="0" i="1" u="none" strike="noStrike" kern="1200" cap="none" spc="0" normalizeH="0" baseline="0" noProof="0">
                                <a:ln>
                                  <a:noFill/>
                                </a:ln>
                                <a:solidFill>
                                  <a:schemeClr val="tx1">
                                    <a:lumMod val="85000"/>
                                    <a:lumOff val="15000"/>
                                  </a:schemeClr>
                                </a:solidFill>
                                <a:effectLst/>
                                <a:uLnTx/>
                                <a:uFillTx/>
                                <a:latin typeface="Cambria Math" panose="02040503050406030204" pitchFamily="18" charset="0"/>
                                <a:ea typeface="Alibaba PuHuiTi" pitchFamily="18" charset="-122"/>
                                <a:cs typeface="Alibaba PuHuiTi" pitchFamily="18" charset="-122"/>
                              </a:rPr>
                            </m:ctrlPr>
                          </m:fPr>
                          <m:num>
                            <m:sSup>
                              <m:sSupPr>
                                <m:ctrlPr>
                                  <a:rPr kumimoji="0" lang="en-US" altLang="zh-CN" sz="1400" b="0" i="1" u="none" strike="noStrike" kern="1200" cap="none" spc="0" normalizeH="0" baseline="0" noProof="0">
                                    <a:ln>
                                      <a:noFill/>
                                    </a:ln>
                                    <a:solidFill>
                                      <a:schemeClr val="tx1">
                                        <a:lumMod val="85000"/>
                                        <a:lumOff val="15000"/>
                                      </a:schemeClr>
                                    </a:solidFill>
                                    <a:effectLst/>
                                    <a:uLnTx/>
                                    <a:uFillTx/>
                                    <a:latin typeface="Cambria Math" panose="02040503050406030204" pitchFamily="18" charset="0"/>
                                    <a:ea typeface="Alibaba PuHuiTi" pitchFamily="18" charset="-122"/>
                                    <a:cs typeface="Alibaba PuHuiTi" pitchFamily="18" charset="-122"/>
                                  </a:rPr>
                                </m:ctrlPr>
                              </m:sSupPr>
                              <m:e>
                                <m:r>
                                  <a:rPr kumimoji="0" lang="en-US" altLang="zh-CN" sz="1400" b="0" i="1" u="none" strike="noStrike" kern="1200" cap="none" spc="0" normalizeH="0" baseline="0" noProof="0">
                                    <a:ln>
                                      <a:noFill/>
                                    </a:ln>
                                    <a:solidFill>
                                      <a:schemeClr val="tx1">
                                        <a:lumMod val="85000"/>
                                        <a:lumOff val="15000"/>
                                      </a:schemeClr>
                                    </a:solidFill>
                                    <a:effectLst/>
                                    <a:uLnTx/>
                                    <a:uFillTx/>
                                    <a:latin typeface="Cambria Math" panose="02040503050406030204" pitchFamily="18" charset="0"/>
                                    <a:ea typeface="Alibaba PuHuiTi" pitchFamily="18" charset="-122"/>
                                    <a:cs typeface="Alibaba PuHuiTi" pitchFamily="18" charset="-122"/>
                                  </a:rPr>
                                  <m:t>𝐷</m:t>
                                </m:r>
                              </m:e>
                              <m:sup>
                                <m:r>
                                  <a:rPr kumimoji="0" lang="en-US" altLang="zh-CN" sz="1400" b="0" i="1" u="none" strike="noStrike" kern="1200" cap="none" spc="0" normalizeH="0" baseline="0" noProof="0">
                                    <a:ln>
                                      <a:noFill/>
                                    </a:ln>
                                    <a:solidFill>
                                      <a:schemeClr val="tx1">
                                        <a:lumMod val="85000"/>
                                        <a:lumOff val="15000"/>
                                      </a:schemeClr>
                                    </a:solidFill>
                                    <a:effectLst/>
                                    <a:uLnTx/>
                                    <a:uFillTx/>
                                    <a:latin typeface="Cambria Math" panose="02040503050406030204" pitchFamily="18" charset="0"/>
                                    <a:ea typeface="Alibaba PuHuiTi" pitchFamily="18" charset="-122"/>
                                    <a:cs typeface="Alibaba PuHuiTi" pitchFamily="18" charset="-122"/>
                                  </a:rPr>
                                  <m:t>𝑉</m:t>
                                </m:r>
                              </m:sup>
                            </m:sSup>
                          </m:num>
                          <m:den>
                            <m:r>
                              <a:rPr kumimoji="0" lang="en-US" altLang="zh-CN" sz="1400" b="0" i="1" u="none" strike="noStrike" kern="1200" cap="none" spc="0" normalizeH="0" baseline="0" noProof="0">
                                <a:ln>
                                  <a:noFill/>
                                </a:ln>
                                <a:solidFill>
                                  <a:schemeClr val="tx1">
                                    <a:lumMod val="85000"/>
                                    <a:lumOff val="15000"/>
                                  </a:schemeClr>
                                </a:solidFill>
                                <a:effectLst/>
                                <a:uLnTx/>
                                <a:uFillTx/>
                                <a:latin typeface="Cambria Math" panose="02040503050406030204" pitchFamily="18" charset="0"/>
                                <a:ea typeface="Alibaba PuHuiTi" pitchFamily="18" charset="-122"/>
                                <a:cs typeface="Alibaba PuHuiTi" pitchFamily="18" charset="-122"/>
                              </a:rPr>
                              <m:t>𝐷</m:t>
                            </m:r>
                          </m:den>
                        </m:f>
                        <m:r>
                          <a:rPr kumimoji="0" lang="zh-CN" altLang="en-US" sz="1400" b="0" i="1" u="none" strike="noStrike" kern="1200" cap="none" spc="0" normalizeH="0" baseline="0" noProof="0">
                            <a:ln>
                              <a:noFill/>
                            </a:ln>
                            <a:solidFill>
                              <a:schemeClr val="tx1">
                                <a:lumMod val="85000"/>
                                <a:lumOff val="15000"/>
                              </a:schemeClr>
                            </a:solidFill>
                            <a:effectLst/>
                            <a:uLnTx/>
                            <a:uFillTx/>
                            <a:latin typeface="Cambria Math" panose="02040503050406030204" pitchFamily="18" charset="0"/>
                            <a:ea typeface="Alibaba PuHuiTi" pitchFamily="18" charset="-122"/>
                            <a:cs typeface="Alibaba PuHuiTi" pitchFamily="18" charset="-122"/>
                          </a:rPr>
                          <m:t> </m:t>
                        </m:r>
                        <m:sSub>
                          <m:sSubPr>
                            <m:ctrlPr>
                              <a:rPr lang="en-US" altLang="zh-CN" sz="1400" i="1">
                                <a:latin typeface="Cambria Math" panose="02040503050406030204" pitchFamily="18" charset="0"/>
                                <a:ea typeface="Alibaba PuHuiTi" pitchFamily="18" charset="-122"/>
                                <a:cs typeface="Alibaba PuHuiTi" pitchFamily="18" charset="-122"/>
                              </a:rPr>
                            </m:ctrlPr>
                          </m:sSubPr>
                          <m:e>
                            <m:r>
                              <m:rPr>
                                <m:sty m:val="p"/>
                              </m:rPr>
                              <a:rPr lang="en-US" altLang="zh-CN" sz="1400">
                                <a:latin typeface="Cambria Math" panose="02040503050406030204" pitchFamily="18" charset="0"/>
                                <a:ea typeface="Alibaba PuHuiTi" pitchFamily="18" charset="-122"/>
                                <a:cs typeface="Alibaba PuHuiTi" pitchFamily="18" charset="-122"/>
                              </a:rPr>
                              <m:t>log</m:t>
                            </m:r>
                          </m:e>
                          <m:sub>
                            <m:r>
                              <a:rPr lang="en-US" altLang="zh-CN" sz="1400" i="1">
                                <a:latin typeface="Cambria Math" panose="02040503050406030204" pitchFamily="18" charset="0"/>
                                <a:ea typeface="Alibaba PuHuiTi" pitchFamily="18" charset="-122"/>
                                <a:cs typeface="Alibaba PuHuiTi" pitchFamily="18" charset="-122"/>
                              </a:rPr>
                              <m:t>2</m:t>
                            </m:r>
                          </m:sub>
                        </m:sSub>
                        <m:r>
                          <a:rPr kumimoji="0" lang="en-US" altLang="zh-CN" sz="1400" b="0" i="1" u="none" strike="noStrike" kern="1200" cap="none" spc="0" normalizeH="0" baseline="0" noProof="0">
                            <a:ln>
                              <a:noFill/>
                            </a:ln>
                            <a:solidFill>
                              <a:schemeClr val="tx1">
                                <a:lumMod val="85000"/>
                                <a:lumOff val="15000"/>
                              </a:schemeClr>
                            </a:solidFill>
                            <a:effectLst/>
                            <a:uLnTx/>
                            <a:uFillTx/>
                            <a:latin typeface="Cambria Math" panose="02040503050406030204" pitchFamily="18" charset="0"/>
                            <a:ea typeface="Alibaba PuHuiTi" pitchFamily="18" charset="-122"/>
                            <a:cs typeface="Alibaba PuHuiTi" pitchFamily="18" charset="-122"/>
                          </a:rPr>
                          <m:t>(</m:t>
                        </m:r>
                        <m:f>
                          <m:fPr>
                            <m:ctrlPr>
                              <a:rPr lang="en-US" altLang="zh-CN" sz="1400" i="1">
                                <a:solidFill>
                                  <a:schemeClr val="tx1">
                                    <a:lumMod val="85000"/>
                                    <a:lumOff val="15000"/>
                                  </a:schemeClr>
                                </a:solidFill>
                                <a:latin typeface="Cambria Math" panose="02040503050406030204" pitchFamily="18" charset="0"/>
                                <a:ea typeface="Alibaba PuHuiTi" pitchFamily="18" charset="-122"/>
                                <a:cs typeface="Alibaba PuHuiTi" pitchFamily="18" charset="-122"/>
                              </a:rPr>
                            </m:ctrlPr>
                          </m:fPr>
                          <m:num>
                            <m:sSup>
                              <m:sSupPr>
                                <m:ctrlPr>
                                  <a:rPr lang="en-US" altLang="zh-CN" sz="1400" i="1">
                                    <a:solidFill>
                                      <a:schemeClr val="tx1">
                                        <a:lumMod val="85000"/>
                                        <a:lumOff val="15000"/>
                                      </a:schemeClr>
                                    </a:solidFill>
                                    <a:latin typeface="Cambria Math" panose="02040503050406030204" pitchFamily="18" charset="0"/>
                                    <a:ea typeface="Alibaba PuHuiTi" pitchFamily="18" charset="-122"/>
                                    <a:cs typeface="Alibaba PuHuiTi" pitchFamily="18" charset="-122"/>
                                  </a:rPr>
                                </m:ctrlPr>
                              </m:sSupPr>
                              <m:e>
                                <m:r>
                                  <a:rPr lang="en-US" altLang="zh-CN" sz="1400" i="1">
                                    <a:solidFill>
                                      <a:schemeClr val="tx1">
                                        <a:lumMod val="85000"/>
                                        <a:lumOff val="15000"/>
                                      </a:schemeClr>
                                    </a:solidFill>
                                    <a:latin typeface="Cambria Math" panose="02040503050406030204" pitchFamily="18" charset="0"/>
                                    <a:ea typeface="Alibaba PuHuiTi" pitchFamily="18" charset="-122"/>
                                    <a:cs typeface="Alibaba PuHuiTi" pitchFamily="18" charset="-122"/>
                                  </a:rPr>
                                  <m:t>𝐷</m:t>
                                </m:r>
                              </m:e>
                              <m:sup>
                                <m:r>
                                  <a:rPr lang="en-US" altLang="zh-CN" sz="1400" i="1">
                                    <a:solidFill>
                                      <a:schemeClr val="tx1">
                                        <a:lumMod val="85000"/>
                                        <a:lumOff val="15000"/>
                                      </a:schemeClr>
                                    </a:solidFill>
                                    <a:latin typeface="Cambria Math" panose="02040503050406030204" pitchFamily="18" charset="0"/>
                                    <a:ea typeface="Alibaba PuHuiTi" pitchFamily="18" charset="-122"/>
                                    <a:cs typeface="Alibaba PuHuiTi" pitchFamily="18" charset="-122"/>
                                  </a:rPr>
                                  <m:t>𝑉</m:t>
                                </m:r>
                              </m:sup>
                            </m:sSup>
                          </m:num>
                          <m:den>
                            <m:r>
                              <a:rPr lang="en-US" altLang="zh-CN" sz="1400" i="1">
                                <a:solidFill>
                                  <a:schemeClr val="tx1">
                                    <a:lumMod val="85000"/>
                                    <a:lumOff val="15000"/>
                                  </a:schemeClr>
                                </a:solidFill>
                                <a:latin typeface="Cambria Math" panose="02040503050406030204" pitchFamily="18" charset="0"/>
                                <a:ea typeface="Alibaba PuHuiTi" pitchFamily="18" charset="-122"/>
                                <a:cs typeface="Alibaba PuHuiTi" pitchFamily="18" charset="-122"/>
                              </a:rPr>
                              <m:t>𝐷</m:t>
                            </m:r>
                          </m:den>
                        </m:f>
                        <m:r>
                          <a:rPr kumimoji="0" lang="en-US" altLang="zh-CN" sz="1400" b="0" i="1" u="none" strike="noStrike" kern="1200" cap="none" spc="0" normalizeH="0" baseline="0" noProof="0">
                            <a:ln>
                              <a:noFill/>
                            </a:ln>
                            <a:solidFill>
                              <a:schemeClr val="tx1">
                                <a:lumMod val="85000"/>
                                <a:lumOff val="15000"/>
                              </a:schemeClr>
                            </a:solidFill>
                            <a:effectLst/>
                            <a:uLnTx/>
                            <a:uFillTx/>
                            <a:latin typeface="Cambria Math" panose="02040503050406030204" pitchFamily="18" charset="0"/>
                            <a:ea typeface="Alibaba PuHuiTi" pitchFamily="18" charset="-122"/>
                            <a:cs typeface="Alibaba PuHuiTi" pitchFamily="18" charset="-122"/>
                          </a:rPr>
                          <m:t>) </m:t>
                        </m:r>
                      </m:e>
                    </m:nary>
                  </m:oMath>
                </a14:m>
                <a:r>
                  <a:rPr kumimoji="0" lang="zh-CN" altLang="en-US" sz="1400" u="none" strike="noStrike" kern="1200" cap="none" spc="0" normalizeH="0" baseline="0" noProof="0" dirty="0">
                    <a:ln>
                      <a:noFill/>
                    </a:ln>
                    <a:solidFill>
                      <a:schemeClr val="accent2">
                        <a:lumMod val="75000"/>
                      </a:schemeClr>
                    </a:solidFill>
                    <a:uLnTx/>
                    <a:uFillTx/>
                    <a:latin typeface="Alibaba PuHuiTi" pitchFamily="18" charset="-122"/>
                    <a:ea typeface="Alibaba PuHuiTi" pitchFamily="18" charset="-122"/>
                    <a:cs typeface="Alibaba PuHuiTi" pitchFamily="18" charset="-122"/>
                  </a:rPr>
                  <a:t>，</a:t>
                </a:r>
                <a:r>
                  <a:rPr kumimoji="0" lang="en-US" altLang="zh-CN" sz="1400" u="none" strike="noStrike" kern="1200" cap="none" spc="0" normalizeH="0" baseline="0" noProof="0" dirty="0">
                    <a:ln>
                      <a:noFill/>
                    </a:ln>
                    <a:solidFill>
                      <a:schemeClr val="accent2">
                        <a:lumMod val="75000"/>
                      </a:schemeClr>
                    </a:solidFill>
                    <a:uLnTx/>
                    <a:uFillTx/>
                    <a:latin typeface="Alibaba PuHuiTi" pitchFamily="18" charset="-122"/>
                    <a:ea typeface="Alibaba PuHuiTi" pitchFamily="18" charset="-122"/>
                    <a:cs typeface="Alibaba PuHuiTi" pitchFamily="18" charset="-122"/>
                  </a:rPr>
                  <a:t>IV</a:t>
                </a:r>
                <a:r>
                  <a:rPr kumimoji="0" lang="zh-CN" altLang="en-US" sz="1400" u="none" strike="noStrike" kern="1200" cap="none" spc="0" normalizeH="0" baseline="0" noProof="0" dirty="0">
                    <a:ln>
                      <a:noFill/>
                    </a:ln>
                    <a:solidFill>
                      <a:schemeClr val="accent2">
                        <a:lumMod val="75000"/>
                      </a:schemeClr>
                    </a:solidFill>
                    <a:uLnTx/>
                    <a:uFillTx/>
                    <a:latin typeface="Alibaba PuHuiTi" pitchFamily="18" charset="-122"/>
                    <a:ea typeface="Alibaba PuHuiTi" pitchFamily="18" charset="-122"/>
                    <a:cs typeface="Alibaba PuHuiTi" pitchFamily="18" charset="-122"/>
                  </a:rPr>
                  <a:t>特征熵 </a:t>
                </a:r>
                <a:endParaRPr kumimoji="0" lang="en-US" altLang="zh-CN" sz="1400" u="none" strike="noStrike" kern="1200" cap="none" spc="0" normalizeH="0" baseline="0" noProof="0" dirty="0">
                  <a:ln>
                    <a:noFill/>
                  </a:ln>
                  <a:solidFill>
                    <a:schemeClr val="accent2">
                      <a:lumMod val="75000"/>
                    </a:schemeClr>
                  </a:solidFill>
                  <a:uLnTx/>
                  <a:uFillTx/>
                  <a:latin typeface="Alibaba PuHuiTi" pitchFamily="18" charset="-122"/>
                  <a:ea typeface="Alibaba PuHuiTi" pitchFamily="18" charset="-122"/>
                  <a:cs typeface="Alibaba PuHuiTi" pitchFamily="18" charset="-122"/>
                </a:endParaRPr>
              </a:p>
            </p:txBody>
          </p:sp>
        </mc:Choice>
        <mc:Fallback>
          <p:sp>
            <p:nvSpPr>
              <p:cNvPr id="5" name="文本框 4"/>
              <p:cNvSpPr txBox="1">
                <a:spLocks noRot="1" noChangeAspect="1" noMove="1" noResize="1" noEditPoints="1" noAdjustHandles="1" noChangeArrowheads="1" noChangeShapeType="1" noTextEdit="1"/>
              </p:cNvSpPr>
              <p:nvPr/>
            </p:nvSpPr>
            <p:spPr>
              <a:xfrm>
                <a:off x="1666257" y="2559206"/>
                <a:ext cx="7375041" cy="1421765"/>
              </a:xfrm>
              <a:prstGeom prst="rect">
                <a:avLst/>
              </a:prstGeom>
              <a:blipFill rotWithShape="1">
                <a:blip r:embed="rId1"/>
                <a:stretch>
                  <a:fillRect t="-11" r="2" b="11"/>
                </a:stretch>
              </a:blipFill>
            </p:spPr>
            <p:txBody>
              <a:bodyPr/>
              <a:lstStyle/>
              <a:p>
                <a:r>
                  <a:rPr lang="zh-CN" altLang="en-US">
                    <a:noFill/>
                  </a:rPr>
                  <a:t> </a:t>
                </a:r>
              </a:p>
            </p:txBody>
          </p:sp>
        </mc:Fallback>
      </mc:AlternateContent>
      <p:sp>
        <p:nvSpPr>
          <p:cNvPr id="9" name="文本占位符 2"/>
          <p:cNvSpPr txBox="1"/>
          <p:nvPr/>
        </p:nvSpPr>
        <p:spPr>
          <a:xfrm>
            <a:off x="1022985" y="2059940"/>
            <a:ext cx="1459230" cy="49974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计算方法</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4" name="文本框 3"/>
          <p:cNvSpPr txBox="1"/>
          <p:nvPr/>
        </p:nvSpPr>
        <p:spPr>
          <a:xfrm>
            <a:off x="860425" y="1356995"/>
            <a:ext cx="9999980" cy="655320"/>
          </a:xfrm>
          <a:prstGeom prst="rect">
            <a:avLst/>
          </a:prstGeom>
        </p:spPr>
        <p:txBody>
          <a:bodyPr wrap="square">
            <a:spAutoFit/>
          </a:bodyPr>
          <a:p>
            <a:pPr>
              <a:spcAft>
                <a:spcPct val="60000"/>
              </a:spcAft>
            </a:pPr>
            <a:r>
              <a:rPr lang="en-US" altLang="zh-CN" sz="1400" dirty="0">
                <a:solidFill>
                  <a:srgbClr val="374151"/>
                </a:solidFill>
                <a:effectLst/>
                <a:latin typeface="Alibaba PuHuiTi" pitchFamily="18" charset="-122"/>
                <a:ea typeface="Alibaba PuHuiTi" pitchFamily="18" charset="-122"/>
                <a:cs typeface="Alibaba PuHuiTi" pitchFamily="18" charset="-122"/>
              </a:rPr>
              <a:t>信息增益率（Gain Ratio）C4.5</a:t>
            </a:r>
            <a:r>
              <a:rPr lang="zh-CN" altLang="en-US" sz="1400" dirty="0">
                <a:solidFill>
                  <a:srgbClr val="374151"/>
                </a:solidFill>
                <a:effectLst/>
                <a:latin typeface="Alibaba PuHuiTi" pitchFamily="18" charset="-122"/>
                <a:ea typeface="Alibaba PuHuiTi" pitchFamily="18" charset="-122"/>
                <a:cs typeface="Alibaba PuHuiTi" pitchFamily="18" charset="-122"/>
              </a:rPr>
              <a:t>决策树算法中用于选择最优特征的指标</a:t>
            </a:r>
            <a:endParaRPr lang="zh-CN" altLang="en-US" sz="1400" dirty="0">
              <a:solidFill>
                <a:srgbClr val="374151"/>
              </a:solidFill>
              <a:effectLst/>
              <a:latin typeface="Alibaba PuHuiTi" pitchFamily="18" charset="-122"/>
              <a:ea typeface="Alibaba PuHuiTi" pitchFamily="18" charset="-122"/>
              <a:cs typeface="Alibaba PuHuiTi" pitchFamily="18" charset="-122"/>
            </a:endParaRPr>
          </a:p>
          <a:p>
            <a:pPr>
              <a:spcAft>
                <a:spcPct val="60000"/>
              </a:spcAft>
            </a:pPr>
            <a:r>
              <a:rPr lang="en-US" altLang="zh-CN" sz="1400" dirty="0">
                <a:solidFill>
                  <a:srgbClr val="374151"/>
                </a:solidFill>
                <a:effectLst/>
                <a:latin typeface="Alibaba PuHuiTi" pitchFamily="18" charset="-122"/>
                <a:ea typeface="Alibaba PuHuiTi" pitchFamily="18" charset="-122"/>
                <a:cs typeface="Alibaba PuHuiTi" pitchFamily="18" charset="-122"/>
              </a:rPr>
              <a:t>核心目的：解决ID3算法中信息增益（Information Gain）对多值特征的偏好问题</a:t>
            </a:r>
            <a:r>
              <a:rPr lang="en-US" altLang="zh-CN" sz="1400" dirty="0">
                <a:solidFill>
                  <a:srgbClr val="374151"/>
                </a:solidFill>
                <a:effectLst/>
                <a:latin typeface="Alibaba PuHuiTi" pitchFamily="18" charset="-122"/>
                <a:ea typeface="Alibaba PuHuiTi" pitchFamily="18" charset="-122"/>
                <a:cs typeface="Alibaba PuHuiTi" pitchFamily="18" charset="-122"/>
                <a:sym typeface="+mn-ea"/>
              </a:rPr>
              <a:t>,</a:t>
            </a:r>
            <a:r>
              <a:rPr lang="zh-CN" altLang="en-US" sz="1400" dirty="0">
                <a:solidFill>
                  <a:srgbClr val="374151"/>
                </a:solidFill>
                <a:effectLst/>
                <a:latin typeface="Alibaba PuHuiTi" pitchFamily="18" charset="-122"/>
                <a:ea typeface="Alibaba PuHuiTi" pitchFamily="18" charset="-122"/>
                <a:cs typeface="Alibaba PuHuiTi" pitchFamily="18" charset="-122"/>
                <a:sym typeface="+mn-ea"/>
              </a:rPr>
              <a:t>避免了过拟合问题</a:t>
            </a:r>
            <a:r>
              <a:rPr lang="en-US" altLang="zh-CN" sz="1400" dirty="0">
                <a:solidFill>
                  <a:srgbClr val="374151"/>
                </a:solidFill>
                <a:effectLst/>
                <a:latin typeface="Alibaba PuHuiTi" pitchFamily="18" charset="-122"/>
                <a:ea typeface="Alibaba PuHuiTi" pitchFamily="18" charset="-122"/>
                <a:cs typeface="Alibaba PuHuiTi" pitchFamily="18" charset="-122"/>
              </a:rPr>
              <a:t>。</a:t>
            </a:r>
            <a:endParaRPr lang="zh-CN" altLang="en-US" sz="16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信息增益率</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022877" y="1398310"/>
            <a:ext cx="2127827"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已知数据集</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graphicFrame>
        <p:nvGraphicFramePr>
          <p:cNvPr id="6" name="表格 5"/>
          <p:cNvGraphicFramePr/>
          <p:nvPr>
            <p:custDataLst>
              <p:tags r:id="rId1"/>
            </p:custDataLst>
          </p:nvPr>
        </p:nvGraphicFramePr>
        <p:xfrm>
          <a:off x="5624462" y="1005937"/>
          <a:ext cx="3092439" cy="2254535"/>
        </p:xfrm>
        <a:graphic>
          <a:graphicData uri="http://schemas.openxmlformats.org/drawingml/2006/table">
            <a:tbl>
              <a:tblPr firstRow="1" bandRow="1">
                <a:tableStyleId>{5C22544A-7EE6-4342-B048-85BDC9FD1C3A}</a:tableStyleId>
              </a:tblPr>
              <a:tblGrid>
                <a:gridCol w="955495"/>
                <a:gridCol w="955495"/>
                <a:gridCol w="1181449"/>
              </a:tblGrid>
              <a:tr h="398454">
                <a:tc>
                  <a:txBody>
                    <a:bodyPr/>
                    <a:lstStyle/>
                    <a:p>
                      <a:pPr indent="0" algn="ctr">
                        <a:buNone/>
                      </a:pPr>
                      <a:r>
                        <a:rPr lang="zh-CN" altLang="en-US" sz="1400" b="0" dirty="0">
                          <a:solidFill>
                            <a:schemeClr val="bg1"/>
                          </a:solidFill>
                          <a:latin typeface="阿里巴巴普惠体" panose="00020600040101010101" pitchFamily="18" charset="-122"/>
                          <a:ea typeface="阿里巴巴普惠体" panose="00020600040101010101" pitchFamily="18" charset="-122"/>
                        </a:rPr>
                        <a:t>特征</a:t>
                      </a:r>
                      <a:r>
                        <a:rPr lang="en-US" altLang="zh-CN" sz="1400" b="0" dirty="0">
                          <a:solidFill>
                            <a:schemeClr val="bg1"/>
                          </a:solidFill>
                          <a:latin typeface="阿里巴巴普惠体" panose="00020600040101010101" pitchFamily="18" charset="-122"/>
                          <a:ea typeface="阿里巴巴普惠体" panose="00020600040101010101" pitchFamily="18" charset="-122"/>
                        </a:rPr>
                        <a:t>b</a:t>
                      </a:r>
                      <a:endParaRPr lang="en-US" altLang="zh-CN" sz="1400" b="0" dirty="0">
                        <a:solidFill>
                          <a:schemeClr val="bg1"/>
                        </a:solidFill>
                        <a:latin typeface="阿里巴巴普惠体" panose="00020600040101010101" pitchFamily="18" charset="-122"/>
                        <a:ea typeface="阿里巴巴普惠体" panose="00020600040101010101" pitchFamily="18" charset="-122"/>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p>
                      <a:pPr indent="0" algn="ctr">
                        <a:buNone/>
                      </a:pPr>
                      <a:r>
                        <a:rPr lang="zh-CN" altLang="en-US" sz="1400" b="0" dirty="0">
                          <a:solidFill>
                            <a:schemeClr val="bg1"/>
                          </a:solidFill>
                          <a:latin typeface="阿里巴巴普惠体" panose="00020600040101010101" pitchFamily="18" charset="-122"/>
                          <a:ea typeface="阿里巴巴普惠体" panose="00020600040101010101" pitchFamily="18" charset="-122"/>
                        </a:rPr>
                        <a:t>特征</a:t>
                      </a:r>
                      <a:r>
                        <a:rPr lang="en-US" altLang="zh-CN" sz="1400" b="0" dirty="0">
                          <a:solidFill>
                            <a:schemeClr val="bg1"/>
                          </a:solidFill>
                          <a:latin typeface="阿里巴巴普惠体" panose="00020600040101010101" pitchFamily="18" charset="-122"/>
                          <a:ea typeface="阿里巴巴普惠体" panose="00020600040101010101" pitchFamily="18" charset="-122"/>
                        </a:rPr>
                        <a:t>a</a:t>
                      </a:r>
                      <a:endParaRPr lang="en-US" altLang="zh-CN" sz="1400" b="0" dirty="0">
                        <a:solidFill>
                          <a:schemeClr val="bg1"/>
                        </a:solidFill>
                        <a:latin typeface="阿里巴巴普惠体" panose="00020600040101010101" pitchFamily="18" charset="-122"/>
                        <a:ea typeface="阿里巴巴普惠体" panose="00020600040101010101" pitchFamily="18" charset="-122"/>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p>
                      <a:pPr indent="0" algn="ctr">
                        <a:buNone/>
                      </a:pPr>
                      <a:r>
                        <a:rPr lang="zh-CN" altLang="en-US" sz="1400" b="0" dirty="0">
                          <a:solidFill>
                            <a:schemeClr val="bg1"/>
                          </a:solidFill>
                          <a:latin typeface="阿里巴巴普惠体" panose="00020600040101010101" pitchFamily="18" charset="-122"/>
                          <a:ea typeface="阿里巴巴普惠体" panose="00020600040101010101" pitchFamily="18" charset="-122"/>
                        </a:rPr>
                        <a:t>目标值</a:t>
                      </a:r>
                      <a:endParaRPr lang="en-US" altLang="zh-CN" sz="1400" b="0" dirty="0">
                        <a:solidFill>
                          <a:schemeClr val="bg1"/>
                        </a:solidFill>
                        <a:latin typeface="阿里巴巴普惠体" panose="00020600040101010101" pitchFamily="18" charset="-122"/>
                        <a:ea typeface="阿里巴巴普惠体" panose="00020600040101010101" pitchFamily="18" charset="-122"/>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solidFill>
                  </a:tcPr>
                </a:tc>
              </a:tr>
              <a:tr h="332081">
                <a:tc>
                  <a:txBody>
                    <a:bodyPr/>
                    <a:lstStyle/>
                    <a:p>
                      <a:pPr algn="ctr">
                        <a:buClrTx/>
                        <a:buSzTx/>
                        <a:buFontTx/>
                        <a:buNone/>
                      </a:pPr>
                      <a:r>
                        <a:rPr lang="en-US"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1</a:t>
                      </a:r>
                      <a:endParaRPr 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ClrTx/>
                        <a:buSzTx/>
                        <a:buFontTx/>
                        <a:buNone/>
                      </a:pPr>
                      <a:r>
                        <a:rPr lang="el-GR" altLang="zh-CN" sz="1400" dirty="0">
                          <a:solidFill>
                            <a:srgbClr val="C0504D">
                              <a:lumMod val="75000"/>
                            </a:srgbClr>
                          </a:solidFill>
                          <a:latin typeface="Alibaba PuHuiTi" pitchFamily="18" charset="-122"/>
                          <a:ea typeface="Alibaba PuHuiTi" pitchFamily="18" charset="-122"/>
                          <a:cs typeface="Alibaba PuHuiTi" pitchFamily="18" charset="-122"/>
                        </a:rPr>
                        <a:t>α</a:t>
                      </a:r>
                      <a:endParaRPr 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ClrTx/>
                        <a:buSzTx/>
                        <a:buFontTx/>
                        <a:buNone/>
                      </a:pPr>
                      <a:r>
                        <a:rPr lang="en-US"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a:t>
                      </a:r>
                      <a:endParaRPr 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58644">
                <a:tc>
                  <a:txBody>
                    <a:bodyPr/>
                    <a:lstStyle/>
                    <a:p>
                      <a:pPr indent="0" algn="ctr">
                        <a:buNone/>
                      </a:pPr>
                      <a:r>
                        <a:rPr lang="en-US"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a:t>
                      </a:r>
                      <a:endParaRPr lang="zh-CN" altLang="en-US"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indent="0" algn="ctr">
                        <a:buNone/>
                      </a:pPr>
                      <a:r>
                        <a:rPr lang="el-GR" altLang="zh-CN" sz="1400" dirty="0">
                          <a:solidFill>
                            <a:srgbClr val="C0504D">
                              <a:lumMod val="75000"/>
                            </a:srgbClr>
                          </a:solidFill>
                          <a:latin typeface="Alibaba PuHuiTi" pitchFamily="18" charset="-122"/>
                          <a:ea typeface="Alibaba PuHuiTi" pitchFamily="18" charset="-122"/>
                          <a:cs typeface="Alibaba PuHuiTi" pitchFamily="18" charset="-122"/>
                        </a:rPr>
                        <a:t>α</a:t>
                      </a:r>
                      <a:endParaRPr lang="zh-CN" altLang="en-US"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ClrTx/>
                        <a:buSzTx/>
                        <a:buFontTx/>
                        <a:buNone/>
                      </a:pPr>
                      <a:r>
                        <a:rPr lang="en-US"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a:t>
                      </a:r>
                      <a:endParaRPr 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58644">
                <a:tc>
                  <a:txBody>
                    <a:bodyPr/>
                    <a:lstStyle/>
                    <a:p>
                      <a:pPr marL="0" marR="0" indent="0" algn="ctr" defTabSz="1219200" rtl="0" eaLnBrk="1" fontAlgn="auto" latinLnBrk="0" hangingPunct="1">
                        <a:lnSpc>
                          <a:spcPct val="100000"/>
                        </a:lnSpc>
                        <a:spcBef>
                          <a:spcPts val="0"/>
                        </a:spcBef>
                        <a:spcAft>
                          <a:spcPts val="0"/>
                        </a:spcAft>
                        <a:buClrTx/>
                        <a:buSzTx/>
                        <a:buFontTx/>
                        <a:buNone/>
                        <a:defRPr/>
                      </a:pPr>
                      <a:r>
                        <a:rPr lang="en-US"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3</a:t>
                      </a:r>
                      <a:endParaRPr lang="zh-CN" altLang="en-US"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indent="0" algn="ctr" defTabSz="1219200" rtl="0" eaLnBrk="1" fontAlgn="auto" latinLnBrk="0" hangingPunct="1">
                        <a:lnSpc>
                          <a:spcPct val="100000"/>
                        </a:lnSpc>
                        <a:spcBef>
                          <a:spcPts val="0"/>
                        </a:spcBef>
                        <a:spcAft>
                          <a:spcPts val="0"/>
                        </a:spcAft>
                        <a:buClrTx/>
                        <a:buSzTx/>
                        <a:buFontTx/>
                        <a:buNone/>
                        <a:defRPr/>
                      </a:pPr>
                      <a:r>
                        <a:rPr lang="el-GR"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β</a:t>
                      </a:r>
                      <a:endParaRPr lang="zh-CN" altLang="en-US"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ClrTx/>
                        <a:buSzTx/>
                        <a:buFontTx/>
                        <a:buNone/>
                      </a:pPr>
                      <a:r>
                        <a:rPr lang="en-US"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B</a:t>
                      </a:r>
                      <a:endParaRPr 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58644">
                <a:tc>
                  <a:txBody>
                    <a:bodyPr/>
                    <a:lstStyle/>
                    <a:p>
                      <a:pPr marL="0" marR="0" lvl="0" indent="0" algn="ctr" defTabSz="1219200" rtl="0" eaLnBrk="1" fontAlgn="auto" latinLnBrk="0" hangingPunct="1">
                        <a:lnSpc>
                          <a:spcPct val="100000"/>
                        </a:lnSpc>
                        <a:spcBef>
                          <a:spcPts val="0"/>
                        </a:spcBef>
                        <a:spcAft>
                          <a:spcPts val="0"/>
                        </a:spcAft>
                        <a:buClrTx/>
                        <a:buSzTx/>
                        <a:buFontTx/>
                        <a:buNone/>
                        <a:defRPr/>
                      </a:pPr>
                      <a:r>
                        <a:rPr lang="en-US"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4</a:t>
                      </a:r>
                      <a:endParaRPr lang="zh-CN" altLang="en-US"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219200" rtl="0" eaLnBrk="1" fontAlgn="auto" latinLnBrk="0" hangingPunct="1">
                        <a:lnSpc>
                          <a:spcPct val="100000"/>
                        </a:lnSpc>
                        <a:spcBef>
                          <a:spcPts val="0"/>
                        </a:spcBef>
                        <a:spcAft>
                          <a:spcPts val="0"/>
                        </a:spcAft>
                        <a:buClrTx/>
                        <a:buSzTx/>
                        <a:buFontTx/>
                        <a:buNone/>
                        <a:defRPr/>
                      </a:pPr>
                      <a:r>
                        <a:rPr lang="el-GR" altLang="zh-CN" sz="1400" dirty="0">
                          <a:solidFill>
                            <a:srgbClr val="C0504D">
                              <a:lumMod val="75000"/>
                            </a:srgbClr>
                          </a:solidFill>
                          <a:latin typeface="Alibaba PuHuiTi" pitchFamily="18" charset="-122"/>
                          <a:ea typeface="Alibaba PuHuiTi" pitchFamily="18" charset="-122"/>
                          <a:cs typeface="Alibaba PuHuiTi" pitchFamily="18" charset="-122"/>
                        </a:rPr>
                        <a:t>α</a:t>
                      </a:r>
                      <a:endParaRPr lang="zh-CN" altLang="en-US"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ClrTx/>
                        <a:buSzTx/>
                        <a:buFontTx/>
                        <a:buNone/>
                      </a:pPr>
                      <a:r>
                        <a:rPr lang="en-US"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a:t>
                      </a:r>
                      <a:endParaRPr 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58644">
                <a:tc>
                  <a:txBody>
                    <a:bodyPr/>
                    <a:lstStyle/>
                    <a:p>
                      <a:pPr marL="0" marR="0" lvl="0" indent="0" algn="ctr" defTabSz="1219200" rtl="0" eaLnBrk="1" fontAlgn="auto" latinLnBrk="0" hangingPunct="1">
                        <a:lnSpc>
                          <a:spcPct val="100000"/>
                        </a:lnSpc>
                        <a:spcBef>
                          <a:spcPts val="0"/>
                        </a:spcBef>
                        <a:spcAft>
                          <a:spcPts val="0"/>
                        </a:spcAft>
                        <a:buClrTx/>
                        <a:buSzTx/>
                        <a:buFontTx/>
                        <a:buNone/>
                        <a:defRPr/>
                      </a:pPr>
                      <a:r>
                        <a:rPr lang="en-US"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5</a:t>
                      </a:r>
                      <a:endParaRPr lang="zh-CN" altLang="en-US"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219200" rtl="0" eaLnBrk="1" fontAlgn="auto" latinLnBrk="0" hangingPunct="1">
                        <a:lnSpc>
                          <a:spcPct val="100000"/>
                        </a:lnSpc>
                        <a:spcBef>
                          <a:spcPts val="0"/>
                        </a:spcBef>
                        <a:spcAft>
                          <a:spcPts val="0"/>
                        </a:spcAft>
                        <a:buClrTx/>
                        <a:buSzTx/>
                        <a:buFontTx/>
                        <a:buNone/>
                        <a:defRPr/>
                      </a:pPr>
                      <a:r>
                        <a:rPr lang="el-GR"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β</a:t>
                      </a:r>
                      <a:endParaRPr lang="zh-CN" altLang="en-US"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ClrTx/>
                        <a:buSzTx/>
                        <a:buFontTx/>
                        <a:buNone/>
                      </a:pPr>
                      <a:r>
                        <a:rPr lang="en-US"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B</a:t>
                      </a:r>
                      <a:endParaRPr 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58644">
                <a:tc>
                  <a:txBody>
                    <a:bodyPr/>
                    <a:lstStyle/>
                    <a:p>
                      <a:pPr marL="0" marR="0" lvl="0" indent="0" algn="ctr" defTabSz="1219200" rtl="0" eaLnBrk="1" fontAlgn="auto" latinLnBrk="0" hangingPunct="1">
                        <a:lnSpc>
                          <a:spcPct val="100000"/>
                        </a:lnSpc>
                        <a:spcBef>
                          <a:spcPts val="0"/>
                        </a:spcBef>
                        <a:spcAft>
                          <a:spcPts val="0"/>
                        </a:spcAft>
                        <a:buClrTx/>
                        <a:buSzTx/>
                        <a:buFontTx/>
                        <a:buNone/>
                        <a:defRPr/>
                      </a:pPr>
                      <a:r>
                        <a:rPr lang="en-US"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6</a:t>
                      </a:r>
                      <a:endParaRPr lang="zh-CN" altLang="en-US"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219200" rtl="0" eaLnBrk="1" fontAlgn="auto" latinLnBrk="0" hangingPunct="1">
                        <a:lnSpc>
                          <a:spcPct val="100000"/>
                        </a:lnSpc>
                        <a:spcBef>
                          <a:spcPts val="0"/>
                        </a:spcBef>
                        <a:spcAft>
                          <a:spcPts val="0"/>
                        </a:spcAft>
                        <a:buClrTx/>
                        <a:buSzTx/>
                        <a:buFontTx/>
                        <a:buNone/>
                        <a:defRPr/>
                      </a:pPr>
                      <a:r>
                        <a:rPr lang="el-GR" altLang="zh-CN" sz="1400" dirty="0">
                          <a:solidFill>
                            <a:srgbClr val="C0504D">
                              <a:lumMod val="75000"/>
                            </a:srgbClr>
                          </a:solidFill>
                          <a:latin typeface="Alibaba PuHuiTi" pitchFamily="18" charset="-122"/>
                          <a:ea typeface="Alibaba PuHuiTi" pitchFamily="18" charset="-122"/>
                          <a:cs typeface="Alibaba PuHuiTi" pitchFamily="18" charset="-122"/>
                        </a:rPr>
                        <a:t>α</a:t>
                      </a:r>
                      <a:endParaRPr lang="zh-CN" altLang="en-US"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ClrTx/>
                        <a:buSzTx/>
                        <a:buFontTx/>
                        <a:buNone/>
                      </a:pPr>
                      <a:r>
                        <a:rPr lang="en-US"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B</a:t>
                      </a:r>
                      <a:endParaRPr 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
        <p:nvSpPr>
          <p:cNvPr id="7" name="文本占位符 2"/>
          <p:cNvSpPr txBox="1"/>
          <p:nvPr/>
        </p:nvSpPr>
        <p:spPr>
          <a:xfrm>
            <a:off x="1022877" y="2161429"/>
            <a:ext cx="3928502"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需求：求特征</a:t>
            </a:r>
            <a:r>
              <a:rPr lang="en-US" altLang="zh-CN" dirty="0">
                <a:solidFill>
                  <a:prstClr val="black">
                    <a:lumMod val="85000"/>
                    <a:lumOff val="15000"/>
                  </a:prstClr>
                </a:solidFill>
                <a:latin typeface="Alibaba PuHuiTi" pitchFamily="18" charset="-122"/>
                <a:ea typeface="Alibaba PuHuiTi" pitchFamily="18" charset="-122"/>
                <a:cs typeface="Alibaba PuHuiTi" pitchFamily="18" charset="-122"/>
              </a:rPr>
              <a:t>a</a:t>
            </a: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a:t>
            </a:r>
            <a:r>
              <a:rPr lang="en-US" altLang="zh-CN" dirty="0">
                <a:solidFill>
                  <a:prstClr val="black">
                    <a:lumMod val="85000"/>
                    <a:lumOff val="15000"/>
                  </a:prstClr>
                </a:solidFill>
                <a:latin typeface="Alibaba PuHuiTi" pitchFamily="18" charset="-122"/>
                <a:ea typeface="Alibaba PuHuiTi" pitchFamily="18" charset="-122"/>
                <a:cs typeface="Alibaba PuHuiTi" pitchFamily="18" charset="-122"/>
              </a:rPr>
              <a:t>b</a:t>
            </a: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的信息增益率</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mc:AlternateContent xmlns:mc="http://schemas.openxmlformats.org/markup-compatibility/2006">
        <mc:Choice xmlns:a14="http://schemas.microsoft.com/office/drawing/2010/main" Requires="a14">
          <p:sp>
            <p:nvSpPr>
              <p:cNvPr id="12" name="文本框 11"/>
              <p:cNvSpPr txBox="1"/>
              <p:nvPr/>
            </p:nvSpPr>
            <p:spPr>
              <a:xfrm>
                <a:off x="938530" y="2936240"/>
                <a:ext cx="9461500" cy="1654175"/>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特征</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a</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的信息增益率：</a:t>
                </a:r>
                <a:endPar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endParaRPr>
              </a:p>
              <a:p>
                <a:pPr>
                  <a:lnSpc>
                    <a:spcPct val="150000"/>
                  </a:lnSpc>
                </a:pP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    </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1</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 信息增益 </a:t>
                </a:r>
                <a:r>
                  <a:rPr lang="zh-CN" altLang="en-US" sz="1400" dirty="0">
                    <a:latin typeface="Alibaba PuHuiTi" pitchFamily="18" charset="-122"/>
                    <a:ea typeface="Alibaba PuHuiTi" pitchFamily="18" charset="-122"/>
                    <a:cs typeface="Alibaba PuHuiTi" pitchFamily="18" charset="-122"/>
                  </a:rPr>
                  <a:t>： </a:t>
                </a:r>
                <a:r>
                  <a:rPr lang="en-GB" altLang="zh-CN" sz="1400" dirty="0">
                    <a:latin typeface="Alibaba PuHuiTi" pitchFamily="18" charset="-122"/>
                    <a:ea typeface="Alibaba PuHuiTi" pitchFamily="18" charset="-122"/>
                    <a:cs typeface="Alibaba PuHuiTi" pitchFamily="18" charset="-122"/>
                  </a:rPr>
                  <a:t> </a:t>
                </a:r>
                <a:r>
                  <a:rPr lang="en-US" altLang="zh-CN" sz="1400" dirty="0">
                    <a:ea typeface="Alibaba PuHuiTi" pitchFamily="18" charset="-122"/>
                    <a:cs typeface="Alibaba PuHuiTi" pitchFamily="18" charset="-122"/>
                  </a:rPr>
                  <a:t>(-</a:t>
                </a:r>
                <a:r>
                  <a:rPr lang="zh-CN" altLang="en-US" sz="1400" dirty="0">
                    <a:ea typeface="Alibaba PuHuiTi" pitchFamily="18" charset="-122"/>
                    <a:cs typeface="Alibaba PuHuiTi" pitchFamily="18" charset="-122"/>
                  </a:rPr>
                  <a:t> </a:t>
                </a:r>
                <a14:m>
                  <m:oMath xmlns:m="http://schemas.openxmlformats.org/officeDocument/2006/math">
                    <m:f>
                      <m:fPr>
                        <m:ctrlPr>
                          <a:rPr lang="en-US" altLang="zh-CN" sz="1400" i="1">
                            <a:latin typeface="Cambria Math" panose="02040503050406030204" pitchFamily="18" charset="0"/>
                            <a:ea typeface="Alibaba PuHuiTi" pitchFamily="18" charset="-122"/>
                            <a:cs typeface="Alibaba PuHuiTi" pitchFamily="18" charset="-122"/>
                          </a:rPr>
                        </m:ctrlPr>
                      </m:fPr>
                      <m:num>
                        <m:r>
                          <a:rPr lang="en-US" altLang="zh-CN" sz="1400" b="0" i="1" smtClean="0">
                            <a:latin typeface="Cambria Math" panose="02040503050406030204" pitchFamily="18" charset="0"/>
                            <a:ea typeface="Alibaba PuHuiTi" pitchFamily="18" charset="-122"/>
                            <a:cs typeface="Alibaba PuHuiTi" pitchFamily="18" charset="-122"/>
                          </a:rPr>
                          <m:t>3</m:t>
                        </m:r>
                      </m:num>
                      <m:den>
                        <m:r>
                          <a:rPr lang="en-US" altLang="zh-CN" sz="1400" b="0" i="1" smtClean="0">
                            <a:latin typeface="Cambria Math" panose="02040503050406030204" pitchFamily="18" charset="0"/>
                            <a:ea typeface="Alibaba PuHuiTi" pitchFamily="18" charset="-122"/>
                            <a:cs typeface="Alibaba PuHuiTi" pitchFamily="18" charset="-122"/>
                          </a:rPr>
                          <m:t>6</m:t>
                        </m:r>
                      </m:den>
                    </m:f>
                    <m:func>
                      <m:funcPr>
                        <m:ctrlPr>
                          <a:rPr lang="en-US" altLang="zh-CN" sz="1400" i="1">
                            <a:latin typeface="Cambria Math" panose="02040503050406030204" pitchFamily="18" charset="0"/>
                            <a:ea typeface="Alibaba PuHuiTi" pitchFamily="18" charset="-122"/>
                            <a:cs typeface="Alibaba PuHuiTi" pitchFamily="18" charset="-122"/>
                          </a:rPr>
                        </m:ctrlPr>
                      </m:funcPr>
                      <m:fName>
                        <m:sSub>
                          <m:sSubPr>
                            <m:ctrlPr>
                              <a:rPr lang="en-US" altLang="zh-CN" sz="1400" i="1">
                                <a:latin typeface="Cambria Math" panose="02040503050406030204" pitchFamily="18" charset="0"/>
                                <a:ea typeface="Alibaba PuHuiTi" pitchFamily="18" charset="-122"/>
                                <a:cs typeface="Alibaba PuHuiTi" pitchFamily="18" charset="-122"/>
                              </a:rPr>
                            </m:ctrlPr>
                          </m:sSubPr>
                          <m:e>
                            <m:r>
                              <m:rPr>
                                <m:sty m:val="p"/>
                              </m:rPr>
                              <a:rPr lang="en-US" altLang="zh-CN" sz="1400">
                                <a:latin typeface="Cambria Math" panose="02040503050406030204" pitchFamily="18" charset="0"/>
                                <a:ea typeface="Alibaba PuHuiTi" pitchFamily="18" charset="-122"/>
                                <a:cs typeface="Alibaba PuHuiTi" pitchFamily="18" charset="-122"/>
                              </a:rPr>
                              <m:t>log</m:t>
                            </m:r>
                          </m:e>
                          <m:sub>
                            <m:r>
                              <a:rPr lang="en-US" altLang="zh-CN" sz="1400" i="1">
                                <a:latin typeface="Cambria Math" panose="02040503050406030204" pitchFamily="18" charset="0"/>
                                <a:ea typeface="Alibaba PuHuiTi" pitchFamily="18" charset="-122"/>
                                <a:cs typeface="Alibaba PuHuiTi" pitchFamily="18" charset="-122"/>
                              </a:rPr>
                              <m:t>2</m:t>
                            </m:r>
                          </m:sub>
                        </m:sSub>
                      </m:fName>
                      <m:e>
                        <m:f>
                          <m:fPr>
                            <m:ctrlPr>
                              <a:rPr lang="en-US" altLang="zh-CN" sz="1400" i="1">
                                <a:latin typeface="Cambria Math" panose="02040503050406030204" pitchFamily="18" charset="0"/>
                                <a:ea typeface="Alibaba PuHuiTi" pitchFamily="18" charset="-122"/>
                                <a:cs typeface="Alibaba PuHuiTi" pitchFamily="18" charset="-122"/>
                              </a:rPr>
                            </m:ctrlPr>
                          </m:fPr>
                          <m:num>
                            <m:r>
                              <a:rPr lang="en-US" altLang="zh-CN" sz="1400" b="0" i="1" smtClean="0">
                                <a:latin typeface="Cambria Math" panose="02040503050406030204" pitchFamily="18" charset="0"/>
                                <a:ea typeface="Alibaba PuHuiTi" pitchFamily="18" charset="-122"/>
                                <a:cs typeface="Alibaba PuHuiTi" pitchFamily="18" charset="-122"/>
                              </a:rPr>
                              <m:t>3</m:t>
                            </m:r>
                          </m:num>
                          <m:den>
                            <m:r>
                              <a:rPr lang="en-US" altLang="zh-CN" sz="1400" b="0" i="1" smtClean="0">
                                <a:latin typeface="Cambria Math" panose="02040503050406030204" pitchFamily="18" charset="0"/>
                                <a:ea typeface="Alibaba PuHuiTi" pitchFamily="18" charset="-122"/>
                                <a:cs typeface="Alibaba PuHuiTi" pitchFamily="18" charset="-122"/>
                              </a:rPr>
                              <m:t>6</m:t>
                            </m:r>
                          </m:den>
                        </m:f>
                      </m:e>
                    </m:func>
                  </m:oMath>
                </a14:m>
                <a:r>
                  <a:rPr lang="zh-CN" altLang="en-US" sz="1400" dirty="0">
                    <a:latin typeface="Alibaba PuHuiTi" pitchFamily="18" charset="-122"/>
                    <a:ea typeface="Alibaba PuHuiTi" pitchFamily="18" charset="-122"/>
                    <a:cs typeface="Alibaba PuHuiTi" pitchFamily="18" charset="-122"/>
                  </a:rPr>
                  <a:t> </a:t>
                </a:r>
                <a:r>
                  <a:rPr lang="en-US" altLang="zh-CN"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 </a:t>
                </a:r>
                <a14:m>
                  <m:oMath xmlns:m="http://schemas.openxmlformats.org/officeDocument/2006/math">
                    <m:f>
                      <m:fPr>
                        <m:ctrlPr>
                          <a:rPr lang="en-US" altLang="zh-CN" sz="1400" i="1">
                            <a:latin typeface="Cambria Math" panose="02040503050406030204" pitchFamily="18" charset="0"/>
                            <a:ea typeface="Alibaba PuHuiTi" pitchFamily="18" charset="-122"/>
                            <a:cs typeface="Alibaba PuHuiTi" pitchFamily="18" charset="-122"/>
                          </a:rPr>
                        </m:ctrlPr>
                      </m:fPr>
                      <m:num>
                        <m:r>
                          <a:rPr lang="en-US" altLang="zh-CN" sz="1400" b="0" i="1" smtClean="0">
                            <a:latin typeface="Cambria Math" panose="02040503050406030204" pitchFamily="18" charset="0"/>
                            <a:ea typeface="Alibaba PuHuiTi" pitchFamily="18" charset="-122"/>
                            <a:cs typeface="Alibaba PuHuiTi" pitchFamily="18" charset="-122"/>
                          </a:rPr>
                          <m:t>3</m:t>
                        </m:r>
                      </m:num>
                      <m:den>
                        <m:r>
                          <a:rPr lang="en-US" altLang="zh-CN" sz="1400" b="0" i="1" smtClean="0">
                            <a:latin typeface="Cambria Math" panose="02040503050406030204" pitchFamily="18" charset="0"/>
                            <a:ea typeface="Alibaba PuHuiTi" pitchFamily="18" charset="-122"/>
                            <a:cs typeface="Alibaba PuHuiTi" pitchFamily="18" charset="-122"/>
                          </a:rPr>
                          <m:t>6</m:t>
                        </m:r>
                      </m:den>
                    </m:f>
                    <m:func>
                      <m:funcPr>
                        <m:ctrlPr>
                          <a:rPr lang="en-US" altLang="zh-CN" sz="1400" i="1">
                            <a:latin typeface="Cambria Math" panose="02040503050406030204" pitchFamily="18" charset="0"/>
                            <a:ea typeface="Alibaba PuHuiTi" pitchFamily="18" charset="-122"/>
                            <a:cs typeface="Alibaba PuHuiTi" pitchFamily="18" charset="-122"/>
                          </a:rPr>
                        </m:ctrlPr>
                      </m:funcPr>
                      <m:fName>
                        <m:sSub>
                          <m:sSubPr>
                            <m:ctrlPr>
                              <a:rPr lang="en-US" altLang="zh-CN" sz="1400" i="1">
                                <a:latin typeface="Cambria Math" panose="02040503050406030204" pitchFamily="18" charset="0"/>
                                <a:ea typeface="Alibaba PuHuiTi" pitchFamily="18" charset="-122"/>
                                <a:cs typeface="Alibaba PuHuiTi" pitchFamily="18" charset="-122"/>
                              </a:rPr>
                            </m:ctrlPr>
                          </m:sSubPr>
                          <m:e>
                            <m:r>
                              <m:rPr>
                                <m:sty m:val="p"/>
                              </m:rPr>
                              <a:rPr lang="en-US" altLang="zh-CN" sz="1400">
                                <a:latin typeface="Cambria Math" panose="02040503050406030204" pitchFamily="18" charset="0"/>
                                <a:ea typeface="Alibaba PuHuiTi" pitchFamily="18" charset="-122"/>
                                <a:cs typeface="Alibaba PuHuiTi" pitchFamily="18" charset="-122"/>
                              </a:rPr>
                              <m:t>log</m:t>
                            </m:r>
                          </m:e>
                          <m:sub>
                            <m:r>
                              <a:rPr lang="en-US" altLang="zh-CN" sz="1400" i="1">
                                <a:latin typeface="Cambria Math" panose="02040503050406030204" pitchFamily="18" charset="0"/>
                                <a:ea typeface="Alibaba PuHuiTi" pitchFamily="18" charset="-122"/>
                                <a:cs typeface="Alibaba PuHuiTi" pitchFamily="18" charset="-122"/>
                              </a:rPr>
                              <m:t>2</m:t>
                            </m:r>
                          </m:sub>
                        </m:sSub>
                      </m:fName>
                      <m:e>
                        <m:f>
                          <m:fPr>
                            <m:ctrlPr>
                              <a:rPr lang="en-US" altLang="zh-CN" sz="1400" i="1">
                                <a:latin typeface="Cambria Math" panose="02040503050406030204" pitchFamily="18" charset="0"/>
                                <a:ea typeface="Alibaba PuHuiTi" pitchFamily="18" charset="-122"/>
                                <a:cs typeface="Alibaba PuHuiTi" pitchFamily="18" charset="-122"/>
                              </a:rPr>
                            </m:ctrlPr>
                          </m:fPr>
                          <m:num>
                            <m:r>
                              <a:rPr lang="en-US" altLang="zh-CN" sz="1400" b="0" i="1" smtClean="0">
                                <a:latin typeface="Cambria Math" panose="02040503050406030204" pitchFamily="18" charset="0"/>
                                <a:ea typeface="Alibaba PuHuiTi" pitchFamily="18" charset="-122"/>
                                <a:cs typeface="Alibaba PuHuiTi" pitchFamily="18" charset="-122"/>
                              </a:rPr>
                              <m:t>3</m:t>
                            </m:r>
                          </m:num>
                          <m:den>
                            <m:r>
                              <a:rPr lang="en-US" altLang="zh-CN" sz="1400" b="0" i="1" smtClean="0">
                                <a:latin typeface="Cambria Math" panose="02040503050406030204" pitchFamily="18" charset="0"/>
                                <a:ea typeface="Alibaba PuHuiTi" pitchFamily="18" charset="-122"/>
                                <a:cs typeface="Alibaba PuHuiTi" pitchFamily="18" charset="-122"/>
                              </a:rPr>
                              <m:t>6</m:t>
                            </m:r>
                          </m:den>
                        </m:f>
                      </m:e>
                    </m:func>
                  </m:oMath>
                </a14:m>
                <a:r>
                  <a:rPr lang="en-GB" altLang="zh-CN"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 </a:t>
                </a:r>
                <a:r>
                  <a:rPr lang="en-US" altLang="zh-CN"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 （ </a:t>
                </a:r>
                <a14:m>
                  <m:oMath xmlns:m="http://schemas.openxmlformats.org/officeDocument/2006/math">
                    <m:f>
                      <m:fPr>
                        <m:ctrlPr>
                          <a:rPr lang="en-US" altLang="zh-CN" sz="1400" i="1" smtClean="0">
                            <a:latin typeface="Cambria Math" panose="02040503050406030204" pitchFamily="18" charset="0"/>
                            <a:ea typeface="Alibaba PuHuiTi" pitchFamily="18" charset="-122"/>
                            <a:cs typeface="Alibaba PuHuiTi" pitchFamily="18" charset="-122"/>
                          </a:rPr>
                        </m:ctrlPr>
                      </m:fPr>
                      <m:num>
                        <m:r>
                          <a:rPr lang="en-US" altLang="zh-CN" sz="1400" b="0" i="1" smtClean="0">
                            <a:latin typeface="Cambria Math" panose="02040503050406030204" pitchFamily="18" charset="0"/>
                            <a:ea typeface="Alibaba PuHuiTi" pitchFamily="18" charset="-122"/>
                            <a:cs typeface="Alibaba PuHuiTi" pitchFamily="18" charset="-122"/>
                          </a:rPr>
                          <m:t>4</m:t>
                        </m:r>
                      </m:num>
                      <m:den>
                        <m:r>
                          <a:rPr lang="en-US" altLang="zh-CN" sz="1400" b="0" i="1" smtClean="0">
                            <a:latin typeface="Cambria Math" panose="02040503050406030204" pitchFamily="18" charset="0"/>
                            <a:ea typeface="Alibaba PuHuiTi" pitchFamily="18" charset="-122"/>
                            <a:cs typeface="Alibaba PuHuiTi" pitchFamily="18" charset="-122"/>
                          </a:rPr>
                          <m:t>6</m:t>
                        </m:r>
                      </m:den>
                    </m:f>
                  </m:oMath>
                </a14:m>
                <a:r>
                  <a:rPr lang="en-US" altLang="zh-CN" sz="1400" dirty="0">
                    <a:ea typeface="Alibaba PuHuiTi" pitchFamily="18" charset="-122"/>
                    <a:cs typeface="Alibaba PuHuiTi" pitchFamily="18" charset="-122"/>
                  </a:rPr>
                  <a:t> </a:t>
                </a:r>
                <a:r>
                  <a:rPr lang="zh-CN" altLang="en-US" sz="1400" dirty="0">
                    <a:ea typeface="Alibaba PuHuiTi" pitchFamily="18" charset="-122"/>
                    <a:cs typeface="Alibaba PuHuiTi" pitchFamily="18" charset="-122"/>
                  </a:rPr>
                  <a:t>*</a:t>
                </a:r>
                <a:r>
                  <a:rPr lang="en-US" altLang="zh-CN" sz="1400" dirty="0">
                    <a:ea typeface="Alibaba PuHuiTi" pitchFamily="18" charset="-122"/>
                    <a:cs typeface="Alibaba PuHuiTi" pitchFamily="18" charset="-122"/>
                  </a:rPr>
                  <a:t>(-</a:t>
                </a:r>
                <a:r>
                  <a:rPr lang="zh-CN" altLang="en-US" sz="1400" dirty="0">
                    <a:ea typeface="Alibaba PuHuiTi" pitchFamily="18" charset="-122"/>
                    <a:cs typeface="Alibaba PuHuiTi" pitchFamily="18" charset="-122"/>
                  </a:rPr>
                  <a:t> </a:t>
                </a:r>
                <a14:m>
                  <m:oMath xmlns:m="http://schemas.openxmlformats.org/officeDocument/2006/math">
                    <m:f>
                      <m:fPr>
                        <m:ctrlPr>
                          <a:rPr lang="en-US" altLang="zh-CN" sz="1400" i="1" smtClean="0">
                            <a:latin typeface="Cambria Math" panose="02040503050406030204" pitchFamily="18" charset="0"/>
                            <a:ea typeface="Alibaba PuHuiTi" pitchFamily="18" charset="-122"/>
                            <a:cs typeface="Alibaba PuHuiTi" pitchFamily="18" charset="-122"/>
                          </a:rPr>
                        </m:ctrlPr>
                      </m:fPr>
                      <m:num>
                        <m:r>
                          <a:rPr lang="en-US" altLang="zh-CN" sz="1400" b="0" i="1" smtClean="0">
                            <a:latin typeface="Cambria Math" panose="02040503050406030204" pitchFamily="18" charset="0"/>
                            <a:ea typeface="Alibaba PuHuiTi" pitchFamily="18" charset="-122"/>
                            <a:cs typeface="Alibaba PuHuiTi" pitchFamily="18" charset="-122"/>
                          </a:rPr>
                          <m:t>3</m:t>
                        </m:r>
                      </m:num>
                      <m:den>
                        <m:r>
                          <a:rPr lang="en-US" altLang="zh-CN" sz="1400" b="0" i="1" smtClean="0">
                            <a:latin typeface="Cambria Math" panose="02040503050406030204" pitchFamily="18" charset="0"/>
                            <a:ea typeface="Alibaba PuHuiTi" pitchFamily="18" charset="-122"/>
                            <a:cs typeface="Alibaba PuHuiTi" pitchFamily="18" charset="-122"/>
                          </a:rPr>
                          <m:t>4</m:t>
                        </m:r>
                      </m:den>
                    </m:f>
                    <m:func>
                      <m:funcPr>
                        <m:ctrlPr>
                          <a:rPr lang="en-US" altLang="zh-CN" sz="1400" i="1" smtClean="0">
                            <a:latin typeface="Cambria Math" panose="02040503050406030204" pitchFamily="18" charset="0"/>
                            <a:ea typeface="Alibaba PuHuiTi" pitchFamily="18" charset="-122"/>
                            <a:cs typeface="Alibaba PuHuiTi" pitchFamily="18" charset="-122"/>
                          </a:rPr>
                        </m:ctrlPr>
                      </m:funcPr>
                      <m:fName>
                        <m:sSub>
                          <m:sSubPr>
                            <m:ctrlPr>
                              <a:rPr lang="en-US" altLang="zh-CN" sz="1400" i="1" smtClean="0">
                                <a:latin typeface="Cambria Math" panose="02040503050406030204" pitchFamily="18" charset="0"/>
                                <a:ea typeface="Alibaba PuHuiTi" pitchFamily="18" charset="-122"/>
                                <a:cs typeface="Alibaba PuHuiTi" pitchFamily="18" charset="-122"/>
                              </a:rPr>
                            </m:ctrlPr>
                          </m:sSubPr>
                          <m:e>
                            <m:r>
                              <m:rPr>
                                <m:sty m:val="p"/>
                              </m:rPr>
                              <a:rPr lang="en-US" altLang="zh-CN" sz="1400" i="0" smtClean="0">
                                <a:latin typeface="Cambria Math" panose="02040503050406030204" pitchFamily="18" charset="0"/>
                                <a:ea typeface="Alibaba PuHuiTi" pitchFamily="18" charset="-122"/>
                                <a:cs typeface="Alibaba PuHuiTi" pitchFamily="18" charset="-122"/>
                              </a:rPr>
                              <m:t>log</m:t>
                            </m:r>
                          </m:e>
                          <m:sub>
                            <m:r>
                              <a:rPr lang="en-US" altLang="zh-CN" sz="1400" b="0" i="1" smtClean="0">
                                <a:latin typeface="Cambria Math" panose="02040503050406030204" pitchFamily="18" charset="0"/>
                                <a:ea typeface="Alibaba PuHuiTi" pitchFamily="18" charset="-122"/>
                                <a:cs typeface="Alibaba PuHuiTi" pitchFamily="18" charset="-122"/>
                              </a:rPr>
                              <m:t>2</m:t>
                            </m:r>
                          </m:sub>
                        </m:sSub>
                      </m:fName>
                      <m:e>
                        <m:f>
                          <m:fPr>
                            <m:ctrlPr>
                              <a:rPr lang="en-US" altLang="zh-CN" sz="1400" i="1" smtClean="0">
                                <a:latin typeface="Cambria Math" panose="02040503050406030204" pitchFamily="18" charset="0"/>
                                <a:ea typeface="Alibaba PuHuiTi" pitchFamily="18" charset="-122"/>
                                <a:cs typeface="Alibaba PuHuiTi" pitchFamily="18" charset="-122"/>
                              </a:rPr>
                            </m:ctrlPr>
                          </m:fPr>
                          <m:num>
                            <m:r>
                              <a:rPr lang="en-US" altLang="zh-CN" sz="1400" b="0" i="1" smtClean="0">
                                <a:latin typeface="Cambria Math" panose="02040503050406030204" pitchFamily="18" charset="0"/>
                                <a:ea typeface="Alibaba PuHuiTi" pitchFamily="18" charset="-122"/>
                                <a:cs typeface="Alibaba PuHuiTi" pitchFamily="18" charset="-122"/>
                              </a:rPr>
                              <m:t>3</m:t>
                            </m:r>
                          </m:num>
                          <m:den>
                            <m:r>
                              <a:rPr lang="en-US" altLang="zh-CN" sz="1400" b="0" i="1" smtClean="0">
                                <a:latin typeface="Cambria Math" panose="02040503050406030204" pitchFamily="18" charset="0"/>
                                <a:ea typeface="Alibaba PuHuiTi" pitchFamily="18" charset="-122"/>
                                <a:cs typeface="Alibaba PuHuiTi" pitchFamily="18" charset="-122"/>
                              </a:rPr>
                              <m:t>4</m:t>
                            </m:r>
                          </m:den>
                        </m:f>
                      </m:e>
                    </m:func>
                  </m:oMath>
                </a14:m>
                <a:r>
                  <a:rPr lang="zh-CN" altLang="en-US" sz="1400" dirty="0">
                    <a:latin typeface="Alibaba PuHuiTi" pitchFamily="18" charset="-122"/>
                    <a:ea typeface="Alibaba PuHuiTi" pitchFamily="18" charset="-122"/>
                    <a:cs typeface="Alibaba PuHuiTi" pitchFamily="18" charset="-122"/>
                  </a:rPr>
                  <a:t> </a:t>
                </a:r>
                <a:r>
                  <a:rPr lang="en-US" altLang="zh-CN"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 </a:t>
                </a:r>
                <a14:m>
                  <m:oMath xmlns:m="http://schemas.openxmlformats.org/officeDocument/2006/math">
                    <m:f>
                      <m:fPr>
                        <m:ctrlPr>
                          <a:rPr lang="en-US" altLang="zh-CN" sz="1400" i="1">
                            <a:latin typeface="Cambria Math" panose="02040503050406030204" pitchFamily="18" charset="0"/>
                            <a:ea typeface="Alibaba PuHuiTi" pitchFamily="18" charset="-122"/>
                            <a:cs typeface="Alibaba PuHuiTi" pitchFamily="18" charset="-122"/>
                          </a:rPr>
                        </m:ctrlPr>
                      </m:fPr>
                      <m:num>
                        <m:r>
                          <a:rPr lang="en-US" altLang="zh-CN" sz="1400" b="0" i="1" smtClean="0">
                            <a:latin typeface="Cambria Math" panose="02040503050406030204" pitchFamily="18" charset="0"/>
                            <a:ea typeface="Alibaba PuHuiTi" pitchFamily="18" charset="-122"/>
                            <a:cs typeface="Alibaba PuHuiTi" pitchFamily="18" charset="-122"/>
                          </a:rPr>
                          <m:t>1</m:t>
                        </m:r>
                      </m:num>
                      <m:den>
                        <m:r>
                          <a:rPr lang="en-US" altLang="zh-CN" sz="1400" i="1">
                            <a:latin typeface="Cambria Math" panose="02040503050406030204" pitchFamily="18" charset="0"/>
                            <a:ea typeface="Alibaba PuHuiTi" pitchFamily="18" charset="-122"/>
                            <a:cs typeface="Alibaba PuHuiTi" pitchFamily="18" charset="-122"/>
                          </a:rPr>
                          <m:t>4</m:t>
                        </m:r>
                      </m:den>
                    </m:f>
                    <m:func>
                      <m:funcPr>
                        <m:ctrlPr>
                          <a:rPr lang="en-US" altLang="zh-CN" sz="1400" i="1" smtClean="0">
                            <a:latin typeface="Cambria Math" panose="02040503050406030204" pitchFamily="18" charset="0"/>
                            <a:ea typeface="Alibaba PuHuiTi" pitchFamily="18" charset="-122"/>
                            <a:cs typeface="Alibaba PuHuiTi" pitchFamily="18" charset="-122"/>
                          </a:rPr>
                        </m:ctrlPr>
                      </m:funcPr>
                      <m:fName>
                        <m:sSub>
                          <m:sSubPr>
                            <m:ctrlPr>
                              <a:rPr lang="en-US" altLang="zh-CN" sz="1400" i="1">
                                <a:latin typeface="Cambria Math" panose="02040503050406030204" pitchFamily="18" charset="0"/>
                                <a:ea typeface="Alibaba PuHuiTi" pitchFamily="18" charset="-122"/>
                                <a:cs typeface="Alibaba PuHuiTi" pitchFamily="18" charset="-122"/>
                              </a:rPr>
                            </m:ctrlPr>
                          </m:sSubPr>
                          <m:e>
                            <m:r>
                              <m:rPr>
                                <m:sty m:val="p"/>
                              </m:rPr>
                              <a:rPr lang="en-US" altLang="zh-CN" sz="1400">
                                <a:latin typeface="Cambria Math" panose="02040503050406030204" pitchFamily="18" charset="0"/>
                                <a:ea typeface="Alibaba PuHuiTi" pitchFamily="18" charset="-122"/>
                                <a:cs typeface="Alibaba PuHuiTi" pitchFamily="18" charset="-122"/>
                              </a:rPr>
                              <m:t>log</m:t>
                            </m:r>
                          </m:e>
                          <m:sub>
                            <m:r>
                              <a:rPr lang="en-US" altLang="zh-CN" sz="1400" i="1">
                                <a:latin typeface="Cambria Math" panose="02040503050406030204" pitchFamily="18" charset="0"/>
                                <a:ea typeface="Alibaba PuHuiTi" pitchFamily="18" charset="-122"/>
                                <a:cs typeface="Alibaba PuHuiTi" pitchFamily="18" charset="-122"/>
                              </a:rPr>
                              <m:t>2</m:t>
                            </m:r>
                          </m:sub>
                        </m:sSub>
                      </m:fName>
                      <m:e>
                        <m:f>
                          <m:fPr>
                            <m:ctrlPr>
                              <a:rPr lang="en-US" altLang="zh-CN" sz="1400" i="1">
                                <a:latin typeface="Cambria Math" panose="02040503050406030204" pitchFamily="18" charset="0"/>
                                <a:ea typeface="Alibaba PuHuiTi" pitchFamily="18" charset="-122"/>
                                <a:cs typeface="Alibaba PuHuiTi" pitchFamily="18" charset="-122"/>
                              </a:rPr>
                            </m:ctrlPr>
                          </m:fPr>
                          <m:num>
                            <m:r>
                              <a:rPr lang="en-US" altLang="zh-CN" sz="1400" b="0" i="1" smtClean="0">
                                <a:latin typeface="Cambria Math" panose="02040503050406030204" pitchFamily="18" charset="0"/>
                                <a:ea typeface="Alibaba PuHuiTi" pitchFamily="18" charset="-122"/>
                                <a:cs typeface="Alibaba PuHuiTi" pitchFamily="18" charset="-122"/>
                              </a:rPr>
                              <m:t>1</m:t>
                            </m:r>
                          </m:num>
                          <m:den>
                            <m:r>
                              <a:rPr lang="en-US" altLang="zh-CN" sz="1400" i="1">
                                <a:latin typeface="Cambria Math" panose="02040503050406030204" pitchFamily="18" charset="0"/>
                                <a:ea typeface="Alibaba PuHuiTi" pitchFamily="18" charset="-122"/>
                                <a:cs typeface="Alibaba PuHuiTi" pitchFamily="18" charset="-122"/>
                              </a:rPr>
                              <m:t>4</m:t>
                            </m:r>
                          </m:den>
                        </m:f>
                      </m:e>
                    </m:func>
                  </m:oMath>
                </a14:m>
                <a:r>
                  <a:rPr lang="en-GB" altLang="zh-CN" sz="1400" dirty="0">
                    <a:latin typeface="Alibaba PuHuiTi" pitchFamily="18" charset="-122"/>
                    <a:ea typeface="Alibaba PuHuiTi" pitchFamily="18" charset="-122"/>
                    <a:cs typeface="Alibaba PuHuiTi" pitchFamily="18" charset="-122"/>
                  </a:rPr>
                  <a:t>) - </a:t>
                </a:r>
                <a14:m>
                  <m:oMath xmlns:m="http://schemas.openxmlformats.org/officeDocument/2006/math">
                    <m:f>
                      <m:fPr>
                        <m:ctrlPr>
                          <a:rPr lang="en-US" altLang="zh-CN" sz="1400" i="1" smtClean="0">
                            <a:latin typeface="Cambria Math" panose="02040503050406030204" pitchFamily="18" charset="0"/>
                            <a:ea typeface="Alibaba PuHuiTi" pitchFamily="18" charset="-122"/>
                            <a:cs typeface="Alibaba PuHuiTi" pitchFamily="18" charset="-122"/>
                          </a:rPr>
                        </m:ctrlPr>
                      </m:fPr>
                      <m:num>
                        <m:r>
                          <a:rPr lang="en-US" altLang="zh-CN" sz="1400" b="0" i="1" smtClean="0">
                            <a:latin typeface="Cambria Math" panose="02040503050406030204" pitchFamily="18" charset="0"/>
                            <a:ea typeface="Alibaba PuHuiTi" pitchFamily="18" charset="-122"/>
                            <a:cs typeface="Alibaba PuHuiTi" pitchFamily="18" charset="-122"/>
                          </a:rPr>
                          <m:t>2</m:t>
                        </m:r>
                      </m:num>
                      <m:den>
                        <m:r>
                          <a:rPr lang="en-US" altLang="zh-CN" sz="1400" i="1">
                            <a:latin typeface="Cambria Math" panose="02040503050406030204" pitchFamily="18" charset="0"/>
                            <a:ea typeface="Alibaba PuHuiTi" pitchFamily="18" charset="-122"/>
                            <a:cs typeface="Alibaba PuHuiTi" pitchFamily="18" charset="-122"/>
                          </a:rPr>
                          <m:t>6</m:t>
                        </m:r>
                      </m:den>
                    </m:f>
                  </m:oMath>
                </a14:m>
                <a:r>
                  <a:rPr lang="zh-CN" altLang="en-US" sz="1400" dirty="0">
                    <a:latin typeface="Alibaba PuHuiTi" pitchFamily="18" charset="-122"/>
                    <a:ea typeface="Alibaba PuHuiTi" pitchFamily="18" charset="-122"/>
                    <a:cs typeface="Alibaba PuHuiTi" pitchFamily="18" charset="-122"/>
                  </a:rPr>
                  <a:t> *</a:t>
                </a:r>
                <a:r>
                  <a:rPr lang="en-US" altLang="zh-CN" sz="1400" dirty="0">
                    <a:latin typeface="Alibaba PuHuiTi" pitchFamily="18" charset="-122"/>
                    <a:ea typeface="Alibaba PuHuiTi" pitchFamily="18" charset="-122"/>
                    <a:cs typeface="Alibaba PuHuiTi" pitchFamily="18" charset="-122"/>
                  </a:rPr>
                  <a:t>(</a:t>
                </a:r>
                <a:r>
                  <a:rPr lang="en-GB" altLang="zh-CN" sz="1400" dirty="0">
                    <a:latin typeface="Alibaba PuHuiTi" pitchFamily="18" charset="-122"/>
                    <a:ea typeface="Alibaba PuHuiTi" pitchFamily="18" charset="-122"/>
                    <a:cs typeface="Alibaba PuHuiTi" pitchFamily="18" charset="-122"/>
                  </a:rPr>
                  <a:t>-</a:t>
                </a:r>
                <a:r>
                  <a:rPr lang="en-US" altLang="zh-CN" sz="1400" dirty="0">
                    <a:latin typeface="Alibaba PuHuiTi" pitchFamily="18" charset="-122"/>
                    <a:ea typeface="Alibaba PuHuiTi" pitchFamily="18" charset="-122"/>
                    <a:cs typeface="Alibaba PuHuiTi" pitchFamily="18" charset="-122"/>
                  </a:rPr>
                  <a:t>0)</a:t>
                </a:r>
                <a:r>
                  <a:rPr lang="zh-CN" altLang="en-US" sz="1400" dirty="0">
                    <a:latin typeface="Alibaba PuHuiTi" pitchFamily="18" charset="-122"/>
                    <a:ea typeface="Alibaba PuHuiTi" pitchFamily="18" charset="-122"/>
                    <a:cs typeface="Alibaba PuHuiTi" pitchFamily="18" charset="-122"/>
                  </a:rPr>
                  <a:t> </a:t>
                </a:r>
                <a:r>
                  <a:rPr lang="en-US" altLang="zh-CN"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 </a:t>
                </a:r>
                <a:r>
                  <a:rPr lang="en-US" altLang="zh-CN" sz="1400" dirty="0">
                    <a:latin typeface="Alibaba PuHuiTi" pitchFamily="18" charset="-122"/>
                    <a:ea typeface="Alibaba PuHuiTi" pitchFamily="18" charset="-122"/>
                    <a:cs typeface="Alibaba PuHuiTi" pitchFamily="18" charset="-122"/>
                  </a:rPr>
                  <a:t>=</a:t>
                </a:r>
                <a:r>
                  <a:rPr lang="en-GB" altLang="zh-CN" sz="1400" dirty="0">
                    <a:latin typeface="Alibaba PuHuiTi" pitchFamily="18" charset="-122"/>
                    <a:ea typeface="Alibaba PuHuiTi" pitchFamily="18" charset="-122"/>
                    <a:cs typeface="Alibaba PuHuiTi" pitchFamily="18" charset="-122"/>
                  </a:rPr>
                  <a:t> </a:t>
                </a:r>
                <a:r>
                  <a:rPr lang="en-US" altLang="zh-CN" sz="1400" dirty="0">
                    <a:solidFill>
                      <a:schemeClr val="accent2"/>
                    </a:solidFill>
                    <a:latin typeface="Alibaba PuHuiTi" pitchFamily="18" charset="-122"/>
                    <a:ea typeface="Alibaba PuHuiTi" pitchFamily="18" charset="-122"/>
                    <a:cs typeface="Alibaba PuHuiTi" pitchFamily="18" charset="-122"/>
                  </a:rPr>
                  <a:t>1 - </a:t>
                </a:r>
                <a:r>
                  <a:rPr lang="en-US" altLang="zh-CN" sz="1400" b="0" i="0" u="none" strike="noStrike" dirty="0">
                    <a:solidFill>
                      <a:schemeClr val="accent2"/>
                    </a:solidFill>
                    <a:effectLst/>
                    <a:latin typeface="Alibaba PuHuiTi" pitchFamily="18" charset="-122"/>
                    <a:ea typeface="Alibaba PuHuiTi" pitchFamily="18" charset="-122"/>
                    <a:cs typeface="Alibaba PuHuiTi" pitchFamily="18" charset="-122"/>
                  </a:rPr>
                  <a:t>0.54</a:t>
                </a:r>
                <a:r>
                  <a:rPr lang="zh-CN" altLang="en-US" sz="1400" b="0" i="0" u="none" strike="noStrike" dirty="0">
                    <a:solidFill>
                      <a:schemeClr val="accent2"/>
                    </a:solidFill>
                    <a:effectLst/>
                    <a:latin typeface="Alibaba PuHuiTi" pitchFamily="18" charset="-122"/>
                    <a:ea typeface="Alibaba PuHuiTi" pitchFamily="18" charset="-122"/>
                    <a:cs typeface="Alibaba PuHuiTi" pitchFamily="18" charset="-122"/>
                  </a:rPr>
                  <a:t> </a:t>
                </a:r>
                <a:r>
                  <a:rPr lang="en-US" altLang="zh-CN" sz="1400" b="0" i="0" u="none" strike="noStrike" dirty="0">
                    <a:solidFill>
                      <a:schemeClr val="accent2"/>
                    </a:solidFill>
                    <a:effectLst/>
                    <a:latin typeface="Alibaba PuHuiTi" pitchFamily="18" charset="-122"/>
                    <a:ea typeface="Alibaba PuHuiTi" pitchFamily="18" charset="-122"/>
                    <a:cs typeface="Alibaba PuHuiTi" pitchFamily="18" charset="-122"/>
                  </a:rPr>
                  <a:t>=</a:t>
                </a:r>
                <a:r>
                  <a:rPr lang="zh-CN" altLang="en-US" sz="1400" b="0" i="0" u="none" strike="noStrike" dirty="0">
                    <a:solidFill>
                      <a:schemeClr val="accent2"/>
                    </a:solidFill>
                    <a:effectLst/>
                    <a:latin typeface="Alibaba PuHuiTi" pitchFamily="18" charset="-122"/>
                    <a:ea typeface="Alibaba PuHuiTi" pitchFamily="18" charset="-122"/>
                    <a:cs typeface="Alibaba PuHuiTi" pitchFamily="18" charset="-122"/>
                  </a:rPr>
                  <a:t> </a:t>
                </a:r>
                <a:r>
                  <a:rPr lang="en-US" altLang="zh-CN" sz="1400" b="0" i="0" u="none" strike="noStrike" dirty="0">
                    <a:solidFill>
                      <a:schemeClr val="accent2"/>
                    </a:solidFill>
                    <a:effectLst/>
                    <a:latin typeface="Alibaba PuHuiTi" pitchFamily="18" charset="-122"/>
                    <a:ea typeface="Alibaba PuHuiTi" pitchFamily="18" charset="-122"/>
                    <a:cs typeface="Alibaba PuHuiTi" pitchFamily="18" charset="-122"/>
                  </a:rPr>
                  <a:t>0.46</a:t>
                </a:r>
                <a:endParaRPr lang="en-US" altLang="zh-CN" sz="1400" b="0" i="0" u="none" strike="noStrike" dirty="0">
                  <a:solidFill>
                    <a:schemeClr val="accent2"/>
                  </a:solidFill>
                  <a:effectLst/>
                  <a:latin typeface="Alibaba PuHuiTi" pitchFamily="18" charset="-122"/>
                  <a:ea typeface="Alibaba PuHuiTi" pitchFamily="18" charset="-122"/>
                  <a:cs typeface="Alibaba PuHuiTi" pitchFamily="18" charset="-122"/>
                </a:endParaRPr>
              </a:p>
              <a:p>
                <a:pPr algn="l">
                  <a:lnSpc>
                    <a:spcPct val="150000"/>
                  </a:lnSpc>
                </a:pP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    </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2</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 </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IV</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信息熵：</a:t>
                </a:r>
                <a:r>
                  <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rPr>
                  <a:t> </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a:t>
                </a:r>
                <a:r>
                  <a:rPr lang="en-US" altLang="zh-CN" sz="1400" dirty="0">
                    <a:ea typeface="Alibaba PuHuiTi" pitchFamily="18" charset="-122"/>
                    <a:cs typeface="Alibaba PuHuiTi" pitchFamily="18" charset="-122"/>
                  </a:rPr>
                  <a:t>-</a:t>
                </a:r>
                <a14:m>
                  <m:oMath xmlns:m="http://schemas.openxmlformats.org/officeDocument/2006/math">
                    <m:f>
                      <m:fPr>
                        <m:ctrlPr>
                          <a:rPr lang="en-US" altLang="zh-CN" sz="1400" i="1" smtClean="0">
                            <a:latin typeface="Cambria Math" panose="02040503050406030204" pitchFamily="18" charset="0"/>
                            <a:ea typeface="Alibaba PuHuiTi" pitchFamily="18" charset="-122"/>
                            <a:cs typeface="Alibaba PuHuiTi" pitchFamily="18" charset="-122"/>
                          </a:rPr>
                        </m:ctrlPr>
                      </m:fPr>
                      <m:num>
                        <m:r>
                          <a:rPr lang="en-US" altLang="zh-CN" sz="1400" b="0" i="1" smtClean="0">
                            <a:latin typeface="Cambria Math" panose="02040503050406030204" pitchFamily="18" charset="0"/>
                            <a:ea typeface="Alibaba PuHuiTi" pitchFamily="18" charset="-122"/>
                            <a:cs typeface="Alibaba PuHuiTi" pitchFamily="18" charset="-122"/>
                          </a:rPr>
                          <m:t>4</m:t>
                        </m:r>
                      </m:num>
                      <m:den>
                        <m:r>
                          <a:rPr lang="en-US" altLang="zh-CN" sz="1400" b="0" i="1" smtClean="0">
                            <a:latin typeface="Cambria Math" panose="02040503050406030204" pitchFamily="18" charset="0"/>
                            <a:ea typeface="Alibaba PuHuiTi" pitchFamily="18" charset="-122"/>
                            <a:cs typeface="Alibaba PuHuiTi" pitchFamily="18" charset="-122"/>
                          </a:rPr>
                          <m:t>6</m:t>
                        </m:r>
                      </m:den>
                    </m:f>
                    <m:func>
                      <m:funcPr>
                        <m:ctrlPr>
                          <a:rPr lang="en-US" altLang="zh-CN" sz="1400" i="1" smtClean="0">
                            <a:latin typeface="Cambria Math" panose="02040503050406030204" pitchFamily="18" charset="0"/>
                            <a:ea typeface="Alibaba PuHuiTi" pitchFamily="18" charset="-122"/>
                            <a:cs typeface="Alibaba PuHuiTi" pitchFamily="18" charset="-122"/>
                          </a:rPr>
                        </m:ctrlPr>
                      </m:funcPr>
                      <m:fName>
                        <m:sSub>
                          <m:sSubPr>
                            <m:ctrlPr>
                              <a:rPr lang="en-US" altLang="zh-CN" sz="1400" i="1" smtClean="0">
                                <a:latin typeface="Cambria Math" panose="02040503050406030204" pitchFamily="18" charset="0"/>
                                <a:ea typeface="Alibaba PuHuiTi" pitchFamily="18" charset="-122"/>
                                <a:cs typeface="Alibaba PuHuiTi" pitchFamily="18" charset="-122"/>
                              </a:rPr>
                            </m:ctrlPr>
                          </m:sSubPr>
                          <m:e>
                            <m:r>
                              <m:rPr>
                                <m:sty m:val="p"/>
                              </m:rPr>
                              <a:rPr lang="en-US" altLang="zh-CN" sz="1400" i="0" smtClean="0">
                                <a:latin typeface="Cambria Math" panose="02040503050406030204" pitchFamily="18" charset="0"/>
                                <a:ea typeface="Alibaba PuHuiTi" pitchFamily="18" charset="-122"/>
                                <a:cs typeface="Alibaba PuHuiTi" pitchFamily="18" charset="-122"/>
                              </a:rPr>
                              <m:t>log</m:t>
                            </m:r>
                          </m:e>
                          <m:sub>
                            <m:r>
                              <a:rPr lang="en-US" altLang="zh-CN" sz="1400" b="0" i="1" smtClean="0">
                                <a:latin typeface="Cambria Math" panose="02040503050406030204" pitchFamily="18" charset="0"/>
                                <a:ea typeface="Alibaba PuHuiTi" pitchFamily="18" charset="-122"/>
                                <a:cs typeface="Alibaba PuHuiTi" pitchFamily="18" charset="-122"/>
                              </a:rPr>
                              <m:t>2</m:t>
                            </m:r>
                          </m:sub>
                        </m:sSub>
                      </m:fName>
                      <m:e>
                        <m:f>
                          <m:fPr>
                            <m:ctrlPr>
                              <a:rPr lang="en-US" altLang="zh-CN" sz="1400" i="1" smtClean="0">
                                <a:latin typeface="Cambria Math" panose="02040503050406030204" pitchFamily="18" charset="0"/>
                                <a:ea typeface="Alibaba PuHuiTi" pitchFamily="18" charset="-122"/>
                                <a:cs typeface="Alibaba PuHuiTi" pitchFamily="18" charset="-122"/>
                              </a:rPr>
                            </m:ctrlPr>
                          </m:fPr>
                          <m:num>
                            <m:r>
                              <a:rPr lang="en-US" altLang="zh-CN" sz="1400" b="0" i="1" smtClean="0">
                                <a:latin typeface="Cambria Math" panose="02040503050406030204" pitchFamily="18" charset="0"/>
                                <a:ea typeface="Alibaba PuHuiTi" pitchFamily="18" charset="-122"/>
                                <a:cs typeface="Alibaba PuHuiTi" pitchFamily="18" charset="-122"/>
                              </a:rPr>
                              <m:t>4</m:t>
                            </m:r>
                          </m:num>
                          <m:den>
                            <m:r>
                              <a:rPr lang="en-US" altLang="zh-CN" sz="1400" b="0" i="1" smtClean="0">
                                <a:latin typeface="Cambria Math" panose="02040503050406030204" pitchFamily="18" charset="0"/>
                                <a:ea typeface="Alibaba PuHuiTi" pitchFamily="18" charset="-122"/>
                                <a:cs typeface="Alibaba PuHuiTi" pitchFamily="18" charset="-122"/>
                              </a:rPr>
                              <m:t>6</m:t>
                            </m:r>
                          </m:den>
                        </m:f>
                      </m:e>
                    </m:func>
                  </m:oMath>
                </a14:m>
                <a:r>
                  <a:rPr lang="zh-CN" altLang="en-US" sz="1400" dirty="0">
                    <a:latin typeface="Alibaba PuHuiTi" pitchFamily="18" charset="-122"/>
                    <a:ea typeface="Alibaba PuHuiTi" pitchFamily="18" charset="-122"/>
                    <a:cs typeface="Alibaba PuHuiTi" pitchFamily="18" charset="-122"/>
                  </a:rPr>
                  <a:t> </a:t>
                </a:r>
                <a:r>
                  <a:rPr lang="en-US" altLang="zh-CN"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 </a:t>
                </a:r>
                <a14:m>
                  <m:oMath xmlns:m="http://schemas.openxmlformats.org/officeDocument/2006/math">
                    <m:f>
                      <m:fPr>
                        <m:ctrlPr>
                          <a:rPr lang="en-US" altLang="zh-CN" sz="1400" i="1">
                            <a:latin typeface="Cambria Math" panose="02040503050406030204" pitchFamily="18" charset="0"/>
                            <a:ea typeface="Alibaba PuHuiTi" pitchFamily="18" charset="-122"/>
                            <a:cs typeface="Alibaba PuHuiTi" pitchFamily="18" charset="-122"/>
                          </a:rPr>
                        </m:ctrlPr>
                      </m:fPr>
                      <m:num>
                        <m:r>
                          <a:rPr lang="en-US" altLang="zh-CN" sz="1400" b="0" i="1" smtClean="0">
                            <a:latin typeface="Cambria Math" panose="02040503050406030204" pitchFamily="18" charset="0"/>
                            <a:ea typeface="Alibaba PuHuiTi" pitchFamily="18" charset="-122"/>
                            <a:cs typeface="Alibaba PuHuiTi" pitchFamily="18" charset="-122"/>
                          </a:rPr>
                          <m:t>2</m:t>
                        </m:r>
                      </m:num>
                      <m:den>
                        <m:r>
                          <a:rPr lang="en-US" altLang="zh-CN" sz="1400" b="0" i="1" smtClean="0">
                            <a:latin typeface="Cambria Math" panose="02040503050406030204" pitchFamily="18" charset="0"/>
                            <a:ea typeface="Alibaba PuHuiTi" pitchFamily="18" charset="-122"/>
                            <a:cs typeface="Alibaba PuHuiTi" pitchFamily="18" charset="-122"/>
                          </a:rPr>
                          <m:t>6</m:t>
                        </m:r>
                      </m:den>
                    </m:f>
                    <m:func>
                      <m:funcPr>
                        <m:ctrlPr>
                          <a:rPr lang="en-US" altLang="zh-CN" sz="1400" i="1" smtClean="0">
                            <a:latin typeface="Cambria Math" panose="02040503050406030204" pitchFamily="18" charset="0"/>
                            <a:ea typeface="Alibaba PuHuiTi" pitchFamily="18" charset="-122"/>
                            <a:cs typeface="Alibaba PuHuiTi" pitchFamily="18" charset="-122"/>
                          </a:rPr>
                        </m:ctrlPr>
                      </m:funcPr>
                      <m:fName>
                        <m:sSub>
                          <m:sSubPr>
                            <m:ctrlPr>
                              <a:rPr lang="en-US" altLang="zh-CN" sz="1400" i="1">
                                <a:latin typeface="Cambria Math" panose="02040503050406030204" pitchFamily="18" charset="0"/>
                                <a:ea typeface="Alibaba PuHuiTi" pitchFamily="18" charset="-122"/>
                                <a:cs typeface="Alibaba PuHuiTi" pitchFamily="18" charset="-122"/>
                              </a:rPr>
                            </m:ctrlPr>
                          </m:sSubPr>
                          <m:e>
                            <m:r>
                              <m:rPr>
                                <m:sty m:val="p"/>
                              </m:rPr>
                              <a:rPr lang="en-US" altLang="zh-CN" sz="1400">
                                <a:latin typeface="Cambria Math" panose="02040503050406030204" pitchFamily="18" charset="0"/>
                                <a:ea typeface="Alibaba PuHuiTi" pitchFamily="18" charset="-122"/>
                                <a:cs typeface="Alibaba PuHuiTi" pitchFamily="18" charset="-122"/>
                              </a:rPr>
                              <m:t>log</m:t>
                            </m:r>
                          </m:e>
                          <m:sub>
                            <m:r>
                              <a:rPr lang="en-US" altLang="zh-CN" sz="1400" i="1">
                                <a:latin typeface="Cambria Math" panose="02040503050406030204" pitchFamily="18" charset="0"/>
                                <a:ea typeface="Alibaba PuHuiTi" pitchFamily="18" charset="-122"/>
                                <a:cs typeface="Alibaba PuHuiTi" pitchFamily="18" charset="-122"/>
                              </a:rPr>
                              <m:t>2</m:t>
                            </m:r>
                          </m:sub>
                        </m:sSub>
                      </m:fName>
                      <m:e>
                        <m:f>
                          <m:fPr>
                            <m:ctrlPr>
                              <a:rPr lang="en-US" altLang="zh-CN" sz="1400" i="1">
                                <a:latin typeface="Cambria Math" panose="02040503050406030204" pitchFamily="18" charset="0"/>
                                <a:ea typeface="Alibaba PuHuiTi" pitchFamily="18" charset="-122"/>
                                <a:cs typeface="Alibaba PuHuiTi" pitchFamily="18" charset="-122"/>
                              </a:rPr>
                            </m:ctrlPr>
                          </m:fPr>
                          <m:num>
                            <m:r>
                              <a:rPr lang="en-US" altLang="zh-CN" sz="1400" b="0" i="1" smtClean="0">
                                <a:latin typeface="Cambria Math" panose="02040503050406030204" pitchFamily="18" charset="0"/>
                                <a:ea typeface="Alibaba PuHuiTi" pitchFamily="18" charset="-122"/>
                                <a:cs typeface="Alibaba PuHuiTi" pitchFamily="18" charset="-122"/>
                              </a:rPr>
                              <m:t>2</m:t>
                            </m:r>
                          </m:num>
                          <m:den>
                            <m:r>
                              <a:rPr lang="en-US" altLang="zh-CN" sz="1400" b="0" i="1" smtClean="0">
                                <a:latin typeface="Cambria Math" panose="02040503050406030204" pitchFamily="18" charset="0"/>
                                <a:ea typeface="Alibaba PuHuiTi" pitchFamily="18" charset="-122"/>
                                <a:cs typeface="Alibaba PuHuiTi" pitchFamily="18" charset="-122"/>
                              </a:rPr>
                              <m:t>6</m:t>
                            </m:r>
                          </m:den>
                        </m:f>
                      </m:e>
                    </m:func>
                    <m:r>
                      <a:rPr lang="zh-CN" altLang="en-US" sz="1400" b="0" i="0" smtClean="0">
                        <a:latin typeface="Cambria Math" panose="02040503050406030204" pitchFamily="18" charset="0"/>
                        <a:ea typeface="Alibaba PuHuiTi" pitchFamily="18" charset="-122"/>
                        <a:cs typeface="Alibaba PuHuiTi" pitchFamily="18" charset="-122"/>
                      </a:rPr>
                      <m:t> </m:t>
                    </m:r>
                  </m:oMath>
                </a14:m>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 </a:t>
                </a:r>
                <a:r>
                  <a:rPr lang="en-GB" altLang="zh-CN"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0.9</a:t>
                </a:r>
                <a:r>
                  <a:rPr lang="en-US" altLang="zh-CN"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2</a:t>
                </a:r>
                <a:endParaRPr lang="en-GB" altLang="zh-CN"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endParaRPr>
              </a:p>
              <a:p>
                <a:pPr algn="l">
                  <a:lnSpc>
                    <a:spcPct val="150000"/>
                  </a:lnSpc>
                </a:pP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    </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3</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 信息增益率：信息增益</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信息熵</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a:t>
                </a:r>
                <a:r>
                  <a:rPr lang="en-US" altLang="zh-CN"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0.46/0.92=0.5</a:t>
                </a:r>
                <a:endParaRPr lang="en-US" altLang="zh-CN"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endParaRPr>
              </a:p>
            </p:txBody>
          </p:sp>
        </mc:Choice>
        <mc:Fallback>
          <p:sp>
            <p:nvSpPr>
              <p:cNvPr id="12" name="文本框 11"/>
              <p:cNvSpPr txBox="1">
                <a:spLocks noRot="1" noChangeAspect="1" noMove="1" noResize="1" noEditPoints="1" noAdjustHandles="1" noChangeArrowheads="1" noChangeShapeType="1" noTextEdit="1"/>
              </p:cNvSpPr>
              <p:nvPr/>
            </p:nvSpPr>
            <p:spPr>
              <a:xfrm>
                <a:off x="938530" y="2936240"/>
                <a:ext cx="9461500" cy="1654175"/>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 name="文本框 25"/>
              <p:cNvSpPr txBox="1"/>
              <p:nvPr/>
            </p:nvSpPr>
            <p:spPr>
              <a:xfrm>
                <a:off x="924076" y="4836693"/>
                <a:ext cx="5171924" cy="1655005"/>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特征</a:t>
                </a:r>
                <a:r>
                  <a:rPr lang="en-US" altLang="zh-CN" sz="1400" dirty="0">
                    <a:solidFill>
                      <a:srgbClr val="333333"/>
                    </a:solidFill>
                    <a:latin typeface="Alibaba PuHuiTi" pitchFamily="18" charset="-122"/>
                    <a:ea typeface="Alibaba PuHuiTi" pitchFamily="18" charset="-122"/>
                    <a:cs typeface="Alibaba PuHuiTi" pitchFamily="18" charset="-122"/>
                  </a:rPr>
                  <a:t>b</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的信息增益率：</a:t>
                </a:r>
                <a:endPar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endParaRPr>
              </a:p>
              <a:p>
                <a:pPr>
                  <a:lnSpc>
                    <a:spcPct val="150000"/>
                  </a:lnSpc>
                </a:pP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    </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1</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 信息增益： </a:t>
                </a:r>
                <a:r>
                  <a:rPr lang="en-GB" altLang="zh-CN" sz="1400" dirty="0">
                    <a:latin typeface="Alibaba PuHuiTi" pitchFamily="18" charset="-122"/>
                    <a:ea typeface="Alibaba PuHuiTi" pitchFamily="18" charset="-122"/>
                    <a:cs typeface="Alibaba PuHuiTi" pitchFamily="18" charset="-122"/>
                  </a:rPr>
                  <a:t> -</a:t>
                </a:r>
                <a:r>
                  <a:rPr lang="en-US" altLang="zh-CN" sz="1400" dirty="0">
                    <a:ea typeface="Alibaba PuHuiTi" pitchFamily="18" charset="-122"/>
                    <a:cs typeface="Alibaba PuHuiTi" pitchFamily="18" charset="-122"/>
                  </a:rPr>
                  <a:t> </a:t>
                </a:r>
                <a14:m>
                  <m:oMath xmlns:m="http://schemas.openxmlformats.org/officeDocument/2006/math">
                    <m:f>
                      <m:fPr>
                        <m:ctrlPr>
                          <a:rPr lang="en-US" altLang="zh-CN" sz="1400" i="1">
                            <a:latin typeface="Cambria Math" panose="02040503050406030204" pitchFamily="18" charset="0"/>
                            <a:ea typeface="Alibaba PuHuiTi" pitchFamily="18" charset="-122"/>
                            <a:cs typeface="Alibaba PuHuiTi" pitchFamily="18" charset="-122"/>
                          </a:rPr>
                        </m:ctrlPr>
                      </m:fPr>
                      <m:num>
                        <m:r>
                          <a:rPr lang="en-US" altLang="zh-CN" sz="1400" i="1">
                            <a:latin typeface="Cambria Math" panose="02040503050406030204" pitchFamily="18" charset="0"/>
                            <a:ea typeface="Alibaba PuHuiTi" pitchFamily="18" charset="-122"/>
                            <a:cs typeface="Alibaba PuHuiTi" pitchFamily="18" charset="-122"/>
                          </a:rPr>
                          <m:t>3</m:t>
                        </m:r>
                      </m:num>
                      <m:den>
                        <m:r>
                          <a:rPr lang="en-US" altLang="zh-CN" sz="1400" i="1">
                            <a:latin typeface="Cambria Math" panose="02040503050406030204" pitchFamily="18" charset="0"/>
                            <a:ea typeface="Alibaba PuHuiTi" pitchFamily="18" charset="-122"/>
                            <a:cs typeface="Alibaba PuHuiTi" pitchFamily="18" charset="-122"/>
                          </a:rPr>
                          <m:t>6</m:t>
                        </m:r>
                      </m:den>
                    </m:f>
                    <m:func>
                      <m:funcPr>
                        <m:ctrlPr>
                          <a:rPr lang="en-US" altLang="zh-CN" sz="1400" i="1">
                            <a:latin typeface="Cambria Math" panose="02040503050406030204" pitchFamily="18" charset="0"/>
                            <a:ea typeface="Alibaba PuHuiTi" pitchFamily="18" charset="-122"/>
                            <a:cs typeface="Alibaba PuHuiTi" pitchFamily="18" charset="-122"/>
                          </a:rPr>
                        </m:ctrlPr>
                      </m:funcPr>
                      <m:fName>
                        <m:sSub>
                          <m:sSubPr>
                            <m:ctrlPr>
                              <a:rPr lang="en-US" altLang="zh-CN" sz="1400" i="1">
                                <a:latin typeface="Cambria Math" panose="02040503050406030204" pitchFamily="18" charset="0"/>
                                <a:ea typeface="Alibaba PuHuiTi" pitchFamily="18" charset="-122"/>
                                <a:cs typeface="Alibaba PuHuiTi" pitchFamily="18" charset="-122"/>
                              </a:rPr>
                            </m:ctrlPr>
                          </m:sSubPr>
                          <m:e>
                            <m:r>
                              <m:rPr>
                                <m:sty m:val="p"/>
                              </m:rPr>
                              <a:rPr lang="en-US" altLang="zh-CN" sz="1400">
                                <a:latin typeface="Cambria Math" panose="02040503050406030204" pitchFamily="18" charset="0"/>
                                <a:ea typeface="Alibaba PuHuiTi" pitchFamily="18" charset="-122"/>
                                <a:cs typeface="Alibaba PuHuiTi" pitchFamily="18" charset="-122"/>
                              </a:rPr>
                              <m:t>log</m:t>
                            </m:r>
                          </m:e>
                          <m:sub>
                            <m:r>
                              <a:rPr lang="en-US" altLang="zh-CN" sz="1400" i="1">
                                <a:latin typeface="Cambria Math" panose="02040503050406030204" pitchFamily="18" charset="0"/>
                                <a:ea typeface="Alibaba PuHuiTi" pitchFamily="18" charset="-122"/>
                                <a:cs typeface="Alibaba PuHuiTi" pitchFamily="18" charset="-122"/>
                              </a:rPr>
                              <m:t>2</m:t>
                            </m:r>
                          </m:sub>
                        </m:sSub>
                      </m:fName>
                      <m:e>
                        <m:f>
                          <m:fPr>
                            <m:ctrlPr>
                              <a:rPr lang="en-US" altLang="zh-CN" sz="1400" i="1">
                                <a:latin typeface="Cambria Math" panose="02040503050406030204" pitchFamily="18" charset="0"/>
                                <a:ea typeface="Alibaba PuHuiTi" pitchFamily="18" charset="-122"/>
                                <a:cs typeface="Alibaba PuHuiTi" pitchFamily="18" charset="-122"/>
                              </a:rPr>
                            </m:ctrlPr>
                          </m:fPr>
                          <m:num>
                            <m:r>
                              <a:rPr lang="en-US" altLang="zh-CN" sz="1400" i="1">
                                <a:latin typeface="Cambria Math" panose="02040503050406030204" pitchFamily="18" charset="0"/>
                                <a:ea typeface="Alibaba PuHuiTi" pitchFamily="18" charset="-122"/>
                                <a:cs typeface="Alibaba PuHuiTi" pitchFamily="18" charset="-122"/>
                              </a:rPr>
                              <m:t>3</m:t>
                            </m:r>
                          </m:num>
                          <m:den>
                            <m:r>
                              <a:rPr lang="en-US" altLang="zh-CN" sz="1400" i="1">
                                <a:latin typeface="Cambria Math" panose="02040503050406030204" pitchFamily="18" charset="0"/>
                                <a:ea typeface="Alibaba PuHuiTi" pitchFamily="18" charset="-122"/>
                                <a:cs typeface="Alibaba PuHuiTi" pitchFamily="18" charset="-122"/>
                              </a:rPr>
                              <m:t>6</m:t>
                            </m:r>
                          </m:den>
                        </m:f>
                      </m:e>
                    </m:func>
                  </m:oMath>
                </a14:m>
                <a:r>
                  <a:rPr lang="zh-CN" altLang="en-US" sz="1400" dirty="0">
                    <a:latin typeface="Alibaba PuHuiTi" pitchFamily="18" charset="-122"/>
                    <a:ea typeface="Alibaba PuHuiTi" pitchFamily="18" charset="-122"/>
                    <a:cs typeface="Alibaba PuHuiTi" pitchFamily="18" charset="-122"/>
                  </a:rPr>
                  <a:t> </a:t>
                </a:r>
                <a:r>
                  <a:rPr lang="en-US" altLang="zh-CN"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 </a:t>
                </a:r>
                <a14:m>
                  <m:oMath xmlns:m="http://schemas.openxmlformats.org/officeDocument/2006/math">
                    <m:f>
                      <m:fPr>
                        <m:ctrlPr>
                          <a:rPr lang="en-US" altLang="zh-CN" sz="1400" i="1">
                            <a:latin typeface="Cambria Math" panose="02040503050406030204" pitchFamily="18" charset="0"/>
                            <a:ea typeface="Alibaba PuHuiTi" pitchFamily="18" charset="-122"/>
                            <a:cs typeface="Alibaba PuHuiTi" pitchFamily="18" charset="-122"/>
                          </a:rPr>
                        </m:ctrlPr>
                      </m:fPr>
                      <m:num>
                        <m:r>
                          <a:rPr lang="en-US" altLang="zh-CN" sz="1400" i="1">
                            <a:latin typeface="Cambria Math" panose="02040503050406030204" pitchFamily="18" charset="0"/>
                            <a:ea typeface="Alibaba PuHuiTi" pitchFamily="18" charset="-122"/>
                            <a:cs typeface="Alibaba PuHuiTi" pitchFamily="18" charset="-122"/>
                          </a:rPr>
                          <m:t>3</m:t>
                        </m:r>
                      </m:num>
                      <m:den>
                        <m:r>
                          <a:rPr lang="en-US" altLang="zh-CN" sz="1400" i="1">
                            <a:latin typeface="Cambria Math" panose="02040503050406030204" pitchFamily="18" charset="0"/>
                            <a:ea typeface="Alibaba PuHuiTi" pitchFamily="18" charset="-122"/>
                            <a:cs typeface="Alibaba PuHuiTi" pitchFamily="18" charset="-122"/>
                          </a:rPr>
                          <m:t>6</m:t>
                        </m:r>
                      </m:den>
                    </m:f>
                    <m:func>
                      <m:funcPr>
                        <m:ctrlPr>
                          <a:rPr lang="en-US" altLang="zh-CN" sz="1400" i="1">
                            <a:latin typeface="Cambria Math" panose="02040503050406030204" pitchFamily="18" charset="0"/>
                            <a:ea typeface="Alibaba PuHuiTi" pitchFamily="18" charset="-122"/>
                            <a:cs typeface="Alibaba PuHuiTi" pitchFamily="18" charset="-122"/>
                          </a:rPr>
                        </m:ctrlPr>
                      </m:funcPr>
                      <m:fName>
                        <m:sSub>
                          <m:sSubPr>
                            <m:ctrlPr>
                              <a:rPr lang="en-US" altLang="zh-CN" sz="1400" i="1">
                                <a:latin typeface="Cambria Math" panose="02040503050406030204" pitchFamily="18" charset="0"/>
                                <a:ea typeface="Alibaba PuHuiTi" pitchFamily="18" charset="-122"/>
                                <a:cs typeface="Alibaba PuHuiTi" pitchFamily="18" charset="-122"/>
                              </a:rPr>
                            </m:ctrlPr>
                          </m:sSubPr>
                          <m:e>
                            <m:r>
                              <m:rPr>
                                <m:sty m:val="p"/>
                              </m:rPr>
                              <a:rPr lang="en-US" altLang="zh-CN" sz="1400">
                                <a:latin typeface="Cambria Math" panose="02040503050406030204" pitchFamily="18" charset="0"/>
                                <a:ea typeface="Alibaba PuHuiTi" pitchFamily="18" charset="-122"/>
                                <a:cs typeface="Alibaba PuHuiTi" pitchFamily="18" charset="-122"/>
                              </a:rPr>
                              <m:t>log</m:t>
                            </m:r>
                          </m:e>
                          <m:sub>
                            <m:r>
                              <a:rPr lang="en-US" altLang="zh-CN" sz="1400" i="1">
                                <a:latin typeface="Cambria Math" panose="02040503050406030204" pitchFamily="18" charset="0"/>
                                <a:ea typeface="Alibaba PuHuiTi" pitchFamily="18" charset="-122"/>
                                <a:cs typeface="Alibaba PuHuiTi" pitchFamily="18" charset="-122"/>
                              </a:rPr>
                              <m:t>2</m:t>
                            </m:r>
                          </m:sub>
                        </m:sSub>
                      </m:fName>
                      <m:e>
                        <m:f>
                          <m:fPr>
                            <m:ctrlPr>
                              <a:rPr lang="en-US" altLang="zh-CN" sz="1400" i="1">
                                <a:latin typeface="Cambria Math" panose="02040503050406030204" pitchFamily="18" charset="0"/>
                                <a:ea typeface="Alibaba PuHuiTi" pitchFamily="18" charset="-122"/>
                                <a:cs typeface="Alibaba PuHuiTi" pitchFamily="18" charset="-122"/>
                              </a:rPr>
                            </m:ctrlPr>
                          </m:fPr>
                          <m:num>
                            <m:r>
                              <a:rPr lang="en-US" altLang="zh-CN" sz="1400" i="1">
                                <a:latin typeface="Cambria Math" panose="02040503050406030204" pitchFamily="18" charset="0"/>
                                <a:ea typeface="Alibaba PuHuiTi" pitchFamily="18" charset="-122"/>
                                <a:cs typeface="Alibaba PuHuiTi" pitchFamily="18" charset="-122"/>
                              </a:rPr>
                              <m:t>3</m:t>
                            </m:r>
                          </m:num>
                          <m:den>
                            <m:r>
                              <a:rPr lang="en-US" altLang="zh-CN" sz="1400" i="1">
                                <a:latin typeface="Cambria Math" panose="02040503050406030204" pitchFamily="18" charset="0"/>
                                <a:ea typeface="Alibaba PuHuiTi" pitchFamily="18" charset="-122"/>
                                <a:cs typeface="Alibaba PuHuiTi" pitchFamily="18" charset="-122"/>
                              </a:rPr>
                              <m:t>6</m:t>
                            </m:r>
                          </m:den>
                        </m:f>
                      </m:e>
                    </m:func>
                  </m:oMath>
                </a14:m>
                <a:r>
                  <a:rPr lang="zh-CN" altLang="en-US" sz="1400" dirty="0">
                    <a:latin typeface="Alibaba PuHuiTi" pitchFamily="18" charset="-122"/>
                    <a:ea typeface="Alibaba PuHuiTi" pitchFamily="18" charset="-122"/>
                    <a:cs typeface="Alibaba PuHuiTi" pitchFamily="18" charset="-122"/>
                  </a:rPr>
                  <a:t> </a:t>
                </a:r>
                <a:r>
                  <a:rPr lang="en-GB" altLang="zh-CN" sz="1400" dirty="0">
                    <a:latin typeface="Alibaba PuHuiTi" pitchFamily="18" charset="-122"/>
                    <a:ea typeface="Alibaba PuHuiTi" pitchFamily="18" charset="-122"/>
                    <a:cs typeface="Alibaba PuHuiTi" pitchFamily="18" charset="-122"/>
                  </a:rPr>
                  <a:t>–</a:t>
                </a:r>
                <a:r>
                  <a:rPr lang="en-US" altLang="zh-CN" sz="1400" dirty="0">
                    <a:ea typeface="Alibaba PuHuiTi" pitchFamily="18" charset="-122"/>
                    <a:cs typeface="Alibaba PuHuiTi" pitchFamily="18" charset="-122"/>
                  </a:rPr>
                  <a:t> 6</a:t>
                </a:r>
                <a:r>
                  <a:rPr lang="zh-CN" altLang="en-US" sz="1400" dirty="0">
                    <a:ea typeface="Alibaba PuHuiTi" pitchFamily="18" charset="-122"/>
                    <a:cs typeface="Alibaba PuHuiTi" pitchFamily="18" charset="-122"/>
                  </a:rPr>
                  <a:t>*</a:t>
                </a:r>
                <a:r>
                  <a:rPr lang="en-US" altLang="zh-CN" sz="1400" dirty="0">
                    <a:ea typeface="Alibaba PuHuiTi" pitchFamily="18" charset="-122"/>
                    <a:cs typeface="Alibaba PuHuiTi" pitchFamily="18" charset="-122"/>
                  </a:rPr>
                  <a:t>0</a:t>
                </a:r>
                <a:r>
                  <a:rPr lang="zh-CN" altLang="en-US" sz="1400" dirty="0">
                    <a:ea typeface="Alibaba PuHuiTi" pitchFamily="18" charset="-122"/>
                    <a:cs typeface="Alibaba PuHuiTi" pitchFamily="18" charset="-122"/>
                  </a:rPr>
                  <a:t> </a:t>
                </a:r>
                <a:r>
                  <a:rPr lang="zh-CN" altLang="en-US" sz="1400" dirty="0">
                    <a:latin typeface="Alibaba PuHuiTi" pitchFamily="18" charset="-122"/>
                    <a:ea typeface="Alibaba PuHuiTi" pitchFamily="18" charset="-122"/>
                    <a:cs typeface="Alibaba PuHuiTi" pitchFamily="18" charset="-122"/>
                  </a:rPr>
                  <a:t> </a:t>
                </a:r>
                <a:r>
                  <a:rPr lang="en-US" altLang="zh-CN"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 </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1</a:t>
                </a:r>
                <a:endParaRPr lang="en-US" altLang="zh-CN"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endParaRPr>
              </a:p>
              <a:p>
                <a:pPr algn="l">
                  <a:lnSpc>
                    <a:spcPct val="150000"/>
                  </a:lnSpc>
                </a:pP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    </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2</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 </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IV</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信息熵：</a:t>
                </a:r>
                <a:r>
                  <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rPr>
                  <a:t> </a:t>
                </a:r>
                <a:r>
                  <a:rPr lang="en-US" altLang="zh-CN" sz="1400" dirty="0">
                    <a:ea typeface="Alibaba PuHuiTi" pitchFamily="18" charset="-122"/>
                    <a:cs typeface="Alibaba PuHuiTi" pitchFamily="18" charset="-122"/>
                  </a:rPr>
                  <a:t>-</a:t>
                </a:r>
                <a:r>
                  <a:rPr lang="zh-CN" altLang="en-US" sz="1400" dirty="0">
                    <a:ea typeface="Alibaba PuHuiTi" pitchFamily="18" charset="-122"/>
                    <a:cs typeface="Alibaba PuHuiTi" pitchFamily="18" charset="-122"/>
                  </a:rPr>
                  <a:t> </a:t>
                </a:r>
                <a14:m>
                  <m:oMath xmlns:m="http://schemas.openxmlformats.org/officeDocument/2006/math">
                    <m:f>
                      <m:fPr>
                        <m:ctrlPr>
                          <a:rPr lang="en-US" altLang="zh-CN" sz="1400" i="1" smtClean="0">
                            <a:latin typeface="Cambria Math" panose="02040503050406030204" pitchFamily="18" charset="0"/>
                            <a:ea typeface="Alibaba PuHuiTi" pitchFamily="18" charset="-122"/>
                            <a:cs typeface="Alibaba PuHuiTi" pitchFamily="18" charset="-122"/>
                          </a:rPr>
                        </m:ctrlPr>
                      </m:fPr>
                      <m:num>
                        <m:r>
                          <a:rPr lang="en-US" altLang="zh-CN" sz="1400" b="0" i="1" smtClean="0">
                            <a:latin typeface="Cambria Math" panose="02040503050406030204" pitchFamily="18" charset="0"/>
                            <a:ea typeface="Alibaba PuHuiTi" pitchFamily="18" charset="-122"/>
                            <a:cs typeface="Alibaba PuHuiTi" pitchFamily="18" charset="-122"/>
                          </a:rPr>
                          <m:t>1</m:t>
                        </m:r>
                      </m:num>
                      <m:den>
                        <m:r>
                          <a:rPr lang="en-US" altLang="zh-CN" sz="1400" b="0" i="1" smtClean="0">
                            <a:latin typeface="Cambria Math" panose="02040503050406030204" pitchFamily="18" charset="0"/>
                            <a:ea typeface="Alibaba PuHuiTi" pitchFamily="18" charset="-122"/>
                            <a:cs typeface="Alibaba PuHuiTi" pitchFamily="18" charset="-122"/>
                          </a:rPr>
                          <m:t>6</m:t>
                        </m:r>
                      </m:den>
                    </m:f>
                    <m:func>
                      <m:funcPr>
                        <m:ctrlPr>
                          <a:rPr lang="en-US" altLang="zh-CN" sz="1400" i="1" smtClean="0">
                            <a:latin typeface="Cambria Math" panose="02040503050406030204" pitchFamily="18" charset="0"/>
                            <a:ea typeface="Alibaba PuHuiTi" pitchFamily="18" charset="-122"/>
                            <a:cs typeface="Alibaba PuHuiTi" pitchFamily="18" charset="-122"/>
                          </a:rPr>
                        </m:ctrlPr>
                      </m:funcPr>
                      <m:fName>
                        <m:sSub>
                          <m:sSubPr>
                            <m:ctrlPr>
                              <a:rPr lang="en-US" altLang="zh-CN" sz="1400" i="1" smtClean="0">
                                <a:latin typeface="Cambria Math" panose="02040503050406030204" pitchFamily="18" charset="0"/>
                                <a:ea typeface="Alibaba PuHuiTi" pitchFamily="18" charset="-122"/>
                                <a:cs typeface="Alibaba PuHuiTi" pitchFamily="18" charset="-122"/>
                              </a:rPr>
                            </m:ctrlPr>
                          </m:sSubPr>
                          <m:e>
                            <m:r>
                              <m:rPr>
                                <m:sty m:val="p"/>
                              </m:rPr>
                              <a:rPr lang="en-US" altLang="zh-CN" sz="1400" i="0" smtClean="0">
                                <a:latin typeface="Cambria Math" panose="02040503050406030204" pitchFamily="18" charset="0"/>
                                <a:ea typeface="Alibaba PuHuiTi" pitchFamily="18" charset="-122"/>
                                <a:cs typeface="Alibaba PuHuiTi" pitchFamily="18" charset="-122"/>
                              </a:rPr>
                              <m:t>log</m:t>
                            </m:r>
                          </m:e>
                          <m:sub>
                            <m:r>
                              <a:rPr lang="en-US" altLang="zh-CN" sz="1400" b="0" i="1" smtClean="0">
                                <a:latin typeface="Cambria Math" panose="02040503050406030204" pitchFamily="18" charset="0"/>
                                <a:ea typeface="Alibaba PuHuiTi" pitchFamily="18" charset="-122"/>
                                <a:cs typeface="Alibaba PuHuiTi" pitchFamily="18" charset="-122"/>
                              </a:rPr>
                              <m:t>2</m:t>
                            </m:r>
                          </m:sub>
                        </m:sSub>
                      </m:fName>
                      <m:e>
                        <m:f>
                          <m:fPr>
                            <m:ctrlPr>
                              <a:rPr lang="en-US" altLang="zh-CN" sz="1400" i="1" smtClean="0">
                                <a:latin typeface="Cambria Math" panose="02040503050406030204" pitchFamily="18" charset="0"/>
                                <a:ea typeface="Alibaba PuHuiTi" pitchFamily="18" charset="-122"/>
                                <a:cs typeface="Alibaba PuHuiTi" pitchFamily="18" charset="-122"/>
                              </a:rPr>
                            </m:ctrlPr>
                          </m:fPr>
                          <m:num>
                            <m:r>
                              <a:rPr lang="en-US" altLang="zh-CN" sz="1400" b="0" i="1" smtClean="0">
                                <a:latin typeface="Cambria Math" panose="02040503050406030204" pitchFamily="18" charset="0"/>
                                <a:ea typeface="Alibaba PuHuiTi" pitchFamily="18" charset="-122"/>
                                <a:cs typeface="Alibaba PuHuiTi" pitchFamily="18" charset="-122"/>
                              </a:rPr>
                              <m:t>1</m:t>
                            </m:r>
                          </m:num>
                          <m:den>
                            <m:r>
                              <a:rPr lang="en-US" altLang="zh-CN" sz="1400" b="0" i="1" smtClean="0">
                                <a:latin typeface="Cambria Math" panose="02040503050406030204" pitchFamily="18" charset="0"/>
                                <a:ea typeface="Alibaba PuHuiTi" pitchFamily="18" charset="-122"/>
                                <a:cs typeface="Alibaba PuHuiTi" pitchFamily="18" charset="-122"/>
                              </a:rPr>
                              <m:t>6</m:t>
                            </m:r>
                          </m:den>
                        </m:f>
                      </m:e>
                    </m:func>
                  </m:oMath>
                </a14:m>
                <a:r>
                  <a:rPr lang="zh-CN" altLang="en-US" sz="1400" dirty="0">
                    <a:latin typeface="Alibaba PuHuiTi" pitchFamily="18" charset="-122"/>
                    <a:ea typeface="Alibaba PuHuiTi" pitchFamily="18" charset="-122"/>
                    <a:cs typeface="Alibaba PuHuiTi" pitchFamily="18" charset="-122"/>
                  </a:rPr>
                  <a:t> * </a:t>
                </a:r>
                <a:r>
                  <a:rPr lang="en-US" altLang="zh-CN" sz="1400" dirty="0">
                    <a:latin typeface="Alibaba PuHuiTi" pitchFamily="18" charset="-122"/>
                    <a:ea typeface="Alibaba PuHuiTi" pitchFamily="18" charset="-122"/>
                    <a:cs typeface="Alibaba PuHuiTi" pitchFamily="18" charset="-122"/>
                  </a:rPr>
                  <a:t>6=</a:t>
                </a:r>
                <a:r>
                  <a:rPr lang="zh-CN" altLang="en-US" sz="1400" dirty="0">
                    <a:latin typeface="Alibaba PuHuiTi" pitchFamily="18" charset="-122"/>
                    <a:ea typeface="Alibaba PuHuiTi" pitchFamily="18" charset="-122"/>
                    <a:cs typeface="Alibaba PuHuiTi" pitchFamily="18" charset="-122"/>
                  </a:rPr>
                  <a:t> </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2.58</a:t>
                </a:r>
                <a:endParaRPr lang="en-GB" altLang="zh-CN"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endParaRPr>
              </a:p>
              <a:p>
                <a:pPr algn="l">
                  <a:lnSpc>
                    <a:spcPct val="150000"/>
                  </a:lnSpc>
                </a:pP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    </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3</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 信息增益率：信息增益</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信息熵</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1</a:t>
                </a:r>
                <a:r>
                  <a:rPr lang="en-US" altLang="zh-CN"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/2.58=0.39</a:t>
                </a:r>
                <a:endParaRPr lang="en-US" altLang="zh-CN"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endParaRPr>
              </a:p>
            </p:txBody>
          </p:sp>
        </mc:Choice>
        <mc:Fallback>
          <p:sp>
            <p:nvSpPr>
              <p:cNvPr id="26" name="文本框 25"/>
              <p:cNvSpPr txBox="1">
                <a:spLocks noRot="1" noChangeAspect="1" noMove="1" noResize="1" noEditPoints="1" noAdjustHandles="1" noChangeArrowheads="1" noChangeShapeType="1" noTextEdit="1"/>
              </p:cNvSpPr>
              <p:nvPr/>
            </p:nvSpPr>
            <p:spPr>
              <a:xfrm>
                <a:off x="924076" y="4836693"/>
                <a:ext cx="5171924" cy="1655005"/>
              </a:xfrm>
              <a:prstGeom prst="rect">
                <a:avLst/>
              </a:prstGeom>
              <a:blipFill rotWithShape="1">
                <a:blip r:embed="rId3"/>
                <a:stretch>
                  <a:fillRect l="-3" t="-32" b="6"/>
                </a:stretch>
              </a:blipFill>
            </p:spPr>
            <p:txBody>
              <a:bodyPr/>
              <a:lstStyle/>
              <a:p>
                <a:r>
                  <a:rPr lang="zh-CN" altLang="en-US">
                    <a:noFill/>
                  </a:rPr>
                  <a:t> </a:t>
                </a:r>
              </a:p>
            </p:txBody>
          </p:sp>
        </mc:Fallback>
      </mc:AlternateContent>
      <p:sp>
        <p:nvSpPr>
          <p:cNvPr id="28" name="文本框 27"/>
          <p:cNvSpPr txBox="1"/>
          <p:nvPr/>
        </p:nvSpPr>
        <p:spPr>
          <a:xfrm>
            <a:off x="6185247" y="5783299"/>
            <a:ext cx="4563868" cy="70839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结论：</a:t>
            </a:r>
            <a:r>
              <a:rPr lang="zh-CN" altLang="en-US" sz="1400" i="0" dirty="0">
                <a:solidFill>
                  <a:schemeClr val="tx1">
                    <a:lumMod val="85000"/>
                    <a:lumOff val="15000"/>
                  </a:schemeClr>
                </a:solidFill>
                <a:effectLst/>
                <a:latin typeface="Alibaba PuHuiTi" pitchFamily="18" charset="-122"/>
                <a:ea typeface="Alibaba PuHuiTi" pitchFamily="18" charset="-122"/>
                <a:cs typeface="Alibaba PuHuiTi" pitchFamily="18" charset="-122"/>
              </a:rPr>
              <a:t>特征</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a</a:t>
            </a:r>
            <a:r>
              <a:rPr lang="zh-CN" altLang="en-US" sz="1400" i="0" dirty="0">
                <a:solidFill>
                  <a:schemeClr val="tx1">
                    <a:lumMod val="85000"/>
                    <a:lumOff val="15000"/>
                  </a:schemeClr>
                </a:solidFill>
                <a:effectLst/>
                <a:latin typeface="Alibaba PuHuiTi" pitchFamily="18" charset="-122"/>
                <a:ea typeface="Alibaba PuHuiTi" pitchFamily="18" charset="-122"/>
                <a:cs typeface="Alibaba PuHuiTi" pitchFamily="18" charset="-122"/>
              </a:rPr>
              <a:t>的信息增益率大于特征</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b</a:t>
            </a:r>
            <a:r>
              <a:rPr lang="zh-CN" altLang="en-US" sz="1400" i="0" dirty="0">
                <a:solidFill>
                  <a:schemeClr val="tx1">
                    <a:lumMod val="85000"/>
                    <a:lumOff val="15000"/>
                  </a:schemeClr>
                </a:solidFill>
                <a:effectLst/>
                <a:latin typeface="Alibaba PuHuiTi" pitchFamily="18" charset="-122"/>
                <a:ea typeface="Alibaba PuHuiTi" pitchFamily="18" charset="-122"/>
                <a:cs typeface="Alibaba PuHuiTi" pitchFamily="18" charset="-122"/>
              </a:rPr>
              <a:t>的信息增益率，</a:t>
            </a:r>
            <a:endParaRPr lang="en-US" altLang="zh-CN" sz="1400" i="0" dirty="0">
              <a:solidFill>
                <a:schemeClr val="tx1">
                  <a:lumMod val="85000"/>
                  <a:lumOff val="15000"/>
                </a:schemeClr>
              </a:solidFill>
              <a:effectLst/>
              <a:latin typeface="Alibaba PuHuiTi" pitchFamily="18" charset="-122"/>
              <a:ea typeface="Alibaba PuHuiTi" pitchFamily="18" charset="-122"/>
              <a:cs typeface="Alibaba PuHuiTi" pitchFamily="18" charset="-122"/>
            </a:endParaRPr>
          </a:p>
          <a:p>
            <a:pPr>
              <a:lnSpc>
                <a:spcPct val="150000"/>
              </a:lnSpc>
            </a:pPr>
            <a:r>
              <a:rPr lang="zh-CN" altLang="en-US" sz="1400" i="0" dirty="0">
                <a:solidFill>
                  <a:schemeClr val="tx1">
                    <a:lumMod val="85000"/>
                    <a:lumOff val="15000"/>
                  </a:schemeClr>
                </a:solidFill>
                <a:effectLst/>
                <a:latin typeface="Alibaba PuHuiTi" pitchFamily="18" charset="-122"/>
                <a:ea typeface="Alibaba PuHuiTi" pitchFamily="18" charset="-122"/>
                <a:cs typeface="Alibaba PuHuiTi" pitchFamily="18" charset="-122"/>
              </a:rPr>
              <a:t>        根据信息增益率，应该选择</a:t>
            </a:r>
            <a:r>
              <a:rPr lang="zh-CN" altLang="en-US" sz="1400" i="0" dirty="0">
                <a:solidFill>
                  <a:schemeClr val="accent2">
                    <a:lumMod val="75000"/>
                  </a:schemeClr>
                </a:solidFill>
                <a:effectLst/>
                <a:latin typeface="Alibaba PuHuiTi" pitchFamily="18" charset="-122"/>
                <a:ea typeface="Alibaba PuHuiTi" pitchFamily="18" charset="-122"/>
                <a:cs typeface="Alibaba PuHuiTi" pitchFamily="18" charset="-122"/>
              </a:rPr>
              <a:t>特征</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a</a:t>
            </a:r>
            <a:r>
              <a:rPr lang="zh-CN" altLang="en-US" sz="1400" i="0" dirty="0">
                <a:solidFill>
                  <a:schemeClr val="tx1">
                    <a:lumMod val="85000"/>
                    <a:lumOff val="15000"/>
                  </a:schemeClr>
                </a:solidFill>
                <a:effectLst/>
                <a:latin typeface="Alibaba PuHuiTi" pitchFamily="18" charset="-122"/>
                <a:ea typeface="Alibaba PuHuiTi" pitchFamily="18" charset="-122"/>
                <a:cs typeface="Alibaba PuHuiTi" pitchFamily="18" charset="-122"/>
              </a:rPr>
              <a:t>作为分裂特征</a:t>
            </a: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454876" y="1840908"/>
            <a:ext cx="559237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b="1" dirty="0">
                <a:solidFill>
                  <a:prstClr val="black">
                    <a:lumMod val="65000"/>
                    <a:lumOff val="35000"/>
                  </a:prstClr>
                </a:solidFill>
                <a:latin typeface="Alibaba PuHuiTi" pitchFamily="18" charset="-122"/>
                <a:ea typeface="Alibaba PuHuiTi" pitchFamily="18" charset="-122"/>
                <a:cs typeface="Alibaba PuHuiTi" pitchFamily="18" charset="-122"/>
              </a:rPr>
              <a:t>1</a:t>
            </a:r>
            <a:r>
              <a:rPr kumimoji="1" lang="zh-CN" altLang="en-US" b="1" dirty="0">
                <a:solidFill>
                  <a:prstClr val="black">
                    <a:lumMod val="65000"/>
                    <a:lumOff val="35000"/>
                  </a:prstClr>
                </a:solidFill>
                <a:latin typeface="Alibaba PuHuiTi" pitchFamily="18" charset="-122"/>
                <a:ea typeface="Alibaba PuHuiTi" pitchFamily="18" charset="-122"/>
                <a:cs typeface="Alibaba PuHuiTi" pitchFamily="18" charset="-122"/>
              </a:rPr>
              <a:t> 信息增益率的作用</a:t>
            </a:r>
            <a:endPar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endParaRPr>
          </a:p>
        </p:txBody>
      </p:sp>
      <p:sp>
        <p:nvSpPr>
          <p:cNvPr id="12" name="文本占位符 1"/>
          <p:cNvSpPr txBox="1"/>
          <p:nvPr/>
        </p:nvSpPr>
        <p:spPr>
          <a:xfrm>
            <a:off x="86125" y="181128"/>
            <a:ext cx="7036395" cy="761341"/>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l"/>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gn="l" rtl="0" eaLnBrk="0" fontAlgn="base" hangingPunct="0">
              <a:lnSpc>
                <a:spcPct val="150000"/>
              </a:lnSpc>
              <a:spcBef>
                <a:spcPct val="20000"/>
              </a:spcBef>
              <a:spcAft>
                <a:spcPct val="0"/>
              </a:spcAft>
              <a:buFont typeface="Wingdings" panose="05000000000000000000" pitchFamily="2" charset="2"/>
              <a:buChar char="l"/>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defRPr lang="zh-CN" altLang="en-US" sz="1400" b="0" i="0" kern="1200" dirty="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359410" marR="0" lvl="1" indent="0" algn="l" defTabSz="914400" rtl="0" eaLnBrk="0" fontAlgn="base" latinLnBrk="0" hangingPunct="0">
              <a:lnSpc>
                <a:spcPct val="150000"/>
              </a:lnSpc>
              <a:spcBef>
                <a:spcPct val="20000"/>
              </a:spcBef>
              <a:spcAft>
                <a:spcPct val="0"/>
              </a:spcAft>
              <a:buClrTx/>
              <a:buSzTx/>
              <a:buFont typeface="Wingdings" panose="05000000000000000000" pitchFamily="2" charset="2"/>
              <a:buNone/>
              <a:defRPr/>
            </a:pPr>
            <a:endParaRPr kumimoji="1" lang="zh-CN" altLang="en-US" sz="1400" b="0" i="0" u="none" strike="noStrike" kern="1200" cap="none" spc="0" normalizeH="0" baseline="0" noProof="0" dirty="0">
              <a:ln>
                <a:noFill/>
              </a:ln>
              <a:solidFill>
                <a:prstClr val="black"/>
              </a:solidFill>
              <a:effectLst/>
              <a:uLnTx/>
              <a:uFillTx/>
              <a:latin typeface="Alibaba PuHuiTi R" pitchFamily="18" charset="-122"/>
              <a:ea typeface="Alibaba PuHuiTi R" pitchFamily="18" charset="-122"/>
              <a:cs typeface="Alibaba PuHuiTi R" pitchFamily="18" charset="-122"/>
            </a:endParaRPr>
          </a:p>
        </p:txBody>
      </p:sp>
      <p:sp>
        <p:nvSpPr>
          <p:cNvPr id="2" name="TextBox 6"/>
          <p:cNvSpPr txBox="1"/>
          <p:nvPr/>
        </p:nvSpPr>
        <p:spPr>
          <a:xfrm>
            <a:off x="4934077" y="2151783"/>
            <a:ext cx="6929499" cy="708399"/>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285750" indent="-285750">
              <a:lnSpc>
                <a:spcPct val="150000"/>
              </a:lnSpc>
              <a:buFont typeface="Arial" panose="020B0604020202020204" pitchFamily="34" charset="0"/>
              <a:buChar char="•"/>
              <a:defRPr/>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信息增益偏向于选择</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种类多</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的特征作为分裂依据</a:t>
            </a:r>
            <a:endPar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endParaRPr>
          </a:p>
          <a:p>
            <a:pPr marL="285750" indent="-285750">
              <a:lnSpc>
                <a:spcPct val="150000"/>
              </a:lnSpc>
              <a:buFont typeface="Arial" panose="020B0604020202020204" pitchFamily="34" charset="0"/>
              <a:buChar char="•"/>
              <a:defRPr/>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缓解</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ID3</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树中存在的不足</a:t>
            </a:r>
            <a:endPar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endParaRPr>
          </a:p>
        </p:txBody>
      </p:sp>
      <p:sp>
        <p:nvSpPr>
          <p:cNvPr id="3" name="文本框 2"/>
          <p:cNvSpPr txBox="1"/>
          <p:nvPr/>
        </p:nvSpPr>
        <p:spPr>
          <a:xfrm>
            <a:off x="4471581" y="3111390"/>
            <a:ext cx="321191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2</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信息增益率</a:t>
            </a:r>
            <a:endPar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endParaRPr>
          </a:p>
        </p:txBody>
      </p:sp>
      <p:sp>
        <p:nvSpPr>
          <p:cNvPr id="10" name="TextBox 6"/>
          <p:cNvSpPr txBox="1"/>
          <p:nvPr/>
        </p:nvSpPr>
        <p:spPr>
          <a:xfrm>
            <a:off x="4934077" y="3480722"/>
            <a:ext cx="6044590" cy="708399"/>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285750" indent="-285750">
              <a:lnSpc>
                <a:spcPct val="150000"/>
              </a:lnSpc>
              <a:buFont typeface="Arial" panose="020B0604020202020204" pitchFamily="34" charset="0"/>
              <a:buChar char="•"/>
              <a:defRPr/>
            </a:pPr>
            <a:r>
              <a:rPr lang="zh-CN" altLang="en-US" sz="1400" dirty="0">
                <a:solidFill>
                  <a:srgbClr val="374151"/>
                </a:solidFill>
                <a:latin typeface="Alibaba PuHuiTi" pitchFamily="18" charset="-122"/>
                <a:ea typeface="Alibaba PuHuiTi" pitchFamily="18" charset="-122"/>
                <a:cs typeface="Alibaba PuHuiTi" pitchFamily="18" charset="-122"/>
              </a:rPr>
              <a:t>信息增益率 </a:t>
            </a:r>
            <a:r>
              <a:rPr lang="en-US" altLang="zh-CN" sz="1400" dirty="0">
                <a:solidFill>
                  <a:srgbClr val="374151"/>
                </a:solidFill>
                <a:latin typeface="Alibaba PuHuiTi" pitchFamily="18" charset="-122"/>
                <a:ea typeface="Alibaba PuHuiTi" pitchFamily="18" charset="-122"/>
                <a:cs typeface="Alibaba PuHuiTi" pitchFamily="18" charset="-122"/>
              </a:rPr>
              <a:t>= </a:t>
            </a:r>
            <a:r>
              <a:rPr lang="zh-CN" altLang="en-US" sz="1400" dirty="0">
                <a:solidFill>
                  <a:srgbClr val="374151"/>
                </a:solidFill>
                <a:latin typeface="Alibaba PuHuiTi" pitchFamily="18" charset="-122"/>
                <a:ea typeface="Alibaba PuHuiTi" pitchFamily="18" charset="-122"/>
                <a:cs typeface="Alibaba PuHuiTi" pitchFamily="18" charset="-122"/>
              </a:rPr>
              <a:t>信息增益 </a:t>
            </a:r>
            <a:r>
              <a:rPr lang="en-US" altLang="zh-CN" sz="1400" dirty="0">
                <a:solidFill>
                  <a:srgbClr val="374151"/>
                </a:solidFill>
                <a:latin typeface="Alibaba PuHuiTi" pitchFamily="18" charset="-122"/>
                <a:ea typeface="Alibaba PuHuiTi" pitchFamily="18" charset="-122"/>
                <a:cs typeface="Alibaba PuHuiTi" pitchFamily="18" charset="-122"/>
              </a:rPr>
              <a:t>/</a:t>
            </a:r>
            <a:r>
              <a:rPr lang="zh-CN" altLang="en-US" sz="1400" dirty="0">
                <a:solidFill>
                  <a:srgbClr val="374151"/>
                </a:solidFill>
                <a:latin typeface="Alibaba PuHuiTi" pitchFamily="18" charset="-122"/>
                <a:ea typeface="Alibaba PuHuiTi" pitchFamily="18" charset="-122"/>
                <a:cs typeface="Alibaba PuHuiTi" pitchFamily="18" charset="-122"/>
              </a:rPr>
              <a:t>特征熵</a:t>
            </a:r>
            <a:endParaRPr lang="en-US" altLang="zh-CN" sz="1400" dirty="0">
              <a:solidFill>
                <a:srgbClr val="374151"/>
              </a:solidFill>
              <a:latin typeface="Alibaba PuHuiTi" pitchFamily="18" charset="-122"/>
              <a:ea typeface="Alibaba PuHuiTi" pitchFamily="18" charset="-122"/>
              <a:cs typeface="Alibaba PuHuiTi" pitchFamily="18" charset="-122"/>
            </a:endParaRPr>
          </a:p>
          <a:p>
            <a:pPr indent="-285750">
              <a:lnSpc>
                <a:spcPct val="150000"/>
              </a:lnSpc>
              <a:buFont typeface="Arial" panose="020B0604020202020204" pitchFamily="34" charset="0"/>
              <a:buChar char="•"/>
              <a:defRPr/>
            </a:pP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相当于</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对信息增益进行修正</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，增加</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一个惩罚系数</a:t>
            </a:r>
            <a:endParaRPr lang="en-US" altLang="zh-CN" sz="1400" dirty="0">
              <a:solidFill>
                <a:schemeClr val="accent2">
                  <a:lumMod val="75000"/>
                </a:schemeClr>
              </a:solidFill>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01 (82)"/>
          <p:cNvPicPr>
            <a:picLocks noChangeAspect="1"/>
          </p:cNvPicPr>
          <p:nvPr/>
        </p:nvPicPr>
        <p:blipFill>
          <a:blip r:embed="rId1"/>
          <a:stretch>
            <a:fillRect/>
          </a:stretch>
        </p:blipFill>
        <p:spPr>
          <a:xfrm>
            <a:off x="9074666" y="5174812"/>
            <a:ext cx="1481455" cy="1481455"/>
          </a:xfrm>
          <a:prstGeom prst="rect">
            <a:avLst/>
          </a:prstGeom>
        </p:spPr>
      </p:pic>
      <p:sp>
        <p:nvSpPr>
          <p:cNvPr id="3" name="文本框 2"/>
          <p:cNvSpPr txBox="1"/>
          <p:nvPr/>
        </p:nvSpPr>
        <p:spPr>
          <a:xfrm>
            <a:off x="2242242" y="1606934"/>
            <a:ext cx="3522118" cy="307777"/>
          </a:xfrm>
          <a:prstGeom prst="rect">
            <a:avLst/>
          </a:prstGeom>
          <a:noFill/>
        </p:spPr>
        <p:txBody>
          <a:bodyPr wrap="none" rtlCol="0">
            <a:spAutoFit/>
          </a:bodyPr>
          <a:lstStyle/>
          <a:p>
            <a:pPr fontAlgn="auto">
              <a:spcBef>
                <a:spcPts val="0"/>
              </a:spcBef>
              <a:spcAft>
                <a:spcPts val="0"/>
              </a:spcAft>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1</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、下列关于信息增益率的说法错误的是？</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矩形 3"/>
          <p:cNvSpPr/>
          <p:nvPr/>
        </p:nvSpPr>
        <p:spPr>
          <a:xfrm>
            <a:off x="2806563" y="1998402"/>
            <a:ext cx="4226535" cy="1346907"/>
          </a:xfrm>
          <a:prstGeom prst="rect">
            <a:avLst/>
          </a:prstGeom>
        </p:spPr>
        <p:txBody>
          <a:bodyPr wrap="square">
            <a:spAutoFit/>
          </a:bodyPr>
          <a:lstStyle/>
          <a:p>
            <a:pPr>
              <a:lnSpc>
                <a:spcPct val="150000"/>
              </a:lnSpc>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A</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能有效缓解信息增益所带来的弊端</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50000"/>
              </a:lnSpc>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B</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是在信息增益的基础上除以当前特征的固有值</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50000"/>
              </a:lnSpc>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C</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是</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C4.5</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算法中的核心</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50000"/>
              </a:lnSpc>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D</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倾向于选择取值多的特征</a:t>
            </a: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20" name="文本框 19"/>
          <p:cNvSpPr txBox="1"/>
          <p:nvPr/>
        </p:nvSpPr>
        <p:spPr>
          <a:xfrm>
            <a:off x="7119407" y="2162117"/>
            <a:ext cx="745717" cy="276999"/>
          </a:xfrm>
          <a:prstGeom prst="rect">
            <a:avLst/>
          </a:prstGeom>
          <a:noFill/>
        </p:spPr>
        <p:txBody>
          <a:bodyPr wrap="none" rtlCol="0">
            <a:spAutoFit/>
          </a:bodyPr>
          <a:lstStyle/>
          <a:p>
            <a:pPr fontAlgn="auto">
              <a:spcBef>
                <a:spcPts val="0"/>
              </a:spcBef>
              <a:spcAft>
                <a:spcPts val="0"/>
              </a:spcAft>
            </a:pPr>
            <a:r>
              <a:rPr lang="zh-CN" altLang="en-US" sz="1200" b="1" dirty="0">
                <a:solidFill>
                  <a:schemeClr val="accent2">
                    <a:lumMod val="75000"/>
                  </a:schemeClr>
                </a:solidFill>
                <a:latin typeface="Alibaba PuHuiTi" pitchFamily="18" charset="-122"/>
                <a:ea typeface="Alibaba PuHuiTi" pitchFamily="18" charset="-122"/>
                <a:cs typeface="Alibaba PuHuiTi" pitchFamily="18" charset="-122"/>
              </a:rPr>
              <a:t>答案：</a:t>
            </a:r>
            <a:r>
              <a:rPr lang="en-US" altLang="zh-CN" sz="1200" b="1" dirty="0">
                <a:solidFill>
                  <a:schemeClr val="accent2">
                    <a:lumMod val="75000"/>
                  </a:schemeClr>
                </a:solidFill>
                <a:latin typeface="Alibaba PuHuiTi" pitchFamily="18" charset="-122"/>
                <a:ea typeface="Alibaba PuHuiTi" pitchFamily="18" charset="-122"/>
                <a:cs typeface="Alibaba PuHuiTi" pitchFamily="18" charset="-122"/>
              </a:rPr>
              <a:t>D</a:t>
            </a:r>
            <a:endParaRPr lang="zh-CN" altLang="en-US" sz="1200" b="1" dirty="0">
              <a:solidFill>
                <a:schemeClr val="accent2">
                  <a:lumMod val="75000"/>
                </a:schemeClr>
              </a:solidFill>
              <a:latin typeface="Alibaba PuHuiTi" pitchFamily="18" charset="-122"/>
              <a:ea typeface="Alibaba PuHuiTi" pitchFamily="18" charset="-122"/>
              <a:cs typeface="Alibaba PuHuiTi" pitchFamily="18" charset="-122"/>
            </a:endParaRPr>
          </a:p>
        </p:txBody>
      </p:sp>
      <p:sp>
        <p:nvSpPr>
          <p:cNvPr id="22" name="文本框 21"/>
          <p:cNvSpPr txBox="1"/>
          <p:nvPr/>
        </p:nvSpPr>
        <p:spPr>
          <a:xfrm>
            <a:off x="2324911" y="3790354"/>
            <a:ext cx="4309353" cy="385234"/>
          </a:xfrm>
          <a:prstGeom prst="rect">
            <a:avLst/>
          </a:prstGeom>
          <a:noFill/>
        </p:spPr>
        <p:txBody>
          <a:bodyPr wrap="square">
            <a:spAutoFit/>
          </a:bodyPr>
          <a:lstStyle/>
          <a:p>
            <a:pPr algn="l">
              <a:lnSpc>
                <a:spcPct val="150000"/>
              </a:lnSpc>
            </a:pPr>
            <a:r>
              <a:rPr lang="en-US" altLang="zh-CN" sz="1400" dirty="0">
                <a:solidFill>
                  <a:srgbClr val="374151"/>
                </a:solidFill>
                <a:latin typeface="Alibaba PuHuiTi" pitchFamily="18" charset="-122"/>
                <a:ea typeface="Alibaba PuHuiTi" pitchFamily="18" charset="-122"/>
                <a:cs typeface="Alibaba PuHuiTi" pitchFamily="18" charset="-122"/>
              </a:rPr>
              <a:t>2</a:t>
            </a:r>
            <a:r>
              <a:rPr lang="zh-CN" altLang="en-US" sz="1400" dirty="0">
                <a:solidFill>
                  <a:srgbClr val="374151"/>
                </a:solidFill>
                <a:latin typeface="Alibaba PuHuiTi" pitchFamily="18" charset="-122"/>
                <a:ea typeface="Alibaba PuHuiTi" pitchFamily="18" charset="-122"/>
                <a:cs typeface="Alibaba PuHuiTi" pitchFamily="18" charset="-122"/>
              </a:rPr>
              <a:t>、</a:t>
            </a:r>
            <a:r>
              <a:rPr lang="zh-CN" altLang="en-US" sz="1400" b="0" i="0" dirty="0">
                <a:solidFill>
                  <a:srgbClr val="374151"/>
                </a:solidFill>
                <a:effectLst/>
                <a:latin typeface="Alibaba PuHuiTi" pitchFamily="18" charset="-122"/>
                <a:ea typeface="Alibaba PuHuiTi" pitchFamily="18" charset="-122"/>
                <a:cs typeface="Alibaba PuHuiTi" pitchFamily="18" charset="-122"/>
              </a:rPr>
              <a:t>在机器学习中，信息增益率是用来衡量什么的？</a:t>
            </a:r>
            <a:endParaRPr lang="zh-CN" altLang="en-US" sz="1400" b="0" i="0" dirty="0">
              <a:solidFill>
                <a:srgbClr val="374151"/>
              </a:solidFill>
              <a:effectLst/>
              <a:latin typeface="Alibaba PuHuiTi" pitchFamily="18" charset="-122"/>
              <a:ea typeface="Alibaba PuHuiTi" pitchFamily="18" charset="-122"/>
              <a:cs typeface="Alibaba PuHuiTi" pitchFamily="18" charset="-122"/>
            </a:endParaRPr>
          </a:p>
        </p:txBody>
      </p:sp>
      <p:sp>
        <p:nvSpPr>
          <p:cNvPr id="23" name="文本框 22"/>
          <p:cNvSpPr txBox="1"/>
          <p:nvPr/>
        </p:nvSpPr>
        <p:spPr>
          <a:xfrm>
            <a:off x="1858352" y="4265925"/>
            <a:ext cx="4309353" cy="1354730"/>
          </a:xfrm>
          <a:prstGeom prst="rect">
            <a:avLst/>
          </a:prstGeom>
          <a:noFill/>
        </p:spPr>
        <p:txBody>
          <a:bodyPr wrap="square">
            <a:spAutoFit/>
          </a:bodyPr>
          <a:lstStyle/>
          <a:p>
            <a:pPr algn="l">
              <a:lnSpc>
                <a:spcPct val="150000"/>
              </a:lnSpc>
            </a:pPr>
            <a:r>
              <a:rPr lang="zh-CN" altLang="en-US" sz="1400" b="0" i="0" dirty="0">
                <a:solidFill>
                  <a:srgbClr val="374151"/>
                </a:solidFill>
                <a:effectLst/>
                <a:latin typeface="Alibaba PuHuiTi" pitchFamily="18" charset="-122"/>
                <a:ea typeface="Alibaba PuHuiTi" pitchFamily="18" charset="-122"/>
                <a:cs typeface="Alibaba PuHuiTi" pitchFamily="18" charset="-122"/>
              </a:rPr>
              <a:t>     </a:t>
            </a:r>
            <a:r>
              <a:rPr lang="en-US" altLang="zh-CN" sz="1400" b="0" i="0" dirty="0">
                <a:solidFill>
                  <a:srgbClr val="374151"/>
                </a:solidFill>
                <a:effectLst/>
                <a:latin typeface="Alibaba PuHuiTi" pitchFamily="18" charset="-122"/>
                <a:ea typeface="Alibaba PuHuiTi" pitchFamily="18" charset="-122"/>
                <a:cs typeface="Alibaba PuHuiTi" pitchFamily="18" charset="-122"/>
              </a:rPr>
              <a:t>	</a:t>
            </a:r>
            <a:r>
              <a:rPr lang="en-GB" altLang="zh-CN" sz="1400" b="0" i="0" dirty="0">
                <a:solidFill>
                  <a:srgbClr val="374151"/>
                </a:solidFill>
                <a:effectLst/>
                <a:latin typeface="Alibaba PuHuiTi" pitchFamily="18" charset="-122"/>
                <a:ea typeface="Alibaba PuHuiTi" pitchFamily="18" charset="-122"/>
                <a:cs typeface="Alibaba PuHuiTi" pitchFamily="18" charset="-122"/>
              </a:rPr>
              <a:t>A</a:t>
            </a:r>
            <a:r>
              <a:rPr lang="zh-CN" altLang="en-US" sz="1400" b="0" i="0" dirty="0">
                <a:solidFill>
                  <a:srgbClr val="374151"/>
                </a:solidFill>
                <a:effectLst/>
                <a:latin typeface="Alibaba PuHuiTi" pitchFamily="18" charset="-122"/>
                <a:ea typeface="Alibaba PuHuiTi" pitchFamily="18" charset="-122"/>
                <a:cs typeface="Alibaba PuHuiTi" pitchFamily="18" charset="-122"/>
              </a:rPr>
              <a:t>  属性对分类的贡献 </a:t>
            </a:r>
            <a:endParaRPr lang="en-US" altLang="zh-CN" sz="1400" b="0" i="0" dirty="0">
              <a:solidFill>
                <a:srgbClr val="374151"/>
              </a:solidFill>
              <a:effectLst/>
              <a:latin typeface="Alibaba PuHuiTi" pitchFamily="18" charset="-122"/>
              <a:ea typeface="Alibaba PuHuiTi" pitchFamily="18" charset="-122"/>
              <a:cs typeface="Alibaba PuHuiTi" pitchFamily="18" charset="-122"/>
            </a:endParaRPr>
          </a:p>
          <a:p>
            <a:pPr algn="l">
              <a:lnSpc>
                <a:spcPct val="150000"/>
              </a:lnSpc>
            </a:pPr>
            <a:r>
              <a:rPr lang="en-US" altLang="zh-CN" sz="1400" dirty="0">
                <a:solidFill>
                  <a:srgbClr val="374151"/>
                </a:solidFill>
                <a:latin typeface="Alibaba PuHuiTi" pitchFamily="18" charset="-122"/>
                <a:ea typeface="Alibaba PuHuiTi" pitchFamily="18" charset="-122"/>
                <a:cs typeface="Alibaba PuHuiTi" pitchFamily="18" charset="-122"/>
              </a:rPr>
              <a:t>	</a:t>
            </a:r>
            <a:r>
              <a:rPr lang="en-GB" altLang="zh-CN" sz="1400" b="0" i="0" dirty="0">
                <a:solidFill>
                  <a:srgbClr val="374151"/>
                </a:solidFill>
                <a:effectLst/>
                <a:latin typeface="Alibaba PuHuiTi" pitchFamily="18" charset="-122"/>
                <a:ea typeface="Alibaba PuHuiTi" pitchFamily="18" charset="-122"/>
                <a:cs typeface="Alibaba PuHuiTi" pitchFamily="18" charset="-122"/>
              </a:rPr>
              <a:t>B</a:t>
            </a:r>
            <a:r>
              <a:rPr lang="zh-CN" altLang="en-US" sz="1400" b="0" i="0" dirty="0">
                <a:solidFill>
                  <a:srgbClr val="374151"/>
                </a:solidFill>
                <a:effectLst/>
                <a:latin typeface="Alibaba PuHuiTi" pitchFamily="18" charset="-122"/>
                <a:ea typeface="Alibaba PuHuiTi" pitchFamily="18" charset="-122"/>
                <a:cs typeface="Alibaba PuHuiTi" pitchFamily="18" charset="-122"/>
              </a:rPr>
              <a:t>  分类的准确度 </a:t>
            </a:r>
            <a:endParaRPr lang="en-US" altLang="zh-CN" sz="1400" b="0" i="0" dirty="0">
              <a:solidFill>
                <a:srgbClr val="374151"/>
              </a:solidFill>
              <a:effectLst/>
              <a:latin typeface="Alibaba PuHuiTi" pitchFamily="18" charset="-122"/>
              <a:ea typeface="Alibaba PuHuiTi" pitchFamily="18" charset="-122"/>
              <a:cs typeface="Alibaba PuHuiTi" pitchFamily="18" charset="-122"/>
            </a:endParaRPr>
          </a:p>
          <a:p>
            <a:pPr algn="l">
              <a:lnSpc>
                <a:spcPct val="150000"/>
              </a:lnSpc>
            </a:pPr>
            <a:r>
              <a:rPr lang="en-US" altLang="zh-CN" sz="1400" dirty="0">
                <a:solidFill>
                  <a:srgbClr val="374151"/>
                </a:solidFill>
                <a:latin typeface="Alibaba PuHuiTi" pitchFamily="18" charset="-122"/>
                <a:ea typeface="Alibaba PuHuiTi" pitchFamily="18" charset="-122"/>
                <a:cs typeface="Alibaba PuHuiTi" pitchFamily="18" charset="-122"/>
              </a:rPr>
              <a:t>	</a:t>
            </a:r>
            <a:r>
              <a:rPr lang="en-GB" altLang="zh-CN" sz="1400" b="0" i="0" dirty="0">
                <a:solidFill>
                  <a:srgbClr val="374151"/>
                </a:solidFill>
                <a:effectLst/>
                <a:latin typeface="Alibaba PuHuiTi" pitchFamily="18" charset="-122"/>
                <a:ea typeface="Alibaba PuHuiTi" pitchFamily="18" charset="-122"/>
                <a:cs typeface="Alibaba PuHuiTi" pitchFamily="18" charset="-122"/>
              </a:rPr>
              <a:t>C</a:t>
            </a:r>
            <a:r>
              <a:rPr lang="zh-CN" altLang="en-US" sz="1400" b="0" i="0" dirty="0">
                <a:solidFill>
                  <a:srgbClr val="374151"/>
                </a:solidFill>
                <a:effectLst/>
                <a:latin typeface="Alibaba PuHuiTi" pitchFamily="18" charset="-122"/>
                <a:ea typeface="Alibaba PuHuiTi" pitchFamily="18" charset="-122"/>
                <a:cs typeface="Alibaba PuHuiTi" pitchFamily="18" charset="-122"/>
              </a:rPr>
              <a:t>  样本的数量 </a:t>
            </a:r>
            <a:endParaRPr lang="en-US" altLang="zh-CN" sz="1400" b="0" i="0" dirty="0">
              <a:solidFill>
                <a:srgbClr val="374151"/>
              </a:solidFill>
              <a:effectLst/>
              <a:latin typeface="Alibaba PuHuiTi" pitchFamily="18" charset="-122"/>
              <a:ea typeface="Alibaba PuHuiTi" pitchFamily="18" charset="-122"/>
              <a:cs typeface="Alibaba PuHuiTi" pitchFamily="18" charset="-122"/>
            </a:endParaRPr>
          </a:p>
          <a:p>
            <a:pPr algn="l">
              <a:lnSpc>
                <a:spcPct val="150000"/>
              </a:lnSpc>
            </a:pPr>
            <a:r>
              <a:rPr lang="en-US" altLang="zh-CN" sz="1400" dirty="0">
                <a:solidFill>
                  <a:srgbClr val="374151"/>
                </a:solidFill>
                <a:latin typeface="Alibaba PuHuiTi" pitchFamily="18" charset="-122"/>
                <a:ea typeface="Alibaba PuHuiTi" pitchFamily="18" charset="-122"/>
                <a:cs typeface="Alibaba PuHuiTi" pitchFamily="18" charset="-122"/>
              </a:rPr>
              <a:t>	</a:t>
            </a:r>
            <a:r>
              <a:rPr lang="en-GB" altLang="zh-CN" sz="1400" b="0" i="0" dirty="0">
                <a:solidFill>
                  <a:srgbClr val="374151"/>
                </a:solidFill>
                <a:effectLst/>
                <a:latin typeface="Alibaba PuHuiTi" pitchFamily="18" charset="-122"/>
                <a:ea typeface="Alibaba PuHuiTi" pitchFamily="18" charset="-122"/>
                <a:cs typeface="Alibaba PuHuiTi" pitchFamily="18" charset="-122"/>
              </a:rPr>
              <a:t>D</a:t>
            </a:r>
            <a:r>
              <a:rPr lang="zh-CN" altLang="en-US" sz="1400" b="0" i="0" dirty="0">
                <a:solidFill>
                  <a:srgbClr val="374151"/>
                </a:solidFill>
                <a:effectLst/>
                <a:latin typeface="Alibaba PuHuiTi" pitchFamily="18" charset="-122"/>
                <a:ea typeface="Alibaba PuHuiTi" pitchFamily="18" charset="-122"/>
                <a:cs typeface="Alibaba PuHuiTi" pitchFamily="18" charset="-122"/>
              </a:rPr>
              <a:t> 计算机存储空间的使用率</a:t>
            </a:r>
            <a:endParaRPr lang="zh-CN" altLang="en-US" sz="1400" b="0" i="0" dirty="0">
              <a:solidFill>
                <a:srgbClr val="374151"/>
              </a:solidFill>
              <a:effectLst/>
              <a:latin typeface="Alibaba PuHuiTi" pitchFamily="18" charset="-122"/>
              <a:ea typeface="Alibaba PuHuiTi" pitchFamily="18" charset="-122"/>
              <a:cs typeface="Alibaba PuHuiTi" pitchFamily="18" charset="-122"/>
            </a:endParaRPr>
          </a:p>
        </p:txBody>
      </p:sp>
      <p:sp>
        <p:nvSpPr>
          <p:cNvPr id="26" name="文本框 25"/>
          <p:cNvSpPr txBox="1"/>
          <p:nvPr/>
        </p:nvSpPr>
        <p:spPr>
          <a:xfrm>
            <a:off x="7227650" y="5036312"/>
            <a:ext cx="748923" cy="276999"/>
          </a:xfrm>
          <a:prstGeom prst="rect">
            <a:avLst/>
          </a:prstGeom>
          <a:noFill/>
        </p:spPr>
        <p:txBody>
          <a:bodyPr wrap="none" rtlCol="0">
            <a:spAutoFit/>
          </a:bodyPr>
          <a:lstStyle/>
          <a:p>
            <a:pPr fontAlgn="auto">
              <a:spcBef>
                <a:spcPts val="0"/>
              </a:spcBef>
              <a:spcAft>
                <a:spcPts val="0"/>
              </a:spcAft>
            </a:pPr>
            <a:r>
              <a:rPr lang="zh-CN" altLang="en-US" sz="1200" b="1" dirty="0">
                <a:solidFill>
                  <a:schemeClr val="accent2">
                    <a:lumMod val="75000"/>
                  </a:schemeClr>
                </a:solidFill>
                <a:latin typeface="Alibaba PuHuiTi" pitchFamily="18" charset="-122"/>
                <a:ea typeface="Alibaba PuHuiTi" pitchFamily="18" charset="-122"/>
                <a:cs typeface="Alibaba PuHuiTi" pitchFamily="18" charset="-122"/>
              </a:rPr>
              <a:t>答案：</a:t>
            </a:r>
            <a:r>
              <a:rPr lang="en-US" altLang="zh-CN" sz="1200" b="1" dirty="0">
                <a:solidFill>
                  <a:schemeClr val="accent2">
                    <a:lumMod val="75000"/>
                  </a:schemeClr>
                </a:solidFill>
                <a:latin typeface="Alibaba PuHuiTi" pitchFamily="18" charset="-122"/>
                <a:ea typeface="Alibaba PuHuiTi" pitchFamily="18" charset="-122"/>
                <a:cs typeface="Alibaba PuHuiTi" pitchFamily="18" charset="-122"/>
              </a:rPr>
              <a:t>A</a:t>
            </a:r>
            <a:endParaRPr lang="zh-CN" altLang="en-US" sz="1200" b="1" dirty="0">
              <a:solidFill>
                <a:schemeClr val="accent2">
                  <a:lumMod val="75000"/>
                </a:schemeClr>
              </a:solidFill>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randombar(horizontal)">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randombar(horizontal)">
                                      <p:cBhvr>
                                        <p:cTn id="1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517456" y="653270"/>
            <a:ext cx="6498629" cy="4983602"/>
          </a:xfrm>
        </p:spPr>
        <p:txBody>
          <a:bodyPr anchor="t"/>
          <a:lstStyle/>
          <a:p>
            <a:r>
              <a:rPr lang="zh-CN" altLang="en-US" sz="1800" dirty="0">
                <a:solidFill>
                  <a:schemeClr val="tx1"/>
                </a:solidFill>
                <a:latin typeface="Alibaba PuHuiTi" pitchFamily="18" charset="-122"/>
                <a:ea typeface="Alibaba PuHuiTi" pitchFamily="18" charset="-122"/>
                <a:cs typeface="Alibaba PuHuiTi" pitchFamily="18" charset="-122"/>
              </a:rPr>
              <a:t>决策树简介</a:t>
            </a:r>
            <a:endParaRPr lang="en-US" altLang="zh-CN" sz="1600" b="0" dirty="0">
              <a:solidFill>
                <a:schemeClr val="tx1"/>
              </a:solidFill>
              <a:latin typeface="Alibaba PuHuiTi" pitchFamily="18" charset="-122"/>
              <a:ea typeface="Alibaba PuHuiTi" pitchFamily="18" charset="-122"/>
              <a:cs typeface="Alibaba PuHuiTi" pitchFamily="18" charset="-122"/>
            </a:endParaRPr>
          </a:p>
          <a:p>
            <a:r>
              <a:rPr lang="en-US" altLang="zh-CN" sz="1800" dirty="0">
                <a:solidFill>
                  <a:schemeClr val="tx1"/>
                </a:solidFill>
                <a:latin typeface="Alibaba PuHuiTi" pitchFamily="18" charset="-122"/>
                <a:ea typeface="Alibaba PuHuiTi" pitchFamily="18" charset="-122"/>
                <a:cs typeface="Alibaba PuHuiTi" pitchFamily="18" charset="-122"/>
              </a:rPr>
              <a:t>ID3</a:t>
            </a:r>
            <a:r>
              <a:rPr lang="zh-CN" altLang="en-US" sz="1800" dirty="0">
                <a:solidFill>
                  <a:schemeClr val="tx1"/>
                </a:solidFill>
                <a:latin typeface="Alibaba PuHuiTi" pitchFamily="18" charset="-122"/>
                <a:ea typeface="Alibaba PuHuiTi" pitchFamily="18" charset="-122"/>
                <a:cs typeface="Alibaba PuHuiTi" pitchFamily="18" charset="-122"/>
              </a:rPr>
              <a:t>决策树 </a:t>
            </a:r>
            <a:endParaRPr lang="en-US" altLang="zh-CN" sz="1800" dirty="0">
              <a:solidFill>
                <a:schemeClr val="tx1"/>
              </a:solidFill>
              <a:latin typeface="Alibaba PuHuiTi" pitchFamily="18" charset="-122"/>
              <a:ea typeface="Alibaba PuHuiTi" pitchFamily="18" charset="-122"/>
              <a:cs typeface="Alibaba PuHuiTi" pitchFamily="18" charset="-122"/>
            </a:endParaRPr>
          </a:p>
          <a:p>
            <a:r>
              <a:rPr kumimoji="1" lang="en-US" altLang="zh-CN" sz="1800" dirty="0">
                <a:solidFill>
                  <a:schemeClr val="tx1"/>
                </a:solidFill>
                <a:latin typeface="Alibaba PuHuiTi" pitchFamily="18" charset="-122"/>
                <a:ea typeface="Alibaba PuHuiTi" pitchFamily="18" charset="-122"/>
                <a:cs typeface="Alibaba PuHuiTi" pitchFamily="18" charset="-122"/>
              </a:rPr>
              <a:t>C4.5</a:t>
            </a:r>
            <a:r>
              <a:rPr kumimoji="1" lang="zh-CN" altLang="en-US" sz="1800" dirty="0">
                <a:solidFill>
                  <a:schemeClr val="tx1"/>
                </a:solidFill>
                <a:latin typeface="Alibaba PuHuiTi" pitchFamily="18" charset="-122"/>
                <a:ea typeface="Alibaba PuHuiTi" pitchFamily="18" charset="-122"/>
                <a:cs typeface="Alibaba PuHuiTi" pitchFamily="18" charset="-122"/>
              </a:rPr>
              <a:t>决策树</a:t>
            </a:r>
            <a:endParaRPr kumimoji="1" lang="zh-CN" altLang="en-US" sz="1600" b="0" dirty="0">
              <a:solidFill>
                <a:schemeClr val="tx1"/>
              </a:solidFill>
              <a:latin typeface="Alibaba PuHuiTi" pitchFamily="18" charset="-122"/>
              <a:ea typeface="Alibaba PuHuiTi" pitchFamily="18" charset="-122"/>
              <a:cs typeface="Alibaba PuHuiTi" pitchFamily="18" charset="-122"/>
            </a:endParaRPr>
          </a:p>
          <a:p>
            <a:r>
              <a:rPr kumimoji="1" lang="en-US" altLang="zh-CN" sz="1800" dirty="0">
                <a:solidFill>
                  <a:srgbClr val="FF0000"/>
                </a:solidFill>
                <a:latin typeface="Alibaba PuHuiTi" pitchFamily="18" charset="-122"/>
                <a:ea typeface="Alibaba PuHuiTi" pitchFamily="18" charset="-122"/>
                <a:cs typeface="Alibaba PuHuiTi" pitchFamily="18" charset="-122"/>
              </a:rPr>
              <a:t>CART</a:t>
            </a:r>
            <a:r>
              <a:rPr kumimoji="1" lang="zh-CN" altLang="en-US" sz="1800" dirty="0">
                <a:solidFill>
                  <a:srgbClr val="FF0000"/>
                </a:solidFill>
                <a:latin typeface="Alibaba PuHuiTi" pitchFamily="18" charset="-122"/>
                <a:ea typeface="Alibaba PuHuiTi" pitchFamily="18" charset="-122"/>
                <a:cs typeface="Alibaba PuHuiTi" pitchFamily="18" charset="-122"/>
              </a:rPr>
              <a:t>决策树</a:t>
            </a:r>
            <a:endParaRPr kumimoji="1" lang="en-US" altLang="zh-CN" sz="1800" dirty="0">
              <a:solidFill>
                <a:srgbClr val="FF0000"/>
              </a:solidFill>
              <a:latin typeface="Alibaba PuHuiTi" pitchFamily="18" charset="-122"/>
              <a:ea typeface="Alibaba PuHuiTi" pitchFamily="18" charset="-122"/>
              <a:cs typeface="Alibaba PuHuiTi" pitchFamily="18" charset="-122"/>
            </a:endParaRPr>
          </a:p>
          <a:p>
            <a:r>
              <a:rPr kumimoji="1"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 案例泰坦尼克号生存预测</a:t>
            </a:r>
            <a:r>
              <a:rPr kumimoji="1" lang="zh-CN" altLang="en-US" sz="1400" b="0" dirty="0">
                <a:solidFill>
                  <a:schemeClr val="tx1">
                    <a:lumMod val="85000"/>
                    <a:lumOff val="15000"/>
                  </a:schemeClr>
                </a:solidFill>
                <a:latin typeface="Alibaba PuHuiTi" pitchFamily="18" charset="-122"/>
                <a:ea typeface="Alibaba PuHuiTi" pitchFamily="18" charset="-122"/>
                <a:cs typeface="Alibaba PuHuiTi" pitchFamily="18" charset="-122"/>
              </a:rPr>
              <a:t> </a:t>
            </a:r>
            <a:endParaRPr kumimoji="1"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en-US" altLang="zh-CN" sz="1800" dirty="0">
                <a:solidFill>
                  <a:schemeClr val="tx1">
                    <a:lumMod val="85000"/>
                    <a:lumOff val="15000"/>
                  </a:schemeClr>
                </a:solidFill>
                <a:latin typeface="Alibaba PuHuiTi" pitchFamily="18" charset="-122"/>
                <a:ea typeface="Alibaba PuHuiTi" pitchFamily="18" charset="-122"/>
                <a:cs typeface="Alibaba PuHuiTi" pitchFamily="18" charset="-122"/>
              </a:rPr>
              <a:t>CART</a:t>
            </a:r>
            <a:r>
              <a:rPr kumimoji="1" lang="zh-CN" altLang="en-US" sz="1800" dirty="0">
                <a:solidFill>
                  <a:schemeClr val="tx1">
                    <a:lumMod val="85000"/>
                    <a:lumOff val="15000"/>
                  </a:schemeClr>
                </a:solidFill>
                <a:latin typeface="Alibaba PuHuiTi" pitchFamily="18" charset="-122"/>
                <a:ea typeface="Alibaba PuHuiTi" pitchFamily="18" charset="-122"/>
                <a:cs typeface="Alibaba PuHuiTi" pitchFamily="18" charset="-122"/>
              </a:rPr>
              <a:t>回归树</a:t>
            </a:r>
            <a:endParaRPr kumimoji="1" lang="en-US" altLang="zh-CN" sz="180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lang="zh-CN" altLang="en-US" sz="1800" dirty="0">
                <a:solidFill>
                  <a:schemeClr val="tx1">
                    <a:lumMod val="85000"/>
                    <a:lumOff val="15000"/>
                  </a:schemeClr>
                </a:solidFill>
                <a:latin typeface="Alibaba PuHuiTi" pitchFamily="18" charset="-122"/>
                <a:ea typeface="Alibaba PuHuiTi" pitchFamily="18" charset="-122"/>
                <a:cs typeface="Alibaba PuHuiTi" pitchFamily="18" charset="-122"/>
              </a:rPr>
              <a:t>决策树剪枝</a:t>
            </a:r>
            <a:endParaRPr kumimoji="1" lang="en-US" altLang="zh-CN" sz="1800" b="0" dirty="0">
              <a:solidFill>
                <a:schemeClr val="tx1">
                  <a:lumMod val="85000"/>
                  <a:lumOff val="15000"/>
                </a:schemeClr>
              </a:solidFill>
              <a:latin typeface="Alibaba PuHuiTi" pitchFamily="18" charset="-122"/>
              <a:ea typeface="Alibaba PuHuiTi" pitchFamily="18" charset="-122"/>
              <a:cs typeface="Alibaba PuHuiTi" pitchFamily="18" charset="-122"/>
            </a:endParaRPr>
          </a:p>
          <a:p>
            <a:pPr lvl="1"/>
            <a:endParaRPr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638358" y="560056"/>
            <a:ext cx="6298881" cy="4855845"/>
          </a:xfrm>
        </p:spPr>
        <p:txBody>
          <a:bodyPr/>
          <a:lstStyle/>
          <a:p>
            <a:pPr algn="l"/>
            <a:r>
              <a:rPr lang="zh-CN" altLang="en-US" b="0" i="0" u="none" strike="noStrike" dirty="0">
                <a:solidFill>
                  <a:srgbClr val="333333"/>
                </a:solidFill>
                <a:effectLst/>
                <a:latin typeface="Open Sans" panose="020B0606030504020204" pitchFamily="34" charset="0"/>
              </a:rPr>
              <a:t>理解基尼指数的作用</a:t>
            </a:r>
            <a:endParaRPr lang="zh-CN" altLang="en-US" b="0" i="0" u="none" strike="noStrike" dirty="0">
              <a:solidFill>
                <a:srgbClr val="333333"/>
              </a:solidFill>
              <a:effectLst/>
              <a:latin typeface="Open Sans" panose="020B0606030504020204" pitchFamily="34" charset="0"/>
            </a:endParaRPr>
          </a:p>
          <a:p>
            <a:pPr algn="l"/>
            <a:r>
              <a:rPr lang="zh-CN" altLang="en-US" b="0" i="0" u="none" strike="noStrike" dirty="0">
                <a:solidFill>
                  <a:srgbClr val="333333"/>
                </a:solidFill>
                <a:effectLst/>
                <a:latin typeface="Open Sans" panose="020B0606030504020204" pitchFamily="34" charset="0"/>
              </a:rPr>
              <a:t>知道</a:t>
            </a:r>
            <a:r>
              <a:rPr lang="en-GB" altLang="zh-CN" b="0" i="0" u="none" strike="noStrike" dirty="0">
                <a:solidFill>
                  <a:srgbClr val="333333"/>
                </a:solidFill>
                <a:effectLst/>
                <a:latin typeface="Open Sans" panose="020B0606030504020204" pitchFamily="34" charset="0"/>
              </a:rPr>
              <a:t>cart</a:t>
            </a:r>
            <a:r>
              <a:rPr lang="zh-CN" altLang="en-US" b="0" i="0" u="none" strike="noStrike" dirty="0">
                <a:solidFill>
                  <a:srgbClr val="333333"/>
                </a:solidFill>
                <a:effectLst/>
                <a:latin typeface="Open Sans" panose="020B0606030504020204" pitchFamily="34" charset="0"/>
              </a:rPr>
              <a:t>构建的特征选择方法</a:t>
            </a:r>
            <a:endParaRPr lang="en-US" altLang="zh-CN" b="0" i="0" u="none" strike="noStrike" dirty="0">
              <a:solidFill>
                <a:srgbClr val="333333"/>
              </a:solidFill>
              <a:effectLst/>
              <a:latin typeface="Open Sans" panose="020B0606030504020204" pitchFamily="34" charset="0"/>
            </a:endParaRPr>
          </a:p>
          <a:p>
            <a:pPr algn="l"/>
            <a:r>
              <a:rPr lang="zh-CN" altLang="en-US" dirty="0">
                <a:solidFill>
                  <a:srgbClr val="333333"/>
                </a:solidFill>
                <a:latin typeface="Open Sans" panose="020B0606030504020204" pitchFamily="34" charset="0"/>
              </a:rPr>
              <a:t>知道分类决策树的特点</a:t>
            </a:r>
            <a:endParaRPr lang="zh-CN" altLang="en-US" b="0" i="0" u="none" strike="noStrike" dirty="0">
              <a:solidFill>
                <a:srgbClr val="333333"/>
              </a:solidFill>
              <a:effectLst/>
              <a:latin typeface="Open Sans" panose="020B0606030504020204" pitchFamily="34" charset="0"/>
            </a:endParaRPr>
          </a:p>
          <a:p>
            <a:pPr marL="0" indent="0">
              <a:buNone/>
            </a:pP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57589"/>
            <a:ext cx="7542167" cy="499579"/>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CART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决策树</a:t>
            </a:r>
            <a:r>
              <a:rPr lang="zh-CN" altLang="en-GB" b="0" i="0" dirty="0">
                <a:solidFill>
                  <a:srgbClr val="374151"/>
                </a:solidFill>
                <a:effectLst/>
                <a:latin typeface="Söhne"/>
              </a:rPr>
              <a:t>（</a:t>
            </a:r>
            <a:r>
              <a:rPr lang="en-GB" altLang="zh-CN" b="0" i="0" dirty="0">
                <a:solidFill>
                  <a:srgbClr val="374151"/>
                </a:solidFill>
                <a:effectLst/>
                <a:latin typeface="Söhne"/>
              </a:rPr>
              <a:t>Classification and Regression Tree</a:t>
            </a:r>
            <a:r>
              <a:rPr lang="zh-CN" altLang="en-US" b="0" i="0" dirty="0">
                <a:solidFill>
                  <a:srgbClr val="374151"/>
                </a:solidFill>
                <a:effectLst/>
                <a:latin typeface="Söhne"/>
              </a:rPr>
              <a:t>）</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7" name="文本框 6"/>
          <p:cNvSpPr txBox="1"/>
          <p:nvPr/>
        </p:nvSpPr>
        <p:spPr>
          <a:xfrm>
            <a:off x="1076960" y="1595755"/>
            <a:ext cx="9558020" cy="3969385"/>
          </a:xfrm>
          <a:prstGeom prst="rect">
            <a:avLst/>
          </a:prstGeom>
          <a:noFill/>
        </p:spPr>
        <p:txBody>
          <a:bodyPr wrap="square">
            <a:spAutoFit/>
          </a:bodyPr>
          <a:lstStyle/>
          <a:p>
            <a:pPr algn="l">
              <a:lnSpc>
                <a:spcPct val="200000"/>
              </a:lnSpc>
            </a:pPr>
            <a:r>
              <a:rPr lang="zh-CN" altLang="en-US" sz="1400" b="0" i="0" u="none" strike="noStrike" dirty="0">
                <a:solidFill>
                  <a:schemeClr val="tx1">
                    <a:lumMod val="85000"/>
                    <a:lumOff val="15000"/>
                  </a:schemeClr>
                </a:solidFill>
                <a:latin typeface="Alibaba PuHuiTi" pitchFamily="18" charset="-122"/>
                <a:ea typeface="Alibaba PuHuiTi" pitchFamily="18" charset="-122"/>
                <a:cs typeface="Alibaba PuHuiTi" pitchFamily="18" charset="-122"/>
              </a:rPr>
              <a:t>CART（Classification and Regression Tree，分类与回归树）是一种经典的决策树算法。</a:t>
            </a:r>
            <a:endParaRPr lang="zh-CN" altLang="en-US" sz="1400" b="0" i="0" u="none" strike="noStrike"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gn="l">
              <a:lnSpc>
                <a:spcPct val="200000"/>
              </a:lnSpc>
            </a:pP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sym typeface="+mn-ea"/>
            </a:endParaRPr>
          </a:p>
          <a:p>
            <a:pPr algn="l">
              <a:lnSpc>
                <a:spcPct val="200000"/>
              </a:lnSpc>
            </a:pP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sym typeface="+mn-ea"/>
              </a:rPr>
              <a:t>Cart</a:t>
            </a:r>
            <a:r>
              <a:rPr lang="zh-CN" altLang="en-US" sz="1400" b="0" i="0" u="none" strike="noStrike" dirty="0">
                <a:solidFill>
                  <a:schemeClr val="accent2"/>
                </a:solidFill>
                <a:latin typeface="Alibaba PuHuiTi" pitchFamily="18" charset="-122"/>
                <a:ea typeface="Alibaba PuHuiTi" pitchFamily="18" charset="-122"/>
                <a:cs typeface="Alibaba PuHuiTi" pitchFamily="18" charset="-122"/>
              </a:rPr>
              <a:t>既能处理分类问题（生成分类树），也能处理回归问题（生成回归树）</a:t>
            </a:r>
            <a:r>
              <a:rPr lang="zh-CN" altLang="en-US" sz="1400" b="0" i="0" u="none" strike="noStrike" dirty="0">
                <a:solidFill>
                  <a:schemeClr val="tx1">
                    <a:lumMod val="85000"/>
                    <a:lumOff val="15000"/>
                  </a:schemeClr>
                </a:solidFill>
                <a:latin typeface="Alibaba PuHuiTi" pitchFamily="18" charset="-122"/>
                <a:ea typeface="Alibaba PuHuiTi" pitchFamily="18" charset="-122"/>
                <a:cs typeface="Alibaba PuHuiTi" pitchFamily="18" charset="-122"/>
              </a:rPr>
              <a:t>。</a:t>
            </a:r>
            <a:endParaRPr lang="zh-CN" altLang="en-US" sz="1400" b="0" i="0" u="none" strike="noStrike"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gn="l">
              <a:lnSpc>
                <a:spcPct val="200000"/>
              </a:lnSpc>
            </a:pPr>
            <a:endParaRPr lang="en-US" altLang="zh-CN" sz="1400" b="0" i="0" u="none" strike="noStrike"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gn="l">
              <a:lnSpc>
                <a:spcPct val="200000"/>
              </a:lnSpc>
            </a:pPr>
            <a:r>
              <a:rPr lang="zh-CN" altLang="en-US" sz="1400" b="0" i="0" u="none" strike="noStrike" dirty="0">
                <a:solidFill>
                  <a:schemeClr val="tx1">
                    <a:lumMod val="85000"/>
                    <a:lumOff val="15000"/>
                  </a:schemeClr>
                </a:solidFill>
                <a:latin typeface="Alibaba PuHuiTi" pitchFamily="18" charset="-122"/>
                <a:ea typeface="Alibaba PuHuiTi" pitchFamily="18" charset="-122"/>
                <a:cs typeface="Alibaba PuHuiTi" pitchFamily="18" charset="-122"/>
              </a:rPr>
              <a:t>特征选择标准</a:t>
            </a:r>
            <a:endParaRPr lang="en-US" altLang="zh-CN" sz="1400" b="0" i="0" u="none" strike="noStrike"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gn="l">
              <a:lnSpc>
                <a:spcPct val="200000"/>
              </a:lnSpc>
            </a:pPr>
            <a:r>
              <a:rPr lang="en-US" altLang="zh-CN" sz="1400" b="0" i="0" u="none" strike="noStrike" dirty="0">
                <a:solidFill>
                  <a:schemeClr val="tx1">
                    <a:lumMod val="85000"/>
                    <a:lumOff val="15000"/>
                  </a:schemeClr>
                </a:solidFill>
                <a:latin typeface="Alibaba PuHuiTi" pitchFamily="18" charset="-122"/>
                <a:ea typeface="Alibaba PuHuiTi" pitchFamily="18" charset="-122"/>
                <a:cs typeface="Alibaba PuHuiTi" pitchFamily="18" charset="-122"/>
              </a:rPr>
              <a:t>    </a:t>
            </a:r>
            <a:r>
              <a:rPr lang="zh-CN" altLang="en-US" sz="1400" b="0" i="0" u="none" strike="noStrike" dirty="0">
                <a:solidFill>
                  <a:schemeClr val="tx1">
                    <a:lumMod val="85000"/>
                    <a:lumOff val="15000"/>
                  </a:schemeClr>
                </a:solidFill>
                <a:latin typeface="Alibaba PuHuiTi" pitchFamily="18" charset="-122"/>
                <a:ea typeface="Alibaba PuHuiTi" pitchFamily="18" charset="-122"/>
                <a:cs typeface="Alibaba PuHuiTi" pitchFamily="18" charset="-122"/>
              </a:rPr>
              <a:t>分类任务：使用</a:t>
            </a:r>
            <a:r>
              <a:rPr lang="zh-CN" altLang="en-US" sz="1400" b="0" i="0" u="none" strike="noStrike" dirty="0">
                <a:solidFill>
                  <a:schemeClr val="accent2"/>
                </a:solidFill>
                <a:latin typeface="Alibaba PuHuiTi" pitchFamily="18" charset="-122"/>
                <a:ea typeface="Alibaba PuHuiTi" pitchFamily="18" charset="-122"/>
                <a:cs typeface="Alibaba PuHuiTi" pitchFamily="18" charset="-122"/>
              </a:rPr>
              <a:t>基尼指数（</a:t>
            </a:r>
            <a:r>
              <a:rPr lang="en-US" altLang="zh-CN" sz="1400" b="0" i="0" u="none" strike="noStrike" dirty="0">
                <a:solidFill>
                  <a:schemeClr val="accent2"/>
                </a:solidFill>
                <a:latin typeface="Alibaba PuHuiTi" pitchFamily="18" charset="-122"/>
                <a:ea typeface="Alibaba PuHuiTi" pitchFamily="18" charset="-122"/>
                <a:cs typeface="Alibaba PuHuiTi" pitchFamily="18" charset="-122"/>
              </a:rPr>
              <a:t>Gini Index</a:t>
            </a:r>
            <a:r>
              <a:rPr lang="zh-CN" altLang="en-US" sz="1400" b="0" i="0" u="none" strike="noStrike" dirty="0">
                <a:solidFill>
                  <a:schemeClr val="accent2"/>
                </a:solidFill>
                <a:latin typeface="Alibaba PuHuiTi" pitchFamily="18" charset="-122"/>
                <a:ea typeface="Alibaba PuHuiTi" pitchFamily="18" charset="-122"/>
                <a:cs typeface="Alibaba PuHuiTi" pitchFamily="18" charset="-122"/>
              </a:rPr>
              <a:t>）</a:t>
            </a:r>
            <a:r>
              <a:rPr lang="en-US" altLang="zh-CN" sz="1400" b="0" i="0" u="none" strike="noStrike" dirty="0">
                <a:solidFill>
                  <a:schemeClr val="tx1">
                    <a:lumMod val="85000"/>
                    <a:lumOff val="15000"/>
                  </a:schemeClr>
                </a:solidFill>
                <a:latin typeface="Alibaba PuHuiTi" pitchFamily="18" charset="-122"/>
                <a:ea typeface="Alibaba PuHuiTi" pitchFamily="18" charset="-122"/>
                <a:cs typeface="Alibaba PuHuiTi" pitchFamily="18" charset="-122"/>
              </a:rPr>
              <a:t> </a:t>
            </a:r>
            <a:r>
              <a:rPr lang="zh-CN" altLang="en-US" sz="1400" b="0" i="0" u="none" strike="noStrike" dirty="0">
                <a:solidFill>
                  <a:schemeClr val="tx1">
                    <a:lumMod val="85000"/>
                    <a:lumOff val="15000"/>
                  </a:schemeClr>
                </a:solidFill>
                <a:latin typeface="Alibaba PuHuiTi" pitchFamily="18" charset="-122"/>
                <a:ea typeface="Alibaba PuHuiTi" pitchFamily="18" charset="-122"/>
                <a:cs typeface="Alibaba PuHuiTi" pitchFamily="18" charset="-122"/>
              </a:rPr>
              <a:t>作为划分标准。</a:t>
            </a:r>
            <a:endParaRPr lang="zh-CN" altLang="en-US" sz="1400" b="0" i="0" u="none" strike="noStrike"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gn="l">
              <a:lnSpc>
                <a:spcPct val="200000"/>
              </a:lnSpc>
            </a:pPr>
            <a:r>
              <a:rPr lang="en-US" altLang="zh-CN" sz="1400" b="0" i="0" u="none" strike="noStrike" dirty="0">
                <a:solidFill>
                  <a:schemeClr val="tx1">
                    <a:lumMod val="85000"/>
                    <a:lumOff val="15000"/>
                  </a:schemeClr>
                </a:solidFill>
                <a:latin typeface="Alibaba PuHuiTi" pitchFamily="18" charset="-122"/>
                <a:ea typeface="Alibaba PuHuiTi" pitchFamily="18" charset="-122"/>
                <a:cs typeface="Alibaba PuHuiTi" pitchFamily="18" charset="-122"/>
              </a:rPr>
              <a:t>    </a:t>
            </a:r>
            <a:r>
              <a:rPr lang="zh-CN" altLang="en-US" sz="1400" b="0" i="0" u="none" strike="noStrike" dirty="0">
                <a:solidFill>
                  <a:schemeClr val="tx1">
                    <a:lumMod val="85000"/>
                    <a:lumOff val="15000"/>
                  </a:schemeClr>
                </a:solidFill>
                <a:latin typeface="Alibaba PuHuiTi" pitchFamily="18" charset="-122"/>
                <a:ea typeface="Alibaba PuHuiTi" pitchFamily="18" charset="-122"/>
                <a:cs typeface="Alibaba PuHuiTi" pitchFamily="18" charset="-122"/>
              </a:rPr>
              <a:t>回归任务：使用</a:t>
            </a:r>
            <a:r>
              <a:rPr lang="zh-CN" altLang="en-US" sz="1400" b="0" i="0" u="none" strike="noStrike" dirty="0">
                <a:solidFill>
                  <a:schemeClr val="accent2"/>
                </a:solidFill>
                <a:latin typeface="Alibaba PuHuiTi" pitchFamily="18" charset="-122"/>
                <a:ea typeface="Alibaba PuHuiTi" pitchFamily="18" charset="-122"/>
                <a:cs typeface="Alibaba PuHuiTi" pitchFamily="18" charset="-122"/>
              </a:rPr>
              <a:t>均方误差（</a:t>
            </a:r>
            <a:r>
              <a:rPr lang="en-US" altLang="zh-CN" sz="1400" b="0" i="0" u="none" strike="noStrike" dirty="0">
                <a:solidFill>
                  <a:schemeClr val="accent2"/>
                </a:solidFill>
                <a:latin typeface="Alibaba PuHuiTi" pitchFamily="18" charset="-122"/>
                <a:ea typeface="Alibaba PuHuiTi" pitchFamily="18" charset="-122"/>
                <a:cs typeface="Alibaba PuHuiTi" pitchFamily="18" charset="-122"/>
              </a:rPr>
              <a:t>MSE</a:t>
            </a:r>
            <a:r>
              <a:rPr lang="zh-CN" altLang="en-US" sz="1400" b="0" i="0" u="none" strike="noStrike" dirty="0">
                <a:solidFill>
                  <a:schemeClr val="accent2"/>
                </a:solidFill>
                <a:latin typeface="Alibaba PuHuiTi" pitchFamily="18" charset="-122"/>
                <a:ea typeface="Alibaba PuHuiTi" pitchFamily="18" charset="-122"/>
                <a:cs typeface="Alibaba PuHuiTi" pitchFamily="18" charset="-122"/>
              </a:rPr>
              <a:t>）</a:t>
            </a:r>
            <a:r>
              <a:rPr lang="en-US" altLang="zh-CN" sz="1400" b="0" i="0" u="none" strike="noStrike" dirty="0">
                <a:solidFill>
                  <a:schemeClr val="tx1">
                    <a:lumMod val="85000"/>
                    <a:lumOff val="15000"/>
                  </a:schemeClr>
                </a:solidFill>
                <a:latin typeface="Alibaba PuHuiTi" pitchFamily="18" charset="-122"/>
                <a:ea typeface="Alibaba PuHuiTi" pitchFamily="18" charset="-122"/>
                <a:cs typeface="Alibaba PuHuiTi" pitchFamily="18" charset="-122"/>
              </a:rPr>
              <a:t> </a:t>
            </a:r>
            <a:r>
              <a:rPr lang="zh-CN" altLang="en-US" sz="1400" b="0" i="0" u="none" strike="noStrike" dirty="0">
                <a:solidFill>
                  <a:schemeClr val="tx1">
                    <a:lumMod val="85000"/>
                    <a:lumOff val="15000"/>
                  </a:schemeClr>
                </a:solidFill>
                <a:latin typeface="Alibaba PuHuiTi" pitchFamily="18" charset="-122"/>
                <a:ea typeface="Alibaba PuHuiTi" pitchFamily="18" charset="-122"/>
                <a:cs typeface="Alibaba PuHuiTi" pitchFamily="18" charset="-122"/>
              </a:rPr>
              <a:t>作为划分标准。</a:t>
            </a:r>
            <a:endParaRPr lang="zh-CN" altLang="en-US" sz="1400" b="0" i="0" u="none" strike="noStrike"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gn="l">
              <a:lnSpc>
                <a:spcPct val="200000"/>
              </a:lnSpc>
            </a:pPr>
            <a:endParaRPr lang="en-US" altLang="zh-CN" sz="1400" b="0" i="0" u="none" strike="noStrike"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gn="l">
              <a:lnSpc>
                <a:spcPct val="200000"/>
              </a:lnSpc>
            </a:pPr>
            <a:endParaRPr lang="en-US" altLang="zh-CN" sz="1400" b="0" i="0" u="none" strike="noStrike"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CART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分类树</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23" name="文本框 22"/>
          <p:cNvSpPr txBox="1"/>
          <p:nvPr/>
        </p:nvSpPr>
        <p:spPr>
          <a:xfrm>
            <a:off x="1022876" y="5049317"/>
            <a:ext cx="8480013" cy="1198880"/>
          </a:xfrm>
          <a:prstGeom prst="rect">
            <a:avLst/>
          </a:prstGeom>
          <a:noFill/>
        </p:spPr>
        <p:txBody>
          <a:bodyPr wrap="square">
            <a:spAutoFit/>
          </a:bodyPr>
          <a:lstStyle/>
          <a:p>
            <a:pPr algn="l">
              <a:lnSpc>
                <a:spcPct val="150000"/>
              </a:lnSpc>
            </a:pPr>
            <a:r>
              <a:rPr lang="zh-CN" altLang="en-US" sz="1600" b="0" i="0" u="none" strike="noStrike" dirty="0">
                <a:solidFill>
                  <a:schemeClr val="tx1">
                    <a:lumMod val="85000"/>
                    <a:lumOff val="15000"/>
                  </a:schemeClr>
                </a:solidFill>
                <a:latin typeface="Alibaba PuHuiTi" pitchFamily="18" charset="-122"/>
                <a:ea typeface="Alibaba PuHuiTi" pitchFamily="18" charset="-122"/>
                <a:cs typeface="Alibaba PuHuiTi" pitchFamily="18" charset="-122"/>
              </a:rPr>
              <a:t>注意：</a:t>
            </a:r>
            <a:endParaRPr lang="zh-CN" altLang="en-US" sz="1600" b="0" i="0" u="none" strike="noStrike"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gn="l">
              <a:lnSpc>
                <a:spcPct val="150000"/>
              </a:lnSpc>
              <a:buFont typeface="+mj-lt"/>
              <a:buAutoNum type="arabicPeriod"/>
            </a:pPr>
            <a:r>
              <a:rPr lang="zh-CN" altLang="en-US" sz="1600" b="0" i="0" u="none" strike="noStrike" dirty="0">
                <a:solidFill>
                  <a:schemeClr val="tx1">
                    <a:lumMod val="85000"/>
                    <a:lumOff val="15000"/>
                  </a:schemeClr>
                </a:solidFill>
                <a:latin typeface="Alibaba PuHuiTi" pitchFamily="18" charset="-122"/>
                <a:ea typeface="Alibaba PuHuiTi" pitchFamily="18" charset="-122"/>
                <a:cs typeface="Alibaba PuHuiTi" pitchFamily="18" charset="-122"/>
              </a:rPr>
              <a:t>信息增益（ID3）、信息增益率值越大（C4.5），则说明优先选择该特征。</a:t>
            </a:r>
            <a:endParaRPr lang="zh-CN" altLang="en-US" sz="1600" b="0" i="0" u="none" strike="noStrike"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gn="l">
              <a:lnSpc>
                <a:spcPct val="150000"/>
              </a:lnSpc>
              <a:buFont typeface="+mj-lt"/>
              <a:buAutoNum type="arabicPeriod"/>
            </a:pPr>
            <a:r>
              <a:rPr lang="zh-CN" altLang="en-US" sz="1600" b="0" i="0" u="none" strike="noStrike" dirty="0">
                <a:solidFill>
                  <a:schemeClr val="tx1">
                    <a:lumMod val="85000"/>
                    <a:lumOff val="15000"/>
                  </a:schemeClr>
                </a:solidFill>
                <a:latin typeface="Alibaba PuHuiTi" pitchFamily="18" charset="-122"/>
                <a:ea typeface="Alibaba PuHuiTi" pitchFamily="18" charset="-122"/>
                <a:cs typeface="Alibaba PuHuiTi" pitchFamily="18" charset="-122"/>
              </a:rPr>
              <a:t>基尼指数值越小（cart），则说明优先选择该特征。</a:t>
            </a:r>
            <a:endParaRPr lang="zh-CN" altLang="en-US" sz="1600" b="0" i="0" u="none" strike="noStrike"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24" name="文本框 23"/>
          <p:cNvSpPr txBox="1"/>
          <p:nvPr/>
        </p:nvSpPr>
        <p:spPr>
          <a:xfrm>
            <a:off x="837879" y="1630860"/>
            <a:ext cx="10965305" cy="583565"/>
          </a:xfrm>
          <a:prstGeom prst="rect">
            <a:avLst/>
          </a:prstGeom>
          <a:noFill/>
        </p:spPr>
        <p:txBody>
          <a:bodyPr wrap="square">
            <a:spAutoFit/>
          </a:bodyPr>
          <a:lstStyle/>
          <a:p>
            <a:r>
              <a:rPr lang="zh-CN" altLang="en-US" sz="1600" i="0" dirty="0">
                <a:solidFill>
                  <a:schemeClr val="accent2"/>
                </a:solidFill>
                <a:latin typeface="Alibaba PuHuiTi" pitchFamily="18" charset="-122"/>
                <a:ea typeface="Alibaba PuHuiTi" pitchFamily="18" charset="-122"/>
                <a:cs typeface="Alibaba PuHuiTi" pitchFamily="18" charset="-122"/>
              </a:rPr>
              <a:t>基尼值Gini（D）</a:t>
            </a:r>
            <a:r>
              <a:rPr lang="zh-CN" altLang="en-US" sz="1600" i="0"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600" b="0" i="0" dirty="0">
                <a:solidFill>
                  <a:schemeClr val="tx1">
                    <a:lumMod val="85000"/>
                    <a:lumOff val="15000"/>
                  </a:schemeClr>
                </a:solidFill>
                <a:latin typeface="Alibaba PuHuiTi" pitchFamily="18" charset="-122"/>
                <a:ea typeface="Alibaba PuHuiTi" pitchFamily="18" charset="-122"/>
                <a:cs typeface="Alibaba PuHuiTi" pitchFamily="18" charset="-122"/>
              </a:rPr>
              <a:t>从数据集D中随机抽取两个样本，其类别标记不一致的概率。</a:t>
            </a:r>
            <a:endParaRPr lang="zh-CN" altLang="en-US" sz="1600" b="0" i="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lang="zh-CN" altLang="en-US" sz="1600" b="0" i="0" dirty="0">
                <a:solidFill>
                  <a:schemeClr val="tx1">
                    <a:lumMod val="85000"/>
                    <a:lumOff val="15000"/>
                  </a:schemeClr>
                </a:solidFill>
                <a:latin typeface="Alibaba PuHuiTi" pitchFamily="18" charset="-122"/>
                <a:ea typeface="Alibaba PuHuiTi" pitchFamily="18" charset="-122"/>
                <a:cs typeface="Alibaba PuHuiTi" pitchFamily="18" charset="-122"/>
              </a:rPr>
              <a:t> </a:t>
            </a:r>
            <a:r>
              <a:rPr lang="en-US" altLang="zh-CN" sz="1600" b="0" i="0" dirty="0">
                <a:solidFill>
                  <a:schemeClr val="tx1">
                    <a:lumMod val="85000"/>
                    <a:lumOff val="15000"/>
                  </a:schemeClr>
                </a:solidFill>
                <a:latin typeface="Alibaba PuHuiTi" pitchFamily="18" charset="-122"/>
                <a:ea typeface="Alibaba PuHuiTi" pitchFamily="18" charset="-122"/>
                <a:cs typeface="Alibaba PuHuiTi" pitchFamily="18" charset="-122"/>
              </a:rPr>
              <a:t>               </a:t>
            </a:r>
            <a:r>
              <a:rPr lang="zh-CN" altLang="en-US" sz="1600" i="0" dirty="0">
                <a:solidFill>
                  <a:schemeClr val="tx1">
                    <a:lumMod val="85000"/>
                    <a:lumOff val="15000"/>
                  </a:schemeClr>
                </a:solidFill>
                <a:latin typeface="Alibaba PuHuiTi" pitchFamily="18" charset="-122"/>
                <a:ea typeface="Alibaba PuHuiTi" pitchFamily="18" charset="-122"/>
                <a:cs typeface="Alibaba PuHuiTi" pitchFamily="18" charset="-122"/>
              </a:rPr>
              <a:t>故，Gini（D）值越小，数据集D的纯度越高</a:t>
            </a:r>
            <a:r>
              <a:rPr lang="zh-CN" altLang="en-US" sz="1400" i="0" dirty="0">
                <a:solidFill>
                  <a:schemeClr val="tx1">
                    <a:lumMod val="85000"/>
                    <a:lumOff val="15000"/>
                  </a:schemeClr>
                </a:solidFill>
                <a:latin typeface="Alibaba PuHuiTi" pitchFamily="18" charset="-122"/>
                <a:ea typeface="Alibaba PuHuiTi" pitchFamily="18" charset="-122"/>
                <a:cs typeface="Alibaba PuHuiTi" pitchFamily="18" charset="-122"/>
              </a:rPr>
              <a:t>。</a:t>
            </a: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pic>
        <p:nvPicPr>
          <p:cNvPr id="25" name="图片 24"/>
          <p:cNvPicPr>
            <a:picLocks noChangeAspect="1"/>
          </p:cNvPicPr>
          <p:nvPr/>
        </p:nvPicPr>
        <p:blipFill>
          <a:blip r:embed="rId1"/>
          <a:stretch>
            <a:fillRect/>
          </a:stretch>
        </p:blipFill>
        <p:spPr>
          <a:xfrm>
            <a:off x="3243582" y="2335672"/>
            <a:ext cx="4038600" cy="863600"/>
          </a:xfrm>
          <a:prstGeom prst="rect">
            <a:avLst/>
          </a:prstGeom>
        </p:spPr>
      </p:pic>
      <p:sp>
        <p:nvSpPr>
          <p:cNvPr id="29" name="文本框 28"/>
          <p:cNvSpPr txBox="1"/>
          <p:nvPr/>
        </p:nvSpPr>
        <p:spPr>
          <a:xfrm>
            <a:off x="933129" y="3396243"/>
            <a:ext cx="9675767" cy="337185"/>
          </a:xfrm>
          <a:prstGeom prst="rect">
            <a:avLst/>
          </a:prstGeom>
          <a:noFill/>
        </p:spPr>
        <p:txBody>
          <a:bodyPr wrap="square">
            <a:spAutoFit/>
          </a:bodyPr>
          <a:lstStyle/>
          <a:p>
            <a:r>
              <a:rPr lang="zh-CN" altLang="en-US" sz="1600" i="0" dirty="0">
                <a:solidFill>
                  <a:schemeClr val="accent2"/>
                </a:solidFill>
                <a:latin typeface="Alibaba PuHuiTi" pitchFamily="18" charset="-122"/>
                <a:ea typeface="Alibaba PuHuiTi" pitchFamily="18" charset="-122"/>
                <a:cs typeface="Alibaba PuHuiTi" pitchFamily="18" charset="-122"/>
              </a:rPr>
              <a:t>基尼指数Gini_index（D）</a:t>
            </a:r>
            <a:r>
              <a:rPr lang="zh-CN" altLang="en-US" sz="1600" i="0"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600" b="0" i="0" dirty="0">
                <a:solidFill>
                  <a:schemeClr val="tx1">
                    <a:lumMod val="85000"/>
                    <a:lumOff val="15000"/>
                  </a:schemeClr>
                </a:solidFill>
                <a:latin typeface="Alibaba PuHuiTi" pitchFamily="18" charset="-122"/>
                <a:ea typeface="Alibaba PuHuiTi" pitchFamily="18" charset="-122"/>
                <a:cs typeface="Alibaba PuHuiTi" pitchFamily="18" charset="-122"/>
              </a:rPr>
              <a:t>选择使划分后基尼系数最小的属性作为最优化分属性。</a:t>
            </a:r>
            <a:endPar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pic>
        <p:nvPicPr>
          <p:cNvPr id="30" name="图片 29"/>
          <p:cNvPicPr>
            <a:picLocks noChangeAspect="1"/>
          </p:cNvPicPr>
          <p:nvPr/>
        </p:nvPicPr>
        <p:blipFill>
          <a:blip r:embed="rId2"/>
          <a:stretch>
            <a:fillRect/>
          </a:stretch>
        </p:blipFill>
        <p:spPr>
          <a:xfrm>
            <a:off x="3319782" y="3832420"/>
            <a:ext cx="3886200" cy="10033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CART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分类树</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pic>
        <p:nvPicPr>
          <p:cNvPr id="6" name="图片 5"/>
          <p:cNvPicPr>
            <a:picLocks noChangeAspect="1"/>
          </p:cNvPicPr>
          <p:nvPr/>
        </p:nvPicPr>
        <p:blipFill>
          <a:blip r:embed="rId1"/>
          <a:stretch>
            <a:fillRect/>
          </a:stretch>
        </p:blipFill>
        <p:spPr>
          <a:xfrm>
            <a:off x="1632285" y="2372538"/>
            <a:ext cx="7242208" cy="3194651"/>
          </a:xfrm>
          <a:prstGeom prst="rect">
            <a:avLst/>
          </a:prstGeom>
        </p:spPr>
      </p:pic>
      <p:sp>
        <p:nvSpPr>
          <p:cNvPr id="7" name="文本占位符 2"/>
          <p:cNvSpPr txBox="1"/>
          <p:nvPr/>
        </p:nvSpPr>
        <p:spPr>
          <a:xfrm>
            <a:off x="1167255" y="1198860"/>
            <a:ext cx="7466606"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已知：是否拖欠贷款数据。</a:t>
            </a:r>
            <a:endPar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需求：计算各特征的基尼指数，选择</a:t>
            </a:r>
            <a:r>
              <a:rPr kumimoji="0" lang="zh-CN" altLang="en-US" sz="16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最优分裂点</a:t>
            </a:r>
            <a:endParaRPr kumimoji="0" lang="zh-CN" altLang="en-GB" sz="16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CART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决策树</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7" name="文本占位符 2"/>
          <p:cNvSpPr txBox="1"/>
          <p:nvPr/>
        </p:nvSpPr>
        <p:spPr>
          <a:xfrm>
            <a:off x="710879" y="1372234"/>
            <a:ext cx="4294093"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是否有房</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4" name="文本框 3"/>
          <p:cNvSpPr txBox="1"/>
          <p:nvPr/>
        </p:nvSpPr>
        <p:spPr>
          <a:xfrm>
            <a:off x="1011503" y="1935068"/>
            <a:ext cx="7801381" cy="307777"/>
          </a:xfrm>
          <a:prstGeom prst="rect">
            <a:avLst/>
          </a:prstGeom>
          <a:noFill/>
        </p:spPr>
        <p:txBody>
          <a:bodyPr wrap="square">
            <a:spAutoFit/>
          </a:bodyPr>
          <a:lstStyle/>
          <a:p>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有房子的基尼值： </a:t>
            </a:r>
            <a:r>
              <a:rPr lang="zh-CN" altLang="en-US" sz="1400" b="1" i="0" u="none" strike="noStrike" dirty="0">
                <a:solidFill>
                  <a:srgbClr val="333333"/>
                </a:solidFill>
                <a:effectLst/>
                <a:latin typeface="Alibaba PuHuiTi" pitchFamily="18" charset="-122"/>
                <a:ea typeface="Alibaba PuHuiTi" pitchFamily="18" charset="-122"/>
                <a:cs typeface="Alibaba PuHuiTi" pitchFamily="18" charset="-122"/>
              </a:rPr>
              <a:t>有房子有 </a:t>
            </a:r>
            <a:r>
              <a:rPr lang="en-US" altLang="zh-CN" sz="1400" b="1" i="0" u="none" strike="noStrike" dirty="0">
                <a:solidFill>
                  <a:srgbClr val="333333"/>
                </a:solidFill>
                <a:effectLst/>
                <a:latin typeface="Alibaba PuHuiTi" pitchFamily="18" charset="-122"/>
                <a:ea typeface="Alibaba PuHuiTi" pitchFamily="18" charset="-122"/>
                <a:cs typeface="Alibaba PuHuiTi" pitchFamily="18" charset="-122"/>
              </a:rPr>
              <a:t>1</a:t>
            </a:r>
            <a:r>
              <a:rPr lang="zh-CN" altLang="en-US" sz="1400" b="1" i="0" u="none" strike="noStrike" dirty="0">
                <a:solidFill>
                  <a:srgbClr val="333333"/>
                </a:solidFill>
                <a:effectLst/>
                <a:latin typeface="Alibaba PuHuiTi" pitchFamily="18" charset="-122"/>
                <a:ea typeface="Alibaba PuHuiTi" pitchFamily="18" charset="-122"/>
                <a:cs typeface="Alibaba PuHuiTi" pitchFamily="18" charset="-122"/>
              </a:rPr>
              <a:t>、</a:t>
            </a:r>
            <a:r>
              <a:rPr lang="en-US" altLang="zh-CN" sz="1400" b="1" i="0" u="none" strike="noStrike" dirty="0">
                <a:solidFill>
                  <a:srgbClr val="333333"/>
                </a:solidFill>
                <a:effectLst/>
                <a:latin typeface="Alibaba PuHuiTi" pitchFamily="18" charset="-122"/>
                <a:ea typeface="Alibaba PuHuiTi" pitchFamily="18" charset="-122"/>
                <a:cs typeface="Alibaba PuHuiTi" pitchFamily="18" charset="-122"/>
              </a:rPr>
              <a:t>4</a:t>
            </a:r>
            <a:r>
              <a:rPr lang="zh-CN" altLang="en-US" sz="1400" b="1" i="0" u="none" strike="noStrike" dirty="0">
                <a:solidFill>
                  <a:srgbClr val="333333"/>
                </a:solidFill>
                <a:effectLst/>
                <a:latin typeface="Alibaba PuHuiTi" pitchFamily="18" charset="-122"/>
                <a:ea typeface="Alibaba PuHuiTi" pitchFamily="18" charset="-122"/>
                <a:cs typeface="Alibaba PuHuiTi" pitchFamily="18" charset="-122"/>
              </a:rPr>
              <a:t>、</a:t>
            </a:r>
            <a:r>
              <a:rPr lang="en-US" altLang="zh-CN" sz="1400" b="1" i="0" u="none" strike="noStrike" dirty="0">
                <a:solidFill>
                  <a:srgbClr val="333333"/>
                </a:solidFill>
                <a:effectLst/>
                <a:latin typeface="Alibaba PuHuiTi" pitchFamily="18" charset="-122"/>
                <a:ea typeface="Alibaba PuHuiTi" pitchFamily="18" charset="-122"/>
                <a:cs typeface="Alibaba PuHuiTi" pitchFamily="18" charset="-122"/>
              </a:rPr>
              <a:t>7 </a:t>
            </a:r>
            <a:r>
              <a:rPr lang="zh-CN" altLang="en-US" sz="1400" b="1" i="0" u="none" strike="noStrike" dirty="0">
                <a:solidFill>
                  <a:srgbClr val="333333"/>
                </a:solidFill>
                <a:effectLst/>
                <a:latin typeface="Alibaba PuHuiTi" pitchFamily="18" charset="-122"/>
                <a:ea typeface="Alibaba PuHuiTi" pitchFamily="18" charset="-122"/>
                <a:cs typeface="Alibaba PuHuiTi" pitchFamily="18" charset="-122"/>
              </a:rPr>
              <a:t>共计三个样本，对应：</a:t>
            </a:r>
            <a:r>
              <a:rPr lang="en-US" altLang="zh-CN" sz="1400" b="1" i="0" u="none" strike="noStrike" dirty="0">
                <a:solidFill>
                  <a:srgbClr val="333333"/>
                </a:solidFill>
                <a:effectLst/>
                <a:latin typeface="Alibaba PuHuiTi" pitchFamily="18" charset="-122"/>
                <a:ea typeface="Alibaba PuHuiTi" pitchFamily="18" charset="-122"/>
                <a:cs typeface="Alibaba PuHuiTi" pitchFamily="18" charset="-122"/>
              </a:rPr>
              <a:t>3</a:t>
            </a:r>
            <a:r>
              <a:rPr lang="zh-CN" altLang="en-US" sz="1400" b="1" i="0" u="none" strike="noStrike" dirty="0">
                <a:solidFill>
                  <a:srgbClr val="333333"/>
                </a:solidFill>
                <a:effectLst/>
                <a:latin typeface="Alibaba PuHuiTi" pitchFamily="18" charset="-122"/>
                <a:ea typeface="Alibaba PuHuiTi" pitchFamily="18" charset="-122"/>
                <a:cs typeface="Alibaba PuHuiTi" pitchFamily="18" charset="-122"/>
              </a:rPr>
              <a:t>个</a:t>
            </a:r>
            <a:r>
              <a:rPr lang="en-GB" altLang="zh-CN" sz="1400" b="1" i="0" u="none" strike="noStrike" dirty="0">
                <a:solidFill>
                  <a:srgbClr val="333333"/>
                </a:solidFill>
                <a:effectLst/>
                <a:latin typeface="Alibaba PuHuiTi" pitchFamily="18" charset="-122"/>
                <a:ea typeface="Alibaba PuHuiTi" pitchFamily="18" charset="-122"/>
                <a:cs typeface="Alibaba PuHuiTi" pitchFamily="18" charset="-122"/>
              </a:rPr>
              <a:t>no</a:t>
            </a:r>
            <a:r>
              <a:rPr lang="zh-CN" altLang="en-GB" sz="1400" b="1" i="0" u="none" strike="noStrike" dirty="0">
                <a:solidFill>
                  <a:srgbClr val="333333"/>
                </a:solidFill>
                <a:effectLst/>
                <a:latin typeface="Alibaba PuHuiTi" pitchFamily="18" charset="-122"/>
                <a:ea typeface="Alibaba PuHuiTi" pitchFamily="18" charset="-122"/>
                <a:cs typeface="Alibaba PuHuiTi" pitchFamily="18" charset="-122"/>
              </a:rPr>
              <a:t>、</a:t>
            </a:r>
            <a:r>
              <a:rPr lang="en-GB" altLang="zh-CN" sz="1400" b="1" i="0" u="none" strike="noStrike" dirty="0">
                <a:solidFill>
                  <a:srgbClr val="333333"/>
                </a:solidFill>
                <a:effectLst/>
                <a:latin typeface="Alibaba PuHuiTi" pitchFamily="18" charset="-122"/>
                <a:ea typeface="Alibaba PuHuiTi" pitchFamily="18" charset="-122"/>
                <a:cs typeface="Alibaba PuHuiTi" pitchFamily="18" charset="-122"/>
              </a:rPr>
              <a:t>0</a:t>
            </a:r>
            <a:r>
              <a:rPr lang="zh-CN" altLang="en-US" sz="1400" b="1" i="0" u="none" strike="noStrike" dirty="0">
                <a:solidFill>
                  <a:srgbClr val="333333"/>
                </a:solidFill>
                <a:effectLst/>
                <a:latin typeface="Alibaba PuHuiTi" pitchFamily="18" charset="-122"/>
                <a:ea typeface="Alibaba PuHuiTi" pitchFamily="18" charset="-122"/>
                <a:cs typeface="Alibaba PuHuiTi" pitchFamily="18" charset="-122"/>
              </a:rPr>
              <a:t>个</a:t>
            </a:r>
            <a:r>
              <a:rPr lang="en-GB" altLang="zh-CN" sz="1400" b="1" i="0" u="none" strike="noStrike" dirty="0">
                <a:solidFill>
                  <a:srgbClr val="333333"/>
                </a:solidFill>
                <a:effectLst/>
                <a:latin typeface="Alibaba PuHuiTi" pitchFamily="18" charset="-122"/>
                <a:ea typeface="Alibaba PuHuiTi" pitchFamily="18" charset="-122"/>
                <a:cs typeface="Alibaba PuHuiTi" pitchFamily="18" charset="-122"/>
              </a:rPr>
              <a:t>yes</a:t>
            </a:r>
            <a:endParaRPr lang="zh-CN" altLang="en-US" sz="1400" dirty="0">
              <a:latin typeface="Alibaba PuHuiTi" pitchFamily="18" charset="-122"/>
              <a:ea typeface="Alibaba PuHuiTi" pitchFamily="18" charset="-122"/>
              <a:cs typeface="Alibaba PuHuiTi" pitchFamily="18" charset="-122"/>
            </a:endParaRPr>
          </a:p>
        </p:txBody>
      </p:sp>
      <p:sp>
        <p:nvSpPr>
          <p:cNvPr id="10" name="文本框 9"/>
          <p:cNvSpPr txBox="1"/>
          <p:nvPr/>
        </p:nvSpPr>
        <p:spPr>
          <a:xfrm>
            <a:off x="1011503" y="2838678"/>
            <a:ext cx="8181167" cy="307777"/>
          </a:xfrm>
          <a:prstGeom prst="rect">
            <a:avLst/>
          </a:prstGeom>
          <a:noFill/>
        </p:spPr>
        <p:txBody>
          <a:bodyPr wrap="square">
            <a:spAutoFit/>
          </a:bodyPr>
          <a:lstStyle/>
          <a:p>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无房子的基尼值：</a:t>
            </a:r>
            <a:r>
              <a:rPr lang="zh-CN" altLang="en-US" sz="1400" b="1" i="0" u="none" strike="noStrike" dirty="0">
                <a:solidFill>
                  <a:srgbClr val="333333"/>
                </a:solidFill>
                <a:effectLst/>
                <a:latin typeface="Alibaba PuHuiTi" pitchFamily="18" charset="-122"/>
                <a:ea typeface="Alibaba PuHuiTi" pitchFamily="18" charset="-122"/>
                <a:cs typeface="Alibaba PuHuiTi" pitchFamily="18" charset="-122"/>
              </a:rPr>
              <a:t>无房子有 </a:t>
            </a:r>
            <a:r>
              <a:rPr lang="en-US" altLang="zh-CN" sz="1400" b="1" i="0" u="none" strike="noStrike" dirty="0">
                <a:solidFill>
                  <a:srgbClr val="333333"/>
                </a:solidFill>
                <a:effectLst/>
                <a:latin typeface="Alibaba PuHuiTi" pitchFamily="18" charset="-122"/>
                <a:ea typeface="Alibaba PuHuiTi" pitchFamily="18" charset="-122"/>
                <a:cs typeface="Alibaba PuHuiTi" pitchFamily="18" charset="-122"/>
              </a:rPr>
              <a:t>2</a:t>
            </a:r>
            <a:r>
              <a:rPr lang="zh-CN" altLang="en-US" sz="1400" b="1" i="0" u="none" strike="noStrike" dirty="0">
                <a:solidFill>
                  <a:srgbClr val="333333"/>
                </a:solidFill>
                <a:effectLst/>
                <a:latin typeface="Alibaba PuHuiTi" pitchFamily="18" charset="-122"/>
                <a:ea typeface="Alibaba PuHuiTi" pitchFamily="18" charset="-122"/>
                <a:cs typeface="Alibaba PuHuiTi" pitchFamily="18" charset="-122"/>
              </a:rPr>
              <a:t>、</a:t>
            </a:r>
            <a:r>
              <a:rPr lang="en-US" altLang="zh-CN" sz="1400" b="1" i="0" u="none" strike="noStrike" dirty="0">
                <a:solidFill>
                  <a:srgbClr val="333333"/>
                </a:solidFill>
                <a:effectLst/>
                <a:latin typeface="Alibaba PuHuiTi" pitchFamily="18" charset="-122"/>
                <a:ea typeface="Alibaba PuHuiTi" pitchFamily="18" charset="-122"/>
                <a:cs typeface="Alibaba PuHuiTi" pitchFamily="18" charset="-122"/>
              </a:rPr>
              <a:t>3</a:t>
            </a:r>
            <a:r>
              <a:rPr lang="zh-CN" altLang="en-US" sz="1400" b="1" i="0" u="none" strike="noStrike" dirty="0">
                <a:solidFill>
                  <a:srgbClr val="333333"/>
                </a:solidFill>
                <a:effectLst/>
                <a:latin typeface="Alibaba PuHuiTi" pitchFamily="18" charset="-122"/>
                <a:ea typeface="Alibaba PuHuiTi" pitchFamily="18" charset="-122"/>
                <a:cs typeface="Alibaba PuHuiTi" pitchFamily="18" charset="-122"/>
              </a:rPr>
              <a:t>、</a:t>
            </a:r>
            <a:r>
              <a:rPr lang="en-US" altLang="zh-CN" sz="1400" b="1" i="0" u="none" strike="noStrike" dirty="0">
                <a:solidFill>
                  <a:srgbClr val="333333"/>
                </a:solidFill>
                <a:effectLst/>
                <a:latin typeface="Alibaba PuHuiTi" pitchFamily="18" charset="-122"/>
                <a:ea typeface="Alibaba PuHuiTi" pitchFamily="18" charset="-122"/>
                <a:cs typeface="Alibaba PuHuiTi" pitchFamily="18" charset="-122"/>
              </a:rPr>
              <a:t>5</a:t>
            </a:r>
            <a:r>
              <a:rPr lang="zh-CN" altLang="en-US" sz="1400" b="1" i="0" u="none" strike="noStrike" dirty="0">
                <a:solidFill>
                  <a:srgbClr val="333333"/>
                </a:solidFill>
                <a:effectLst/>
                <a:latin typeface="Alibaba PuHuiTi" pitchFamily="18" charset="-122"/>
                <a:ea typeface="Alibaba PuHuiTi" pitchFamily="18" charset="-122"/>
                <a:cs typeface="Alibaba PuHuiTi" pitchFamily="18" charset="-122"/>
              </a:rPr>
              <a:t>、</a:t>
            </a:r>
            <a:r>
              <a:rPr lang="en-US" altLang="zh-CN" sz="1400" b="1" i="0" u="none" strike="noStrike" dirty="0">
                <a:solidFill>
                  <a:srgbClr val="333333"/>
                </a:solidFill>
                <a:effectLst/>
                <a:latin typeface="Alibaba PuHuiTi" pitchFamily="18" charset="-122"/>
                <a:ea typeface="Alibaba PuHuiTi" pitchFamily="18" charset="-122"/>
                <a:cs typeface="Alibaba PuHuiTi" pitchFamily="18" charset="-122"/>
              </a:rPr>
              <a:t>6</a:t>
            </a:r>
            <a:r>
              <a:rPr lang="zh-CN" altLang="en-US" sz="1400" b="1" i="0" u="none" strike="noStrike" dirty="0">
                <a:solidFill>
                  <a:srgbClr val="333333"/>
                </a:solidFill>
                <a:effectLst/>
                <a:latin typeface="Alibaba PuHuiTi" pitchFamily="18" charset="-122"/>
                <a:ea typeface="Alibaba PuHuiTi" pitchFamily="18" charset="-122"/>
                <a:cs typeface="Alibaba PuHuiTi" pitchFamily="18" charset="-122"/>
              </a:rPr>
              <a:t>、</a:t>
            </a:r>
            <a:r>
              <a:rPr lang="en-US" altLang="zh-CN" sz="1400" b="1" i="0" u="none" strike="noStrike" dirty="0">
                <a:solidFill>
                  <a:srgbClr val="333333"/>
                </a:solidFill>
                <a:effectLst/>
                <a:latin typeface="Alibaba PuHuiTi" pitchFamily="18" charset="-122"/>
                <a:ea typeface="Alibaba PuHuiTi" pitchFamily="18" charset="-122"/>
                <a:cs typeface="Alibaba PuHuiTi" pitchFamily="18" charset="-122"/>
              </a:rPr>
              <a:t>8</a:t>
            </a:r>
            <a:r>
              <a:rPr lang="zh-CN" altLang="en-US" sz="1400" b="1" i="0" u="none" strike="noStrike" dirty="0">
                <a:solidFill>
                  <a:srgbClr val="333333"/>
                </a:solidFill>
                <a:effectLst/>
                <a:latin typeface="Alibaba PuHuiTi" pitchFamily="18" charset="-122"/>
                <a:ea typeface="Alibaba PuHuiTi" pitchFamily="18" charset="-122"/>
                <a:cs typeface="Alibaba PuHuiTi" pitchFamily="18" charset="-122"/>
              </a:rPr>
              <a:t>、</a:t>
            </a:r>
            <a:r>
              <a:rPr lang="en-US" altLang="zh-CN" sz="1400" b="1" i="0" u="none" strike="noStrike" dirty="0">
                <a:solidFill>
                  <a:srgbClr val="333333"/>
                </a:solidFill>
                <a:effectLst/>
                <a:latin typeface="Alibaba PuHuiTi" pitchFamily="18" charset="-122"/>
                <a:ea typeface="Alibaba PuHuiTi" pitchFamily="18" charset="-122"/>
                <a:cs typeface="Alibaba PuHuiTi" pitchFamily="18" charset="-122"/>
              </a:rPr>
              <a:t>9</a:t>
            </a:r>
            <a:r>
              <a:rPr lang="zh-CN" altLang="en-US" sz="1400" b="1" i="0" u="none" strike="noStrike" dirty="0">
                <a:solidFill>
                  <a:srgbClr val="333333"/>
                </a:solidFill>
                <a:effectLst/>
                <a:latin typeface="Alibaba PuHuiTi" pitchFamily="18" charset="-122"/>
                <a:ea typeface="Alibaba PuHuiTi" pitchFamily="18" charset="-122"/>
                <a:cs typeface="Alibaba PuHuiTi" pitchFamily="18" charset="-122"/>
              </a:rPr>
              <a:t>、</a:t>
            </a:r>
            <a:r>
              <a:rPr lang="en-US" altLang="zh-CN" sz="1400" b="1" i="0" u="none" strike="noStrike" dirty="0">
                <a:solidFill>
                  <a:srgbClr val="333333"/>
                </a:solidFill>
                <a:effectLst/>
                <a:latin typeface="Alibaba PuHuiTi" pitchFamily="18" charset="-122"/>
                <a:ea typeface="Alibaba PuHuiTi" pitchFamily="18" charset="-122"/>
                <a:cs typeface="Alibaba PuHuiTi" pitchFamily="18" charset="-122"/>
              </a:rPr>
              <a:t>10 </a:t>
            </a:r>
            <a:r>
              <a:rPr lang="zh-CN" altLang="en-US" sz="1400" b="1" i="0" u="none" strike="noStrike" dirty="0">
                <a:solidFill>
                  <a:srgbClr val="333333"/>
                </a:solidFill>
                <a:effectLst/>
                <a:latin typeface="Alibaba PuHuiTi" pitchFamily="18" charset="-122"/>
                <a:ea typeface="Alibaba PuHuiTi" pitchFamily="18" charset="-122"/>
                <a:cs typeface="Alibaba PuHuiTi" pitchFamily="18" charset="-122"/>
              </a:rPr>
              <a:t>共七个样本，对应：</a:t>
            </a:r>
            <a:r>
              <a:rPr lang="en-US" altLang="zh-CN" sz="1400" b="1" i="0" u="none" strike="noStrike" dirty="0">
                <a:solidFill>
                  <a:srgbClr val="333333"/>
                </a:solidFill>
                <a:effectLst/>
                <a:latin typeface="Alibaba PuHuiTi" pitchFamily="18" charset="-122"/>
                <a:ea typeface="Alibaba PuHuiTi" pitchFamily="18" charset="-122"/>
                <a:cs typeface="Alibaba PuHuiTi" pitchFamily="18" charset="-122"/>
              </a:rPr>
              <a:t>4</a:t>
            </a:r>
            <a:r>
              <a:rPr lang="zh-CN" altLang="en-US" sz="1400" b="1" i="0" u="none" strike="noStrike" dirty="0">
                <a:solidFill>
                  <a:srgbClr val="333333"/>
                </a:solidFill>
                <a:effectLst/>
                <a:latin typeface="Alibaba PuHuiTi" pitchFamily="18" charset="-122"/>
                <a:ea typeface="Alibaba PuHuiTi" pitchFamily="18" charset="-122"/>
                <a:cs typeface="Alibaba PuHuiTi" pitchFamily="18" charset="-122"/>
              </a:rPr>
              <a:t>个</a:t>
            </a:r>
            <a:r>
              <a:rPr lang="en-GB" altLang="zh-CN" sz="1400" b="1" i="0" u="none" strike="noStrike" dirty="0">
                <a:solidFill>
                  <a:srgbClr val="333333"/>
                </a:solidFill>
                <a:effectLst/>
                <a:latin typeface="Alibaba PuHuiTi" pitchFamily="18" charset="-122"/>
                <a:ea typeface="Alibaba PuHuiTi" pitchFamily="18" charset="-122"/>
                <a:cs typeface="Alibaba PuHuiTi" pitchFamily="18" charset="-122"/>
              </a:rPr>
              <a:t>no</a:t>
            </a:r>
            <a:r>
              <a:rPr lang="zh-CN" altLang="en-GB" sz="1400" b="1" i="0" u="none" strike="noStrike" dirty="0">
                <a:solidFill>
                  <a:srgbClr val="333333"/>
                </a:solidFill>
                <a:effectLst/>
                <a:latin typeface="Alibaba PuHuiTi" pitchFamily="18" charset="-122"/>
                <a:ea typeface="Alibaba PuHuiTi" pitchFamily="18" charset="-122"/>
                <a:cs typeface="Alibaba PuHuiTi" pitchFamily="18" charset="-122"/>
              </a:rPr>
              <a:t>、</a:t>
            </a:r>
            <a:r>
              <a:rPr lang="en-GB" altLang="zh-CN" sz="1400" b="1" i="0" u="none" strike="noStrike" dirty="0">
                <a:solidFill>
                  <a:srgbClr val="333333"/>
                </a:solidFill>
                <a:effectLst/>
                <a:latin typeface="Alibaba PuHuiTi" pitchFamily="18" charset="-122"/>
                <a:ea typeface="Alibaba PuHuiTi" pitchFamily="18" charset="-122"/>
                <a:cs typeface="Alibaba PuHuiTi" pitchFamily="18" charset="-122"/>
              </a:rPr>
              <a:t>3</a:t>
            </a:r>
            <a:r>
              <a:rPr lang="zh-CN" altLang="en-US" sz="1400" b="1" i="0" u="none" strike="noStrike" dirty="0">
                <a:solidFill>
                  <a:srgbClr val="333333"/>
                </a:solidFill>
                <a:effectLst/>
                <a:latin typeface="Alibaba PuHuiTi" pitchFamily="18" charset="-122"/>
                <a:ea typeface="Alibaba PuHuiTi" pitchFamily="18" charset="-122"/>
                <a:cs typeface="Alibaba PuHuiTi" pitchFamily="18" charset="-122"/>
              </a:rPr>
              <a:t>个</a:t>
            </a:r>
            <a:r>
              <a:rPr lang="en-GB" altLang="zh-CN" sz="1400" b="1" i="0" u="none" strike="noStrike" dirty="0">
                <a:solidFill>
                  <a:srgbClr val="333333"/>
                </a:solidFill>
                <a:effectLst/>
                <a:latin typeface="Alibaba PuHuiTi" pitchFamily="18" charset="-122"/>
                <a:ea typeface="Alibaba PuHuiTi" pitchFamily="18" charset="-122"/>
                <a:cs typeface="Alibaba PuHuiTi" pitchFamily="18" charset="-122"/>
              </a:rPr>
              <a:t>yes</a:t>
            </a:r>
            <a:endParaRPr lang="zh-CN" altLang="en-US" sz="1400" dirty="0">
              <a:latin typeface="Alibaba PuHuiTi" pitchFamily="18" charset="-122"/>
              <a:ea typeface="Alibaba PuHuiTi" pitchFamily="18" charset="-122"/>
              <a:cs typeface="Alibaba PuHuiTi" pitchFamily="18" charset="-122"/>
            </a:endParaRPr>
          </a:p>
        </p:txBody>
      </p:sp>
      <p:sp>
        <p:nvSpPr>
          <p:cNvPr id="12" name="文本框 11"/>
          <p:cNvSpPr txBox="1"/>
          <p:nvPr/>
        </p:nvSpPr>
        <p:spPr>
          <a:xfrm>
            <a:off x="1011504" y="4178641"/>
            <a:ext cx="6754634" cy="307777"/>
          </a:xfrm>
          <a:prstGeom prst="rect">
            <a:avLst/>
          </a:prstGeom>
          <a:noFill/>
        </p:spPr>
        <p:txBody>
          <a:bodyPr wrap="square">
            <a:spAutoFit/>
          </a:bodyPr>
          <a:lstStyle/>
          <a:p>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基尼</a:t>
            </a:r>
            <a:r>
              <a:rPr lang="zh-CN" altLang="en-US" sz="1400" dirty="0">
                <a:solidFill>
                  <a:srgbClr val="333333"/>
                </a:solidFill>
                <a:latin typeface="Alibaba PuHuiTi" pitchFamily="18" charset="-122"/>
                <a:ea typeface="Alibaba PuHuiTi" pitchFamily="18" charset="-122"/>
                <a:cs typeface="Alibaba PuHuiTi" pitchFamily="18" charset="-122"/>
              </a:rPr>
              <a:t>系数</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a:t>
            </a:r>
            <a:r>
              <a:rPr lang="zh-CN" altLang="en-US" sz="1400" b="1" i="0" u="none" strike="noStrike" dirty="0">
                <a:solidFill>
                  <a:srgbClr val="333333"/>
                </a:solidFill>
                <a:effectLst/>
                <a:latin typeface="Alibaba PuHuiTi" pitchFamily="18" charset="-122"/>
                <a:ea typeface="Alibaba PuHuiTi" pitchFamily="18" charset="-122"/>
                <a:cs typeface="Alibaba PuHuiTi" pitchFamily="18" charset="-122"/>
              </a:rPr>
              <a:t>第一部分样本占了总样本的 </a:t>
            </a:r>
            <a:r>
              <a:rPr lang="en-US" altLang="zh-CN" sz="1400" b="1" i="0" u="none" strike="noStrike" dirty="0">
                <a:solidFill>
                  <a:srgbClr val="333333"/>
                </a:solidFill>
                <a:effectLst/>
                <a:latin typeface="Alibaba PuHuiTi" pitchFamily="18" charset="-122"/>
                <a:ea typeface="Alibaba PuHuiTi" pitchFamily="18" charset="-122"/>
                <a:cs typeface="Alibaba PuHuiTi" pitchFamily="18" charset="-122"/>
              </a:rPr>
              <a:t>3/10</a:t>
            </a:r>
            <a:r>
              <a:rPr lang="zh-CN" altLang="en-US" sz="1400" b="1" i="0" u="none" strike="noStrike" dirty="0">
                <a:solidFill>
                  <a:srgbClr val="333333"/>
                </a:solidFill>
                <a:effectLst/>
                <a:latin typeface="Alibaba PuHuiTi" pitchFamily="18" charset="-122"/>
                <a:ea typeface="Alibaba PuHuiTi" pitchFamily="18" charset="-122"/>
                <a:cs typeface="Alibaba PuHuiTi" pitchFamily="18" charset="-122"/>
              </a:rPr>
              <a:t>、第二部分样本占了总样本的 </a:t>
            </a:r>
            <a:r>
              <a:rPr lang="en-US" altLang="zh-CN" sz="1400" b="1" i="0" u="none" strike="noStrike" dirty="0">
                <a:solidFill>
                  <a:srgbClr val="333333"/>
                </a:solidFill>
                <a:effectLst/>
                <a:latin typeface="Alibaba PuHuiTi" pitchFamily="18" charset="-122"/>
                <a:ea typeface="Alibaba PuHuiTi" pitchFamily="18" charset="-122"/>
                <a:cs typeface="Alibaba PuHuiTi" pitchFamily="18" charset="-122"/>
              </a:rPr>
              <a:t>7/10</a:t>
            </a:r>
            <a:endParaRPr lang="zh-CN" altLang="en-US" sz="1400" dirty="0">
              <a:latin typeface="Alibaba PuHuiTi" pitchFamily="18" charset="-122"/>
              <a:ea typeface="Alibaba PuHuiTi" pitchFamily="18" charset="-122"/>
              <a:cs typeface="Alibaba PuHuiTi" pitchFamily="18" charset="-122"/>
            </a:endParaRPr>
          </a:p>
        </p:txBody>
      </p:sp>
      <p:pic>
        <p:nvPicPr>
          <p:cNvPr id="14" name="图片 13"/>
          <p:cNvPicPr>
            <a:picLocks noChangeAspect="1"/>
          </p:cNvPicPr>
          <p:nvPr/>
        </p:nvPicPr>
        <p:blipFill>
          <a:blip r:embed="rId1"/>
          <a:stretch>
            <a:fillRect/>
          </a:stretch>
        </p:blipFill>
        <p:spPr>
          <a:xfrm>
            <a:off x="1393280" y="2210366"/>
            <a:ext cx="4826000" cy="647700"/>
          </a:xfrm>
          <a:prstGeom prst="rect">
            <a:avLst/>
          </a:prstGeom>
        </p:spPr>
      </p:pic>
      <p:pic>
        <p:nvPicPr>
          <p:cNvPr id="15" name="图片 14"/>
          <p:cNvPicPr>
            <a:picLocks noChangeAspect="1"/>
          </p:cNvPicPr>
          <p:nvPr/>
        </p:nvPicPr>
        <p:blipFill>
          <a:blip r:embed="rId2"/>
          <a:stretch>
            <a:fillRect/>
          </a:stretch>
        </p:blipFill>
        <p:spPr>
          <a:xfrm>
            <a:off x="1393280" y="3253587"/>
            <a:ext cx="5080000" cy="584200"/>
          </a:xfrm>
          <a:prstGeom prst="rect">
            <a:avLst/>
          </a:prstGeom>
        </p:spPr>
      </p:pic>
      <p:pic>
        <p:nvPicPr>
          <p:cNvPr id="16" name="图片 15"/>
          <p:cNvPicPr>
            <a:picLocks noChangeAspect="1"/>
          </p:cNvPicPr>
          <p:nvPr/>
        </p:nvPicPr>
        <p:blipFill>
          <a:blip r:embed="rId3"/>
          <a:stretch>
            <a:fillRect/>
          </a:stretch>
        </p:blipFill>
        <p:spPr>
          <a:xfrm>
            <a:off x="1393280" y="4502040"/>
            <a:ext cx="5676900" cy="520700"/>
          </a:xfrm>
          <a:prstGeom prst="rect">
            <a:avLst/>
          </a:prstGeom>
        </p:spPr>
      </p:pic>
      <p:sp>
        <p:nvSpPr>
          <p:cNvPr id="17" name="椭圆 16"/>
          <p:cNvSpPr/>
          <p:nvPr/>
        </p:nvSpPr>
        <p:spPr>
          <a:xfrm>
            <a:off x="9148873" y="990653"/>
            <a:ext cx="923105" cy="763161"/>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t>7yes</a:t>
            </a:r>
            <a:endParaRPr kumimoji="1" lang="en-US" altLang="zh-CN" sz="1400" dirty="0"/>
          </a:p>
          <a:p>
            <a:pPr algn="ctr"/>
            <a:r>
              <a:rPr kumimoji="1" lang="en-US" altLang="zh-CN" sz="1400" dirty="0"/>
              <a:t>3no</a:t>
            </a:r>
            <a:endParaRPr kumimoji="1" lang="zh-CN" altLang="en-US" sz="1400" dirty="0"/>
          </a:p>
        </p:txBody>
      </p:sp>
      <p:sp>
        <p:nvSpPr>
          <p:cNvPr id="18" name="椭圆 17"/>
          <p:cNvSpPr/>
          <p:nvPr/>
        </p:nvSpPr>
        <p:spPr>
          <a:xfrm>
            <a:off x="8367263" y="2395000"/>
            <a:ext cx="902251" cy="822513"/>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600" dirty="0"/>
              <a:t>3no</a:t>
            </a:r>
            <a:endParaRPr kumimoji="1" lang="en-US" altLang="zh-CN" sz="1600" dirty="0"/>
          </a:p>
          <a:p>
            <a:pPr algn="ctr"/>
            <a:r>
              <a:rPr kumimoji="1" lang="en-US" altLang="zh-CN" sz="1600" dirty="0"/>
              <a:t>0yes</a:t>
            </a:r>
            <a:endParaRPr kumimoji="1" lang="en-US" altLang="zh-CN" sz="1600" dirty="0"/>
          </a:p>
        </p:txBody>
      </p:sp>
      <p:sp>
        <p:nvSpPr>
          <p:cNvPr id="19" name="椭圆 18"/>
          <p:cNvSpPr/>
          <p:nvPr/>
        </p:nvSpPr>
        <p:spPr>
          <a:xfrm>
            <a:off x="10252317" y="2437836"/>
            <a:ext cx="796145" cy="73684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600" dirty="0"/>
              <a:t>4no</a:t>
            </a:r>
            <a:endParaRPr kumimoji="1" lang="en-US" altLang="zh-CN" sz="1600" dirty="0"/>
          </a:p>
          <a:p>
            <a:pPr algn="ctr"/>
            <a:r>
              <a:rPr kumimoji="1" lang="en-US" altLang="zh-CN" sz="1600" dirty="0"/>
              <a:t>3yes</a:t>
            </a:r>
            <a:endParaRPr kumimoji="1" lang="zh-CN" altLang="en-US" sz="1600" dirty="0"/>
          </a:p>
        </p:txBody>
      </p:sp>
      <p:cxnSp>
        <p:nvCxnSpPr>
          <p:cNvPr id="20" name="直线箭头连接符 19"/>
          <p:cNvCxnSpPr>
            <a:stCxn id="17" idx="4"/>
            <a:endCxn id="18" idx="0"/>
          </p:cNvCxnSpPr>
          <p:nvPr/>
        </p:nvCxnSpPr>
        <p:spPr>
          <a:xfrm flipH="1">
            <a:off x="8818389" y="1753814"/>
            <a:ext cx="792037" cy="6411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线箭头连接符 20"/>
          <p:cNvCxnSpPr>
            <a:stCxn id="17" idx="4"/>
            <a:endCxn id="19" idx="0"/>
          </p:cNvCxnSpPr>
          <p:nvPr/>
        </p:nvCxnSpPr>
        <p:spPr>
          <a:xfrm>
            <a:off x="9610426" y="1753814"/>
            <a:ext cx="1039964" cy="6840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8752854" y="1859531"/>
            <a:ext cx="792037" cy="307777"/>
          </a:xfrm>
          <a:prstGeom prst="rect">
            <a:avLst/>
          </a:prstGeom>
          <a:noFill/>
        </p:spPr>
        <p:txBody>
          <a:bodyPr wrap="square">
            <a:spAutoFit/>
          </a:bodyPr>
          <a:lstStyle/>
          <a:p>
            <a:pPr algn="ctr">
              <a:buClrTx/>
              <a:buSzTx/>
              <a:buFontTx/>
              <a:buNone/>
            </a:pPr>
            <a:r>
              <a:rPr lang="zh-CN" altLang="en-US" sz="1400" dirty="0">
                <a:solidFill>
                  <a:srgbClr val="C0504D">
                    <a:lumMod val="75000"/>
                  </a:srgbClr>
                </a:solidFill>
                <a:latin typeface="Alibaba PuHuiTi" pitchFamily="18" charset="-122"/>
                <a:ea typeface="Alibaba PuHuiTi" pitchFamily="18" charset="-122"/>
                <a:cs typeface="Alibaba PuHuiTi" pitchFamily="18" charset="-122"/>
              </a:rPr>
              <a:t>有</a:t>
            </a:r>
            <a:r>
              <a:rPr lang="zh-CN" altLang="el-GR" sz="1400" b="0" dirty="0">
                <a:solidFill>
                  <a:srgbClr val="C0504D">
                    <a:lumMod val="75000"/>
                  </a:srgbClr>
                </a:solidFill>
                <a:latin typeface="Alibaba PuHuiTi" pitchFamily="18" charset="-122"/>
                <a:ea typeface="Alibaba PuHuiTi" pitchFamily="18" charset="-122"/>
                <a:cs typeface="Alibaba PuHuiTi" pitchFamily="18" charset="-122"/>
              </a:rPr>
              <a:t>房</a:t>
            </a:r>
            <a:endParaRPr lang="zh-CN"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5" name="文本框 34"/>
          <p:cNvSpPr txBox="1"/>
          <p:nvPr/>
        </p:nvSpPr>
        <p:spPr>
          <a:xfrm>
            <a:off x="9804167" y="1865595"/>
            <a:ext cx="792037" cy="307777"/>
          </a:xfrm>
          <a:prstGeom prst="rect">
            <a:avLst/>
          </a:prstGeom>
          <a:noFill/>
        </p:spPr>
        <p:txBody>
          <a:bodyPr wrap="square">
            <a:spAutoFit/>
          </a:bodyPr>
          <a:lstStyle/>
          <a:p>
            <a:pPr algn="ctr">
              <a:buClrTx/>
              <a:buSzTx/>
              <a:buFontTx/>
              <a:buNone/>
            </a:pPr>
            <a:r>
              <a:rPr lang="zh-CN" altLang="en-US" sz="1400" b="0" dirty="0">
                <a:solidFill>
                  <a:srgbClr val="C0504D">
                    <a:lumMod val="75000"/>
                  </a:srgbClr>
                </a:solidFill>
                <a:latin typeface="Alibaba PuHuiTi" pitchFamily="18" charset="-122"/>
                <a:ea typeface="Alibaba PuHuiTi" pitchFamily="18" charset="-122"/>
                <a:cs typeface="Alibaba PuHuiTi" pitchFamily="18" charset="-122"/>
              </a:rPr>
              <a:t>无</a:t>
            </a:r>
            <a:r>
              <a:rPr lang="zh-CN" altLang="el-GR" sz="1400" b="0" dirty="0">
                <a:solidFill>
                  <a:srgbClr val="C0504D">
                    <a:lumMod val="75000"/>
                  </a:srgbClr>
                </a:solidFill>
                <a:latin typeface="Alibaba PuHuiTi" pitchFamily="18" charset="-122"/>
                <a:ea typeface="Alibaba PuHuiTi" pitchFamily="18" charset="-122"/>
                <a:cs typeface="Alibaba PuHuiTi" pitchFamily="18" charset="-122"/>
              </a:rPr>
              <a:t>房</a:t>
            </a:r>
            <a:endParaRPr lang="zh-CN" altLang="zh-CN" sz="1400" b="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CART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决策树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CART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树原理举例</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7" name="文本占位符 2"/>
          <p:cNvSpPr txBox="1"/>
          <p:nvPr/>
        </p:nvSpPr>
        <p:spPr>
          <a:xfrm>
            <a:off x="710879" y="1372234"/>
            <a:ext cx="2821461"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lang="zh-CN" altLang="en-US" b="1" i="0" u="none" strike="noStrike" dirty="0">
                <a:solidFill>
                  <a:srgbClr val="333333"/>
                </a:solidFill>
                <a:effectLst/>
                <a:latin typeface="Open Sans" panose="020B0606030504020204" pitchFamily="34" charset="0"/>
              </a:rPr>
              <a:t>婚姻状况</a:t>
            </a:r>
            <a:endParaRPr lang="zh-CN" altLang="en-US" b="1" i="0" u="none" strike="noStrike" dirty="0">
              <a:solidFill>
                <a:srgbClr val="333333"/>
              </a:solidFill>
              <a:effectLst/>
              <a:latin typeface="Open Sans" panose="020B0606030504020204" pitchFamily="34" charset="0"/>
            </a:endParaRPr>
          </a:p>
        </p:txBody>
      </p:sp>
      <p:sp>
        <p:nvSpPr>
          <p:cNvPr id="4" name="文本框 3"/>
          <p:cNvSpPr txBox="1"/>
          <p:nvPr/>
        </p:nvSpPr>
        <p:spPr>
          <a:xfrm>
            <a:off x="1011503" y="1935068"/>
            <a:ext cx="5461777" cy="307777"/>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1</a:t>
            </a:r>
            <a:r>
              <a:rPr kumimoji="0" lang="zh-CN" altLang="en-US"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计算 </a:t>
            </a:r>
            <a:r>
              <a:rPr kumimoji="0" lang="en-US" altLang="zh-CN"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en-GB" altLang="zh-CN"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married} </a:t>
            </a:r>
            <a:r>
              <a:rPr kumimoji="0" lang="zh-CN" altLang="en-US"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和 </a:t>
            </a:r>
            <a:r>
              <a:rPr kumimoji="0" lang="en-US" altLang="zh-CN"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en-GB" altLang="zh-CN" sz="1400" b="1" i="0" u="none" strike="noStrike" kern="1200" cap="none" spc="0" normalizeH="0" baseline="0" noProof="0" dirty="0" err="1">
                <a:ln>
                  <a:noFill/>
                </a:ln>
                <a:solidFill>
                  <a:srgbClr val="333333"/>
                </a:solidFill>
                <a:effectLst/>
                <a:uLnTx/>
                <a:uFillTx/>
                <a:latin typeface="Alibaba PuHuiTi" pitchFamily="18" charset="-122"/>
                <a:ea typeface="Alibaba PuHuiTi" pitchFamily="18" charset="-122"/>
                <a:cs typeface="Alibaba PuHuiTi" pitchFamily="18" charset="-122"/>
              </a:rPr>
              <a:t>single,divorced</a:t>
            </a:r>
            <a:r>
              <a:rPr kumimoji="0" lang="en-GB" altLang="zh-CN"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zh-CN" altLang="en-US"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情况下的基尼指数</a:t>
            </a:r>
            <a:endParaRPr kumimoji="0" lang="zh-CN" altLang="en-US" sz="1400" b="1"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p:txBody>
      </p:sp>
      <p:sp>
        <p:nvSpPr>
          <p:cNvPr id="10" name="文本框 9"/>
          <p:cNvSpPr txBox="1"/>
          <p:nvPr/>
        </p:nvSpPr>
        <p:spPr>
          <a:xfrm>
            <a:off x="1685011" y="2315539"/>
            <a:ext cx="6459804" cy="307777"/>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结婚的基尼值，有 </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2</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4</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6</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9 </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共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4 </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个样本</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，并且对应目标值全部为 </a:t>
            </a:r>
            <a:r>
              <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no</a:t>
            </a:r>
            <a:r>
              <a:rPr kumimoji="0" lang="zh-CN" altLang="en-GB"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endParaRPr kumimoji="0" lang="zh-CN" altLang="en-GB"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
        <p:nvSpPr>
          <p:cNvPr id="12" name="文本框 11"/>
          <p:cNvSpPr txBox="1"/>
          <p:nvPr/>
        </p:nvSpPr>
        <p:spPr>
          <a:xfrm>
            <a:off x="1685011" y="3847871"/>
            <a:ext cx="6754634" cy="307777"/>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以 </a:t>
            </a:r>
            <a:r>
              <a:rPr kumimoji="0" lang="en-GB" altLang="zh-CN"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married </a:t>
            </a:r>
            <a:r>
              <a:rPr kumimoji="0" lang="zh-CN" altLang="en-US"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作为分裂点的基尼指数：</a:t>
            </a:r>
            <a:endParaRPr kumimoji="0" lang="zh-CN" altLang="en-US"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p:txBody>
      </p:sp>
      <p:sp>
        <p:nvSpPr>
          <p:cNvPr id="17" name="椭圆 16"/>
          <p:cNvSpPr/>
          <p:nvPr/>
        </p:nvSpPr>
        <p:spPr>
          <a:xfrm>
            <a:off x="9933509" y="850104"/>
            <a:ext cx="923105" cy="763161"/>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400" b="0" i="0" u="none" strike="noStrike" kern="1200" cap="none" spc="0" normalizeH="0" baseline="0" noProof="0" dirty="0">
                <a:ln>
                  <a:noFill/>
                </a:ln>
                <a:solidFill>
                  <a:prstClr val="white"/>
                </a:solidFill>
                <a:effectLst/>
                <a:uLnTx/>
                <a:uFillTx/>
                <a:latin typeface="Calibri" panose="020F0502020204030204"/>
                <a:ea typeface="黑体" panose="02010609060101010101" pitchFamily="49" charset="-122"/>
                <a:cs typeface="+mn-cs"/>
              </a:rPr>
              <a:t>7yes</a:t>
            </a:r>
            <a:endParaRPr kumimoji="1" lang="en-US" altLang="zh-CN" sz="1400" b="0" i="0" u="none" strike="noStrike" kern="1200" cap="none" spc="0" normalizeH="0" baseline="0" noProof="0" dirty="0">
              <a:ln>
                <a:noFill/>
              </a:ln>
              <a:solidFill>
                <a:prstClr val="white"/>
              </a:solidFill>
              <a:effectLst/>
              <a:uLnTx/>
              <a:uFillTx/>
              <a:latin typeface="Calibri" panose="020F0502020204030204"/>
              <a:ea typeface="黑体" panose="02010609060101010101" pitchFamily="49"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400" b="0" i="0" u="none" strike="noStrike" kern="1200" cap="none" spc="0" normalizeH="0" baseline="0" noProof="0" dirty="0">
                <a:ln>
                  <a:noFill/>
                </a:ln>
                <a:solidFill>
                  <a:prstClr val="white"/>
                </a:solidFill>
                <a:effectLst/>
                <a:uLnTx/>
                <a:uFillTx/>
                <a:latin typeface="Calibri" panose="020F0502020204030204"/>
                <a:ea typeface="黑体" panose="02010609060101010101" pitchFamily="49" charset="-122"/>
                <a:cs typeface="+mn-cs"/>
              </a:rPr>
              <a:t>3no</a:t>
            </a:r>
            <a:endParaRPr kumimoji="1" lang="zh-CN" altLang="en-US" sz="1400" b="0" i="0" u="none" strike="noStrike" kern="1200" cap="none" spc="0" normalizeH="0" baseline="0" noProof="0" dirty="0">
              <a:ln>
                <a:noFill/>
              </a:ln>
              <a:solidFill>
                <a:prstClr val="white"/>
              </a:solidFill>
              <a:effectLst/>
              <a:uLnTx/>
              <a:uFillTx/>
              <a:latin typeface="Calibri" panose="020F0502020204030204"/>
              <a:ea typeface="黑体" panose="02010609060101010101" pitchFamily="49" charset="-122"/>
              <a:cs typeface="+mn-cs"/>
            </a:endParaRPr>
          </a:p>
        </p:txBody>
      </p:sp>
      <p:sp>
        <p:nvSpPr>
          <p:cNvPr id="18" name="椭圆 17"/>
          <p:cNvSpPr/>
          <p:nvPr/>
        </p:nvSpPr>
        <p:spPr>
          <a:xfrm>
            <a:off x="9151899" y="2254451"/>
            <a:ext cx="902251" cy="822513"/>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600" b="0" i="0" u="none" strike="noStrike" kern="1200" cap="none" spc="0" normalizeH="0" baseline="0" noProof="0" dirty="0">
                <a:ln>
                  <a:noFill/>
                </a:ln>
                <a:solidFill>
                  <a:prstClr val="white"/>
                </a:solidFill>
                <a:effectLst/>
                <a:uLnTx/>
                <a:uFillTx/>
                <a:latin typeface="Calibri" panose="020F0502020204030204"/>
                <a:ea typeface="黑体" panose="02010609060101010101" pitchFamily="49" charset="-122"/>
                <a:cs typeface="+mn-cs"/>
              </a:rPr>
              <a:t>4no</a:t>
            </a:r>
            <a:endParaRPr kumimoji="1" lang="en-US" altLang="zh-CN" sz="1600" b="0" i="0" u="none" strike="noStrike" kern="1200" cap="none" spc="0" normalizeH="0" baseline="0" noProof="0" dirty="0">
              <a:ln>
                <a:noFill/>
              </a:ln>
              <a:solidFill>
                <a:prstClr val="white"/>
              </a:solidFill>
              <a:effectLst/>
              <a:uLnTx/>
              <a:uFillTx/>
              <a:latin typeface="Calibri" panose="020F0502020204030204"/>
              <a:ea typeface="黑体" panose="02010609060101010101" pitchFamily="49"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600" b="0" i="0" u="none" strike="noStrike" kern="1200" cap="none" spc="0" normalizeH="0" baseline="0" noProof="0" dirty="0">
                <a:ln>
                  <a:noFill/>
                </a:ln>
                <a:solidFill>
                  <a:prstClr val="white"/>
                </a:solidFill>
                <a:effectLst/>
                <a:uLnTx/>
                <a:uFillTx/>
                <a:latin typeface="Calibri" panose="020F0502020204030204"/>
                <a:ea typeface="黑体" panose="02010609060101010101" pitchFamily="49" charset="-122"/>
                <a:cs typeface="+mn-cs"/>
              </a:rPr>
              <a:t>0yes</a:t>
            </a:r>
            <a:endParaRPr kumimoji="1" lang="en-US" altLang="zh-CN" sz="1600" b="0" i="0" u="none" strike="noStrike" kern="1200" cap="none" spc="0" normalizeH="0" baseline="0" noProof="0" dirty="0">
              <a:ln>
                <a:noFill/>
              </a:ln>
              <a:solidFill>
                <a:prstClr val="white"/>
              </a:solidFill>
              <a:effectLst/>
              <a:uLnTx/>
              <a:uFillTx/>
              <a:latin typeface="Calibri" panose="020F0502020204030204"/>
              <a:ea typeface="黑体" panose="02010609060101010101" pitchFamily="49" charset="-122"/>
              <a:cs typeface="+mn-cs"/>
            </a:endParaRPr>
          </a:p>
        </p:txBody>
      </p:sp>
      <p:sp>
        <p:nvSpPr>
          <p:cNvPr id="19" name="椭圆 18"/>
          <p:cNvSpPr/>
          <p:nvPr/>
        </p:nvSpPr>
        <p:spPr>
          <a:xfrm>
            <a:off x="11036953" y="2297287"/>
            <a:ext cx="796145" cy="73684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600" b="0" i="0" u="none" strike="noStrike" kern="1200" cap="none" spc="0" normalizeH="0" baseline="0" noProof="0" dirty="0">
                <a:ln>
                  <a:noFill/>
                </a:ln>
                <a:solidFill>
                  <a:prstClr val="white"/>
                </a:solidFill>
                <a:effectLst/>
                <a:uLnTx/>
                <a:uFillTx/>
                <a:latin typeface="Calibri" panose="020F0502020204030204"/>
                <a:ea typeface="黑体" panose="02010609060101010101" pitchFamily="49" charset="-122"/>
                <a:cs typeface="+mn-cs"/>
              </a:rPr>
              <a:t>3no</a:t>
            </a:r>
            <a:endParaRPr kumimoji="1" lang="en-US" altLang="zh-CN" sz="1600" b="0" i="0" u="none" strike="noStrike" kern="1200" cap="none" spc="0" normalizeH="0" baseline="0" noProof="0" dirty="0">
              <a:ln>
                <a:noFill/>
              </a:ln>
              <a:solidFill>
                <a:prstClr val="white"/>
              </a:solidFill>
              <a:effectLst/>
              <a:uLnTx/>
              <a:uFillTx/>
              <a:latin typeface="Calibri" panose="020F0502020204030204"/>
              <a:ea typeface="黑体" panose="02010609060101010101" pitchFamily="49"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600" b="0" i="0" u="none" strike="noStrike" kern="1200" cap="none" spc="0" normalizeH="0" baseline="0" noProof="0" dirty="0">
                <a:ln>
                  <a:noFill/>
                </a:ln>
                <a:solidFill>
                  <a:prstClr val="white"/>
                </a:solidFill>
                <a:effectLst/>
                <a:uLnTx/>
                <a:uFillTx/>
                <a:latin typeface="Calibri" panose="020F0502020204030204"/>
                <a:ea typeface="黑体" panose="02010609060101010101" pitchFamily="49" charset="-122"/>
                <a:cs typeface="+mn-cs"/>
              </a:rPr>
              <a:t>3yes</a:t>
            </a:r>
            <a:endParaRPr kumimoji="1" lang="zh-CN" altLang="en-US" sz="1600" b="0" i="0" u="none" strike="noStrike" kern="1200" cap="none" spc="0" normalizeH="0" baseline="0" noProof="0" dirty="0">
              <a:ln>
                <a:noFill/>
              </a:ln>
              <a:solidFill>
                <a:prstClr val="white"/>
              </a:solidFill>
              <a:effectLst/>
              <a:uLnTx/>
              <a:uFillTx/>
              <a:latin typeface="Calibri" panose="020F0502020204030204"/>
              <a:ea typeface="黑体" panose="02010609060101010101" pitchFamily="49" charset="-122"/>
              <a:cs typeface="+mn-cs"/>
            </a:endParaRPr>
          </a:p>
        </p:txBody>
      </p:sp>
      <p:cxnSp>
        <p:nvCxnSpPr>
          <p:cNvPr id="20" name="直线箭头连接符 19"/>
          <p:cNvCxnSpPr>
            <a:stCxn id="17" idx="4"/>
            <a:endCxn id="18" idx="0"/>
          </p:cNvCxnSpPr>
          <p:nvPr/>
        </p:nvCxnSpPr>
        <p:spPr>
          <a:xfrm flipH="1">
            <a:off x="9603025" y="1613265"/>
            <a:ext cx="792037" cy="6411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线箭头连接符 20"/>
          <p:cNvCxnSpPr>
            <a:stCxn id="17" idx="4"/>
            <a:endCxn id="19" idx="0"/>
          </p:cNvCxnSpPr>
          <p:nvPr/>
        </p:nvCxnSpPr>
        <p:spPr>
          <a:xfrm>
            <a:off x="10395062" y="1613265"/>
            <a:ext cx="1039964" cy="6840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9537490" y="1718982"/>
            <a:ext cx="792037"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rPr>
              <a:t>结婚</a:t>
            </a:r>
            <a:endParaRPr kumimoji="0" lang="zh-CN" altLang="zh-CN" sz="1400" b="0" i="0" u="none" strike="noStrike" kern="1200" cap="none" spc="0" normalizeH="0" baseline="0" noProof="0" dirty="0">
              <a:ln>
                <a:noFill/>
              </a:ln>
              <a:solidFill>
                <a:prstClr val="black"/>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5" name="文本框 34"/>
          <p:cNvSpPr txBox="1"/>
          <p:nvPr/>
        </p:nvSpPr>
        <p:spPr>
          <a:xfrm>
            <a:off x="10588803" y="1725046"/>
            <a:ext cx="792037"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非结婚</a:t>
            </a:r>
            <a:endParaRPr kumimoji="0" lang="zh-CN" altLang="zh-CN" sz="1400" b="0" i="0" u="none" strike="noStrike" kern="1200" cap="none" spc="0" normalizeH="0" baseline="0" noProof="0" dirty="0">
              <a:ln>
                <a:noFill/>
              </a:ln>
              <a:solidFill>
                <a:prstClr val="black"/>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 name="文本框 1"/>
          <p:cNvSpPr txBox="1"/>
          <p:nvPr/>
        </p:nvSpPr>
        <p:spPr>
          <a:xfrm>
            <a:off x="1685011" y="2976841"/>
            <a:ext cx="6994782" cy="307777"/>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不结婚的基尼值，有 </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1</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3</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5</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7</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8</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10 </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共 </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6 </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个样本，并且对应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3 </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个 </a:t>
            </a:r>
            <a:r>
              <a:rPr kumimoji="0" lang="en-GB"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no</a:t>
            </a:r>
            <a:r>
              <a:rPr kumimoji="0" lang="zh-CN" altLang="en-GB"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en-GB"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3 </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个 </a:t>
            </a:r>
            <a:r>
              <a:rPr kumimoji="0" lang="en-GB"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yes</a:t>
            </a:r>
            <a:endParaRPr kumimoji="0" lang="zh-CN" altLang="en-GB"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p:txBody>
      </p:sp>
      <p:pic>
        <p:nvPicPr>
          <p:cNvPr id="5" name="图片 4"/>
          <p:cNvPicPr>
            <a:picLocks noChangeAspect="1"/>
          </p:cNvPicPr>
          <p:nvPr/>
        </p:nvPicPr>
        <p:blipFill>
          <a:blip r:embed="rId1"/>
          <a:stretch>
            <a:fillRect/>
          </a:stretch>
        </p:blipFill>
        <p:spPr>
          <a:xfrm>
            <a:off x="2519885" y="2625513"/>
            <a:ext cx="2921000" cy="342900"/>
          </a:xfrm>
          <a:prstGeom prst="rect">
            <a:avLst/>
          </a:prstGeom>
        </p:spPr>
      </p:pic>
      <p:pic>
        <p:nvPicPr>
          <p:cNvPr id="6" name="图片 5"/>
          <p:cNvPicPr>
            <a:picLocks noChangeAspect="1"/>
          </p:cNvPicPr>
          <p:nvPr/>
        </p:nvPicPr>
        <p:blipFill>
          <a:blip r:embed="rId2"/>
          <a:stretch>
            <a:fillRect/>
          </a:stretch>
        </p:blipFill>
        <p:spPr>
          <a:xfrm>
            <a:off x="2532411" y="3252805"/>
            <a:ext cx="5360000" cy="616732"/>
          </a:xfrm>
          <a:prstGeom prst="rect">
            <a:avLst/>
          </a:prstGeom>
        </p:spPr>
      </p:pic>
      <p:pic>
        <p:nvPicPr>
          <p:cNvPr id="8" name="图片 7"/>
          <p:cNvPicPr>
            <a:picLocks noChangeAspect="1"/>
          </p:cNvPicPr>
          <p:nvPr/>
        </p:nvPicPr>
        <p:blipFill>
          <a:blip r:embed="rId3"/>
          <a:stretch>
            <a:fillRect/>
          </a:stretch>
        </p:blipFill>
        <p:spPr>
          <a:xfrm>
            <a:off x="2519885" y="4095049"/>
            <a:ext cx="6128011" cy="671001"/>
          </a:xfrm>
          <a:prstGeom prst="rect">
            <a:avLst/>
          </a:prstGeom>
        </p:spPr>
      </p:pic>
      <p:sp>
        <p:nvSpPr>
          <p:cNvPr id="9" name="文本框 8"/>
          <p:cNvSpPr txBox="1"/>
          <p:nvPr/>
        </p:nvSpPr>
        <p:spPr>
          <a:xfrm>
            <a:off x="1011503" y="4806182"/>
            <a:ext cx="4888256" cy="307777"/>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2</a:t>
            </a:r>
            <a:r>
              <a:rPr kumimoji="0" lang="zh-CN" altLang="en-US"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计算 </a:t>
            </a:r>
            <a:r>
              <a:rPr kumimoji="0" lang="en-US" altLang="zh-CN"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en-GB" altLang="zh-CN"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single} | {</a:t>
            </a:r>
            <a:r>
              <a:rPr kumimoji="0" lang="en-GB" altLang="zh-CN" sz="1400" b="1" i="0" u="none" strike="noStrike" kern="1200" cap="none" spc="0" normalizeH="0" baseline="0" noProof="0" dirty="0" err="1">
                <a:ln>
                  <a:noFill/>
                </a:ln>
                <a:solidFill>
                  <a:srgbClr val="333333"/>
                </a:solidFill>
                <a:effectLst/>
                <a:uLnTx/>
                <a:uFillTx/>
                <a:latin typeface="Alibaba PuHuiTi" pitchFamily="18" charset="-122"/>
                <a:ea typeface="Alibaba PuHuiTi" pitchFamily="18" charset="-122"/>
                <a:cs typeface="Alibaba PuHuiTi" pitchFamily="18" charset="-122"/>
              </a:rPr>
              <a:t>married,divorced</a:t>
            </a:r>
            <a:r>
              <a:rPr kumimoji="0" lang="en-GB" altLang="zh-CN"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zh-CN" altLang="en-US"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情况下基尼指数</a:t>
            </a:r>
            <a:endParaRPr kumimoji="0" lang="zh-CN" altLang="en-US" sz="1400" b="1"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p:txBody>
      </p:sp>
      <p:sp>
        <p:nvSpPr>
          <p:cNvPr id="11" name="文本框 10"/>
          <p:cNvSpPr txBox="1"/>
          <p:nvPr/>
        </p:nvSpPr>
        <p:spPr>
          <a:xfrm>
            <a:off x="1026686" y="5422592"/>
            <a:ext cx="4739973" cy="307777"/>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3</a:t>
            </a:r>
            <a:r>
              <a:rPr kumimoji="0" lang="zh-CN" altLang="en-US"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计算 </a:t>
            </a:r>
            <a:r>
              <a:rPr kumimoji="0" lang="en-US" altLang="zh-CN"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en-GB" altLang="zh-CN"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divorced} | {</a:t>
            </a:r>
            <a:r>
              <a:rPr kumimoji="0" lang="en-GB" altLang="zh-CN" sz="1400" b="1" i="0" u="none" strike="noStrike" kern="1200" cap="none" spc="0" normalizeH="0" baseline="0" noProof="0" dirty="0" err="1">
                <a:ln>
                  <a:noFill/>
                </a:ln>
                <a:solidFill>
                  <a:srgbClr val="333333"/>
                </a:solidFill>
                <a:effectLst/>
                <a:uLnTx/>
                <a:uFillTx/>
                <a:latin typeface="Alibaba PuHuiTi" pitchFamily="18" charset="-122"/>
                <a:ea typeface="Alibaba PuHuiTi" pitchFamily="18" charset="-122"/>
                <a:cs typeface="Alibaba PuHuiTi" pitchFamily="18" charset="-122"/>
              </a:rPr>
              <a:t>single,married</a:t>
            </a:r>
            <a:r>
              <a:rPr kumimoji="0" lang="en-GB" altLang="zh-CN"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zh-CN" altLang="en-US"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情况下基尼指数</a:t>
            </a:r>
            <a:endParaRPr kumimoji="0" lang="zh-CN" altLang="en-US" sz="1400" b="1"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p:txBody>
      </p:sp>
      <p:sp>
        <p:nvSpPr>
          <p:cNvPr id="13" name="文本框 12"/>
          <p:cNvSpPr txBox="1"/>
          <p:nvPr/>
        </p:nvSpPr>
        <p:spPr>
          <a:xfrm>
            <a:off x="2121609" y="6094441"/>
            <a:ext cx="729325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最终：该特征的基尼值为 </a:t>
            </a:r>
            <a:r>
              <a:rPr kumimoji="0" lang="en-US" altLang="zh-CN"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0.3</a:t>
            </a:r>
            <a:r>
              <a:rPr kumimoji="0" lang="zh-CN" altLang="en-US"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，并且预选分裂点为：</a:t>
            </a:r>
            <a:r>
              <a:rPr kumimoji="0" lang="en-US" altLang="zh-CN"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en-GB" altLang="zh-CN"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married} </a:t>
            </a:r>
            <a:r>
              <a:rPr kumimoji="0" lang="zh-CN" altLang="en-US"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和 </a:t>
            </a:r>
            <a:r>
              <a:rPr kumimoji="0" lang="en-US" altLang="zh-CN"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en-GB" altLang="zh-CN" sz="1400" b="1" i="0" u="none" strike="noStrike" kern="1200" cap="none" spc="0" normalizeH="0" baseline="0" noProof="0" dirty="0" err="1">
                <a:ln>
                  <a:noFill/>
                </a:ln>
                <a:solidFill>
                  <a:srgbClr val="333333"/>
                </a:solidFill>
                <a:effectLst/>
                <a:uLnTx/>
                <a:uFillTx/>
                <a:latin typeface="Alibaba PuHuiTi" pitchFamily="18" charset="-122"/>
                <a:ea typeface="Alibaba PuHuiTi" pitchFamily="18" charset="-122"/>
                <a:cs typeface="Alibaba PuHuiTi" pitchFamily="18" charset="-122"/>
              </a:rPr>
              <a:t>single,divorced</a:t>
            </a:r>
            <a:r>
              <a:rPr kumimoji="0" lang="en-GB" altLang="zh-CN"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endParaRPr kumimoji="0" lang="en-GB" altLang="zh-CN"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pic>
        <p:nvPicPr>
          <p:cNvPr id="23" name="图片 22"/>
          <p:cNvPicPr>
            <a:picLocks noChangeAspect="1"/>
          </p:cNvPicPr>
          <p:nvPr/>
        </p:nvPicPr>
        <p:blipFill>
          <a:blip r:embed="rId4"/>
          <a:stretch>
            <a:fillRect/>
          </a:stretch>
        </p:blipFill>
        <p:spPr>
          <a:xfrm>
            <a:off x="5988960" y="4681371"/>
            <a:ext cx="5461777" cy="589719"/>
          </a:xfrm>
          <a:prstGeom prst="rect">
            <a:avLst/>
          </a:prstGeom>
        </p:spPr>
      </p:pic>
      <p:pic>
        <p:nvPicPr>
          <p:cNvPr id="24" name="图片 23"/>
          <p:cNvPicPr>
            <a:picLocks noChangeAspect="1"/>
          </p:cNvPicPr>
          <p:nvPr/>
        </p:nvPicPr>
        <p:blipFill>
          <a:blip r:embed="rId5"/>
          <a:stretch>
            <a:fillRect/>
          </a:stretch>
        </p:blipFill>
        <p:spPr>
          <a:xfrm>
            <a:off x="5988960" y="5253406"/>
            <a:ext cx="5767043" cy="597989"/>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CART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决策树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CART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树原理举例</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7" name="文本占位符 2"/>
          <p:cNvSpPr txBox="1"/>
          <p:nvPr/>
        </p:nvSpPr>
        <p:spPr>
          <a:xfrm>
            <a:off x="710879" y="1372234"/>
            <a:ext cx="2821461"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1" i="0" u="none" strike="noStrike" kern="1200" cap="none" spc="0" normalizeH="0" baseline="0" noProof="0" dirty="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年收入</a:t>
            </a:r>
            <a:endParaRPr kumimoji="0" lang="zh-CN" altLang="en-US" sz="1600" b="1" i="0" u="none" strike="noStrike" kern="1200" cap="none" spc="0" normalizeH="0" baseline="0" noProof="0" dirty="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endParaRPr>
          </a:p>
        </p:txBody>
      </p:sp>
      <p:sp>
        <p:nvSpPr>
          <p:cNvPr id="4" name="文本框 3"/>
          <p:cNvSpPr txBox="1"/>
          <p:nvPr/>
        </p:nvSpPr>
        <p:spPr>
          <a:xfrm>
            <a:off x="1011503" y="1935068"/>
            <a:ext cx="5461777" cy="307777"/>
          </a:xfrm>
          <a:prstGeom prst="rect">
            <a:avLst/>
          </a:prstGeom>
          <a:noFill/>
        </p:spPr>
        <p:txBody>
          <a:bodyPr wrap="square">
            <a:spAutoFit/>
          </a:bodyPr>
          <a:lstStyle/>
          <a:p>
            <a:pPr marL="285750" indent="-285750">
              <a:buFont typeface="Arial" panose="020B0604020202020204" pitchFamily="34" charset="0"/>
              <a:buChar char="•"/>
              <a:defRPr/>
            </a:pPr>
            <a:r>
              <a:rPr kumimoji="0" lang="en-US" altLang="zh-CN"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1</a:t>
            </a:r>
            <a:r>
              <a:rPr kumimoji="0" lang="zh-CN" altLang="en-US"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先将数值型属性</a:t>
            </a:r>
            <a:r>
              <a:rPr lang="zh-CN" altLang="en-US"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升序排列</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，以</a:t>
            </a:r>
            <a:r>
              <a:rPr lang="zh-CN" altLang="en-US"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相邻中间值</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作为待确定分裂点：</a:t>
            </a:r>
            <a:endPar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endParaRPr>
          </a:p>
        </p:txBody>
      </p:sp>
      <p:sp>
        <p:nvSpPr>
          <p:cNvPr id="9" name="文本框 8"/>
          <p:cNvSpPr txBox="1"/>
          <p:nvPr/>
        </p:nvSpPr>
        <p:spPr>
          <a:xfrm>
            <a:off x="1088390" y="4483735"/>
            <a:ext cx="4707890" cy="30670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2</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 以</a:t>
            </a:r>
            <a:r>
              <a:rPr lang="zh-CN" altLang="en-US"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年收入 </a:t>
            </a:r>
            <a:r>
              <a:rPr lang="en-US" altLang="zh-CN"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65 </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将样本分为两部分，计算基尼指数</a:t>
            </a:r>
            <a:endParaRPr kumimoji="0" lang="zh-CN" altLang="en-US" sz="1400" b="1"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p:txBody>
      </p:sp>
      <p:sp>
        <p:nvSpPr>
          <p:cNvPr id="11" name="文本框 10"/>
          <p:cNvSpPr txBox="1"/>
          <p:nvPr/>
        </p:nvSpPr>
        <p:spPr>
          <a:xfrm>
            <a:off x="1162507" y="5648236"/>
            <a:ext cx="5799999" cy="307777"/>
          </a:xfrm>
          <a:prstGeom prst="rect">
            <a:avLst/>
          </a:prstGeom>
          <a:noFill/>
        </p:spPr>
        <p:txBody>
          <a:bodyPr wrap="square">
            <a:spAutoFit/>
          </a:bodyPr>
          <a:lstStyle/>
          <a:p>
            <a:pPr marL="285750" indent="-285750" algn="l">
              <a:buFont typeface="Arial" panose="020B0604020202020204" pitchFamily="34" charset="0"/>
              <a:buChar char="•"/>
            </a:pP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3</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 以此类推计算所有分割点的基尼指数，最小的基尼指数为 </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0.3</a:t>
            </a:r>
            <a:endPar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endParaRPr>
          </a:p>
        </p:txBody>
      </p:sp>
      <p:sp>
        <p:nvSpPr>
          <p:cNvPr id="13" name="文本框 12"/>
          <p:cNvSpPr txBox="1"/>
          <p:nvPr/>
        </p:nvSpPr>
        <p:spPr>
          <a:xfrm>
            <a:off x="1536535" y="3964078"/>
            <a:ext cx="6542753" cy="306705"/>
          </a:xfrm>
          <a:prstGeom prst="rect">
            <a:avLst/>
          </a:prstGeom>
          <a:noFill/>
        </p:spPr>
        <p:txBody>
          <a:bodyPr wrap="square">
            <a:spAutoFit/>
          </a:bodyPr>
          <a:lstStyle/>
          <a:p>
            <a:pPr lvl="0">
              <a:defRPr/>
            </a:pPr>
            <a:r>
              <a:rPr lang="zh-CN" altLang="en-US" sz="1400" dirty="0">
                <a:latin typeface="Alibaba PuHuiTi" pitchFamily="18" charset="-122"/>
                <a:ea typeface="Alibaba PuHuiTi" pitchFamily="18" charset="-122"/>
                <a:cs typeface="Alibaba PuHuiTi" pitchFamily="18" charset="-122"/>
              </a:rPr>
              <a:t>待确定的分裂点为：</a:t>
            </a:r>
            <a:r>
              <a:rPr lang="en-US" altLang="zh-CN" sz="1400" dirty="0">
                <a:latin typeface="Alibaba PuHuiTi" pitchFamily="18" charset="-122"/>
                <a:ea typeface="Alibaba PuHuiTi" pitchFamily="18" charset="-122"/>
                <a:cs typeface="Alibaba PuHuiTi" pitchFamily="18" charset="-122"/>
              </a:rPr>
              <a:t>65</a:t>
            </a:r>
            <a:r>
              <a:rPr lang="zh-CN" altLang="en-US" sz="1400" dirty="0">
                <a:latin typeface="Alibaba PuHuiTi" pitchFamily="18" charset="-122"/>
                <a:ea typeface="Alibaba PuHuiTi" pitchFamily="18" charset="-122"/>
                <a:cs typeface="Alibaba PuHuiTi" pitchFamily="18" charset="-122"/>
              </a:rPr>
              <a:t>、</a:t>
            </a:r>
            <a:r>
              <a:rPr lang="en-US" altLang="zh-CN" sz="1400" dirty="0">
                <a:latin typeface="Alibaba PuHuiTi" pitchFamily="18" charset="-122"/>
                <a:ea typeface="Alibaba PuHuiTi" pitchFamily="18" charset="-122"/>
                <a:cs typeface="Alibaba PuHuiTi" pitchFamily="18" charset="-122"/>
              </a:rPr>
              <a:t>72.5</a:t>
            </a:r>
            <a:r>
              <a:rPr lang="zh-CN" altLang="en-US" sz="1400" dirty="0">
                <a:latin typeface="Alibaba PuHuiTi" pitchFamily="18" charset="-122"/>
                <a:ea typeface="Alibaba PuHuiTi" pitchFamily="18" charset="-122"/>
                <a:cs typeface="Alibaba PuHuiTi" pitchFamily="18" charset="-122"/>
              </a:rPr>
              <a:t>、</a:t>
            </a:r>
            <a:r>
              <a:rPr lang="en-US" altLang="zh-CN" sz="1400" dirty="0">
                <a:latin typeface="Alibaba PuHuiTi" pitchFamily="18" charset="-122"/>
                <a:ea typeface="Alibaba PuHuiTi" pitchFamily="18" charset="-122"/>
                <a:cs typeface="Alibaba PuHuiTi" pitchFamily="18" charset="-122"/>
              </a:rPr>
              <a:t>80</a:t>
            </a:r>
            <a:r>
              <a:rPr lang="zh-CN" altLang="en-US" sz="1400" dirty="0">
                <a:latin typeface="Alibaba PuHuiTi" pitchFamily="18" charset="-122"/>
                <a:ea typeface="Alibaba PuHuiTi" pitchFamily="18" charset="-122"/>
                <a:cs typeface="Alibaba PuHuiTi" pitchFamily="18" charset="-122"/>
              </a:rPr>
              <a:t>、</a:t>
            </a:r>
            <a:r>
              <a:rPr lang="en-US" altLang="zh-CN" sz="1400" dirty="0">
                <a:latin typeface="Alibaba PuHuiTi" pitchFamily="18" charset="-122"/>
                <a:ea typeface="Alibaba PuHuiTi" pitchFamily="18" charset="-122"/>
                <a:cs typeface="Alibaba PuHuiTi" pitchFamily="18" charset="-122"/>
              </a:rPr>
              <a:t>87.5</a:t>
            </a:r>
            <a:r>
              <a:rPr lang="zh-CN" altLang="en-US" sz="1400" dirty="0">
                <a:latin typeface="Alibaba PuHuiTi" pitchFamily="18" charset="-122"/>
                <a:ea typeface="Alibaba PuHuiTi" pitchFamily="18" charset="-122"/>
                <a:cs typeface="Alibaba PuHuiTi" pitchFamily="18" charset="-122"/>
              </a:rPr>
              <a:t>、</a:t>
            </a:r>
            <a:r>
              <a:rPr lang="en-US" altLang="zh-CN" sz="1400" dirty="0">
                <a:latin typeface="Alibaba PuHuiTi" pitchFamily="18" charset="-122"/>
                <a:ea typeface="Alibaba PuHuiTi" pitchFamily="18" charset="-122"/>
                <a:cs typeface="Alibaba PuHuiTi" pitchFamily="18" charset="-122"/>
              </a:rPr>
              <a:t>92.5</a:t>
            </a:r>
            <a:r>
              <a:rPr lang="zh-CN" altLang="en-US" sz="1400" dirty="0">
                <a:latin typeface="Alibaba PuHuiTi" pitchFamily="18" charset="-122"/>
                <a:ea typeface="Alibaba PuHuiTi" pitchFamily="18" charset="-122"/>
                <a:cs typeface="Alibaba PuHuiTi" pitchFamily="18" charset="-122"/>
              </a:rPr>
              <a:t>、</a:t>
            </a:r>
            <a:r>
              <a:rPr lang="en-US" altLang="zh-CN" sz="1400" dirty="0">
                <a:latin typeface="Alibaba PuHuiTi" pitchFamily="18" charset="-122"/>
                <a:ea typeface="Alibaba PuHuiTi" pitchFamily="18" charset="-122"/>
                <a:cs typeface="Alibaba PuHuiTi" pitchFamily="18" charset="-122"/>
              </a:rPr>
              <a:t>97.5</a:t>
            </a:r>
            <a:r>
              <a:rPr lang="zh-CN" altLang="en-US" sz="1400" dirty="0">
                <a:latin typeface="Alibaba PuHuiTi" pitchFamily="18" charset="-122"/>
                <a:ea typeface="Alibaba PuHuiTi" pitchFamily="18" charset="-122"/>
                <a:cs typeface="Alibaba PuHuiTi" pitchFamily="18" charset="-122"/>
              </a:rPr>
              <a:t>、</a:t>
            </a:r>
            <a:r>
              <a:rPr lang="en-US" altLang="zh-CN" sz="1400" dirty="0">
                <a:latin typeface="Alibaba PuHuiTi" pitchFamily="18" charset="-122"/>
                <a:ea typeface="Alibaba PuHuiTi" pitchFamily="18" charset="-122"/>
                <a:cs typeface="Alibaba PuHuiTi" pitchFamily="18" charset="-122"/>
              </a:rPr>
              <a:t>110</a:t>
            </a:r>
            <a:r>
              <a:rPr lang="zh-CN" altLang="en-US" sz="1400" dirty="0">
                <a:latin typeface="Alibaba PuHuiTi" pitchFamily="18" charset="-122"/>
                <a:ea typeface="Alibaba PuHuiTi" pitchFamily="18" charset="-122"/>
                <a:cs typeface="Alibaba PuHuiTi" pitchFamily="18" charset="-122"/>
              </a:rPr>
              <a:t>、</a:t>
            </a:r>
            <a:r>
              <a:rPr lang="en-US" altLang="zh-CN" sz="1400" dirty="0">
                <a:latin typeface="Alibaba PuHuiTi" pitchFamily="18" charset="-122"/>
                <a:ea typeface="Alibaba PuHuiTi" pitchFamily="18" charset="-122"/>
                <a:cs typeface="Alibaba PuHuiTi" pitchFamily="18" charset="-122"/>
              </a:rPr>
              <a:t>122.5</a:t>
            </a:r>
            <a:r>
              <a:rPr lang="zh-CN" altLang="en-US" sz="1400" dirty="0">
                <a:latin typeface="Alibaba PuHuiTi" pitchFamily="18" charset="-122"/>
                <a:ea typeface="Alibaba PuHuiTi" pitchFamily="18" charset="-122"/>
                <a:cs typeface="Alibaba PuHuiTi" pitchFamily="18" charset="-122"/>
              </a:rPr>
              <a:t>、</a:t>
            </a:r>
            <a:r>
              <a:rPr lang="en-US" altLang="zh-CN" sz="1400" dirty="0">
                <a:latin typeface="Alibaba PuHuiTi" pitchFamily="18" charset="-122"/>
                <a:ea typeface="Alibaba PuHuiTi" pitchFamily="18" charset="-122"/>
                <a:cs typeface="Alibaba PuHuiTi" pitchFamily="18" charset="-122"/>
              </a:rPr>
              <a:t>172.5</a:t>
            </a:r>
            <a:endParaRPr kumimoji="0" lang="en-GB" altLang="zh-CN"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pic>
        <p:nvPicPr>
          <p:cNvPr id="16" name="图片 15"/>
          <p:cNvPicPr>
            <a:picLocks noChangeAspect="1"/>
          </p:cNvPicPr>
          <p:nvPr/>
        </p:nvPicPr>
        <p:blipFill>
          <a:blip r:embed="rId1"/>
          <a:stretch>
            <a:fillRect/>
          </a:stretch>
        </p:blipFill>
        <p:spPr>
          <a:xfrm>
            <a:off x="1785632" y="4895193"/>
            <a:ext cx="5953737" cy="648101"/>
          </a:xfrm>
          <a:prstGeom prst="rect">
            <a:avLst/>
          </a:prstGeom>
        </p:spPr>
      </p:pic>
      <p:pic>
        <p:nvPicPr>
          <p:cNvPr id="2" name="图片 1"/>
          <p:cNvPicPr>
            <a:picLocks noChangeAspect="1"/>
          </p:cNvPicPr>
          <p:nvPr/>
        </p:nvPicPr>
        <p:blipFill>
          <a:blip r:embed="rId2"/>
          <a:stretch>
            <a:fillRect/>
          </a:stretch>
        </p:blipFill>
        <p:spPr>
          <a:xfrm>
            <a:off x="1332230" y="2362835"/>
            <a:ext cx="6951345" cy="138938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CART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决策树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CART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树原理举例</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7" name="文本占位符 2"/>
          <p:cNvSpPr txBox="1"/>
          <p:nvPr/>
        </p:nvSpPr>
        <p:spPr>
          <a:xfrm>
            <a:off x="710879" y="1372234"/>
            <a:ext cx="2821461"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b="1" dirty="0">
                <a:solidFill>
                  <a:srgbClr val="333333"/>
                </a:solidFill>
                <a:latin typeface="Open Sans" panose="020B0606030504020204" pitchFamily="34" charset="0"/>
              </a:rPr>
              <a:t>第</a:t>
            </a:r>
            <a:r>
              <a:rPr lang="en-US" altLang="zh-CN" b="1" dirty="0">
                <a:solidFill>
                  <a:srgbClr val="333333"/>
                </a:solidFill>
                <a:latin typeface="Open Sans" panose="020B0606030504020204" pitchFamily="34" charset="0"/>
              </a:rPr>
              <a:t>1</a:t>
            </a:r>
            <a:r>
              <a:rPr lang="zh-CN" altLang="en-US" b="1" dirty="0">
                <a:solidFill>
                  <a:srgbClr val="333333"/>
                </a:solidFill>
                <a:latin typeface="Open Sans" panose="020B0606030504020204" pitchFamily="34" charset="0"/>
              </a:rPr>
              <a:t>轮结果</a:t>
            </a:r>
            <a:endParaRPr kumimoji="0" lang="zh-CN" altLang="en-US" sz="1600" b="1" i="0" u="none" strike="noStrike" kern="1200" cap="none" spc="0" normalizeH="0" baseline="0" noProof="0" dirty="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endParaRPr>
          </a:p>
        </p:txBody>
      </p:sp>
      <p:sp>
        <p:nvSpPr>
          <p:cNvPr id="5" name="文本框 4"/>
          <p:cNvSpPr txBox="1"/>
          <p:nvPr/>
        </p:nvSpPr>
        <p:spPr>
          <a:xfrm>
            <a:off x="1195192" y="1886877"/>
            <a:ext cx="7560501" cy="1031564"/>
          </a:xfrm>
          <a:prstGeom prst="rect">
            <a:avLst/>
          </a:prstGeom>
          <a:noFill/>
        </p:spPr>
        <p:txBody>
          <a:bodyPr wrap="square">
            <a:spAutoFit/>
          </a:bodyPr>
          <a:lstStyle/>
          <a:p>
            <a:pPr>
              <a:lnSpc>
                <a:spcPct val="150000"/>
              </a:lnSpc>
            </a:pPr>
            <a:r>
              <a:rPr lang="zh-CN" altLang="en-US" sz="1400" dirty="0">
                <a:latin typeface="Alibaba PuHuiTi" pitchFamily="18" charset="-122"/>
                <a:ea typeface="Alibaba PuHuiTi" pitchFamily="18" charset="-122"/>
                <a:cs typeface="Alibaba PuHuiTi" pitchFamily="18" charset="-122"/>
              </a:rPr>
              <a:t>以是否有房作为分裂点的基尼指数为：</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0.343</a:t>
            </a:r>
            <a:endParaRPr lang="en-US" altLang="zh-CN" sz="1400" dirty="0">
              <a:solidFill>
                <a:schemeClr val="accent2">
                  <a:lumMod val="75000"/>
                </a:schemeClr>
              </a:solidFill>
              <a:latin typeface="Alibaba PuHuiTi" pitchFamily="18" charset="-122"/>
              <a:ea typeface="Alibaba PuHuiTi" pitchFamily="18" charset="-122"/>
              <a:cs typeface="Alibaba PuHuiTi" pitchFamily="18" charset="-122"/>
            </a:endParaRPr>
          </a:p>
          <a:p>
            <a:pPr>
              <a:lnSpc>
                <a:spcPct val="150000"/>
              </a:lnSpc>
            </a:pPr>
            <a:r>
              <a:rPr lang="zh-CN" altLang="en-US" sz="1400" dirty="0">
                <a:latin typeface="Alibaba PuHuiTi" pitchFamily="18" charset="-122"/>
                <a:ea typeface="Alibaba PuHuiTi" pitchFamily="18" charset="-122"/>
                <a:cs typeface="Alibaba PuHuiTi" pitchFamily="18" charset="-122"/>
              </a:rPr>
              <a:t>以婚姻状况为分裂特征、以 </a:t>
            </a:r>
            <a:r>
              <a:rPr lang="en-GB" altLang="zh-CN" sz="1400" dirty="0">
                <a:latin typeface="Alibaba PuHuiTi" pitchFamily="18" charset="-122"/>
                <a:ea typeface="Alibaba PuHuiTi" pitchFamily="18" charset="-122"/>
                <a:cs typeface="Alibaba PuHuiTi" pitchFamily="18" charset="-122"/>
              </a:rPr>
              <a:t>married </a:t>
            </a:r>
            <a:r>
              <a:rPr lang="zh-CN" altLang="en-US" sz="1400" dirty="0">
                <a:latin typeface="Alibaba PuHuiTi" pitchFamily="18" charset="-122"/>
                <a:ea typeface="Alibaba PuHuiTi" pitchFamily="18" charset="-122"/>
                <a:cs typeface="Alibaba PuHuiTi" pitchFamily="18" charset="-122"/>
              </a:rPr>
              <a:t>作为分裂点的基尼指数为：</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0.3</a:t>
            </a:r>
            <a:endParaRPr lang="en-US" altLang="zh-CN" sz="1400" dirty="0">
              <a:solidFill>
                <a:schemeClr val="accent2">
                  <a:lumMod val="75000"/>
                </a:schemeClr>
              </a:solidFill>
              <a:latin typeface="Alibaba PuHuiTi" pitchFamily="18" charset="-122"/>
              <a:ea typeface="Alibaba PuHuiTi" pitchFamily="18" charset="-122"/>
              <a:cs typeface="Alibaba PuHuiTi" pitchFamily="18" charset="-122"/>
            </a:endParaRPr>
          </a:p>
          <a:p>
            <a:pPr>
              <a:lnSpc>
                <a:spcPct val="150000"/>
              </a:lnSpc>
            </a:pPr>
            <a:r>
              <a:rPr lang="zh-CN" altLang="en-US" sz="1400" dirty="0">
                <a:latin typeface="Alibaba PuHuiTi" pitchFamily="18" charset="-122"/>
                <a:ea typeface="Alibaba PuHuiTi" pitchFamily="18" charset="-122"/>
                <a:cs typeface="Alibaba PuHuiTi" pitchFamily="18" charset="-122"/>
              </a:rPr>
              <a:t>以年收入作为分裂特征、以 </a:t>
            </a:r>
            <a:r>
              <a:rPr lang="en-US" altLang="zh-CN" sz="1400" dirty="0">
                <a:latin typeface="Alibaba PuHuiTi" pitchFamily="18" charset="-122"/>
                <a:ea typeface="Alibaba PuHuiTi" pitchFamily="18" charset="-122"/>
                <a:cs typeface="Alibaba PuHuiTi" pitchFamily="18" charset="-122"/>
              </a:rPr>
              <a:t>97.5 </a:t>
            </a:r>
            <a:r>
              <a:rPr lang="zh-CN" altLang="en-US" sz="1400" dirty="0">
                <a:latin typeface="Alibaba PuHuiTi" pitchFamily="18" charset="-122"/>
                <a:ea typeface="Alibaba PuHuiTi" pitchFamily="18" charset="-122"/>
                <a:cs typeface="Alibaba PuHuiTi" pitchFamily="18" charset="-122"/>
              </a:rPr>
              <a:t>作为分裂点的的基尼指数为：</a:t>
            </a:r>
            <a:r>
              <a:rPr lang="en-US" altLang="zh-CN" sz="1400" dirty="0">
                <a:latin typeface="Alibaba PuHuiTi" pitchFamily="18" charset="-122"/>
                <a:ea typeface="Alibaba PuHuiTi" pitchFamily="18" charset="-122"/>
                <a:cs typeface="Alibaba PuHuiTi" pitchFamily="18" charset="-122"/>
              </a:rPr>
              <a:t>0.3</a:t>
            </a:r>
            <a:endParaRPr lang="en-US" altLang="zh-CN" sz="1400" dirty="0">
              <a:latin typeface="Alibaba PuHuiTi" pitchFamily="18" charset="-122"/>
              <a:ea typeface="Alibaba PuHuiTi" pitchFamily="18" charset="-122"/>
              <a:cs typeface="Alibaba PuHuiTi" pitchFamily="18" charset="-122"/>
            </a:endParaRPr>
          </a:p>
        </p:txBody>
      </p:sp>
      <p:pic>
        <p:nvPicPr>
          <p:cNvPr id="6" name="图片 5"/>
          <p:cNvPicPr>
            <a:picLocks noChangeAspect="1"/>
          </p:cNvPicPr>
          <p:nvPr/>
        </p:nvPicPr>
        <p:blipFill>
          <a:blip r:embed="rId1"/>
          <a:stretch>
            <a:fillRect/>
          </a:stretch>
        </p:blipFill>
        <p:spPr>
          <a:xfrm>
            <a:off x="8392439" y="1172928"/>
            <a:ext cx="2349152" cy="2143033"/>
          </a:xfrm>
          <a:prstGeom prst="rect">
            <a:avLst/>
          </a:prstGeom>
        </p:spPr>
      </p:pic>
      <p:sp>
        <p:nvSpPr>
          <p:cNvPr id="10" name="文本框 9"/>
          <p:cNvSpPr txBox="1"/>
          <p:nvPr/>
        </p:nvSpPr>
        <p:spPr>
          <a:xfrm>
            <a:off x="1045456" y="3851209"/>
            <a:ext cx="5681021" cy="2001061"/>
          </a:xfrm>
          <a:prstGeom prst="rect">
            <a:avLst/>
          </a:prstGeom>
          <a:noFill/>
        </p:spPr>
        <p:txBody>
          <a:bodyPr wrap="square">
            <a:spAutoFit/>
          </a:bodyPr>
          <a:lstStyle/>
          <a:p>
            <a:pPr algn="l">
              <a:lnSpc>
                <a:spcPct val="150000"/>
              </a:lnSpc>
            </a:pP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1</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 样本 </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2</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4</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6</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9 </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样本的类别都是 </a:t>
            </a:r>
            <a:r>
              <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rPr>
              <a:t>no</a:t>
            </a:r>
            <a:r>
              <a:rPr lang="zh-CN" altLang="en-GB" sz="1400" b="0" i="0" u="none" strike="noStrike" dirty="0">
                <a:solidFill>
                  <a:srgbClr val="333333"/>
                </a:solidFill>
                <a:effectLst/>
                <a:latin typeface="Alibaba PuHuiTi" pitchFamily="18" charset="-122"/>
                <a:ea typeface="Alibaba PuHuiTi" pitchFamily="18" charset="-122"/>
                <a:cs typeface="Alibaba PuHuiTi" pitchFamily="18" charset="-122"/>
              </a:rPr>
              <a:t>，</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已经达到最大纯度 </a:t>
            </a:r>
            <a:endPar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endParaRPr>
          </a:p>
          <a:p>
            <a:pPr algn="l">
              <a:lnSpc>
                <a:spcPct val="150000"/>
              </a:lnSpc>
            </a:pPr>
            <a:r>
              <a:rPr lang="en-US" altLang="zh-CN" sz="1400" dirty="0">
                <a:solidFill>
                  <a:srgbClr val="333333"/>
                </a:solidFill>
                <a:latin typeface="Alibaba PuHuiTi" pitchFamily="18" charset="-122"/>
                <a:ea typeface="Alibaba PuHuiTi" pitchFamily="18" charset="-122"/>
                <a:cs typeface="Alibaba PuHuiTi" pitchFamily="18" charset="-122"/>
              </a:rPr>
              <a:t>	</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所以，该节点不需要再继续分裂。</a:t>
            </a:r>
            <a:endPar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endParaRPr>
          </a:p>
          <a:p>
            <a:pPr algn="l">
              <a:lnSpc>
                <a:spcPct val="150000"/>
              </a:lnSpc>
            </a:pP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2</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 样本 </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1</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3</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5</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7</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8</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10 </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样本中仍然包含 </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4 </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个 </a:t>
            </a:r>
            <a:r>
              <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rPr>
              <a:t>no</a:t>
            </a:r>
            <a:r>
              <a:rPr lang="zh-CN" altLang="en-GB" sz="1400" b="0" i="0" u="none" strike="noStrike" dirty="0">
                <a:solidFill>
                  <a:srgbClr val="333333"/>
                </a:solidFill>
                <a:effectLst/>
                <a:latin typeface="Alibaba PuHuiTi" pitchFamily="18" charset="-122"/>
                <a:ea typeface="Alibaba PuHuiTi" pitchFamily="18" charset="-122"/>
                <a:cs typeface="Alibaba PuHuiTi" pitchFamily="18" charset="-122"/>
              </a:rPr>
              <a:t>，</a:t>
            </a:r>
            <a:r>
              <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rPr>
              <a:t>2 </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个 </a:t>
            </a:r>
            <a:r>
              <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rPr>
              <a:t>yes</a:t>
            </a:r>
            <a:endParaRPr lang="en-US" altLang="zh-CN" sz="1400" dirty="0">
              <a:solidFill>
                <a:srgbClr val="333333"/>
              </a:solidFill>
              <a:latin typeface="Alibaba PuHuiTi" pitchFamily="18" charset="-122"/>
              <a:ea typeface="Alibaba PuHuiTi" pitchFamily="18" charset="-122"/>
              <a:cs typeface="Alibaba PuHuiTi" pitchFamily="18" charset="-122"/>
            </a:endParaRPr>
          </a:p>
          <a:p>
            <a:pPr algn="l">
              <a:lnSpc>
                <a:spcPct val="150000"/>
              </a:lnSpc>
            </a:pP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	</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该节点</a:t>
            </a:r>
            <a:r>
              <a:rPr lang="zh-CN" altLang="en-US"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并未达到要求的纯度，需要继续划分</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a:t>
            </a:r>
            <a:endPar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endParaRPr>
          </a:p>
          <a:p>
            <a:pPr algn="l">
              <a:lnSpc>
                <a:spcPct val="150000"/>
              </a:lnSpc>
            </a:pP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3</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 右子树的数据集变为： </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1</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3</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5</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7</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8</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10</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，在该数据集中计算</a:t>
            </a:r>
            <a:endPar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endParaRPr>
          </a:p>
          <a:p>
            <a:pPr algn="l">
              <a:lnSpc>
                <a:spcPct val="150000"/>
              </a:lnSpc>
            </a:pPr>
            <a:r>
              <a:rPr lang="en-US" altLang="zh-CN" sz="1400" dirty="0">
                <a:solidFill>
                  <a:srgbClr val="333333"/>
                </a:solidFill>
                <a:latin typeface="Alibaba PuHuiTi" pitchFamily="18" charset="-122"/>
                <a:ea typeface="Alibaba PuHuiTi" pitchFamily="18" charset="-122"/>
                <a:cs typeface="Alibaba PuHuiTi" pitchFamily="18" charset="-122"/>
              </a:rPr>
              <a:t>	</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不同特征的基尼指数，选择基尼指数最小的特征继续分裂。</a:t>
            </a:r>
            <a:endPar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endParaRPr>
          </a:p>
        </p:txBody>
      </p:sp>
      <p:pic>
        <p:nvPicPr>
          <p:cNvPr id="17" name="图片 16"/>
          <p:cNvPicPr>
            <a:picLocks noChangeAspect="1"/>
          </p:cNvPicPr>
          <p:nvPr/>
        </p:nvPicPr>
        <p:blipFill>
          <a:blip r:embed="rId2"/>
          <a:stretch>
            <a:fillRect/>
          </a:stretch>
        </p:blipFill>
        <p:spPr>
          <a:xfrm>
            <a:off x="7928976" y="3771315"/>
            <a:ext cx="3893341" cy="2609009"/>
          </a:xfrm>
          <a:prstGeom prst="rect">
            <a:avLst/>
          </a:prstGeom>
        </p:spPr>
      </p:pic>
      <p:sp>
        <p:nvSpPr>
          <p:cNvPr id="18" name="文本占位符 2"/>
          <p:cNvSpPr txBox="1"/>
          <p:nvPr/>
        </p:nvSpPr>
        <p:spPr>
          <a:xfrm>
            <a:off x="710879" y="3271737"/>
            <a:ext cx="2821461"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b="1" dirty="0">
                <a:solidFill>
                  <a:srgbClr val="333333"/>
                </a:solidFill>
                <a:latin typeface="Open Sans" panose="020B0606030504020204" pitchFamily="34" charset="0"/>
              </a:rPr>
              <a:t>第</a:t>
            </a:r>
            <a:r>
              <a:rPr lang="en-US" altLang="zh-CN" b="1" dirty="0">
                <a:solidFill>
                  <a:srgbClr val="333333"/>
                </a:solidFill>
                <a:latin typeface="Open Sans" panose="020B0606030504020204" pitchFamily="34" charset="0"/>
              </a:rPr>
              <a:t>2</a:t>
            </a:r>
            <a:r>
              <a:rPr lang="zh-CN" altLang="en-US" b="1" dirty="0">
                <a:solidFill>
                  <a:srgbClr val="333333"/>
                </a:solidFill>
                <a:latin typeface="Open Sans" panose="020B0606030504020204" pitchFamily="34" charset="0"/>
              </a:rPr>
              <a:t>轮</a:t>
            </a:r>
            <a:endParaRPr kumimoji="0" lang="zh-CN" altLang="en-US" sz="1600" b="1" i="0" u="none" strike="noStrike" kern="1200" cap="none" spc="0" normalizeH="0" baseline="0" noProof="0" dirty="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endParaRPr>
          </a:p>
        </p:txBody>
      </p:sp>
      <p:sp>
        <p:nvSpPr>
          <p:cNvPr id="9" name="文本占位符 2"/>
          <p:cNvSpPr txBox="1"/>
          <p:nvPr/>
        </p:nvSpPr>
        <p:spPr>
          <a:xfrm>
            <a:off x="710878" y="6119446"/>
            <a:ext cx="4306599" cy="27126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1" i="0" u="none" strike="noStrike" kern="1200" cap="none" spc="0" normalizeH="0" baseline="0" noProof="0" dirty="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重复上述过程，直到构建完成整个决策树</a:t>
            </a:r>
            <a:endParaRPr kumimoji="0" lang="zh-CN" altLang="en-US" sz="1600" b="1" i="0" u="none" strike="noStrike" kern="1200" cap="none" spc="0" normalizeH="0" baseline="0" noProof="0" dirty="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三种分类树的对比</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graphicFrame>
        <p:nvGraphicFramePr>
          <p:cNvPr id="9" name="表格 8"/>
          <p:cNvGraphicFramePr/>
          <p:nvPr>
            <p:custDataLst>
              <p:tags r:id="rId1"/>
            </p:custDataLst>
          </p:nvPr>
        </p:nvGraphicFramePr>
        <p:xfrm>
          <a:off x="710879" y="1338922"/>
          <a:ext cx="10817241" cy="4614163"/>
        </p:xfrm>
        <a:graphic>
          <a:graphicData uri="http://schemas.openxmlformats.org/drawingml/2006/table">
            <a:tbl>
              <a:tblPr firstRow="1" bandRow="1">
                <a:tableStyleId>{5C22544A-7EE6-4342-B048-85BDC9FD1C3A}</a:tableStyleId>
              </a:tblPr>
              <a:tblGrid>
                <a:gridCol w="1365830"/>
                <a:gridCol w="1946428"/>
                <a:gridCol w="2293659"/>
                <a:gridCol w="5211324"/>
              </a:tblGrid>
              <a:tr h="687754">
                <a:tc>
                  <a:txBody>
                    <a:bodyPr/>
                    <a:lstStyle/>
                    <a:p>
                      <a:pPr algn="ctr"/>
                      <a:r>
                        <a:rPr lang="zh-CN" altLang="en-US" sz="1600" b="1" dirty="0">
                          <a:effectLst/>
                          <a:latin typeface="Alibaba PuHuiTi" pitchFamily="18" charset="-122"/>
                          <a:ea typeface="Alibaba PuHuiTi" pitchFamily="18" charset="-122"/>
                          <a:cs typeface="Alibaba PuHuiTi" pitchFamily="18" charset="-122"/>
                        </a:rPr>
                        <a:t>名称</a:t>
                      </a:r>
                      <a:endParaRPr lang="zh-CN" altLang="en-US" sz="1600" b="1" dirty="0">
                        <a:effectLst/>
                        <a:latin typeface="Alibaba PuHuiTi" pitchFamily="18" charset="-122"/>
                        <a:ea typeface="Alibaba PuHuiTi" pitchFamily="18" charset="-122"/>
                        <a:cs typeface="Alibaba PuHuiTi" pitchFamily="18" charset="-122"/>
                      </a:endParaRPr>
                    </a:p>
                  </a:txBody>
                  <a:tcPr marL="96597" marR="96597" marT="44583" marB="4458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p>
                      <a:pPr algn="ctr"/>
                      <a:r>
                        <a:rPr lang="zh-CN" altLang="en-US" sz="1600" b="1" dirty="0">
                          <a:effectLst/>
                          <a:latin typeface="Alibaba PuHuiTi" pitchFamily="18" charset="-122"/>
                          <a:ea typeface="Alibaba PuHuiTi" pitchFamily="18" charset="-122"/>
                          <a:cs typeface="Alibaba PuHuiTi" pitchFamily="18" charset="-122"/>
                        </a:rPr>
                        <a:t>提出时间</a:t>
                      </a:r>
                      <a:endParaRPr lang="zh-CN" altLang="en-US" sz="1600" b="1" dirty="0">
                        <a:effectLst/>
                        <a:latin typeface="Alibaba PuHuiTi" pitchFamily="18" charset="-122"/>
                        <a:ea typeface="Alibaba PuHuiTi" pitchFamily="18" charset="-122"/>
                        <a:cs typeface="Alibaba PuHuiTi" pitchFamily="18" charset="-122"/>
                      </a:endParaRPr>
                    </a:p>
                  </a:txBody>
                  <a:tcPr marL="96597" marR="96597" marT="44583" marB="4458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p>
                      <a:pPr algn="ctr"/>
                      <a:r>
                        <a:rPr lang="zh-CN" altLang="en-US" sz="1600" b="1" dirty="0">
                          <a:effectLst/>
                          <a:latin typeface="Alibaba PuHuiTi" pitchFamily="18" charset="-122"/>
                          <a:ea typeface="Alibaba PuHuiTi" pitchFamily="18" charset="-122"/>
                          <a:cs typeface="Alibaba PuHuiTi" pitchFamily="18" charset="-122"/>
                        </a:rPr>
                        <a:t>分支方式</a:t>
                      </a:r>
                      <a:endParaRPr lang="zh-CN" altLang="en-US" sz="1600" b="1" dirty="0">
                        <a:effectLst/>
                        <a:latin typeface="Alibaba PuHuiTi" pitchFamily="18" charset="-122"/>
                        <a:ea typeface="Alibaba PuHuiTi" pitchFamily="18" charset="-122"/>
                        <a:cs typeface="Alibaba PuHuiTi" pitchFamily="18" charset="-122"/>
                      </a:endParaRPr>
                    </a:p>
                  </a:txBody>
                  <a:tcPr marL="96597" marR="96597" marT="44583" marB="4458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p>
                      <a:pPr algn="ctr"/>
                      <a:r>
                        <a:rPr lang="zh-CN" altLang="en-US" sz="1600" b="1" dirty="0">
                          <a:effectLst/>
                          <a:latin typeface="Alibaba PuHuiTi" pitchFamily="18" charset="-122"/>
                          <a:ea typeface="Alibaba PuHuiTi" pitchFamily="18" charset="-122"/>
                          <a:cs typeface="Alibaba PuHuiTi" pitchFamily="18" charset="-122"/>
                        </a:rPr>
                        <a:t>特点</a:t>
                      </a:r>
                      <a:endParaRPr lang="zh-CN" altLang="en-US" sz="1600" b="1" dirty="0">
                        <a:effectLst/>
                        <a:latin typeface="Alibaba PuHuiTi" pitchFamily="18" charset="-122"/>
                        <a:ea typeface="Alibaba PuHuiTi" pitchFamily="18" charset="-122"/>
                        <a:cs typeface="Alibaba PuHuiTi" pitchFamily="18" charset="-122"/>
                      </a:endParaRPr>
                    </a:p>
                  </a:txBody>
                  <a:tcPr marL="96597" marR="96597" marT="44583" marB="4458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solidFill>
                  </a:tcPr>
                </a:tc>
              </a:tr>
              <a:tr h="890449">
                <a:tc>
                  <a:txBody>
                    <a:bodyPr/>
                    <a:lstStyle/>
                    <a:p>
                      <a:pPr algn="ctr">
                        <a:lnSpc>
                          <a:spcPct val="150000"/>
                        </a:lnSpc>
                      </a:pPr>
                      <a:r>
                        <a:rPr lang="en-GB" sz="1600" dirty="0">
                          <a:effectLst/>
                          <a:latin typeface="Alibaba PuHuiTi" pitchFamily="18" charset="-122"/>
                          <a:ea typeface="Alibaba PuHuiTi" pitchFamily="18" charset="-122"/>
                          <a:cs typeface="Alibaba PuHuiTi" pitchFamily="18" charset="-122"/>
                        </a:rPr>
                        <a:t>ID3</a:t>
                      </a:r>
                      <a:endParaRPr lang="en-GB" sz="1600" dirty="0">
                        <a:effectLst/>
                        <a:latin typeface="Alibaba PuHuiTi" pitchFamily="18" charset="-122"/>
                        <a:ea typeface="Alibaba PuHuiTi" pitchFamily="18" charset="-122"/>
                        <a:cs typeface="Alibaba PuHuiTi" pitchFamily="18" charset="-122"/>
                      </a:endParaRPr>
                    </a:p>
                  </a:txBody>
                  <a:tcPr marL="96597" marR="96597" marT="44583" marB="44583"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lnSpc>
                          <a:spcPct val="150000"/>
                        </a:lnSpc>
                      </a:pPr>
                      <a:r>
                        <a:rPr lang="en-US" altLang="zh-CN" sz="1600" dirty="0">
                          <a:effectLst/>
                          <a:latin typeface="Alibaba PuHuiTi" pitchFamily="18" charset="-122"/>
                          <a:ea typeface="Alibaba PuHuiTi" pitchFamily="18" charset="-122"/>
                          <a:cs typeface="Alibaba PuHuiTi" pitchFamily="18" charset="-122"/>
                        </a:rPr>
                        <a:t>1975</a:t>
                      </a:r>
                      <a:endParaRPr lang="en-US" altLang="zh-CN" sz="1600" dirty="0">
                        <a:effectLst/>
                        <a:latin typeface="Alibaba PuHuiTi" pitchFamily="18" charset="-122"/>
                        <a:ea typeface="Alibaba PuHuiTi" pitchFamily="18" charset="-122"/>
                        <a:cs typeface="Alibaba PuHuiTi" pitchFamily="18" charset="-122"/>
                      </a:endParaRPr>
                    </a:p>
                  </a:txBody>
                  <a:tcPr marL="96597" marR="96597" marT="44583" marB="4458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lnSpc>
                          <a:spcPct val="150000"/>
                        </a:lnSpc>
                      </a:pPr>
                      <a:r>
                        <a:rPr lang="zh-CN" altLang="en-US" sz="1600" dirty="0">
                          <a:effectLst/>
                          <a:latin typeface="Alibaba PuHuiTi" pitchFamily="18" charset="-122"/>
                          <a:ea typeface="Alibaba PuHuiTi" pitchFamily="18" charset="-122"/>
                          <a:cs typeface="Alibaba PuHuiTi" pitchFamily="18" charset="-122"/>
                        </a:rPr>
                        <a:t>信息增益</a:t>
                      </a:r>
                      <a:endParaRPr lang="zh-CN" altLang="en-US" sz="1600" dirty="0">
                        <a:effectLst/>
                        <a:latin typeface="Alibaba PuHuiTi" pitchFamily="18" charset="-122"/>
                        <a:ea typeface="Alibaba PuHuiTi" pitchFamily="18" charset="-122"/>
                        <a:cs typeface="Alibaba PuHuiTi" pitchFamily="18" charset="-122"/>
                      </a:endParaRPr>
                    </a:p>
                  </a:txBody>
                  <a:tcPr marL="96597" marR="96597" marT="44583" marB="4458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nSpc>
                          <a:spcPct val="150000"/>
                        </a:lnSpc>
                      </a:pPr>
                      <a:r>
                        <a:rPr lang="en-US" altLang="zh-CN" sz="1600" dirty="0">
                          <a:solidFill>
                            <a:schemeClr val="tx1"/>
                          </a:solidFill>
                          <a:effectLst/>
                          <a:latin typeface="Alibaba PuHuiTi" pitchFamily="18" charset="-122"/>
                          <a:ea typeface="Alibaba PuHuiTi" pitchFamily="18" charset="-122"/>
                          <a:cs typeface="Alibaba PuHuiTi" pitchFamily="18" charset="-122"/>
                        </a:rPr>
                        <a:t>1.</a:t>
                      </a:r>
                      <a:r>
                        <a:rPr lang="en-GB" sz="1600" dirty="0">
                          <a:solidFill>
                            <a:schemeClr val="tx1"/>
                          </a:solidFill>
                          <a:effectLst/>
                          <a:latin typeface="Alibaba PuHuiTi" pitchFamily="18" charset="-122"/>
                          <a:ea typeface="Alibaba PuHuiTi" pitchFamily="18" charset="-122"/>
                          <a:cs typeface="Alibaba PuHuiTi" pitchFamily="18" charset="-122"/>
                        </a:rPr>
                        <a:t>ID3</a:t>
                      </a:r>
                      <a:r>
                        <a:rPr lang="zh-CN" altLang="en-US" sz="1600" dirty="0">
                          <a:solidFill>
                            <a:schemeClr val="tx1"/>
                          </a:solidFill>
                          <a:effectLst/>
                          <a:latin typeface="Alibaba PuHuiTi" pitchFamily="18" charset="-122"/>
                          <a:ea typeface="Alibaba PuHuiTi" pitchFamily="18" charset="-122"/>
                          <a:cs typeface="Alibaba PuHuiTi" pitchFamily="18" charset="-122"/>
                        </a:rPr>
                        <a:t>只能对离散属性的数据集构成决策树</a:t>
                      </a:r>
                      <a:endParaRPr lang="en-US" altLang="zh-CN" sz="1600" dirty="0">
                        <a:solidFill>
                          <a:schemeClr val="tx1"/>
                        </a:solidFill>
                        <a:effectLst/>
                        <a:latin typeface="Alibaba PuHuiTi" pitchFamily="18" charset="-122"/>
                        <a:ea typeface="Alibaba PuHuiTi" pitchFamily="18" charset="-122"/>
                        <a:cs typeface="Alibaba PuHuiTi" pitchFamily="18" charset="-122"/>
                      </a:endParaRPr>
                    </a:p>
                    <a:p>
                      <a:pPr>
                        <a:lnSpc>
                          <a:spcPct val="150000"/>
                        </a:lnSpc>
                      </a:pPr>
                      <a:r>
                        <a:rPr lang="en-US" altLang="zh-CN" sz="1600" i="0" u="none" strike="noStrike" dirty="0">
                          <a:solidFill>
                            <a:schemeClr val="tx1"/>
                          </a:solidFill>
                          <a:effectLst/>
                          <a:latin typeface="Alibaba PuHuiTi" pitchFamily="18" charset="-122"/>
                          <a:ea typeface="Alibaba PuHuiTi" pitchFamily="18" charset="-122"/>
                          <a:cs typeface="Alibaba PuHuiTi" pitchFamily="18" charset="-122"/>
                        </a:rPr>
                        <a:t>2.</a:t>
                      </a:r>
                      <a:r>
                        <a:rPr lang="zh-CN" altLang="en-US" sz="1600" i="0" u="none" strike="noStrike" dirty="0">
                          <a:solidFill>
                            <a:schemeClr val="tx1"/>
                          </a:solidFill>
                          <a:effectLst/>
                          <a:latin typeface="Alibaba PuHuiTi" pitchFamily="18" charset="-122"/>
                          <a:ea typeface="Alibaba PuHuiTi" pitchFamily="18" charset="-122"/>
                          <a:cs typeface="Alibaba PuHuiTi" pitchFamily="18" charset="-122"/>
                        </a:rPr>
                        <a:t>倾向于选择取值较多的属性</a:t>
                      </a:r>
                      <a:endParaRPr lang="zh-CN" altLang="en-US" sz="1600" dirty="0">
                        <a:solidFill>
                          <a:schemeClr val="tx1"/>
                        </a:solidFill>
                        <a:effectLst/>
                        <a:latin typeface="Alibaba PuHuiTi" pitchFamily="18" charset="-122"/>
                        <a:ea typeface="Alibaba PuHuiTi" pitchFamily="18" charset="-122"/>
                        <a:cs typeface="Alibaba PuHuiTi" pitchFamily="18" charset="-122"/>
                      </a:endParaRPr>
                    </a:p>
                  </a:txBody>
                  <a:tcPr marL="96597" marR="96597" marT="44583" marB="4458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890449">
                <a:tc>
                  <a:txBody>
                    <a:bodyPr/>
                    <a:lstStyle/>
                    <a:p>
                      <a:pPr algn="ctr">
                        <a:lnSpc>
                          <a:spcPct val="150000"/>
                        </a:lnSpc>
                      </a:pPr>
                      <a:r>
                        <a:rPr lang="en-GB" sz="1600" dirty="0">
                          <a:effectLst/>
                          <a:latin typeface="Alibaba PuHuiTi" pitchFamily="18" charset="-122"/>
                          <a:ea typeface="Alibaba PuHuiTi" pitchFamily="18" charset="-122"/>
                          <a:cs typeface="Alibaba PuHuiTi" pitchFamily="18" charset="-122"/>
                        </a:rPr>
                        <a:t>C4.5</a:t>
                      </a:r>
                      <a:endParaRPr lang="en-GB" sz="1600" dirty="0">
                        <a:effectLst/>
                        <a:latin typeface="Alibaba PuHuiTi" pitchFamily="18" charset="-122"/>
                        <a:ea typeface="Alibaba PuHuiTi" pitchFamily="18" charset="-122"/>
                        <a:cs typeface="Alibaba PuHuiTi" pitchFamily="18" charset="-122"/>
                      </a:endParaRPr>
                    </a:p>
                  </a:txBody>
                  <a:tcPr marL="96597" marR="96597" marT="44583" marB="44583"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lnSpc>
                          <a:spcPct val="150000"/>
                        </a:lnSpc>
                      </a:pPr>
                      <a:r>
                        <a:rPr lang="en-US" altLang="zh-CN" sz="1600" dirty="0">
                          <a:effectLst/>
                          <a:latin typeface="Alibaba PuHuiTi" pitchFamily="18" charset="-122"/>
                          <a:ea typeface="Alibaba PuHuiTi" pitchFamily="18" charset="-122"/>
                          <a:cs typeface="Alibaba PuHuiTi" pitchFamily="18" charset="-122"/>
                        </a:rPr>
                        <a:t>1993</a:t>
                      </a:r>
                      <a:endParaRPr lang="en-US" altLang="zh-CN" sz="1600" dirty="0">
                        <a:effectLst/>
                        <a:latin typeface="Alibaba PuHuiTi" pitchFamily="18" charset="-122"/>
                        <a:ea typeface="Alibaba PuHuiTi" pitchFamily="18" charset="-122"/>
                        <a:cs typeface="Alibaba PuHuiTi" pitchFamily="18" charset="-122"/>
                      </a:endParaRPr>
                    </a:p>
                  </a:txBody>
                  <a:tcPr marL="96597" marR="96597" marT="44583" marB="4458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lnSpc>
                          <a:spcPct val="150000"/>
                        </a:lnSpc>
                      </a:pPr>
                      <a:r>
                        <a:rPr lang="zh-CN" altLang="en-US" sz="1600" dirty="0">
                          <a:effectLst/>
                          <a:latin typeface="Alibaba PuHuiTi" pitchFamily="18" charset="-122"/>
                          <a:ea typeface="Alibaba PuHuiTi" pitchFamily="18" charset="-122"/>
                          <a:cs typeface="Alibaba PuHuiTi" pitchFamily="18" charset="-122"/>
                        </a:rPr>
                        <a:t>信息增益率</a:t>
                      </a:r>
                      <a:endParaRPr lang="zh-CN" altLang="en-US" sz="1600" dirty="0">
                        <a:effectLst/>
                        <a:latin typeface="Alibaba PuHuiTi" pitchFamily="18" charset="-122"/>
                        <a:ea typeface="Alibaba PuHuiTi" pitchFamily="18" charset="-122"/>
                        <a:cs typeface="Alibaba PuHuiTi" pitchFamily="18" charset="-122"/>
                      </a:endParaRPr>
                    </a:p>
                  </a:txBody>
                  <a:tcPr marL="96597" marR="96597" marT="44583" marB="4458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nSpc>
                          <a:spcPct val="150000"/>
                        </a:lnSpc>
                      </a:pPr>
                      <a:r>
                        <a:rPr lang="en-US" altLang="zh-CN" sz="1600" dirty="0">
                          <a:effectLst/>
                          <a:latin typeface="Alibaba PuHuiTi" pitchFamily="18" charset="-122"/>
                          <a:ea typeface="Alibaba PuHuiTi" pitchFamily="18" charset="-122"/>
                          <a:cs typeface="Alibaba PuHuiTi" pitchFamily="18" charset="-122"/>
                        </a:rPr>
                        <a:t>1.</a:t>
                      </a:r>
                      <a:r>
                        <a:rPr lang="zh-CN" altLang="en-US" sz="1600" dirty="0">
                          <a:effectLst/>
                          <a:latin typeface="Alibaba PuHuiTi" pitchFamily="18" charset="-122"/>
                          <a:ea typeface="Alibaba PuHuiTi" pitchFamily="18" charset="-122"/>
                          <a:cs typeface="Alibaba PuHuiTi" pitchFamily="18" charset="-122"/>
                        </a:rPr>
                        <a:t>缓解了</a:t>
                      </a:r>
                      <a:r>
                        <a:rPr lang="en-GB" sz="1600" dirty="0">
                          <a:effectLst/>
                          <a:latin typeface="Alibaba PuHuiTi" pitchFamily="18" charset="-122"/>
                          <a:ea typeface="Alibaba PuHuiTi" pitchFamily="18" charset="-122"/>
                          <a:cs typeface="Alibaba PuHuiTi" pitchFamily="18" charset="-122"/>
                        </a:rPr>
                        <a:t>ID3</a:t>
                      </a:r>
                      <a:r>
                        <a:rPr lang="zh-CN" altLang="en-US" sz="1600" dirty="0">
                          <a:effectLst/>
                          <a:latin typeface="Alibaba PuHuiTi" pitchFamily="18" charset="-122"/>
                          <a:ea typeface="Alibaba PuHuiTi" pitchFamily="18" charset="-122"/>
                          <a:cs typeface="Alibaba PuHuiTi" pitchFamily="18" charset="-122"/>
                        </a:rPr>
                        <a:t>分支过程中总喜欢</a:t>
                      </a:r>
                      <a:r>
                        <a:rPr lang="zh-CN" altLang="en-US" sz="1600" dirty="0">
                          <a:solidFill>
                            <a:schemeClr val="tx1"/>
                          </a:solidFill>
                          <a:effectLst/>
                          <a:latin typeface="Alibaba PuHuiTi" pitchFamily="18" charset="-122"/>
                          <a:ea typeface="Alibaba PuHuiTi" pitchFamily="18" charset="-122"/>
                          <a:cs typeface="Alibaba PuHuiTi" pitchFamily="18" charset="-122"/>
                        </a:rPr>
                        <a:t>偏向选择值较多的属性</a:t>
                      </a:r>
                      <a:endParaRPr lang="en-US" altLang="zh-CN" sz="1600" dirty="0">
                        <a:solidFill>
                          <a:schemeClr val="tx1"/>
                        </a:solidFill>
                        <a:effectLst/>
                        <a:latin typeface="Alibaba PuHuiTi" pitchFamily="18" charset="-122"/>
                        <a:ea typeface="Alibaba PuHuiTi" pitchFamily="18" charset="-122"/>
                        <a:cs typeface="Alibaba PuHuiTi" pitchFamily="18" charset="-122"/>
                      </a:endParaRPr>
                    </a:p>
                    <a:p>
                      <a:pPr>
                        <a:lnSpc>
                          <a:spcPct val="150000"/>
                        </a:lnSpc>
                      </a:pPr>
                      <a:r>
                        <a:rPr lang="en-US" altLang="zh-CN" sz="1600" dirty="0">
                          <a:solidFill>
                            <a:schemeClr val="tx1"/>
                          </a:solidFill>
                          <a:effectLst/>
                          <a:latin typeface="Alibaba PuHuiTi" pitchFamily="18" charset="-122"/>
                          <a:ea typeface="Alibaba PuHuiTi" pitchFamily="18" charset="-122"/>
                          <a:cs typeface="Alibaba PuHuiTi" pitchFamily="18" charset="-122"/>
                        </a:rPr>
                        <a:t>2.</a:t>
                      </a:r>
                      <a:r>
                        <a:rPr lang="zh-CN" altLang="en-US" sz="1600" dirty="0">
                          <a:solidFill>
                            <a:schemeClr val="tx1"/>
                          </a:solidFill>
                          <a:latin typeface="Alibaba PuHuiTi" pitchFamily="18" charset="-122"/>
                          <a:ea typeface="Alibaba PuHuiTi" pitchFamily="18" charset="-122"/>
                          <a:cs typeface="Alibaba PuHuiTi" pitchFamily="18" charset="-122"/>
                        </a:rPr>
                        <a:t>可处理连续数值型属性，也增加了对缺失值的处理方法</a:t>
                      </a:r>
                      <a:endParaRPr lang="en-US" altLang="zh-CN" sz="1600" dirty="0">
                        <a:solidFill>
                          <a:schemeClr val="tx1"/>
                        </a:solidFill>
                        <a:latin typeface="Alibaba PuHuiTi" pitchFamily="18" charset="-122"/>
                        <a:ea typeface="Alibaba PuHuiTi" pitchFamily="18" charset="-122"/>
                        <a:cs typeface="Alibaba PuHuiTi" pitchFamily="18" charset="-122"/>
                      </a:endParaRPr>
                    </a:p>
                    <a:p>
                      <a:pPr>
                        <a:lnSpc>
                          <a:spcPct val="150000"/>
                        </a:lnSpc>
                      </a:pPr>
                      <a:r>
                        <a:rPr lang="en-US" altLang="zh-CN" sz="1600" dirty="0">
                          <a:solidFill>
                            <a:schemeClr val="tx1"/>
                          </a:solidFill>
                          <a:latin typeface="Alibaba PuHuiTi" pitchFamily="18" charset="-122"/>
                          <a:ea typeface="Alibaba PuHuiTi" pitchFamily="18" charset="-122"/>
                          <a:cs typeface="Alibaba PuHuiTi" pitchFamily="18" charset="-122"/>
                        </a:rPr>
                        <a:t>3.</a:t>
                      </a:r>
                      <a:r>
                        <a:rPr lang="zh-CN" altLang="en-US" sz="1600" b="0" i="0" u="none" strike="noStrike" dirty="0">
                          <a:solidFill>
                            <a:schemeClr val="tx1"/>
                          </a:solidFill>
                          <a:effectLst/>
                          <a:latin typeface="Alibaba PuHuiTi" pitchFamily="18" charset="-122"/>
                          <a:ea typeface="Alibaba PuHuiTi" pitchFamily="18" charset="-122"/>
                          <a:cs typeface="Alibaba PuHuiTi" pitchFamily="18" charset="-122"/>
                        </a:rPr>
                        <a:t>只适合于能够驻留于内存的数据集</a:t>
                      </a:r>
                      <a:r>
                        <a:rPr lang="en-US" altLang="zh-CN" sz="1600" b="0" i="0" u="none" strike="noStrike" dirty="0">
                          <a:solidFill>
                            <a:schemeClr val="tx1"/>
                          </a:solidFill>
                          <a:effectLst/>
                          <a:latin typeface="Alibaba PuHuiTi" pitchFamily="18" charset="-122"/>
                          <a:ea typeface="Alibaba PuHuiTi" pitchFamily="18" charset="-122"/>
                          <a:cs typeface="Alibaba PuHuiTi" pitchFamily="18" charset="-122"/>
                        </a:rPr>
                        <a:t>,</a:t>
                      </a:r>
                      <a:r>
                        <a:rPr lang="zh-CN" altLang="en-US" sz="1600" b="0" i="0" u="none" strike="noStrike" dirty="0">
                          <a:solidFill>
                            <a:schemeClr val="tx1"/>
                          </a:solidFill>
                          <a:effectLst/>
                          <a:latin typeface="Alibaba PuHuiTi" pitchFamily="18" charset="-122"/>
                          <a:ea typeface="Alibaba PuHuiTi" pitchFamily="18" charset="-122"/>
                          <a:cs typeface="Alibaba PuHuiTi" pitchFamily="18" charset="-122"/>
                        </a:rPr>
                        <a:t>大数据集无能为力</a:t>
                      </a:r>
                      <a:endParaRPr lang="en-US" altLang="zh-CN" sz="1600" dirty="0">
                        <a:solidFill>
                          <a:schemeClr val="tx1"/>
                        </a:solidFill>
                        <a:latin typeface="Alibaba PuHuiTi" pitchFamily="18" charset="-122"/>
                        <a:ea typeface="Alibaba PuHuiTi" pitchFamily="18" charset="-122"/>
                        <a:cs typeface="Alibaba PuHuiTi" pitchFamily="18" charset="-122"/>
                      </a:endParaRPr>
                    </a:p>
                    <a:p>
                      <a:pPr>
                        <a:lnSpc>
                          <a:spcPct val="150000"/>
                        </a:lnSpc>
                      </a:pPr>
                      <a:endParaRPr lang="zh-CN" altLang="en-US" sz="1600" dirty="0">
                        <a:solidFill>
                          <a:schemeClr val="accent2">
                            <a:lumMod val="75000"/>
                          </a:schemeClr>
                        </a:solidFill>
                        <a:effectLst/>
                        <a:latin typeface="Alibaba PuHuiTi" pitchFamily="18" charset="-122"/>
                        <a:ea typeface="Alibaba PuHuiTi" pitchFamily="18" charset="-122"/>
                        <a:cs typeface="Alibaba PuHuiTi" pitchFamily="18" charset="-122"/>
                      </a:endParaRPr>
                    </a:p>
                  </a:txBody>
                  <a:tcPr marL="96597" marR="96597" marT="44583" marB="4458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890449">
                <a:tc>
                  <a:txBody>
                    <a:bodyPr/>
                    <a:lstStyle/>
                    <a:p>
                      <a:pPr algn="ctr">
                        <a:lnSpc>
                          <a:spcPct val="150000"/>
                        </a:lnSpc>
                      </a:pPr>
                      <a:r>
                        <a:rPr lang="en-GB" sz="1600" dirty="0">
                          <a:effectLst/>
                          <a:latin typeface="Alibaba PuHuiTi" pitchFamily="18" charset="-122"/>
                          <a:ea typeface="Alibaba PuHuiTi" pitchFamily="18" charset="-122"/>
                          <a:cs typeface="Alibaba PuHuiTi" pitchFamily="18" charset="-122"/>
                        </a:rPr>
                        <a:t>CART</a:t>
                      </a:r>
                      <a:endParaRPr lang="en-GB" sz="1600" dirty="0">
                        <a:effectLst/>
                        <a:latin typeface="Alibaba PuHuiTi" pitchFamily="18" charset="-122"/>
                        <a:ea typeface="Alibaba PuHuiTi" pitchFamily="18" charset="-122"/>
                        <a:cs typeface="Alibaba PuHuiTi" pitchFamily="18" charset="-122"/>
                      </a:endParaRPr>
                    </a:p>
                  </a:txBody>
                  <a:tcPr marL="96597" marR="96597" marT="44583" marB="44583"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lnSpc>
                          <a:spcPct val="150000"/>
                        </a:lnSpc>
                      </a:pPr>
                      <a:r>
                        <a:rPr lang="en-US" altLang="zh-CN" sz="1600">
                          <a:effectLst/>
                          <a:latin typeface="Alibaba PuHuiTi" pitchFamily="18" charset="-122"/>
                          <a:ea typeface="Alibaba PuHuiTi" pitchFamily="18" charset="-122"/>
                          <a:cs typeface="Alibaba PuHuiTi" pitchFamily="18" charset="-122"/>
                        </a:rPr>
                        <a:t>1984</a:t>
                      </a:r>
                      <a:endParaRPr lang="en-US" altLang="zh-CN" sz="1600">
                        <a:effectLst/>
                        <a:latin typeface="Alibaba PuHuiTi" pitchFamily="18" charset="-122"/>
                        <a:ea typeface="Alibaba PuHuiTi" pitchFamily="18" charset="-122"/>
                        <a:cs typeface="Alibaba PuHuiTi" pitchFamily="18" charset="-122"/>
                      </a:endParaRPr>
                    </a:p>
                  </a:txBody>
                  <a:tcPr marL="96597" marR="96597" marT="44583" marB="4458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lnSpc>
                          <a:spcPct val="150000"/>
                        </a:lnSpc>
                      </a:pPr>
                      <a:r>
                        <a:rPr lang="zh-CN" altLang="en-US" sz="1600" dirty="0">
                          <a:effectLst/>
                          <a:latin typeface="Alibaba PuHuiTi" pitchFamily="18" charset="-122"/>
                          <a:ea typeface="Alibaba PuHuiTi" pitchFamily="18" charset="-122"/>
                          <a:cs typeface="Alibaba PuHuiTi" pitchFamily="18" charset="-122"/>
                        </a:rPr>
                        <a:t>基尼指数</a:t>
                      </a:r>
                      <a:endParaRPr lang="zh-CN" altLang="en-US" sz="1600" dirty="0">
                        <a:effectLst/>
                        <a:latin typeface="Alibaba PuHuiTi" pitchFamily="18" charset="-122"/>
                        <a:ea typeface="Alibaba PuHuiTi" pitchFamily="18" charset="-122"/>
                        <a:cs typeface="Alibaba PuHuiTi" pitchFamily="18" charset="-122"/>
                      </a:endParaRPr>
                    </a:p>
                  </a:txBody>
                  <a:tcPr marL="96597" marR="96597" marT="44583" marB="4458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nSpc>
                          <a:spcPct val="150000"/>
                        </a:lnSpc>
                      </a:pPr>
                      <a:r>
                        <a:rPr lang="en-US" altLang="zh-CN" sz="1600" dirty="0">
                          <a:solidFill>
                            <a:schemeClr val="tx1"/>
                          </a:solidFill>
                          <a:effectLst/>
                          <a:latin typeface="Alibaba PuHuiTi" pitchFamily="18" charset="-122"/>
                          <a:ea typeface="Alibaba PuHuiTi" pitchFamily="18" charset="-122"/>
                          <a:cs typeface="Alibaba PuHuiTi" pitchFamily="18" charset="-122"/>
                        </a:rPr>
                        <a:t>1.</a:t>
                      </a:r>
                      <a:r>
                        <a:rPr lang="zh-CN" altLang="en-US" sz="1600" dirty="0">
                          <a:solidFill>
                            <a:schemeClr val="tx1"/>
                          </a:solidFill>
                          <a:effectLst/>
                          <a:latin typeface="Alibaba PuHuiTi" pitchFamily="18" charset="-122"/>
                          <a:ea typeface="Alibaba PuHuiTi" pitchFamily="18" charset="-122"/>
                          <a:cs typeface="Alibaba PuHuiTi" pitchFamily="18" charset="-122"/>
                        </a:rPr>
                        <a:t>可以进行分类和回归，可处理离散属性，也可以处理连续属性</a:t>
                      </a:r>
                      <a:endParaRPr lang="en-US" altLang="zh-CN" sz="1600" dirty="0">
                        <a:solidFill>
                          <a:schemeClr val="tx1"/>
                        </a:solidFill>
                        <a:effectLst/>
                        <a:latin typeface="Alibaba PuHuiTi" pitchFamily="18" charset="-122"/>
                        <a:ea typeface="Alibaba PuHuiTi" pitchFamily="18" charset="-122"/>
                        <a:cs typeface="Alibaba PuHuiTi" pitchFamily="18" charset="-122"/>
                      </a:endParaRPr>
                    </a:p>
                    <a:p>
                      <a:pPr>
                        <a:lnSpc>
                          <a:spcPct val="150000"/>
                        </a:lnSpc>
                      </a:pPr>
                      <a:r>
                        <a:rPr lang="en-US" altLang="zh-CN" sz="1600" dirty="0">
                          <a:solidFill>
                            <a:schemeClr val="tx1"/>
                          </a:solidFill>
                          <a:effectLst/>
                          <a:latin typeface="Alibaba PuHuiTi" pitchFamily="18" charset="-122"/>
                          <a:ea typeface="Alibaba PuHuiTi" pitchFamily="18" charset="-122"/>
                          <a:cs typeface="Alibaba PuHuiTi" pitchFamily="18" charset="-122"/>
                        </a:rPr>
                        <a:t>2.</a:t>
                      </a:r>
                      <a:r>
                        <a:rPr lang="zh-CN" altLang="en-US" sz="1600" dirty="0">
                          <a:solidFill>
                            <a:schemeClr val="tx1"/>
                          </a:solidFill>
                          <a:effectLst/>
                          <a:latin typeface="Alibaba PuHuiTi" pitchFamily="18" charset="-122"/>
                          <a:ea typeface="Alibaba PuHuiTi" pitchFamily="18" charset="-122"/>
                          <a:cs typeface="Alibaba PuHuiTi" pitchFamily="18" charset="-122"/>
                        </a:rPr>
                        <a:t>采用基尼指数，计算量减小</a:t>
                      </a:r>
                      <a:endParaRPr lang="en-US" altLang="zh-CN" sz="1600" dirty="0">
                        <a:solidFill>
                          <a:schemeClr val="tx1"/>
                        </a:solidFill>
                        <a:effectLst/>
                        <a:latin typeface="Alibaba PuHuiTi" pitchFamily="18" charset="-122"/>
                        <a:ea typeface="Alibaba PuHuiTi" pitchFamily="18" charset="-122"/>
                        <a:cs typeface="Alibaba PuHuiTi" pitchFamily="18" charset="-122"/>
                      </a:endParaRPr>
                    </a:p>
                    <a:p>
                      <a:pPr marL="0" marR="0" lvl="0" indent="0" algn="l" defTabSz="1219200" rtl="0" eaLnBrk="1" fontAlgn="auto" latinLnBrk="0" hangingPunct="1">
                        <a:lnSpc>
                          <a:spcPct val="150000"/>
                        </a:lnSpc>
                        <a:spcBef>
                          <a:spcPts val="0"/>
                        </a:spcBef>
                        <a:spcAft>
                          <a:spcPts val="0"/>
                        </a:spcAft>
                        <a:buClrTx/>
                        <a:buSzTx/>
                        <a:buFontTx/>
                        <a:buNone/>
                        <a:defRPr/>
                      </a:pPr>
                      <a:r>
                        <a:rPr lang="en-US" altLang="zh-CN" sz="1600" dirty="0">
                          <a:solidFill>
                            <a:schemeClr val="tx1"/>
                          </a:solidFill>
                          <a:effectLst/>
                          <a:latin typeface="Alibaba PuHuiTi" pitchFamily="18" charset="-122"/>
                          <a:ea typeface="Alibaba PuHuiTi" pitchFamily="18" charset="-122"/>
                          <a:cs typeface="Alibaba PuHuiTi" pitchFamily="18" charset="-122"/>
                        </a:rPr>
                        <a:t>3.</a:t>
                      </a:r>
                      <a:r>
                        <a:rPr kumimoji="0" lang="zh-CN" altLang="en-US" sz="16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rPr>
                        <a:t>一定是二叉树</a:t>
                      </a:r>
                      <a:endParaRPr kumimoji="0" lang="zh-CN" altLang="en-US" sz="16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endParaRPr>
                    </a:p>
                  </a:txBody>
                  <a:tcPr marL="96597" marR="96597" marT="44583" marB="4458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kumimoji="1" lang="en-US" altLang="zh-CN" dirty="0"/>
              <a:t>CART</a:t>
            </a:r>
            <a:r>
              <a:rPr kumimoji="1" lang="zh-CN" altLang="en-US" dirty="0"/>
              <a:t>决策树的作用？</a:t>
            </a:r>
            <a:endParaRPr kumimoji="1" lang="en-US" altLang="zh-CN" dirty="0"/>
          </a:p>
          <a:p>
            <a:pPr marL="0" indent="0">
              <a:buNone/>
            </a:pPr>
            <a:r>
              <a:rPr kumimoji="1" lang="zh-CN" altLang="en-US" dirty="0"/>
              <a:t>分类和回归</a:t>
            </a:r>
            <a:endParaRPr kumimoji="1" lang="en-US" altLang="zh-CN" dirty="0"/>
          </a:p>
          <a:p>
            <a:pPr marL="0" indent="0">
              <a:buNone/>
            </a:pPr>
            <a:r>
              <a:rPr kumimoji="1" lang="en-US" altLang="zh-CN" dirty="0"/>
              <a:t>2.</a:t>
            </a:r>
            <a:r>
              <a:rPr kumimoji="1" lang="zh-CN" altLang="en-US" dirty="0"/>
              <a:t> 基尼指数的作用？</a:t>
            </a:r>
            <a:endParaRPr kumimoji="1" lang="en-US" altLang="zh-CN" dirty="0"/>
          </a:p>
          <a:p>
            <a:pPr marL="0" indent="0">
              <a:buNone/>
            </a:pPr>
            <a:r>
              <a:rPr kumimoji="1" lang="zh-CN" altLang="en-US" dirty="0"/>
              <a:t>特征筛选，</a:t>
            </a:r>
            <a:r>
              <a:rPr lang="zh-CN" altLang="en-US" b="0" i="0" u="none" strike="noStrike" dirty="0">
                <a:solidFill>
                  <a:srgbClr val="333333"/>
                </a:solidFill>
                <a:effectLst/>
                <a:latin typeface="Open Sans" panose="020B0606030504020204" pitchFamily="34" charset="0"/>
              </a:rPr>
              <a:t>基尼指数值越小</a:t>
            </a:r>
            <a:r>
              <a:rPr lang="zh-CN" altLang="en-GB" b="0" i="0" u="none" strike="noStrike" dirty="0">
                <a:solidFill>
                  <a:srgbClr val="333333"/>
                </a:solidFill>
                <a:effectLst/>
                <a:latin typeface="Open Sans" panose="020B0606030504020204" pitchFamily="34" charset="0"/>
              </a:rPr>
              <a:t>，</a:t>
            </a:r>
            <a:r>
              <a:rPr lang="zh-CN" altLang="en-US" b="0" i="0" u="none" strike="noStrike" dirty="0">
                <a:solidFill>
                  <a:srgbClr val="333333"/>
                </a:solidFill>
                <a:effectLst/>
                <a:latin typeface="Open Sans" panose="020B0606030504020204" pitchFamily="34" charset="0"/>
              </a:rPr>
              <a:t>则说明优先选择该特征。</a:t>
            </a:r>
            <a:endParaRPr kumimoji="1" lang="en-US" altLang="zh-CN" dirty="0"/>
          </a:p>
          <a:p>
            <a:endParaRPr kumimoji="1"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01 (82)"/>
          <p:cNvPicPr>
            <a:picLocks noChangeAspect="1"/>
          </p:cNvPicPr>
          <p:nvPr/>
        </p:nvPicPr>
        <p:blipFill>
          <a:blip r:embed="rId1"/>
          <a:stretch>
            <a:fillRect/>
          </a:stretch>
        </p:blipFill>
        <p:spPr>
          <a:xfrm>
            <a:off x="9592920" y="5398066"/>
            <a:ext cx="1481455" cy="1481455"/>
          </a:xfrm>
          <a:prstGeom prst="rect">
            <a:avLst/>
          </a:prstGeom>
        </p:spPr>
      </p:pic>
      <p:sp>
        <p:nvSpPr>
          <p:cNvPr id="2" name="文本框 1"/>
          <p:cNvSpPr txBox="1"/>
          <p:nvPr/>
        </p:nvSpPr>
        <p:spPr>
          <a:xfrm>
            <a:off x="2570753" y="1565972"/>
            <a:ext cx="3084499" cy="307777"/>
          </a:xfrm>
          <a:prstGeom prst="rect">
            <a:avLst/>
          </a:prstGeom>
          <a:noFill/>
        </p:spPr>
        <p:txBody>
          <a:bodyPr wrap="none" rtlCol="0">
            <a:spAutoFit/>
          </a:bodyPr>
          <a:lstStyle/>
          <a:p>
            <a:pPr fontAlgn="auto">
              <a:spcBef>
                <a:spcPts val="0"/>
              </a:spcBef>
              <a:spcAft>
                <a:spcPts val="0"/>
              </a:spcAft>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1</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、下列关于</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cart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树的说法正确的是？</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6" name="矩形 5"/>
          <p:cNvSpPr/>
          <p:nvPr/>
        </p:nvSpPr>
        <p:spPr>
          <a:xfrm>
            <a:off x="3319997" y="2045027"/>
            <a:ext cx="5040560" cy="1750864"/>
          </a:xfrm>
          <a:prstGeom prst="rect">
            <a:avLst/>
          </a:prstGeom>
        </p:spPr>
        <p:txBody>
          <a:bodyPr wrap="square">
            <a:spAutoFit/>
          </a:bodyPr>
          <a:lstStyle/>
          <a:p>
            <a:pPr>
              <a:lnSpc>
                <a:spcPct val="200000"/>
              </a:lnSpc>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A</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）基尼指数值越大</a:t>
            </a:r>
            <a:r>
              <a:rPr lang="zh-CN" altLang="en-GB" sz="140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则说明优先选择该特征</a:t>
            </a: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endParaRPr>
          </a:p>
          <a:p>
            <a:pPr>
              <a:lnSpc>
                <a:spcPct val="200000"/>
              </a:lnSpc>
            </a:pPr>
            <a:r>
              <a:rPr lang="en-US" altLang="zh-CN" sz="1400" b="1" dirty="0">
                <a:solidFill>
                  <a:schemeClr val="tx1">
                    <a:lumMod val="85000"/>
                    <a:lumOff val="15000"/>
                  </a:schemeClr>
                </a:solidFill>
                <a:latin typeface="微软雅黑" panose="020B0503020204020204" pitchFamily="34" charset="-122"/>
                <a:ea typeface="微软雅黑" panose="020B0503020204020204" pitchFamily="34" charset="-122"/>
              </a:rPr>
              <a:t>B</a:t>
            </a:r>
            <a:r>
              <a:rPr lang="zh-CN" altLang="en-US" sz="1400" b="1"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基尼指数是</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CART</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算法中用于划分属性的重要依据</a:t>
            </a: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endParaRPr>
          </a:p>
          <a:p>
            <a:pPr>
              <a:lnSpc>
                <a:spcPct val="200000"/>
              </a:lnSpc>
            </a:pPr>
            <a:r>
              <a:rPr lang="en-US" altLang="zh-CN" sz="1400" b="1" dirty="0">
                <a:solidFill>
                  <a:schemeClr val="tx1">
                    <a:lumMod val="85000"/>
                    <a:lumOff val="15000"/>
                  </a:schemeClr>
                </a:solidFill>
                <a:latin typeface="微软雅黑" panose="020B0503020204020204" pitchFamily="34" charset="-122"/>
                <a:ea typeface="微软雅黑" panose="020B0503020204020204" pitchFamily="34" charset="-122"/>
              </a:rPr>
              <a:t>C</a:t>
            </a:r>
            <a:r>
              <a:rPr lang="zh-CN" altLang="en-US" sz="1400" b="1"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基尼指数的计算使用到了自然对数</a:t>
            </a: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endParaRPr>
          </a:p>
          <a:p>
            <a:pPr>
              <a:lnSpc>
                <a:spcPct val="200000"/>
              </a:lnSpc>
            </a:pPr>
            <a:r>
              <a:rPr lang="en-US" altLang="zh-CN" sz="1400" b="1" dirty="0">
                <a:solidFill>
                  <a:schemeClr val="tx1">
                    <a:lumMod val="85000"/>
                    <a:lumOff val="15000"/>
                  </a:schemeClr>
                </a:solidFill>
                <a:latin typeface="微软雅黑" panose="020B0503020204020204" pitchFamily="34" charset="-122"/>
                <a:ea typeface="微软雅黑" panose="020B0503020204020204" pitchFamily="34" charset="-122"/>
              </a:rPr>
              <a:t>D</a:t>
            </a:r>
            <a:r>
              <a:rPr lang="zh-CN" altLang="en-US" sz="1400" b="1" dirty="0">
                <a:solidFill>
                  <a:schemeClr val="tx1">
                    <a:lumMod val="85000"/>
                    <a:lumOff val="15000"/>
                  </a:schemeClr>
                </a:solidFill>
                <a:latin typeface="微软雅黑" panose="020B0503020204020204" pitchFamily="34" charset="-122"/>
                <a:ea typeface="微软雅黑" panose="020B0503020204020204" pitchFamily="34" charset="-122"/>
              </a:rPr>
              <a:t>）</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CART</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算法不能用于回归场景</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507566" y="5138139"/>
            <a:ext cx="1218603" cy="307777"/>
          </a:xfrm>
          <a:prstGeom prst="rect">
            <a:avLst/>
          </a:prstGeom>
          <a:noFill/>
        </p:spPr>
        <p:txBody>
          <a:bodyPr wrap="none" rtlCol="0">
            <a:spAutoFit/>
          </a:bodyPr>
          <a:lstStyle/>
          <a:p>
            <a:pPr fontAlgn="auto">
              <a:spcBef>
                <a:spcPts val="0"/>
              </a:spcBef>
              <a:spcAft>
                <a:spcPts val="0"/>
              </a:spcAft>
            </a:pP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答案：</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	B</a:t>
            </a:r>
            <a:endParaRPr lang="zh-CN" altLang="en-US" sz="1400" dirty="0">
              <a:solidFill>
                <a:schemeClr val="accent2">
                  <a:lumMod val="75000"/>
                </a:schemeClr>
              </a:solidFill>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517456" y="653270"/>
            <a:ext cx="6498629" cy="4983602"/>
          </a:xfrm>
        </p:spPr>
        <p:txBody>
          <a:bodyPr anchor="t"/>
          <a:lstStyle/>
          <a:p>
            <a:r>
              <a:rPr lang="zh-CN" altLang="en-US" sz="1800" dirty="0">
                <a:solidFill>
                  <a:schemeClr val="tx1"/>
                </a:solidFill>
                <a:latin typeface="Alibaba PuHuiTi" pitchFamily="18" charset="-122"/>
                <a:ea typeface="Alibaba PuHuiTi" pitchFamily="18" charset="-122"/>
                <a:cs typeface="Alibaba PuHuiTi" pitchFamily="18" charset="-122"/>
              </a:rPr>
              <a:t>决策树简介</a:t>
            </a:r>
            <a:endParaRPr lang="en-US" altLang="zh-CN" sz="1600" b="0" dirty="0">
              <a:solidFill>
                <a:schemeClr val="tx1"/>
              </a:solidFill>
              <a:latin typeface="Alibaba PuHuiTi" pitchFamily="18" charset="-122"/>
              <a:ea typeface="Alibaba PuHuiTi" pitchFamily="18" charset="-122"/>
              <a:cs typeface="Alibaba PuHuiTi" pitchFamily="18" charset="-122"/>
            </a:endParaRPr>
          </a:p>
          <a:p>
            <a:r>
              <a:rPr lang="en-US" altLang="zh-CN" sz="1800" dirty="0">
                <a:solidFill>
                  <a:schemeClr val="tx1"/>
                </a:solidFill>
                <a:latin typeface="Alibaba PuHuiTi" pitchFamily="18" charset="-122"/>
                <a:ea typeface="Alibaba PuHuiTi" pitchFamily="18" charset="-122"/>
                <a:cs typeface="Alibaba PuHuiTi" pitchFamily="18" charset="-122"/>
              </a:rPr>
              <a:t>ID3</a:t>
            </a:r>
            <a:r>
              <a:rPr lang="zh-CN" altLang="en-US" sz="1800" dirty="0">
                <a:solidFill>
                  <a:schemeClr val="tx1"/>
                </a:solidFill>
                <a:latin typeface="Alibaba PuHuiTi" pitchFamily="18" charset="-122"/>
                <a:ea typeface="Alibaba PuHuiTi" pitchFamily="18" charset="-122"/>
                <a:cs typeface="Alibaba PuHuiTi" pitchFamily="18" charset="-122"/>
              </a:rPr>
              <a:t>决策树 </a:t>
            </a:r>
            <a:endParaRPr lang="en-US" altLang="zh-CN" sz="1800" dirty="0">
              <a:solidFill>
                <a:schemeClr val="tx1"/>
              </a:solidFill>
              <a:latin typeface="Alibaba PuHuiTi" pitchFamily="18" charset="-122"/>
              <a:ea typeface="Alibaba PuHuiTi" pitchFamily="18" charset="-122"/>
              <a:cs typeface="Alibaba PuHuiTi" pitchFamily="18" charset="-122"/>
            </a:endParaRPr>
          </a:p>
          <a:p>
            <a:r>
              <a:rPr kumimoji="1" lang="en-US" altLang="zh-CN" sz="1800" dirty="0">
                <a:solidFill>
                  <a:schemeClr val="tx1"/>
                </a:solidFill>
                <a:latin typeface="Alibaba PuHuiTi" pitchFamily="18" charset="-122"/>
                <a:ea typeface="Alibaba PuHuiTi" pitchFamily="18" charset="-122"/>
                <a:cs typeface="Alibaba PuHuiTi" pitchFamily="18" charset="-122"/>
              </a:rPr>
              <a:t>C4.5</a:t>
            </a:r>
            <a:r>
              <a:rPr kumimoji="1" lang="zh-CN" altLang="en-US" sz="1800" dirty="0">
                <a:solidFill>
                  <a:schemeClr val="tx1"/>
                </a:solidFill>
                <a:latin typeface="Alibaba PuHuiTi" pitchFamily="18" charset="-122"/>
                <a:ea typeface="Alibaba PuHuiTi" pitchFamily="18" charset="-122"/>
                <a:cs typeface="Alibaba PuHuiTi" pitchFamily="18" charset="-122"/>
              </a:rPr>
              <a:t>决策树</a:t>
            </a:r>
            <a:endParaRPr kumimoji="1" lang="zh-CN" altLang="en-US" sz="1600" b="0" dirty="0">
              <a:solidFill>
                <a:schemeClr val="tx1"/>
              </a:solidFill>
              <a:latin typeface="Alibaba PuHuiTi" pitchFamily="18" charset="-122"/>
              <a:ea typeface="Alibaba PuHuiTi" pitchFamily="18" charset="-122"/>
              <a:cs typeface="Alibaba PuHuiTi" pitchFamily="18" charset="-122"/>
            </a:endParaRPr>
          </a:p>
          <a:p>
            <a:r>
              <a:rPr kumimoji="1" lang="en-US" altLang="zh-CN" sz="1800" dirty="0">
                <a:solidFill>
                  <a:schemeClr val="tx1">
                    <a:lumMod val="85000"/>
                    <a:lumOff val="15000"/>
                  </a:schemeClr>
                </a:solidFill>
                <a:latin typeface="Alibaba PuHuiTi" pitchFamily="18" charset="-122"/>
                <a:ea typeface="Alibaba PuHuiTi" pitchFamily="18" charset="-122"/>
                <a:cs typeface="Alibaba PuHuiTi" pitchFamily="18" charset="-122"/>
              </a:rPr>
              <a:t>CART</a:t>
            </a:r>
            <a:r>
              <a:rPr kumimoji="1" lang="zh-CN" altLang="en-US" sz="1800" dirty="0">
                <a:solidFill>
                  <a:schemeClr val="tx1">
                    <a:lumMod val="85000"/>
                    <a:lumOff val="15000"/>
                  </a:schemeClr>
                </a:solidFill>
                <a:latin typeface="Alibaba PuHuiTi" pitchFamily="18" charset="-122"/>
                <a:ea typeface="Alibaba PuHuiTi" pitchFamily="18" charset="-122"/>
                <a:cs typeface="Alibaba PuHuiTi" pitchFamily="18" charset="-122"/>
              </a:rPr>
              <a:t>决策树</a:t>
            </a:r>
            <a:endParaRPr kumimoji="1" lang="en-US" altLang="zh-CN" sz="180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zh-CN" altLang="en-US" sz="1600" dirty="0">
                <a:solidFill>
                  <a:srgbClr val="FF0000"/>
                </a:solidFill>
                <a:latin typeface="Alibaba PuHuiTi" pitchFamily="18" charset="-122"/>
                <a:ea typeface="Alibaba PuHuiTi" pitchFamily="18" charset="-122"/>
                <a:cs typeface="Alibaba PuHuiTi" pitchFamily="18" charset="-122"/>
              </a:rPr>
              <a:t> 案例泰坦尼克号生存预测</a:t>
            </a:r>
            <a:r>
              <a:rPr kumimoji="1" lang="zh-CN" altLang="en-US" sz="1400" b="0" dirty="0">
                <a:solidFill>
                  <a:srgbClr val="FF0000"/>
                </a:solidFill>
                <a:latin typeface="Alibaba PuHuiTi" pitchFamily="18" charset="-122"/>
                <a:ea typeface="Alibaba PuHuiTi" pitchFamily="18" charset="-122"/>
                <a:cs typeface="Alibaba PuHuiTi" pitchFamily="18" charset="-122"/>
              </a:rPr>
              <a:t> </a:t>
            </a:r>
            <a:endParaRPr kumimoji="1" lang="en-US" altLang="zh-CN" sz="1600" b="0" dirty="0">
              <a:solidFill>
                <a:srgbClr val="FF0000"/>
              </a:solidFill>
              <a:latin typeface="Alibaba PuHuiTi" pitchFamily="18" charset="-122"/>
              <a:ea typeface="Alibaba PuHuiTi" pitchFamily="18" charset="-122"/>
              <a:cs typeface="Alibaba PuHuiTi" pitchFamily="18" charset="-122"/>
            </a:endParaRPr>
          </a:p>
          <a:p>
            <a:r>
              <a:rPr kumimoji="1" lang="en-US" altLang="zh-CN" sz="1800" dirty="0">
                <a:solidFill>
                  <a:schemeClr val="tx1">
                    <a:lumMod val="85000"/>
                    <a:lumOff val="15000"/>
                  </a:schemeClr>
                </a:solidFill>
                <a:latin typeface="Alibaba PuHuiTi" pitchFamily="18" charset="-122"/>
                <a:ea typeface="Alibaba PuHuiTi" pitchFamily="18" charset="-122"/>
                <a:cs typeface="Alibaba PuHuiTi" pitchFamily="18" charset="-122"/>
              </a:rPr>
              <a:t>CART</a:t>
            </a:r>
            <a:r>
              <a:rPr kumimoji="1" lang="zh-CN" altLang="en-US" sz="1800" dirty="0">
                <a:solidFill>
                  <a:schemeClr val="tx1">
                    <a:lumMod val="85000"/>
                    <a:lumOff val="15000"/>
                  </a:schemeClr>
                </a:solidFill>
                <a:latin typeface="Alibaba PuHuiTi" pitchFamily="18" charset="-122"/>
                <a:ea typeface="Alibaba PuHuiTi" pitchFamily="18" charset="-122"/>
                <a:cs typeface="Alibaba PuHuiTi" pitchFamily="18" charset="-122"/>
              </a:rPr>
              <a:t>回归树</a:t>
            </a:r>
            <a:endParaRPr kumimoji="1" lang="en-US" altLang="zh-CN" sz="180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lang="zh-CN" altLang="en-US" sz="1800" dirty="0">
                <a:solidFill>
                  <a:schemeClr val="tx1">
                    <a:lumMod val="85000"/>
                    <a:lumOff val="15000"/>
                  </a:schemeClr>
                </a:solidFill>
                <a:latin typeface="Alibaba PuHuiTi" pitchFamily="18" charset="-122"/>
                <a:ea typeface="Alibaba PuHuiTi" pitchFamily="18" charset="-122"/>
                <a:cs typeface="Alibaba PuHuiTi" pitchFamily="18" charset="-122"/>
              </a:rPr>
              <a:t>决策树剪枝</a:t>
            </a:r>
            <a:endParaRPr kumimoji="1" lang="en-US" altLang="zh-CN" sz="1800" b="0" dirty="0">
              <a:solidFill>
                <a:schemeClr val="tx1">
                  <a:lumMod val="85000"/>
                  <a:lumOff val="15000"/>
                </a:schemeClr>
              </a:solidFill>
              <a:latin typeface="Alibaba PuHuiTi" pitchFamily="18" charset="-122"/>
              <a:ea typeface="Alibaba PuHuiTi" pitchFamily="18" charset="-122"/>
              <a:cs typeface="Alibaba PuHuiTi" pitchFamily="18" charset="-122"/>
            </a:endParaRPr>
          </a:p>
          <a:p>
            <a:pPr lvl="1"/>
            <a:endParaRPr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638358" y="475651"/>
            <a:ext cx="6298881" cy="4855845"/>
          </a:xfrm>
        </p:spPr>
        <p:txBody>
          <a:bodyPr/>
          <a:lstStyle/>
          <a:p>
            <a:r>
              <a:rPr lang="zh-CN" altLang="en-US" dirty="0">
                <a:solidFill>
                  <a:schemeClr val="tx1">
                    <a:lumMod val="85000"/>
                    <a:lumOff val="15000"/>
                  </a:schemeClr>
                </a:solidFill>
              </a:rPr>
              <a:t>知道分类决策树</a:t>
            </a:r>
            <a:r>
              <a:rPr lang="en-US" altLang="zh-CN" dirty="0">
                <a:solidFill>
                  <a:schemeClr val="tx1">
                    <a:lumMod val="85000"/>
                    <a:lumOff val="15000"/>
                  </a:schemeClr>
                </a:solidFill>
              </a:rPr>
              <a:t>API</a:t>
            </a:r>
            <a:r>
              <a:rPr lang="zh-CN" altLang="en-US" dirty="0">
                <a:solidFill>
                  <a:schemeClr val="tx1">
                    <a:lumMod val="85000"/>
                    <a:lumOff val="15000"/>
                  </a:schemeClr>
                </a:solidFill>
              </a:rPr>
              <a:t>函数</a:t>
            </a:r>
            <a:endParaRPr lang="en-US" altLang="zh-CN" dirty="0">
              <a:solidFill>
                <a:schemeClr val="tx1">
                  <a:lumMod val="85000"/>
                  <a:lumOff val="15000"/>
                </a:schemeClr>
              </a:solidFill>
            </a:endParaRPr>
          </a:p>
          <a:p>
            <a:r>
              <a:rPr lang="zh-CN" altLang="en-US" dirty="0">
                <a:solidFill>
                  <a:schemeClr val="tx1">
                    <a:lumMod val="85000"/>
                    <a:lumOff val="15000"/>
                  </a:schemeClr>
                </a:solidFill>
              </a:rPr>
              <a:t>完成泰坦尼克号生存预测的案例</a:t>
            </a:r>
            <a:endParaRPr lang="en-US" altLang="zh-CN" dirty="0">
              <a:solidFill>
                <a:schemeClr val="tx1">
                  <a:lumMod val="85000"/>
                  <a:lumOff val="15000"/>
                </a:schemeClr>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CART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决策案例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泰坦尼克号乘客生存预测</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7" name="文本占位符 2"/>
          <p:cNvSpPr txBox="1"/>
          <p:nvPr/>
        </p:nvSpPr>
        <p:spPr>
          <a:xfrm>
            <a:off x="1133629" y="1349410"/>
            <a:ext cx="1982217"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GB" sz="16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决策树</a:t>
            </a:r>
            <a:r>
              <a:rPr kumimoji="0" lang="en-US" altLang="zh-CN" sz="16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API</a:t>
            </a:r>
            <a:r>
              <a:rPr kumimoji="0" lang="zh-CN" altLang="en-US" sz="16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介绍</a:t>
            </a:r>
            <a:endParaRPr kumimoji="0" lang="zh-CN" altLang="en-US" sz="16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
        <p:nvSpPr>
          <p:cNvPr id="13" name="文本框 12"/>
          <p:cNvSpPr txBox="1"/>
          <p:nvPr/>
        </p:nvSpPr>
        <p:spPr>
          <a:xfrm>
            <a:off x="1715587" y="2411928"/>
            <a:ext cx="8722143" cy="468975"/>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en-GB" altLang="zh-CN"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Criterion</a:t>
            </a:r>
            <a:r>
              <a:rPr kumimoji="0" lang="zh-CN" altLang="en-US"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zh-CN" altLang="en-US"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特征选择标准 </a:t>
            </a:r>
            <a:endParaRPr kumimoji="0" lang="en-US" altLang="zh-CN"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p:sp>
        <p:nvSpPr>
          <p:cNvPr id="4" name="文本框 3"/>
          <p:cNvSpPr txBox="1"/>
          <p:nvPr/>
        </p:nvSpPr>
        <p:spPr>
          <a:xfrm>
            <a:off x="1105990" y="1906432"/>
            <a:ext cx="11508043" cy="468975"/>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en-US" altLang="zh-CN"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class </a:t>
            </a:r>
            <a:r>
              <a:rPr kumimoji="0" lang="en-US" altLang="zh-CN" b="0" i="0" u="none" strike="noStrike" kern="1200" cap="none" spc="0" normalizeH="0" baseline="0" noProof="0" dirty="0" err="1">
                <a:ln>
                  <a:noFill/>
                </a:ln>
                <a:solidFill>
                  <a:prstClr val="black"/>
                </a:solidFill>
                <a:effectLst/>
                <a:uLnTx/>
                <a:uFillTx/>
                <a:latin typeface="Alibaba PuHuiTi" pitchFamily="18" charset="-122"/>
                <a:ea typeface="Alibaba PuHuiTi" pitchFamily="18" charset="-122"/>
                <a:cs typeface="Alibaba PuHuiTi" pitchFamily="18" charset="-122"/>
              </a:rPr>
              <a:t>sklearn.tree.DecisionTreeClassifier</a:t>
            </a:r>
            <a:r>
              <a:rPr kumimoji="0" lang="en-US" altLang="zh-CN"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(criterion=’</a:t>
            </a:r>
            <a:r>
              <a:rPr kumimoji="0" lang="en-US" altLang="zh-CN" b="0" i="0" u="none" strike="noStrike" kern="1200" cap="none" spc="0" normalizeH="0" baseline="0" noProof="0" dirty="0" err="1">
                <a:ln>
                  <a:noFill/>
                </a:ln>
                <a:solidFill>
                  <a:prstClr val="black"/>
                </a:solidFill>
                <a:effectLst/>
                <a:uLnTx/>
                <a:uFillTx/>
                <a:latin typeface="Alibaba PuHuiTi" pitchFamily="18" charset="-122"/>
                <a:ea typeface="Alibaba PuHuiTi" pitchFamily="18" charset="-122"/>
                <a:cs typeface="Alibaba PuHuiTi" pitchFamily="18" charset="-122"/>
              </a:rPr>
              <a:t>gini</a:t>
            </a:r>
            <a:r>
              <a:rPr kumimoji="0" lang="en-US" altLang="zh-CN"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 </a:t>
            </a:r>
            <a:r>
              <a:rPr kumimoji="0" lang="en-US" altLang="zh-CN" b="0" i="0" u="none" strike="noStrike" kern="1200" cap="none" spc="0" normalizeH="0" baseline="0" noProof="0" dirty="0" err="1">
                <a:ln>
                  <a:noFill/>
                </a:ln>
                <a:solidFill>
                  <a:prstClr val="black"/>
                </a:solidFill>
                <a:effectLst/>
                <a:uLnTx/>
                <a:uFillTx/>
                <a:latin typeface="Alibaba PuHuiTi" pitchFamily="18" charset="-122"/>
                <a:ea typeface="Alibaba PuHuiTi" pitchFamily="18" charset="-122"/>
                <a:cs typeface="Alibaba PuHuiTi" pitchFamily="18" charset="-122"/>
              </a:rPr>
              <a:t>max_depth</a:t>
            </a:r>
            <a:r>
              <a:rPr kumimoji="0" lang="en-US" altLang="zh-CN"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a:t>
            </a:r>
            <a:r>
              <a:rPr kumimoji="0" lang="en-US" altLang="zh-CN" b="0" i="0" u="none" strike="noStrike" kern="1200" cap="none" spc="0" normalizeH="0" baseline="0" noProof="0" dirty="0" err="1">
                <a:ln>
                  <a:noFill/>
                </a:ln>
                <a:solidFill>
                  <a:prstClr val="black"/>
                </a:solidFill>
                <a:effectLst/>
                <a:uLnTx/>
                <a:uFillTx/>
                <a:latin typeface="Alibaba PuHuiTi" pitchFamily="18" charset="-122"/>
                <a:ea typeface="Alibaba PuHuiTi" pitchFamily="18" charset="-122"/>
                <a:cs typeface="Alibaba PuHuiTi" pitchFamily="18" charset="-122"/>
              </a:rPr>
              <a:t>None,random_state</a:t>
            </a:r>
            <a:r>
              <a:rPr kumimoji="0" lang="en-US" altLang="zh-CN"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=None)</a:t>
            </a:r>
            <a:endParaRPr kumimoji="0" lang="zh-CN" altLang="en-US"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p:txBody>
      </p:sp>
      <p:sp>
        <p:nvSpPr>
          <p:cNvPr id="2" name="文本框 1"/>
          <p:cNvSpPr txBox="1"/>
          <p:nvPr/>
        </p:nvSpPr>
        <p:spPr>
          <a:xfrm>
            <a:off x="1785925" y="3689450"/>
            <a:ext cx="6771921" cy="468975"/>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en-GB" altLang="zh-CN" b="0" i="0" u="none" strike="noStrike" kern="1200" cap="none" spc="0" normalizeH="0" baseline="0" noProof="0" dirty="0" err="1">
                <a:ln>
                  <a:noFill/>
                </a:ln>
                <a:solidFill>
                  <a:prstClr val="black"/>
                </a:solidFill>
                <a:effectLst/>
                <a:uLnTx/>
                <a:uFillTx/>
                <a:latin typeface="Alibaba PuHuiTi" pitchFamily="18" charset="-122"/>
                <a:ea typeface="Alibaba PuHuiTi" pitchFamily="18" charset="-122"/>
                <a:cs typeface="Alibaba PuHuiTi" pitchFamily="18" charset="-122"/>
              </a:rPr>
              <a:t>min_samples_split</a:t>
            </a:r>
            <a:r>
              <a:rPr kumimoji="0" lang="zh-CN" altLang="en-US"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a:t>
            </a:r>
            <a:r>
              <a:rPr kumimoji="0" lang="zh-CN" altLang="en-US"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内部节点再划分所需最小样本数</a:t>
            </a:r>
            <a:endParaRPr kumimoji="0" lang="zh-CN" altLang="en-US"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p:sp>
        <p:nvSpPr>
          <p:cNvPr id="5" name="文本框 4"/>
          <p:cNvSpPr txBox="1"/>
          <p:nvPr/>
        </p:nvSpPr>
        <p:spPr>
          <a:xfrm>
            <a:off x="1785925" y="4246891"/>
            <a:ext cx="5706800" cy="468975"/>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en-GB" altLang="zh-CN" b="0" i="0" u="none" strike="noStrike" kern="1200" cap="none" spc="0" normalizeH="0" baseline="0" noProof="0" dirty="0" err="1">
                <a:ln>
                  <a:noFill/>
                </a:ln>
                <a:solidFill>
                  <a:prstClr val="black"/>
                </a:solidFill>
                <a:effectLst/>
                <a:uLnTx/>
                <a:uFillTx/>
                <a:latin typeface="Alibaba PuHuiTi" pitchFamily="18" charset="-122"/>
                <a:ea typeface="Alibaba PuHuiTi" pitchFamily="18" charset="-122"/>
                <a:cs typeface="Alibaba PuHuiTi" pitchFamily="18" charset="-122"/>
              </a:rPr>
              <a:t>min_samples_leaf</a:t>
            </a:r>
            <a:r>
              <a:rPr kumimoji="0" lang="zh-CN" altLang="en-US"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a:t>
            </a:r>
            <a:r>
              <a:rPr kumimoji="0" lang="zh-CN" altLang="en-US"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叶子节点最少样本数</a:t>
            </a:r>
            <a:endParaRPr kumimoji="0" lang="zh-CN" altLang="en-US"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p:sp>
        <p:nvSpPr>
          <p:cNvPr id="8" name="文本框 7"/>
          <p:cNvSpPr txBox="1"/>
          <p:nvPr/>
        </p:nvSpPr>
        <p:spPr>
          <a:xfrm>
            <a:off x="1830325" y="4966972"/>
            <a:ext cx="4728756" cy="468975"/>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en-GB" altLang="zh-CN" b="0" i="0" u="none" strike="noStrike" kern="1200" cap="none" spc="0" normalizeH="0" baseline="0" noProof="0" dirty="0" err="1">
                <a:ln>
                  <a:noFill/>
                </a:ln>
                <a:solidFill>
                  <a:prstClr val="black"/>
                </a:solidFill>
                <a:effectLst/>
                <a:uLnTx/>
                <a:uFillTx/>
                <a:latin typeface="Alibaba PuHuiTi" pitchFamily="18" charset="-122"/>
                <a:ea typeface="Alibaba PuHuiTi" pitchFamily="18" charset="-122"/>
                <a:cs typeface="Alibaba PuHuiTi" pitchFamily="18" charset="-122"/>
              </a:rPr>
              <a:t>max_depth</a:t>
            </a:r>
            <a:r>
              <a:rPr kumimoji="0" lang="zh-CN" altLang="en-US"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a:t>
            </a:r>
            <a:r>
              <a:rPr kumimoji="0" lang="zh-CN" altLang="en-US"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决策树最大深度</a:t>
            </a:r>
            <a:endParaRPr kumimoji="0" lang="zh-CN" altLang="en-US"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p:sp>
        <p:nvSpPr>
          <p:cNvPr id="9" name="文本框 8"/>
          <p:cNvSpPr txBox="1"/>
          <p:nvPr/>
        </p:nvSpPr>
        <p:spPr>
          <a:xfrm>
            <a:off x="2224492" y="2880903"/>
            <a:ext cx="9006215" cy="468975"/>
          </a:xfrm>
          <a:prstGeom prst="rect">
            <a:avLst/>
          </a:prstGeom>
          <a:noFill/>
        </p:spPr>
        <p:txBody>
          <a:bodyPr wrap="square">
            <a:spAutoFit/>
          </a:bodyPr>
          <a:lstStyle/>
          <a:p>
            <a:pPr marL="0" marR="0" lvl="1" indent="0" algn="l" defTabSz="914400" rtl="0" eaLnBrk="1" fontAlgn="auto" latinLnBrk="0" hangingPunct="1">
              <a:lnSpc>
                <a:spcPct val="150000"/>
              </a:lnSpc>
              <a:spcBef>
                <a:spcPts val="0"/>
              </a:spcBef>
              <a:spcAft>
                <a:spcPts val="0"/>
              </a:spcAft>
              <a:buClrTx/>
              <a:buSzTx/>
              <a:buFontTx/>
              <a:buNone/>
              <a:defRPr/>
            </a:pPr>
            <a:r>
              <a:rPr kumimoji="0" lang="en-US" altLang="zh-CN"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en-GB" altLang="zh-CN" b="0" i="0" u="none" strike="noStrike" kern="1200" cap="none" spc="0" normalizeH="0" baseline="0" noProof="0" dirty="0" err="1">
                <a:ln>
                  <a:noFill/>
                </a:ln>
                <a:solidFill>
                  <a:srgbClr val="333333"/>
                </a:solidFill>
                <a:effectLst/>
                <a:uLnTx/>
                <a:uFillTx/>
                <a:latin typeface="Alibaba PuHuiTi" pitchFamily="18" charset="-122"/>
                <a:ea typeface="Alibaba PuHuiTi" pitchFamily="18" charset="-122"/>
                <a:cs typeface="Alibaba PuHuiTi" pitchFamily="18" charset="-122"/>
              </a:rPr>
              <a:t>gini</a:t>
            </a:r>
            <a:r>
              <a:rPr kumimoji="0" lang="en-GB" altLang="zh-CN"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zh-CN" altLang="en-US"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或</a:t>
            </a:r>
            <a:r>
              <a:rPr kumimoji="0" lang="en-US" altLang="zh-CN"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en-GB" altLang="zh-CN"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entropy"</a:t>
            </a:r>
            <a:r>
              <a:rPr kumimoji="0" lang="zh-CN" altLang="en-GB"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zh-CN" altLang="en-US"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前者代表基尼系数，后者代表信息增益。默认</a:t>
            </a:r>
            <a:r>
              <a:rPr kumimoji="0" lang="en-US" altLang="zh-CN" b="0" i="0" u="none" strike="noStrike" kern="1200" cap="none" spc="0" normalizeH="0" baseline="0" noProof="0" dirty="0">
                <a:ln>
                  <a:noFill/>
                </a:ln>
                <a:solidFill>
                  <a:srgbClr val="B60206"/>
                </a:solidFill>
                <a:effectLst/>
                <a:uLnTx/>
                <a:uFillTx/>
                <a:latin typeface="Alibaba PuHuiTi" pitchFamily="18" charset="-122"/>
                <a:ea typeface="Alibaba PuHuiTi" pitchFamily="18" charset="-122"/>
                <a:cs typeface="Alibaba PuHuiTi" pitchFamily="18" charset="-122"/>
              </a:rPr>
              <a:t>"</a:t>
            </a:r>
            <a:r>
              <a:rPr kumimoji="0" lang="en-GB" altLang="zh-CN" b="0" i="0" u="none" strike="noStrike" kern="1200" cap="none" spc="0" normalizeH="0" baseline="0" noProof="0" dirty="0" err="1">
                <a:ln>
                  <a:noFill/>
                </a:ln>
                <a:solidFill>
                  <a:srgbClr val="B60206"/>
                </a:solidFill>
                <a:effectLst/>
                <a:uLnTx/>
                <a:uFillTx/>
                <a:latin typeface="Alibaba PuHuiTi" pitchFamily="18" charset="-122"/>
                <a:ea typeface="Alibaba PuHuiTi" pitchFamily="18" charset="-122"/>
                <a:cs typeface="Alibaba PuHuiTi" pitchFamily="18" charset="-122"/>
              </a:rPr>
              <a:t>gini</a:t>
            </a:r>
            <a:r>
              <a:rPr kumimoji="0" lang="en-GB" altLang="zh-CN"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zh-CN" altLang="en-GB"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zh-CN" altLang="en-US"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即</a:t>
            </a:r>
            <a:r>
              <a:rPr kumimoji="0" lang="en-GB" altLang="zh-CN"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CART</a:t>
            </a:r>
            <a:r>
              <a:rPr kumimoji="0" lang="zh-CN" altLang="en-US"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算法</a:t>
            </a:r>
            <a:endParaRPr kumimoji="0" lang="zh-CN" altLang="en-US"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CART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决策案例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泰坦尼克号乘客生存预测</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7" name="文本占位符 2"/>
          <p:cNvSpPr txBox="1"/>
          <p:nvPr/>
        </p:nvSpPr>
        <p:spPr>
          <a:xfrm>
            <a:off x="1024772" y="1349410"/>
            <a:ext cx="1982217"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案例背景</a:t>
            </a:r>
            <a:endParaRPr kumimoji="0" lang="zh-CN" altLang="en-US" sz="16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
        <p:nvSpPr>
          <p:cNvPr id="4" name="文本框 3"/>
          <p:cNvSpPr txBox="1"/>
          <p:nvPr/>
        </p:nvSpPr>
        <p:spPr>
          <a:xfrm>
            <a:off x="1715587" y="1791122"/>
            <a:ext cx="9342784" cy="1677895"/>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en-US" altLang="zh-CN" sz="1400" b="0" i="0" u="none" strike="noStrike" kern="1200" cap="none" spc="0" normalizeH="0" baseline="0" noProof="0" dirty="0">
                <a:ln>
                  <a:noFill/>
                </a:ln>
                <a:solidFill>
                  <a:srgbClr val="333333"/>
                </a:solidFill>
                <a:effectLst/>
                <a:uLnTx/>
                <a:uFillTx/>
                <a:latin typeface="Helvetica Neue" panose="02000503000000020004" pitchFamily="2" charset="0"/>
                <a:ea typeface="黑体" panose="02010609060101010101" pitchFamily="49" charset="-122"/>
                <a:cs typeface="+mn-cs"/>
              </a:rPr>
              <a:t>1912</a:t>
            </a:r>
            <a:r>
              <a:rPr kumimoji="0" lang="zh-CN" altLang="en-US" sz="1400" b="0" i="0" u="none" strike="noStrike" kern="1200" cap="none" spc="0" normalizeH="0" baseline="0" noProof="0" dirty="0">
                <a:ln>
                  <a:noFill/>
                </a:ln>
                <a:solidFill>
                  <a:srgbClr val="333333"/>
                </a:solidFill>
                <a:effectLst/>
                <a:uLnTx/>
                <a:uFillTx/>
                <a:latin typeface="Helvetica Neue" panose="02000503000000020004" pitchFamily="2" charset="0"/>
                <a:ea typeface="黑体" panose="02010609060101010101" pitchFamily="49" charset="-122"/>
                <a:cs typeface="+mn-cs"/>
              </a:rPr>
              <a:t>年</a:t>
            </a:r>
            <a:r>
              <a:rPr kumimoji="0" lang="en-US" altLang="zh-CN" sz="1400" b="0" i="0" u="none" strike="noStrike" kern="1200" cap="none" spc="0" normalizeH="0" baseline="0" noProof="0" dirty="0">
                <a:ln>
                  <a:noFill/>
                </a:ln>
                <a:solidFill>
                  <a:srgbClr val="333333"/>
                </a:solidFill>
                <a:effectLst/>
                <a:uLnTx/>
                <a:uFillTx/>
                <a:latin typeface="Helvetica Neue" panose="02000503000000020004" pitchFamily="2" charset="0"/>
                <a:ea typeface="黑体" panose="02010609060101010101" pitchFamily="49" charset="-122"/>
                <a:cs typeface="+mn-cs"/>
              </a:rPr>
              <a:t>4</a:t>
            </a:r>
            <a:r>
              <a:rPr kumimoji="0" lang="zh-CN" altLang="en-US" sz="1400" b="0" i="0" u="none" strike="noStrike" kern="1200" cap="none" spc="0" normalizeH="0" baseline="0" noProof="0" dirty="0">
                <a:ln>
                  <a:noFill/>
                </a:ln>
                <a:solidFill>
                  <a:srgbClr val="333333"/>
                </a:solidFill>
                <a:effectLst/>
                <a:uLnTx/>
                <a:uFillTx/>
                <a:latin typeface="Helvetica Neue" panose="02000503000000020004" pitchFamily="2" charset="0"/>
                <a:ea typeface="黑体" panose="02010609060101010101" pitchFamily="49" charset="-122"/>
                <a:cs typeface="+mn-cs"/>
              </a:rPr>
              <a:t>月</a:t>
            </a:r>
            <a:r>
              <a:rPr kumimoji="0" lang="en-US" altLang="zh-CN" sz="1400" b="0" i="0" u="none" strike="noStrike" kern="1200" cap="none" spc="0" normalizeH="0" baseline="0" noProof="0" dirty="0">
                <a:ln>
                  <a:noFill/>
                </a:ln>
                <a:solidFill>
                  <a:srgbClr val="333333"/>
                </a:solidFill>
                <a:effectLst/>
                <a:uLnTx/>
                <a:uFillTx/>
                <a:latin typeface="Helvetica Neue" panose="02000503000000020004" pitchFamily="2" charset="0"/>
                <a:ea typeface="黑体" panose="02010609060101010101" pitchFamily="49" charset="-122"/>
                <a:cs typeface="+mn-cs"/>
              </a:rPr>
              <a:t>15</a:t>
            </a:r>
            <a:r>
              <a:rPr kumimoji="0" lang="zh-CN" altLang="en-US" sz="1400" b="0" i="0" u="none" strike="noStrike" kern="1200" cap="none" spc="0" normalizeH="0" baseline="0" noProof="0" dirty="0">
                <a:ln>
                  <a:noFill/>
                </a:ln>
                <a:solidFill>
                  <a:srgbClr val="333333"/>
                </a:solidFill>
                <a:effectLst/>
                <a:uLnTx/>
                <a:uFillTx/>
                <a:latin typeface="Helvetica Neue" panose="02000503000000020004" pitchFamily="2" charset="0"/>
                <a:ea typeface="黑体" panose="02010609060101010101" pitchFamily="49" charset="-122"/>
                <a:cs typeface="+mn-cs"/>
              </a:rPr>
              <a:t>日，在她的处女航中，泰坦尼克号在与冰山相撞后沉没，在</a:t>
            </a:r>
            <a:r>
              <a:rPr kumimoji="0" lang="en-US" altLang="zh-CN" sz="1400" b="0" i="0" u="none" strike="noStrike" kern="1200" cap="none" spc="0" normalizeH="0" baseline="0" noProof="0" dirty="0">
                <a:ln>
                  <a:noFill/>
                </a:ln>
                <a:solidFill>
                  <a:srgbClr val="333333"/>
                </a:solidFill>
                <a:effectLst/>
                <a:uLnTx/>
                <a:uFillTx/>
                <a:latin typeface="Helvetica Neue" panose="02000503000000020004" pitchFamily="2" charset="0"/>
                <a:ea typeface="黑体" panose="02010609060101010101" pitchFamily="49" charset="-122"/>
                <a:cs typeface="+mn-cs"/>
              </a:rPr>
              <a:t>2224</a:t>
            </a:r>
            <a:r>
              <a:rPr kumimoji="0" lang="zh-CN" altLang="en-US" sz="1400" b="0" i="0" u="none" strike="noStrike" kern="1200" cap="none" spc="0" normalizeH="0" baseline="0" noProof="0" dirty="0">
                <a:ln>
                  <a:noFill/>
                </a:ln>
                <a:solidFill>
                  <a:srgbClr val="333333"/>
                </a:solidFill>
                <a:effectLst/>
                <a:uLnTx/>
                <a:uFillTx/>
                <a:latin typeface="Helvetica Neue" panose="02000503000000020004" pitchFamily="2" charset="0"/>
                <a:ea typeface="黑体" panose="02010609060101010101" pitchFamily="49" charset="-122"/>
                <a:cs typeface="+mn-cs"/>
              </a:rPr>
              <a:t>名乘客和机组人员中造成</a:t>
            </a:r>
            <a:r>
              <a:rPr kumimoji="0" lang="en-US" altLang="zh-CN" sz="1400" b="0" i="0" u="none" strike="noStrike" kern="1200" cap="none" spc="0" normalizeH="0" baseline="0" noProof="0" dirty="0">
                <a:ln>
                  <a:noFill/>
                </a:ln>
                <a:solidFill>
                  <a:srgbClr val="333333"/>
                </a:solidFill>
                <a:effectLst/>
                <a:uLnTx/>
                <a:uFillTx/>
                <a:latin typeface="Helvetica Neue" panose="02000503000000020004" pitchFamily="2" charset="0"/>
                <a:ea typeface="黑体" panose="02010609060101010101" pitchFamily="49" charset="-122"/>
                <a:cs typeface="+mn-cs"/>
              </a:rPr>
              <a:t>1502</a:t>
            </a:r>
            <a:r>
              <a:rPr kumimoji="0" lang="zh-CN" altLang="en-US" sz="1400" b="0" i="0" u="none" strike="noStrike" kern="1200" cap="none" spc="0" normalizeH="0" baseline="0" noProof="0" dirty="0">
                <a:ln>
                  <a:noFill/>
                </a:ln>
                <a:solidFill>
                  <a:srgbClr val="333333"/>
                </a:solidFill>
                <a:effectLst/>
                <a:uLnTx/>
                <a:uFillTx/>
                <a:latin typeface="Helvetica Neue" panose="02000503000000020004" pitchFamily="2" charset="0"/>
                <a:ea typeface="黑体" panose="02010609060101010101" pitchFamily="49" charset="-122"/>
                <a:cs typeface="+mn-cs"/>
              </a:rPr>
              <a:t>人死亡。</a:t>
            </a:r>
            <a:endParaRPr kumimoji="0" lang="en-US" altLang="zh-CN" sz="1400" b="0" i="0" u="none" strike="noStrike" kern="1200" cap="none" spc="0" normalizeH="0" baseline="0" noProof="0" dirty="0">
              <a:ln>
                <a:noFill/>
              </a:ln>
              <a:solidFill>
                <a:srgbClr val="333333"/>
              </a:solidFill>
              <a:effectLst/>
              <a:uLnTx/>
              <a:uFillTx/>
              <a:latin typeface="Helvetica Neue" panose="02000503000000020004" pitchFamily="2" charset="0"/>
              <a:ea typeface="黑体" panose="02010609060101010101" pitchFamily="49"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造成海难失事的原因之一是乘客和机组人员没有足够的救生艇。尽管幸存</a:t>
            </a:r>
            <a:r>
              <a:rPr lang="zh-CN" altLang="en-US" sz="1400" dirty="0">
                <a:solidFill>
                  <a:prstClr val="black"/>
                </a:solidFill>
                <a:latin typeface="Alibaba PuHuiTi" pitchFamily="18" charset="-122"/>
                <a:ea typeface="Alibaba PuHuiTi" pitchFamily="18" charset="-122"/>
                <a:cs typeface="Alibaba PuHuiTi" pitchFamily="18" charset="-122"/>
              </a:rPr>
              <a:t>生存</a:t>
            </a:r>
            <a:r>
              <a:rPr kumimoji="0" lang="zh-CN" altLang="en-US"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有一些运气因素，但有些人比其他人更容易生存，例如妇女，儿童和上流社会。</a:t>
            </a:r>
            <a:endParaRPr kumimoji="0" lang="en-US" altLang="zh-CN"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有了</a:t>
            </a:r>
            <a:r>
              <a:rPr kumimoji="0" lang="zh-CN" altLang="en-US" sz="1400" b="0" i="0" u="none" strike="noStrike" kern="1200" cap="none" spc="0" normalizeH="0" baseline="0" noProof="0" dirty="0">
                <a:ln>
                  <a:noFill/>
                </a:ln>
                <a:solidFill>
                  <a:srgbClr val="B60206"/>
                </a:solidFill>
                <a:effectLst/>
                <a:uLnTx/>
                <a:uFillTx/>
                <a:latin typeface="Alibaba PuHuiTi" pitchFamily="18" charset="-122"/>
                <a:ea typeface="Alibaba PuHuiTi" pitchFamily="18" charset="-122"/>
                <a:cs typeface="Alibaba PuHuiTi" pitchFamily="18" charset="-122"/>
              </a:rPr>
              <a:t>遇难和幸运数据</a:t>
            </a:r>
            <a:r>
              <a:rPr kumimoji="0" lang="zh-CN" altLang="en-US"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，运用机器学习工具来预测</a:t>
            </a:r>
            <a:r>
              <a:rPr kumimoji="0" lang="zh-CN" altLang="en-US" sz="1400" b="0" i="0" u="none" strike="noStrike" kern="1200" cap="none" spc="0" normalizeH="0" baseline="0" noProof="0" dirty="0">
                <a:ln>
                  <a:noFill/>
                </a:ln>
                <a:solidFill>
                  <a:srgbClr val="B60206"/>
                </a:solidFill>
                <a:effectLst/>
                <a:uLnTx/>
                <a:uFillTx/>
                <a:latin typeface="Alibaba PuHuiTi" pitchFamily="18" charset="-122"/>
                <a:ea typeface="Alibaba PuHuiTi" pitchFamily="18" charset="-122"/>
                <a:cs typeface="Alibaba PuHuiTi" pitchFamily="18" charset="-122"/>
              </a:rPr>
              <a:t>哪些乘客可幸免于悲剧。</a:t>
            </a:r>
            <a:endParaRPr kumimoji="0" lang="zh-CN" altLang="en-US" sz="1400" b="0" i="0" u="none" strike="noStrike" kern="1200" cap="none" spc="0" normalizeH="0" baseline="0" noProof="0" dirty="0">
              <a:ln>
                <a:noFill/>
              </a:ln>
              <a:solidFill>
                <a:srgbClr val="B60206"/>
              </a:solidFill>
              <a:effectLst/>
              <a:uLnTx/>
              <a:uFillTx/>
              <a:latin typeface="Alibaba PuHuiTi" pitchFamily="18" charset="-122"/>
              <a:ea typeface="Alibaba PuHuiTi" pitchFamily="18" charset="-122"/>
              <a:cs typeface="Alibaba PuHuiTi" pitchFamily="18" charset="-122"/>
            </a:endParaRPr>
          </a:p>
        </p:txBody>
      </p:sp>
      <p:sp>
        <p:nvSpPr>
          <p:cNvPr id="6" name="文本占位符 2"/>
          <p:cNvSpPr txBox="1"/>
          <p:nvPr/>
        </p:nvSpPr>
        <p:spPr>
          <a:xfrm>
            <a:off x="1024772" y="3513044"/>
            <a:ext cx="1982217"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数据情况</a:t>
            </a:r>
            <a:endParaRPr kumimoji="0" lang="zh-CN" altLang="en-US" sz="16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
        <p:nvSpPr>
          <p:cNvPr id="15" name="文本框 14"/>
          <p:cNvSpPr txBox="1"/>
          <p:nvPr/>
        </p:nvSpPr>
        <p:spPr>
          <a:xfrm>
            <a:off x="1715587" y="3943585"/>
            <a:ext cx="8506099" cy="1031564"/>
          </a:xfrm>
          <a:prstGeom prst="rect">
            <a:avLst/>
          </a:prstGeom>
          <a:noFill/>
        </p:spPr>
        <p:txBody>
          <a:bodyPr wrap="square">
            <a:spAutoFit/>
          </a:bodyPr>
          <a:lstStyle/>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数据集中的特征包括票的类别，是否存活，乘坐班次，年龄，登陆，</a:t>
            </a:r>
            <a:r>
              <a:rPr kumimoji="0" lang="en-GB" altLang="zh-CN" sz="1400" b="0" i="0" u="none" strike="noStrike" kern="1200" cap="none" spc="0" normalizeH="0" baseline="0" noProof="0" dirty="0" err="1">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home.dest</a:t>
            </a:r>
            <a:r>
              <a:rPr kumimoji="0" lang="zh-CN" altLang="en-GB"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房间，船和性别等</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乘坐班</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是指乘客班（</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1</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2</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3</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），是社会经济阶层的代表</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en-GB"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age</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数据</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存在缺失</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pic>
        <p:nvPicPr>
          <p:cNvPr id="16" name="图片 15"/>
          <p:cNvPicPr>
            <a:picLocks noChangeAspect="1"/>
          </p:cNvPicPr>
          <p:nvPr/>
        </p:nvPicPr>
        <p:blipFill>
          <a:blip r:embed="rId1"/>
          <a:stretch>
            <a:fillRect/>
          </a:stretch>
        </p:blipFill>
        <p:spPr>
          <a:xfrm>
            <a:off x="1968136" y="5133073"/>
            <a:ext cx="7772400" cy="1415503"/>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CART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决策案例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泰坦尼克号乘客生存预测</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2" name="TextBox 3"/>
          <p:cNvSpPr txBox="1"/>
          <p:nvPr/>
        </p:nvSpPr>
        <p:spPr>
          <a:xfrm>
            <a:off x="608850" y="1357169"/>
            <a:ext cx="5775708" cy="5447645"/>
          </a:xfrm>
          <a:prstGeom prst="rect">
            <a:avLst/>
          </a:prstGeom>
          <a:solidFill>
            <a:srgbClr val="FFFFE4"/>
          </a:solidFill>
          <a:ln w="3175">
            <a:solidFill>
              <a:srgbClr val="91919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import </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pandas </a:t>
            </a:r>
            <a:r>
              <a:rPr kumimoji="0" lang="en-GB" altLang="zh-CN" sz="12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as </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pd</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from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sklearn.model_selection</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import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train_test_split</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from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sklearn.tree</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import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DecisionTreeClassifier</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from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sklearn.metrics</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import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classification_report</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import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matplotlib.pyplot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as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plt</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from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sklearn.tree</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import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plot_tree</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def </a:t>
            </a:r>
            <a:r>
              <a:rPr kumimoji="0" lang="en-GB" altLang="zh-CN" sz="1200" b="0" i="0" u="none" strike="noStrike" kern="1200" cap="none" spc="0" normalizeH="0" baseline="0" noProof="0" dirty="0">
                <a:ln>
                  <a:noFill/>
                </a:ln>
                <a:solidFill>
                  <a:srgbClr val="00627A"/>
                </a:solidFill>
                <a:effectLst/>
                <a:uLnTx/>
                <a:uFillTx/>
                <a:latin typeface="Calibri" panose="020F0502020204030204"/>
                <a:ea typeface="黑体" panose="02010609060101010101" pitchFamily="49" charset="-122"/>
                <a:cs typeface="+mn-cs"/>
              </a:rPr>
              <a:t>dm04_</a:t>
            </a:r>
            <a:r>
              <a:rPr kumimoji="0" lang="zh-CN" altLang="en-US" sz="1200" b="0" i="0" u="none" strike="noStrike" kern="1200" cap="none" spc="0" normalizeH="0" baseline="0" noProof="0" dirty="0">
                <a:ln>
                  <a:noFill/>
                </a:ln>
                <a:solidFill>
                  <a:srgbClr val="00627A"/>
                </a:solidFill>
                <a:effectLst/>
                <a:uLnTx/>
                <a:uFillTx/>
                <a:latin typeface="Calibri" panose="020F0502020204030204"/>
                <a:ea typeface="黑体" panose="02010609060101010101" pitchFamily="49" charset="-122"/>
                <a:cs typeface="+mn-cs"/>
              </a:rPr>
              <a:t>泰坦尼克</a:t>
            </a:r>
            <a:r>
              <a:rPr kumimoji="0" lang="en-US"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br>
              <a:rPr kumimoji="0" lang="en-US"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US"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US"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1 </a:t>
            </a: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读数据到内存</a:t>
            </a:r>
            <a:b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b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taitan_df</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pd.read_csv</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“./data/titanic/</a:t>
            </a:r>
            <a:r>
              <a:rPr kumimoji="0" lang="en-GB" altLang="zh-CN" sz="1200" b="0" i="0" u="none" strike="noStrike" kern="1200" cap="none" spc="0" normalizeH="0" baseline="0" noProof="0" dirty="0" err="1">
                <a:ln>
                  <a:noFill/>
                </a:ln>
                <a:solidFill>
                  <a:srgbClr val="067D17"/>
                </a:solidFill>
                <a:effectLst/>
                <a:uLnTx/>
                <a:uFillTx/>
                <a:latin typeface="Calibri" panose="020F0502020204030204"/>
                <a:ea typeface="黑体" panose="02010609060101010101" pitchFamily="49" charset="-122"/>
                <a:cs typeface="+mn-cs"/>
              </a:rPr>
              <a:t>train.csv</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taitan_df.head</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a:t>
            </a: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查看前</a:t>
            </a:r>
            <a:r>
              <a:rPr kumimoji="0" lang="en-US"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5</a:t>
            </a: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条数据</a:t>
            </a:r>
            <a:b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b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taitan_df.info</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zh-CN" altLang="en-US"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a:t>
            </a: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查看特性信息</a:t>
            </a:r>
            <a:b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br>
            <a:b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b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a:t>
            </a:r>
            <a:r>
              <a:rPr kumimoji="0" lang="en-US"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2 </a:t>
            </a: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数据基本处理</a:t>
            </a:r>
            <a:b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b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a:t>
            </a:r>
            <a:r>
              <a:rPr kumimoji="0" lang="en-US"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2-1 </a:t>
            </a: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确定</a:t>
            </a:r>
            <a: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x y</a:t>
            </a:r>
            <a:b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br>
            <a: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x =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taitan_df</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err="1">
                <a:ln>
                  <a:noFill/>
                </a:ln>
                <a:solidFill>
                  <a:srgbClr val="067D17"/>
                </a:solidFill>
                <a:effectLst/>
                <a:uLnTx/>
                <a:uFillTx/>
                <a:latin typeface="Calibri" panose="020F0502020204030204"/>
                <a:ea typeface="黑体" panose="02010609060101010101" pitchFamily="49" charset="-122"/>
                <a:cs typeface="+mn-cs"/>
              </a:rPr>
              <a:t>Pclass</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‘Age’</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‘Sex’</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y =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taitan_df</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‘Survived’</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a:t>
            </a:r>
            <a:r>
              <a:rPr kumimoji="0" lang="en-US"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2-2 </a:t>
            </a: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缺失值处理</a:t>
            </a:r>
            <a:b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b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x[</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‘Age’</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fillna</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(x[</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‘Age’</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].mean(), </a:t>
            </a:r>
            <a:r>
              <a:rPr kumimoji="0" lang="en-GB" altLang="zh-CN" sz="1200" b="0" i="0" u="none" strike="noStrike" kern="1200" cap="none" spc="0" normalizeH="0" baseline="0" noProof="0" dirty="0" err="1">
                <a:ln>
                  <a:noFill/>
                </a:ln>
                <a:solidFill>
                  <a:srgbClr val="660099"/>
                </a:solidFill>
                <a:effectLst/>
                <a:uLnTx/>
                <a:uFillTx/>
                <a:latin typeface="Calibri" panose="020F0502020204030204"/>
                <a:ea typeface="黑体" panose="02010609060101010101" pitchFamily="49" charset="-122"/>
                <a:cs typeface="+mn-cs"/>
              </a:rPr>
              <a:t>inplace</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True</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2-3 </a:t>
            </a:r>
            <a:r>
              <a:rPr kumimoji="0" lang="en-GB" altLang="zh-CN" sz="1200" b="0" i="1" u="none" strike="noStrike" kern="1200" cap="none" spc="0" normalizeH="0" baseline="0" noProof="0" dirty="0" err="1">
                <a:ln>
                  <a:noFill/>
                </a:ln>
                <a:solidFill>
                  <a:srgbClr val="8C8C8C"/>
                </a:solidFill>
                <a:effectLst/>
                <a:uLnTx/>
                <a:uFillTx/>
                <a:latin typeface="Calibri" panose="020F0502020204030204"/>
                <a:ea typeface="黑体" panose="02010609060101010101" pitchFamily="49" charset="-122"/>
                <a:cs typeface="+mn-cs"/>
              </a:rPr>
              <a:t>pclass</a:t>
            </a: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类别型数据</a:t>
            </a:r>
            <a:r>
              <a:rPr kumimoji="0" lang="en-US"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a:t>
            </a: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需要转数值</a:t>
            </a:r>
            <a: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one-hot</a:t>
            </a: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编码</a:t>
            </a:r>
            <a:b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b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srgbClr val="000080"/>
                </a:solidFill>
                <a:effectLst/>
                <a:uLnTx/>
                <a:uFillTx/>
                <a:latin typeface="Calibri" panose="020F0502020204030204"/>
                <a:ea typeface="黑体" panose="02010609060101010101" pitchFamily="49" charset="-122"/>
                <a:cs typeface="+mn-cs"/>
              </a:rPr>
              <a:t>print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‘x--&gt;1</a:t>
            </a:r>
            <a:r>
              <a:rPr kumimoji="0" lang="en-GB" altLang="zh-CN" sz="1200" b="0" i="0" u="none" strike="noStrike" kern="1200" cap="none" spc="0" normalizeH="0" baseline="0" noProof="0" dirty="0">
                <a:ln>
                  <a:noFill/>
                </a:ln>
                <a:solidFill>
                  <a:srgbClr val="0037A6"/>
                </a:solidFill>
                <a:effectLst/>
                <a:uLnTx/>
                <a:uFillTx/>
                <a:latin typeface="Calibri" panose="020F0502020204030204"/>
                <a:ea typeface="黑体" panose="02010609060101010101" pitchFamily="49" charset="-122"/>
                <a:cs typeface="+mn-cs"/>
              </a:rPr>
              <a:t>\n</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x)</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x.info</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x =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pd.get_dummies</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(x)</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srgbClr val="000080"/>
                </a:solidFill>
                <a:effectLst/>
                <a:uLnTx/>
                <a:uFillTx/>
                <a:latin typeface="Calibri" panose="020F0502020204030204"/>
                <a:ea typeface="黑体" panose="02010609060101010101" pitchFamily="49" charset="-122"/>
                <a:cs typeface="+mn-cs"/>
              </a:rPr>
              <a:t>print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‘x--&gt;2</a:t>
            </a:r>
            <a:r>
              <a:rPr kumimoji="0" lang="en-GB" altLang="zh-CN" sz="1200" b="0" i="0" u="none" strike="noStrike" kern="1200" cap="none" spc="0" normalizeH="0" baseline="0" noProof="0" dirty="0">
                <a:ln>
                  <a:noFill/>
                </a:ln>
                <a:solidFill>
                  <a:srgbClr val="0037A6"/>
                </a:solidFill>
                <a:effectLst/>
                <a:uLnTx/>
                <a:uFillTx/>
                <a:latin typeface="Calibri" panose="020F0502020204030204"/>
                <a:ea typeface="黑体" panose="02010609060101010101" pitchFamily="49" charset="-122"/>
                <a:cs typeface="+mn-cs"/>
              </a:rPr>
              <a:t>\n</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x)</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x.info</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2-4 </a:t>
            </a: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数据集划分</a:t>
            </a:r>
            <a:b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b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x_train</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x_test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y_train</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y_test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train_test_split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(x, y, </a:t>
            </a:r>
            <a:r>
              <a:rPr kumimoji="0" lang="en-GB" altLang="zh-CN" sz="1200" b="0" i="0" u="none" strike="noStrike" kern="1200" cap="none" spc="0" normalizeH="0" baseline="0" noProof="0" dirty="0" err="1">
                <a:ln>
                  <a:noFill/>
                </a:ln>
                <a:solidFill>
                  <a:srgbClr val="660099"/>
                </a:solidFill>
                <a:effectLst/>
                <a:uLnTx/>
                <a:uFillTx/>
                <a:latin typeface="Calibri" panose="020F0502020204030204"/>
                <a:ea typeface="黑体" panose="02010609060101010101" pitchFamily="49" charset="-122"/>
                <a:cs typeface="+mn-cs"/>
              </a:rPr>
              <a:t>test_size</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a:ln>
                  <a:noFill/>
                </a:ln>
                <a:solidFill>
                  <a:srgbClr val="1750EB"/>
                </a:solidFill>
                <a:effectLst/>
                <a:uLnTx/>
                <a:uFillTx/>
                <a:latin typeface="Calibri" panose="020F0502020204030204"/>
                <a:ea typeface="黑体" panose="02010609060101010101" pitchFamily="49" charset="-122"/>
                <a:cs typeface="+mn-cs"/>
              </a:rPr>
              <a:t>0.20</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srgbClr val="660099"/>
                </a:solidFill>
                <a:effectLst/>
                <a:uLnTx/>
                <a:uFillTx/>
                <a:latin typeface="Calibri" panose="020F0502020204030204"/>
                <a:ea typeface="黑体" panose="02010609060101010101" pitchFamily="49" charset="-122"/>
                <a:cs typeface="+mn-cs"/>
              </a:rPr>
              <a:t>random_state</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a:ln>
                  <a:noFill/>
                </a:ln>
                <a:solidFill>
                  <a:srgbClr val="1750EB"/>
                </a:solidFill>
                <a:effectLst/>
                <a:uLnTx/>
                <a:uFillTx/>
                <a:latin typeface="Calibri" panose="020F0502020204030204"/>
                <a:ea typeface="黑体" panose="02010609060101010101" pitchFamily="49" charset="-122"/>
                <a:cs typeface="+mn-cs"/>
              </a:rPr>
              <a:t>33</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zh-CN" altLang="en-US"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endParaRPr kumimoji="0" lang="en-US" altLang="zh-CN" sz="1200" b="0" i="0" u="none" strike="noStrike" kern="1200" cap="none" spc="0" normalizeH="0" baseline="0" noProof="0" dirty="0">
              <a:ln>
                <a:noFill/>
              </a:ln>
              <a:solidFill>
                <a:srgbClr val="0033B3"/>
              </a:solidFill>
              <a:effectLst/>
              <a:uLnTx/>
              <a:uFillTx/>
              <a:latin typeface="Alibaba PuHuiTi" pitchFamily="18" charset="-122"/>
              <a:ea typeface="Alibaba PuHuiTi" pitchFamily="18" charset="-122"/>
              <a:cs typeface="Alibaba PuHuiTi" pitchFamily="18" charset="-122"/>
            </a:endParaRPr>
          </a:p>
        </p:txBody>
      </p:sp>
      <p:sp>
        <p:nvSpPr>
          <p:cNvPr id="4" name="TextBox 3"/>
          <p:cNvSpPr txBox="1"/>
          <p:nvPr/>
        </p:nvSpPr>
        <p:spPr>
          <a:xfrm>
            <a:off x="6819986" y="1357169"/>
            <a:ext cx="4763164" cy="4708981"/>
          </a:xfrm>
          <a:prstGeom prst="rect">
            <a:avLst/>
          </a:prstGeom>
          <a:solidFill>
            <a:srgbClr val="FFFFE4"/>
          </a:solidFill>
          <a:ln w="3175">
            <a:solidFill>
              <a:srgbClr val="91919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a:t>
            </a:r>
            <a: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3 </a:t>
            </a: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实例化决策树模型 训练模型</a:t>
            </a:r>
            <a:b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b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estimator =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DecisionTreeClassifier</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estimator.fit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x_train</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y_train</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4 </a:t>
            </a: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模型预测</a:t>
            </a:r>
            <a:b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b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y_pred</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estimator.predict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x_test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5 </a:t>
            </a: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模型评估</a:t>
            </a:r>
            <a:b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b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a:t>
            </a:r>
            <a:r>
              <a:rPr kumimoji="0" lang="en-US"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5-1 </a:t>
            </a: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输出预测准确率</a:t>
            </a:r>
            <a:b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b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myret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estimator.score</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x_test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y_test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srgbClr val="000080"/>
                </a:solidFill>
                <a:effectLst/>
                <a:uLnTx/>
                <a:uFillTx/>
                <a:latin typeface="Calibri" panose="020F0502020204030204"/>
                <a:ea typeface="黑体" panose="02010609060101010101" pitchFamily="49" charset="-122"/>
                <a:cs typeface="+mn-cs"/>
              </a:rPr>
              <a:t>print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err="1">
                <a:ln>
                  <a:noFill/>
                </a:ln>
                <a:solidFill>
                  <a:srgbClr val="067D17"/>
                </a:solidFill>
                <a:effectLst/>
                <a:uLnTx/>
                <a:uFillTx/>
                <a:latin typeface="Calibri" panose="020F0502020204030204"/>
                <a:ea typeface="黑体" panose="02010609060101010101" pitchFamily="49" charset="-122"/>
                <a:cs typeface="+mn-cs"/>
              </a:rPr>
              <a:t>myret</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--&gt;</a:t>
            </a:r>
            <a:r>
              <a:rPr kumimoji="0" lang="en-GB" altLang="zh-CN" sz="1200" b="0" i="0" u="none" strike="noStrike" kern="1200" cap="none" spc="0" normalizeH="0" baseline="0" noProof="0" dirty="0">
                <a:ln>
                  <a:noFill/>
                </a:ln>
                <a:solidFill>
                  <a:srgbClr val="0037A6"/>
                </a:solidFill>
                <a:effectLst/>
                <a:uLnTx/>
                <a:uFillTx/>
                <a:latin typeface="Calibri" panose="020F0502020204030204"/>
                <a:ea typeface="黑体" panose="02010609060101010101" pitchFamily="49" charset="-122"/>
                <a:cs typeface="+mn-cs"/>
              </a:rPr>
              <a:t>\n</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myret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5-2 </a:t>
            </a: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更加详细的分类性能</a:t>
            </a:r>
            <a:b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b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myreport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classification_report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y_pred</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y_test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srgbClr val="660099"/>
                </a:solidFill>
                <a:effectLst/>
                <a:uLnTx/>
                <a:uFillTx/>
                <a:latin typeface="Calibri" panose="020F0502020204030204"/>
                <a:ea typeface="黑体" panose="02010609060101010101" pitchFamily="49" charset="-122"/>
                <a:cs typeface="+mn-cs"/>
              </a:rPr>
              <a:t>target_names</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'died'</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'survived'</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srgbClr val="000080"/>
                </a:solidFill>
                <a:effectLst/>
                <a:uLnTx/>
                <a:uFillTx/>
                <a:latin typeface="Calibri" panose="020F0502020204030204"/>
                <a:ea typeface="黑体" panose="02010609060101010101" pitchFamily="49" charset="-122"/>
                <a:cs typeface="+mn-cs"/>
              </a:rPr>
              <a:t>print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err="1">
                <a:ln>
                  <a:noFill/>
                </a:ln>
                <a:solidFill>
                  <a:srgbClr val="067D17"/>
                </a:solidFill>
                <a:effectLst/>
                <a:uLnTx/>
                <a:uFillTx/>
                <a:latin typeface="Calibri" panose="020F0502020204030204"/>
                <a:ea typeface="黑体" panose="02010609060101010101" pitchFamily="49" charset="-122"/>
                <a:cs typeface="+mn-cs"/>
              </a:rPr>
              <a:t>myreport</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--&gt;</a:t>
            </a:r>
            <a:r>
              <a:rPr kumimoji="0" lang="en-GB" altLang="zh-CN" sz="1200" b="0" i="0" u="none" strike="noStrike" kern="1200" cap="none" spc="0" normalizeH="0" baseline="0" noProof="0" dirty="0">
                <a:ln>
                  <a:noFill/>
                </a:ln>
                <a:solidFill>
                  <a:srgbClr val="0037A6"/>
                </a:solidFill>
                <a:effectLst/>
                <a:uLnTx/>
                <a:uFillTx/>
                <a:latin typeface="Calibri" panose="020F0502020204030204"/>
                <a:ea typeface="黑体" panose="02010609060101010101" pitchFamily="49" charset="-122"/>
                <a:cs typeface="+mn-cs"/>
              </a:rPr>
              <a:t>\n</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myreport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6 </a:t>
            </a: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决策树可视化</a:t>
            </a:r>
            <a:b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b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plt.figure</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err="1">
                <a:ln>
                  <a:noFill/>
                </a:ln>
                <a:solidFill>
                  <a:srgbClr val="660099"/>
                </a:solidFill>
                <a:effectLst/>
                <a:uLnTx/>
                <a:uFillTx/>
                <a:latin typeface="Calibri" panose="020F0502020204030204"/>
                <a:ea typeface="黑体" panose="02010609060101010101" pitchFamily="49" charset="-122"/>
                <a:cs typeface="+mn-cs"/>
              </a:rPr>
              <a:t>figsize</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a:ln>
                  <a:noFill/>
                </a:ln>
                <a:solidFill>
                  <a:srgbClr val="1750EB"/>
                </a:solidFill>
                <a:effectLst/>
                <a:uLnTx/>
                <a:uFillTx/>
                <a:latin typeface="Calibri" panose="020F0502020204030204"/>
                <a:ea typeface="黑体" panose="02010609060101010101" pitchFamily="49" charset="-122"/>
                <a:cs typeface="+mn-cs"/>
              </a:rPr>
              <a:t>30</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srgbClr val="1750EB"/>
                </a:solidFill>
                <a:effectLst/>
                <a:uLnTx/>
                <a:uFillTx/>
                <a:latin typeface="Calibri" panose="020F0502020204030204"/>
                <a:ea typeface="黑体" panose="02010609060101010101" pitchFamily="49" charset="-122"/>
                <a:cs typeface="+mn-cs"/>
              </a:rPr>
              <a:t>20</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plot_tree</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(estimator,</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srgbClr val="660099"/>
                </a:solidFill>
                <a:effectLst/>
                <a:uLnTx/>
                <a:uFillTx/>
                <a:latin typeface="Calibri" panose="020F0502020204030204"/>
                <a:ea typeface="黑体" panose="02010609060101010101" pitchFamily="49" charset="-122"/>
                <a:cs typeface="+mn-cs"/>
              </a:rPr>
              <a:t>max_depth</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a:ln>
                  <a:noFill/>
                </a:ln>
                <a:solidFill>
                  <a:srgbClr val="1750EB"/>
                </a:solidFill>
                <a:effectLst/>
                <a:uLnTx/>
                <a:uFillTx/>
                <a:latin typeface="Calibri" panose="020F0502020204030204"/>
                <a:ea typeface="黑体" panose="02010609060101010101" pitchFamily="49" charset="-122"/>
                <a:cs typeface="+mn-cs"/>
              </a:rPr>
              <a:t>10</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srgbClr val="660099"/>
                </a:solidFill>
                <a:effectLst/>
                <a:uLnTx/>
                <a:uFillTx/>
                <a:latin typeface="Calibri" panose="020F0502020204030204"/>
                <a:ea typeface="黑体" panose="02010609060101010101" pitchFamily="49" charset="-122"/>
                <a:cs typeface="+mn-cs"/>
              </a:rPr>
              <a:t>filled</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True</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srgbClr val="660099"/>
                </a:solidFill>
                <a:effectLst/>
                <a:uLnTx/>
                <a:uFillTx/>
                <a:latin typeface="Calibri" panose="020F0502020204030204"/>
                <a:ea typeface="黑体" panose="02010609060101010101" pitchFamily="49" charset="-122"/>
                <a:cs typeface="+mn-cs"/>
              </a:rPr>
              <a:t>feature_names</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err="1">
                <a:ln>
                  <a:noFill/>
                </a:ln>
                <a:solidFill>
                  <a:srgbClr val="067D17"/>
                </a:solidFill>
                <a:effectLst/>
                <a:uLnTx/>
                <a:uFillTx/>
                <a:latin typeface="Calibri" panose="020F0502020204030204"/>
                <a:ea typeface="黑体" panose="02010609060101010101" pitchFamily="49" charset="-122"/>
                <a:cs typeface="+mn-cs"/>
              </a:rPr>
              <a:t>Pclass</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'Age'</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err="1">
                <a:ln>
                  <a:noFill/>
                </a:ln>
                <a:solidFill>
                  <a:srgbClr val="067D17"/>
                </a:solidFill>
                <a:effectLst/>
                <a:uLnTx/>
                <a:uFillTx/>
                <a:latin typeface="Calibri" panose="020F0502020204030204"/>
                <a:ea typeface="黑体" panose="02010609060101010101" pitchFamily="49" charset="-122"/>
                <a:cs typeface="+mn-cs"/>
              </a:rPr>
              <a:t>Sex_female</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err="1">
                <a:ln>
                  <a:noFill/>
                </a:ln>
                <a:solidFill>
                  <a:srgbClr val="067D17"/>
                </a:solidFill>
                <a:effectLst/>
                <a:uLnTx/>
                <a:uFillTx/>
                <a:latin typeface="Calibri" panose="020F0502020204030204"/>
                <a:ea typeface="黑体" panose="02010609060101010101" pitchFamily="49" charset="-122"/>
                <a:cs typeface="+mn-cs"/>
              </a:rPr>
              <a:t>Sex_male</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srgbClr val="660099"/>
                </a:solidFill>
                <a:effectLst/>
                <a:uLnTx/>
                <a:uFillTx/>
                <a:latin typeface="Calibri" panose="020F0502020204030204"/>
                <a:ea typeface="黑体" panose="02010609060101010101" pitchFamily="49" charset="-122"/>
                <a:cs typeface="+mn-cs"/>
              </a:rPr>
              <a:t>class_names</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'died'</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'survived'</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plt.show</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endParaRPr kumimoji="0" lang="en-GB" altLang="zh-CN" sz="1200" b="0" i="0" u="none" strike="noStrike" kern="1200" cap="none" spc="0" normalizeH="0" baseline="0" noProof="0" dirty="0">
              <a:ln>
                <a:noFill/>
              </a:ln>
              <a:solidFill>
                <a:srgbClr val="0033B3"/>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泰坦尼克号乘客生存预测</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pic>
        <p:nvPicPr>
          <p:cNvPr id="5" name="图片 4"/>
          <p:cNvPicPr>
            <a:picLocks noChangeAspect="1"/>
          </p:cNvPicPr>
          <p:nvPr/>
        </p:nvPicPr>
        <p:blipFill>
          <a:blip r:embed="rId1"/>
          <a:stretch>
            <a:fillRect/>
          </a:stretch>
        </p:blipFill>
        <p:spPr>
          <a:xfrm>
            <a:off x="1360805" y="1391920"/>
            <a:ext cx="8208645" cy="520065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517456" y="700162"/>
            <a:ext cx="6498629" cy="4983602"/>
          </a:xfrm>
        </p:spPr>
        <p:txBody>
          <a:bodyPr anchor="t"/>
          <a:lstStyle/>
          <a:p>
            <a:r>
              <a:rPr lang="zh-CN" altLang="en-US" sz="1800" dirty="0">
                <a:solidFill>
                  <a:schemeClr val="tx1"/>
                </a:solidFill>
                <a:latin typeface="Alibaba PuHuiTi" pitchFamily="18" charset="-122"/>
                <a:ea typeface="Alibaba PuHuiTi" pitchFamily="18" charset="-122"/>
                <a:cs typeface="Alibaba PuHuiTi" pitchFamily="18" charset="-122"/>
              </a:rPr>
              <a:t>决策树简介</a:t>
            </a:r>
            <a:endParaRPr lang="en-US" altLang="zh-CN" sz="1600" b="0" dirty="0">
              <a:solidFill>
                <a:schemeClr val="tx1"/>
              </a:solidFill>
              <a:latin typeface="Alibaba PuHuiTi" pitchFamily="18" charset="-122"/>
              <a:ea typeface="Alibaba PuHuiTi" pitchFamily="18" charset="-122"/>
              <a:cs typeface="Alibaba PuHuiTi" pitchFamily="18" charset="-122"/>
            </a:endParaRPr>
          </a:p>
          <a:p>
            <a:r>
              <a:rPr lang="en-US" altLang="zh-CN" sz="1800" dirty="0">
                <a:solidFill>
                  <a:schemeClr val="tx1"/>
                </a:solidFill>
                <a:latin typeface="Alibaba PuHuiTi" pitchFamily="18" charset="-122"/>
                <a:ea typeface="Alibaba PuHuiTi" pitchFamily="18" charset="-122"/>
                <a:cs typeface="Alibaba PuHuiTi" pitchFamily="18" charset="-122"/>
              </a:rPr>
              <a:t>ID3</a:t>
            </a:r>
            <a:r>
              <a:rPr lang="zh-CN" altLang="en-US" sz="1800" dirty="0">
                <a:solidFill>
                  <a:schemeClr val="tx1"/>
                </a:solidFill>
                <a:latin typeface="Alibaba PuHuiTi" pitchFamily="18" charset="-122"/>
                <a:ea typeface="Alibaba PuHuiTi" pitchFamily="18" charset="-122"/>
                <a:cs typeface="Alibaba PuHuiTi" pitchFamily="18" charset="-122"/>
              </a:rPr>
              <a:t>决策树 </a:t>
            </a:r>
            <a:endParaRPr lang="en-US" altLang="zh-CN" sz="1800" dirty="0">
              <a:solidFill>
                <a:schemeClr val="tx1"/>
              </a:solidFill>
              <a:latin typeface="Alibaba PuHuiTi" pitchFamily="18" charset="-122"/>
              <a:ea typeface="Alibaba PuHuiTi" pitchFamily="18" charset="-122"/>
              <a:cs typeface="Alibaba PuHuiTi" pitchFamily="18" charset="-122"/>
            </a:endParaRPr>
          </a:p>
          <a:p>
            <a:r>
              <a:rPr kumimoji="1" lang="en-US" altLang="zh-CN" sz="1800" dirty="0">
                <a:solidFill>
                  <a:schemeClr val="tx1"/>
                </a:solidFill>
                <a:latin typeface="Alibaba PuHuiTi" pitchFamily="18" charset="-122"/>
                <a:ea typeface="Alibaba PuHuiTi" pitchFamily="18" charset="-122"/>
                <a:cs typeface="Alibaba PuHuiTi" pitchFamily="18" charset="-122"/>
              </a:rPr>
              <a:t>C4.5</a:t>
            </a:r>
            <a:r>
              <a:rPr kumimoji="1" lang="zh-CN" altLang="en-US" sz="1800" dirty="0">
                <a:solidFill>
                  <a:schemeClr val="tx1"/>
                </a:solidFill>
                <a:latin typeface="Alibaba PuHuiTi" pitchFamily="18" charset="-122"/>
                <a:ea typeface="Alibaba PuHuiTi" pitchFamily="18" charset="-122"/>
                <a:cs typeface="Alibaba PuHuiTi" pitchFamily="18" charset="-122"/>
              </a:rPr>
              <a:t>决策树</a:t>
            </a:r>
            <a:endParaRPr kumimoji="1" lang="zh-CN" altLang="en-US" sz="1600" b="0" dirty="0">
              <a:solidFill>
                <a:schemeClr val="tx1"/>
              </a:solidFill>
              <a:latin typeface="Alibaba PuHuiTi" pitchFamily="18" charset="-122"/>
              <a:ea typeface="Alibaba PuHuiTi" pitchFamily="18" charset="-122"/>
              <a:cs typeface="Alibaba PuHuiTi" pitchFamily="18" charset="-122"/>
            </a:endParaRPr>
          </a:p>
          <a:p>
            <a:r>
              <a:rPr kumimoji="1" lang="en-US" altLang="zh-CN" sz="1800" dirty="0">
                <a:solidFill>
                  <a:schemeClr val="tx1"/>
                </a:solidFill>
                <a:latin typeface="Alibaba PuHuiTi" pitchFamily="18" charset="-122"/>
                <a:ea typeface="Alibaba PuHuiTi" pitchFamily="18" charset="-122"/>
                <a:cs typeface="Alibaba PuHuiTi" pitchFamily="18" charset="-122"/>
              </a:rPr>
              <a:t>CART</a:t>
            </a:r>
            <a:r>
              <a:rPr kumimoji="1" lang="zh-CN" altLang="en-US" sz="1800" dirty="0">
                <a:solidFill>
                  <a:schemeClr val="tx1"/>
                </a:solidFill>
                <a:latin typeface="Alibaba PuHuiTi" pitchFamily="18" charset="-122"/>
                <a:ea typeface="Alibaba PuHuiTi" pitchFamily="18" charset="-122"/>
                <a:cs typeface="Alibaba PuHuiTi" pitchFamily="18" charset="-122"/>
              </a:rPr>
              <a:t>决策树</a:t>
            </a:r>
            <a:endParaRPr kumimoji="1" lang="en-US" altLang="zh-CN" sz="1800" dirty="0">
              <a:solidFill>
                <a:schemeClr val="tx1"/>
              </a:solidFill>
              <a:latin typeface="Alibaba PuHuiTi" pitchFamily="18" charset="-122"/>
              <a:ea typeface="Alibaba PuHuiTi" pitchFamily="18" charset="-122"/>
              <a:cs typeface="Alibaba PuHuiTi" pitchFamily="18" charset="-122"/>
            </a:endParaRPr>
          </a:p>
          <a:p>
            <a:r>
              <a:rPr kumimoji="1" lang="zh-CN" altLang="en-US" sz="1600" dirty="0">
                <a:solidFill>
                  <a:schemeClr val="tx1"/>
                </a:solidFill>
                <a:latin typeface="Alibaba PuHuiTi" pitchFamily="18" charset="-122"/>
                <a:ea typeface="Alibaba PuHuiTi" pitchFamily="18" charset="-122"/>
                <a:cs typeface="Alibaba PuHuiTi" pitchFamily="18" charset="-122"/>
              </a:rPr>
              <a:t> 案例泰坦尼克号生存预测</a:t>
            </a:r>
            <a:r>
              <a:rPr kumimoji="1" lang="zh-CN" altLang="en-US" sz="1400" b="0" dirty="0">
                <a:solidFill>
                  <a:schemeClr val="tx1"/>
                </a:solidFill>
                <a:latin typeface="Alibaba PuHuiTi" pitchFamily="18" charset="-122"/>
                <a:ea typeface="Alibaba PuHuiTi" pitchFamily="18" charset="-122"/>
                <a:cs typeface="Alibaba PuHuiTi" pitchFamily="18" charset="-122"/>
              </a:rPr>
              <a:t> </a:t>
            </a:r>
            <a:endParaRPr kumimoji="1" lang="en-US" altLang="zh-CN" sz="1600" b="0" dirty="0">
              <a:solidFill>
                <a:schemeClr val="tx1"/>
              </a:solidFill>
              <a:latin typeface="Alibaba PuHuiTi" pitchFamily="18" charset="-122"/>
              <a:ea typeface="Alibaba PuHuiTi" pitchFamily="18" charset="-122"/>
              <a:cs typeface="Alibaba PuHuiTi" pitchFamily="18" charset="-122"/>
            </a:endParaRPr>
          </a:p>
          <a:p>
            <a:r>
              <a:rPr kumimoji="1" lang="en-US" altLang="zh-CN" sz="1800" dirty="0">
                <a:solidFill>
                  <a:srgbClr val="FF0000"/>
                </a:solidFill>
                <a:latin typeface="Alibaba PuHuiTi" pitchFamily="18" charset="-122"/>
                <a:ea typeface="Alibaba PuHuiTi" pitchFamily="18" charset="-122"/>
                <a:cs typeface="Alibaba PuHuiTi" pitchFamily="18" charset="-122"/>
              </a:rPr>
              <a:t>CART</a:t>
            </a:r>
            <a:r>
              <a:rPr kumimoji="1" lang="zh-CN" altLang="en-US" sz="1800" dirty="0">
                <a:solidFill>
                  <a:srgbClr val="FF0000"/>
                </a:solidFill>
                <a:latin typeface="Alibaba PuHuiTi" pitchFamily="18" charset="-122"/>
                <a:ea typeface="Alibaba PuHuiTi" pitchFamily="18" charset="-122"/>
                <a:cs typeface="Alibaba PuHuiTi" pitchFamily="18" charset="-122"/>
              </a:rPr>
              <a:t>回归树</a:t>
            </a:r>
            <a:endParaRPr kumimoji="1" lang="en-US" altLang="zh-CN" sz="1800" dirty="0">
              <a:solidFill>
                <a:srgbClr val="FF0000"/>
              </a:solidFill>
              <a:latin typeface="Alibaba PuHuiTi" pitchFamily="18" charset="-122"/>
              <a:ea typeface="Alibaba PuHuiTi" pitchFamily="18" charset="-122"/>
              <a:cs typeface="Alibaba PuHuiTi" pitchFamily="18" charset="-122"/>
            </a:endParaRPr>
          </a:p>
          <a:p>
            <a:r>
              <a:rPr lang="zh-CN" altLang="en-US" sz="1800" dirty="0">
                <a:solidFill>
                  <a:schemeClr val="tx1">
                    <a:lumMod val="85000"/>
                    <a:lumOff val="15000"/>
                  </a:schemeClr>
                </a:solidFill>
                <a:latin typeface="Alibaba PuHuiTi" pitchFamily="18" charset="-122"/>
                <a:ea typeface="Alibaba PuHuiTi" pitchFamily="18" charset="-122"/>
                <a:cs typeface="Alibaba PuHuiTi" pitchFamily="18" charset="-122"/>
              </a:rPr>
              <a:t>决策树剪枝</a:t>
            </a:r>
            <a:endParaRPr kumimoji="1" lang="en-US" altLang="zh-CN" sz="1800" b="0" dirty="0">
              <a:solidFill>
                <a:schemeClr val="tx1">
                  <a:lumMod val="85000"/>
                  <a:lumOff val="15000"/>
                </a:schemeClr>
              </a:solidFill>
              <a:latin typeface="Alibaba PuHuiTi" pitchFamily="18" charset="-122"/>
              <a:ea typeface="Alibaba PuHuiTi" pitchFamily="18" charset="-122"/>
              <a:cs typeface="Alibaba PuHuiTi" pitchFamily="18" charset="-122"/>
            </a:endParaRPr>
          </a:p>
          <a:p>
            <a:pPr lvl="1"/>
            <a:endParaRPr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596155" y="278703"/>
            <a:ext cx="6298881" cy="4855845"/>
          </a:xfrm>
        </p:spPr>
        <p:txBody>
          <a:bodyPr/>
          <a:lstStyle/>
          <a:p>
            <a:pPr algn="l">
              <a:buFont typeface="+mj-lt"/>
              <a:buAutoNum type="arabicPeriod"/>
            </a:pPr>
            <a:r>
              <a:rPr lang="zh-CN" altLang="en-US" b="0" i="0" u="none" strike="noStrike" dirty="0">
                <a:solidFill>
                  <a:srgbClr val="333333"/>
                </a:solidFill>
                <a:effectLst/>
                <a:latin typeface="Open Sans" panose="020B0606030504020204" pitchFamily="34" charset="0"/>
              </a:rPr>
              <a:t>了解回归决策树的构建原理</a:t>
            </a:r>
            <a:endParaRPr lang="zh-CN" altLang="en-US" b="0" i="0" u="none" strike="noStrike" dirty="0">
              <a:solidFill>
                <a:srgbClr val="333333"/>
              </a:solidFill>
              <a:effectLst/>
              <a:latin typeface="Open Sans" panose="020B0606030504020204" pitchFamily="34" charset="0"/>
            </a:endParaRPr>
          </a:p>
          <a:p>
            <a:r>
              <a:rPr kumimoji="1" lang="zh-CN" altLang="en-US" dirty="0">
                <a:solidFill>
                  <a:schemeClr val="tx1">
                    <a:lumMod val="85000"/>
                    <a:lumOff val="15000"/>
                  </a:schemeClr>
                </a:solidFill>
              </a:rPr>
              <a:t>能</a:t>
            </a:r>
            <a:r>
              <a:rPr kumimoji="1" lang="zh-CN" altLang="en-US" dirty="0">
                <a:solidFill>
                  <a:schemeClr val="tx1"/>
                </a:solidFill>
              </a:rPr>
              <a:t>利用回归决策树</a:t>
            </a:r>
            <a:r>
              <a:rPr kumimoji="1" lang="en-US" altLang="zh-CN" dirty="0">
                <a:solidFill>
                  <a:schemeClr val="tx1"/>
                </a:solidFill>
              </a:rPr>
              <a:t>API</a:t>
            </a:r>
            <a:r>
              <a:rPr kumimoji="1" lang="zh-CN" altLang="en-US" dirty="0">
                <a:solidFill>
                  <a:schemeClr val="tx1"/>
                </a:solidFill>
              </a:rPr>
              <a:t>解决问题</a:t>
            </a:r>
            <a:endParaRPr kumimoji="1" lang="en-US" altLang="zh-CN" dirty="0">
              <a:solidFill>
                <a:schemeClr val="tx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CART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回归决策树</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7" name="文本占位符 2"/>
          <p:cNvSpPr txBox="1"/>
          <p:nvPr/>
        </p:nvSpPr>
        <p:spPr>
          <a:xfrm>
            <a:off x="1374758" y="1392561"/>
            <a:ext cx="6891912"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en-GB" altLang="zh-CN" b="0" i="0" u="none" strike="noStrike" dirty="0">
                <a:solidFill>
                  <a:srgbClr val="333333"/>
                </a:solidFill>
                <a:effectLst/>
                <a:latin typeface="Open Sans" panose="020B0606030504020204" pitchFamily="34" charset="0"/>
              </a:rPr>
              <a:t>CART </a:t>
            </a:r>
            <a:r>
              <a:rPr lang="zh-CN" altLang="en-US" b="0" i="0" u="none" strike="noStrike" dirty="0">
                <a:solidFill>
                  <a:srgbClr val="333333"/>
                </a:solidFill>
                <a:effectLst/>
                <a:latin typeface="Open Sans" panose="020B0606030504020204" pitchFamily="34" charset="0"/>
              </a:rPr>
              <a:t>回归树和 </a:t>
            </a:r>
            <a:r>
              <a:rPr lang="en-GB" altLang="zh-CN" b="0" i="0" u="none" strike="noStrike" dirty="0">
                <a:solidFill>
                  <a:srgbClr val="333333"/>
                </a:solidFill>
                <a:effectLst/>
                <a:latin typeface="Open Sans" panose="020B0606030504020204" pitchFamily="34" charset="0"/>
              </a:rPr>
              <a:t>CART </a:t>
            </a:r>
            <a:r>
              <a:rPr lang="zh-CN" altLang="en-US" b="0" i="0" u="none" strike="noStrike" dirty="0">
                <a:solidFill>
                  <a:srgbClr val="333333"/>
                </a:solidFill>
                <a:effectLst/>
                <a:latin typeface="Open Sans" panose="020B0606030504020204" pitchFamily="34" charset="0"/>
              </a:rPr>
              <a:t>分类树的不同之处在于</a:t>
            </a:r>
            <a:endParaRPr kumimoji="0" lang="zh-CN" altLang="en-US" sz="1600" b="1" i="0" u="none" strike="noStrike" kern="1200" cap="none" spc="0" normalizeH="0" baseline="0" noProof="0" dirty="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endParaRPr>
          </a:p>
        </p:txBody>
      </p:sp>
      <p:sp>
        <p:nvSpPr>
          <p:cNvPr id="13" name="文本框 12"/>
          <p:cNvSpPr txBox="1"/>
          <p:nvPr/>
        </p:nvSpPr>
        <p:spPr>
          <a:xfrm>
            <a:off x="1791106" y="1892139"/>
            <a:ext cx="7946018" cy="1031564"/>
          </a:xfrm>
          <a:prstGeom prst="rect">
            <a:avLst/>
          </a:prstGeom>
          <a:noFill/>
        </p:spPr>
        <p:txBody>
          <a:bodyPr wrap="square">
            <a:spAutoFit/>
          </a:bodyPr>
          <a:lstStyle/>
          <a:p>
            <a:pPr marL="285750" lvl="0" indent="-285750">
              <a:lnSpc>
                <a:spcPct val="150000"/>
              </a:lnSpc>
              <a:buFont typeface="Arial" panose="020B0604020202020204" pitchFamily="34" charset="0"/>
              <a:buChar char="•"/>
            </a:pPr>
            <a:r>
              <a:rPr lang="en-GB" altLang="zh-CN" sz="1400" dirty="0">
                <a:solidFill>
                  <a:srgbClr val="333333"/>
                </a:solidFill>
                <a:latin typeface="Alibaba PuHuiTi" pitchFamily="18" charset="-122"/>
                <a:ea typeface="Alibaba PuHuiTi" pitchFamily="18" charset="-122"/>
                <a:cs typeface="Alibaba PuHuiTi" pitchFamily="18" charset="-122"/>
              </a:rPr>
              <a:t>CART </a:t>
            </a:r>
            <a:r>
              <a:rPr lang="zh-CN" altLang="en-US" sz="1400" dirty="0">
                <a:solidFill>
                  <a:srgbClr val="333333"/>
                </a:solidFill>
                <a:latin typeface="Alibaba PuHuiTi" pitchFamily="18" charset="-122"/>
                <a:ea typeface="Alibaba PuHuiTi" pitchFamily="18" charset="-122"/>
                <a:cs typeface="Alibaba PuHuiTi" pitchFamily="18" charset="-122"/>
              </a:rPr>
              <a:t>分类树预测输出的是一个</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离散值</a:t>
            </a:r>
            <a:r>
              <a:rPr lang="zh-CN" altLang="en-US" sz="1400" dirty="0">
                <a:solidFill>
                  <a:srgbClr val="333333"/>
                </a:solidFill>
                <a:latin typeface="Alibaba PuHuiTi" pitchFamily="18" charset="-122"/>
                <a:ea typeface="Alibaba PuHuiTi" pitchFamily="18" charset="-122"/>
                <a:cs typeface="Alibaba PuHuiTi" pitchFamily="18" charset="-122"/>
              </a:rPr>
              <a:t>，</a:t>
            </a:r>
            <a:r>
              <a:rPr lang="en-GB" altLang="zh-CN" sz="1400" dirty="0">
                <a:solidFill>
                  <a:srgbClr val="333333"/>
                </a:solidFill>
                <a:latin typeface="Alibaba PuHuiTi" pitchFamily="18" charset="-122"/>
                <a:ea typeface="Alibaba PuHuiTi" pitchFamily="18" charset="-122"/>
                <a:cs typeface="Alibaba PuHuiTi" pitchFamily="18" charset="-122"/>
              </a:rPr>
              <a:t>CART </a:t>
            </a:r>
            <a:r>
              <a:rPr lang="zh-CN" altLang="en-US" sz="1400" dirty="0">
                <a:solidFill>
                  <a:srgbClr val="333333"/>
                </a:solidFill>
                <a:latin typeface="Alibaba PuHuiTi" pitchFamily="18" charset="-122"/>
                <a:ea typeface="Alibaba PuHuiTi" pitchFamily="18" charset="-122"/>
                <a:cs typeface="Alibaba PuHuiTi" pitchFamily="18" charset="-122"/>
              </a:rPr>
              <a:t>回归树预测输出的是</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一个连续值</a:t>
            </a:r>
            <a:endParaRPr lang="zh-CN" altLang="en-US" sz="1400" dirty="0">
              <a:solidFill>
                <a:srgbClr val="333333"/>
              </a:solidFill>
              <a:latin typeface="Alibaba PuHuiTi" pitchFamily="18" charset="-122"/>
              <a:ea typeface="Alibaba PuHuiTi" pitchFamily="18" charset="-122"/>
              <a:cs typeface="Alibaba PuHuiTi" pitchFamily="18" charset="-122"/>
            </a:endParaRPr>
          </a:p>
          <a:p>
            <a:pPr marL="285750" lvl="0" indent="-285750">
              <a:lnSpc>
                <a:spcPct val="150000"/>
              </a:lnSpc>
              <a:buFont typeface="Arial" panose="020B0604020202020204" pitchFamily="34" charset="0"/>
              <a:buChar char="•"/>
            </a:pPr>
            <a:r>
              <a:rPr lang="en-GB" altLang="zh-CN" sz="1400" dirty="0">
                <a:solidFill>
                  <a:srgbClr val="333333"/>
                </a:solidFill>
                <a:latin typeface="Alibaba PuHuiTi" pitchFamily="18" charset="-122"/>
                <a:ea typeface="Alibaba PuHuiTi" pitchFamily="18" charset="-122"/>
                <a:cs typeface="Alibaba PuHuiTi" pitchFamily="18" charset="-122"/>
              </a:rPr>
              <a:t>CART </a:t>
            </a:r>
            <a:r>
              <a:rPr lang="zh-CN" altLang="en-US" sz="1400" dirty="0">
                <a:solidFill>
                  <a:srgbClr val="333333"/>
                </a:solidFill>
                <a:latin typeface="Alibaba PuHuiTi" pitchFamily="18" charset="-122"/>
                <a:ea typeface="Alibaba PuHuiTi" pitchFamily="18" charset="-122"/>
                <a:cs typeface="Alibaba PuHuiTi" pitchFamily="18" charset="-122"/>
              </a:rPr>
              <a:t>分类树使用</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基尼指数</a:t>
            </a:r>
            <a:r>
              <a:rPr lang="zh-CN" altLang="en-US" sz="1400" dirty="0">
                <a:solidFill>
                  <a:srgbClr val="333333"/>
                </a:solidFill>
                <a:latin typeface="Alibaba PuHuiTi" pitchFamily="18" charset="-122"/>
                <a:ea typeface="Alibaba PuHuiTi" pitchFamily="18" charset="-122"/>
                <a:cs typeface="Alibaba PuHuiTi" pitchFamily="18" charset="-122"/>
              </a:rPr>
              <a:t>作为划分、构建树的依据，</a:t>
            </a:r>
            <a:r>
              <a:rPr lang="en-GB" altLang="zh-CN" sz="1400" dirty="0">
                <a:solidFill>
                  <a:srgbClr val="333333"/>
                </a:solidFill>
                <a:latin typeface="Alibaba PuHuiTi" pitchFamily="18" charset="-122"/>
                <a:ea typeface="Alibaba PuHuiTi" pitchFamily="18" charset="-122"/>
                <a:cs typeface="Alibaba PuHuiTi" pitchFamily="18" charset="-122"/>
              </a:rPr>
              <a:t>CART </a:t>
            </a:r>
            <a:r>
              <a:rPr lang="zh-CN" altLang="en-US" sz="1400" dirty="0">
                <a:solidFill>
                  <a:srgbClr val="333333"/>
                </a:solidFill>
                <a:latin typeface="Alibaba PuHuiTi" pitchFamily="18" charset="-122"/>
                <a:ea typeface="Alibaba PuHuiTi" pitchFamily="18" charset="-122"/>
                <a:cs typeface="Alibaba PuHuiTi" pitchFamily="18" charset="-122"/>
              </a:rPr>
              <a:t>回归树使用</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平方损失</a:t>
            </a:r>
            <a:endParaRPr lang="zh-CN" altLang="en-US" sz="1400" dirty="0">
              <a:solidFill>
                <a:srgbClr val="333333"/>
              </a:solidFill>
              <a:latin typeface="Alibaba PuHuiTi" pitchFamily="18" charset="-122"/>
              <a:ea typeface="Alibaba PuHuiTi" pitchFamily="18" charset="-122"/>
              <a:cs typeface="Alibaba PuHuiTi" pitchFamily="18" charset="-122"/>
            </a:endParaRPr>
          </a:p>
          <a:p>
            <a:pPr marL="285750" lvl="0" indent="-285750">
              <a:lnSpc>
                <a:spcPct val="150000"/>
              </a:lnSpc>
              <a:buFont typeface="Arial" panose="020B0604020202020204" pitchFamily="34" charset="0"/>
              <a:buChar char="•"/>
            </a:pPr>
            <a:r>
              <a:rPr lang="zh-CN" altLang="en-US" sz="1400" dirty="0">
                <a:solidFill>
                  <a:srgbClr val="333333"/>
                </a:solidFill>
                <a:latin typeface="Alibaba PuHuiTi" pitchFamily="18" charset="-122"/>
                <a:ea typeface="Alibaba PuHuiTi" pitchFamily="18" charset="-122"/>
                <a:cs typeface="Alibaba PuHuiTi" pitchFamily="18" charset="-122"/>
              </a:rPr>
              <a:t>分类树使用叶子节点</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多数类别作为预测类别</a:t>
            </a:r>
            <a:r>
              <a:rPr lang="zh-CN" altLang="en-US" sz="1400" dirty="0">
                <a:solidFill>
                  <a:srgbClr val="333333"/>
                </a:solidFill>
                <a:latin typeface="Alibaba PuHuiTi" pitchFamily="18" charset="-122"/>
                <a:ea typeface="Alibaba PuHuiTi" pitchFamily="18" charset="-122"/>
                <a:cs typeface="Alibaba PuHuiTi" pitchFamily="18" charset="-122"/>
              </a:rPr>
              <a:t>，回归树则采用叶子节点里</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均值作为预测输出</a:t>
            </a:r>
            <a:endParaRPr lang="zh-CN" altLang="en-US" sz="1400" dirty="0">
              <a:solidFill>
                <a:schemeClr val="accent2">
                  <a:lumMod val="75000"/>
                </a:schemeClr>
              </a:solidFill>
              <a:latin typeface="Alibaba PuHuiTi" pitchFamily="18" charset="-122"/>
              <a:ea typeface="Alibaba PuHuiTi" pitchFamily="18" charset="-122"/>
              <a:cs typeface="Alibaba PuHuiTi" pitchFamily="18" charset="-122"/>
            </a:endParaRPr>
          </a:p>
        </p:txBody>
      </p:sp>
      <p:sp>
        <p:nvSpPr>
          <p:cNvPr id="2" name="文本占位符 2"/>
          <p:cNvSpPr txBox="1"/>
          <p:nvPr/>
        </p:nvSpPr>
        <p:spPr>
          <a:xfrm>
            <a:off x="1374758" y="3080355"/>
            <a:ext cx="3963361"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en-GB" altLang="zh-CN" b="0" i="0" u="none" strike="noStrike" dirty="0">
                <a:solidFill>
                  <a:srgbClr val="333333"/>
                </a:solidFill>
                <a:effectLst/>
                <a:latin typeface="Open Sans" panose="020B0606030504020204" pitchFamily="34" charset="0"/>
              </a:rPr>
              <a:t>CART </a:t>
            </a:r>
            <a:r>
              <a:rPr lang="zh-CN" altLang="en-US" b="0" i="0" u="none" strike="noStrike" dirty="0">
                <a:solidFill>
                  <a:srgbClr val="333333"/>
                </a:solidFill>
                <a:effectLst/>
                <a:latin typeface="Open Sans" panose="020B0606030504020204" pitchFamily="34" charset="0"/>
              </a:rPr>
              <a:t>回归树的平方损失</a:t>
            </a:r>
            <a:endParaRPr kumimoji="0" lang="zh-CN" altLang="en-US" sz="1600" b="1" i="0" u="none" strike="noStrike" kern="1200" cap="none" spc="0" normalizeH="0" baseline="0" noProof="0" dirty="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endParaRPr>
          </a:p>
        </p:txBody>
      </p:sp>
      <p:pic>
        <p:nvPicPr>
          <p:cNvPr id="4" name="图片 3"/>
          <p:cNvPicPr>
            <a:picLocks noChangeAspect="1"/>
          </p:cNvPicPr>
          <p:nvPr/>
        </p:nvPicPr>
        <p:blipFill>
          <a:blip r:embed="rId1"/>
          <a:stretch>
            <a:fillRect/>
          </a:stretch>
        </p:blipFill>
        <p:spPr>
          <a:xfrm>
            <a:off x="1791106" y="3551232"/>
            <a:ext cx="2959100" cy="647700"/>
          </a:xfrm>
          <a:prstGeom prst="rect">
            <a:avLst/>
          </a:prstGeom>
        </p:spPr>
      </p:pic>
      <p:sp>
        <p:nvSpPr>
          <p:cNvPr id="5" name="文本占位符 2"/>
          <p:cNvSpPr txBox="1"/>
          <p:nvPr/>
        </p:nvSpPr>
        <p:spPr>
          <a:xfrm>
            <a:off x="1374758" y="4261288"/>
            <a:ext cx="5063112"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srgbClr val="333333"/>
                </a:solidFill>
                <a:latin typeface="Open Sans" panose="020B0606030504020204" pitchFamily="34" charset="0"/>
              </a:rPr>
              <a:t>栗子：根据</a:t>
            </a:r>
            <a:r>
              <a:rPr lang="zh-CN" altLang="en-US" dirty="0">
                <a:solidFill>
                  <a:schemeClr val="accent2">
                    <a:lumMod val="75000"/>
                  </a:schemeClr>
                </a:solidFill>
                <a:latin typeface="Open Sans" panose="020B0606030504020204" pitchFamily="34" charset="0"/>
              </a:rPr>
              <a:t>平方损失</a:t>
            </a:r>
            <a:r>
              <a:rPr lang="zh-CN" altLang="en-US" dirty="0">
                <a:solidFill>
                  <a:srgbClr val="333333"/>
                </a:solidFill>
                <a:latin typeface="Open Sans" panose="020B0606030504020204" pitchFamily="34" charset="0"/>
              </a:rPr>
              <a:t>，</a:t>
            </a:r>
            <a:r>
              <a:rPr lang="zh-CN" altLang="en-GB" b="0" i="0" u="none" strike="noStrike" dirty="0">
                <a:solidFill>
                  <a:srgbClr val="333333"/>
                </a:solidFill>
                <a:effectLst/>
                <a:latin typeface="Open Sans" panose="020B0606030504020204" pitchFamily="34" charset="0"/>
              </a:rPr>
              <a:t>构建</a:t>
            </a:r>
            <a:r>
              <a:rPr lang="en-GB" altLang="zh-CN" b="0" i="0" u="none" strike="noStrike" dirty="0">
                <a:solidFill>
                  <a:srgbClr val="333333"/>
                </a:solidFill>
                <a:effectLst/>
                <a:latin typeface="Open Sans" panose="020B0606030504020204" pitchFamily="34" charset="0"/>
              </a:rPr>
              <a:t>CART </a:t>
            </a:r>
            <a:r>
              <a:rPr lang="zh-CN" altLang="en-US" b="0" i="0" u="none" strike="noStrike" dirty="0">
                <a:solidFill>
                  <a:srgbClr val="333333"/>
                </a:solidFill>
                <a:effectLst/>
                <a:latin typeface="Open Sans" panose="020B0606030504020204" pitchFamily="34" charset="0"/>
              </a:rPr>
              <a:t>回归树 </a:t>
            </a:r>
            <a:endParaRPr kumimoji="0" lang="zh-CN" altLang="en-US" sz="1600" b="1" i="0" u="none" strike="noStrike" kern="1200" cap="none" spc="0" normalizeH="0" baseline="0" noProof="0" dirty="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endParaRPr>
          </a:p>
        </p:txBody>
      </p:sp>
      <p:pic>
        <p:nvPicPr>
          <p:cNvPr id="6" name="图片 5"/>
          <p:cNvPicPr>
            <a:picLocks noChangeAspect="1"/>
          </p:cNvPicPr>
          <p:nvPr/>
        </p:nvPicPr>
        <p:blipFill>
          <a:blip r:embed="rId2"/>
          <a:stretch>
            <a:fillRect/>
          </a:stretch>
        </p:blipFill>
        <p:spPr>
          <a:xfrm>
            <a:off x="2098590" y="5292441"/>
            <a:ext cx="7772400" cy="654349"/>
          </a:xfrm>
          <a:prstGeom prst="rect">
            <a:avLst/>
          </a:prstGeom>
        </p:spPr>
      </p:pic>
      <p:sp>
        <p:nvSpPr>
          <p:cNvPr id="8" name="文本框 7"/>
          <p:cNvSpPr txBox="1"/>
          <p:nvPr/>
        </p:nvSpPr>
        <p:spPr>
          <a:xfrm>
            <a:off x="2098590" y="4823597"/>
            <a:ext cx="7772400" cy="38523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400" dirty="0">
                <a:solidFill>
                  <a:srgbClr val="333333"/>
                </a:solidFill>
                <a:latin typeface="Alibaba PuHuiTi" pitchFamily="18" charset="-122"/>
                <a:ea typeface="Alibaba PuHuiTi" pitchFamily="18" charset="-122"/>
                <a:cs typeface="Alibaba PuHuiTi" pitchFamily="18" charset="-122"/>
              </a:rPr>
              <a:t>已知：数据集</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只有 </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1 </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个特征 </a:t>
            </a:r>
            <a:r>
              <a:rPr lang="en-GB" altLang="zh-CN" sz="1400" dirty="0">
                <a:solidFill>
                  <a:srgbClr val="333333"/>
                </a:solidFill>
                <a:latin typeface="Alibaba PuHuiTi" pitchFamily="18" charset="-122"/>
                <a:ea typeface="Alibaba PuHuiTi" pitchFamily="18" charset="-122"/>
                <a:cs typeface="Alibaba PuHuiTi" pitchFamily="18" charset="-122"/>
              </a:rPr>
              <a:t>x, </a:t>
            </a:r>
            <a:r>
              <a:rPr lang="zh-CN" altLang="en-US" sz="1400" dirty="0">
                <a:solidFill>
                  <a:srgbClr val="333333"/>
                </a:solidFill>
                <a:latin typeface="Alibaba PuHuiTi" pitchFamily="18" charset="-122"/>
                <a:ea typeface="Alibaba PuHuiTi" pitchFamily="18" charset="-122"/>
                <a:cs typeface="Alibaba PuHuiTi" pitchFamily="18" charset="-122"/>
              </a:rPr>
              <a:t>目标值值为 </a:t>
            </a:r>
            <a:r>
              <a:rPr lang="en-GB" altLang="zh-CN" sz="1400" dirty="0">
                <a:solidFill>
                  <a:srgbClr val="333333"/>
                </a:solidFill>
                <a:latin typeface="Alibaba PuHuiTi" pitchFamily="18" charset="-122"/>
                <a:ea typeface="Alibaba PuHuiTi" pitchFamily="18" charset="-122"/>
                <a:cs typeface="Alibaba PuHuiTi" pitchFamily="18" charset="-122"/>
              </a:rPr>
              <a:t>y</a:t>
            </a:r>
            <a:endParaRPr lang="zh-CN" altLang="en-US" sz="1400" dirty="0">
              <a:solidFill>
                <a:schemeClr val="accent2">
                  <a:lumMod val="75000"/>
                </a:schemeClr>
              </a:solidFill>
              <a:latin typeface="Alibaba PuHuiTi" pitchFamily="18" charset="-122"/>
              <a:ea typeface="Alibaba PuHuiTi" pitchFamily="18" charset="-122"/>
              <a:cs typeface="Alibaba PuHuiTi" pitchFamily="18" charset="-122"/>
            </a:endParaRPr>
          </a:p>
        </p:txBody>
      </p:sp>
      <p:sp>
        <p:nvSpPr>
          <p:cNvPr id="12" name="文本框 11"/>
          <p:cNvSpPr txBox="1"/>
          <p:nvPr/>
        </p:nvSpPr>
        <p:spPr>
          <a:xfrm>
            <a:off x="2098590" y="6042129"/>
            <a:ext cx="7638534" cy="38523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400" dirty="0">
                <a:solidFill>
                  <a:srgbClr val="333333"/>
                </a:solidFill>
                <a:latin typeface="Alibaba PuHuiTi" pitchFamily="18" charset="-122"/>
                <a:ea typeface="Alibaba PuHuiTi" pitchFamily="18" charset="-122"/>
                <a:cs typeface="Alibaba PuHuiTi" pitchFamily="18" charset="-122"/>
              </a:rPr>
              <a:t>分析：</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因只有 </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1 </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个特征</a:t>
            </a:r>
            <a:r>
              <a:rPr lang="zh-CN" altLang="en-US" sz="1400" dirty="0">
                <a:solidFill>
                  <a:srgbClr val="333333"/>
                </a:solidFill>
                <a:latin typeface="Alibaba PuHuiTi" pitchFamily="18" charset="-122"/>
                <a:ea typeface="Alibaba PuHuiTi" pitchFamily="18" charset="-122"/>
                <a:cs typeface="Alibaba PuHuiTi" pitchFamily="18" charset="-122"/>
              </a:rPr>
              <a:t>，所以</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只需选择该特征</a:t>
            </a:r>
            <a:r>
              <a:rPr lang="zh-CN" altLang="en-US" sz="1400" dirty="0">
                <a:solidFill>
                  <a:srgbClr val="333333"/>
                </a:solidFill>
                <a:latin typeface="Alibaba PuHuiTi" pitchFamily="18" charset="-122"/>
                <a:ea typeface="Alibaba PuHuiTi" pitchFamily="18" charset="-122"/>
                <a:cs typeface="Alibaba PuHuiTi" pitchFamily="18" charset="-122"/>
              </a:rPr>
              <a:t>的最优划分点，并不需要计算其他特征。</a:t>
            </a:r>
            <a:endParaRPr lang="zh-CN" altLang="en-US" sz="1400" dirty="0">
              <a:solidFill>
                <a:schemeClr val="accent2">
                  <a:lumMod val="7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CART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回归决策树</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7" name="文本占位符 2"/>
          <p:cNvSpPr txBox="1"/>
          <p:nvPr/>
        </p:nvSpPr>
        <p:spPr>
          <a:xfrm>
            <a:off x="1152332" y="1392561"/>
            <a:ext cx="6891912"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en-US" altLang="zh-CN" i="0" u="none" strike="noStrike" dirty="0">
                <a:effectLst/>
                <a:latin typeface="Open Sans" panose="020B0606030504020204" pitchFamily="34" charset="0"/>
              </a:rPr>
              <a:t>1</a:t>
            </a:r>
            <a:r>
              <a:rPr lang="zh-CN" altLang="en-US" i="0" u="none" strike="noStrike" dirty="0">
                <a:effectLst/>
                <a:latin typeface="Open Sans" panose="020B0606030504020204" pitchFamily="34" charset="0"/>
              </a:rPr>
              <a:t> 先将</a:t>
            </a:r>
            <a:r>
              <a:rPr lang="zh-CN" altLang="en-US" i="0" u="none" strike="noStrike" dirty="0">
                <a:solidFill>
                  <a:schemeClr val="accent2">
                    <a:lumMod val="75000"/>
                  </a:schemeClr>
                </a:solidFill>
                <a:effectLst/>
                <a:latin typeface="Open Sans" panose="020B0606030504020204" pitchFamily="34" charset="0"/>
              </a:rPr>
              <a:t>特征 </a:t>
            </a:r>
            <a:r>
              <a:rPr lang="en-GB" altLang="zh-CN" i="0" u="none" strike="noStrike" dirty="0">
                <a:solidFill>
                  <a:schemeClr val="accent2">
                    <a:lumMod val="75000"/>
                  </a:schemeClr>
                </a:solidFill>
                <a:effectLst/>
                <a:latin typeface="Open Sans" panose="020B0606030504020204" pitchFamily="34" charset="0"/>
              </a:rPr>
              <a:t>x </a:t>
            </a:r>
            <a:r>
              <a:rPr lang="zh-CN" altLang="en-US" i="0" u="none" strike="noStrike" dirty="0">
                <a:solidFill>
                  <a:schemeClr val="accent2">
                    <a:lumMod val="75000"/>
                  </a:schemeClr>
                </a:solidFill>
                <a:effectLst/>
                <a:latin typeface="Open Sans" panose="020B0606030504020204" pitchFamily="34" charset="0"/>
              </a:rPr>
              <a:t>的值排序</a:t>
            </a:r>
            <a:r>
              <a:rPr lang="zh-CN" altLang="en-US" i="0" u="none" strike="noStrike" dirty="0">
                <a:effectLst/>
                <a:latin typeface="Open Sans" panose="020B0606030504020204" pitchFamily="34" charset="0"/>
              </a:rPr>
              <a:t>，并取相邻元素均值作为待划分点，如下图所示：</a:t>
            </a:r>
            <a:endParaRPr kumimoji="0" lang="zh-CN" altLang="en-US" sz="1600" i="0" u="none" strike="noStrike" kern="1200" cap="none" spc="0" normalizeH="0" baseline="0" noProof="0" dirty="0">
              <a:ln>
                <a:noFill/>
              </a:ln>
              <a:effectLst/>
              <a:uLnTx/>
              <a:uFillTx/>
              <a:latin typeface="Open Sans" panose="020B0606030504020204" pitchFamily="34" charset="0"/>
              <a:ea typeface="阿里巴巴普惠体" panose="00020600040101010101" pitchFamily="18" charset="-122"/>
              <a:cs typeface="阿里巴巴普惠体" panose="00020600040101010101" pitchFamily="18" charset="-122"/>
            </a:endParaRPr>
          </a:p>
        </p:txBody>
      </p:sp>
      <p:sp>
        <p:nvSpPr>
          <p:cNvPr id="2" name="文本占位符 2"/>
          <p:cNvSpPr txBox="1"/>
          <p:nvPr/>
        </p:nvSpPr>
        <p:spPr>
          <a:xfrm>
            <a:off x="1152332" y="2418361"/>
            <a:ext cx="7274976"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en-US" altLang="zh-CN" sz="1600" b="0" i="0" u="none" strike="noStrike" kern="1200" cap="none" spc="0" normalizeH="0" baseline="0" noProof="0" dirty="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2</a:t>
            </a:r>
            <a:r>
              <a:rPr kumimoji="0" lang="zh-CN" altLang="en-US" sz="1600" b="0" i="0" u="none" strike="noStrike" kern="1200" cap="none" spc="0" normalizeH="0" baseline="0" noProof="0" dirty="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 计算</a:t>
            </a:r>
            <a:r>
              <a:rPr kumimoji="0" lang="zh-CN" altLang="en-US" sz="1600" b="0" i="0" u="none" strike="noStrike" kern="1200" cap="none" spc="0" normalizeH="0" baseline="0" noProof="0" dirty="0">
                <a:ln>
                  <a:noFill/>
                </a:ln>
                <a:solidFill>
                  <a:schemeClr val="accent2">
                    <a:lumMod val="75000"/>
                  </a:scheme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每一个划分点</a:t>
            </a:r>
            <a:r>
              <a:rPr kumimoji="0" lang="zh-CN" altLang="en-US" sz="1600" b="0" i="0" u="none" strike="noStrike" kern="1200" cap="none" spc="0" normalizeH="0" baseline="0" noProof="0" dirty="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的平方损失，例如：</a:t>
            </a:r>
            <a:r>
              <a:rPr kumimoji="0" lang="zh-CN" altLang="en-US" sz="1600" b="0" i="0" u="none" strike="noStrike" kern="1200" cap="none" spc="0" normalizeH="0" baseline="0" noProof="0" dirty="0">
                <a:ln>
                  <a:noFill/>
                </a:ln>
                <a:solidFill>
                  <a:schemeClr val="accent2">
                    <a:lumMod val="75000"/>
                  </a:scheme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划分点</a:t>
            </a:r>
            <a:r>
              <a:rPr kumimoji="0" lang="en-US" altLang="zh-CN" sz="1600" b="0" i="0" u="none" strike="noStrike" kern="1200" cap="none" spc="0" normalizeH="0" baseline="0" noProof="0" dirty="0">
                <a:ln>
                  <a:noFill/>
                </a:ln>
                <a:solidFill>
                  <a:schemeClr val="accent2">
                    <a:lumMod val="75000"/>
                  </a:scheme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1.5 </a:t>
            </a:r>
            <a:r>
              <a:rPr kumimoji="0" lang="zh-CN" altLang="en-US" sz="1600" b="0" i="0" u="none" strike="noStrike" kern="1200" cap="none" spc="0" normalizeH="0" baseline="0" noProof="0" dirty="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的平方损失计算过程为：</a:t>
            </a:r>
            <a:endParaRPr kumimoji="0" lang="zh-CN" altLang="en-US" sz="1600" b="1" i="0" u="none" strike="noStrike" kern="1200" cap="none" spc="0" normalizeH="0" baseline="0" noProof="0" dirty="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endParaRPr>
          </a:p>
        </p:txBody>
      </p:sp>
      <p:pic>
        <p:nvPicPr>
          <p:cNvPr id="9" name="图片 8"/>
          <p:cNvPicPr>
            <a:picLocks noChangeAspect="1"/>
          </p:cNvPicPr>
          <p:nvPr/>
        </p:nvPicPr>
        <p:blipFill>
          <a:blip r:embed="rId1"/>
          <a:stretch>
            <a:fillRect/>
          </a:stretch>
        </p:blipFill>
        <p:spPr>
          <a:xfrm>
            <a:off x="1569303" y="1996288"/>
            <a:ext cx="7772400" cy="317923"/>
          </a:xfrm>
          <a:prstGeom prst="rect">
            <a:avLst/>
          </a:prstGeom>
        </p:spPr>
      </p:pic>
      <p:pic>
        <p:nvPicPr>
          <p:cNvPr id="10" name="图片 9"/>
          <p:cNvPicPr>
            <a:picLocks noChangeAspect="1"/>
          </p:cNvPicPr>
          <p:nvPr/>
        </p:nvPicPr>
        <p:blipFill>
          <a:blip r:embed="rId2"/>
          <a:stretch>
            <a:fillRect/>
          </a:stretch>
        </p:blipFill>
        <p:spPr>
          <a:xfrm>
            <a:off x="1569303" y="3022089"/>
            <a:ext cx="7772400" cy="2508697"/>
          </a:xfrm>
          <a:prstGeom prst="rect">
            <a:avLst/>
          </a:prstGeom>
        </p:spPr>
      </p:pic>
      <p:sp>
        <p:nvSpPr>
          <p:cNvPr id="11" name="椭圆 10"/>
          <p:cNvSpPr/>
          <p:nvPr/>
        </p:nvSpPr>
        <p:spPr>
          <a:xfrm>
            <a:off x="10116563" y="2418360"/>
            <a:ext cx="923105" cy="763161"/>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t>10</a:t>
            </a:r>
            <a:endParaRPr kumimoji="1" lang="zh-CN" altLang="en-US" sz="1400" dirty="0"/>
          </a:p>
        </p:txBody>
      </p:sp>
      <p:sp>
        <p:nvSpPr>
          <p:cNvPr id="14" name="椭圆 13"/>
          <p:cNvSpPr/>
          <p:nvPr/>
        </p:nvSpPr>
        <p:spPr>
          <a:xfrm>
            <a:off x="9334953" y="3822707"/>
            <a:ext cx="902251" cy="822513"/>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600" dirty="0"/>
              <a:t>1</a:t>
            </a:r>
            <a:endParaRPr kumimoji="1" lang="en-US" altLang="zh-CN" sz="1600" dirty="0"/>
          </a:p>
        </p:txBody>
      </p:sp>
      <p:sp>
        <p:nvSpPr>
          <p:cNvPr id="15" name="椭圆 14"/>
          <p:cNvSpPr/>
          <p:nvPr/>
        </p:nvSpPr>
        <p:spPr>
          <a:xfrm>
            <a:off x="11220007" y="3865543"/>
            <a:ext cx="796145" cy="73684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600" dirty="0"/>
              <a:t>9</a:t>
            </a:r>
            <a:endParaRPr kumimoji="1" lang="en-US" altLang="zh-CN" sz="1600" dirty="0"/>
          </a:p>
        </p:txBody>
      </p:sp>
      <p:cxnSp>
        <p:nvCxnSpPr>
          <p:cNvPr id="16" name="直线箭头连接符 15"/>
          <p:cNvCxnSpPr>
            <a:stCxn id="11" idx="4"/>
            <a:endCxn id="14" idx="0"/>
          </p:cNvCxnSpPr>
          <p:nvPr/>
        </p:nvCxnSpPr>
        <p:spPr>
          <a:xfrm flipH="1">
            <a:off x="9786079" y="3181521"/>
            <a:ext cx="792037" cy="6411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线箭头连接符 16"/>
          <p:cNvCxnSpPr>
            <a:stCxn id="11" idx="4"/>
            <a:endCxn id="15" idx="0"/>
          </p:cNvCxnSpPr>
          <p:nvPr/>
        </p:nvCxnSpPr>
        <p:spPr>
          <a:xfrm>
            <a:off x="10578116" y="3181521"/>
            <a:ext cx="1039964" cy="6840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8994404" y="3207158"/>
            <a:ext cx="1628293" cy="523220"/>
          </a:xfrm>
          <a:prstGeom prst="rect">
            <a:avLst/>
          </a:prstGeom>
          <a:noFill/>
        </p:spPr>
        <p:txBody>
          <a:bodyPr wrap="square">
            <a:spAutoFit/>
          </a:bodyPr>
          <a:lstStyle/>
          <a:p>
            <a:pPr>
              <a:buClrTx/>
              <a:buSzTx/>
              <a:buFontTx/>
              <a:buNone/>
            </a:pPr>
            <a:r>
              <a:rPr lang="zh-CN" altLang="en-US" sz="1400" dirty="0">
                <a:solidFill>
                  <a:srgbClr val="C0504D">
                    <a:lumMod val="75000"/>
                  </a:srgbClr>
                </a:solidFill>
                <a:latin typeface="Alibaba PuHuiTi" pitchFamily="18" charset="-122"/>
                <a:ea typeface="Alibaba PuHuiTi" pitchFamily="18" charset="-122"/>
                <a:cs typeface="Alibaba PuHuiTi" pitchFamily="18" charset="-122"/>
              </a:rPr>
              <a:t>按照</a:t>
            </a:r>
            <a:r>
              <a:rPr lang="en-US" altLang="zh-CN" sz="1400" dirty="0">
                <a:solidFill>
                  <a:srgbClr val="C0504D">
                    <a:lumMod val="75000"/>
                  </a:srgbClr>
                </a:solidFill>
                <a:latin typeface="Alibaba PuHuiTi" pitchFamily="18" charset="-122"/>
                <a:ea typeface="Alibaba PuHuiTi" pitchFamily="18" charset="-122"/>
                <a:cs typeface="Alibaba PuHuiTi" pitchFamily="18" charset="-122"/>
              </a:rPr>
              <a:t>1.5</a:t>
            </a:r>
            <a:r>
              <a:rPr lang="zh-CN" altLang="en-US" sz="1400" dirty="0">
                <a:solidFill>
                  <a:srgbClr val="C0504D">
                    <a:lumMod val="75000"/>
                  </a:srgbClr>
                </a:solidFill>
                <a:latin typeface="Alibaba PuHuiTi" pitchFamily="18" charset="-122"/>
                <a:ea typeface="Alibaba PuHuiTi" pitchFamily="18" charset="-122"/>
                <a:cs typeface="Alibaba PuHuiTi" pitchFamily="18" charset="-122"/>
              </a:rPr>
              <a:t>划分</a:t>
            </a:r>
            <a:endParaRPr lang="en-US" altLang="zh-CN" sz="1400" dirty="0">
              <a:solidFill>
                <a:srgbClr val="C0504D">
                  <a:lumMod val="75000"/>
                </a:srgbClr>
              </a:solidFill>
              <a:latin typeface="Alibaba PuHuiTi" pitchFamily="18" charset="-122"/>
              <a:ea typeface="Alibaba PuHuiTi" pitchFamily="18" charset="-122"/>
              <a:cs typeface="Alibaba PuHuiTi" pitchFamily="18" charset="-122"/>
            </a:endParaRPr>
          </a:p>
          <a:p>
            <a:pPr>
              <a:buClrTx/>
              <a:buSzTx/>
              <a:buFontTx/>
              <a:buNone/>
            </a:pPr>
            <a:r>
              <a:rPr lang="zh-CN" altLang="en-US" sz="1400" dirty="0">
                <a:solidFill>
                  <a:srgbClr val="C0504D">
                    <a:lumMod val="75000"/>
                  </a:srgbClr>
                </a:solidFill>
                <a:latin typeface="Alibaba PuHuiTi" pitchFamily="18" charset="-122"/>
                <a:ea typeface="Alibaba PuHuiTi" pitchFamily="18" charset="-122"/>
                <a:cs typeface="Alibaba PuHuiTi" pitchFamily="18" charset="-122"/>
              </a:rPr>
              <a:t>目标值</a:t>
            </a:r>
            <a:endParaRPr lang="en-US" altLang="zh-CN" sz="1400" dirty="0">
              <a:solidFill>
                <a:srgbClr val="C0504D">
                  <a:lumMod val="75000"/>
                </a:srgbClr>
              </a:solidFill>
              <a:latin typeface="Alibaba PuHuiTi" pitchFamily="18" charset="-122"/>
              <a:ea typeface="Alibaba PuHuiTi" pitchFamily="18" charset="-122"/>
              <a:cs typeface="Alibaba PuHuiTi" pitchFamily="18" charset="-122"/>
            </a:endParaRPr>
          </a:p>
        </p:txBody>
      </p:sp>
      <p:sp>
        <p:nvSpPr>
          <p:cNvPr id="4" name="文本框 3"/>
          <p:cNvSpPr txBox="1"/>
          <p:nvPr/>
        </p:nvSpPr>
        <p:spPr>
          <a:xfrm>
            <a:off x="9398265" y="4724200"/>
            <a:ext cx="1163056" cy="523220"/>
          </a:xfrm>
          <a:prstGeom prst="rect">
            <a:avLst/>
          </a:prstGeom>
          <a:noFill/>
        </p:spPr>
        <p:txBody>
          <a:bodyPr wrap="square">
            <a:spAutoFit/>
          </a:bodyPr>
          <a:lstStyle/>
          <a:p>
            <a:pPr>
              <a:buClrTx/>
              <a:buSzTx/>
              <a:buFontTx/>
              <a:buNone/>
            </a:pPr>
            <a:r>
              <a:rPr lang="zh-CN" altLang="en-US" sz="1400" dirty="0">
                <a:solidFill>
                  <a:srgbClr val="C0504D">
                    <a:lumMod val="75000"/>
                  </a:srgbClr>
                </a:solidFill>
                <a:latin typeface="Alibaba PuHuiTi" pitchFamily="18" charset="-122"/>
                <a:ea typeface="Alibaba PuHuiTi" pitchFamily="18" charset="-122"/>
                <a:cs typeface="Alibaba PuHuiTi" pitchFamily="18" charset="-122"/>
              </a:rPr>
              <a:t>左子树</a:t>
            </a:r>
            <a:endParaRPr lang="en-US" altLang="zh-CN" sz="1400" dirty="0">
              <a:solidFill>
                <a:srgbClr val="C0504D">
                  <a:lumMod val="75000"/>
                </a:srgbClr>
              </a:solidFill>
              <a:latin typeface="Alibaba PuHuiTi" pitchFamily="18" charset="-122"/>
              <a:ea typeface="Alibaba PuHuiTi" pitchFamily="18" charset="-122"/>
              <a:cs typeface="Alibaba PuHuiTi" pitchFamily="18" charset="-122"/>
            </a:endParaRPr>
          </a:p>
          <a:p>
            <a:pPr>
              <a:buClrTx/>
              <a:buSzTx/>
              <a:buFontTx/>
              <a:buNone/>
            </a:pPr>
            <a:r>
              <a:rPr lang="zh-CN" altLang="en-US" sz="1400" dirty="0">
                <a:solidFill>
                  <a:srgbClr val="C0504D">
                    <a:lumMod val="75000"/>
                  </a:srgbClr>
                </a:solidFill>
                <a:latin typeface="Alibaba PuHuiTi" pitchFamily="18" charset="-122"/>
                <a:ea typeface="Alibaba PuHuiTi" pitchFamily="18" charset="-122"/>
                <a:cs typeface="Alibaba PuHuiTi" pitchFamily="18" charset="-122"/>
              </a:rPr>
              <a:t>预测值</a:t>
            </a:r>
            <a:r>
              <a:rPr lang="en-US" altLang="zh-CN" sz="1400" dirty="0">
                <a:solidFill>
                  <a:srgbClr val="C0504D">
                    <a:lumMod val="75000"/>
                  </a:srgbClr>
                </a:solidFill>
                <a:latin typeface="Alibaba PuHuiTi" pitchFamily="18" charset="-122"/>
                <a:ea typeface="Alibaba PuHuiTi" pitchFamily="18" charset="-122"/>
                <a:cs typeface="Alibaba PuHuiTi" pitchFamily="18" charset="-122"/>
              </a:rPr>
              <a:t>5.56</a:t>
            </a:r>
            <a:r>
              <a:rPr lang="zh-CN" altLang="en-US" sz="1400" dirty="0">
                <a:solidFill>
                  <a:srgbClr val="C0504D">
                    <a:lumMod val="75000"/>
                  </a:srgbClr>
                </a:solidFill>
                <a:latin typeface="Alibaba PuHuiTi" pitchFamily="18" charset="-122"/>
                <a:ea typeface="Alibaba PuHuiTi" pitchFamily="18" charset="-122"/>
                <a:cs typeface="Alibaba PuHuiTi" pitchFamily="18" charset="-122"/>
              </a:rPr>
              <a:t>            </a:t>
            </a:r>
            <a:endParaRPr lang="en-US" altLang="zh-CN" sz="1400" dirty="0">
              <a:solidFill>
                <a:srgbClr val="C0504D">
                  <a:lumMod val="75000"/>
                </a:srgbClr>
              </a:solidFill>
              <a:latin typeface="Alibaba PuHuiTi" pitchFamily="18" charset="-122"/>
              <a:ea typeface="Alibaba PuHuiTi" pitchFamily="18" charset="-122"/>
              <a:cs typeface="Alibaba PuHuiTi" pitchFamily="18" charset="-122"/>
            </a:endParaRPr>
          </a:p>
        </p:txBody>
      </p:sp>
      <p:sp>
        <p:nvSpPr>
          <p:cNvPr id="5" name="文本框 4"/>
          <p:cNvSpPr txBox="1"/>
          <p:nvPr/>
        </p:nvSpPr>
        <p:spPr>
          <a:xfrm>
            <a:off x="10888399" y="4731620"/>
            <a:ext cx="1163056" cy="523220"/>
          </a:xfrm>
          <a:prstGeom prst="rect">
            <a:avLst/>
          </a:prstGeom>
          <a:noFill/>
        </p:spPr>
        <p:txBody>
          <a:bodyPr wrap="square">
            <a:spAutoFit/>
          </a:bodyPr>
          <a:lstStyle/>
          <a:p>
            <a:pPr>
              <a:buClrTx/>
              <a:buSzTx/>
              <a:buFontTx/>
              <a:buNone/>
            </a:pPr>
            <a:r>
              <a:rPr lang="zh-CN" altLang="en-US" sz="1400" dirty="0">
                <a:solidFill>
                  <a:srgbClr val="C0504D">
                    <a:lumMod val="75000"/>
                  </a:srgbClr>
                </a:solidFill>
                <a:latin typeface="Alibaba PuHuiTi" pitchFamily="18" charset="-122"/>
                <a:ea typeface="Alibaba PuHuiTi" pitchFamily="18" charset="-122"/>
                <a:cs typeface="Alibaba PuHuiTi" pitchFamily="18" charset="-122"/>
              </a:rPr>
              <a:t>右子树</a:t>
            </a:r>
            <a:endParaRPr lang="en-US" altLang="zh-CN" sz="1400" dirty="0">
              <a:solidFill>
                <a:srgbClr val="C0504D">
                  <a:lumMod val="75000"/>
                </a:srgbClr>
              </a:solidFill>
              <a:latin typeface="Alibaba PuHuiTi" pitchFamily="18" charset="-122"/>
              <a:ea typeface="Alibaba PuHuiTi" pitchFamily="18" charset="-122"/>
              <a:cs typeface="Alibaba PuHuiTi" pitchFamily="18" charset="-122"/>
            </a:endParaRPr>
          </a:p>
          <a:p>
            <a:pPr>
              <a:buClrTx/>
              <a:buSzTx/>
              <a:buFontTx/>
              <a:buNone/>
            </a:pPr>
            <a:r>
              <a:rPr lang="zh-CN" altLang="en-US" sz="1400" dirty="0">
                <a:solidFill>
                  <a:srgbClr val="C0504D">
                    <a:lumMod val="75000"/>
                  </a:srgbClr>
                </a:solidFill>
                <a:latin typeface="Alibaba PuHuiTi" pitchFamily="18" charset="-122"/>
                <a:ea typeface="Alibaba PuHuiTi" pitchFamily="18" charset="-122"/>
                <a:cs typeface="Alibaba PuHuiTi" pitchFamily="18" charset="-122"/>
              </a:rPr>
              <a:t>预测值</a:t>
            </a:r>
            <a:r>
              <a:rPr lang="en-US" altLang="zh-CN" sz="1400" dirty="0">
                <a:solidFill>
                  <a:srgbClr val="C0504D">
                    <a:lumMod val="75000"/>
                  </a:srgbClr>
                </a:solidFill>
                <a:latin typeface="Alibaba PuHuiTi" pitchFamily="18" charset="-122"/>
                <a:ea typeface="Alibaba PuHuiTi" pitchFamily="18" charset="-122"/>
                <a:cs typeface="Alibaba PuHuiTi" pitchFamily="18" charset="-122"/>
              </a:rPr>
              <a:t>7.50</a:t>
            </a:r>
            <a:r>
              <a:rPr lang="zh-CN" altLang="en-US" sz="1400" dirty="0">
                <a:solidFill>
                  <a:srgbClr val="C0504D">
                    <a:lumMod val="75000"/>
                  </a:srgbClr>
                </a:solidFill>
                <a:latin typeface="Alibaba PuHuiTi" pitchFamily="18" charset="-122"/>
                <a:ea typeface="Alibaba PuHuiTi" pitchFamily="18" charset="-122"/>
                <a:cs typeface="Alibaba PuHuiTi" pitchFamily="18" charset="-122"/>
              </a:rPr>
              <a:t>            </a:t>
            </a:r>
            <a:endParaRPr lang="en-US" altLang="zh-CN" sz="1400" dirty="0">
              <a:solidFill>
                <a:srgbClr val="C0504D">
                  <a:lumMod val="75000"/>
                </a:srgb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CART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回归决策树</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7" name="文本占位符 2"/>
          <p:cNvSpPr txBox="1"/>
          <p:nvPr/>
        </p:nvSpPr>
        <p:spPr>
          <a:xfrm>
            <a:off x="1152332" y="1392561"/>
            <a:ext cx="6891912"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3</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 以此方式计算 </a:t>
            </a:r>
            <a:r>
              <a:rPr kumimoji="0" lang="en-US" altLang="zh-CN" sz="1600" b="0" i="0" u="none" strike="noStrike" kern="1200" cap="none" spc="0" normalizeH="0" baseline="0" noProof="0" dirty="0">
                <a:ln>
                  <a:noFill/>
                </a:ln>
                <a:solidFill>
                  <a:schemeClr val="accent2">
                    <a:lumMod val="75000"/>
                  </a:scheme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2.5</a:t>
            </a:r>
            <a:r>
              <a:rPr kumimoji="0" lang="zh-CN" altLang="en-US" sz="1600" b="0" i="0" u="none" strike="noStrike" kern="1200" cap="none" spc="0" normalizeH="0" baseline="0" noProof="0" dirty="0">
                <a:ln>
                  <a:noFill/>
                </a:ln>
                <a:solidFill>
                  <a:schemeClr val="accent2">
                    <a:lumMod val="75000"/>
                  </a:scheme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a:t>
            </a:r>
            <a:r>
              <a:rPr kumimoji="0" lang="en-US" altLang="zh-CN" sz="1600" b="0" i="0" u="none" strike="noStrike" kern="1200" cap="none" spc="0" normalizeH="0" baseline="0" noProof="0" dirty="0">
                <a:ln>
                  <a:noFill/>
                </a:ln>
                <a:solidFill>
                  <a:schemeClr val="accent2">
                    <a:lumMod val="75000"/>
                  </a:scheme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3.5... </a:t>
            </a:r>
            <a:r>
              <a:rPr kumimoji="0" lang="zh-CN" altLang="en-US" sz="1600" b="0" i="0" u="none" strike="noStrike" kern="1200" cap="none" spc="0" normalizeH="0" baseline="0" noProof="0" dirty="0">
                <a:ln>
                  <a:noFill/>
                </a:ln>
                <a:solidFill>
                  <a:schemeClr val="accent2">
                    <a:lumMod val="75000"/>
                  </a:scheme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等划分点</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的平方损失，结果如下所示：</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endParaRPr>
          </a:p>
        </p:txBody>
      </p:sp>
      <p:sp>
        <p:nvSpPr>
          <p:cNvPr id="2" name="文本占位符 2"/>
          <p:cNvSpPr txBox="1"/>
          <p:nvPr/>
        </p:nvSpPr>
        <p:spPr>
          <a:xfrm>
            <a:off x="1152333" y="2640022"/>
            <a:ext cx="7683660"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en-US" altLang="zh-CN" dirty="0">
                <a:solidFill>
                  <a:srgbClr val="333333"/>
                </a:solidFill>
                <a:latin typeface="Open Sans" panose="020B0606030504020204" pitchFamily="34" charset="0"/>
              </a:rPr>
              <a:t>4</a:t>
            </a:r>
            <a:r>
              <a:rPr lang="zh-CN" altLang="en-US" dirty="0">
                <a:solidFill>
                  <a:srgbClr val="333333"/>
                </a:solidFill>
                <a:latin typeface="Open Sans" panose="020B0606030504020204" pitchFamily="34" charset="0"/>
              </a:rPr>
              <a:t> 当</a:t>
            </a:r>
            <a:r>
              <a:rPr kumimoji="0" lang="zh-CN" altLang="en-US" sz="1600" b="0" i="0" u="none" strike="noStrike" kern="1200" cap="none" spc="0" normalizeH="0" baseline="0" noProof="0" dirty="0">
                <a:ln>
                  <a:noFill/>
                </a:ln>
                <a:solidFill>
                  <a:schemeClr val="accent2">
                    <a:lumMod val="75000"/>
                  </a:scheme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划分点 </a:t>
            </a:r>
            <a:r>
              <a:rPr kumimoji="0" lang="en-GB" altLang="zh-CN" sz="1600" b="0" i="0" u="none" strike="noStrike" kern="1200" cap="none" spc="0" normalizeH="0" baseline="0" noProof="0" dirty="0">
                <a:ln>
                  <a:noFill/>
                </a:ln>
                <a:solidFill>
                  <a:schemeClr val="accent2">
                    <a:lumMod val="75000"/>
                  </a:scheme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s=6.5</a:t>
            </a:r>
            <a:r>
              <a:rPr kumimoji="0" lang="zh-CN" altLang="en-US" sz="1600" b="0" i="0" u="none" strike="noStrike" kern="1200" cap="none" spc="0" normalizeH="0" baseline="0" noProof="0" dirty="0">
                <a:ln>
                  <a:noFill/>
                </a:ln>
                <a:solidFill>
                  <a:schemeClr val="accent2">
                    <a:lumMod val="75000"/>
                  </a:scheme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时</a:t>
            </a:r>
            <a:r>
              <a:rPr kumimoji="0" lang="en-US" altLang="zh-CN" sz="1600" b="0" i="0" u="none" strike="noStrike" kern="1200" cap="none" spc="0" normalizeH="0" baseline="0" noProof="0" dirty="0">
                <a:ln>
                  <a:noFill/>
                </a:ln>
                <a:solidFill>
                  <a:schemeClr val="accent2">
                    <a:lumMod val="75000"/>
                  </a:scheme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a:t>
            </a:r>
            <a:r>
              <a:rPr kumimoji="0" lang="en-GB" altLang="zh-CN" sz="1600" b="0" i="0" u="none" strike="noStrike" kern="1200" cap="none" spc="0" normalizeH="0" baseline="0" noProof="0" dirty="0">
                <a:ln>
                  <a:noFill/>
                </a:ln>
                <a:solidFill>
                  <a:schemeClr val="accent2">
                    <a:lumMod val="75000"/>
                  </a:scheme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m(s) </a:t>
            </a:r>
            <a:r>
              <a:rPr kumimoji="0" lang="zh-CN" altLang="en-US" sz="1600" b="0" i="0" u="none" strike="noStrike" kern="1200" cap="none" spc="0" normalizeH="0" baseline="0" noProof="0" dirty="0">
                <a:ln>
                  <a:noFill/>
                </a:ln>
                <a:solidFill>
                  <a:schemeClr val="accent2">
                    <a:lumMod val="75000"/>
                  </a:scheme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最小</a:t>
            </a:r>
            <a:r>
              <a:rPr kumimoji="0" lang="zh-CN" altLang="en-US" sz="1600" b="0" i="0" u="none" strike="noStrike" kern="1200" cap="none" spc="0" normalizeH="0" baseline="0" noProof="0" dirty="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。所以第</a:t>
            </a:r>
            <a:r>
              <a:rPr kumimoji="0" lang="en-US" altLang="zh-CN" sz="1600" b="0" i="0" u="none" strike="noStrike" kern="1200" cap="none" spc="0" normalizeH="0" baseline="0" noProof="0" dirty="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1</a:t>
            </a:r>
            <a:r>
              <a:rPr kumimoji="0" lang="zh-CN" altLang="en-US" sz="1600" b="0" i="0" u="none" strike="noStrike" kern="1200" cap="none" spc="0" normalizeH="0" baseline="0" noProof="0" dirty="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个划分变量：特征为 </a:t>
            </a:r>
            <a:r>
              <a:rPr kumimoji="0" lang="en-GB" altLang="zh-CN" sz="1600" b="0" i="0" u="none" strike="noStrike" kern="1200" cap="none" spc="0" normalizeH="0" baseline="0" noProof="0" dirty="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X, </a:t>
            </a:r>
            <a:r>
              <a:rPr kumimoji="0" lang="zh-CN" altLang="en-US" sz="1600" b="0" i="0" u="none" strike="noStrike" kern="1200" cap="none" spc="0" normalizeH="0" baseline="0" noProof="0" dirty="0">
                <a:ln>
                  <a:noFill/>
                </a:ln>
                <a:solidFill>
                  <a:schemeClr val="accent2">
                    <a:lumMod val="75000"/>
                  </a:scheme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切分点为 </a:t>
            </a:r>
            <a:r>
              <a:rPr kumimoji="0" lang="en-US" altLang="zh-CN" sz="1600" b="0" i="0" u="none" strike="noStrike" kern="1200" cap="none" spc="0" normalizeH="0" baseline="0" noProof="0" dirty="0">
                <a:ln>
                  <a:noFill/>
                </a:ln>
                <a:solidFill>
                  <a:schemeClr val="accent2">
                    <a:lumMod val="75000"/>
                  </a:scheme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6.5</a:t>
            </a:r>
            <a:endParaRPr kumimoji="0" lang="zh-CN" altLang="en-US" sz="1600" b="1" i="0" u="none" strike="noStrike" kern="1200" cap="none" spc="0" normalizeH="0" baseline="0" noProof="0" dirty="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endParaRPr>
          </a:p>
        </p:txBody>
      </p:sp>
      <p:pic>
        <p:nvPicPr>
          <p:cNvPr id="4" name="图片 3"/>
          <p:cNvPicPr>
            <a:picLocks noChangeAspect="1"/>
          </p:cNvPicPr>
          <p:nvPr/>
        </p:nvPicPr>
        <p:blipFill>
          <a:blip r:embed="rId1"/>
          <a:stretch>
            <a:fillRect/>
          </a:stretch>
        </p:blipFill>
        <p:spPr>
          <a:xfrm>
            <a:off x="1562553" y="1879945"/>
            <a:ext cx="7772400" cy="631092"/>
          </a:xfrm>
          <a:prstGeom prst="rect">
            <a:avLst/>
          </a:prstGeom>
        </p:spPr>
      </p:pic>
      <p:pic>
        <p:nvPicPr>
          <p:cNvPr id="5" name="图片 4"/>
          <p:cNvPicPr>
            <a:picLocks noChangeAspect="1"/>
          </p:cNvPicPr>
          <p:nvPr/>
        </p:nvPicPr>
        <p:blipFill>
          <a:blip r:embed="rId2"/>
          <a:stretch>
            <a:fillRect/>
          </a:stretch>
        </p:blipFill>
        <p:spPr>
          <a:xfrm>
            <a:off x="9959063" y="1109641"/>
            <a:ext cx="1826633" cy="1940088"/>
          </a:xfrm>
          <a:prstGeom prst="rect">
            <a:avLst/>
          </a:prstGeom>
        </p:spPr>
      </p:pic>
      <p:sp>
        <p:nvSpPr>
          <p:cNvPr id="6" name="文本占位符 2"/>
          <p:cNvSpPr txBox="1"/>
          <p:nvPr/>
        </p:nvSpPr>
        <p:spPr>
          <a:xfrm>
            <a:off x="1152332" y="3197481"/>
            <a:ext cx="7262620"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kumimoji="0" lang="en-US" altLang="zh-CN" sz="16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5</a:t>
            </a:r>
            <a:r>
              <a:rPr kumimoji="0" lang="zh-CN" altLang="en-US" sz="16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对</a:t>
            </a:r>
            <a:r>
              <a:rPr kumimoji="0" lang="zh-CN" altLang="en-US" sz="160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左子树的 </a:t>
            </a:r>
            <a:r>
              <a:rPr kumimoji="0" lang="en-US" altLang="zh-CN" sz="160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6 </a:t>
            </a:r>
            <a:r>
              <a:rPr kumimoji="0" lang="zh-CN" altLang="en-US" sz="160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个节点</a:t>
            </a:r>
            <a:r>
              <a:rPr kumimoji="0" lang="zh-CN" altLang="en-US" sz="16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计算每个划分点的平方式损失，找出最优划分点</a:t>
            </a:r>
            <a:endParaRPr kumimoji="0" lang="zh-CN" altLang="en-US" sz="16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
        <p:nvSpPr>
          <p:cNvPr id="12" name="文本占位符 2"/>
          <p:cNvSpPr txBox="1"/>
          <p:nvPr/>
        </p:nvSpPr>
        <p:spPr>
          <a:xfrm>
            <a:off x="1152332" y="6273115"/>
            <a:ext cx="7262620"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kumimoji="0" lang="en-US" altLang="zh-CN" sz="16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6</a:t>
            </a:r>
            <a:r>
              <a:rPr kumimoji="0" lang="zh-CN" altLang="en-US" sz="16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en-GB" altLang="zh-CN" sz="160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s=3.5</a:t>
            </a:r>
            <a:r>
              <a:rPr kumimoji="0" lang="zh-CN" altLang="en-US" sz="160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时，</a:t>
            </a:r>
            <a:r>
              <a:rPr kumimoji="0" lang="en-GB" altLang="zh-CN" sz="160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m(s) </a:t>
            </a:r>
            <a:r>
              <a:rPr kumimoji="0" lang="zh-CN" altLang="en-US" sz="160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最小</a:t>
            </a:r>
            <a:r>
              <a:rPr kumimoji="0" lang="zh-CN" altLang="en-US" sz="16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，所以左子树继续以 </a:t>
            </a:r>
            <a:r>
              <a:rPr kumimoji="0" lang="en-US" altLang="zh-CN" sz="16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3.5 </a:t>
            </a:r>
            <a:r>
              <a:rPr kumimoji="0" lang="zh-CN" altLang="en-US" sz="16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进行分裂</a:t>
            </a:r>
            <a:endParaRPr kumimoji="0" lang="zh-CN" altLang="en-US" sz="16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pic>
        <p:nvPicPr>
          <p:cNvPr id="13" name="图片 12"/>
          <p:cNvPicPr>
            <a:picLocks noChangeAspect="1"/>
          </p:cNvPicPr>
          <p:nvPr/>
        </p:nvPicPr>
        <p:blipFill>
          <a:blip r:embed="rId3"/>
          <a:stretch>
            <a:fillRect/>
          </a:stretch>
        </p:blipFill>
        <p:spPr>
          <a:xfrm>
            <a:off x="9882743" y="3558483"/>
            <a:ext cx="1893712" cy="2714632"/>
          </a:xfrm>
          <a:prstGeom prst="rect">
            <a:avLst/>
          </a:prstGeom>
        </p:spPr>
      </p:pic>
      <p:sp>
        <p:nvSpPr>
          <p:cNvPr id="9" name="文本占位符 2"/>
          <p:cNvSpPr txBox="1"/>
          <p:nvPr/>
        </p:nvSpPr>
        <p:spPr>
          <a:xfrm>
            <a:off x="1484174" y="5106497"/>
            <a:ext cx="7685294" cy="28016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R="0" lvl="0" algn="l" defTabSz="914400" rtl="0" eaLnBrk="0" fontAlgn="base" latinLnBrk="0" hangingPunct="0">
              <a:lnSpc>
                <a:spcPct val="150000"/>
              </a:lnSpc>
              <a:spcBef>
                <a:spcPct val="20000"/>
              </a:spcBef>
              <a:spcAft>
                <a:spcPct val="0"/>
              </a:spcAft>
              <a:buClrTx/>
              <a:buSzTx/>
              <a:defRPr/>
            </a:pPr>
            <a:r>
              <a:rPr lang="en-US" altLang="zh-CN" sz="1200" dirty="0" err="1">
                <a:latin typeface="Alibaba PuHuiTi" pitchFamily="18" charset="-122"/>
                <a:ea typeface="Alibaba PuHuiTi" pitchFamily="18" charset="-122"/>
                <a:cs typeface="Alibaba PuHuiTi" pitchFamily="18" charset="-122"/>
              </a:rPr>
              <a:t>eg</a:t>
            </a:r>
            <a:r>
              <a:rPr lang="zh-CN" altLang="en-US" sz="1200" dirty="0">
                <a:latin typeface="Alibaba PuHuiTi" pitchFamily="18" charset="-122"/>
                <a:ea typeface="Alibaba PuHuiTi" pitchFamily="18" charset="-122"/>
                <a:cs typeface="Alibaba PuHuiTi" pitchFamily="18" charset="-122"/>
              </a:rPr>
              <a:t>：以</a:t>
            </a:r>
            <a:r>
              <a:rPr lang="en-US" altLang="zh-CN" sz="1200" dirty="0">
                <a:latin typeface="Alibaba PuHuiTi" pitchFamily="18" charset="-122"/>
                <a:ea typeface="Alibaba PuHuiTi" pitchFamily="18" charset="-122"/>
                <a:cs typeface="Alibaba PuHuiTi" pitchFamily="18" charset="-122"/>
              </a:rPr>
              <a:t>x=1.5</a:t>
            </a:r>
            <a:r>
              <a:rPr lang="zh-CN" altLang="en-US" sz="1200" dirty="0">
                <a:latin typeface="Alibaba PuHuiTi" pitchFamily="18" charset="-122"/>
                <a:ea typeface="Alibaba PuHuiTi" pitchFamily="18" charset="-122"/>
                <a:cs typeface="Alibaba PuHuiTi" pitchFamily="18" charset="-122"/>
              </a:rPr>
              <a:t>作为切分点，</a:t>
            </a:r>
            <a:r>
              <a:rPr lang="zh-CN" altLang="en-US" sz="1200" dirty="0">
                <a:solidFill>
                  <a:schemeClr val="accent2">
                    <a:lumMod val="75000"/>
                  </a:schemeClr>
                </a:solidFill>
                <a:latin typeface="Alibaba PuHuiTi" pitchFamily="18" charset="-122"/>
                <a:ea typeface="Alibaba PuHuiTi" pitchFamily="18" charset="-122"/>
                <a:cs typeface="Alibaba PuHuiTi" pitchFamily="18" charset="-122"/>
              </a:rPr>
              <a:t>左子树</a:t>
            </a:r>
            <a: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a:t>c1</a:t>
            </a:r>
            <a:r>
              <a:rPr lang="zh-CN" altLang="en-US" sz="1200" dirty="0">
                <a:latin typeface="Alibaba PuHuiTi" pitchFamily="18" charset="-122"/>
                <a:ea typeface="Alibaba PuHuiTi" pitchFamily="18" charset="-122"/>
                <a:cs typeface="Alibaba PuHuiTi" pitchFamily="18" charset="-122"/>
              </a:rPr>
              <a:t>输出为</a:t>
            </a:r>
            <a: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a:t>5.56</a:t>
            </a:r>
            <a:r>
              <a:rPr lang="zh-CN" altLang="en-US" sz="1200" dirty="0">
                <a:latin typeface="Alibaba PuHuiTi" pitchFamily="18" charset="-122"/>
                <a:ea typeface="Alibaba PuHuiTi" pitchFamily="18" charset="-122"/>
                <a:cs typeface="Alibaba PuHuiTi" pitchFamily="18" charset="-122"/>
              </a:rPr>
              <a:t>，</a:t>
            </a:r>
            <a:r>
              <a:rPr lang="zh-CN" altLang="en-US" sz="1200" dirty="0">
                <a:solidFill>
                  <a:schemeClr val="accent2">
                    <a:lumMod val="75000"/>
                  </a:schemeClr>
                </a:solidFill>
                <a:latin typeface="Alibaba PuHuiTi" pitchFamily="18" charset="-122"/>
                <a:ea typeface="Alibaba PuHuiTi" pitchFamily="18" charset="-122"/>
                <a:cs typeface="Alibaba PuHuiTi" pitchFamily="18" charset="-122"/>
              </a:rPr>
              <a:t>右子树</a:t>
            </a:r>
            <a: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a:t>c2</a:t>
            </a:r>
            <a:r>
              <a:rPr lang="zh-CN" altLang="en-US" sz="1200" dirty="0">
                <a:latin typeface="Alibaba PuHuiTi" pitchFamily="18" charset="-122"/>
                <a:ea typeface="Alibaba PuHuiTi" pitchFamily="18" charset="-122"/>
                <a:cs typeface="Alibaba PuHuiTi" pitchFamily="18" charset="-122"/>
              </a:rPr>
              <a:t>输出 </a:t>
            </a:r>
            <a:r>
              <a:rPr lang="en-US" altLang="zh-CN" sz="1200" dirty="0">
                <a:latin typeface="Alibaba PuHuiTi" pitchFamily="18" charset="-122"/>
                <a:ea typeface="Alibaba PuHuiTi" pitchFamily="18" charset="-122"/>
                <a:cs typeface="Alibaba PuHuiTi" pitchFamily="18" charset="-122"/>
              </a:rPr>
              <a:t>(5.7+5.91+6.4+6.8+7.05)/5</a:t>
            </a:r>
            <a:r>
              <a:rPr lang="zh-CN" altLang="en-US" sz="1200" dirty="0">
                <a:latin typeface="Alibaba PuHuiTi" pitchFamily="18" charset="-122"/>
                <a:ea typeface="Alibaba PuHuiTi" pitchFamily="18" charset="-122"/>
                <a:cs typeface="Alibaba PuHuiTi" pitchFamily="18" charset="-122"/>
              </a:rPr>
              <a:t> </a:t>
            </a:r>
            <a:r>
              <a:rPr lang="en-US" altLang="zh-CN" sz="1200" dirty="0">
                <a:latin typeface="Alibaba PuHuiTi" pitchFamily="18" charset="-122"/>
                <a:ea typeface="Alibaba PuHuiTi" pitchFamily="18" charset="-122"/>
                <a:cs typeface="Alibaba PuHuiTi" pitchFamily="18" charset="-122"/>
              </a:rPr>
              <a:t>=</a:t>
            </a:r>
            <a:r>
              <a:rPr lang="zh-CN" altLang="en-US" sz="1200" dirty="0">
                <a:latin typeface="Alibaba PuHuiTi" pitchFamily="18" charset="-122"/>
                <a:ea typeface="Alibaba PuHuiTi" pitchFamily="18" charset="-122"/>
                <a:cs typeface="Alibaba PuHuiTi" pitchFamily="18" charset="-122"/>
              </a:rPr>
              <a:t> </a:t>
            </a:r>
            <a: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a:t>6.37</a:t>
            </a:r>
            <a:endParaRPr kumimoji="0" lang="zh-CN" altLang="en-US" sz="1200" b="1"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p:pic>
        <p:nvPicPr>
          <p:cNvPr id="14" name="图片 13"/>
          <p:cNvPicPr>
            <a:picLocks noChangeAspect="1"/>
          </p:cNvPicPr>
          <p:nvPr/>
        </p:nvPicPr>
        <p:blipFill>
          <a:blip r:embed="rId4"/>
          <a:stretch>
            <a:fillRect/>
          </a:stretch>
        </p:blipFill>
        <p:spPr>
          <a:xfrm>
            <a:off x="1475447" y="3615875"/>
            <a:ext cx="7772400" cy="638090"/>
          </a:xfrm>
          <a:prstGeom prst="rect">
            <a:avLst/>
          </a:prstGeom>
        </p:spPr>
      </p:pic>
      <p:pic>
        <p:nvPicPr>
          <p:cNvPr id="15" name="图片 14"/>
          <p:cNvPicPr>
            <a:picLocks noChangeAspect="1"/>
          </p:cNvPicPr>
          <p:nvPr/>
        </p:nvPicPr>
        <p:blipFill>
          <a:blip r:embed="rId5"/>
          <a:stretch>
            <a:fillRect/>
          </a:stretch>
        </p:blipFill>
        <p:spPr>
          <a:xfrm>
            <a:off x="1431903" y="4213781"/>
            <a:ext cx="7772400" cy="988796"/>
          </a:xfrm>
          <a:prstGeom prst="rect">
            <a:avLst/>
          </a:prstGeom>
        </p:spPr>
      </p:pic>
      <p:pic>
        <p:nvPicPr>
          <p:cNvPr id="16" name="图片 15"/>
          <p:cNvPicPr>
            <a:picLocks noChangeAspect="1"/>
          </p:cNvPicPr>
          <p:nvPr/>
        </p:nvPicPr>
        <p:blipFill>
          <a:blip r:embed="rId6"/>
          <a:stretch>
            <a:fillRect/>
          </a:stretch>
        </p:blipFill>
        <p:spPr>
          <a:xfrm>
            <a:off x="1475447" y="5526657"/>
            <a:ext cx="7772400" cy="746458"/>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CART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回归决策树</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7" name="文本占位符 2"/>
          <p:cNvSpPr txBox="1"/>
          <p:nvPr/>
        </p:nvSpPr>
        <p:spPr>
          <a:xfrm>
            <a:off x="1152331" y="1392561"/>
            <a:ext cx="6743637" cy="90579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lang="en-US" altLang="zh-CN" sz="1400" b="1" i="0" u="none" strike="noStrike" dirty="0">
                <a:solidFill>
                  <a:srgbClr val="333333"/>
                </a:solidFill>
                <a:effectLst/>
                <a:latin typeface="Alibaba PuHuiTi" pitchFamily="18" charset="-122"/>
                <a:ea typeface="Alibaba PuHuiTi" pitchFamily="18" charset="-122"/>
                <a:cs typeface="Alibaba PuHuiTi" pitchFamily="18" charset="-122"/>
              </a:rPr>
              <a:t>7</a:t>
            </a:r>
            <a:r>
              <a:rPr lang="zh-CN" altLang="en-US" sz="1400" b="1" i="0" u="none" strike="noStrike" dirty="0">
                <a:solidFill>
                  <a:srgbClr val="333333"/>
                </a:solidFill>
                <a:effectLst/>
                <a:latin typeface="Alibaba PuHuiTi" pitchFamily="18" charset="-122"/>
                <a:ea typeface="Alibaba PuHuiTi" pitchFamily="18" charset="-122"/>
                <a:cs typeface="Alibaba PuHuiTi" pitchFamily="18" charset="-122"/>
              </a:rPr>
              <a:t> 假设</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在生成</a:t>
            </a:r>
            <a:r>
              <a:rPr lang="en-US" altLang="zh-CN" sz="1400" b="1"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3</a:t>
            </a:r>
            <a:r>
              <a:rPr lang="zh-CN" altLang="en-US" sz="1400" b="1"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个区域</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之后停止划分，以上就是最终回归树。</a:t>
            </a:r>
            <a:endPar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endParaRPr>
          </a:p>
          <a:p>
            <a:pPr marL="1276350" lvl="1" indent="-285750">
              <a:lnSpc>
                <a:spcPct val="150000"/>
              </a:lnSpc>
              <a:buFont typeface="Arial" panose="020B0604020202020204" pitchFamily="34" charset="0"/>
              <a:buChar char="•"/>
              <a:defRPr/>
            </a:pP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每一个叶子节点的输出为：挂在该节点上的</a:t>
            </a:r>
            <a:r>
              <a:rPr lang="zh-CN" altLang="en-US"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所有样本均值</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pic>
        <p:nvPicPr>
          <p:cNvPr id="13" name="图片 12"/>
          <p:cNvPicPr>
            <a:picLocks noChangeAspect="1"/>
          </p:cNvPicPr>
          <p:nvPr/>
        </p:nvPicPr>
        <p:blipFill>
          <a:blip r:embed="rId1"/>
          <a:stretch>
            <a:fillRect/>
          </a:stretch>
        </p:blipFill>
        <p:spPr>
          <a:xfrm>
            <a:off x="8881845" y="941041"/>
            <a:ext cx="1893712" cy="2714632"/>
          </a:xfrm>
          <a:prstGeom prst="rect">
            <a:avLst/>
          </a:prstGeom>
        </p:spPr>
      </p:pic>
      <p:sp>
        <p:nvSpPr>
          <p:cNvPr id="10" name="文本框 9"/>
          <p:cNvSpPr txBox="1"/>
          <p:nvPr/>
        </p:nvSpPr>
        <p:spPr>
          <a:xfrm>
            <a:off x="1787146" y="3872649"/>
            <a:ext cx="7465402" cy="200112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1</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选择一个特征，将该特征的值进行排序，取</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相邻点计算均值</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作为</a:t>
            </a:r>
            <a:r>
              <a:rPr lang="zh-CN" altLang="en-US" sz="1400" b="1" dirty="0">
                <a:solidFill>
                  <a:schemeClr val="accent2">
                    <a:lumMod val="75000"/>
                  </a:schemeClr>
                </a:solidFill>
                <a:latin typeface="Alibaba PuHuiTi" pitchFamily="18" charset="-122"/>
                <a:ea typeface="Alibaba PuHuiTi" pitchFamily="18" charset="-122"/>
                <a:cs typeface="Alibaba PuHuiTi" pitchFamily="18" charset="-122"/>
              </a:rPr>
              <a:t>待划分点</a:t>
            </a:r>
            <a:endParaRPr lang="zh-CN" altLang="en-US" sz="1400" b="1" dirty="0">
              <a:solidFill>
                <a:schemeClr val="accent2">
                  <a:lumMod val="75000"/>
                </a:schemeClr>
              </a:solidFill>
              <a:latin typeface="Alibaba PuHuiTi" pitchFamily="18" charset="-122"/>
              <a:ea typeface="Alibaba PuHuiTi" pitchFamily="18" charset="-122"/>
              <a:cs typeface="Alibaba PuHuiTi" pitchFamily="18" charset="-122"/>
            </a:endParaRPr>
          </a:p>
          <a:p>
            <a:pPr marL="285750" indent="-285750">
              <a:lnSpc>
                <a:spcPct val="150000"/>
              </a:lnSpc>
              <a:buFont typeface="Arial" panose="020B0604020202020204" pitchFamily="34" charset="0"/>
              <a:buChar char="•"/>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2</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根据所有划分点，将数据集分成</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两部分：</a:t>
            </a:r>
            <a:r>
              <a:rPr lang="en-GB" altLang="zh-CN" sz="1400" dirty="0">
                <a:solidFill>
                  <a:schemeClr val="accent2">
                    <a:lumMod val="75000"/>
                  </a:schemeClr>
                </a:solidFill>
                <a:latin typeface="Alibaba PuHuiTi" pitchFamily="18" charset="-122"/>
                <a:ea typeface="Alibaba PuHuiTi" pitchFamily="18" charset="-122"/>
                <a:cs typeface="Alibaba PuHuiTi" pitchFamily="18" charset="-122"/>
              </a:rPr>
              <a:t>R1</a:t>
            </a:r>
            <a:r>
              <a:rPr lang="zh-CN" altLang="en-GB" sz="1400" dirty="0">
                <a:solidFill>
                  <a:schemeClr val="accent2">
                    <a:lumMod val="75000"/>
                  </a:schemeClr>
                </a:solidFill>
                <a:latin typeface="Alibaba PuHuiTi" pitchFamily="18" charset="-122"/>
                <a:ea typeface="Alibaba PuHuiTi" pitchFamily="18" charset="-122"/>
                <a:cs typeface="Alibaba PuHuiTi" pitchFamily="18" charset="-122"/>
              </a:rPr>
              <a:t>、</a:t>
            </a:r>
            <a:r>
              <a:rPr lang="en-GB" altLang="zh-CN" sz="1400" dirty="0">
                <a:solidFill>
                  <a:schemeClr val="accent2">
                    <a:lumMod val="75000"/>
                  </a:schemeClr>
                </a:solidFill>
                <a:latin typeface="Alibaba PuHuiTi" pitchFamily="18" charset="-122"/>
                <a:ea typeface="Alibaba PuHuiTi" pitchFamily="18" charset="-122"/>
                <a:cs typeface="Alibaba PuHuiTi" pitchFamily="18" charset="-122"/>
              </a:rPr>
              <a:t>R2</a:t>
            </a:r>
            <a:endParaRPr lang="en-GB" altLang="zh-CN" sz="1400" dirty="0">
              <a:solidFill>
                <a:schemeClr val="accent2">
                  <a:lumMod val="75000"/>
                </a:schemeClr>
              </a:solidFill>
              <a:latin typeface="Alibaba PuHuiTi" pitchFamily="18" charset="-122"/>
              <a:ea typeface="Alibaba PuHuiTi" pitchFamily="18" charset="-122"/>
              <a:cs typeface="Alibaba PuHuiTi" pitchFamily="18" charset="-122"/>
            </a:endParaRPr>
          </a:p>
          <a:p>
            <a:pPr marL="285750" indent="-285750">
              <a:lnSpc>
                <a:spcPct val="150000"/>
              </a:lnSpc>
              <a:buFont typeface="Arial" panose="020B0604020202020204" pitchFamily="34" charset="0"/>
              <a:buChar char="•"/>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3</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a:t>
            </a:r>
            <a:r>
              <a:rPr lang="en-GB"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R1 </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和 </a:t>
            </a:r>
            <a:r>
              <a:rPr lang="en-GB"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R2 </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两部分的平方损失相加作为</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该切分点平方损失</a:t>
            </a:r>
            <a:endParaRPr lang="zh-CN" altLang="en-US" sz="1400" dirty="0">
              <a:solidFill>
                <a:schemeClr val="accent2">
                  <a:lumMod val="75000"/>
                </a:schemeClr>
              </a:solidFill>
              <a:latin typeface="Alibaba PuHuiTi" pitchFamily="18" charset="-122"/>
              <a:ea typeface="Alibaba PuHuiTi" pitchFamily="18" charset="-122"/>
              <a:cs typeface="Alibaba PuHuiTi" pitchFamily="18" charset="-122"/>
            </a:endParaRPr>
          </a:p>
          <a:p>
            <a:pPr marL="285750" indent="-285750">
              <a:lnSpc>
                <a:spcPct val="150000"/>
              </a:lnSpc>
              <a:buFont typeface="Arial" panose="020B0604020202020204" pitchFamily="34" charset="0"/>
              <a:buChar char="•"/>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4</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取最小的平方损失的划分点，作为</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当前特征的划分点</a:t>
            </a:r>
            <a:endParaRPr lang="zh-CN" altLang="en-US" sz="1400" dirty="0">
              <a:solidFill>
                <a:schemeClr val="accent2">
                  <a:lumMod val="75000"/>
                </a:schemeClr>
              </a:solidFill>
              <a:latin typeface="Alibaba PuHuiTi" pitchFamily="18" charset="-122"/>
              <a:ea typeface="Alibaba PuHuiTi" pitchFamily="18" charset="-122"/>
              <a:cs typeface="Alibaba PuHuiTi" pitchFamily="18" charset="-122"/>
            </a:endParaRPr>
          </a:p>
          <a:p>
            <a:pPr marL="285750" indent="-285750">
              <a:lnSpc>
                <a:spcPct val="150000"/>
              </a:lnSpc>
              <a:buFont typeface="Arial" panose="020B0604020202020204" pitchFamily="34" charset="0"/>
              <a:buChar char="•"/>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5</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以此计算</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其他特征的最优划分点</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、以及该划分点对应的损失值</a:t>
            </a: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marL="285750" indent="-285750">
              <a:lnSpc>
                <a:spcPct val="150000"/>
              </a:lnSpc>
              <a:buFont typeface="Arial" panose="020B0604020202020204" pitchFamily="34" charset="0"/>
              <a:buChar char="•"/>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6</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在所有的特征的划分点中，选择出最小平方损失的划分点，</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作为当前树的分裂点</a:t>
            </a:r>
            <a:endParaRPr lang="en-US" altLang="zh-CN" sz="1400" dirty="0">
              <a:solidFill>
                <a:schemeClr val="accent2">
                  <a:lumMod val="75000"/>
                </a:schemeClr>
              </a:solidFill>
              <a:latin typeface="Alibaba PuHuiTi" pitchFamily="18" charset="-122"/>
              <a:ea typeface="Alibaba PuHuiTi" pitchFamily="18" charset="-122"/>
              <a:cs typeface="Alibaba PuHuiTi" pitchFamily="18" charset="-122"/>
            </a:endParaRPr>
          </a:p>
        </p:txBody>
      </p:sp>
      <p:sp>
        <p:nvSpPr>
          <p:cNvPr id="11" name="文本框 10"/>
          <p:cNvSpPr txBox="1"/>
          <p:nvPr/>
        </p:nvSpPr>
        <p:spPr>
          <a:xfrm>
            <a:off x="1152331" y="3236383"/>
            <a:ext cx="3263697" cy="42710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GB" altLang="zh-CN" sz="1600" dirty="0">
                <a:solidFill>
                  <a:schemeClr val="tx1">
                    <a:lumMod val="85000"/>
                    <a:lumOff val="15000"/>
                  </a:schemeClr>
                </a:solidFill>
                <a:latin typeface="Alibaba PuHuiTi" pitchFamily="18" charset="-122"/>
                <a:ea typeface="Alibaba PuHuiTi" pitchFamily="18" charset="-122"/>
                <a:cs typeface="Alibaba PuHuiTi" pitchFamily="18" charset="-122"/>
              </a:rPr>
              <a:t>CART </a:t>
            </a:r>
            <a:r>
              <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回归树构建过程小结</a:t>
            </a:r>
            <a:endPar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CART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决策树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案例：线性回归与回归决策树对比</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	</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7" name="文本占位符 2"/>
          <p:cNvSpPr txBox="1"/>
          <p:nvPr/>
        </p:nvSpPr>
        <p:spPr>
          <a:xfrm>
            <a:off x="1152332" y="1392561"/>
            <a:ext cx="1496600"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prstClr val="black">
                    <a:lumMod val="85000"/>
                    <a:lumOff val="15000"/>
                  </a:prstClr>
                </a:solidFill>
                <a:latin typeface="Open Sans" panose="020B0606030504020204" pitchFamily="34" charset="0"/>
              </a:rPr>
              <a:t>已知数据</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endParaRPr>
          </a:p>
        </p:txBody>
      </p:sp>
      <p:pic>
        <p:nvPicPr>
          <p:cNvPr id="9" name="图片 8"/>
          <p:cNvPicPr>
            <a:picLocks noChangeAspect="1"/>
          </p:cNvPicPr>
          <p:nvPr/>
        </p:nvPicPr>
        <p:blipFill>
          <a:blip r:embed="rId1"/>
          <a:stretch>
            <a:fillRect/>
          </a:stretch>
        </p:blipFill>
        <p:spPr>
          <a:xfrm>
            <a:off x="2833880" y="1315175"/>
            <a:ext cx="7772400" cy="654349"/>
          </a:xfrm>
          <a:prstGeom prst="rect">
            <a:avLst/>
          </a:prstGeom>
        </p:spPr>
      </p:pic>
      <p:sp>
        <p:nvSpPr>
          <p:cNvPr id="10" name="文本占位符 2"/>
          <p:cNvSpPr txBox="1"/>
          <p:nvPr/>
        </p:nvSpPr>
        <p:spPr>
          <a:xfrm>
            <a:off x="1184335" y="1972587"/>
            <a:ext cx="1176089"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需求</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endParaRPr>
          </a:p>
        </p:txBody>
      </p:sp>
      <p:sp>
        <p:nvSpPr>
          <p:cNvPr id="11" name="文本框 10"/>
          <p:cNvSpPr txBox="1"/>
          <p:nvPr/>
        </p:nvSpPr>
        <p:spPr>
          <a:xfrm>
            <a:off x="2833880" y="2059486"/>
            <a:ext cx="4434545" cy="385234"/>
          </a:xfrm>
          <a:prstGeom prst="rect">
            <a:avLst/>
          </a:prstGeom>
          <a:noFill/>
        </p:spPr>
        <p:txBody>
          <a:bodyPr wrap="square">
            <a:spAutoFit/>
          </a:bodyPr>
          <a:lstStyle/>
          <a:p>
            <a:pPr>
              <a:lnSpc>
                <a:spcPct val="150000"/>
              </a:lnSpc>
            </a:pP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分别训练线性回归、回归决策树模型，并预测对比</a:t>
            </a:r>
            <a:endParaRPr lang="zh-CN" altLang="en-US" sz="1400" dirty="0">
              <a:solidFill>
                <a:schemeClr val="accent2">
                  <a:lumMod val="75000"/>
                </a:schemeClr>
              </a:solidFill>
              <a:latin typeface="Alibaba PuHuiTi" pitchFamily="18" charset="-122"/>
              <a:ea typeface="Alibaba PuHuiTi" pitchFamily="18" charset="-122"/>
              <a:cs typeface="Alibaba PuHuiTi" pitchFamily="18" charset="-122"/>
            </a:endParaRPr>
          </a:p>
        </p:txBody>
      </p:sp>
      <p:sp>
        <p:nvSpPr>
          <p:cNvPr id="15" name="文本占位符 2"/>
          <p:cNvSpPr txBox="1"/>
          <p:nvPr/>
        </p:nvSpPr>
        <p:spPr>
          <a:xfrm>
            <a:off x="1184334" y="2517479"/>
            <a:ext cx="1176089"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prstClr val="black">
                    <a:lumMod val="85000"/>
                    <a:lumOff val="15000"/>
                  </a:prstClr>
                </a:solidFill>
                <a:latin typeface="Open Sans" panose="020B0606030504020204" pitchFamily="34" charset="0"/>
              </a:rPr>
              <a:t>分析</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endParaRPr>
          </a:p>
        </p:txBody>
      </p:sp>
      <p:sp>
        <p:nvSpPr>
          <p:cNvPr id="16" name="文本框 15"/>
          <p:cNvSpPr txBox="1"/>
          <p:nvPr/>
        </p:nvSpPr>
        <p:spPr>
          <a:xfrm>
            <a:off x="2833880" y="2574651"/>
            <a:ext cx="7328215" cy="385234"/>
          </a:xfrm>
          <a:prstGeom prst="rect">
            <a:avLst/>
          </a:prstGeom>
          <a:noFill/>
        </p:spPr>
        <p:txBody>
          <a:bodyPr wrap="square">
            <a:spAutoFit/>
          </a:bodyPr>
          <a:lstStyle/>
          <a:p>
            <a:pPr>
              <a:lnSpc>
                <a:spcPct val="150000"/>
              </a:lnSpc>
            </a:pP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训练模型，并使用</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1000</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个</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[0.0,</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10]</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之间的数据，让模型预测，画出预测值图线</a:t>
            </a:r>
            <a:endParaRPr lang="zh-CN" altLang="en-US" sz="1400" dirty="0">
              <a:solidFill>
                <a:schemeClr val="accent2">
                  <a:lumMod val="75000"/>
                </a:schemeClr>
              </a:solidFill>
              <a:latin typeface="Alibaba PuHuiTi" pitchFamily="18" charset="-122"/>
              <a:ea typeface="Alibaba PuHuiTi" pitchFamily="18" charset="-122"/>
              <a:cs typeface="Alibaba PuHuiTi" pitchFamily="18" charset="-122"/>
            </a:endParaRPr>
          </a:p>
        </p:txBody>
      </p:sp>
      <p:pic>
        <p:nvPicPr>
          <p:cNvPr id="18" name="图片 17"/>
          <p:cNvPicPr>
            <a:picLocks noChangeAspect="1"/>
          </p:cNvPicPr>
          <p:nvPr/>
        </p:nvPicPr>
        <p:blipFill>
          <a:blip r:embed="rId2"/>
          <a:stretch>
            <a:fillRect/>
          </a:stretch>
        </p:blipFill>
        <p:spPr>
          <a:xfrm>
            <a:off x="2517559" y="3139019"/>
            <a:ext cx="4456951" cy="3498915"/>
          </a:xfrm>
          <a:prstGeom prst="rect">
            <a:avLst/>
          </a:prstGeom>
        </p:spPr>
      </p:pic>
      <p:sp>
        <p:nvSpPr>
          <p:cNvPr id="19" name="文本框 18"/>
          <p:cNvSpPr txBox="1"/>
          <p:nvPr/>
        </p:nvSpPr>
        <p:spPr>
          <a:xfrm>
            <a:off x="7424056" y="3760956"/>
            <a:ext cx="3444579" cy="1354730"/>
          </a:xfrm>
          <a:prstGeom prst="rect">
            <a:avLst/>
          </a:prstGeom>
          <a:noFill/>
        </p:spPr>
        <p:txBody>
          <a:bodyPr wrap="square">
            <a:spAutoFit/>
          </a:bodyPr>
          <a:lstStyle/>
          <a:p>
            <a:pPr>
              <a:lnSpc>
                <a:spcPct val="150000"/>
              </a:lnSpc>
            </a:pP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从预测效果来看：</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50000"/>
              </a:lnSpc>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1</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、线性回归是一条直线</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50000"/>
              </a:lnSpc>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2</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、决策树是曲线</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50000"/>
              </a:lnSpc>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3</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、树的拟合能力是很强的，易过拟合</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案例：线性回归与回归决策树对比</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	</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2" name="TextBox 3"/>
          <p:cNvSpPr txBox="1"/>
          <p:nvPr/>
        </p:nvSpPr>
        <p:spPr>
          <a:xfrm>
            <a:off x="1274994" y="1357169"/>
            <a:ext cx="4763164" cy="4154984"/>
          </a:xfrm>
          <a:prstGeom prst="rect">
            <a:avLst/>
          </a:prstGeom>
          <a:solidFill>
            <a:srgbClr val="FFFFE4"/>
          </a:solidFill>
          <a:ln w="3175">
            <a:solidFill>
              <a:srgbClr val="91919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altLang="zh-CN" sz="1200" dirty="0">
                <a:solidFill>
                  <a:srgbClr val="0033B3"/>
                </a:solidFill>
                <a:effectLst/>
              </a:rPr>
              <a:t>import </a:t>
            </a:r>
            <a:r>
              <a:rPr lang="en-GB" altLang="zh-CN" sz="1200" dirty="0" err="1"/>
              <a:t>numpy</a:t>
            </a:r>
            <a:r>
              <a:rPr lang="en-GB" altLang="zh-CN" sz="1200" dirty="0"/>
              <a:t> </a:t>
            </a:r>
            <a:r>
              <a:rPr lang="en-GB" altLang="zh-CN" sz="1200" dirty="0">
                <a:solidFill>
                  <a:srgbClr val="0033B3"/>
                </a:solidFill>
                <a:effectLst/>
              </a:rPr>
              <a:t>as </a:t>
            </a:r>
            <a:r>
              <a:rPr lang="en-GB" altLang="zh-CN" sz="1200" dirty="0"/>
              <a:t>np</a:t>
            </a:r>
            <a:br>
              <a:rPr lang="en-GB" altLang="zh-CN" sz="1200" dirty="0"/>
            </a:br>
            <a:r>
              <a:rPr lang="en-GB" altLang="zh-CN" sz="1200" dirty="0">
                <a:solidFill>
                  <a:srgbClr val="0033B3"/>
                </a:solidFill>
                <a:effectLst/>
              </a:rPr>
              <a:t>import </a:t>
            </a:r>
            <a:r>
              <a:rPr lang="en-GB" altLang="zh-CN" sz="1200" dirty="0"/>
              <a:t>pandas </a:t>
            </a:r>
            <a:r>
              <a:rPr lang="en-GB" altLang="zh-CN" sz="1200" dirty="0">
                <a:solidFill>
                  <a:srgbClr val="0033B3"/>
                </a:solidFill>
                <a:effectLst/>
              </a:rPr>
              <a:t>as </a:t>
            </a:r>
            <a:r>
              <a:rPr lang="en-GB" altLang="zh-CN" sz="1200" dirty="0"/>
              <a:t>pd</a:t>
            </a:r>
            <a:br>
              <a:rPr lang="en-GB" altLang="zh-CN" sz="1200" dirty="0"/>
            </a:br>
            <a:r>
              <a:rPr lang="en-GB" altLang="zh-CN" sz="1200" dirty="0">
                <a:solidFill>
                  <a:srgbClr val="0033B3"/>
                </a:solidFill>
                <a:effectLst/>
              </a:rPr>
              <a:t>from </a:t>
            </a:r>
            <a:r>
              <a:rPr lang="en-GB" altLang="zh-CN" sz="1200" dirty="0" err="1"/>
              <a:t>sklearn.tree</a:t>
            </a:r>
            <a:r>
              <a:rPr lang="en-GB" altLang="zh-CN" sz="1200" dirty="0"/>
              <a:t> </a:t>
            </a:r>
            <a:r>
              <a:rPr lang="en-GB" altLang="zh-CN" sz="1200" dirty="0">
                <a:solidFill>
                  <a:srgbClr val="0033B3"/>
                </a:solidFill>
                <a:effectLst/>
              </a:rPr>
              <a:t>import </a:t>
            </a:r>
            <a:r>
              <a:rPr lang="en-GB" altLang="zh-CN" sz="1200" dirty="0" err="1"/>
              <a:t>DecisionTreeRegressor</a:t>
            </a:r>
            <a:r>
              <a:rPr lang="en-GB" altLang="zh-CN" sz="1200" dirty="0"/>
              <a:t>  </a:t>
            </a:r>
            <a:r>
              <a:rPr lang="en-GB" altLang="zh-CN" sz="1200" i="1" dirty="0">
                <a:solidFill>
                  <a:srgbClr val="8C8C8C"/>
                </a:solidFill>
                <a:effectLst/>
              </a:rPr>
              <a:t># </a:t>
            </a:r>
            <a:r>
              <a:rPr lang="zh-CN" altLang="en-US" sz="1200" i="1" dirty="0">
                <a:solidFill>
                  <a:srgbClr val="8C8C8C"/>
                </a:solidFill>
                <a:effectLst/>
              </a:rPr>
              <a:t>回归决策树</a:t>
            </a:r>
            <a:br>
              <a:rPr lang="zh-CN" altLang="en-US" sz="1200" i="1" dirty="0">
                <a:solidFill>
                  <a:srgbClr val="8C8C8C"/>
                </a:solidFill>
                <a:effectLst/>
              </a:rPr>
            </a:br>
            <a:r>
              <a:rPr lang="en-GB" altLang="zh-CN" sz="1200" dirty="0">
                <a:solidFill>
                  <a:srgbClr val="0033B3"/>
                </a:solidFill>
                <a:effectLst/>
              </a:rPr>
              <a:t>from </a:t>
            </a:r>
            <a:r>
              <a:rPr lang="en-GB" altLang="zh-CN" sz="1200" dirty="0" err="1"/>
              <a:t>sklearn.linear_model</a:t>
            </a:r>
            <a:r>
              <a:rPr lang="en-GB" altLang="zh-CN" sz="1200" dirty="0"/>
              <a:t> </a:t>
            </a:r>
            <a:r>
              <a:rPr lang="en-GB" altLang="zh-CN" sz="1200" dirty="0">
                <a:solidFill>
                  <a:srgbClr val="0033B3"/>
                </a:solidFill>
                <a:effectLst/>
              </a:rPr>
              <a:t>import </a:t>
            </a:r>
            <a:r>
              <a:rPr lang="en-GB" altLang="zh-CN" sz="1200" dirty="0" err="1"/>
              <a:t>LinearRegression</a:t>
            </a:r>
            <a:br>
              <a:rPr lang="en-GB" altLang="zh-CN" sz="1200" dirty="0"/>
            </a:br>
            <a:r>
              <a:rPr lang="en-GB" altLang="zh-CN" sz="1200" dirty="0">
                <a:solidFill>
                  <a:srgbClr val="0033B3"/>
                </a:solidFill>
                <a:effectLst/>
              </a:rPr>
              <a:t>import </a:t>
            </a:r>
            <a:r>
              <a:rPr lang="en-GB" altLang="zh-CN" sz="1200" dirty="0" err="1"/>
              <a:t>matplotlib.pyplot</a:t>
            </a:r>
            <a:r>
              <a:rPr lang="en-GB" altLang="zh-CN" sz="1200" dirty="0"/>
              <a:t> </a:t>
            </a:r>
            <a:r>
              <a:rPr lang="en-GB" altLang="zh-CN" sz="1200" dirty="0">
                <a:solidFill>
                  <a:srgbClr val="0033B3"/>
                </a:solidFill>
                <a:effectLst/>
              </a:rPr>
              <a:t>as </a:t>
            </a:r>
            <a:r>
              <a:rPr lang="en-GB" altLang="zh-CN" sz="1200" dirty="0" err="1"/>
              <a:t>plt</a:t>
            </a:r>
            <a:endParaRPr lang="en-GB" altLang="zh-CN" sz="1200" dirty="0"/>
          </a:p>
          <a:p>
            <a:pPr marL="0" marR="0" lvl="0" indent="0" algn="l" defTabSz="914400" rtl="0" eaLnBrk="1" fontAlgn="auto" latinLnBrk="0" hangingPunct="1">
              <a:lnSpc>
                <a:spcPct val="100000"/>
              </a:lnSpc>
              <a:spcBef>
                <a:spcPts val="0"/>
              </a:spcBef>
              <a:spcAft>
                <a:spcPts val="0"/>
              </a:spcAft>
              <a:buClrTx/>
              <a:buSzTx/>
              <a:buFontTx/>
              <a:buNone/>
              <a:defRPr/>
            </a:pPr>
            <a:endParaRPr lang="en-GB" altLang="zh-CN" sz="1200" dirty="0">
              <a:solidFill>
                <a:srgbClr val="0033B3"/>
              </a:solidFill>
              <a:effectLst/>
            </a:endParaRPr>
          </a:p>
          <a:p>
            <a:pPr marL="0" marR="0" lvl="0" indent="0" algn="l" defTabSz="914400" rtl="0" eaLnBrk="1" fontAlgn="auto" latinLnBrk="0" hangingPunct="1">
              <a:lnSpc>
                <a:spcPct val="100000"/>
              </a:lnSpc>
              <a:spcBef>
                <a:spcPts val="0"/>
              </a:spcBef>
              <a:spcAft>
                <a:spcPts val="0"/>
              </a:spcAft>
              <a:buClrTx/>
              <a:buSzTx/>
              <a:buFontTx/>
              <a:buNone/>
              <a:defRPr/>
            </a:pPr>
            <a:r>
              <a:rPr lang="en-GB" altLang="zh-CN" sz="1200" dirty="0">
                <a:solidFill>
                  <a:srgbClr val="0033B3"/>
                </a:solidFill>
                <a:effectLst/>
              </a:rPr>
              <a:t>def </a:t>
            </a:r>
            <a:r>
              <a:rPr lang="en-GB" altLang="zh-CN" sz="1200" dirty="0">
                <a:solidFill>
                  <a:srgbClr val="00627A"/>
                </a:solidFill>
                <a:effectLst/>
              </a:rPr>
              <a:t>dm01_</a:t>
            </a:r>
            <a:r>
              <a:rPr lang="zh-CN" altLang="en-US" sz="1200" dirty="0">
                <a:solidFill>
                  <a:srgbClr val="00627A"/>
                </a:solidFill>
                <a:effectLst/>
              </a:rPr>
              <a:t>回归分类</a:t>
            </a:r>
            <a:r>
              <a:rPr lang="en-US" altLang="zh-CN" sz="1200" dirty="0"/>
              <a:t>():</a:t>
            </a:r>
            <a:br>
              <a:rPr lang="en-US" altLang="zh-CN" sz="1200" dirty="0"/>
            </a:br>
            <a:r>
              <a:rPr lang="en-US" altLang="zh-CN" sz="1200" dirty="0"/>
              <a:t>    </a:t>
            </a:r>
            <a:r>
              <a:rPr lang="en-US" altLang="zh-CN" sz="1200" i="1" dirty="0">
                <a:solidFill>
                  <a:srgbClr val="8C8C8C"/>
                </a:solidFill>
                <a:effectLst/>
              </a:rPr>
              <a:t># 1 </a:t>
            </a:r>
            <a:r>
              <a:rPr lang="zh-CN" altLang="en-US" sz="1200" i="1" dirty="0">
                <a:solidFill>
                  <a:srgbClr val="8C8C8C"/>
                </a:solidFill>
                <a:effectLst/>
              </a:rPr>
              <a:t>准备数据</a:t>
            </a:r>
            <a:br>
              <a:rPr lang="zh-CN" altLang="en-US" sz="1200" i="1" dirty="0">
                <a:solidFill>
                  <a:srgbClr val="8C8C8C"/>
                </a:solidFill>
                <a:effectLst/>
              </a:rPr>
            </a:br>
            <a:r>
              <a:rPr lang="zh-CN" altLang="en-US" sz="1200" i="1" dirty="0">
                <a:solidFill>
                  <a:srgbClr val="8C8C8C"/>
                </a:solidFill>
                <a:effectLst/>
              </a:rPr>
              <a:t>    </a:t>
            </a:r>
            <a:r>
              <a:rPr lang="en-GB" altLang="zh-CN" sz="1200" dirty="0"/>
              <a:t>x = </a:t>
            </a:r>
            <a:r>
              <a:rPr lang="en-GB" altLang="zh-CN" sz="1200" dirty="0" err="1"/>
              <a:t>np.array</a:t>
            </a:r>
            <a:r>
              <a:rPr lang="en-GB" altLang="zh-CN" sz="1200" dirty="0"/>
              <a:t>(</a:t>
            </a:r>
            <a:r>
              <a:rPr lang="en-GB" altLang="zh-CN" sz="1200" dirty="0">
                <a:solidFill>
                  <a:srgbClr val="000080"/>
                </a:solidFill>
                <a:effectLst/>
              </a:rPr>
              <a:t>list</a:t>
            </a:r>
            <a:r>
              <a:rPr lang="en-GB" altLang="zh-CN" sz="1200" dirty="0"/>
              <a:t>(</a:t>
            </a:r>
            <a:r>
              <a:rPr lang="en-GB" altLang="zh-CN" sz="1200" dirty="0">
                <a:solidFill>
                  <a:srgbClr val="000080"/>
                </a:solidFill>
                <a:effectLst/>
              </a:rPr>
              <a:t>range</a:t>
            </a:r>
            <a:r>
              <a:rPr lang="en-GB" altLang="zh-CN" sz="1200" dirty="0"/>
              <a:t>(</a:t>
            </a:r>
            <a:r>
              <a:rPr lang="en-GB" altLang="zh-CN" sz="1200" dirty="0">
                <a:solidFill>
                  <a:srgbClr val="1750EB"/>
                </a:solidFill>
                <a:effectLst/>
              </a:rPr>
              <a:t>1</a:t>
            </a:r>
            <a:r>
              <a:rPr lang="en-GB" altLang="zh-CN" sz="1200" dirty="0"/>
              <a:t>,</a:t>
            </a:r>
            <a:r>
              <a:rPr lang="en-GB" altLang="zh-CN" sz="1200" dirty="0">
                <a:solidFill>
                  <a:srgbClr val="1750EB"/>
                </a:solidFill>
                <a:effectLst/>
              </a:rPr>
              <a:t>11</a:t>
            </a:r>
            <a:r>
              <a:rPr lang="en-GB" altLang="zh-CN" sz="1200" dirty="0"/>
              <a:t>))).reshape(-</a:t>
            </a:r>
            <a:r>
              <a:rPr lang="en-GB" altLang="zh-CN" sz="1200" dirty="0">
                <a:solidFill>
                  <a:srgbClr val="1750EB"/>
                </a:solidFill>
                <a:effectLst/>
              </a:rPr>
              <a:t>1</a:t>
            </a:r>
            <a:r>
              <a:rPr lang="en-GB" altLang="zh-CN" sz="1200" dirty="0"/>
              <a:t>, </a:t>
            </a:r>
            <a:r>
              <a:rPr lang="en-GB" altLang="zh-CN" sz="1200" dirty="0">
                <a:solidFill>
                  <a:srgbClr val="1750EB"/>
                </a:solidFill>
                <a:effectLst/>
              </a:rPr>
              <a:t>1</a:t>
            </a:r>
            <a:r>
              <a:rPr lang="en-GB" altLang="zh-CN" sz="1200" dirty="0"/>
              <a:t>)</a:t>
            </a:r>
            <a:br>
              <a:rPr lang="en-GB" altLang="zh-CN" sz="1200" dirty="0"/>
            </a:br>
            <a:r>
              <a:rPr lang="en-GB" altLang="zh-CN" sz="1200" dirty="0"/>
              <a:t>    y = </a:t>
            </a:r>
            <a:r>
              <a:rPr lang="en-GB" altLang="zh-CN" sz="1200" dirty="0" err="1"/>
              <a:t>np.array</a:t>
            </a:r>
            <a:r>
              <a:rPr lang="en-GB" altLang="zh-CN" sz="1200" dirty="0"/>
              <a:t>([</a:t>
            </a:r>
            <a:r>
              <a:rPr lang="en-GB" altLang="zh-CN" sz="1200" dirty="0">
                <a:solidFill>
                  <a:srgbClr val="1750EB"/>
                </a:solidFill>
                <a:effectLst/>
              </a:rPr>
              <a:t>5.56</a:t>
            </a:r>
            <a:r>
              <a:rPr lang="en-GB" altLang="zh-CN" sz="1200" dirty="0"/>
              <a:t>, </a:t>
            </a:r>
            <a:r>
              <a:rPr lang="en-GB" altLang="zh-CN" sz="1200" dirty="0">
                <a:solidFill>
                  <a:srgbClr val="1750EB"/>
                </a:solidFill>
                <a:effectLst/>
              </a:rPr>
              <a:t>5.70</a:t>
            </a:r>
            <a:r>
              <a:rPr lang="en-GB" altLang="zh-CN" sz="1200" dirty="0"/>
              <a:t>, </a:t>
            </a:r>
            <a:r>
              <a:rPr lang="en-GB" altLang="zh-CN" sz="1200" dirty="0">
                <a:solidFill>
                  <a:srgbClr val="1750EB"/>
                </a:solidFill>
                <a:effectLst/>
              </a:rPr>
              <a:t>5.91</a:t>
            </a:r>
            <a:r>
              <a:rPr lang="en-GB" altLang="zh-CN" sz="1200" dirty="0"/>
              <a:t>, </a:t>
            </a:r>
            <a:r>
              <a:rPr lang="en-GB" altLang="zh-CN" sz="1200" dirty="0">
                <a:solidFill>
                  <a:srgbClr val="1750EB"/>
                </a:solidFill>
                <a:effectLst/>
              </a:rPr>
              <a:t>6.40</a:t>
            </a:r>
            <a:r>
              <a:rPr lang="en-GB" altLang="zh-CN" sz="1200" dirty="0"/>
              <a:t>, </a:t>
            </a:r>
            <a:r>
              <a:rPr lang="en-GB" altLang="zh-CN" sz="1200" dirty="0">
                <a:solidFill>
                  <a:srgbClr val="1750EB"/>
                </a:solidFill>
                <a:effectLst/>
              </a:rPr>
              <a:t>6.80</a:t>
            </a:r>
            <a:r>
              <a:rPr lang="en-GB" altLang="zh-CN" sz="1200" dirty="0"/>
              <a:t>, </a:t>
            </a:r>
            <a:r>
              <a:rPr lang="en-GB" altLang="zh-CN" sz="1200" dirty="0">
                <a:solidFill>
                  <a:srgbClr val="1750EB"/>
                </a:solidFill>
                <a:effectLst/>
              </a:rPr>
              <a:t>7.05</a:t>
            </a:r>
            <a:r>
              <a:rPr lang="en-GB" altLang="zh-CN" sz="1200" dirty="0"/>
              <a:t>, </a:t>
            </a:r>
            <a:r>
              <a:rPr lang="en-GB" altLang="zh-CN" sz="1200" dirty="0">
                <a:solidFill>
                  <a:srgbClr val="1750EB"/>
                </a:solidFill>
                <a:effectLst/>
              </a:rPr>
              <a:t>8.90</a:t>
            </a:r>
            <a:r>
              <a:rPr lang="en-GB" altLang="zh-CN" sz="1200" dirty="0"/>
              <a:t>, </a:t>
            </a:r>
            <a:r>
              <a:rPr lang="en-GB" altLang="zh-CN" sz="1200" dirty="0">
                <a:solidFill>
                  <a:srgbClr val="1750EB"/>
                </a:solidFill>
                <a:effectLst/>
              </a:rPr>
              <a:t>8.70</a:t>
            </a:r>
            <a:r>
              <a:rPr lang="en-GB" altLang="zh-CN" sz="1200" dirty="0"/>
              <a:t>, </a:t>
            </a:r>
            <a:r>
              <a:rPr lang="en-GB" altLang="zh-CN" sz="1200" dirty="0">
                <a:solidFill>
                  <a:srgbClr val="1750EB"/>
                </a:solidFill>
                <a:effectLst/>
              </a:rPr>
              <a:t>9.00</a:t>
            </a:r>
            <a:r>
              <a:rPr lang="en-GB" altLang="zh-CN" sz="1200" dirty="0"/>
              <a:t>, </a:t>
            </a:r>
            <a:r>
              <a:rPr lang="en-GB" altLang="zh-CN" sz="1200" dirty="0">
                <a:solidFill>
                  <a:srgbClr val="1750EB"/>
                </a:solidFill>
                <a:effectLst/>
              </a:rPr>
              <a:t>9.05</a:t>
            </a:r>
            <a:r>
              <a:rPr lang="en-GB" altLang="zh-CN" sz="1200" dirty="0"/>
              <a:t>])</a:t>
            </a:r>
            <a:br>
              <a:rPr lang="en-GB" altLang="zh-CN" sz="1200" dirty="0"/>
            </a:br>
            <a:r>
              <a:rPr lang="en-GB" altLang="zh-CN" sz="1200" dirty="0"/>
              <a:t>    </a:t>
            </a:r>
            <a:r>
              <a:rPr lang="en-GB" altLang="zh-CN" sz="1200" dirty="0">
                <a:solidFill>
                  <a:srgbClr val="000080"/>
                </a:solidFill>
                <a:effectLst/>
              </a:rPr>
              <a:t>print</a:t>
            </a:r>
            <a:r>
              <a:rPr lang="en-GB" altLang="zh-CN" sz="1200" dirty="0"/>
              <a:t>(</a:t>
            </a:r>
            <a:r>
              <a:rPr lang="en-GB" altLang="zh-CN" sz="1200" dirty="0">
                <a:solidFill>
                  <a:srgbClr val="067D17"/>
                </a:solidFill>
                <a:effectLst/>
              </a:rPr>
              <a:t>‘x--&gt;</a:t>
            </a:r>
            <a:r>
              <a:rPr lang="en-GB" altLang="zh-CN" sz="1200" dirty="0">
                <a:solidFill>
                  <a:srgbClr val="0037A6"/>
                </a:solidFill>
                <a:effectLst/>
              </a:rPr>
              <a:t>\n</a:t>
            </a:r>
            <a:r>
              <a:rPr lang="en-GB" altLang="zh-CN" sz="1200" dirty="0">
                <a:solidFill>
                  <a:srgbClr val="067D17"/>
                </a:solidFill>
                <a:effectLst/>
              </a:rPr>
              <a:t>’</a:t>
            </a:r>
            <a:r>
              <a:rPr lang="en-GB" altLang="zh-CN" sz="1200" dirty="0"/>
              <a:t>, x)</a:t>
            </a:r>
            <a:br>
              <a:rPr lang="en-GB" altLang="zh-CN" sz="1200" dirty="0"/>
            </a:br>
            <a:r>
              <a:rPr lang="en-GB" altLang="zh-CN" sz="1200" dirty="0"/>
              <a:t>    </a:t>
            </a:r>
            <a:r>
              <a:rPr lang="en-GB" altLang="zh-CN" sz="1200" dirty="0">
                <a:solidFill>
                  <a:srgbClr val="000080"/>
                </a:solidFill>
                <a:effectLst/>
              </a:rPr>
              <a:t>print</a:t>
            </a:r>
            <a:r>
              <a:rPr lang="en-GB" altLang="zh-CN" sz="1200" dirty="0"/>
              <a:t>(</a:t>
            </a:r>
            <a:r>
              <a:rPr lang="en-GB" altLang="zh-CN" sz="1200" dirty="0">
                <a:solidFill>
                  <a:srgbClr val="067D17"/>
                </a:solidFill>
                <a:effectLst/>
              </a:rPr>
              <a:t>‘y--&gt;</a:t>
            </a:r>
            <a:r>
              <a:rPr lang="en-GB" altLang="zh-CN" sz="1200" dirty="0">
                <a:solidFill>
                  <a:srgbClr val="0037A6"/>
                </a:solidFill>
                <a:effectLst/>
              </a:rPr>
              <a:t>\n</a:t>
            </a:r>
            <a:r>
              <a:rPr lang="en-GB" altLang="zh-CN" sz="1200" dirty="0">
                <a:solidFill>
                  <a:srgbClr val="067D17"/>
                </a:solidFill>
                <a:effectLst/>
              </a:rPr>
              <a:t>’</a:t>
            </a:r>
            <a:r>
              <a:rPr lang="en-GB" altLang="zh-CN" sz="1200" dirty="0"/>
              <a:t>, y)</a:t>
            </a:r>
            <a:br>
              <a:rPr lang="en-GB" altLang="zh-CN" sz="1200" dirty="0"/>
            </a:br>
            <a:br>
              <a:rPr lang="en-GB" altLang="zh-CN" sz="1200" dirty="0"/>
            </a:br>
            <a:r>
              <a:rPr lang="en-GB" altLang="zh-CN" sz="1200" dirty="0"/>
              <a:t>    </a:t>
            </a:r>
            <a:r>
              <a:rPr lang="en-GB" altLang="zh-CN" sz="1200" i="1" dirty="0">
                <a:solidFill>
                  <a:srgbClr val="8C8C8C"/>
                </a:solidFill>
                <a:effectLst/>
              </a:rPr>
              <a:t># 2 </a:t>
            </a:r>
            <a:r>
              <a:rPr lang="zh-CN" altLang="en-US" sz="1200" i="1" dirty="0">
                <a:solidFill>
                  <a:srgbClr val="8C8C8C"/>
                </a:solidFill>
                <a:effectLst/>
              </a:rPr>
              <a:t>实例化模型 模型训练</a:t>
            </a:r>
            <a:br>
              <a:rPr lang="zh-CN" altLang="en-US" sz="1200" i="1" dirty="0">
                <a:solidFill>
                  <a:srgbClr val="8C8C8C"/>
                </a:solidFill>
                <a:effectLst/>
              </a:rPr>
            </a:br>
            <a:r>
              <a:rPr lang="zh-CN" altLang="en-US" sz="1200" i="1" dirty="0">
                <a:solidFill>
                  <a:srgbClr val="8C8C8C"/>
                </a:solidFill>
                <a:effectLst/>
              </a:rPr>
              <a:t>    </a:t>
            </a:r>
            <a:r>
              <a:rPr lang="en-GB" altLang="zh-CN" sz="1200" dirty="0"/>
              <a:t>model1 = </a:t>
            </a:r>
            <a:r>
              <a:rPr lang="en-GB" altLang="zh-CN" sz="1200" dirty="0" err="1"/>
              <a:t>DecisionTreeRegressor</a:t>
            </a:r>
            <a:r>
              <a:rPr lang="en-GB" altLang="zh-CN" sz="1200" dirty="0"/>
              <a:t>(</a:t>
            </a:r>
            <a:r>
              <a:rPr lang="en-GB" altLang="zh-CN" sz="1200" dirty="0" err="1">
                <a:solidFill>
                  <a:srgbClr val="660099"/>
                </a:solidFill>
                <a:effectLst/>
              </a:rPr>
              <a:t>max_depth</a:t>
            </a:r>
            <a:r>
              <a:rPr lang="en-GB" altLang="zh-CN" sz="1200" dirty="0"/>
              <a:t>=</a:t>
            </a:r>
            <a:r>
              <a:rPr lang="en-GB" altLang="zh-CN" sz="1200" dirty="0">
                <a:solidFill>
                  <a:srgbClr val="1750EB"/>
                </a:solidFill>
                <a:effectLst/>
              </a:rPr>
              <a:t>1</a:t>
            </a:r>
            <a:r>
              <a:rPr lang="en-GB" altLang="zh-CN" sz="1200" dirty="0"/>
              <a:t>)</a:t>
            </a:r>
            <a:br>
              <a:rPr lang="en-GB" altLang="zh-CN" sz="1200" dirty="0"/>
            </a:br>
            <a:r>
              <a:rPr lang="en-GB" altLang="zh-CN" sz="1200" dirty="0"/>
              <a:t>    model2 = </a:t>
            </a:r>
            <a:r>
              <a:rPr lang="en-GB" altLang="zh-CN" sz="1200" dirty="0" err="1"/>
              <a:t>DecisionTreeRegressor</a:t>
            </a:r>
            <a:r>
              <a:rPr lang="en-GB" altLang="zh-CN" sz="1200" dirty="0"/>
              <a:t>(</a:t>
            </a:r>
            <a:r>
              <a:rPr lang="en-GB" altLang="zh-CN" sz="1200" dirty="0" err="1">
                <a:solidFill>
                  <a:srgbClr val="660099"/>
                </a:solidFill>
                <a:effectLst/>
              </a:rPr>
              <a:t>max_depth</a:t>
            </a:r>
            <a:r>
              <a:rPr lang="en-GB" altLang="zh-CN" sz="1200" dirty="0"/>
              <a:t>=</a:t>
            </a:r>
            <a:r>
              <a:rPr lang="en-GB" altLang="zh-CN" sz="1200" dirty="0">
                <a:solidFill>
                  <a:srgbClr val="1750EB"/>
                </a:solidFill>
                <a:effectLst/>
              </a:rPr>
              <a:t>3</a:t>
            </a:r>
            <a:r>
              <a:rPr lang="en-GB" altLang="zh-CN" sz="1200" dirty="0"/>
              <a:t>)</a:t>
            </a:r>
            <a:br>
              <a:rPr lang="en-GB" altLang="zh-CN" sz="1200" dirty="0"/>
            </a:br>
            <a:r>
              <a:rPr lang="en-GB" altLang="zh-CN" sz="1200" dirty="0"/>
              <a:t>    model3 = </a:t>
            </a:r>
            <a:r>
              <a:rPr lang="en-GB" altLang="zh-CN" sz="1200" dirty="0" err="1"/>
              <a:t>LinearRegression</a:t>
            </a:r>
            <a:r>
              <a:rPr lang="en-GB" altLang="zh-CN" sz="1200" dirty="0"/>
              <a:t>()</a:t>
            </a:r>
            <a:br>
              <a:rPr lang="en-GB" altLang="zh-CN" sz="1200" dirty="0"/>
            </a:br>
            <a:r>
              <a:rPr lang="en-GB" altLang="zh-CN" sz="1200" dirty="0"/>
              <a:t>    model1.fit(x, y)</a:t>
            </a:r>
            <a:br>
              <a:rPr lang="en-GB" altLang="zh-CN" sz="1200" dirty="0"/>
            </a:br>
            <a:r>
              <a:rPr lang="en-GB" altLang="zh-CN" sz="1200" dirty="0"/>
              <a:t>    model2.fit(x, y)</a:t>
            </a:r>
            <a:br>
              <a:rPr lang="en-GB" altLang="zh-CN" sz="1200" dirty="0"/>
            </a:br>
            <a:r>
              <a:rPr lang="en-GB" altLang="zh-CN" sz="1200" dirty="0"/>
              <a:t>    model3.fit(x, y)</a:t>
            </a:r>
            <a:br>
              <a:rPr lang="en-GB" altLang="zh-CN" sz="1200" dirty="0"/>
            </a:br>
            <a:br>
              <a:rPr lang="en-GB" altLang="zh-CN" sz="1200" dirty="0"/>
            </a:br>
            <a:r>
              <a:rPr lang="en-GB" altLang="zh-CN" sz="1200" dirty="0"/>
              <a:t>    </a:t>
            </a:r>
            <a:endParaRPr kumimoji="0" lang="en-US" altLang="zh-CN" sz="1200" b="0" i="0" u="none" strike="noStrike" kern="1200" cap="none" spc="0" normalizeH="0" baseline="0" noProof="0" dirty="0">
              <a:ln>
                <a:noFill/>
              </a:ln>
              <a:solidFill>
                <a:srgbClr val="0033B3"/>
              </a:solidFill>
              <a:effectLst/>
              <a:uLnTx/>
              <a:uFillTx/>
              <a:latin typeface="Alibaba PuHuiTi" pitchFamily="18" charset="-122"/>
              <a:ea typeface="Alibaba PuHuiTi" pitchFamily="18" charset="-122"/>
              <a:cs typeface="Alibaba PuHuiTi" pitchFamily="18" charset="-122"/>
            </a:endParaRPr>
          </a:p>
        </p:txBody>
      </p:sp>
      <p:sp>
        <p:nvSpPr>
          <p:cNvPr id="4" name="TextBox 3"/>
          <p:cNvSpPr txBox="1"/>
          <p:nvPr/>
        </p:nvSpPr>
        <p:spPr>
          <a:xfrm>
            <a:off x="6602272" y="1357169"/>
            <a:ext cx="4763164" cy="4154984"/>
          </a:xfrm>
          <a:prstGeom prst="rect">
            <a:avLst/>
          </a:prstGeom>
          <a:solidFill>
            <a:srgbClr val="FFFFE4"/>
          </a:solidFill>
          <a:ln w="3175">
            <a:solidFill>
              <a:srgbClr val="91919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i="1" dirty="0">
                <a:solidFill>
                  <a:srgbClr val="8C8C8C"/>
                </a:solidFill>
                <a:effectLst/>
              </a:rPr>
              <a:t>    </a:t>
            </a:r>
            <a:r>
              <a:rPr lang="en-GB" altLang="zh-CN" sz="1200" i="1" dirty="0">
                <a:solidFill>
                  <a:srgbClr val="8C8C8C"/>
                </a:solidFill>
                <a:effectLst/>
              </a:rPr>
              <a:t># 3 </a:t>
            </a:r>
            <a:r>
              <a:rPr lang="zh-CN" altLang="en-US" sz="1200" i="1" dirty="0">
                <a:solidFill>
                  <a:srgbClr val="8C8C8C"/>
                </a:solidFill>
                <a:effectLst/>
              </a:rPr>
              <a:t>模型预测 </a:t>
            </a:r>
            <a:r>
              <a:rPr lang="en-US" altLang="zh-CN" sz="1200" i="1" dirty="0">
                <a:solidFill>
                  <a:srgbClr val="8C8C8C"/>
                </a:solidFill>
                <a:effectLst/>
              </a:rPr>
              <a:t># </a:t>
            </a:r>
            <a:r>
              <a:rPr lang="zh-CN" altLang="en-US" sz="1200" i="1" dirty="0">
                <a:solidFill>
                  <a:srgbClr val="8C8C8C"/>
                </a:solidFill>
                <a:effectLst/>
              </a:rPr>
              <a:t>等差数组</a:t>
            </a:r>
            <a:r>
              <a:rPr lang="en-US" altLang="zh-CN" sz="1200" i="1" dirty="0">
                <a:solidFill>
                  <a:srgbClr val="8C8C8C"/>
                </a:solidFill>
                <a:effectLst/>
              </a:rPr>
              <a:t>-</a:t>
            </a:r>
            <a:r>
              <a:rPr lang="zh-CN" altLang="en-US" sz="1200" i="1" dirty="0">
                <a:solidFill>
                  <a:srgbClr val="8C8C8C"/>
                </a:solidFill>
                <a:effectLst/>
              </a:rPr>
              <a:t>按照间隔</a:t>
            </a:r>
            <a:br>
              <a:rPr lang="zh-CN" altLang="en-US" sz="1200" i="1" dirty="0">
                <a:solidFill>
                  <a:srgbClr val="8C8C8C"/>
                </a:solidFill>
                <a:effectLst/>
              </a:rPr>
            </a:br>
            <a:r>
              <a:rPr lang="zh-CN" altLang="en-US" sz="1200" i="1" dirty="0">
                <a:solidFill>
                  <a:srgbClr val="8C8C8C"/>
                </a:solidFill>
                <a:effectLst/>
              </a:rPr>
              <a:t>    </a:t>
            </a:r>
            <a:r>
              <a:rPr lang="en-GB" altLang="zh-CN" sz="1200" dirty="0" err="1"/>
              <a:t>x_test</a:t>
            </a:r>
            <a:r>
              <a:rPr lang="en-GB" altLang="zh-CN" sz="1200" dirty="0"/>
              <a:t> = </a:t>
            </a:r>
            <a:r>
              <a:rPr lang="en-GB" altLang="zh-CN" sz="1200" dirty="0" err="1"/>
              <a:t>np.arange</a:t>
            </a:r>
            <a:r>
              <a:rPr lang="en-GB" altLang="zh-CN" sz="1200" dirty="0"/>
              <a:t>(</a:t>
            </a:r>
            <a:r>
              <a:rPr lang="en-GB" altLang="zh-CN" sz="1200" dirty="0">
                <a:solidFill>
                  <a:srgbClr val="1750EB"/>
                </a:solidFill>
                <a:effectLst/>
              </a:rPr>
              <a:t>0.0</a:t>
            </a:r>
            <a:r>
              <a:rPr lang="en-GB" altLang="zh-CN" sz="1200" dirty="0"/>
              <a:t>, </a:t>
            </a:r>
            <a:r>
              <a:rPr lang="en-GB" altLang="zh-CN" sz="1200" dirty="0">
                <a:solidFill>
                  <a:srgbClr val="1750EB"/>
                </a:solidFill>
                <a:effectLst/>
              </a:rPr>
              <a:t>10.0</a:t>
            </a:r>
            <a:r>
              <a:rPr lang="en-GB" altLang="zh-CN" sz="1200" dirty="0"/>
              <a:t>, </a:t>
            </a:r>
            <a:r>
              <a:rPr lang="en-GB" altLang="zh-CN" sz="1200" dirty="0">
                <a:solidFill>
                  <a:srgbClr val="1750EB"/>
                </a:solidFill>
                <a:effectLst/>
              </a:rPr>
              <a:t>0.01</a:t>
            </a:r>
            <a:r>
              <a:rPr lang="en-GB" altLang="zh-CN" sz="1200" dirty="0"/>
              <a:t>).reshape(-</a:t>
            </a:r>
            <a:r>
              <a:rPr lang="en-GB" altLang="zh-CN" sz="1200" dirty="0">
                <a:solidFill>
                  <a:srgbClr val="1750EB"/>
                </a:solidFill>
                <a:effectLst/>
              </a:rPr>
              <a:t>1</a:t>
            </a:r>
            <a:r>
              <a:rPr lang="en-GB" altLang="zh-CN" sz="1200" dirty="0"/>
              <a:t>, </a:t>
            </a:r>
            <a:r>
              <a:rPr lang="en-GB" altLang="zh-CN" sz="1200" dirty="0">
                <a:solidFill>
                  <a:srgbClr val="1750EB"/>
                </a:solidFill>
                <a:effectLst/>
              </a:rPr>
              <a:t>1</a:t>
            </a:r>
            <a:r>
              <a:rPr lang="en-GB" altLang="zh-CN" sz="1200" dirty="0"/>
              <a:t>)</a:t>
            </a:r>
            <a:br>
              <a:rPr lang="en-GB" altLang="zh-CN" sz="1200" dirty="0"/>
            </a:br>
            <a:r>
              <a:rPr lang="zh-CN" altLang="en-US" sz="1200" dirty="0"/>
              <a:t>    </a:t>
            </a:r>
            <a:r>
              <a:rPr lang="en-GB" altLang="zh-CN" sz="1200" dirty="0"/>
              <a:t>y_pre1 = model1.predict(</a:t>
            </a:r>
            <a:r>
              <a:rPr lang="en-GB" altLang="zh-CN" sz="1200" dirty="0" err="1"/>
              <a:t>x_test</a:t>
            </a:r>
            <a:r>
              <a:rPr lang="en-GB" altLang="zh-CN" sz="1200" dirty="0"/>
              <a:t>)</a:t>
            </a:r>
            <a:br>
              <a:rPr lang="en-GB" altLang="zh-CN" sz="1200" dirty="0"/>
            </a:br>
            <a:r>
              <a:rPr lang="en-GB" altLang="zh-CN" sz="1200" dirty="0"/>
              <a:t>    y_pre2 = model2.predict(</a:t>
            </a:r>
            <a:r>
              <a:rPr lang="en-GB" altLang="zh-CN" sz="1200" dirty="0" err="1"/>
              <a:t>x_test</a:t>
            </a:r>
            <a:r>
              <a:rPr lang="en-GB" altLang="zh-CN" sz="1200" dirty="0"/>
              <a:t>)</a:t>
            </a:r>
            <a:br>
              <a:rPr lang="en-GB" altLang="zh-CN" sz="1200" dirty="0"/>
            </a:br>
            <a:r>
              <a:rPr lang="en-GB" altLang="zh-CN" sz="1200" dirty="0"/>
              <a:t>    y_pre3 = model3.predict(</a:t>
            </a:r>
            <a:r>
              <a:rPr lang="en-GB" altLang="zh-CN" sz="1200" dirty="0" err="1"/>
              <a:t>x_test</a:t>
            </a:r>
            <a:r>
              <a:rPr lang="en-GB" altLang="zh-CN" sz="1200" dirty="0"/>
              <a:t>)</a:t>
            </a:r>
            <a:br>
              <a:rPr lang="en-GB" altLang="zh-CN" sz="1200" dirty="0"/>
            </a:br>
            <a:r>
              <a:rPr lang="en-GB" altLang="zh-CN" sz="1200" dirty="0"/>
              <a:t>    </a:t>
            </a:r>
            <a:r>
              <a:rPr lang="en-GB" altLang="zh-CN" sz="1200" dirty="0">
                <a:solidFill>
                  <a:srgbClr val="000080"/>
                </a:solidFill>
                <a:effectLst/>
              </a:rPr>
              <a:t>print</a:t>
            </a:r>
            <a:r>
              <a:rPr lang="en-GB" altLang="zh-CN" sz="1200" dirty="0"/>
              <a:t>(y_pre1.shape, y_pre2.shape, y_pre3.shape)</a:t>
            </a:r>
            <a:br>
              <a:rPr lang="en-GB" altLang="zh-CN" sz="1200" dirty="0"/>
            </a:br>
            <a:br>
              <a:rPr lang="en-GB" altLang="zh-CN" sz="1200" dirty="0"/>
            </a:br>
            <a:r>
              <a:rPr lang="en-GB" altLang="zh-CN" sz="1200" dirty="0"/>
              <a:t>    </a:t>
            </a:r>
            <a:r>
              <a:rPr lang="en-GB" altLang="zh-CN" sz="1200" i="1" dirty="0">
                <a:solidFill>
                  <a:srgbClr val="8C8C8C"/>
                </a:solidFill>
                <a:effectLst/>
              </a:rPr>
              <a:t># 4 </a:t>
            </a:r>
            <a:r>
              <a:rPr lang="zh-CN" altLang="en-US" sz="1200" i="1" dirty="0">
                <a:solidFill>
                  <a:srgbClr val="8C8C8C"/>
                </a:solidFill>
                <a:effectLst/>
              </a:rPr>
              <a:t>结果可视化</a:t>
            </a:r>
            <a:br>
              <a:rPr lang="zh-CN" altLang="en-US" sz="1200" i="1" dirty="0">
                <a:solidFill>
                  <a:srgbClr val="8C8C8C"/>
                </a:solidFill>
                <a:effectLst/>
              </a:rPr>
            </a:br>
            <a:r>
              <a:rPr lang="zh-CN" altLang="en-US" sz="1200" i="1" dirty="0">
                <a:solidFill>
                  <a:srgbClr val="8C8C8C"/>
                </a:solidFill>
                <a:effectLst/>
              </a:rPr>
              <a:t>    </a:t>
            </a:r>
            <a:r>
              <a:rPr lang="en-GB" altLang="zh-CN" sz="1200" dirty="0" err="1"/>
              <a:t>plt.figure</a:t>
            </a:r>
            <a:r>
              <a:rPr lang="en-GB" altLang="zh-CN" sz="1200" dirty="0"/>
              <a:t>(</a:t>
            </a:r>
            <a:r>
              <a:rPr lang="en-GB" altLang="zh-CN" sz="1200" dirty="0" err="1">
                <a:solidFill>
                  <a:srgbClr val="660099"/>
                </a:solidFill>
                <a:effectLst/>
              </a:rPr>
              <a:t>figsize</a:t>
            </a:r>
            <a:r>
              <a:rPr lang="en-GB" altLang="zh-CN" sz="1200" dirty="0"/>
              <a:t>=(</a:t>
            </a:r>
            <a:r>
              <a:rPr lang="en-GB" altLang="zh-CN" sz="1200" dirty="0">
                <a:solidFill>
                  <a:srgbClr val="1750EB"/>
                </a:solidFill>
                <a:effectLst/>
              </a:rPr>
              <a:t>10</a:t>
            </a:r>
            <a:r>
              <a:rPr lang="en-GB" altLang="zh-CN" sz="1200" dirty="0"/>
              <a:t>, </a:t>
            </a:r>
            <a:r>
              <a:rPr lang="en-GB" altLang="zh-CN" sz="1200" dirty="0">
                <a:solidFill>
                  <a:srgbClr val="1750EB"/>
                </a:solidFill>
                <a:effectLst/>
              </a:rPr>
              <a:t>6</a:t>
            </a:r>
            <a:r>
              <a:rPr lang="en-GB" altLang="zh-CN" sz="1200" dirty="0"/>
              <a:t>), </a:t>
            </a:r>
            <a:r>
              <a:rPr lang="en-GB" altLang="zh-CN" sz="1200" dirty="0">
                <a:solidFill>
                  <a:srgbClr val="660099"/>
                </a:solidFill>
                <a:effectLst/>
              </a:rPr>
              <a:t>dpi</a:t>
            </a:r>
            <a:r>
              <a:rPr lang="en-GB" altLang="zh-CN" sz="1200" dirty="0"/>
              <a:t>=</a:t>
            </a:r>
            <a:r>
              <a:rPr lang="en-GB" altLang="zh-CN" sz="1200" dirty="0">
                <a:solidFill>
                  <a:srgbClr val="1750EB"/>
                </a:solidFill>
                <a:effectLst/>
              </a:rPr>
              <a:t>100</a:t>
            </a:r>
            <a:r>
              <a:rPr lang="en-GB" altLang="zh-CN" sz="1200" dirty="0"/>
              <a:t>)</a:t>
            </a:r>
            <a:br>
              <a:rPr lang="en-GB" altLang="zh-CN" sz="1200" dirty="0"/>
            </a:br>
            <a:r>
              <a:rPr lang="en-GB" altLang="zh-CN" sz="1200" dirty="0"/>
              <a:t>    </a:t>
            </a:r>
            <a:r>
              <a:rPr lang="en-GB" altLang="zh-CN" sz="1200" dirty="0" err="1"/>
              <a:t>plt.scatter</a:t>
            </a:r>
            <a:r>
              <a:rPr lang="en-GB" altLang="zh-CN" sz="1200" dirty="0"/>
              <a:t>(x, y, </a:t>
            </a:r>
            <a:r>
              <a:rPr lang="en-GB" altLang="zh-CN" sz="1200" dirty="0">
                <a:solidFill>
                  <a:srgbClr val="660099"/>
                </a:solidFill>
                <a:effectLst/>
              </a:rPr>
              <a:t>label</a:t>
            </a:r>
            <a:r>
              <a:rPr lang="en-GB" altLang="zh-CN" sz="1200" dirty="0"/>
              <a:t>=</a:t>
            </a:r>
            <a:r>
              <a:rPr lang="en-GB" altLang="zh-CN" sz="1200" dirty="0">
                <a:solidFill>
                  <a:srgbClr val="067D17"/>
                </a:solidFill>
                <a:effectLst/>
              </a:rPr>
              <a:t>'data'</a:t>
            </a:r>
            <a:r>
              <a:rPr lang="en-GB" altLang="zh-CN" sz="1200" dirty="0"/>
              <a:t>)</a:t>
            </a:r>
            <a:br>
              <a:rPr lang="en-GB" altLang="zh-CN" sz="1200" dirty="0"/>
            </a:br>
            <a:br>
              <a:rPr lang="en-GB" altLang="zh-CN" sz="1200" dirty="0"/>
            </a:br>
            <a:r>
              <a:rPr lang="en-GB" altLang="zh-CN" sz="1200" dirty="0"/>
              <a:t>    </a:t>
            </a:r>
            <a:r>
              <a:rPr lang="en-GB" altLang="zh-CN" sz="1200" dirty="0" err="1"/>
              <a:t>plt.plot</a:t>
            </a:r>
            <a:r>
              <a:rPr lang="en-GB" altLang="zh-CN" sz="1200" dirty="0"/>
              <a:t>(</a:t>
            </a:r>
            <a:r>
              <a:rPr lang="en-GB" altLang="zh-CN" sz="1200" dirty="0" err="1"/>
              <a:t>x_test</a:t>
            </a:r>
            <a:r>
              <a:rPr lang="en-GB" altLang="zh-CN" sz="1200" dirty="0"/>
              <a:t>, y_pre1, </a:t>
            </a:r>
            <a:r>
              <a:rPr lang="en-GB" altLang="zh-CN" sz="1200" dirty="0">
                <a:solidFill>
                  <a:srgbClr val="660099"/>
                </a:solidFill>
                <a:effectLst/>
              </a:rPr>
              <a:t>label</a:t>
            </a:r>
            <a:r>
              <a:rPr lang="en-GB" altLang="zh-CN" sz="1200" dirty="0"/>
              <a:t>=</a:t>
            </a:r>
            <a:r>
              <a:rPr lang="en-GB" altLang="zh-CN" sz="1200" dirty="0">
                <a:solidFill>
                  <a:srgbClr val="067D17"/>
                </a:solidFill>
                <a:effectLst/>
              </a:rPr>
              <a:t>'</a:t>
            </a:r>
            <a:r>
              <a:rPr lang="en-GB" altLang="zh-CN" sz="1200" dirty="0" err="1">
                <a:solidFill>
                  <a:srgbClr val="067D17"/>
                </a:solidFill>
                <a:effectLst/>
              </a:rPr>
              <a:t>max_depth</a:t>
            </a:r>
            <a:r>
              <a:rPr lang="en-GB" altLang="zh-CN" sz="1200" dirty="0">
                <a:solidFill>
                  <a:srgbClr val="067D17"/>
                </a:solidFill>
                <a:effectLst/>
              </a:rPr>
              <a:t>=1'</a:t>
            </a:r>
            <a:r>
              <a:rPr lang="en-GB" altLang="zh-CN" sz="1200" dirty="0"/>
              <a:t>)   </a:t>
            </a:r>
            <a:r>
              <a:rPr lang="en-GB" altLang="zh-CN" sz="1200" i="1" dirty="0">
                <a:solidFill>
                  <a:srgbClr val="8C8C8C"/>
                </a:solidFill>
                <a:effectLst/>
              </a:rPr>
              <a:t># </a:t>
            </a:r>
            <a:r>
              <a:rPr lang="zh-CN" altLang="en-US" sz="1200" i="1" dirty="0">
                <a:solidFill>
                  <a:srgbClr val="8C8C8C"/>
                </a:solidFill>
                <a:effectLst/>
              </a:rPr>
              <a:t>深度</a:t>
            </a:r>
            <a:r>
              <a:rPr lang="en-US" altLang="zh-CN" sz="1200" i="1" dirty="0">
                <a:solidFill>
                  <a:srgbClr val="8C8C8C"/>
                </a:solidFill>
                <a:effectLst/>
              </a:rPr>
              <a:t>1</a:t>
            </a:r>
            <a:r>
              <a:rPr lang="zh-CN" altLang="en-US" sz="1200" i="1" dirty="0">
                <a:solidFill>
                  <a:srgbClr val="8C8C8C"/>
                </a:solidFill>
                <a:effectLst/>
              </a:rPr>
              <a:t>层</a:t>
            </a:r>
            <a:br>
              <a:rPr lang="zh-CN" altLang="en-US" sz="1200" i="1" dirty="0">
                <a:solidFill>
                  <a:srgbClr val="8C8C8C"/>
                </a:solidFill>
                <a:effectLst/>
              </a:rPr>
            </a:br>
            <a:r>
              <a:rPr lang="zh-CN" altLang="en-US" sz="1200" i="1" dirty="0">
                <a:solidFill>
                  <a:srgbClr val="8C8C8C"/>
                </a:solidFill>
                <a:effectLst/>
              </a:rPr>
              <a:t>    </a:t>
            </a:r>
            <a:r>
              <a:rPr lang="en-GB" altLang="zh-CN" sz="1200" dirty="0" err="1"/>
              <a:t>plt.plot</a:t>
            </a:r>
            <a:r>
              <a:rPr lang="en-GB" altLang="zh-CN" sz="1200" dirty="0"/>
              <a:t>(</a:t>
            </a:r>
            <a:r>
              <a:rPr lang="en-GB" altLang="zh-CN" sz="1200" dirty="0" err="1"/>
              <a:t>x_test</a:t>
            </a:r>
            <a:r>
              <a:rPr lang="en-GB" altLang="zh-CN" sz="1200" dirty="0"/>
              <a:t>, y_pre2, </a:t>
            </a:r>
            <a:r>
              <a:rPr lang="en-GB" altLang="zh-CN" sz="1200" dirty="0">
                <a:solidFill>
                  <a:srgbClr val="660099"/>
                </a:solidFill>
                <a:effectLst/>
              </a:rPr>
              <a:t>label</a:t>
            </a:r>
            <a:r>
              <a:rPr lang="en-GB" altLang="zh-CN" sz="1200" dirty="0"/>
              <a:t>=</a:t>
            </a:r>
            <a:r>
              <a:rPr lang="en-GB" altLang="zh-CN" sz="1200" dirty="0">
                <a:solidFill>
                  <a:srgbClr val="067D17"/>
                </a:solidFill>
                <a:effectLst/>
              </a:rPr>
              <a:t>'</a:t>
            </a:r>
            <a:r>
              <a:rPr lang="en-GB" altLang="zh-CN" sz="1200" dirty="0" err="1">
                <a:solidFill>
                  <a:srgbClr val="067D17"/>
                </a:solidFill>
                <a:effectLst/>
              </a:rPr>
              <a:t>max_depth</a:t>
            </a:r>
            <a:r>
              <a:rPr lang="en-GB" altLang="zh-CN" sz="1200" dirty="0">
                <a:solidFill>
                  <a:srgbClr val="067D17"/>
                </a:solidFill>
                <a:effectLst/>
              </a:rPr>
              <a:t>=3'</a:t>
            </a:r>
            <a:r>
              <a:rPr lang="en-GB" altLang="zh-CN" sz="1200" dirty="0"/>
              <a:t>)   </a:t>
            </a:r>
            <a:r>
              <a:rPr lang="en-GB" altLang="zh-CN" sz="1200" i="1" dirty="0">
                <a:solidFill>
                  <a:srgbClr val="8C8C8C"/>
                </a:solidFill>
                <a:effectLst/>
              </a:rPr>
              <a:t># </a:t>
            </a:r>
            <a:r>
              <a:rPr lang="zh-CN" altLang="en-US" sz="1200" i="1" dirty="0">
                <a:solidFill>
                  <a:srgbClr val="8C8C8C"/>
                </a:solidFill>
                <a:effectLst/>
              </a:rPr>
              <a:t>深度</a:t>
            </a:r>
            <a:r>
              <a:rPr lang="en-US" altLang="zh-CN" sz="1200" i="1" dirty="0">
                <a:solidFill>
                  <a:srgbClr val="8C8C8C"/>
                </a:solidFill>
                <a:effectLst/>
              </a:rPr>
              <a:t>3</a:t>
            </a:r>
            <a:r>
              <a:rPr lang="zh-CN" altLang="en-US" sz="1200" i="1" dirty="0">
                <a:solidFill>
                  <a:srgbClr val="8C8C8C"/>
                </a:solidFill>
                <a:effectLst/>
              </a:rPr>
              <a:t>层</a:t>
            </a:r>
            <a:br>
              <a:rPr lang="zh-CN" altLang="en-US" sz="1200" i="1" dirty="0">
                <a:solidFill>
                  <a:srgbClr val="8C8C8C"/>
                </a:solidFill>
                <a:effectLst/>
              </a:rPr>
            </a:br>
            <a:r>
              <a:rPr lang="zh-CN" altLang="en-US" sz="1200" i="1" dirty="0">
                <a:solidFill>
                  <a:srgbClr val="8C8C8C"/>
                </a:solidFill>
                <a:effectLst/>
              </a:rPr>
              <a:t>    </a:t>
            </a:r>
            <a:r>
              <a:rPr lang="en-GB" altLang="zh-CN" sz="1200" dirty="0" err="1"/>
              <a:t>plt.plot</a:t>
            </a:r>
            <a:r>
              <a:rPr lang="en-GB" altLang="zh-CN" sz="1200" dirty="0"/>
              <a:t>(</a:t>
            </a:r>
            <a:r>
              <a:rPr lang="en-GB" altLang="zh-CN" sz="1200" dirty="0" err="1"/>
              <a:t>x_test</a:t>
            </a:r>
            <a:r>
              <a:rPr lang="en-GB" altLang="zh-CN" sz="1200" dirty="0"/>
              <a:t>, y_pre3, </a:t>
            </a:r>
            <a:r>
              <a:rPr lang="en-GB" altLang="zh-CN" sz="1200" dirty="0">
                <a:solidFill>
                  <a:srgbClr val="660099"/>
                </a:solidFill>
                <a:effectLst/>
              </a:rPr>
              <a:t>label</a:t>
            </a:r>
            <a:r>
              <a:rPr lang="en-GB" altLang="zh-CN" sz="1200" dirty="0"/>
              <a:t>=</a:t>
            </a:r>
            <a:r>
              <a:rPr lang="en-GB" altLang="zh-CN" sz="1200" dirty="0">
                <a:solidFill>
                  <a:srgbClr val="067D17"/>
                </a:solidFill>
                <a:effectLst/>
              </a:rPr>
              <a:t>'linear'</a:t>
            </a:r>
            <a:r>
              <a:rPr lang="en-GB" altLang="zh-CN" sz="1200" dirty="0"/>
              <a:t>)</a:t>
            </a:r>
            <a:br>
              <a:rPr lang="en-GB" altLang="zh-CN" sz="1200" dirty="0"/>
            </a:br>
            <a:r>
              <a:rPr lang="en-GB" altLang="zh-CN" sz="1200" dirty="0"/>
              <a:t>    </a:t>
            </a:r>
            <a:r>
              <a:rPr lang="en-GB" altLang="zh-CN" sz="1200" dirty="0" err="1"/>
              <a:t>plt.xlabel</a:t>
            </a:r>
            <a:r>
              <a:rPr lang="en-GB" altLang="zh-CN" sz="1200" dirty="0"/>
              <a:t>(</a:t>
            </a:r>
            <a:r>
              <a:rPr lang="en-GB" altLang="zh-CN" sz="1200" dirty="0">
                <a:solidFill>
                  <a:srgbClr val="067D17"/>
                </a:solidFill>
                <a:effectLst/>
              </a:rPr>
              <a:t>'data'</a:t>
            </a:r>
            <a:r>
              <a:rPr lang="en-GB" altLang="zh-CN" sz="1200" dirty="0"/>
              <a:t>)</a:t>
            </a:r>
            <a:br>
              <a:rPr lang="en-GB" altLang="zh-CN" sz="1200" dirty="0"/>
            </a:br>
            <a:r>
              <a:rPr lang="en-GB" altLang="zh-CN" sz="1200" dirty="0"/>
              <a:t>    </a:t>
            </a:r>
            <a:r>
              <a:rPr lang="en-GB" altLang="zh-CN" sz="1200" dirty="0" err="1"/>
              <a:t>plt.ylabel</a:t>
            </a:r>
            <a:r>
              <a:rPr lang="en-GB" altLang="zh-CN" sz="1200" dirty="0"/>
              <a:t>(</a:t>
            </a:r>
            <a:r>
              <a:rPr lang="en-GB" altLang="zh-CN" sz="1200" dirty="0">
                <a:solidFill>
                  <a:srgbClr val="067D17"/>
                </a:solidFill>
                <a:effectLst/>
              </a:rPr>
              <a:t>'target'</a:t>
            </a:r>
            <a:r>
              <a:rPr lang="en-GB" altLang="zh-CN" sz="1200" dirty="0"/>
              <a:t>)</a:t>
            </a:r>
            <a:br>
              <a:rPr lang="en-GB" altLang="zh-CN" sz="1200" dirty="0"/>
            </a:br>
            <a:r>
              <a:rPr lang="en-GB" altLang="zh-CN" sz="1200" dirty="0"/>
              <a:t>    </a:t>
            </a:r>
            <a:r>
              <a:rPr lang="en-GB" altLang="zh-CN" sz="1200" dirty="0" err="1"/>
              <a:t>plt.title</a:t>
            </a:r>
            <a:r>
              <a:rPr lang="en-GB" altLang="zh-CN" sz="1200" dirty="0"/>
              <a:t>(</a:t>
            </a:r>
            <a:r>
              <a:rPr lang="en-GB" altLang="zh-CN" sz="1200" dirty="0">
                <a:solidFill>
                  <a:srgbClr val="067D17"/>
                </a:solidFill>
                <a:effectLst/>
              </a:rPr>
              <a:t>'</a:t>
            </a:r>
            <a:r>
              <a:rPr lang="en-GB" altLang="zh-CN" sz="1200" dirty="0" err="1">
                <a:solidFill>
                  <a:srgbClr val="067D17"/>
                </a:solidFill>
                <a:effectLst/>
              </a:rPr>
              <a:t>DecisionTreeRegressor</a:t>
            </a:r>
            <a:r>
              <a:rPr lang="en-GB" altLang="zh-CN" sz="1200" dirty="0">
                <a:solidFill>
                  <a:srgbClr val="067D17"/>
                </a:solidFill>
                <a:effectLst/>
              </a:rPr>
              <a:t>'</a:t>
            </a:r>
            <a:r>
              <a:rPr lang="en-GB" altLang="zh-CN" sz="1200" dirty="0"/>
              <a:t>)</a:t>
            </a:r>
            <a:br>
              <a:rPr lang="en-GB" altLang="zh-CN" sz="1200" dirty="0"/>
            </a:br>
            <a:r>
              <a:rPr lang="en-GB" altLang="zh-CN" sz="1200" dirty="0"/>
              <a:t>    </a:t>
            </a:r>
            <a:r>
              <a:rPr lang="en-GB" altLang="zh-CN" sz="1200" dirty="0" err="1"/>
              <a:t>plt.legend</a:t>
            </a:r>
            <a:r>
              <a:rPr lang="en-GB" altLang="zh-CN" sz="1200" dirty="0"/>
              <a:t>()</a:t>
            </a:r>
            <a:br>
              <a:rPr lang="en-GB" altLang="zh-CN" sz="1200" dirty="0"/>
            </a:br>
            <a:r>
              <a:rPr lang="en-GB" altLang="zh-CN" sz="1200" dirty="0"/>
              <a:t>    </a:t>
            </a:r>
            <a:r>
              <a:rPr lang="en-GB" altLang="zh-CN" sz="1200" dirty="0" err="1"/>
              <a:t>plt.show</a:t>
            </a:r>
            <a:r>
              <a:rPr lang="en-GB" altLang="zh-CN" sz="1200" dirty="0"/>
              <a:t>()</a:t>
            </a:r>
            <a:endParaRPr lang="en-GB" altLang="zh-CN" sz="1200" dirty="0"/>
          </a:p>
          <a:p>
            <a:pPr marL="0" marR="0" lvl="0" indent="0" algn="l" defTabSz="914400" rtl="0" eaLnBrk="1" fontAlgn="auto" latinLnBrk="0" hangingPunct="1">
              <a:lnSpc>
                <a:spcPct val="100000"/>
              </a:lnSpc>
              <a:spcBef>
                <a:spcPts val="0"/>
              </a:spcBef>
              <a:spcAft>
                <a:spcPts val="0"/>
              </a:spcAft>
              <a:buClrTx/>
              <a:buSzTx/>
              <a:buFontTx/>
              <a:buNone/>
              <a:defRPr/>
            </a:pPr>
            <a:endParaRPr kumimoji="0" lang="en-GB" altLang="zh-CN" sz="1200" b="0" i="0" u="none" strike="noStrike" kern="1200" cap="none" spc="0" normalizeH="0" baseline="0" noProof="0" dirty="0">
              <a:ln>
                <a:noFill/>
              </a:ln>
              <a:solidFill>
                <a:srgbClr val="0033B3"/>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en-GB" altLang="zh-CN" sz="1200" dirty="0">
              <a:solidFill>
                <a:srgbClr val="0033B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GB" altLang="zh-CN" sz="1200" b="0" i="0" u="none" strike="noStrike" kern="1200" cap="none" spc="0" normalizeH="0" baseline="0" noProof="0" dirty="0">
              <a:ln>
                <a:noFill/>
              </a:ln>
              <a:solidFill>
                <a:srgbClr val="0033B3"/>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案例：线性回归与回归决策树对比</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	</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pic>
        <p:nvPicPr>
          <p:cNvPr id="5" name="图片 4"/>
          <p:cNvPicPr>
            <a:picLocks noChangeAspect="1"/>
          </p:cNvPicPr>
          <p:nvPr/>
        </p:nvPicPr>
        <p:blipFill>
          <a:blip r:embed="rId1"/>
          <a:stretch>
            <a:fillRect/>
          </a:stretch>
        </p:blipFill>
        <p:spPr>
          <a:xfrm>
            <a:off x="1962150" y="1357169"/>
            <a:ext cx="8267700" cy="48768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01 (82)"/>
          <p:cNvPicPr>
            <a:picLocks noChangeAspect="1"/>
          </p:cNvPicPr>
          <p:nvPr/>
        </p:nvPicPr>
        <p:blipFill>
          <a:blip r:embed="rId1"/>
          <a:stretch>
            <a:fillRect/>
          </a:stretch>
        </p:blipFill>
        <p:spPr>
          <a:xfrm>
            <a:off x="9592920" y="5398066"/>
            <a:ext cx="1481455" cy="1481455"/>
          </a:xfrm>
          <a:prstGeom prst="rect">
            <a:avLst/>
          </a:prstGeom>
        </p:spPr>
      </p:pic>
      <p:sp>
        <p:nvSpPr>
          <p:cNvPr id="4" name="文本框 3"/>
          <p:cNvSpPr txBox="1"/>
          <p:nvPr/>
        </p:nvSpPr>
        <p:spPr>
          <a:xfrm>
            <a:off x="2251363" y="1116328"/>
            <a:ext cx="4140200" cy="1570173"/>
          </a:xfrm>
          <a:prstGeom prst="rect">
            <a:avLst/>
          </a:prstGeom>
          <a:noFill/>
        </p:spPr>
        <p:txBody>
          <a:bodyPr wrap="square">
            <a:spAutoFit/>
          </a:bodyPr>
          <a:lstStyle/>
          <a:p>
            <a:pPr algn="l">
              <a:buFont typeface="+mj-lt"/>
              <a:buAutoNum type="arabicPeriod"/>
            </a:pPr>
            <a:r>
              <a:rPr lang="zh-CN" altLang="en-US" sz="1400" b="0" i="0" dirty="0">
                <a:solidFill>
                  <a:srgbClr val="374151"/>
                </a:solidFill>
                <a:effectLst/>
                <a:latin typeface="Alibaba PuHuiTi" pitchFamily="18" charset="-122"/>
                <a:ea typeface="Alibaba PuHuiTi" pitchFamily="18" charset="-122"/>
                <a:cs typeface="Alibaba PuHuiTi" pitchFamily="18" charset="-122"/>
              </a:rPr>
              <a:t>以下哪项是</a:t>
            </a:r>
            <a:r>
              <a:rPr lang="zh-CN" altLang="en-US" sz="1400" b="0" i="0" dirty="0">
                <a:solidFill>
                  <a:schemeClr val="accent2">
                    <a:lumMod val="75000"/>
                  </a:schemeClr>
                </a:solidFill>
                <a:effectLst/>
                <a:latin typeface="Alibaba PuHuiTi" pitchFamily="18" charset="-122"/>
                <a:ea typeface="Alibaba PuHuiTi" pitchFamily="18" charset="-122"/>
                <a:cs typeface="Alibaba PuHuiTi" pitchFamily="18" charset="-122"/>
              </a:rPr>
              <a:t>回归决策树</a:t>
            </a:r>
            <a:r>
              <a:rPr lang="zh-CN" altLang="en-US" sz="1400" b="0" i="0" dirty="0">
                <a:solidFill>
                  <a:srgbClr val="374151"/>
                </a:solidFill>
                <a:effectLst/>
                <a:latin typeface="Alibaba PuHuiTi" pitchFamily="18" charset="-122"/>
                <a:ea typeface="Alibaba PuHuiTi" pitchFamily="18" charset="-122"/>
                <a:cs typeface="Alibaba PuHuiTi" pitchFamily="18" charset="-122"/>
              </a:rPr>
              <a:t>说法正确的是（多选）？</a:t>
            </a:r>
            <a:endParaRPr lang="zh-CN" altLang="en-US" sz="1400" b="0" i="0" dirty="0">
              <a:solidFill>
                <a:srgbClr val="374151"/>
              </a:solidFill>
              <a:effectLst/>
              <a:latin typeface="Alibaba PuHuiTi" pitchFamily="18" charset="-122"/>
              <a:ea typeface="Alibaba PuHuiTi" pitchFamily="18" charset="-122"/>
              <a:cs typeface="Alibaba PuHuiTi" pitchFamily="18" charset="-122"/>
            </a:endParaRPr>
          </a:p>
          <a:p>
            <a:pPr marL="342900" indent="-342900" algn="l">
              <a:lnSpc>
                <a:spcPct val="150000"/>
              </a:lnSpc>
              <a:buAutoNum type="alphaUcPeriod"/>
            </a:pPr>
            <a:r>
              <a:rPr lang="zh-CN" altLang="en-US" sz="1400" b="0" i="0" dirty="0">
                <a:solidFill>
                  <a:srgbClr val="374151"/>
                </a:solidFill>
                <a:effectLst/>
                <a:latin typeface="Alibaba PuHuiTi" pitchFamily="18" charset="-122"/>
                <a:ea typeface="Alibaba PuHuiTi" pitchFamily="18" charset="-122"/>
                <a:cs typeface="Alibaba PuHuiTi" pitchFamily="18" charset="-122"/>
              </a:rPr>
              <a:t>可以处理非线性关系 </a:t>
            </a:r>
            <a:endParaRPr lang="en-US" altLang="zh-CN" sz="1400" b="0" i="0" dirty="0">
              <a:solidFill>
                <a:srgbClr val="374151"/>
              </a:solidFill>
              <a:effectLst/>
              <a:latin typeface="Alibaba PuHuiTi" pitchFamily="18" charset="-122"/>
              <a:ea typeface="Alibaba PuHuiTi" pitchFamily="18" charset="-122"/>
              <a:cs typeface="Alibaba PuHuiTi" pitchFamily="18" charset="-122"/>
            </a:endParaRPr>
          </a:p>
          <a:p>
            <a:pPr marL="342900" indent="-342900" algn="l">
              <a:lnSpc>
                <a:spcPct val="150000"/>
              </a:lnSpc>
              <a:buAutoNum type="alphaUcPeriod"/>
            </a:pPr>
            <a:r>
              <a:rPr lang="zh-CN" altLang="en-US" sz="1400" b="0" i="0" dirty="0">
                <a:solidFill>
                  <a:srgbClr val="374151"/>
                </a:solidFill>
                <a:effectLst/>
                <a:latin typeface="Alibaba PuHuiTi" pitchFamily="18" charset="-122"/>
                <a:ea typeface="Alibaba PuHuiTi" pitchFamily="18" charset="-122"/>
                <a:cs typeface="Alibaba PuHuiTi" pitchFamily="18" charset="-122"/>
              </a:rPr>
              <a:t>可以处理多个输入变量 </a:t>
            </a:r>
            <a:endParaRPr lang="en-US" altLang="zh-CN" sz="1400" b="0" i="0" dirty="0">
              <a:solidFill>
                <a:srgbClr val="374151"/>
              </a:solidFill>
              <a:effectLst/>
              <a:latin typeface="Alibaba PuHuiTi" pitchFamily="18" charset="-122"/>
              <a:ea typeface="Alibaba PuHuiTi" pitchFamily="18" charset="-122"/>
              <a:cs typeface="Alibaba PuHuiTi" pitchFamily="18" charset="-122"/>
            </a:endParaRPr>
          </a:p>
          <a:p>
            <a:pPr marL="342900" indent="-342900" algn="l">
              <a:lnSpc>
                <a:spcPct val="150000"/>
              </a:lnSpc>
              <a:buAutoNum type="alphaUcPeriod"/>
            </a:pPr>
            <a:r>
              <a:rPr lang="zh-CN" altLang="en-US" sz="1400" b="0" i="0" dirty="0">
                <a:solidFill>
                  <a:srgbClr val="374151"/>
                </a:solidFill>
                <a:effectLst/>
                <a:latin typeface="Alibaba PuHuiTi" pitchFamily="18" charset="-122"/>
                <a:ea typeface="Alibaba PuHuiTi" pitchFamily="18" charset="-122"/>
                <a:cs typeface="Alibaba PuHuiTi" pitchFamily="18" charset="-122"/>
              </a:rPr>
              <a:t>可以处理分类和回归问题 </a:t>
            </a:r>
            <a:endParaRPr lang="en-US" altLang="zh-CN" sz="1400" b="0" i="0" dirty="0">
              <a:solidFill>
                <a:srgbClr val="374151"/>
              </a:solidFill>
              <a:effectLst/>
              <a:latin typeface="Alibaba PuHuiTi" pitchFamily="18" charset="-122"/>
              <a:ea typeface="Alibaba PuHuiTi" pitchFamily="18" charset="-122"/>
              <a:cs typeface="Alibaba PuHuiTi" pitchFamily="18" charset="-122"/>
            </a:endParaRPr>
          </a:p>
          <a:p>
            <a:pPr marL="342900" indent="-342900" algn="l">
              <a:lnSpc>
                <a:spcPct val="150000"/>
              </a:lnSpc>
              <a:buAutoNum type="alphaUcPeriod"/>
            </a:pPr>
            <a:r>
              <a:rPr lang="zh-CN" altLang="en-US" sz="1400" b="0" i="0" dirty="0">
                <a:solidFill>
                  <a:srgbClr val="374151"/>
                </a:solidFill>
                <a:effectLst/>
                <a:latin typeface="Alibaba PuHuiTi" pitchFamily="18" charset="-122"/>
                <a:ea typeface="Alibaba PuHuiTi" pitchFamily="18" charset="-122"/>
                <a:cs typeface="Alibaba PuHuiTi" pitchFamily="18" charset="-122"/>
              </a:rPr>
              <a:t>可以避免过拟合</a:t>
            </a:r>
            <a:endParaRPr lang="zh-CN" altLang="en-US" sz="1400" b="0" i="0" dirty="0">
              <a:solidFill>
                <a:srgbClr val="374151"/>
              </a:solidFill>
              <a:effectLst/>
              <a:latin typeface="Alibaba PuHuiTi" pitchFamily="18" charset="-122"/>
              <a:ea typeface="Alibaba PuHuiTi" pitchFamily="18" charset="-122"/>
              <a:cs typeface="Alibaba PuHuiTi" pitchFamily="18" charset="-122"/>
            </a:endParaRPr>
          </a:p>
        </p:txBody>
      </p:sp>
      <p:sp>
        <p:nvSpPr>
          <p:cNvPr id="5" name="文本框 4"/>
          <p:cNvSpPr txBox="1"/>
          <p:nvPr/>
        </p:nvSpPr>
        <p:spPr>
          <a:xfrm>
            <a:off x="2251363" y="3309361"/>
            <a:ext cx="6128326" cy="1677895"/>
          </a:xfrm>
          <a:prstGeom prst="rect">
            <a:avLst/>
          </a:prstGeom>
          <a:noFill/>
        </p:spPr>
        <p:txBody>
          <a:bodyPr wrap="square">
            <a:spAutoFit/>
          </a:bodyPr>
          <a:lstStyle/>
          <a:p>
            <a:pPr algn="l">
              <a:lnSpc>
                <a:spcPct val="150000"/>
              </a:lnSpc>
              <a:buFont typeface="+mj-lt"/>
              <a:buAutoNum type="arabicPeriod" startAt="2"/>
            </a:pPr>
            <a:r>
              <a:rPr lang="zh-CN" altLang="en-US" sz="1400" b="0" i="0" dirty="0">
                <a:solidFill>
                  <a:srgbClr val="374151"/>
                </a:solidFill>
                <a:effectLst/>
                <a:latin typeface="Alibaba PuHuiTi" pitchFamily="18" charset="-122"/>
                <a:ea typeface="Alibaba PuHuiTi" pitchFamily="18" charset="-122"/>
                <a:cs typeface="Alibaba PuHuiTi" pitchFamily="18" charset="-122"/>
              </a:rPr>
              <a:t>在回归决策树中，如何选择最佳的分割点？</a:t>
            </a:r>
            <a:endParaRPr lang="zh-CN" altLang="en-US" sz="1400" b="0" i="0" dirty="0">
              <a:solidFill>
                <a:srgbClr val="374151"/>
              </a:solidFill>
              <a:effectLst/>
              <a:latin typeface="Alibaba PuHuiTi" pitchFamily="18" charset="-122"/>
              <a:ea typeface="Alibaba PuHuiTi" pitchFamily="18" charset="-122"/>
              <a:cs typeface="Alibaba PuHuiTi" pitchFamily="18" charset="-122"/>
            </a:endParaRPr>
          </a:p>
          <a:p>
            <a:pPr marL="342900" indent="-342900" algn="l">
              <a:lnSpc>
                <a:spcPct val="150000"/>
              </a:lnSpc>
              <a:buAutoNum type="alphaUcPeriod"/>
            </a:pPr>
            <a:r>
              <a:rPr lang="zh-CN" altLang="en-US" sz="1400" b="0" i="0" dirty="0">
                <a:solidFill>
                  <a:srgbClr val="374151"/>
                </a:solidFill>
                <a:effectLst/>
                <a:latin typeface="Alibaba PuHuiTi" pitchFamily="18" charset="-122"/>
                <a:ea typeface="Alibaba PuHuiTi" pitchFamily="18" charset="-122"/>
                <a:cs typeface="Alibaba PuHuiTi" pitchFamily="18" charset="-122"/>
              </a:rPr>
              <a:t>根据信息增益选择 </a:t>
            </a:r>
            <a:endParaRPr lang="en-US" altLang="zh-CN" sz="1400" b="0" i="0" dirty="0">
              <a:solidFill>
                <a:srgbClr val="374151"/>
              </a:solidFill>
              <a:effectLst/>
              <a:latin typeface="Alibaba PuHuiTi" pitchFamily="18" charset="-122"/>
              <a:ea typeface="Alibaba PuHuiTi" pitchFamily="18" charset="-122"/>
              <a:cs typeface="Alibaba PuHuiTi" pitchFamily="18" charset="-122"/>
            </a:endParaRPr>
          </a:p>
          <a:p>
            <a:pPr marL="342900" indent="-342900" algn="l">
              <a:lnSpc>
                <a:spcPct val="150000"/>
              </a:lnSpc>
              <a:buAutoNum type="alphaUcPeriod"/>
            </a:pPr>
            <a:r>
              <a:rPr lang="zh-CN" altLang="en-US" sz="1400" b="0" i="0" dirty="0">
                <a:solidFill>
                  <a:srgbClr val="374151"/>
                </a:solidFill>
                <a:effectLst/>
                <a:latin typeface="Alibaba PuHuiTi" pitchFamily="18" charset="-122"/>
                <a:ea typeface="Alibaba PuHuiTi" pitchFamily="18" charset="-122"/>
                <a:cs typeface="Alibaba PuHuiTi" pitchFamily="18" charset="-122"/>
              </a:rPr>
              <a:t>根据基尼指数选择 </a:t>
            </a:r>
            <a:endParaRPr lang="en-US" altLang="zh-CN" sz="1400" b="0" i="0" dirty="0">
              <a:solidFill>
                <a:srgbClr val="374151"/>
              </a:solidFill>
              <a:effectLst/>
              <a:latin typeface="Alibaba PuHuiTi" pitchFamily="18" charset="-122"/>
              <a:ea typeface="Alibaba PuHuiTi" pitchFamily="18" charset="-122"/>
              <a:cs typeface="Alibaba PuHuiTi" pitchFamily="18" charset="-122"/>
            </a:endParaRPr>
          </a:p>
          <a:p>
            <a:pPr marL="342900" indent="-342900" algn="l">
              <a:lnSpc>
                <a:spcPct val="150000"/>
              </a:lnSpc>
              <a:buAutoNum type="alphaUcPeriod"/>
            </a:pPr>
            <a:r>
              <a:rPr lang="zh-CN" altLang="en-US" sz="1400" b="0" i="0" dirty="0">
                <a:solidFill>
                  <a:srgbClr val="374151"/>
                </a:solidFill>
                <a:effectLst/>
                <a:latin typeface="Alibaba PuHuiTi" pitchFamily="18" charset="-122"/>
                <a:ea typeface="Alibaba PuHuiTi" pitchFamily="18" charset="-122"/>
                <a:cs typeface="Alibaba PuHuiTi" pitchFamily="18" charset="-122"/>
              </a:rPr>
              <a:t>根据均方误差选择 </a:t>
            </a:r>
            <a:endParaRPr lang="en-US" altLang="zh-CN" sz="1400" b="0" i="0" dirty="0">
              <a:solidFill>
                <a:srgbClr val="374151"/>
              </a:solidFill>
              <a:effectLst/>
              <a:latin typeface="Alibaba PuHuiTi" pitchFamily="18" charset="-122"/>
              <a:ea typeface="Alibaba PuHuiTi" pitchFamily="18" charset="-122"/>
              <a:cs typeface="Alibaba PuHuiTi" pitchFamily="18" charset="-122"/>
            </a:endParaRPr>
          </a:p>
          <a:p>
            <a:pPr marL="342900" indent="-342900" algn="l">
              <a:lnSpc>
                <a:spcPct val="150000"/>
              </a:lnSpc>
              <a:buAutoNum type="alphaUcPeriod"/>
            </a:pPr>
            <a:r>
              <a:rPr lang="zh-CN" altLang="en-US" sz="1400" b="0" i="0" dirty="0">
                <a:solidFill>
                  <a:srgbClr val="374151"/>
                </a:solidFill>
                <a:effectLst/>
                <a:latin typeface="Alibaba PuHuiTi" pitchFamily="18" charset="-122"/>
                <a:ea typeface="Alibaba PuHuiTi" pitchFamily="18" charset="-122"/>
                <a:cs typeface="Alibaba PuHuiTi" pitchFamily="18" charset="-122"/>
              </a:rPr>
              <a:t>根据叶节点样本数量选择</a:t>
            </a:r>
            <a:endParaRPr lang="zh-CN" altLang="en-US" sz="1400" b="0" i="0" dirty="0">
              <a:solidFill>
                <a:srgbClr val="374151"/>
              </a:solidFill>
              <a:effectLst/>
              <a:latin typeface="Alibaba PuHuiTi" pitchFamily="18" charset="-122"/>
              <a:ea typeface="Alibaba PuHuiTi" pitchFamily="18" charset="-122"/>
              <a:cs typeface="Alibaba PuHuiTi" pitchFamily="18" charset="-122"/>
            </a:endParaRPr>
          </a:p>
        </p:txBody>
      </p:sp>
      <p:sp>
        <p:nvSpPr>
          <p:cNvPr id="11" name="文本框 10"/>
          <p:cNvSpPr txBox="1"/>
          <p:nvPr/>
        </p:nvSpPr>
        <p:spPr>
          <a:xfrm>
            <a:off x="7592266" y="2324458"/>
            <a:ext cx="2636077" cy="385234"/>
          </a:xfrm>
          <a:prstGeom prst="rect">
            <a:avLst/>
          </a:prstGeom>
          <a:noFill/>
        </p:spPr>
        <p:txBody>
          <a:bodyPr wrap="square">
            <a:spAutoFit/>
          </a:bodyPr>
          <a:lstStyle/>
          <a:p>
            <a:pPr>
              <a:lnSpc>
                <a:spcPct val="150000"/>
              </a:lnSpc>
            </a:pPr>
            <a:r>
              <a:rPr lang="zh-CN" altLang="en-US" sz="1400" dirty="0">
                <a:solidFill>
                  <a:srgbClr val="B60206"/>
                </a:solidFill>
                <a:latin typeface="Alibaba PuHuiTi" pitchFamily="18" charset="-122"/>
                <a:ea typeface="Alibaba PuHuiTi" pitchFamily="18" charset="-122"/>
                <a:cs typeface="Alibaba PuHuiTi" pitchFamily="18" charset="-122"/>
              </a:rPr>
              <a:t>答案为：</a:t>
            </a:r>
            <a:r>
              <a:rPr lang="en-US" altLang="zh-CN" sz="1400" dirty="0">
                <a:solidFill>
                  <a:srgbClr val="B60206"/>
                </a:solidFill>
                <a:latin typeface="Alibaba PuHuiTi" pitchFamily="18" charset="-122"/>
                <a:ea typeface="Alibaba PuHuiTi" pitchFamily="18" charset="-122"/>
                <a:cs typeface="Alibaba PuHuiTi" pitchFamily="18" charset="-122"/>
              </a:rPr>
              <a:t>AB</a:t>
            </a:r>
            <a:endParaRPr lang="zh-CN" altLang="en-US" sz="1400" dirty="0">
              <a:solidFill>
                <a:srgbClr val="B60206"/>
              </a:solidFill>
              <a:latin typeface="Alibaba PuHuiTi" pitchFamily="18" charset="-122"/>
              <a:ea typeface="Alibaba PuHuiTi" pitchFamily="18" charset="-122"/>
              <a:cs typeface="Alibaba PuHuiTi" pitchFamily="18" charset="-122"/>
            </a:endParaRPr>
          </a:p>
        </p:txBody>
      </p:sp>
      <p:sp>
        <p:nvSpPr>
          <p:cNvPr id="13" name="文本框 12"/>
          <p:cNvSpPr txBox="1"/>
          <p:nvPr/>
        </p:nvSpPr>
        <p:spPr>
          <a:xfrm>
            <a:off x="7592266" y="4729488"/>
            <a:ext cx="2636077" cy="385234"/>
          </a:xfrm>
          <a:prstGeom prst="rect">
            <a:avLst/>
          </a:prstGeom>
          <a:noFill/>
        </p:spPr>
        <p:txBody>
          <a:bodyPr wrap="square">
            <a:spAutoFit/>
          </a:bodyPr>
          <a:lstStyle/>
          <a:p>
            <a:pPr>
              <a:lnSpc>
                <a:spcPct val="150000"/>
              </a:lnSpc>
            </a:pPr>
            <a:r>
              <a:rPr lang="zh-CN" altLang="en-US" sz="1400" dirty="0">
                <a:solidFill>
                  <a:srgbClr val="B60206"/>
                </a:solidFill>
                <a:latin typeface="Alibaba PuHuiTi" pitchFamily="18" charset="-122"/>
                <a:ea typeface="Alibaba PuHuiTi" pitchFamily="18" charset="-122"/>
                <a:cs typeface="Alibaba PuHuiTi" pitchFamily="18" charset="-122"/>
              </a:rPr>
              <a:t>答案为：</a:t>
            </a:r>
            <a:r>
              <a:rPr lang="en-US" altLang="zh-CN" sz="1400" dirty="0">
                <a:solidFill>
                  <a:srgbClr val="B60206"/>
                </a:solidFill>
                <a:latin typeface="Alibaba PuHuiTi" pitchFamily="18" charset="-122"/>
                <a:ea typeface="Alibaba PuHuiTi" pitchFamily="18" charset="-122"/>
                <a:cs typeface="Alibaba PuHuiTi" pitchFamily="18" charset="-122"/>
              </a:rPr>
              <a:t>C</a:t>
            </a:r>
            <a:endParaRPr lang="zh-CN" altLang="en-US" sz="1400" dirty="0">
              <a:solidFill>
                <a:srgbClr val="B60206"/>
              </a:solidFill>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517456" y="653270"/>
            <a:ext cx="6498629" cy="4983602"/>
          </a:xfrm>
        </p:spPr>
        <p:txBody>
          <a:bodyPr anchor="t"/>
          <a:lstStyle/>
          <a:p>
            <a:r>
              <a:rPr lang="zh-CN" altLang="en-US" sz="1800" dirty="0">
                <a:solidFill>
                  <a:schemeClr val="tx1"/>
                </a:solidFill>
                <a:latin typeface="Alibaba PuHuiTi" pitchFamily="18" charset="-122"/>
                <a:ea typeface="Alibaba PuHuiTi" pitchFamily="18" charset="-122"/>
                <a:cs typeface="Alibaba PuHuiTi" pitchFamily="18" charset="-122"/>
              </a:rPr>
              <a:t>决策树简介</a:t>
            </a:r>
            <a:endParaRPr lang="en-US" altLang="zh-CN" sz="1600" b="0" dirty="0">
              <a:solidFill>
                <a:schemeClr val="tx1"/>
              </a:solidFill>
              <a:latin typeface="Alibaba PuHuiTi" pitchFamily="18" charset="-122"/>
              <a:ea typeface="Alibaba PuHuiTi" pitchFamily="18" charset="-122"/>
              <a:cs typeface="Alibaba PuHuiTi" pitchFamily="18" charset="-122"/>
            </a:endParaRPr>
          </a:p>
          <a:p>
            <a:r>
              <a:rPr lang="en-US" altLang="zh-CN" sz="1800" dirty="0">
                <a:solidFill>
                  <a:schemeClr val="tx1"/>
                </a:solidFill>
                <a:latin typeface="Alibaba PuHuiTi" pitchFamily="18" charset="-122"/>
                <a:ea typeface="Alibaba PuHuiTi" pitchFamily="18" charset="-122"/>
                <a:cs typeface="Alibaba PuHuiTi" pitchFamily="18" charset="-122"/>
              </a:rPr>
              <a:t>ID3</a:t>
            </a:r>
            <a:r>
              <a:rPr lang="zh-CN" altLang="en-US" sz="1800" dirty="0">
                <a:solidFill>
                  <a:schemeClr val="tx1"/>
                </a:solidFill>
                <a:latin typeface="Alibaba PuHuiTi" pitchFamily="18" charset="-122"/>
                <a:ea typeface="Alibaba PuHuiTi" pitchFamily="18" charset="-122"/>
                <a:cs typeface="Alibaba PuHuiTi" pitchFamily="18" charset="-122"/>
              </a:rPr>
              <a:t>决策树 </a:t>
            </a:r>
            <a:endParaRPr lang="en-US" altLang="zh-CN" sz="1800" dirty="0">
              <a:solidFill>
                <a:schemeClr val="tx1"/>
              </a:solidFill>
              <a:latin typeface="Alibaba PuHuiTi" pitchFamily="18" charset="-122"/>
              <a:ea typeface="Alibaba PuHuiTi" pitchFamily="18" charset="-122"/>
              <a:cs typeface="Alibaba PuHuiTi" pitchFamily="18" charset="-122"/>
            </a:endParaRPr>
          </a:p>
          <a:p>
            <a:r>
              <a:rPr kumimoji="1" lang="en-US" altLang="zh-CN" sz="1800" dirty="0">
                <a:solidFill>
                  <a:schemeClr val="tx1"/>
                </a:solidFill>
                <a:latin typeface="Alibaba PuHuiTi" pitchFamily="18" charset="-122"/>
                <a:ea typeface="Alibaba PuHuiTi" pitchFamily="18" charset="-122"/>
                <a:cs typeface="Alibaba PuHuiTi" pitchFamily="18" charset="-122"/>
              </a:rPr>
              <a:t>C4.5</a:t>
            </a:r>
            <a:r>
              <a:rPr kumimoji="1" lang="zh-CN" altLang="en-US" sz="1800" dirty="0">
                <a:solidFill>
                  <a:schemeClr val="tx1"/>
                </a:solidFill>
                <a:latin typeface="Alibaba PuHuiTi" pitchFamily="18" charset="-122"/>
                <a:ea typeface="Alibaba PuHuiTi" pitchFamily="18" charset="-122"/>
                <a:cs typeface="Alibaba PuHuiTi" pitchFamily="18" charset="-122"/>
              </a:rPr>
              <a:t>决策树</a:t>
            </a:r>
            <a:endParaRPr kumimoji="1" lang="zh-CN" altLang="en-US" sz="1600" b="0" dirty="0">
              <a:solidFill>
                <a:schemeClr val="tx1"/>
              </a:solidFill>
              <a:latin typeface="Alibaba PuHuiTi" pitchFamily="18" charset="-122"/>
              <a:ea typeface="Alibaba PuHuiTi" pitchFamily="18" charset="-122"/>
              <a:cs typeface="Alibaba PuHuiTi" pitchFamily="18" charset="-122"/>
            </a:endParaRPr>
          </a:p>
          <a:p>
            <a:r>
              <a:rPr kumimoji="1" lang="en-US" altLang="zh-CN" sz="1800" dirty="0">
                <a:solidFill>
                  <a:schemeClr val="tx1"/>
                </a:solidFill>
                <a:latin typeface="Alibaba PuHuiTi" pitchFamily="18" charset="-122"/>
                <a:ea typeface="Alibaba PuHuiTi" pitchFamily="18" charset="-122"/>
                <a:cs typeface="Alibaba PuHuiTi" pitchFamily="18" charset="-122"/>
              </a:rPr>
              <a:t>CART</a:t>
            </a:r>
            <a:r>
              <a:rPr kumimoji="1" lang="zh-CN" altLang="en-US" sz="1800" dirty="0">
                <a:solidFill>
                  <a:schemeClr val="tx1"/>
                </a:solidFill>
                <a:latin typeface="Alibaba PuHuiTi" pitchFamily="18" charset="-122"/>
                <a:ea typeface="Alibaba PuHuiTi" pitchFamily="18" charset="-122"/>
                <a:cs typeface="Alibaba PuHuiTi" pitchFamily="18" charset="-122"/>
              </a:rPr>
              <a:t>决策树</a:t>
            </a:r>
            <a:endParaRPr kumimoji="1" lang="en-US" altLang="zh-CN" sz="1800" dirty="0">
              <a:solidFill>
                <a:schemeClr val="tx1"/>
              </a:solidFill>
              <a:latin typeface="Alibaba PuHuiTi" pitchFamily="18" charset="-122"/>
              <a:ea typeface="Alibaba PuHuiTi" pitchFamily="18" charset="-122"/>
              <a:cs typeface="Alibaba PuHuiTi" pitchFamily="18" charset="-122"/>
            </a:endParaRPr>
          </a:p>
          <a:p>
            <a:r>
              <a:rPr kumimoji="1" lang="zh-CN" altLang="en-US" sz="1600" dirty="0">
                <a:solidFill>
                  <a:schemeClr val="tx1"/>
                </a:solidFill>
                <a:latin typeface="Alibaba PuHuiTi" pitchFamily="18" charset="-122"/>
                <a:ea typeface="Alibaba PuHuiTi" pitchFamily="18" charset="-122"/>
                <a:cs typeface="Alibaba PuHuiTi" pitchFamily="18" charset="-122"/>
              </a:rPr>
              <a:t> 案例泰坦尼克号生存预测</a:t>
            </a:r>
            <a:r>
              <a:rPr kumimoji="1" lang="zh-CN" altLang="en-US" sz="1400" b="0" dirty="0">
                <a:solidFill>
                  <a:schemeClr val="tx1"/>
                </a:solidFill>
                <a:latin typeface="Alibaba PuHuiTi" pitchFamily="18" charset="-122"/>
                <a:ea typeface="Alibaba PuHuiTi" pitchFamily="18" charset="-122"/>
                <a:cs typeface="Alibaba PuHuiTi" pitchFamily="18" charset="-122"/>
              </a:rPr>
              <a:t> </a:t>
            </a:r>
            <a:endParaRPr kumimoji="1" lang="en-US" altLang="zh-CN" sz="1600" b="0" dirty="0">
              <a:solidFill>
                <a:schemeClr val="tx1"/>
              </a:solidFill>
              <a:latin typeface="Alibaba PuHuiTi" pitchFamily="18" charset="-122"/>
              <a:ea typeface="Alibaba PuHuiTi" pitchFamily="18" charset="-122"/>
              <a:cs typeface="Alibaba PuHuiTi" pitchFamily="18" charset="-122"/>
            </a:endParaRPr>
          </a:p>
          <a:p>
            <a:r>
              <a:rPr kumimoji="1" lang="en-US" altLang="zh-CN" sz="1800" dirty="0">
                <a:solidFill>
                  <a:schemeClr val="tx1"/>
                </a:solidFill>
                <a:latin typeface="Alibaba PuHuiTi" pitchFamily="18" charset="-122"/>
                <a:ea typeface="Alibaba PuHuiTi" pitchFamily="18" charset="-122"/>
                <a:cs typeface="Alibaba PuHuiTi" pitchFamily="18" charset="-122"/>
              </a:rPr>
              <a:t>CART</a:t>
            </a:r>
            <a:r>
              <a:rPr kumimoji="1" lang="zh-CN" altLang="en-US" sz="1800" dirty="0">
                <a:solidFill>
                  <a:schemeClr val="tx1"/>
                </a:solidFill>
                <a:latin typeface="Alibaba PuHuiTi" pitchFamily="18" charset="-122"/>
                <a:ea typeface="Alibaba PuHuiTi" pitchFamily="18" charset="-122"/>
                <a:cs typeface="Alibaba PuHuiTi" pitchFamily="18" charset="-122"/>
              </a:rPr>
              <a:t>回归树</a:t>
            </a:r>
            <a:endParaRPr kumimoji="1" lang="en-US" altLang="zh-CN" sz="1800" dirty="0">
              <a:solidFill>
                <a:schemeClr val="tx1"/>
              </a:solidFill>
              <a:latin typeface="Alibaba PuHuiTi" pitchFamily="18" charset="-122"/>
              <a:ea typeface="Alibaba PuHuiTi" pitchFamily="18" charset="-122"/>
              <a:cs typeface="Alibaba PuHuiTi" pitchFamily="18" charset="-122"/>
            </a:endParaRPr>
          </a:p>
          <a:p>
            <a:r>
              <a:rPr lang="zh-CN" altLang="en-US" sz="1800" dirty="0">
                <a:solidFill>
                  <a:srgbClr val="FF0000"/>
                </a:solidFill>
                <a:latin typeface="Alibaba PuHuiTi" pitchFamily="18" charset="-122"/>
                <a:ea typeface="Alibaba PuHuiTi" pitchFamily="18" charset="-122"/>
                <a:cs typeface="Alibaba PuHuiTi" pitchFamily="18" charset="-122"/>
              </a:rPr>
              <a:t>决策树剪枝</a:t>
            </a:r>
            <a:endParaRPr kumimoji="1" lang="en-US" altLang="zh-CN" sz="1800" b="0" dirty="0">
              <a:solidFill>
                <a:srgbClr val="FF0000"/>
              </a:solidFill>
              <a:latin typeface="Alibaba PuHuiTi" pitchFamily="18" charset="-122"/>
              <a:ea typeface="Alibaba PuHuiTi" pitchFamily="18" charset="-122"/>
              <a:cs typeface="Alibaba PuHuiTi" pitchFamily="18" charset="-122"/>
            </a:endParaRPr>
          </a:p>
          <a:p>
            <a:pPr lvl="1"/>
            <a:endParaRPr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638358" y="635085"/>
            <a:ext cx="6298881" cy="4855845"/>
          </a:xfrm>
        </p:spPr>
        <p:txBody>
          <a:bodyPr/>
          <a:lstStyle/>
          <a:p>
            <a:pPr algn="l">
              <a:buFont typeface="+mj-lt"/>
              <a:buAutoNum type="arabicPeriod"/>
            </a:pPr>
            <a:r>
              <a:rPr lang="zh-CN" altLang="en-US" b="0" i="0" u="none" strike="noStrike" dirty="0">
                <a:solidFill>
                  <a:srgbClr val="333333"/>
                </a:solidFill>
                <a:effectLst/>
                <a:latin typeface="Open Sans" panose="020B0606030504020204" pitchFamily="34" charset="0"/>
              </a:rPr>
              <a:t>知道什么是剪枝</a:t>
            </a:r>
            <a:endParaRPr lang="zh-CN" altLang="en-US" b="0" i="0" u="none" strike="noStrike" dirty="0">
              <a:solidFill>
                <a:srgbClr val="333333"/>
              </a:solidFill>
              <a:effectLst/>
              <a:latin typeface="Open Sans" panose="020B0606030504020204" pitchFamily="34" charset="0"/>
            </a:endParaRPr>
          </a:p>
          <a:p>
            <a:pPr algn="l">
              <a:buFont typeface="+mj-lt"/>
              <a:buAutoNum type="arabicPeriod"/>
            </a:pPr>
            <a:r>
              <a:rPr lang="zh-CN" altLang="en-US" b="0" i="0" u="none" strike="noStrike" dirty="0">
                <a:solidFill>
                  <a:srgbClr val="333333"/>
                </a:solidFill>
                <a:effectLst/>
                <a:latin typeface="Open Sans" panose="020B0606030504020204" pitchFamily="34" charset="0"/>
              </a:rPr>
              <a:t>理解剪枝的作用</a:t>
            </a:r>
            <a:endParaRPr lang="zh-CN" altLang="en-US" b="0" i="0" u="none" strike="noStrike" dirty="0">
              <a:solidFill>
                <a:srgbClr val="333333"/>
              </a:solidFill>
              <a:effectLst/>
              <a:latin typeface="Open Sans" panose="020B0606030504020204" pitchFamily="34" charset="0"/>
            </a:endParaRPr>
          </a:p>
          <a:p>
            <a:pPr algn="l">
              <a:buFont typeface="+mj-lt"/>
              <a:buAutoNum type="arabicPeriod"/>
            </a:pPr>
            <a:r>
              <a:rPr lang="zh-CN" altLang="en-US" b="0" i="0" u="none" strike="noStrike" dirty="0">
                <a:solidFill>
                  <a:srgbClr val="333333"/>
                </a:solidFill>
                <a:effectLst/>
                <a:latin typeface="Open Sans" panose="020B0606030504020204" pitchFamily="34" charset="0"/>
              </a:rPr>
              <a:t>知道常用剪枝方法</a:t>
            </a:r>
            <a:endParaRPr lang="zh-CN" altLang="en-US" b="0" i="0" u="none" strike="noStrike" dirty="0">
              <a:solidFill>
                <a:srgbClr val="333333"/>
              </a:solidFill>
              <a:effectLst/>
              <a:latin typeface="Open Sans" panose="020B0606030504020204" pitchFamily="34" charset="0"/>
            </a:endParaRPr>
          </a:p>
          <a:p>
            <a:pPr algn="l">
              <a:buFont typeface="+mj-lt"/>
              <a:buAutoNum type="arabicPeriod"/>
            </a:pPr>
            <a:r>
              <a:rPr lang="zh-CN" altLang="en-US" b="0" i="0" u="none" strike="noStrike" dirty="0">
                <a:solidFill>
                  <a:srgbClr val="333333"/>
                </a:solidFill>
                <a:effectLst/>
                <a:latin typeface="Open Sans" panose="020B0606030504020204" pitchFamily="34" charset="0"/>
              </a:rPr>
              <a:t>了解不同剪枝方法的优缺点</a:t>
            </a:r>
            <a:endParaRPr lang="zh-CN" altLang="en-US" b="0" i="0" u="none" strike="noStrike" dirty="0">
              <a:solidFill>
                <a:srgbClr val="333333"/>
              </a:solidFill>
              <a:effectLst/>
              <a:latin typeface="Open Sans" panose="020B0606030504020204" pitchFamily="34"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7170682" y="1942147"/>
            <a:ext cx="4371552" cy="2123428"/>
          </a:xfrm>
          <a:prstGeom prst="rect">
            <a:avLst/>
          </a:prstGeom>
        </p:spPr>
      </p:pic>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决策树正则化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剪枝</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7" name="文本占位符 2"/>
          <p:cNvSpPr txBox="1"/>
          <p:nvPr/>
        </p:nvSpPr>
        <p:spPr>
          <a:xfrm>
            <a:off x="1024771" y="1349410"/>
            <a:ext cx="4646823"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为什么要剪枝？</a:t>
            </a:r>
            <a:endParaRPr kumimoji="0" lang="zh-CN" altLang="en-US" sz="16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
        <p:nvSpPr>
          <p:cNvPr id="4" name="文本框 3"/>
          <p:cNvSpPr txBox="1"/>
          <p:nvPr/>
        </p:nvSpPr>
        <p:spPr>
          <a:xfrm>
            <a:off x="1715587" y="1866600"/>
            <a:ext cx="7659907" cy="372474"/>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1200" cap="none" spc="0" normalizeH="0" baseline="0" noProof="0" dirty="0">
                <a:ln>
                  <a:noFill/>
                </a:ln>
                <a:solidFill>
                  <a:srgbClr val="333333"/>
                </a:solidFill>
                <a:effectLst/>
                <a:uLnTx/>
                <a:uFillTx/>
                <a:latin typeface="Helvetica Neue" panose="02000503000000020004" pitchFamily="2" charset="0"/>
                <a:ea typeface="黑体" panose="02010609060101010101" pitchFamily="49" charset="-122"/>
                <a:cs typeface="+mn-cs"/>
              </a:rPr>
              <a:t>决策树剪枝是一种</a:t>
            </a:r>
            <a:r>
              <a:rPr kumimoji="0" lang="zh-CN" altLang="en-US" sz="1400" b="0" i="0" u="none" strike="noStrike" kern="1200" cap="none" spc="0" normalizeH="0" baseline="0" noProof="0" dirty="0">
                <a:ln>
                  <a:noFill/>
                </a:ln>
                <a:solidFill>
                  <a:srgbClr val="C0504D">
                    <a:lumMod val="75000"/>
                  </a:srgbClr>
                </a:solidFill>
                <a:effectLst/>
                <a:uLnTx/>
                <a:uFillTx/>
                <a:latin typeface="Helvetica Neue" panose="02000503000000020004" pitchFamily="2" charset="0"/>
                <a:ea typeface="黑体" panose="02010609060101010101" pitchFamily="49" charset="-122"/>
                <a:cs typeface="+mn-cs"/>
              </a:rPr>
              <a:t>防止决策树过拟合</a:t>
            </a:r>
            <a:r>
              <a:rPr kumimoji="0" lang="zh-CN" altLang="en-US" sz="1400" b="0" i="0" u="none" strike="noStrike" kern="1200" cap="none" spc="0" normalizeH="0" baseline="0" noProof="0" dirty="0">
                <a:ln>
                  <a:noFill/>
                </a:ln>
                <a:solidFill>
                  <a:srgbClr val="333333"/>
                </a:solidFill>
                <a:effectLst/>
                <a:uLnTx/>
                <a:uFillTx/>
                <a:latin typeface="Helvetica Neue" panose="02000503000000020004" pitchFamily="2" charset="0"/>
                <a:ea typeface="黑体" panose="02010609060101010101" pitchFamily="49" charset="-122"/>
                <a:cs typeface="+mn-cs"/>
              </a:rPr>
              <a:t>的</a:t>
            </a:r>
            <a:r>
              <a:rPr kumimoji="0" lang="zh-CN" altLang="en-US" sz="1400" b="0" i="0" u="none" strike="noStrike" kern="1200" cap="none" spc="0" normalizeH="0" baseline="0" noProof="0" dirty="0">
                <a:ln>
                  <a:noFill/>
                </a:ln>
                <a:solidFill>
                  <a:srgbClr val="C0504D">
                    <a:lumMod val="75000"/>
                  </a:srgbClr>
                </a:solidFill>
                <a:effectLst/>
                <a:uLnTx/>
                <a:uFillTx/>
                <a:latin typeface="Helvetica Neue" panose="02000503000000020004" pitchFamily="2" charset="0"/>
                <a:ea typeface="黑体" panose="02010609060101010101" pitchFamily="49" charset="-122"/>
                <a:cs typeface="+mn-cs"/>
              </a:rPr>
              <a:t>一种正则化方法</a:t>
            </a:r>
            <a:r>
              <a:rPr kumimoji="0" lang="zh-CN" altLang="en-US" sz="1400" b="0" i="0" u="none" strike="noStrike" kern="1200" cap="none" spc="0" normalizeH="0" baseline="0" noProof="0" dirty="0">
                <a:ln>
                  <a:noFill/>
                </a:ln>
                <a:solidFill>
                  <a:srgbClr val="333333"/>
                </a:solidFill>
                <a:effectLst/>
                <a:uLnTx/>
                <a:uFillTx/>
                <a:latin typeface="Helvetica Neue" panose="02000503000000020004" pitchFamily="2" charset="0"/>
                <a:ea typeface="黑体" panose="02010609060101010101" pitchFamily="49" charset="-122"/>
                <a:cs typeface="+mn-cs"/>
              </a:rPr>
              <a:t>；提高其泛化能力。</a:t>
            </a:r>
            <a:endParaRPr kumimoji="0" lang="en-US" altLang="zh-CN" sz="1400" b="0" i="0" u="none" strike="noStrike" kern="1200" cap="none" spc="0" normalizeH="0" baseline="0" noProof="0" dirty="0">
              <a:ln>
                <a:noFill/>
              </a:ln>
              <a:solidFill>
                <a:srgbClr val="333333"/>
              </a:solidFill>
              <a:effectLst/>
              <a:uLnTx/>
              <a:uFillTx/>
              <a:latin typeface="Helvetica Neue" panose="02000503000000020004" pitchFamily="2" charset="0"/>
              <a:ea typeface="黑体" panose="02010609060101010101" pitchFamily="49" charset="-122"/>
              <a:cs typeface="+mn-cs"/>
            </a:endParaRPr>
          </a:p>
        </p:txBody>
      </p:sp>
      <p:sp>
        <p:nvSpPr>
          <p:cNvPr id="15" name="文本框 14"/>
          <p:cNvSpPr txBox="1"/>
          <p:nvPr/>
        </p:nvSpPr>
        <p:spPr>
          <a:xfrm>
            <a:off x="1715587" y="2811244"/>
            <a:ext cx="6051025" cy="385234"/>
          </a:xfrm>
          <a:prstGeom prst="rect">
            <a:avLst/>
          </a:prstGeom>
          <a:noFill/>
        </p:spPr>
        <p:txBody>
          <a:bodyPr wrap="square">
            <a:spAutoFit/>
          </a:bodyPr>
          <a:lstStyle/>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把子树的节点全部删掉，使用用</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叶子节点来</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替换</a:t>
            </a:r>
            <a:endPar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p:txBody>
      </p:sp>
      <p:sp>
        <p:nvSpPr>
          <p:cNvPr id="2" name="文本占位符 2"/>
          <p:cNvSpPr txBox="1"/>
          <p:nvPr/>
        </p:nvSpPr>
        <p:spPr>
          <a:xfrm>
            <a:off x="1024771" y="2358558"/>
            <a:ext cx="4646823"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剪枝</a:t>
            </a:r>
            <a:endParaRPr kumimoji="0" lang="zh-CN" altLang="en-US" sz="16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
        <p:nvSpPr>
          <p:cNvPr id="11" name="文本占位符 2"/>
          <p:cNvSpPr txBox="1"/>
          <p:nvPr/>
        </p:nvSpPr>
        <p:spPr>
          <a:xfrm>
            <a:off x="1024770" y="3572643"/>
            <a:ext cx="4646823"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剪枝方法</a:t>
            </a:r>
            <a:endParaRPr kumimoji="0" lang="zh-CN" altLang="en-US" sz="16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
        <p:nvSpPr>
          <p:cNvPr id="12" name="文本框 11"/>
          <p:cNvSpPr txBox="1"/>
          <p:nvPr/>
        </p:nvSpPr>
        <p:spPr>
          <a:xfrm>
            <a:off x="1342515" y="4256370"/>
            <a:ext cx="10404008" cy="1347357"/>
          </a:xfrm>
          <a:prstGeom prst="rect">
            <a:avLst/>
          </a:prstGeom>
          <a:noFill/>
        </p:spPr>
        <p:txBody>
          <a:bodyPr wrap="square">
            <a:spAutoFit/>
          </a:bodyPr>
          <a:lstStyle/>
          <a:p>
            <a:pPr algn="l">
              <a:lnSpc>
                <a:spcPct val="150000"/>
              </a:lnSpc>
              <a:buFont typeface="+mj-lt"/>
              <a:buAutoNum type="arabicPeriod"/>
            </a:pPr>
            <a:r>
              <a:rPr lang="zh-CN" altLang="en-US" sz="1400" b="0" i="0" u="none" strike="noStrike" dirty="0">
                <a:solidFill>
                  <a:srgbClr val="333333"/>
                </a:solidFill>
                <a:effectLst/>
                <a:latin typeface="Open Sans" panose="020B0606030504020204" pitchFamily="34" charset="0"/>
              </a:rPr>
              <a:t>预剪枝：指在决策树生成过程中，对每个节点在划分前先进行估计，若当前节点的划分不能带来决策树泛化性能提升，则停止划分并将当前节点标记为叶节点</a:t>
            </a:r>
            <a:r>
              <a:rPr lang="en-US" altLang="zh-CN" sz="1400" b="0" i="0" u="none" strike="noStrike" dirty="0">
                <a:solidFill>
                  <a:srgbClr val="333333"/>
                </a:solidFill>
                <a:effectLst/>
                <a:latin typeface="Open Sans" panose="020B0606030504020204" pitchFamily="34" charset="0"/>
              </a:rPr>
              <a:t>;</a:t>
            </a:r>
            <a:endParaRPr lang="en-US" altLang="zh-CN" sz="1400" b="0" i="0" u="none" strike="noStrike" dirty="0">
              <a:solidFill>
                <a:srgbClr val="333333"/>
              </a:solidFill>
              <a:effectLst/>
              <a:latin typeface="Open Sans" panose="020B0606030504020204" pitchFamily="34" charset="0"/>
            </a:endParaRPr>
          </a:p>
          <a:p>
            <a:pPr algn="l">
              <a:lnSpc>
                <a:spcPct val="150000"/>
              </a:lnSpc>
              <a:buFont typeface="+mj-lt"/>
              <a:buAutoNum type="arabicPeriod"/>
            </a:pPr>
            <a:r>
              <a:rPr lang="zh-CN" altLang="en-US" sz="1400" b="0" i="0" u="none" strike="noStrike" dirty="0">
                <a:solidFill>
                  <a:srgbClr val="333333"/>
                </a:solidFill>
                <a:effectLst/>
                <a:latin typeface="Open Sans" panose="020B0606030504020204" pitchFamily="34" charset="0"/>
              </a:rPr>
              <a:t>后剪枝：是先从训练集生成一棵完整的决策树，然后自底向上地对非叶节点进行考察，若将该节点对应的子树替换为叶节点能带来决策树泛化性能提升，则将该子树替换为叶节点。</a:t>
            </a:r>
            <a:endParaRPr lang="zh-CN" altLang="en-US" sz="1400" b="0" i="0" u="none" strike="noStrike" dirty="0">
              <a:solidFill>
                <a:srgbClr val="333333"/>
              </a:solidFill>
              <a:effectLst/>
              <a:latin typeface="Open Sans" panose="020B0606030504020204" pitchFamily="3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剪枝思想</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7" name="文本占位符 2"/>
          <p:cNvSpPr txBox="1"/>
          <p:nvPr/>
        </p:nvSpPr>
        <p:spPr>
          <a:xfrm>
            <a:off x="1024771" y="1349410"/>
            <a:ext cx="2737001"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b="1" dirty="0">
                <a:solidFill>
                  <a:srgbClr val="333333"/>
                </a:solidFill>
                <a:latin typeface="Alibaba PuHuiTi" pitchFamily="18" charset="-122"/>
                <a:ea typeface="Alibaba PuHuiTi" pitchFamily="18" charset="-122"/>
                <a:cs typeface="Alibaba PuHuiTi" pitchFamily="18" charset="-122"/>
              </a:rPr>
              <a:t>已知 训练集和验证集</a:t>
            </a:r>
            <a:endParaRPr kumimoji="0" lang="zh-CN" altLang="en-US" sz="16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pic>
        <p:nvPicPr>
          <p:cNvPr id="6" name="图片 5"/>
          <p:cNvPicPr>
            <a:picLocks noChangeAspect="1"/>
          </p:cNvPicPr>
          <p:nvPr/>
        </p:nvPicPr>
        <p:blipFill>
          <a:blip r:embed="rId1"/>
          <a:stretch>
            <a:fillRect/>
          </a:stretch>
        </p:blipFill>
        <p:spPr>
          <a:xfrm>
            <a:off x="3601338" y="1357169"/>
            <a:ext cx="6120115" cy="2750796"/>
          </a:xfrm>
          <a:prstGeom prst="rect">
            <a:avLst/>
          </a:prstGeom>
        </p:spPr>
      </p:pic>
      <p:pic>
        <p:nvPicPr>
          <p:cNvPr id="8" name="图片 7"/>
          <p:cNvPicPr>
            <a:picLocks noChangeAspect="1"/>
          </p:cNvPicPr>
          <p:nvPr/>
        </p:nvPicPr>
        <p:blipFill>
          <a:blip r:embed="rId2"/>
          <a:stretch>
            <a:fillRect/>
          </a:stretch>
        </p:blipFill>
        <p:spPr>
          <a:xfrm>
            <a:off x="3761772" y="4345162"/>
            <a:ext cx="6015943" cy="2061882"/>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剪枝原理</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pic>
        <p:nvPicPr>
          <p:cNvPr id="2" name="图片 1"/>
          <p:cNvPicPr>
            <a:picLocks noChangeAspect="1"/>
          </p:cNvPicPr>
          <p:nvPr/>
        </p:nvPicPr>
        <p:blipFill>
          <a:blip r:embed="rId1"/>
          <a:stretch>
            <a:fillRect/>
          </a:stretch>
        </p:blipFill>
        <p:spPr>
          <a:xfrm>
            <a:off x="2739420" y="1873128"/>
            <a:ext cx="6543474" cy="3661944"/>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预剪枝</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7" name="文本占位符 2"/>
          <p:cNvSpPr txBox="1"/>
          <p:nvPr/>
        </p:nvSpPr>
        <p:spPr>
          <a:xfrm>
            <a:off x="1024771" y="1349410"/>
            <a:ext cx="2737001"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endParaRPr kumimoji="0" lang="zh-CN" altLang="en-US" sz="16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
        <p:nvSpPr>
          <p:cNvPr id="4" name="文本框 3"/>
          <p:cNvSpPr txBox="1"/>
          <p:nvPr/>
        </p:nvSpPr>
        <p:spPr>
          <a:xfrm>
            <a:off x="1796908" y="5315973"/>
            <a:ext cx="7139046" cy="385234"/>
          </a:xfrm>
          <a:prstGeom prst="rect">
            <a:avLst/>
          </a:prstGeom>
          <a:noFill/>
        </p:spPr>
        <p:txBody>
          <a:bodyPr wrap="square">
            <a:spAutoFit/>
          </a:bodyPr>
          <a:lstStyle/>
          <a:p>
            <a:pPr lvl="0">
              <a:lnSpc>
                <a:spcPct val="150000"/>
              </a:lnSpc>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基于预剪枝策略从上表数据所生成的决策树如上图所示，其验证集精度为 </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71.4%. </a:t>
            </a:r>
            <a:endPar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endParaRPr>
          </a:p>
        </p:txBody>
      </p:sp>
      <p:pic>
        <p:nvPicPr>
          <p:cNvPr id="5" name="图片 4"/>
          <p:cNvPicPr>
            <a:picLocks noChangeAspect="1"/>
          </p:cNvPicPr>
          <p:nvPr/>
        </p:nvPicPr>
        <p:blipFill>
          <a:blip r:embed="rId1"/>
          <a:stretch>
            <a:fillRect/>
          </a:stretch>
        </p:blipFill>
        <p:spPr>
          <a:xfrm>
            <a:off x="1796908" y="1599199"/>
            <a:ext cx="6235626" cy="2879165"/>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决策树正则化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剪枝的基本工作原理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后剪枝</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1</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7" name="文本占位符 2"/>
          <p:cNvSpPr txBox="1"/>
          <p:nvPr/>
        </p:nvSpPr>
        <p:spPr>
          <a:xfrm>
            <a:off x="1024771" y="1349410"/>
            <a:ext cx="2737001"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endParaRPr kumimoji="0" lang="zh-CN" altLang="en-US" sz="16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
        <p:nvSpPr>
          <p:cNvPr id="4" name="文本框 3"/>
          <p:cNvSpPr txBox="1"/>
          <p:nvPr/>
        </p:nvSpPr>
        <p:spPr>
          <a:xfrm>
            <a:off x="710879" y="5663821"/>
            <a:ext cx="10543275" cy="385234"/>
          </a:xfrm>
          <a:prstGeom prst="rect">
            <a:avLst/>
          </a:prstGeom>
          <a:noFill/>
        </p:spPr>
        <p:txBody>
          <a:bodyPr wrap="square">
            <a:spAutoFit/>
          </a:bodyPr>
          <a:lstStyle/>
          <a:p>
            <a:pPr lvl="0">
              <a:lnSpc>
                <a:spcPct val="150000"/>
              </a:lnSpc>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先利用训练集完整的生成一颗树，有</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6</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个内部节点。分别考察这些节点作为叶子节点模型的准确率，若准确率上升，则剪掉，否则保留。</a:t>
            </a:r>
            <a:endPar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endParaRPr>
          </a:p>
        </p:txBody>
      </p:sp>
      <p:pic>
        <p:nvPicPr>
          <p:cNvPr id="5" name="图片 4"/>
          <p:cNvPicPr>
            <a:picLocks noChangeAspect="1"/>
          </p:cNvPicPr>
          <p:nvPr/>
        </p:nvPicPr>
        <p:blipFill>
          <a:blip r:embed="rId1"/>
          <a:stretch>
            <a:fillRect/>
          </a:stretch>
        </p:blipFill>
        <p:spPr>
          <a:xfrm>
            <a:off x="0" y="1554145"/>
            <a:ext cx="5256566" cy="3749709"/>
          </a:xfrm>
          <a:prstGeom prst="rect">
            <a:avLst/>
          </a:prstGeom>
        </p:spPr>
      </p:pic>
      <p:pic>
        <p:nvPicPr>
          <p:cNvPr id="8" name="图片 7"/>
          <p:cNvPicPr>
            <a:picLocks noChangeAspect="1"/>
          </p:cNvPicPr>
          <p:nvPr/>
        </p:nvPicPr>
        <p:blipFill>
          <a:blip r:embed="rId2"/>
          <a:stretch>
            <a:fillRect/>
          </a:stretch>
        </p:blipFill>
        <p:spPr>
          <a:xfrm>
            <a:off x="5467573" y="1645990"/>
            <a:ext cx="6220428" cy="3566018"/>
          </a:xfrm>
          <a:prstGeom prst="rect">
            <a:avLst/>
          </a:prstGeom>
        </p:spPr>
      </p:pic>
      <p:sp>
        <p:nvSpPr>
          <p:cNvPr id="9" name="右箭头 8"/>
          <p:cNvSpPr/>
          <p:nvPr/>
        </p:nvSpPr>
        <p:spPr>
          <a:xfrm>
            <a:off x="5067590" y="3215651"/>
            <a:ext cx="377952" cy="294843"/>
          </a:xfrm>
          <a:prstGeom prst="rightArrow">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81" y="1002119"/>
            <a:ext cx="5897738"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决策树正则化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剪枝技术对比</a:t>
            </a:r>
            <a:endParaRPr kumimoji="1" lang="zh-CN" altLang="en-US" dirty="0"/>
          </a:p>
        </p:txBody>
      </p:sp>
      <p:sp>
        <p:nvSpPr>
          <p:cNvPr id="36" name="泪珠形 35"/>
          <p:cNvSpPr/>
          <p:nvPr/>
        </p:nvSpPr>
        <p:spPr>
          <a:xfrm rot="2700000">
            <a:off x="817413" y="1948157"/>
            <a:ext cx="1041400" cy="1041400"/>
          </a:xfrm>
          <a:prstGeom prst="teardrop">
            <a:avLst/>
          </a:prstGeom>
          <a:solidFill>
            <a:srgbClr val="AD2A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7" name="AutoShape 16"/>
          <p:cNvSpPr/>
          <p:nvPr/>
        </p:nvSpPr>
        <p:spPr bwMode="auto">
          <a:xfrm>
            <a:off x="2349090" y="1875865"/>
            <a:ext cx="3271684" cy="112509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a:lnSpc>
                <a:spcPct val="150000"/>
              </a:lnSpc>
            </a:pPr>
            <a:r>
              <a:rPr lang="zh-CN" altLang="en-US"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思源黑体 CN Normal" panose="020B0400000000000000" pitchFamily="34" charset="-122"/>
              </a:rPr>
              <a:t>预剪枝使决策树的</a:t>
            </a:r>
            <a:r>
              <a:rPr lang="zh-CN" altLang="en-US" sz="1400" dirty="0">
                <a:solidFill>
                  <a:srgbClr val="AD2A26"/>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思源黑体 CN Normal" panose="020B0400000000000000" pitchFamily="34" charset="-122"/>
              </a:rPr>
              <a:t>很多分支没有展开</a:t>
            </a:r>
            <a:r>
              <a:rPr lang="zh-CN" altLang="en-US"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思源黑体 CN Normal" panose="020B0400000000000000" pitchFamily="34" charset="-122"/>
              </a:rPr>
              <a:t>，不单降低了过拟合风险，还显著</a:t>
            </a:r>
            <a:r>
              <a:rPr lang="zh-CN" altLang="en-US" sz="1400" dirty="0">
                <a:solidFill>
                  <a:srgbClr val="AD2A26"/>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思源黑体 CN Normal" panose="020B0400000000000000" pitchFamily="34" charset="-122"/>
              </a:rPr>
              <a:t>减少了决策树的训练、测试时间开销</a:t>
            </a:r>
            <a:endParaRPr lang="zh-CN" altLang="en-US" sz="1400" dirty="0">
              <a:solidFill>
                <a:srgbClr val="AD2A26"/>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思源黑体 CN Normal" panose="020B0400000000000000" pitchFamily="34" charset="-122"/>
            </a:endParaRPr>
          </a:p>
        </p:txBody>
      </p:sp>
      <p:sp>
        <p:nvSpPr>
          <p:cNvPr id="39" name="AutoShape 17"/>
          <p:cNvSpPr/>
          <p:nvPr/>
        </p:nvSpPr>
        <p:spPr bwMode="auto">
          <a:xfrm>
            <a:off x="1085417" y="2097141"/>
            <a:ext cx="595351" cy="51719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algn="ctr" defTabSz="323850">
              <a:spcBef>
                <a:spcPts val="850"/>
              </a:spcBef>
              <a:defRPr/>
            </a:pPr>
            <a:endParaRPr lang="es-ES" sz="3600" b="1" spc="300" dirty="0">
              <a:solidFill>
                <a:schemeClr val="bg1"/>
              </a:solidFill>
              <a:latin typeface="Alibaba PuHuiTi B" pitchFamily="18" charset="-122"/>
              <a:ea typeface="Alibaba PuHuiTi B" pitchFamily="18" charset="-122"/>
              <a:cs typeface="Alibaba PuHuiTi B" pitchFamily="18" charset="-122"/>
              <a:sym typeface="思源黑体 CN Normal" panose="020B0400000000000000" pitchFamily="34" charset="-122"/>
            </a:endParaRPr>
          </a:p>
        </p:txBody>
      </p:sp>
      <p:sp>
        <p:nvSpPr>
          <p:cNvPr id="40" name="泪珠形 39"/>
          <p:cNvSpPr/>
          <p:nvPr/>
        </p:nvSpPr>
        <p:spPr>
          <a:xfrm rot="2700000">
            <a:off x="6541298" y="1835036"/>
            <a:ext cx="1041400" cy="1041400"/>
          </a:xfrm>
          <a:prstGeom prst="teardrop">
            <a:avLst/>
          </a:prstGeom>
          <a:solidFill>
            <a:srgbClr val="48504F"/>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050">
              <a:solidFill>
                <a:srgbClr val="FEFABC"/>
              </a:solidFill>
              <a:latin typeface="微软雅黑" panose="020B0503020204020204" pitchFamily="34" charset="-122"/>
              <a:ea typeface="微软雅黑" panose="020B0503020204020204" pitchFamily="34" charset="-122"/>
            </a:endParaRPr>
          </a:p>
        </p:txBody>
      </p:sp>
      <p:sp>
        <p:nvSpPr>
          <p:cNvPr id="41" name="AutoShape 16"/>
          <p:cNvSpPr/>
          <p:nvPr/>
        </p:nvSpPr>
        <p:spPr bwMode="auto">
          <a:xfrm>
            <a:off x="8069957" y="1719987"/>
            <a:ext cx="3599034" cy="112509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a:lnSpc>
                <a:spcPct val="150000"/>
              </a:lnSpc>
            </a:pPr>
            <a:r>
              <a:rPr lang="zh-CN" altLang="en-US"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思源黑体 CN Normal" panose="020B0400000000000000" pitchFamily="34" charset="-122"/>
              </a:rPr>
              <a:t>比预剪枝保留了更多的分支。一般情况下，后剪枝决策树的欠拟合风险很小，</a:t>
            </a:r>
            <a:r>
              <a:rPr lang="zh-CN" altLang="en-US" sz="1400" dirty="0">
                <a:solidFill>
                  <a:srgbClr val="AD2A26"/>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思源黑体 CN Normal" panose="020B0400000000000000" pitchFamily="34" charset="-122"/>
              </a:rPr>
              <a:t>泛化性能往往优于预剪枝</a:t>
            </a:r>
            <a:endParaRPr lang="zh-CN" altLang="en-US" sz="1400" dirty="0">
              <a:solidFill>
                <a:srgbClr val="AD2A26"/>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思源黑体 CN Normal" panose="020B0400000000000000" pitchFamily="34" charset="-122"/>
            </a:endParaRPr>
          </a:p>
        </p:txBody>
      </p:sp>
      <p:sp>
        <p:nvSpPr>
          <p:cNvPr id="43" name="AutoShape 17"/>
          <p:cNvSpPr/>
          <p:nvPr/>
        </p:nvSpPr>
        <p:spPr bwMode="auto">
          <a:xfrm>
            <a:off x="6686606" y="2073400"/>
            <a:ext cx="956123" cy="51719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algn="ctr" defTabSz="323850">
              <a:spcBef>
                <a:spcPts val="850"/>
              </a:spcBef>
              <a:defRPr/>
            </a:pPr>
            <a:r>
              <a:rPr lang="en-US" sz="2400" b="1" spc="300" dirty="0" err="1">
                <a:solidFill>
                  <a:schemeClr val="bg1"/>
                </a:solidFill>
                <a:latin typeface="Alibaba PuHuiTi B" pitchFamily="18" charset="-122"/>
                <a:ea typeface="Alibaba PuHuiTi B" pitchFamily="18" charset="-122"/>
                <a:cs typeface="Alibaba PuHuiTi B" pitchFamily="18" charset="-122"/>
                <a:sym typeface="思源黑体 CN Normal" panose="020B0400000000000000" pitchFamily="34" charset="-122"/>
              </a:rPr>
              <a:t>优点</a:t>
            </a:r>
            <a:endParaRPr lang="es-ES" sz="2400" b="1" spc="300" dirty="0">
              <a:solidFill>
                <a:schemeClr val="bg1"/>
              </a:solidFill>
              <a:latin typeface="Alibaba PuHuiTi B" pitchFamily="18" charset="-122"/>
              <a:ea typeface="Alibaba PuHuiTi B" pitchFamily="18" charset="-122"/>
              <a:cs typeface="Alibaba PuHuiTi B" pitchFamily="18" charset="-122"/>
              <a:sym typeface="思源黑体 CN Normal" panose="020B0400000000000000" pitchFamily="34" charset="-122"/>
            </a:endParaRPr>
          </a:p>
        </p:txBody>
      </p:sp>
      <p:sp>
        <p:nvSpPr>
          <p:cNvPr id="44" name="泪珠形 43"/>
          <p:cNvSpPr/>
          <p:nvPr/>
        </p:nvSpPr>
        <p:spPr>
          <a:xfrm rot="2700000">
            <a:off x="862392" y="4037091"/>
            <a:ext cx="1041400" cy="1041400"/>
          </a:xfrm>
          <a:prstGeom prst="teardrop">
            <a:avLst/>
          </a:prstGeom>
          <a:solidFill>
            <a:srgbClr val="48504F"/>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050">
              <a:solidFill>
                <a:srgbClr val="FEFABC"/>
              </a:solidFill>
              <a:latin typeface="微软雅黑" panose="020B0503020204020204" pitchFamily="34" charset="-122"/>
              <a:ea typeface="微软雅黑" panose="020B0503020204020204" pitchFamily="34" charset="-122"/>
            </a:endParaRPr>
          </a:p>
        </p:txBody>
      </p:sp>
      <p:sp>
        <p:nvSpPr>
          <p:cNvPr id="45" name="AutoShape 16"/>
          <p:cNvSpPr/>
          <p:nvPr/>
        </p:nvSpPr>
        <p:spPr bwMode="auto">
          <a:xfrm>
            <a:off x="2371671" y="4097327"/>
            <a:ext cx="3271684" cy="112509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a:lnSpc>
                <a:spcPct val="150000"/>
              </a:lnSpc>
            </a:pPr>
            <a:r>
              <a:rPr lang="zh-CN" altLang="en-US" sz="1400" b="0" i="0" dirty="0">
                <a:effectLst/>
                <a:latin typeface="Roboto" panose="02000000000000000000" pitchFamily="2" charset="0"/>
              </a:rPr>
              <a:t>有些分支的当前划分虽不能提升泛化性能，但</a:t>
            </a:r>
            <a:r>
              <a:rPr lang="zh-CN" altLang="en-US" sz="1400" dirty="0">
                <a:latin typeface="Roboto" panose="02000000000000000000" pitchFamily="2" charset="0"/>
              </a:rPr>
              <a:t>后续划分却有可能导致性能的显著提高</a:t>
            </a:r>
            <a:r>
              <a:rPr lang="zh-CN" altLang="en-US" sz="1400" b="0" i="0" dirty="0">
                <a:effectLst/>
                <a:latin typeface="Roboto" panose="02000000000000000000" pitchFamily="2" charset="0"/>
              </a:rPr>
              <a:t>；</a:t>
            </a:r>
            <a:endParaRPr lang="en-US" altLang="zh-CN" sz="1400" b="0" i="0" dirty="0">
              <a:effectLst/>
              <a:latin typeface="Roboto" panose="02000000000000000000" pitchFamily="2" charset="0"/>
            </a:endParaRPr>
          </a:p>
          <a:p>
            <a:pPr>
              <a:lnSpc>
                <a:spcPct val="150000"/>
              </a:lnSpc>
            </a:pPr>
            <a:r>
              <a:rPr lang="zh-CN" altLang="en-US" sz="1400" b="0" i="0" dirty="0">
                <a:effectLst/>
                <a:latin typeface="Roboto" panose="02000000000000000000" pitchFamily="2" charset="0"/>
              </a:rPr>
              <a:t>预剪枝决策树</a:t>
            </a:r>
            <a:r>
              <a:rPr lang="zh-CN" altLang="en-US" sz="1400" b="0" i="0" dirty="0">
                <a:solidFill>
                  <a:schemeClr val="accent2">
                    <a:lumMod val="75000"/>
                  </a:schemeClr>
                </a:solidFill>
                <a:effectLst/>
                <a:latin typeface="Roboto" panose="02000000000000000000" pitchFamily="2" charset="0"/>
              </a:rPr>
              <a:t>也带来了欠拟合的风险</a:t>
            </a:r>
            <a:endParaRPr lang="zh-CN" altLang="en-US" sz="1400" b="0" i="0" dirty="0">
              <a:solidFill>
                <a:schemeClr val="accent2">
                  <a:lumMod val="75000"/>
                </a:schemeClr>
              </a:solidFill>
              <a:effectLst/>
              <a:latin typeface="Roboto" panose="02000000000000000000" pitchFamily="2" charset="0"/>
            </a:endParaRPr>
          </a:p>
        </p:txBody>
      </p:sp>
      <p:sp>
        <p:nvSpPr>
          <p:cNvPr id="47" name="AutoShape 17"/>
          <p:cNvSpPr/>
          <p:nvPr/>
        </p:nvSpPr>
        <p:spPr bwMode="auto">
          <a:xfrm>
            <a:off x="898907" y="4314244"/>
            <a:ext cx="968369" cy="51719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algn="ctr" defTabSz="323850">
              <a:spcBef>
                <a:spcPts val="850"/>
              </a:spcBef>
              <a:defRPr/>
            </a:pPr>
            <a:r>
              <a:rPr lang="zh-CN" altLang="en-US" sz="2400" spc="300" dirty="0">
                <a:solidFill>
                  <a:schemeClr val="bg1"/>
                </a:solidFill>
                <a:latin typeface="Alibaba PuHuiTi B" pitchFamily="18" charset="-122"/>
                <a:ea typeface="Alibaba PuHuiTi B" pitchFamily="18" charset="-122"/>
                <a:cs typeface="Alibaba PuHuiTi B" pitchFamily="18" charset="-122"/>
                <a:sym typeface="思源黑体 CN Normal" panose="020B0400000000000000" pitchFamily="34" charset="-122"/>
              </a:rPr>
              <a:t>缺点</a:t>
            </a:r>
            <a:endParaRPr lang="es-ES" sz="2400" spc="300" dirty="0">
              <a:solidFill>
                <a:schemeClr val="bg1"/>
              </a:solidFill>
              <a:latin typeface="Alibaba PuHuiTi B" pitchFamily="18" charset="-122"/>
              <a:ea typeface="Alibaba PuHuiTi B" pitchFamily="18" charset="-122"/>
              <a:cs typeface="Alibaba PuHuiTi B" pitchFamily="18" charset="-122"/>
              <a:sym typeface="思源黑体 CN Normal" panose="020B0400000000000000" pitchFamily="34" charset="-122"/>
            </a:endParaRPr>
          </a:p>
        </p:txBody>
      </p:sp>
      <p:sp>
        <p:nvSpPr>
          <p:cNvPr id="48" name="泪珠形 47"/>
          <p:cNvSpPr/>
          <p:nvPr/>
        </p:nvSpPr>
        <p:spPr>
          <a:xfrm rot="2700000">
            <a:off x="6541298" y="4032804"/>
            <a:ext cx="1041400" cy="1041400"/>
          </a:xfrm>
          <a:prstGeom prst="teardrop">
            <a:avLst/>
          </a:prstGeom>
          <a:solidFill>
            <a:srgbClr val="AD2A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 name="AutoShape 16"/>
          <p:cNvSpPr/>
          <p:nvPr/>
        </p:nvSpPr>
        <p:spPr bwMode="auto">
          <a:xfrm>
            <a:off x="8069956" y="4068184"/>
            <a:ext cx="3817243" cy="122168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a:lnSpc>
                <a:spcPct val="150000"/>
              </a:lnSpc>
            </a:pPr>
            <a:r>
              <a:rPr lang="zh-CN" altLang="en-US"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思源黑体 CN Normal" panose="020B0400000000000000" pitchFamily="34" charset="-122"/>
              </a:rPr>
              <a:t>后剪枝先生成，后剪枝。自底向上地对树中所有非叶子节点进行逐一考察，</a:t>
            </a:r>
            <a:r>
              <a:rPr lang="zh-CN" altLang="en-US" sz="1400" dirty="0">
                <a:solidFill>
                  <a:srgbClr val="AD2A26"/>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思源黑体 CN Normal" panose="020B0400000000000000" pitchFamily="34" charset="-122"/>
              </a:rPr>
              <a:t>训练时间开销比未剪枝的决策树和预剪枝的决策树都要大得多</a:t>
            </a:r>
            <a:r>
              <a:rPr lang="zh-CN" altLang="en-US"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思源黑体 CN Normal" panose="020B0400000000000000" pitchFamily="34" charset="-122"/>
              </a:rPr>
              <a:t>。</a:t>
            </a:r>
            <a:endParaRPr lang="zh-CN" altLang="en-US" sz="1400" dirty="0">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思源黑体 CN Normal" panose="020B0400000000000000" pitchFamily="34" charset="-122"/>
            </a:endParaRPr>
          </a:p>
        </p:txBody>
      </p:sp>
      <p:sp>
        <p:nvSpPr>
          <p:cNvPr id="51" name="AutoShape 17"/>
          <p:cNvSpPr/>
          <p:nvPr/>
        </p:nvSpPr>
        <p:spPr bwMode="auto">
          <a:xfrm>
            <a:off x="6481080" y="4314244"/>
            <a:ext cx="1263673" cy="51719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algn="ctr" defTabSz="323850">
              <a:spcBef>
                <a:spcPts val="850"/>
              </a:spcBef>
              <a:defRPr/>
            </a:pPr>
            <a:r>
              <a:rPr lang="en-US" sz="2400" b="1" spc="300" dirty="0" err="1">
                <a:solidFill>
                  <a:schemeClr val="bg1"/>
                </a:solidFill>
                <a:latin typeface="Alibaba PuHuiTi B" pitchFamily="18" charset="-122"/>
                <a:ea typeface="Alibaba PuHuiTi B" pitchFamily="18" charset="-122"/>
                <a:cs typeface="Alibaba PuHuiTi B" pitchFamily="18" charset="-122"/>
                <a:sym typeface="思源黑体 CN Normal" panose="020B0400000000000000" pitchFamily="34" charset="-122"/>
              </a:rPr>
              <a:t>缺点</a:t>
            </a:r>
            <a:endParaRPr lang="es-ES" sz="2400" b="1" spc="300" dirty="0">
              <a:solidFill>
                <a:schemeClr val="bg1"/>
              </a:solidFill>
              <a:latin typeface="Alibaba PuHuiTi B" pitchFamily="18" charset="-122"/>
              <a:ea typeface="Alibaba PuHuiTi B" pitchFamily="18" charset="-122"/>
              <a:cs typeface="Alibaba PuHuiTi B" pitchFamily="18" charset="-122"/>
              <a:sym typeface="思源黑体 CN Normal" panose="020B0400000000000000" pitchFamily="34" charset="-122"/>
            </a:endParaRPr>
          </a:p>
        </p:txBody>
      </p:sp>
      <p:cxnSp>
        <p:nvCxnSpPr>
          <p:cNvPr id="52" name="直线连接符 51"/>
          <p:cNvCxnSpPr/>
          <p:nvPr/>
        </p:nvCxnSpPr>
        <p:spPr>
          <a:xfrm>
            <a:off x="850359" y="3657600"/>
            <a:ext cx="10491282" cy="0"/>
          </a:xfrm>
          <a:prstGeom prst="line">
            <a:avLst/>
          </a:prstGeom>
          <a:ln>
            <a:solidFill>
              <a:srgbClr val="919191"/>
            </a:solidFill>
            <a:prstDash val="dash"/>
          </a:ln>
        </p:spPr>
        <p:style>
          <a:lnRef idx="1">
            <a:schemeClr val="accent1"/>
          </a:lnRef>
          <a:fillRef idx="0">
            <a:schemeClr val="accent1"/>
          </a:fillRef>
          <a:effectRef idx="0">
            <a:schemeClr val="accent1"/>
          </a:effectRef>
          <a:fontRef idx="minor">
            <a:schemeClr val="tx1"/>
          </a:fontRef>
        </p:style>
      </p:cxnSp>
      <p:cxnSp>
        <p:nvCxnSpPr>
          <p:cNvPr id="53" name="直线连接符 52"/>
          <p:cNvCxnSpPr/>
          <p:nvPr/>
        </p:nvCxnSpPr>
        <p:spPr>
          <a:xfrm>
            <a:off x="6096000" y="1780674"/>
            <a:ext cx="0" cy="3827023"/>
          </a:xfrm>
          <a:prstGeom prst="line">
            <a:avLst/>
          </a:prstGeom>
          <a:ln>
            <a:solidFill>
              <a:srgbClr val="919191"/>
            </a:solidFill>
            <a:prstDash val="dash"/>
          </a:ln>
        </p:spPr>
        <p:style>
          <a:lnRef idx="1">
            <a:schemeClr val="accent1"/>
          </a:lnRef>
          <a:fillRef idx="0">
            <a:schemeClr val="accent1"/>
          </a:fillRef>
          <a:effectRef idx="0">
            <a:schemeClr val="accent1"/>
          </a:effectRef>
          <a:fontRef idx="minor">
            <a:schemeClr val="tx1"/>
          </a:fontRef>
        </p:style>
      </p:cxnSp>
      <p:sp>
        <p:nvSpPr>
          <p:cNvPr id="2" name="AutoShape 17"/>
          <p:cNvSpPr/>
          <p:nvPr/>
        </p:nvSpPr>
        <p:spPr bwMode="auto">
          <a:xfrm>
            <a:off x="1085417" y="2262205"/>
            <a:ext cx="910867" cy="41330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defTabSz="323850">
              <a:spcBef>
                <a:spcPts val="850"/>
              </a:spcBef>
              <a:defRPr/>
            </a:pPr>
            <a:r>
              <a:rPr lang="es-ES" sz="2400" spc="300" dirty="0" err="1">
                <a:solidFill>
                  <a:schemeClr val="bg1"/>
                </a:solidFill>
                <a:latin typeface="Alibaba PuHuiTi M" pitchFamily="18" charset="-122"/>
                <a:ea typeface="Alibaba PuHuiTi M" pitchFamily="18" charset="-122"/>
                <a:cs typeface="Alibaba PuHuiTi M" pitchFamily="18" charset="-122"/>
                <a:sym typeface="思源黑体 CN Normal" panose="020B0400000000000000" pitchFamily="34" charset="-122"/>
              </a:rPr>
              <a:t>优点</a:t>
            </a:r>
            <a:endParaRPr lang="es-ES" sz="2400" spc="300" dirty="0">
              <a:solidFill>
                <a:schemeClr val="bg1"/>
              </a:solidFill>
              <a:latin typeface="Alibaba PuHuiTi M" pitchFamily="18" charset="-122"/>
              <a:ea typeface="Alibaba PuHuiTi M" pitchFamily="18" charset="-122"/>
              <a:cs typeface="Alibaba PuHuiTi M" pitchFamily="18" charset="-122"/>
              <a:sym typeface="思源黑体 CN Normal" panose="020B0400000000000000" pitchFamily="34" charset="-122"/>
            </a:endParaRPr>
          </a:p>
        </p:txBody>
      </p:sp>
      <p:sp>
        <p:nvSpPr>
          <p:cNvPr id="4" name="标题 2"/>
          <p:cNvSpPr txBox="1"/>
          <p:nvPr/>
        </p:nvSpPr>
        <p:spPr>
          <a:xfrm>
            <a:off x="2645124" y="5607552"/>
            <a:ext cx="7581147" cy="517190"/>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a:lstStyle>
          <a:p>
            <a:r>
              <a:rPr kumimoji="1" lang="zh-CN" altLang="en-US" dirty="0">
                <a:solidFill>
                  <a:schemeClr val="tx1">
                    <a:lumMod val="85000"/>
                    <a:lumOff val="15000"/>
                  </a:schemeClr>
                </a:solidFill>
              </a:rPr>
              <a:t>预剪枝    </a:t>
            </a:r>
            <a:r>
              <a:rPr kumimoji="1" lang="en-US" altLang="zh-CN" dirty="0">
                <a:solidFill>
                  <a:schemeClr val="tx1">
                    <a:lumMod val="85000"/>
                    <a:lumOff val="15000"/>
                  </a:schemeClr>
                </a:solidFill>
              </a:rPr>
              <a:t>                                    </a:t>
            </a:r>
            <a:r>
              <a:rPr kumimoji="1">
                <a:solidFill>
                  <a:schemeClr val="tx1">
                    <a:lumMod val="85000"/>
                    <a:lumOff val="15000"/>
                  </a:schemeClr>
                </a:solidFill>
                <a:sym typeface="+mn-ea"/>
              </a:rPr>
              <a:t>后剪枝</a:t>
            </a:r>
            <a:endParaRPr kumimoji="1" lang="zh-CN" altLang="en-US" dirty="0">
              <a:solidFill>
                <a:schemeClr val="tx1">
                  <a:lumMod val="85000"/>
                  <a:lumOff val="15000"/>
                </a:schemeClr>
              </a:solidFill>
            </a:endParaRPr>
          </a:p>
          <a:p>
            <a:r>
              <a:rPr kumimoji="1" lang="zh-CN" altLang="en-US" dirty="0">
                <a:solidFill>
                  <a:schemeClr val="tx1">
                    <a:lumMod val="85000"/>
                    <a:lumOff val="15000"/>
                  </a:schemeClr>
                </a:solidFill>
              </a:rPr>
              <a:t>                                                                   </a:t>
            </a:r>
            <a:endParaRPr kumimoji="1" lang="zh-CN" altLang="en-US" dirty="0">
              <a:solidFill>
                <a:schemeClr val="tx1">
                  <a:lumMod val="85000"/>
                  <a:lumOff val="15000"/>
                </a:schemeClr>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475541" y="1792881"/>
            <a:ext cx="559237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1</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a:t>
            </a:r>
            <a:r>
              <a:rPr kumimoji="1" lang="zh-CN" altLang="en-US" b="1" dirty="0">
                <a:solidFill>
                  <a:prstClr val="black">
                    <a:lumMod val="65000"/>
                    <a:lumOff val="35000"/>
                  </a:prstClr>
                </a:solidFill>
                <a:latin typeface="Alibaba PuHuiTi" pitchFamily="18" charset="-122"/>
                <a:ea typeface="Alibaba PuHuiTi" pitchFamily="18" charset="-122"/>
                <a:cs typeface="Alibaba PuHuiTi" pitchFamily="18" charset="-122"/>
              </a:rPr>
              <a:t>剪枝？</a:t>
            </a:r>
            <a:endPar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endParaRPr>
          </a:p>
        </p:txBody>
      </p:sp>
      <p:sp>
        <p:nvSpPr>
          <p:cNvPr id="12" name="文本占位符 1"/>
          <p:cNvSpPr txBox="1"/>
          <p:nvPr/>
        </p:nvSpPr>
        <p:spPr>
          <a:xfrm>
            <a:off x="86125" y="181128"/>
            <a:ext cx="7036395" cy="761341"/>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l"/>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gn="l" rtl="0" eaLnBrk="0" fontAlgn="base" hangingPunct="0">
              <a:lnSpc>
                <a:spcPct val="150000"/>
              </a:lnSpc>
              <a:spcBef>
                <a:spcPct val="20000"/>
              </a:spcBef>
              <a:spcAft>
                <a:spcPct val="0"/>
              </a:spcAft>
              <a:buFont typeface="Wingdings" panose="05000000000000000000" pitchFamily="2" charset="2"/>
              <a:buChar char="l"/>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defRPr lang="zh-CN" altLang="en-US" sz="1400" b="0" i="0" kern="1200" dirty="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359410" marR="0" lvl="1" indent="0" algn="l" defTabSz="914400" rtl="0" eaLnBrk="0" fontAlgn="base" latinLnBrk="0" hangingPunct="0">
              <a:lnSpc>
                <a:spcPct val="150000"/>
              </a:lnSpc>
              <a:spcBef>
                <a:spcPct val="20000"/>
              </a:spcBef>
              <a:spcAft>
                <a:spcPct val="0"/>
              </a:spcAft>
              <a:buClrTx/>
              <a:buSzTx/>
              <a:buFont typeface="Wingdings" panose="05000000000000000000" pitchFamily="2" charset="2"/>
              <a:buNone/>
              <a:defRPr/>
            </a:pPr>
            <a:endParaRPr kumimoji="1" lang="zh-CN" altLang="en-US" sz="1400" b="0" i="0" u="none" strike="noStrike" kern="1200" cap="none" spc="0" normalizeH="0" baseline="0" noProof="0" dirty="0">
              <a:ln>
                <a:noFill/>
              </a:ln>
              <a:solidFill>
                <a:prstClr val="black"/>
              </a:solidFill>
              <a:effectLst/>
              <a:uLnTx/>
              <a:uFillTx/>
              <a:latin typeface="Alibaba PuHuiTi R" pitchFamily="18" charset="-122"/>
              <a:ea typeface="Alibaba PuHuiTi R" pitchFamily="18" charset="-122"/>
              <a:cs typeface="Alibaba PuHuiTi R" pitchFamily="18" charset="-122"/>
            </a:endParaRPr>
          </a:p>
        </p:txBody>
      </p:sp>
      <p:sp>
        <p:nvSpPr>
          <p:cNvPr id="2" name="TextBox 6"/>
          <p:cNvSpPr txBox="1"/>
          <p:nvPr/>
        </p:nvSpPr>
        <p:spPr>
          <a:xfrm>
            <a:off x="4934077" y="2249773"/>
            <a:ext cx="6929499" cy="385298"/>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把叶子节点、子节点删掉，用</a:t>
            </a:r>
            <a:r>
              <a:rPr lang="zh-CN" altLang="en-US" sz="1400" dirty="0">
                <a:solidFill>
                  <a:srgbClr val="C0504D">
                    <a:lumMod val="75000"/>
                  </a:srgbClr>
                </a:solidFill>
                <a:latin typeface="Alibaba PuHuiTi" pitchFamily="18" charset="-122"/>
                <a:ea typeface="Alibaba PuHuiTi" pitchFamily="18" charset="-122"/>
                <a:cs typeface="Alibaba PuHuiTi" pitchFamily="18" charset="-122"/>
              </a:rPr>
              <a:t>更大的叶子节点（子树）</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替换</a:t>
            </a:r>
            <a:r>
              <a:rPr lang="zh-CN" altLang="en-US" sz="1400" dirty="0">
                <a:solidFill>
                  <a:srgbClr val="C0504D">
                    <a:lumMod val="75000"/>
                  </a:srgbClr>
                </a:solidFill>
                <a:latin typeface="Alibaba PuHuiTi" pitchFamily="18" charset="-122"/>
                <a:ea typeface="Alibaba PuHuiTi" pitchFamily="18" charset="-122"/>
                <a:cs typeface="Alibaba PuHuiTi" pitchFamily="18" charset="-122"/>
              </a:rPr>
              <a:t>叶子节点</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3" name="文本框 2"/>
          <p:cNvSpPr txBox="1"/>
          <p:nvPr/>
        </p:nvSpPr>
        <p:spPr>
          <a:xfrm>
            <a:off x="4490040" y="2921082"/>
            <a:ext cx="321191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2</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a:t>
            </a:r>
            <a:r>
              <a:rPr kumimoji="1" lang="zh-CN" altLang="en-US" b="1" dirty="0">
                <a:solidFill>
                  <a:prstClr val="black">
                    <a:lumMod val="65000"/>
                    <a:lumOff val="35000"/>
                  </a:prstClr>
                </a:solidFill>
                <a:latin typeface="Alibaba PuHuiTi" pitchFamily="18" charset="-122"/>
                <a:ea typeface="Alibaba PuHuiTi" pitchFamily="18" charset="-122"/>
                <a:cs typeface="Alibaba PuHuiTi" pitchFamily="18" charset="-122"/>
              </a:rPr>
              <a:t>预剪枝和后剪枝？</a:t>
            </a:r>
            <a:endPar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endParaRPr>
          </a:p>
        </p:txBody>
      </p:sp>
      <p:sp>
        <p:nvSpPr>
          <p:cNvPr id="8" name="文本框 7"/>
          <p:cNvSpPr txBox="1"/>
          <p:nvPr/>
        </p:nvSpPr>
        <p:spPr>
          <a:xfrm>
            <a:off x="4934077" y="3580197"/>
            <a:ext cx="6524506" cy="1670522"/>
          </a:xfrm>
          <a:prstGeom prst="rect">
            <a:avLst/>
          </a:prstGeom>
          <a:noFill/>
        </p:spPr>
        <p:txBody>
          <a:bodyPr wrap="square">
            <a:spAutoFit/>
          </a:bodyPr>
          <a:lstStyle/>
          <a:p>
            <a:pPr algn="l">
              <a:lnSpc>
                <a:spcPct val="150000"/>
              </a:lnSpc>
              <a:buFont typeface="+mj-lt"/>
              <a:buAutoNum type="arabicPeriod"/>
            </a:pPr>
            <a:r>
              <a:rPr lang="zh-CN" altLang="en-US" sz="1400" b="0" i="0" u="none" strike="noStrike" dirty="0">
                <a:solidFill>
                  <a:srgbClr val="333333"/>
                </a:solidFill>
                <a:effectLst/>
                <a:latin typeface="Open Sans" panose="020B0606030504020204" pitchFamily="34" charset="0"/>
              </a:rPr>
              <a:t>预剪枝：指在决策树生成过程中，对每个节点在划分前先进行估计，若当前节点的划分不能带来决策树泛化性能提升，则停止划分并将当前节点标记为叶节点</a:t>
            </a:r>
            <a:r>
              <a:rPr lang="en-US" altLang="zh-CN" sz="1400" b="0" i="0" u="none" strike="noStrike" dirty="0">
                <a:solidFill>
                  <a:srgbClr val="333333"/>
                </a:solidFill>
                <a:effectLst/>
                <a:latin typeface="Open Sans" panose="020B0606030504020204" pitchFamily="34" charset="0"/>
              </a:rPr>
              <a:t>;</a:t>
            </a:r>
            <a:endParaRPr lang="en-US" altLang="zh-CN" sz="1400" b="0" i="0" u="none" strike="noStrike" dirty="0">
              <a:solidFill>
                <a:srgbClr val="333333"/>
              </a:solidFill>
              <a:effectLst/>
              <a:latin typeface="Open Sans" panose="020B0606030504020204" pitchFamily="34" charset="0"/>
            </a:endParaRPr>
          </a:p>
          <a:p>
            <a:pPr algn="l">
              <a:lnSpc>
                <a:spcPct val="150000"/>
              </a:lnSpc>
              <a:buFont typeface="+mj-lt"/>
              <a:buAutoNum type="arabicPeriod"/>
            </a:pPr>
            <a:r>
              <a:rPr lang="zh-CN" altLang="en-US" sz="1400" b="0" i="0" u="none" strike="noStrike" dirty="0">
                <a:solidFill>
                  <a:srgbClr val="333333"/>
                </a:solidFill>
                <a:effectLst/>
                <a:latin typeface="Open Sans" panose="020B0606030504020204" pitchFamily="34" charset="0"/>
              </a:rPr>
              <a:t>后剪枝：是先从训练集生成一棵完整的决策树，然后自底向上地对非叶节点进行考察，若将该节点对应的子树替换为叶节点能带来决策树泛化性能提升，则将该子树替换为叶节点。</a:t>
            </a:r>
            <a:endParaRPr lang="zh-CN" altLang="en-US" sz="1400" b="0" i="0" u="none" strike="noStrike" dirty="0">
              <a:solidFill>
                <a:srgbClr val="333333"/>
              </a:solidFill>
              <a:effectLst/>
              <a:latin typeface="Open Sans" panose="020B0606030504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01 (82)"/>
          <p:cNvPicPr>
            <a:picLocks noChangeAspect="1"/>
          </p:cNvPicPr>
          <p:nvPr/>
        </p:nvPicPr>
        <p:blipFill>
          <a:blip r:embed="rId1"/>
          <a:stretch>
            <a:fillRect/>
          </a:stretch>
        </p:blipFill>
        <p:spPr>
          <a:xfrm>
            <a:off x="9592920" y="5398066"/>
            <a:ext cx="1481455" cy="1481455"/>
          </a:xfrm>
          <a:prstGeom prst="rect">
            <a:avLst/>
          </a:prstGeom>
        </p:spPr>
      </p:pic>
      <p:sp>
        <p:nvSpPr>
          <p:cNvPr id="2" name="文本框 1"/>
          <p:cNvSpPr txBox="1"/>
          <p:nvPr/>
        </p:nvSpPr>
        <p:spPr>
          <a:xfrm>
            <a:off x="3119604" y="1872370"/>
            <a:ext cx="3701654" cy="307777"/>
          </a:xfrm>
          <a:prstGeom prst="rect">
            <a:avLst/>
          </a:prstGeom>
          <a:noFill/>
        </p:spPr>
        <p:txBody>
          <a:bodyPr wrap="none" rtlCol="0">
            <a:spAutoFit/>
          </a:bodyPr>
          <a:lstStyle/>
          <a:p>
            <a:pPr fontAlgn="auto">
              <a:spcBef>
                <a:spcPts val="0"/>
              </a:spcBef>
              <a:spcAft>
                <a:spcPts val="0"/>
              </a:spcAft>
            </a:pPr>
            <a:r>
              <a:rPr lang="en-US" altLang="zh-CN" sz="1400">
                <a:solidFill>
                  <a:schemeClr val="tx1">
                    <a:lumMod val="85000"/>
                    <a:lumOff val="15000"/>
                  </a:schemeClr>
                </a:solidFill>
                <a:latin typeface="Alibaba PuHuiTi" pitchFamily="18" charset="-122"/>
                <a:ea typeface="Alibaba PuHuiTi" pitchFamily="18" charset="-122"/>
                <a:cs typeface="Alibaba PuHuiTi" pitchFamily="18" charset="-122"/>
              </a:rPr>
              <a:t>1</a:t>
            </a:r>
            <a:r>
              <a:rPr lang="zh-CN" altLang="en-US" sz="1400">
                <a:solidFill>
                  <a:schemeClr val="tx1">
                    <a:lumMod val="85000"/>
                    <a:lumOff val="15000"/>
                  </a:schemeClr>
                </a:solidFill>
                <a:latin typeface="Alibaba PuHuiTi" pitchFamily="18" charset="-122"/>
                <a:ea typeface="Alibaba PuHuiTi" pitchFamily="18" charset="-122"/>
                <a:cs typeface="Alibaba PuHuiTi" pitchFamily="18" charset="-122"/>
              </a:rPr>
              <a:t>、下列关于剪枝的描述正确的是？（多选）</a:t>
            </a:r>
            <a:endParaRPr lang="en-US" altLang="zh-CN" sz="140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3" name="矩形 2"/>
          <p:cNvSpPr/>
          <p:nvPr/>
        </p:nvSpPr>
        <p:spPr>
          <a:xfrm>
            <a:off x="3575720" y="2234651"/>
            <a:ext cx="6859198" cy="1354730"/>
          </a:xfrm>
          <a:prstGeom prst="rect">
            <a:avLst/>
          </a:prstGeom>
        </p:spPr>
        <p:txBody>
          <a:bodyPr wrap="square">
            <a:spAutoFit/>
          </a:bodyPr>
          <a:lstStyle/>
          <a:p>
            <a:pPr>
              <a:lnSpc>
                <a:spcPct val="150000"/>
              </a:lnSpc>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A</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）剪枝是为了防止模型产生过拟合</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50000"/>
              </a:lnSpc>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B</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）常用的剪枝方法有预剪枝和后剪枝</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50000"/>
              </a:lnSpc>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C</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）预剪枝是提前设定树在构建过程中的限制参数，一边生成一边验证效果</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50000"/>
              </a:lnSpc>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D</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）后剪枝需要等树构建完成后再遍历节点</a:t>
            </a: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6" name="文本框 5"/>
          <p:cNvSpPr txBox="1"/>
          <p:nvPr/>
        </p:nvSpPr>
        <p:spPr>
          <a:xfrm>
            <a:off x="3575720" y="4496744"/>
            <a:ext cx="3281002" cy="307777"/>
          </a:xfrm>
          <a:prstGeom prst="rect">
            <a:avLst/>
          </a:prstGeom>
          <a:noFill/>
        </p:spPr>
        <p:txBody>
          <a:bodyPr wrap="square" rtlCol="0">
            <a:spAutoFit/>
          </a:bodyPr>
          <a:lstStyle/>
          <a:p>
            <a:pPr fontAlgn="auto">
              <a:spcBef>
                <a:spcPts val="0"/>
              </a:spcBef>
              <a:spcAft>
                <a:spcPts val="0"/>
              </a:spcAft>
            </a:pP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答案：</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ABCD</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a:t>
            </a:r>
            <a:endParaRPr lang="zh-CN" altLang="en-US" sz="1400" dirty="0">
              <a:solidFill>
                <a:schemeClr val="accent2">
                  <a:lumMod val="75000"/>
                </a:schemeClr>
              </a:solidFill>
              <a:latin typeface="Alibaba PuHuiTi" pitchFamily="18" charset="-122"/>
              <a:ea typeface="Alibaba PuHuiTi" pitchFamily="18" charset="-122"/>
              <a:cs typeface="Alibaba PuHuiTi" pitchFamily="18" charset="-122"/>
            </a:endParaRPr>
          </a:p>
        </p:txBody>
      </p:sp>
      <p:sp>
        <p:nvSpPr>
          <p:cNvPr id="7" name="文本框 6"/>
          <p:cNvSpPr txBox="1"/>
          <p:nvPr/>
        </p:nvSpPr>
        <p:spPr>
          <a:xfrm>
            <a:off x="3563144" y="4188967"/>
            <a:ext cx="5383430" cy="307777"/>
          </a:xfrm>
          <a:prstGeom prst="rect">
            <a:avLst/>
          </a:prstGeom>
          <a:noFill/>
        </p:spPr>
        <p:txBody>
          <a:bodyPr wrap="square" rtlCol="0">
            <a:spAutoFit/>
          </a:bodyPr>
          <a:lstStyle/>
          <a:p>
            <a:pPr fontAlgn="auto">
              <a:spcBef>
                <a:spcPts val="0"/>
              </a:spcBef>
              <a:spcAft>
                <a:spcPts val="0"/>
              </a:spcAft>
            </a:pP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答案解析：</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A</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剪枝正则化一种方法</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ok</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 </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B</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正确 </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C</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正确 </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D</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描述正确</a:t>
            </a:r>
            <a:endParaRPr lang="en-US" altLang="zh-CN" sz="1400" dirty="0">
              <a:solidFill>
                <a:schemeClr val="accent2">
                  <a:lumMod val="75000"/>
                </a:schemeClr>
              </a:solidFill>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p="http://schemas.openxmlformats.org/presentationml/2006/main">
  <p:tag name="KSO_WM_UNIT_TABLE_BEAUTIFY" val="smartTable{3bd1a816-7d7d-4db1-9efc-e25909f2b4e4}"/>
  <p:tag name="TABLE_ENDDRAG_ORIGIN_RECT" val="867*267"/>
  <p:tag name="TABLE_ENDDRAG_RECT" val="63*186*867*267"/>
</p:tagLst>
</file>

<file path=ppt/tags/tag2.xml><?xml version="1.0" encoding="utf-8"?>
<p:tagLst xmlns:p="http://schemas.openxmlformats.org/presentationml/2006/main">
  <p:tag name="KSO_WM_UNIT_TABLE_BEAUTIFY" val="smartTable{3bd1a816-7d7d-4db1-9efc-e25909f2b4e4}"/>
  <p:tag name="TABLE_ENDDRAG_ORIGIN_RECT" val="867*267"/>
  <p:tag name="TABLE_ENDDRAG_RECT" val="63*186*867*267"/>
</p:tagLst>
</file>

<file path=ppt/tags/tag3.xml><?xml version="1.0" encoding="utf-8"?>
<p:tagLst xmlns:p="http://schemas.openxmlformats.org/presentationml/2006/main">
  <p:tag name="KSO_WM_UNIT_TABLE_BEAUTIFY" val="smartTable{3bd1a816-7d7d-4db1-9efc-e25909f2b4e4}"/>
  <p:tag name="TABLE_ENDDRAG_ORIGIN_RECT" val="867*267"/>
  <p:tag name="TABLE_ENDDRAG_RECT" val="63*186*867*267"/>
</p:tagLst>
</file>

<file path=ppt/tags/tag4.xml><?xml version="1.0" encoding="utf-8"?>
<p:tagLst xmlns:p="http://schemas.openxmlformats.org/presentationml/2006/main">
  <p:tag name="KSO_WM_UNIT_TABLE_BEAUTIFY" val="smartTable{ec54c68d-9188-4ce8-8b28-1a27a4c6b76a}"/>
  <p:tag name="TABLE_ENDDRAG_ORIGIN_RECT" val="867*267"/>
  <p:tag name="TABLE_ENDDRAG_RECT" val="63*186*867*267"/>
</p:tagLst>
</file>

<file path=ppt/theme/theme1.xml><?xml version="1.0" encoding="utf-8"?>
<a:theme xmlns:a="http://schemas.openxmlformats.org/drawingml/2006/main" name="封面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目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章节页版式（一级+二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章节页版式（一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结束页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12850</Words>
  <Application>WPS 演示</Application>
  <PresentationFormat>宽屏</PresentationFormat>
  <Paragraphs>901</Paragraphs>
  <Slides>67</Slides>
  <Notes>39</Notes>
  <HiddenSlides>0</HiddenSlides>
  <MMClips>0</MMClips>
  <ScaleCrop>false</ScaleCrop>
  <HeadingPairs>
    <vt:vector size="6" baseType="variant">
      <vt:variant>
        <vt:lpstr>已用的字体</vt:lpstr>
      </vt:variant>
      <vt:variant>
        <vt:i4>27</vt:i4>
      </vt:variant>
      <vt:variant>
        <vt:lpstr>主题</vt:lpstr>
      </vt:variant>
      <vt:variant>
        <vt:i4>8</vt:i4>
      </vt:variant>
      <vt:variant>
        <vt:lpstr>幻灯片标题</vt:lpstr>
      </vt:variant>
      <vt:variant>
        <vt:i4>67</vt:i4>
      </vt:variant>
    </vt:vector>
  </HeadingPairs>
  <TitlesOfParts>
    <vt:vector size="102" baseType="lpstr">
      <vt:lpstr>Arial</vt:lpstr>
      <vt:lpstr>宋体</vt:lpstr>
      <vt:lpstr>Wingdings</vt:lpstr>
      <vt:lpstr>Calibri</vt:lpstr>
      <vt:lpstr>黑体</vt:lpstr>
      <vt:lpstr>Alibaba PuHuiTi B</vt:lpstr>
      <vt:lpstr>Alibaba PuHuiTi R</vt:lpstr>
      <vt:lpstr>Segoe UI</vt:lpstr>
      <vt:lpstr>微软雅黑</vt:lpstr>
      <vt:lpstr>Verdana</vt:lpstr>
      <vt:lpstr>阿里巴巴普惠体</vt:lpstr>
      <vt:lpstr>华文楷体</vt:lpstr>
      <vt:lpstr>Alibaba PuHuiTi</vt:lpstr>
      <vt:lpstr>Alibaba PuHuiTi Medium</vt:lpstr>
      <vt:lpstr>Alibaba PuHuiTi M</vt:lpstr>
      <vt:lpstr>Segoe UI Light</vt:lpstr>
      <vt:lpstr>微软雅黑 Light</vt:lpstr>
      <vt:lpstr>Open Sans</vt:lpstr>
      <vt:lpstr>等线</vt:lpstr>
      <vt:lpstr>Roboto</vt:lpstr>
      <vt:lpstr>Cambria Math</vt:lpstr>
      <vt:lpstr>Arial Unicode MS</vt:lpstr>
      <vt:lpstr>Helvetica Neue</vt:lpstr>
      <vt:lpstr>Calibri</vt:lpstr>
      <vt:lpstr>Söhne</vt:lpstr>
      <vt:lpstr>思源黑体 CN Normal</vt:lpstr>
      <vt:lpstr>Segoe Print</vt:lpstr>
      <vt:lpstr>封面2</vt:lpstr>
      <vt:lpstr>目录</vt:lpstr>
      <vt:lpstr>学习目标</vt:lpstr>
      <vt:lpstr>章节页版式（一级+二级标题）</vt:lpstr>
      <vt:lpstr>章节页版式（一级标题）</vt:lpstr>
      <vt:lpstr>正文设计方案</vt:lpstr>
      <vt:lpstr>5_结束页设计方案</vt:lpstr>
      <vt:lpstr>1_正文设计方案</vt:lpstr>
      <vt:lpstr>决策树</vt:lpstr>
      <vt:lpstr>PowerPoint 演示文稿</vt:lpstr>
      <vt:lpstr>PowerPoint 演示文稿</vt:lpstr>
      <vt:lpstr> 决策树简介 – 生活中的决策树</vt:lpstr>
      <vt:lpstr> 决策树简介</vt:lpstr>
      <vt:lpstr>PowerPoint 演示文稿</vt:lpstr>
      <vt:lpstr>PowerPoint 演示文稿</vt:lpstr>
      <vt:lpstr>PowerPoint 演示文稿</vt:lpstr>
      <vt:lpstr>PowerPoint 演示文稿</vt:lpstr>
      <vt:lpstr>  信息熵</vt:lpstr>
      <vt:lpstr>  信息熵</vt:lpstr>
      <vt:lpstr>  信息熵</vt:lpstr>
      <vt:lpstr> 信息增益</vt:lpstr>
      <vt:lpstr>信息增益</vt:lpstr>
      <vt:lpstr>  ID3决策树构建流程</vt:lpstr>
      <vt:lpstr>  ID3决策树</vt:lpstr>
      <vt:lpstr>  ID3决策树– 信息增益案例</vt:lpstr>
      <vt:lpstr>  ID3决策树– 信息增益案例</vt:lpstr>
      <vt:lpstr>PowerPoint 演示文稿</vt:lpstr>
      <vt:lpstr>PowerPoint 演示文稿</vt:lpstr>
      <vt:lpstr>PowerPoint 演示文稿</vt:lpstr>
      <vt:lpstr>PowerPoint 演示文稿</vt:lpstr>
      <vt:lpstr>PowerPoint 演示文稿</vt:lpstr>
      <vt:lpstr> C4.5决策树</vt:lpstr>
      <vt:lpstr> 信息增益率</vt:lpstr>
      <vt:lpstr> 信息增益率</vt:lpstr>
      <vt:lpstr>PowerPoint 演示文稿</vt:lpstr>
      <vt:lpstr>PowerPoint 演示文稿</vt:lpstr>
      <vt:lpstr>PowerPoint 演示文稿</vt:lpstr>
      <vt:lpstr>PowerPoint 演示文稿</vt:lpstr>
      <vt:lpstr> CART决策树（Classification and Regression Tree）</vt:lpstr>
      <vt:lpstr> CART分类树</vt:lpstr>
      <vt:lpstr> CART分类树</vt:lpstr>
      <vt:lpstr> CART决策树</vt:lpstr>
      <vt:lpstr> CART决策树 – CART树原理举例</vt:lpstr>
      <vt:lpstr> CART决策树 – CART树原理举例</vt:lpstr>
      <vt:lpstr> CART决策树 – CART树原理举例</vt:lpstr>
      <vt:lpstr> 三种分类树的对比</vt:lpstr>
      <vt:lpstr>PowerPoint 演示文稿</vt:lpstr>
      <vt:lpstr>PowerPoint 演示文稿</vt:lpstr>
      <vt:lpstr>PowerPoint 演示文稿</vt:lpstr>
      <vt:lpstr>PowerPoint 演示文稿</vt:lpstr>
      <vt:lpstr> CART决策案例 –泰坦尼克号乘客生存预测</vt:lpstr>
      <vt:lpstr> CART决策案例 –泰坦尼克号乘客生存预测</vt:lpstr>
      <vt:lpstr>CART决策案例 –泰坦尼克号乘客生存预测</vt:lpstr>
      <vt:lpstr>泰坦尼克号乘客生存预测</vt:lpstr>
      <vt:lpstr>PowerPoint 演示文稿</vt:lpstr>
      <vt:lpstr>PowerPoint 演示文稿</vt:lpstr>
      <vt:lpstr> CART 回归决策树</vt:lpstr>
      <vt:lpstr> CART回归决策树</vt:lpstr>
      <vt:lpstr> CART 回归决策树</vt:lpstr>
      <vt:lpstr> CART回归决策树</vt:lpstr>
      <vt:lpstr> CART决策树 – 案例：线性回归与回归决策树对比	</vt:lpstr>
      <vt:lpstr>案例：线性回归与回归决策树对比	</vt:lpstr>
      <vt:lpstr>案例：线性回归与回归决策树对比	</vt:lpstr>
      <vt:lpstr>PowerPoint 演示文稿</vt:lpstr>
      <vt:lpstr>PowerPoint 演示文稿</vt:lpstr>
      <vt:lpstr>PowerPoint 演示文稿</vt:lpstr>
      <vt:lpstr> 决策树正则化 – 剪枝</vt:lpstr>
      <vt:lpstr>剪枝思想</vt:lpstr>
      <vt:lpstr>剪枝原理</vt:lpstr>
      <vt:lpstr>预剪枝</vt:lpstr>
      <vt:lpstr> 决策树正则化 – 剪枝的基本工作原理 – 后剪枝1</vt:lpstr>
      <vt:lpstr> 决策树正则化 – 剪枝技术对比</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8802</dc:creator>
  <cp:lastModifiedBy>武常斌</cp:lastModifiedBy>
  <cp:revision>1465</cp:revision>
  <dcterms:created xsi:type="dcterms:W3CDTF">2020-03-31T02:23:00Z</dcterms:created>
  <dcterms:modified xsi:type="dcterms:W3CDTF">2025-05-30T09:40:36Z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9DD590DF4DF0418CB42F2FAB1DA1B00E_12</vt:lpwstr>
  </property>
  <property fmtid="{D5CDD505-2E9C-101B-9397-08002B2CF9AE}" pid="3" name="KSOProductBuildVer">
    <vt:lpwstr>2052-12.1.0.21171</vt:lpwstr>
  </property>
</Properties>
</file>