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8" r:id="rId7"/>
    <p:sldMasterId id="2147483674" r:id="rId8"/>
  </p:sldMasterIdLst>
  <p:notesMasterIdLst>
    <p:notesMasterId r:id="rId13"/>
  </p:notesMasterIdLst>
  <p:handoutMasterIdLst>
    <p:handoutMasterId r:id="rId66"/>
  </p:handoutMasterIdLst>
  <p:sldIdLst>
    <p:sldId id="1452" r:id="rId9"/>
    <p:sldId id="1438" r:id="rId10"/>
    <p:sldId id="464" r:id="rId11"/>
    <p:sldId id="1355" r:id="rId12"/>
    <p:sldId id="1356" r:id="rId14"/>
    <p:sldId id="1361" r:id="rId15"/>
    <p:sldId id="1366" r:id="rId16"/>
    <p:sldId id="1367" r:id="rId17"/>
    <p:sldId id="1195" r:id="rId18"/>
    <p:sldId id="1439" r:id="rId19"/>
    <p:sldId id="1444" r:id="rId20"/>
    <p:sldId id="1363" r:id="rId21"/>
    <p:sldId id="1364" r:id="rId22"/>
    <p:sldId id="1357" r:id="rId23"/>
    <p:sldId id="1371" r:id="rId24"/>
    <p:sldId id="1372" r:id="rId25"/>
    <p:sldId id="1385" r:id="rId26"/>
    <p:sldId id="1386" r:id="rId27"/>
    <p:sldId id="1440" r:id="rId28"/>
    <p:sldId id="1445" r:id="rId29"/>
    <p:sldId id="1375" r:id="rId30"/>
    <p:sldId id="1376" r:id="rId31"/>
    <p:sldId id="471" r:id="rId32"/>
    <p:sldId id="1378" r:id="rId33"/>
    <p:sldId id="1388" r:id="rId34"/>
    <p:sldId id="1442" r:id="rId35"/>
    <p:sldId id="1447" r:id="rId36"/>
    <p:sldId id="423" r:id="rId37"/>
    <p:sldId id="1391" r:id="rId38"/>
    <p:sldId id="1392" r:id="rId39"/>
    <p:sldId id="1393" r:id="rId40"/>
    <p:sldId id="1394" r:id="rId41"/>
    <p:sldId id="1396" r:id="rId42"/>
    <p:sldId id="1414" r:id="rId43"/>
    <p:sldId id="1415" r:id="rId44"/>
    <p:sldId id="1397" r:id="rId45"/>
    <p:sldId id="1398" r:id="rId46"/>
    <p:sldId id="1347" r:id="rId47"/>
    <p:sldId id="1419" r:id="rId48"/>
    <p:sldId id="1420" r:id="rId49"/>
    <p:sldId id="1443" r:id="rId50"/>
    <p:sldId id="1448" r:id="rId51"/>
    <p:sldId id="1402" r:id="rId52"/>
    <p:sldId id="1405" r:id="rId53"/>
    <p:sldId id="1406" r:id="rId54"/>
    <p:sldId id="1407" r:id="rId55"/>
    <p:sldId id="1411" r:id="rId56"/>
    <p:sldId id="1422" r:id="rId57"/>
    <p:sldId id="1417" r:id="rId58"/>
    <p:sldId id="1418" r:id="rId59"/>
    <p:sldId id="1423" r:id="rId60"/>
    <p:sldId id="1449" r:id="rId61"/>
    <p:sldId id="1424" r:id="rId62"/>
    <p:sldId id="1425" r:id="rId63"/>
    <p:sldId id="1427" r:id="rId64"/>
    <p:sldId id="1453" r:id="rId65"/>
  </p:sldIdLst>
  <p:sldSz cx="12192000" cy="6858000"/>
  <p:notesSz cx="6858000" cy="9144000"/>
  <p:custDataLst>
    <p:tags r:id="rId7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B26"/>
    <a:srgbClr val="B60206"/>
    <a:srgbClr val="AD2A26"/>
    <a:srgbClr val="8A8A8A"/>
    <a:srgbClr val="4C5252"/>
    <a:srgbClr val="F9F9F9"/>
    <a:srgbClr val="48504F"/>
    <a:srgbClr val="49504F"/>
    <a:srgbClr val="B70006"/>
    <a:srgbClr val="FFFF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81" autoAdjust="0"/>
    <p:restoredTop sz="92535" autoAdjust="0"/>
  </p:normalViewPr>
  <p:slideViewPr>
    <p:cSldViewPr snapToGrid="0">
      <p:cViewPr varScale="1">
        <p:scale>
          <a:sx n="114" d="100"/>
          <a:sy n="114" d="100"/>
        </p:scale>
        <p:origin x="552" y="168"/>
      </p:cViewPr>
      <p:guideLst/>
    </p:cSldViewPr>
  </p:slideViewPr>
  <p:notesTextViewPr>
    <p:cViewPr>
      <p:scale>
        <a:sx n="1" d="1"/>
        <a:sy n="1" d="1"/>
      </p:scale>
      <p:origin x="0" y="0"/>
    </p:cViewPr>
  </p:notesText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0" Type="http://schemas.openxmlformats.org/officeDocument/2006/relationships/tags" Target="tags/tag17.xml"/><Relationship Id="rId7" Type="http://schemas.openxmlformats.org/officeDocument/2006/relationships/slideMaster" Target="slideMasters/slideMaster6.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handoutMaster" Target="handoutMasters/handoutMaster1.xml"/><Relationship Id="rId65" Type="http://schemas.openxmlformats.org/officeDocument/2006/relationships/slide" Target="slides/slide56.xml"/><Relationship Id="rId64" Type="http://schemas.openxmlformats.org/officeDocument/2006/relationships/slide" Target="slides/slide55.xml"/><Relationship Id="rId63" Type="http://schemas.openxmlformats.org/officeDocument/2006/relationships/slide" Target="slides/slide54.xml"/><Relationship Id="rId62" Type="http://schemas.openxmlformats.org/officeDocument/2006/relationships/slide" Target="slides/slide53.xml"/><Relationship Id="rId61" Type="http://schemas.openxmlformats.org/officeDocument/2006/relationships/slide" Target="slides/slide52.xml"/><Relationship Id="rId60" Type="http://schemas.openxmlformats.org/officeDocument/2006/relationships/slide" Target="slides/slide51.xml"/><Relationship Id="rId6" Type="http://schemas.openxmlformats.org/officeDocument/2006/relationships/slideMaster" Target="slideMasters/slideMaster5.xml"/><Relationship Id="rId59" Type="http://schemas.openxmlformats.org/officeDocument/2006/relationships/slide" Target="slides/slide50.xml"/><Relationship Id="rId58" Type="http://schemas.openxmlformats.org/officeDocument/2006/relationships/slide" Target="slides/slide49.xml"/><Relationship Id="rId57" Type="http://schemas.openxmlformats.org/officeDocument/2006/relationships/slide" Target="slides/slide48.xml"/><Relationship Id="rId56" Type="http://schemas.openxmlformats.org/officeDocument/2006/relationships/slide" Target="slides/slide47.xml"/><Relationship Id="rId55" Type="http://schemas.openxmlformats.org/officeDocument/2006/relationships/slide" Target="slides/slide46.xml"/><Relationship Id="rId54" Type="http://schemas.openxmlformats.org/officeDocument/2006/relationships/slide" Target="slides/slide45.xml"/><Relationship Id="rId53" Type="http://schemas.openxmlformats.org/officeDocument/2006/relationships/slide" Target="slides/slide44.xml"/><Relationship Id="rId52" Type="http://schemas.openxmlformats.org/officeDocument/2006/relationships/slide" Target="slides/slide43.xml"/><Relationship Id="rId51" Type="http://schemas.openxmlformats.org/officeDocument/2006/relationships/slide" Target="slides/slide42.xml"/><Relationship Id="rId50" Type="http://schemas.openxmlformats.org/officeDocument/2006/relationships/slide" Target="slides/slide41.xml"/><Relationship Id="rId5" Type="http://schemas.openxmlformats.org/officeDocument/2006/relationships/slideMaster" Target="slideMasters/slideMaster4.xml"/><Relationship Id="rId49" Type="http://schemas.openxmlformats.org/officeDocument/2006/relationships/slide" Target="slides/slide40.xml"/><Relationship Id="rId48" Type="http://schemas.openxmlformats.org/officeDocument/2006/relationships/slide" Target="slides/slide39.xml"/><Relationship Id="rId47" Type="http://schemas.openxmlformats.org/officeDocument/2006/relationships/slide" Target="slides/slide38.xml"/><Relationship Id="rId46" Type="http://schemas.openxmlformats.org/officeDocument/2006/relationships/slide" Target="slides/slide37.xml"/><Relationship Id="rId45" Type="http://schemas.openxmlformats.org/officeDocument/2006/relationships/slide" Target="slides/slide36.xml"/><Relationship Id="rId44" Type="http://schemas.openxmlformats.org/officeDocument/2006/relationships/slide" Target="slides/slide35.xml"/><Relationship Id="rId43" Type="http://schemas.openxmlformats.org/officeDocument/2006/relationships/slide" Target="slides/slide34.xml"/><Relationship Id="rId42" Type="http://schemas.openxmlformats.org/officeDocument/2006/relationships/slide" Target="slides/slide33.xml"/><Relationship Id="rId41" Type="http://schemas.openxmlformats.org/officeDocument/2006/relationships/slide" Target="slides/slide32.xml"/><Relationship Id="rId40" Type="http://schemas.openxmlformats.org/officeDocument/2006/relationships/slide" Target="slides/slide31.xml"/><Relationship Id="rId4" Type="http://schemas.openxmlformats.org/officeDocument/2006/relationships/slideMaster" Target="slideMasters/slideMaster3.xml"/><Relationship Id="rId39" Type="http://schemas.openxmlformats.org/officeDocument/2006/relationships/slide" Target="slides/slide30.xml"/><Relationship Id="rId38" Type="http://schemas.openxmlformats.org/officeDocument/2006/relationships/slide" Target="slides/slide29.xml"/><Relationship Id="rId37" Type="http://schemas.openxmlformats.org/officeDocument/2006/relationships/slide" Target="slides/slide28.xml"/><Relationship Id="rId36" Type="http://schemas.openxmlformats.org/officeDocument/2006/relationships/slide" Target="slides/slide27.xml"/><Relationship Id="rId35" Type="http://schemas.openxmlformats.org/officeDocument/2006/relationships/slide" Target="slides/slide26.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notesMaster" Target="notesMasters/notesMaster1.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49598" cy="385054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4959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03185"/>
            <a:ext cx="10719120" cy="3819718"/>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8056"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28517"/>
            <a:ext cx="10748057" cy="3922461"/>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1612212"/>
            <a:ext cx="9845675" cy="4547802"/>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1000749"/>
            <a:ext cx="984567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8036"/>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618707"/>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7332"/>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7172"/>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8" Type="http://schemas.openxmlformats.org/officeDocument/2006/relationships/theme" Target="../theme/theme6.xml"/><Relationship Id="rId17" Type="http://schemas.openxmlformats.org/officeDocument/2006/relationships/image" Target="../media/image7.svg"/><Relationship Id="rId16" Type="http://schemas.openxmlformats.org/officeDocument/2006/relationships/image" Target="../media/image6.png"/><Relationship Id="rId15" Type="http://schemas.openxmlformats.org/officeDocument/2006/relationships/slideLayout" Target="../slideLayouts/slideLayout20.xml"/><Relationship Id="rId14" Type="http://schemas.openxmlformats.org/officeDocument/2006/relationships/slideLayout" Target="../slideLayouts/slideLayout19.xml"/><Relationship Id="rId13" Type="http://schemas.openxmlformats.org/officeDocument/2006/relationships/slideLayout" Target="../slideLayouts/slideLayout18.xml"/><Relationship Id="rId12" Type="http://schemas.openxmlformats.org/officeDocument/2006/relationships/slideLayout" Target="../slideLayouts/slideLayout17.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image" Target="../media/image8.png"/><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3018" y="5296483"/>
            <a:ext cx="3565964" cy="58207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1"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9" name="图形 8"/>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endParaRPr>
          </a:p>
        </p:txBody>
      </p:sp>
      <p:pic>
        <p:nvPicPr>
          <p:cNvPr id="12" name="图形 11"/>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9871" y="-85784"/>
            <a:ext cx="2666725" cy="1174541"/>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11989" y="2322246"/>
            <a:ext cx="3168023" cy="1308460"/>
          </a:xfrm>
          <a:prstGeom prst="rect">
            <a:avLst/>
          </a:prstGeom>
        </p:spPr>
      </p:pic>
    </p:spTree>
  </p:cSld>
  <p:clrMap bg1="lt1" tx1="dk1" bg2="lt2" tx2="dk2" accent1="accent1" accent2="accent2" accent3="accent3" accent4="accent4" accent5="accent5" accent6="accent6" hlink="hlink" folHlink="folHlink"/>
  <p:sldLayoutIdLst>
    <p:sldLayoutId id="2147483675"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0.xml"/><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image" Target="../media/image9.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0.xml"/><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0.xml"/><Relationship Id="rId2" Type="http://schemas.openxmlformats.org/officeDocument/2006/relationships/image" Target="../media/image18.png"/><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image" Target="../media/image23.wmf"/><Relationship Id="rId7" Type="http://schemas.openxmlformats.org/officeDocument/2006/relationships/oleObject" Target="../embeddings/oleObject3.bin"/><Relationship Id="rId6" Type="http://schemas.openxmlformats.org/officeDocument/2006/relationships/image" Target="../media/image22.wmf"/><Relationship Id="rId5" Type="http://schemas.openxmlformats.org/officeDocument/2006/relationships/oleObject" Target="../embeddings/oleObject2.bin"/><Relationship Id="rId4" Type="http://schemas.openxmlformats.org/officeDocument/2006/relationships/image" Target="../media/image21.wmf"/><Relationship Id="rId3" Type="http://schemas.openxmlformats.org/officeDocument/2006/relationships/oleObject" Target="../embeddings/oleObject1.bin"/><Relationship Id="rId2" Type="http://schemas.openxmlformats.org/officeDocument/2006/relationships/image" Target="../media/image20.jpeg"/><Relationship Id="rId11" Type="http://schemas.openxmlformats.org/officeDocument/2006/relationships/notesSlide" Target="../notesSlides/notesSlide5.xml"/><Relationship Id="rId10" Type="http://schemas.openxmlformats.org/officeDocument/2006/relationships/vmlDrawing" Target="../drawings/vmlDrawing1.vml"/><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18.xml"/><Relationship Id="rId6" Type="http://schemas.openxmlformats.org/officeDocument/2006/relationships/image" Target="../media/image23.wmf"/><Relationship Id="rId5" Type="http://schemas.openxmlformats.org/officeDocument/2006/relationships/oleObject" Target="../embeddings/oleObject6.bin"/><Relationship Id="rId4" Type="http://schemas.openxmlformats.org/officeDocument/2006/relationships/image" Target="../media/image22.wmf"/><Relationship Id="rId3" Type="http://schemas.openxmlformats.org/officeDocument/2006/relationships/oleObject" Target="../embeddings/oleObject5.bin"/><Relationship Id="rId2" Type="http://schemas.openxmlformats.org/officeDocument/2006/relationships/image" Target="../media/image21.wmf"/><Relationship Id="rId1"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0.xml"/><Relationship Id="rId2" Type="http://schemas.openxmlformats.org/officeDocument/2006/relationships/image" Target="../media/image25.png"/><Relationship Id="rId1"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0.xml"/><Relationship Id="rId2" Type="http://schemas.openxmlformats.org/officeDocument/2006/relationships/image" Target="../media/image28.png"/><Relationship Id="rId1" Type="http://schemas.openxmlformats.org/officeDocument/2006/relationships/image" Target="../media/image27.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0.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0.xml"/><Relationship Id="rId3" Type="http://schemas.openxmlformats.org/officeDocument/2006/relationships/image" Target="../media/image33.png"/><Relationship Id="rId2" Type="http://schemas.openxmlformats.org/officeDocument/2006/relationships/image" Target="../media/image30.png"/><Relationship Id="rId1"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0.xml"/><Relationship Id="rId2" Type="http://schemas.openxmlformats.org/officeDocument/2006/relationships/image" Target="../media/image36.png"/><Relationship Id="rId1" Type="http://schemas.openxmlformats.org/officeDocument/2006/relationships/image" Target="../media/image3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0.xml"/><Relationship Id="rId2" Type="http://schemas.openxmlformats.org/officeDocument/2006/relationships/image" Target="../media/image38.png"/><Relationship Id="rId1" Type="http://schemas.openxmlformats.org/officeDocument/2006/relationships/image" Target="../media/image3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slideLayout" Target="../slideLayouts/slideLayout10.xml"/><Relationship Id="rId7" Type="http://schemas.openxmlformats.org/officeDocument/2006/relationships/image" Target="../media/image40.png"/><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3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0.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image" Target="../media/image4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image" Target="../media/image43.png"/><Relationship Id="rId6" Type="http://schemas.openxmlformats.org/officeDocument/2006/relationships/image" Target="../media/image42.png"/><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1" Type="http://schemas.openxmlformats.org/officeDocument/2006/relationships/slideLayout" Target="../slideLayouts/slideLayout18.xml"/><Relationship Id="rId10" Type="http://schemas.openxmlformats.org/officeDocument/2006/relationships/image" Target="../media/image44.png"/><Relationship Id="rId1"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image" Target="../media/image4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image" Target="../media/image45.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0.xml"/><Relationship Id="rId2" Type="http://schemas.openxmlformats.org/officeDocument/2006/relationships/image" Target="../media/image47.png"/><Relationship Id="rId1" Type="http://schemas.openxmlformats.org/officeDocument/2006/relationships/image" Target="../media/image46.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image" Target="../media/image48.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image" Target="../media/image49.png"/></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0.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逻辑回归</a:t>
            </a:r>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86905" y="1139011"/>
            <a:ext cx="7228417" cy="5718989"/>
          </a:xfrm>
        </p:spPr>
        <p:txBody>
          <a:bodyPr anchor="t"/>
          <a:lstStyle/>
          <a:p>
            <a:r>
              <a:rPr lang="zh-CN" altLang="en-US" dirty="0">
                <a:solidFill>
                  <a:schemeClr val="accent2">
                    <a:lumMod val="75000"/>
                  </a:schemeClr>
                </a:solidFill>
                <a:latin typeface="Alibaba PuHuiTi" pitchFamily="18" charset="-122"/>
                <a:ea typeface="Alibaba PuHuiTi" pitchFamily="18" charset="-122"/>
                <a:cs typeface="Alibaba PuHuiTi" pitchFamily="18" charset="-122"/>
              </a:rPr>
              <a:t>逻辑回归简介</a:t>
            </a:r>
            <a:endParaRPr lang="en-US" altLang="zh-CN" dirty="0">
              <a:solidFill>
                <a:schemeClr val="accent2">
                  <a:lumMod val="75000"/>
                </a:schemeClr>
              </a:solidFill>
              <a:latin typeface="Alibaba PuHuiTi" pitchFamily="18" charset="-122"/>
              <a:ea typeface="Alibaba PuHuiTi" pitchFamily="18" charset="-122"/>
              <a:cs typeface="Alibaba PuHuiTi" pitchFamily="18" charset="-122"/>
            </a:endParaRPr>
          </a:p>
          <a:p>
            <a:pPr lvl="1"/>
            <a:r>
              <a:rPr lang="zh-CN" altLang="en-US" b="0" dirty="0">
                <a:solidFill>
                  <a:schemeClr val="accent2">
                    <a:lumMod val="75000"/>
                  </a:schemeClr>
                </a:solidFill>
                <a:latin typeface="Alibaba PuHuiTi" pitchFamily="18" charset="-122"/>
                <a:ea typeface="Alibaba PuHuiTi" pitchFamily="18" charset="-122"/>
                <a:cs typeface="Alibaba PuHuiTi" pitchFamily="18" charset="-122"/>
              </a:rPr>
              <a:t>应用场景，数学知识</a:t>
            </a:r>
            <a:endParaRPr lang="en-US" altLang="zh-CN" b="0" dirty="0">
              <a:solidFill>
                <a:schemeClr val="accent2">
                  <a:lumMod val="75000"/>
                </a:schemeClr>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逻辑回归原理</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逻辑回归</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API</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函数和案例 </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分类问题评估</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r>
              <a:rPr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混淆矩阵、精确率、召回率、</a:t>
            </a:r>
            <a:r>
              <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rPr>
              <a:t>F1-score</a:t>
            </a:r>
            <a:r>
              <a:rPr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rPr>
              <a:t>AUC</a:t>
            </a:r>
            <a:r>
              <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指标、</a:t>
            </a:r>
            <a:r>
              <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rPr>
              <a:t>ROC</a:t>
            </a:r>
            <a:r>
              <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曲线 </a:t>
            </a:r>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电信客户流失预测案例</a:t>
            </a:r>
            <a:endPar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lgn="l"/>
            <a:r>
              <a:rPr lang="zh-CN" altLang="en-US" b="0" i="0" u="none" strike="noStrike" dirty="0">
                <a:solidFill>
                  <a:srgbClr val="333333"/>
                </a:solidFill>
                <a:effectLst/>
                <a:latin typeface="Open Sans" panose="020B0606030504020204" pitchFamily="34" charset="0"/>
              </a:rPr>
              <a:t>知道逻辑回归的应用场景</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复习逻辑回归应用到的数学知识</a:t>
            </a:r>
            <a:endParaRPr lang="zh-CN" altLang="en-US" b="0" i="0" u="none" strike="noStrike" dirty="0">
              <a:solidFill>
                <a:srgbClr val="333333"/>
              </a:solidFill>
              <a:effectLst/>
              <a:latin typeface="Open Sans" panose="020B0606030504020204" pitchFamily="34" charset="0"/>
            </a:endParaRPr>
          </a:p>
          <a:p>
            <a:pPr marL="0" indent="0">
              <a:buNone/>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7802500" cy="412652"/>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逻辑回归的应用场景</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16333" y="1431895"/>
            <a:ext cx="2935179" cy="2141227"/>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1716334" y="3620158"/>
            <a:ext cx="275734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预测疾病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（是阳性、不是阳性）</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7" name="图片 6"/>
          <p:cNvPicPr>
            <a:picLocks noChangeAspect="1"/>
          </p:cNvPicPr>
          <p:nvPr/>
        </p:nvPicPr>
        <p:blipFill>
          <a:blip r:embed="rId2"/>
          <a:stretch>
            <a:fillRect/>
          </a:stretch>
        </p:blipFill>
        <p:spPr>
          <a:xfrm>
            <a:off x="6904277" y="1376079"/>
            <a:ext cx="2508664" cy="2141227"/>
          </a:xfrm>
          <a:prstGeom prst="rect">
            <a:avLst/>
          </a:prstGeom>
        </p:spPr>
      </p:pic>
      <p:sp>
        <p:nvSpPr>
          <p:cNvPr id="9" name="文本框 8"/>
          <p:cNvSpPr txBox="1"/>
          <p:nvPr/>
        </p:nvSpPr>
        <p:spPr>
          <a:xfrm>
            <a:off x="6766635" y="3583663"/>
            <a:ext cx="313040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银行信任贷款</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（放贷、还是不放贷）</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334" y="3974972"/>
            <a:ext cx="2935178" cy="186114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1676432" y="5940650"/>
            <a:ext cx="275734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情感分析 </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（正面、负面）</a:t>
            </a:r>
            <a:endPar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pic>
        <p:nvPicPr>
          <p:cNvPr id="10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4276" y="4036260"/>
            <a:ext cx="2585554" cy="1799852"/>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p:cNvSpPr txBox="1"/>
          <p:nvPr/>
        </p:nvSpPr>
        <p:spPr>
          <a:xfrm>
            <a:off x="6904277" y="5940649"/>
            <a:ext cx="275734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预测广告点击率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（点击、不点击）</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5" name="文本框 14"/>
          <p:cNvSpPr txBox="1"/>
          <p:nvPr/>
        </p:nvSpPr>
        <p:spPr>
          <a:xfrm>
            <a:off x="2541064" y="6394453"/>
            <a:ext cx="817624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逻辑回归是解决</a:t>
            </a:r>
            <a:r>
              <a:rPr kumimoji="0" lang="zh-CN" altLang="en-US" sz="16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二分类问题</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的利器，你还能想到哪些二分类的场景？</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逻辑回归数学基础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sigmoid</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函数</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905510" y="1283335"/>
            <a:ext cx="9989185" cy="4997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buFont typeface="Arial" panose="020B0604020202020204" pitchFamily="34" charset="0"/>
              <a:defRPr/>
            </a:pPr>
            <a:r>
              <a:rPr lang="zh-CN" altLang="en-US" dirty="0">
                <a:solidFill>
                  <a:schemeClr val="tx1">
                    <a:lumMod val="65000"/>
                    <a:lumOff val="35000"/>
                  </a:schemeClr>
                </a:solidFill>
                <a:latin typeface="+mn-lt"/>
                <a:ea typeface="+mn-ea"/>
                <a:sym typeface="+mn-ea"/>
              </a:rPr>
              <a:t>逻辑回归</a:t>
            </a:r>
            <a:r>
              <a:rPr lang="en-US" altLang="zh-CN" dirty="0">
                <a:solidFill>
                  <a:schemeClr val="tx1">
                    <a:lumMod val="65000"/>
                    <a:lumOff val="35000"/>
                  </a:schemeClr>
                </a:solidFill>
                <a:latin typeface="+mn-lt"/>
                <a:ea typeface="+mn-ea"/>
                <a:sym typeface="+mn-ea"/>
              </a:rPr>
              <a:t>(Logistic Regression)</a:t>
            </a:r>
            <a:r>
              <a:rPr lang="zh-CN" altLang="en-US" dirty="0">
                <a:solidFill>
                  <a:schemeClr val="tx1">
                    <a:lumMod val="65000"/>
                    <a:lumOff val="35000"/>
                  </a:schemeClr>
                </a:solidFill>
                <a:latin typeface="+mn-lt"/>
                <a:ea typeface="+mn-ea"/>
                <a:sym typeface="+mn-ea"/>
              </a:rPr>
              <a:t>通过将线性回归的输出映射到</a:t>
            </a:r>
            <a:r>
              <a:rPr lang="en-US" altLang="zh-CN" dirty="0">
                <a:solidFill>
                  <a:schemeClr val="tx1">
                    <a:lumMod val="65000"/>
                    <a:lumOff val="35000"/>
                  </a:schemeClr>
                </a:solidFill>
                <a:latin typeface="+mn-lt"/>
                <a:ea typeface="+mn-ea"/>
                <a:sym typeface="+mn-ea"/>
              </a:rPr>
              <a:t>(0,1)</a:t>
            </a:r>
            <a:r>
              <a:rPr lang="zh-CN" altLang="en-US" dirty="0">
                <a:solidFill>
                  <a:schemeClr val="tx1">
                    <a:lumMod val="65000"/>
                    <a:lumOff val="35000"/>
                  </a:schemeClr>
                </a:solidFill>
                <a:latin typeface="+mn-lt"/>
                <a:ea typeface="+mn-ea"/>
                <a:sym typeface="+mn-ea"/>
              </a:rPr>
              <a:t>区间，使用</a:t>
            </a:r>
            <a:r>
              <a:rPr lang="en-US" altLang="zh-CN" dirty="0">
                <a:solidFill>
                  <a:schemeClr val="tx1">
                    <a:lumMod val="65000"/>
                    <a:lumOff val="35000"/>
                  </a:schemeClr>
                </a:solidFill>
                <a:latin typeface="+mn-lt"/>
                <a:ea typeface="+mn-ea"/>
                <a:sym typeface="+mn-ea"/>
              </a:rPr>
              <a:t>Sigmoid</a:t>
            </a:r>
            <a:r>
              <a:rPr lang="zh-CN" altLang="en-US" dirty="0">
                <a:solidFill>
                  <a:schemeClr val="tx1">
                    <a:lumMod val="65000"/>
                    <a:lumOff val="35000"/>
                  </a:schemeClr>
                </a:solidFill>
                <a:latin typeface="+mn-lt"/>
                <a:ea typeface="+mn-ea"/>
                <a:sym typeface="+mn-ea"/>
              </a:rPr>
              <a:t>函数将连续值转换为概率值，然后根据概率值进行分类预测。</a:t>
            </a:r>
            <a:endParaRPr lang="zh-CN" altLang="en-US" dirty="0">
              <a:solidFill>
                <a:schemeClr val="tx1">
                  <a:lumMod val="65000"/>
                  <a:lumOff val="35000"/>
                </a:schemeClr>
              </a:solidFill>
              <a:latin typeface="+mn-lt"/>
              <a:ea typeface="+mn-ea"/>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8" name="图片 7"/>
          <p:cNvPicPr>
            <a:picLocks noChangeAspect="1"/>
          </p:cNvPicPr>
          <p:nvPr/>
        </p:nvPicPr>
        <p:blipFill>
          <a:blip r:embed="rId1"/>
          <a:stretch>
            <a:fillRect/>
          </a:stretch>
        </p:blipFill>
        <p:spPr>
          <a:xfrm>
            <a:off x="3101185" y="2062856"/>
            <a:ext cx="1420289" cy="605903"/>
          </a:xfrm>
          <a:prstGeom prst="rect">
            <a:avLst/>
          </a:prstGeom>
        </p:spPr>
      </p:pic>
      <p:sp>
        <p:nvSpPr>
          <p:cNvPr id="9" name="文本占位符 2"/>
          <p:cNvSpPr txBox="1"/>
          <p:nvPr/>
        </p:nvSpPr>
        <p:spPr>
          <a:xfrm>
            <a:off x="1598953" y="4810306"/>
            <a:ext cx="5199412" cy="89490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10" name="文本占位符 2"/>
          <p:cNvSpPr txBox="1"/>
          <p:nvPr/>
        </p:nvSpPr>
        <p:spPr>
          <a:xfrm>
            <a:off x="1545590" y="2120265"/>
            <a:ext cx="1668780" cy="4235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Sigmoid</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函数</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11" name="文本占位符 2"/>
          <p:cNvSpPr txBox="1"/>
          <p:nvPr/>
        </p:nvSpPr>
        <p:spPr>
          <a:xfrm>
            <a:off x="1598952" y="5441580"/>
            <a:ext cx="1548045" cy="42368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导函数公式</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12" name="文本占位符 2"/>
              <p:cNvSpPr txBox="1"/>
              <p:nvPr/>
            </p:nvSpPr>
            <p:spPr>
              <a:xfrm>
                <a:off x="3176905" y="5438775"/>
                <a:ext cx="5026660" cy="89471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14:m>
                  <m:oMath xmlns:m="http://schemas.openxmlformats.org/officeDocument/2006/math">
                    <m:sSup>
                      <m:sSupPr>
                        <m:ctrlP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sSupPr>
                      <m:e>
                        <m: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𝑓</m:t>
                        </m:r>
                      </m:e>
                      <m:sup>
                        <m: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m:t>
                        </m:r>
                      </m:sup>
                    </m:sSup>
                  </m:oMath>
                </a14:m>
                <a:r>
                  <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(x)</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f(x)(1</a:t>
                </a:r>
                <a:r>
                  <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f(x))</a:t>
                </a:r>
                <a:r>
                  <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 </a:t>
                </a:r>
                <a:endPar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zh-CN" altLang="en-US" sz="1400" b="0" i="0" u="none" strike="noStrike" kern="1200" cap="none" spc="0" normalizeH="0" baseline="0" noProof="0" dirty="0">
                    <a:ln>
                      <a:noFill/>
                    </a:ln>
                    <a:solidFill>
                      <a:schemeClr val="tx1"/>
                    </a:solidFill>
                    <a:effectLst/>
                    <a:uLnTx/>
                    <a:uFillTx/>
                    <a:latin typeface="Roboto" panose="02000000000000000000" pitchFamily="2" charset="0"/>
                    <a:ea typeface="Alibaba PuHuiTi" pitchFamily="18" charset="-122"/>
                    <a:cs typeface="Alibaba PuHuiTi" pitchFamily="18" charset="-122"/>
                  </a:rPr>
                  <a:t>这个导数公式在计算梯度下降等优化算法时非常有用</a:t>
                </a:r>
                <a:r>
                  <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   </a:t>
                </a:r>
                <a:endParaRPr kumimoji="0" lang="en-US" altLang="zh-CN"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endParaRPr>
              </a:p>
            </p:txBody>
          </p:sp>
        </mc:Choice>
        <mc:Fallback>
          <p:sp>
            <p:nvSpPr>
              <p:cNvPr id="12" name="文本占位符 2"/>
              <p:cNvSpPr txBox="1">
                <a:spLocks noRot="1" noChangeAspect="1" noMove="1" noResize="1" noEditPoints="1" noAdjustHandles="1" noChangeArrowheads="1" noChangeShapeType="1" noTextEdit="1"/>
              </p:cNvSpPr>
              <p:nvPr/>
            </p:nvSpPr>
            <p:spPr>
              <a:xfrm>
                <a:off x="3176905" y="5438775"/>
                <a:ext cx="5026660" cy="894715"/>
              </a:xfrm>
              <a:prstGeom prst="rect">
                <a:avLst/>
              </a:prstGeom>
              <a:blipFill rotWithShape="1">
                <a:blip r:embed="rId2"/>
                <a:stretch>
                  <a:fillRect/>
                </a:stretch>
              </a:blipFill>
            </p:spPr>
            <p:txBody>
              <a:bodyPr/>
              <a:lstStyle/>
              <a:p>
                <a:r>
                  <a:rPr lang="zh-CN" altLang="en-US">
                    <a:noFill/>
                  </a:rPr>
                  <a:t> </a:t>
                </a:r>
              </a:p>
            </p:txBody>
          </p:sp>
        </mc:Fallback>
      </mc:AlternateContent>
      <p:sp>
        <p:nvSpPr>
          <p:cNvPr id="13" name="文本占位符 2"/>
          <p:cNvSpPr txBox="1"/>
          <p:nvPr/>
        </p:nvSpPr>
        <p:spPr>
          <a:xfrm>
            <a:off x="1529380" y="2995817"/>
            <a:ext cx="4168202" cy="36842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作用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       把</a:t>
            </a:r>
            <a:r>
              <a:rPr kumimoji="0" lang="en-US" altLang="zh-CN"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映射到 </a:t>
            </a:r>
            <a:r>
              <a:rPr kumimoji="0" lang="en-US" altLang="zh-CN"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(0</a:t>
            </a:r>
            <a:r>
              <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1)</a:t>
            </a:r>
            <a:endPar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endParaRPr>
          </a:p>
        </p:txBody>
      </p:sp>
      <p:pic>
        <p:nvPicPr>
          <p:cNvPr id="20" name="图片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2234668"/>
            <a:ext cx="3580197" cy="2388663"/>
          </a:xfrm>
          <a:prstGeom prst="rect">
            <a:avLst/>
          </a:prstGeom>
        </p:spPr>
      </p:pic>
      <p:sp>
        <p:nvSpPr>
          <p:cNvPr id="21" name="文本占位符 2"/>
          <p:cNvSpPr txBox="1"/>
          <p:nvPr/>
        </p:nvSpPr>
        <p:spPr>
          <a:xfrm>
            <a:off x="3147060" y="3746500"/>
            <a:ext cx="5639435" cy="120078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marR="0" lvl="0" algn="l" defTabSz="914400" rtl="0" eaLnBrk="0" fontAlgn="base" latinLnBrk="0" hangingPunct="0">
              <a:lnSpc>
                <a:spcPct val="150000"/>
              </a:lnSpc>
              <a:spcBef>
                <a:spcPct val="20000"/>
              </a:spcBef>
              <a:buClrTx/>
              <a:buSzTx/>
              <a:buFont typeface="Arial" panose="020B0604020202020204" pitchFamily="34" charset="0"/>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单调递增函数</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a:p>
            <a:pPr marL="0" marR="0" lvl="0" algn="l" defTabSz="914400" rtl="0" eaLnBrk="0" fontAlgn="base" latinLnBrk="0" hangingPunct="0">
              <a:lnSpc>
                <a:spcPct val="150000"/>
              </a:lnSpc>
              <a:spcBef>
                <a:spcPct val="20000"/>
              </a:spcBef>
              <a:buClrTx/>
              <a:buSzTx/>
              <a:buFont typeface="Arial" panose="020B0604020202020204" pitchFamily="34" charset="0"/>
              <a:buNone/>
              <a:defRPr/>
            </a:pPr>
            <a:r>
              <a:rPr lang="zh-CN" altLang="en-US" sz="1400" b="0" i="0" u="none" strike="noStrike"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拐点在x=0时y=0.5的位置</a:t>
            </a:r>
            <a:r>
              <a:rPr lang="en-US" altLang="zh-CN" sz="1400" b="0" i="0" u="none" strike="noStrike"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a:t>
            </a:r>
            <a:r>
              <a:rPr lang="zh-CN" altLang="en-US" sz="1400" b="0" i="0" u="none" strike="noStrike"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此时斜率最大</a:t>
            </a:r>
            <a:endParaRPr lang="zh-CN" altLang="en-US" sz="1400" b="0" i="0" u="none" strike="noStrike"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a:p>
            <a:pPr marL="0" marR="0" lvl="0" algn="l" defTabSz="914400" rtl="0" eaLnBrk="0" fontAlgn="base" latinLnBrk="0" hangingPunct="0">
              <a:lnSpc>
                <a:spcPct val="150000"/>
              </a:lnSpc>
              <a:spcBef>
                <a:spcPct val="20000"/>
              </a:spcBef>
              <a:buClrTx/>
              <a:buSzTx/>
              <a:buFont typeface="Arial" panose="020B0604020202020204" pitchFamily="34" charset="0"/>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当 f(x)&gt;0.5时，预测结果为1；</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a:p>
            <a:pPr marL="0" marR="0" lvl="0" algn="l" defTabSz="914400" rtl="0" eaLnBrk="0" fontAlgn="base" latinLnBrk="0" hangingPunct="0">
              <a:lnSpc>
                <a:spcPct val="150000"/>
              </a:lnSpc>
              <a:spcBef>
                <a:spcPct val="20000"/>
              </a:spcBef>
              <a:buClrTx/>
              <a:buSzTx/>
              <a:buFont typeface="Arial" panose="020B0604020202020204" pitchFamily="34" charset="0"/>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当 f(x)&lt;0.5 时，预测结果为</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0</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22" name="文本占位符 2"/>
          <p:cNvSpPr txBox="1"/>
          <p:nvPr/>
        </p:nvSpPr>
        <p:spPr>
          <a:xfrm>
            <a:off x="1529380" y="3746562"/>
            <a:ext cx="1362908" cy="42368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数学性质</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逻辑回归数学基础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概率</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6" name="文本占位符 2"/>
          <p:cNvSpPr txBox="1"/>
          <p:nvPr/>
        </p:nvSpPr>
        <p:spPr>
          <a:xfrm>
            <a:off x="1003300" y="1343025"/>
            <a:ext cx="10537825" cy="147002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边际概率 </a:t>
            </a:r>
            <a:r>
              <a:rPr lang="en-US" altLang="zh-CN"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a:t>
            </a: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 描述的是单一</a:t>
            </a:r>
            <a:r>
              <a:rPr lang="zh-CN" altLang="en-US" sz="1400" noProof="0" dirty="0">
                <a:ln>
                  <a:noFill/>
                </a:ln>
                <a:solidFill>
                  <a:srgbClr val="C00000"/>
                </a:solidFill>
                <a:effectLst/>
                <a:uLnTx/>
                <a:uFillTx/>
                <a:latin typeface="Alibaba PuHuiTi" pitchFamily="18" charset="-122"/>
                <a:ea typeface="Alibaba PuHuiTi" pitchFamily="18" charset="-122"/>
                <a:cs typeface="Alibaba PuHuiTi" pitchFamily="18" charset="-122"/>
                <a:sym typeface="+mn-ea"/>
              </a:rPr>
              <a:t>事件发生的可能性</a:t>
            </a:r>
            <a:r>
              <a:rPr lang="en-US" altLang="zh-CN" sz="1400" noProof="0" dirty="0">
                <a:ln>
                  <a:noFill/>
                </a:ln>
                <a:solidFill>
                  <a:srgbClr val="C00000"/>
                </a:solidFill>
                <a:effectLst/>
                <a:uLnTx/>
                <a:uFillTx/>
                <a:latin typeface="Alibaba PuHuiTi" pitchFamily="18" charset="-122"/>
                <a:ea typeface="Alibaba PuHuiTi" pitchFamily="18" charset="-122"/>
                <a:cs typeface="Alibaba PuHuiTi" pitchFamily="18" charset="-122"/>
                <a:sym typeface="+mn-ea"/>
              </a:rPr>
              <a:t>: </a:t>
            </a:r>
            <a:r>
              <a:rPr lang="en-US" altLang="zh-CN"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  </a:t>
            </a: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记作</a:t>
            </a:r>
            <a:r>
              <a:rPr lang="en-US" altLang="zh-CN"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P(A) </a:t>
            </a: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或者</a:t>
            </a:r>
            <a:r>
              <a:rPr lang="en-US" altLang="zh-CN"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 P(B)</a:t>
            </a:r>
            <a:endParaRPr lang="en-US" altLang="zh-CN"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联合概率 </a:t>
            </a:r>
            <a:r>
              <a:rPr lang="en-US" altLang="zh-CN"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a:t>
            </a: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 </a:t>
            </a:r>
            <a:r>
              <a:rPr lang="zh-CN" altLang="en-US" sz="1400" noProof="0" dirty="0">
                <a:ln>
                  <a:noFill/>
                </a:ln>
                <a:solidFill>
                  <a:schemeClr val="tx1"/>
                </a:solidFill>
                <a:effectLst/>
                <a:uLnTx/>
                <a:uFillTx/>
                <a:latin typeface="Alibaba PuHuiTi" pitchFamily="18" charset="-122"/>
                <a:ea typeface="Alibaba PuHuiTi" pitchFamily="18" charset="-122"/>
                <a:cs typeface="Alibaba PuHuiTi" pitchFamily="18" charset="-122"/>
                <a:sym typeface="+mn-ea"/>
              </a:rPr>
              <a:t>描述的是两个或多个</a:t>
            </a:r>
            <a:r>
              <a:rPr lang="zh-CN" altLang="en-US" sz="1400" noProof="0" dirty="0">
                <a:ln>
                  <a:noFill/>
                </a:ln>
                <a:solidFill>
                  <a:srgbClr val="C00000"/>
                </a:solidFill>
                <a:effectLst/>
                <a:uLnTx/>
                <a:uFillTx/>
                <a:latin typeface="Alibaba PuHuiTi" pitchFamily="18" charset="-122"/>
                <a:ea typeface="Alibaba PuHuiTi" pitchFamily="18" charset="-122"/>
                <a:cs typeface="Alibaba PuHuiTi" pitchFamily="18" charset="-122"/>
                <a:sym typeface="+mn-ea"/>
              </a:rPr>
              <a:t>独立事件同时发生的概率</a:t>
            </a:r>
            <a:r>
              <a:rPr lang="en-US" altLang="zh-CN" sz="140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sym typeface="+mn-ea"/>
              </a:rPr>
              <a:t>:</a:t>
            </a:r>
            <a:r>
              <a:rPr lang="zh-CN" altLang="en-US" sz="1400" noProof="0" dirty="0">
                <a:ln>
                  <a:noFill/>
                </a:ln>
                <a:solidFill>
                  <a:schemeClr val="tx1"/>
                </a:solidFill>
                <a:effectLst/>
                <a:uLnTx/>
                <a:uFillTx/>
                <a:latin typeface="Alibaba PuHuiTi" pitchFamily="18" charset="-122"/>
                <a:ea typeface="Alibaba PuHuiTi" pitchFamily="18" charset="-122"/>
                <a:cs typeface="Alibaba PuHuiTi" pitchFamily="18" charset="-122"/>
                <a:sym typeface="+mn-ea"/>
              </a:rPr>
              <a:t>记作</a:t>
            </a:r>
            <a:r>
              <a:rPr lang="en-US" altLang="zh-CN" sz="1400" noProof="0" dirty="0">
                <a:ln>
                  <a:noFill/>
                </a:ln>
                <a:solidFill>
                  <a:schemeClr val="tx1"/>
                </a:solidFill>
                <a:effectLst/>
                <a:uLnTx/>
                <a:uFillTx/>
                <a:latin typeface="Alibaba PuHuiTi" pitchFamily="18" charset="-122"/>
                <a:ea typeface="Alibaba PuHuiTi" pitchFamily="18" charset="-122"/>
                <a:cs typeface="Alibaba PuHuiTi" pitchFamily="18" charset="-122"/>
                <a:sym typeface="+mn-ea"/>
              </a:rPr>
              <a:t> P(A∩B) </a:t>
            </a:r>
            <a:r>
              <a:rPr lang="zh-CN" altLang="en-US" sz="1400" noProof="0" dirty="0">
                <a:ln>
                  <a:noFill/>
                </a:ln>
                <a:solidFill>
                  <a:schemeClr val="tx1"/>
                </a:solidFill>
                <a:effectLst/>
                <a:uLnTx/>
                <a:uFillTx/>
                <a:latin typeface="Alibaba PuHuiTi" pitchFamily="18" charset="-122"/>
                <a:ea typeface="Alibaba PuHuiTi" pitchFamily="18" charset="-122"/>
                <a:cs typeface="Alibaba PuHuiTi" pitchFamily="18" charset="-122"/>
                <a:sym typeface="+mn-ea"/>
              </a:rPr>
              <a:t>或</a:t>
            </a:r>
            <a:r>
              <a:rPr lang="en-US" altLang="zh-CN" sz="1400" noProof="0" dirty="0">
                <a:ln>
                  <a:noFill/>
                </a:ln>
                <a:solidFill>
                  <a:schemeClr val="tx1"/>
                </a:solidFill>
                <a:effectLst/>
                <a:uLnTx/>
                <a:uFillTx/>
                <a:latin typeface="Alibaba PuHuiTi" pitchFamily="18" charset="-122"/>
                <a:ea typeface="Alibaba PuHuiTi" pitchFamily="18" charset="-122"/>
                <a:cs typeface="Alibaba PuHuiTi" pitchFamily="18" charset="-122"/>
                <a:sym typeface="+mn-ea"/>
              </a:rPr>
              <a:t> P(A,B)</a:t>
            </a:r>
            <a:endParaRPr lang="en-US" altLang="zh-CN"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条件概率 </a:t>
            </a:r>
            <a:r>
              <a:rPr lang="en-US" altLang="zh-CN"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a:t>
            </a: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描述的是在</a:t>
            </a:r>
            <a:r>
              <a:rPr lang="zh-CN" altLang="en-US" sz="1400" noProof="0" dirty="0">
                <a:ln>
                  <a:noFill/>
                </a:ln>
                <a:solidFill>
                  <a:srgbClr val="C00000"/>
                </a:solidFill>
                <a:effectLst/>
                <a:uLnTx/>
                <a:uFillTx/>
                <a:latin typeface="Alibaba PuHuiTi" pitchFamily="18" charset="-122"/>
                <a:ea typeface="Alibaba PuHuiTi" pitchFamily="18" charset="-122"/>
                <a:cs typeface="Alibaba PuHuiTi" pitchFamily="18" charset="-122"/>
                <a:sym typeface="+mn-ea"/>
              </a:rPr>
              <a:t>事件</a:t>
            </a:r>
            <a:r>
              <a:rPr lang="en-US" altLang="zh-CN" sz="1400" noProof="0" dirty="0">
                <a:ln>
                  <a:noFill/>
                </a:ln>
                <a:solidFill>
                  <a:srgbClr val="C00000"/>
                </a:solidFill>
                <a:effectLst/>
                <a:uLnTx/>
                <a:uFillTx/>
                <a:latin typeface="Alibaba PuHuiTi" pitchFamily="18" charset="-122"/>
                <a:ea typeface="Alibaba PuHuiTi" pitchFamily="18" charset="-122"/>
                <a:cs typeface="Alibaba PuHuiTi" pitchFamily="18" charset="-122"/>
                <a:sym typeface="+mn-ea"/>
              </a:rPr>
              <a:t>A</a:t>
            </a:r>
            <a:r>
              <a:rPr lang="zh-CN" altLang="en-US" sz="1400" noProof="0" dirty="0">
                <a:ln>
                  <a:noFill/>
                </a:ln>
                <a:solidFill>
                  <a:srgbClr val="C00000"/>
                </a:solidFill>
                <a:effectLst/>
                <a:uLnTx/>
                <a:uFillTx/>
                <a:latin typeface="Alibaba PuHuiTi" pitchFamily="18" charset="-122"/>
                <a:ea typeface="Alibaba PuHuiTi" pitchFamily="18" charset="-122"/>
                <a:cs typeface="Alibaba PuHuiTi" pitchFamily="18" charset="-122"/>
                <a:sym typeface="+mn-ea"/>
              </a:rPr>
              <a:t>已发生的条件下，事件</a:t>
            </a:r>
            <a:r>
              <a:rPr lang="en-US" altLang="zh-CN" sz="1400" noProof="0" dirty="0">
                <a:ln>
                  <a:noFill/>
                </a:ln>
                <a:solidFill>
                  <a:srgbClr val="C00000"/>
                </a:solidFill>
                <a:effectLst/>
                <a:uLnTx/>
                <a:uFillTx/>
                <a:latin typeface="Alibaba PuHuiTi" pitchFamily="18" charset="-122"/>
                <a:ea typeface="Alibaba PuHuiTi" pitchFamily="18" charset="-122"/>
                <a:cs typeface="Alibaba PuHuiTi" pitchFamily="18" charset="-122"/>
                <a:sym typeface="+mn-ea"/>
              </a:rPr>
              <a:t>B</a:t>
            </a:r>
            <a:r>
              <a:rPr lang="zh-CN" altLang="en-US" sz="1400" noProof="0" dirty="0">
                <a:ln>
                  <a:noFill/>
                </a:ln>
                <a:solidFill>
                  <a:srgbClr val="C00000"/>
                </a:solidFill>
                <a:effectLst/>
                <a:uLnTx/>
                <a:uFillTx/>
                <a:latin typeface="Alibaba PuHuiTi" pitchFamily="18" charset="-122"/>
                <a:ea typeface="Alibaba PuHuiTi" pitchFamily="18" charset="-122"/>
                <a:cs typeface="Alibaba PuHuiTi" pitchFamily="18" charset="-122"/>
                <a:sym typeface="+mn-ea"/>
              </a:rPr>
              <a:t>发生的概率</a:t>
            </a:r>
            <a:r>
              <a:rPr lang="en-US" altLang="zh-CN" sz="1400" noProof="0" dirty="0">
                <a:ln>
                  <a:noFill/>
                </a:ln>
                <a:solidFill>
                  <a:srgbClr val="C00000"/>
                </a:solidFill>
                <a:effectLst/>
                <a:uLnTx/>
                <a:uFillTx/>
                <a:latin typeface="Alibaba PuHuiTi" pitchFamily="18" charset="-122"/>
                <a:ea typeface="Alibaba PuHuiTi" pitchFamily="18" charset="-122"/>
                <a:cs typeface="Alibaba PuHuiTi" pitchFamily="18" charset="-122"/>
                <a:sym typeface="+mn-ea"/>
              </a:rPr>
              <a:t>:</a:t>
            </a: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记作</a:t>
            </a:r>
            <a:r>
              <a:rPr lang="en-US" altLang="zh-CN"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 P(B∣A)</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en-US"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p:txBody>
      </p:sp>
      <p:pic>
        <p:nvPicPr>
          <p:cNvPr id="12" name="图片 11"/>
          <p:cNvPicPr>
            <a:picLocks noChangeAspect="1"/>
          </p:cNvPicPr>
          <p:nvPr/>
        </p:nvPicPr>
        <p:blipFill>
          <a:blip r:embed="rId1"/>
          <a:stretch>
            <a:fillRect/>
          </a:stretch>
        </p:blipFill>
        <p:spPr>
          <a:xfrm>
            <a:off x="1348740" y="2485390"/>
            <a:ext cx="5393690" cy="40220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逻辑回归数学基础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极大似然估计</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22877" y="1398310"/>
            <a:ext cx="401626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极大似然估计</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7" name="文本框 16"/>
          <p:cNvSpPr txBox="1"/>
          <p:nvPr/>
        </p:nvSpPr>
        <p:spPr>
          <a:xfrm>
            <a:off x="1369695" y="1857375"/>
            <a:ext cx="7901305" cy="106045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极大似然估计（</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Maximum Likelihood Estimation, MLE</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）用于从观测数据中估计概率分布的参数。其核心思想是：</a:t>
            </a:r>
            <a:r>
              <a:rPr lang="zh-CN" altLang="en-US" sz="1400" dirty="0">
                <a:solidFill>
                  <a:srgbClr val="C00000"/>
                </a:solidFill>
                <a:latin typeface="Alibaba PuHuiTi" pitchFamily="18" charset="-122"/>
                <a:ea typeface="Alibaba PuHuiTi" pitchFamily="18" charset="-122"/>
                <a:cs typeface="Alibaba PuHuiTi" pitchFamily="18" charset="-122"/>
              </a:rPr>
              <a:t>在已知观测数据的情况下，选择使得这些数据出现概率最大的参数值</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19" name="文本占位符 2"/>
          <p:cNvSpPr txBox="1"/>
          <p:nvPr/>
        </p:nvSpPr>
        <p:spPr>
          <a:xfrm>
            <a:off x="1002998" y="2616532"/>
            <a:ext cx="148502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举个栗子</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23" name="文本占位符 2"/>
          <p:cNvSpPr txBox="1"/>
          <p:nvPr/>
        </p:nvSpPr>
        <p:spPr>
          <a:xfrm>
            <a:off x="1424883" y="3131270"/>
            <a:ext cx="8145128" cy="11663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lvl="0">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假设有一枚</a:t>
            </a:r>
            <a:r>
              <a:rPr kumimoji="0" lang="zh-CN" altLang="en-US" sz="1400" b="0" i="0" u="none" strike="noStrike" kern="1200" cap="none" spc="0" normalizeH="0" baseline="0" noProof="0" dirty="0">
                <a:ln>
                  <a:noFill/>
                </a:ln>
                <a:solidFill>
                  <a:schemeClr val="accent2">
                    <a:lumMod val="75000"/>
                  </a:schemeClr>
                </a:solidFill>
                <a:effectLst/>
                <a:uLnTx/>
                <a:uFillTx/>
                <a:latin typeface="Roboto" panose="02000000000000000000" pitchFamily="2" charset="0"/>
                <a:ea typeface="Alibaba PuHuiTi" pitchFamily="18" charset="-122"/>
                <a:cs typeface="Alibaba PuHuiTi" pitchFamily="18" charset="-122"/>
              </a:rPr>
              <a:t>不均匀的硬币</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，出现正面的概率和反面的概率是不同的。假定出现</a:t>
            </a:r>
            <a:r>
              <a:rPr kumimoji="0" lang="zh-CN" altLang="en-US" sz="1400" b="0" i="0" u="none" strike="noStrike" kern="1200" cap="none" spc="0" normalizeH="0" baseline="0" noProof="0" dirty="0">
                <a:ln>
                  <a:noFill/>
                </a:ln>
                <a:solidFill>
                  <a:schemeClr val="accent2">
                    <a:lumMod val="75000"/>
                  </a:schemeClr>
                </a:solidFill>
                <a:effectLst/>
                <a:uLnTx/>
                <a:uFillTx/>
                <a:latin typeface="Roboto" panose="02000000000000000000" pitchFamily="2" charset="0"/>
                <a:ea typeface="Alibaba PuHuiTi" pitchFamily="18" charset="-122"/>
                <a:cs typeface="Alibaba PuHuiTi" pitchFamily="18" charset="-122"/>
              </a:rPr>
              <a:t>正面的概率为</a:t>
            </a:r>
            <a:r>
              <a:rPr lang="zh-CN" altLang="en-US" sz="1400" dirty="0">
                <a:solidFill>
                  <a:schemeClr val="accent2">
                    <a:lumMod val="75000"/>
                  </a:schemeClr>
                </a:solidFill>
                <a:latin typeface="Roboto" panose="02000000000000000000" pitchFamily="2" charset="0"/>
                <a:ea typeface="Alibaba PuHuiTi" pitchFamily="18" charset="-122"/>
                <a:cs typeface="Alibaba PuHuiTi" pitchFamily="18" charset="-122"/>
              </a:rPr>
              <a:t>𝜃</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endPar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抛了</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6</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次得到如下</a:t>
            </a:r>
            <a:r>
              <a:rPr kumimoji="0" lang="zh-CN" altLang="en-US" sz="1400" b="0" i="0" u="none" strike="noStrike" kern="1200" cap="none" spc="0" normalizeH="0" baseline="0" noProof="0" dirty="0">
                <a:ln>
                  <a:noFill/>
                </a:ln>
                <a:solidFill>
                  <a:schemeClr val="accent2">
                    <a:lumMod val="75000"/>
                  </a:schemeClr>
                </a:solidFill>
                <a:effectLst/>
                <a:uLnTx/>
                <a:uFillTx/>
                <a:latin typeface="Roboto" panose="02000000000000000000" pitchFamily="2" charset="0"/>
                <a:ea typeface="Alibaba PuHuiTi" pitchFamily="18" charset="-122"/>
                <a:cs typeface="Alibaba PuHuiTi" pitchFamily="18" charset="-122"/>
              </a:rPr>
              <a:t>现象 </a:t>
            </a:r>
            <a:r>
              <a:rPr kumimoji="0" lang="en-US" altLang="zh-CN" sz="1400" b="0" i="0" u="none" strike="noStrike" kern="1200" cap="none" spc="0" normalizeH="0" baseline="0" noProof="0" dirty="0">
                <a:ln>
                  <a:noFill/>
                </a:ln>
                <a:solidFill>
                  <a:schemeClr val="accent2">
                    <a:lumMod val="75000"/>
                  </a:schemeClr>
                </a:solidFill>
                <a:effectLst/>
                <a:uLnTx/>
                <a:uFillTx/>
                <a:latin typeface="Roboto" panose="02000000000000000000" pitchFamily="2" charset="0"/>
                <a:ea typeface="Alibaba PuHuiTi" pitchFamily="18" charset="-122"/>
                <a:cs typeface="Alibaba PuHuiTi" pitchFamily="18" charset="-122"/>
              </a:rPr>
              <a:t>D</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正面，反面，反面，正面，正面，正面</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。每次投掷事件都是相互独立的。</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则</a:t>
            </a:r>
            <a:r>
              <a:rPr lang="zh-CN" altLang="en-US" sz="1400" dirty="0">
                <a:solidFill>
                  <a:schemeClr val="accent2">
                    <a:lumMod val="75000"/>
                  </a:schemeClr>
                </a:solidFill>
                <a:latin typeface="Roboto" panose="02000000000000000000" pitchFamily="2" charset="0"/>
                <a:ea typeface="Alibaba PuHuiTi" pitchFamily="18" charset="-122"/>
                <a:cs typeface="Alibaba PuHuiTi" pitchFamily="18" charset="-122"/>
              </a:rPr>
              <a:t>根据产生的现象</a:t>
            </a:r>
            <a:r>
              <a:rPr lang="en-US" altLang="zh-CN" sz="1400" dirty="0">
                <a:solidFill>
                  <a:schemeClr val="accent2">
                    <a:lumMod val="75000"/>
                  </a:schemeClr>
                </a:solidFill>
                <a:latin typeface="Roboto" panose="02000000000000000000" pitchFamily="2" charset="0"/>
                <a:ea typeface="Alibaba PuHuiTi" pitchFamily="18" charset="-122"/>
                <a:cs typeface="Alibaba PuHuiTi" pitchFamily="18" charset="-122"/>
              </a:rPr>
              <a:t>D</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，来</a:t>
            </a:r>
            <a:r>
              <a:rPr lang="zh-CN" altLang="en-US" sz="1400" dirty="0">
                <a:solidFill>
                  <a:schemeClr val="accent2">
                    <a:lumMod val="75000"/>
                  </a:schemeClr>
                </a:solidFill>
                <a:latin typeface="Roboto" panose="02000000000000000000" pitchFamily="2" charset="0"/>
                <a:ea typeface="Alibaba PuHuiTi" pitchFamily="18" charset="-122"/>
                <a:cs typeface="Alibaba PuHuiTi" pitchFamily="18" charset="-122"/>
              </a:rPr>
              <a:t>估计参数𝜃</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是多少？</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10" name="ïṧlïḋé"/>
          <p:cNvSpPr/>
          <p:nvPr/>
        </p:nvSpPr>
        <p:spPr>
          <a:xfrm>
            <a:off x="8601075" y="1170117"/>
            <a:ext cx="2215299" cy="659854"/>
          </a:xfrm>
          <a:prstGeom prst="ellipse">
            <a:avLst/>
          </a:prstGeom>
          <a:solidFill>
            <a:srgbClr val="AD2A26"/>
          </a:solidFill>
          <a:ln>
            <a:noFill/>
          </a:ln>
          <a:effectLst/>
        </p:spPr>
        <p:style>
          <a:lnRef idx="2">
            <a:schemeClr val="dk1"/>
          </a:lnRef>
          <a:fillRef idx="1">
            <a:schemeClr val="lt1"/>
          </a:fillRef>
          <a:effectRef idx="0">
            <a:schemeClr val="dk1"/>
          </a:effectRef>
          <a:fontRef idx="minor">
            <a:schemeClr val="dk1"/>
          </a:fontRef>
        </p:style>
        <p:txBody>
          <a:bodyPr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p>
        </p:txBody>
      </p:sp>
      <p:sp>
        <p:nvSpPr>
          <p:cNvPr id="13" name="îŝ1iḑê"/>
          <p:cNvSpPr/>
          <p:nvPr/>
        </p:nvSpPr>
        <p:spPr bwMode="auto">
          <a:xfrm>
            <a:off x="9292498" y="2582755"/>
            <a:ext cx="478842" cy="519703"/>
          </a:xfrm>
          <a:custGeom>
            <a:avLst/>
            <a:gdLst>
              <a:gd name="connsiteX0" fmla="*/ 435703 w 572779"/>
              <a:gd name="connsiteY0" fmla="*/ 160183 h 606580"/>
              <a:gd name="connsiteX1" fmla="*/ 479697 w 572779"/>
              <a:gd name="connsiteY1" fmla="*/ 160183 h 606580"/>
              <a:gd name="connsiteX2" fmla="*/ 479581 w 572779"/>
              <a:gd name="connsiteY2" fmla="*/ 160472 h 606580"/>
              <a:gd name="connsiteX3" fmla="*/ 479812 w 572779"/>
              <a:gd name="connsiteY3" fmla="*/ 160472 h 606580"/>
              <a:gd name="connsiteX4" fmla="*/ 478713 w 572779"/>
              <a:gd name="connsiteY4" fmla="*/ 162726 h 606580"/>
              <a:gd name="connsiteX5" fmla="*/ 469682 w 572779"/>
              <a:gd name="connsiteY5" fmla="*/ 187227 h 606580"/>
              <a:gd name="connsiteX6" fmla="*/ 474776 w 572779"/>
              <a:gd name="connsiteY6" fmla="*/ 242470 h 606580"/>
              <a:gd name="connsiteX7" fmla="*/ 494284 w 572779"/>
              <a:gd name="connsiteY7" fmla="*/ 242470 h 606580"/>
              <a:gd name="connsiteX8" fmla="*/ 510840 w 572779"/>
              <a:gd name="connsiteY8" fmla="*/ 160183 h 606580"/>
              <a:gd name="connsiteX9" fmla="*/ 527338 w 572779"/>
              <a:gd name="connsiteY9" fmla="*/ 160183 h 606580"/>
              <a:gd name="connsiteX10" fmla="*/ 572779 w 572779"/>
              <a:gd name="connsiteY10" fmla="*/ 205430 h 606580"/>
              <a:gd name="connsiteX11" fmla="*/ 572779 w 572779"/>
              <a:gd name="connsiteY11" fmla="*/ 337413 h 606580"/>
              <a:gd name="connsiteX12" fmla="*/ 527396 w 572779"/>
              <a:gd name="connsiteY12" fmla="*/ 382717 h 606580"/>
              <a:gd name="connsiteX13" fmla="*/ 521607 w 572779"/>
              <a:gd name="connsiteY13" fmla="*/ 382717 h 606580"/>
              <a:gd name="connsiteX14" fmla="*/ 521607 w 572779"/>
              <a:gd name="connsiteY14" fmla="*/ 574624 h 606580"/>
              <a:gd name="connsiteX15" fmla="*/ 489595 w 572779"/>
              <a:gd name="connsiteY15" fmla="*/ 606580 h 606580"/>
              <a:gd name="connsiteX16" fmla="*/ 457815 w 572779"/>
              <a:gd name="connsiteY16" fmla="*/ 578149 h 606580"/>
              <a:gd name="connsiteX17" fmla="*/ 425978 w 572779"/>
              <a:gd name="connsiteY17" fmla="*/ 606580 h 606580"/>
              <a:gd name="connsiteX18" fmla="*/ 393966 w 572779"/>
              <a:gd name="connsiteY18" fmla="*/ 574624 h 606580"/>
              <a:gd name="connsiteX19" fmla="*/ 393966 w 572779"/>
              <a:gd name="connsiteY19" fmla="*/ 392541 h 606580"/>
              <a:gd name="connsiteX20" fmla="*/ 422967 w 572779"/>
              <a:gd name="connsiteY20" fmla="*/ 337528 h 606580"/>
              <a:gd name="connsiteX21" fmla="*/ 422967 w 572779"/>
              <a:gd name="connsiteY21" fmla="*/ 242528 h 606580"/>
              <a:gd name="connsiteX22" fmla="*/ 440739 w 572779"/>
              <a:gd name="connsiteY22" fmla="*/ 242528 h 606580"/>
              <a:gd name="connsiteX23" fmla="*/ 445833 w 572779"/>
              <a:gd name="connsiteY23" fmla="*/ 186996 h 606580"/>
              <a:gd name="connsiteX24" fmla="*/ 445196 w 572779"/>
              <a:gd name="connsiteY24" fmla="*/ 183991 h 606580"/>
              <a:gd name="connsiteX25" fmla="*/ 436860 w 572779"/>
              <a:gd name="connsiteY25" fmla="*/ 162726 h 606580"/>
              <a:gd name="connsiteX26" fmla="*/ 435818 w 572779"/>
              <a:gd name="connsiteY26" fmla="*/ 160472 h 606580"/>
              <a:gd name="connsiteX27" fmla="*/ 435876 w 572779"/>
              <a:gd name="connsiteY27" fmla="*/ 160472 h 606580"/>
              <a:gd name="connsiteX28" fmla="*/ 435703 w 572779"/>
              <a:gd name="connsiteY28" fmla="*/ 160183 h 606580"/>
              <a:gd name="connsiteX29" fmla="*/ 264349 w 572779"/>
              <a:gd name="connsiteY29" fmla="*/ 160183 h 606580"/>
              <a:gd name="connsiteX30" fmla="*/ 308327 w 572779"/>
              <a:gd name="connsiteY30" fmla="*/ 160183 h 606580"/>
              <a:gd name="connsiteX31" fmla="*/ 308154 w 572779"/>
              <a:gd name="connsiteY31" fmla="*/ 160472 h 606580"/>
              <a:gd name="connsiteX32" fmla="*/ 308385 w 572779"/>
              <a:gd name="connsiteY32" fmla="*/ 160472 h 606580"/>
              <a:gd name="connsiteX33" fmla="*/ 307344 w 572779"/>
              <a:gd name="connsiteY33" fmla="*/ 162726 h 606580"/>
              <a:gd name="connsiteX34" fmla="*/ 298316 w 572779"/>
              <a:gd name="connsiteY34" fmla="*/ 187227 h 606580"/>
              <a:gd name="connsiteX35" fmla="*/ 303409 w 572779"/>
              <a:gd name="connsiteY35" fmla="*/ 242470 h 606580"/>
              <a:gd name="connsiteX36" fmla="*/ 322910 w 572779"/>
              <a:gd name="connsiteY36" fmla="*/ 242470 h 606580"/>
              <a:gd name="connsiteX37" fmla="*/ 339401 w 572779"/>
              <a:gd name="connsiteY37" fmla="*/ 160183 h 606580"/>
              <a:gd name="connsiteX38" fmla="*/ 355951 w 572779"/>
              <a:gd name="connsiteY38" fmla="*/ 160183 h 606580"/>
              <a:gd name="connsiteX39" fmla="*/ 401376 w 572779"/>
              <a:gd name="connsiteY39" fmla="*/ 205430 h 606580"/>
              <a:gd name="connsiteX40" fmla="*/ 401376 w 572779"/>
              <a:gd name="connsiteY40" fmla="*/ 337413 h 606580"/>
              <a:gd name="connsiteX41" fmla="*/ 356009 w 572779"/>
              <a:gd name="connsiteY41" fmla="*/ 382717 h 606580"/>
              <a:gd name="connsiteX42" fmla="*/ 350222 w 572779"/>
              <a:gd name="connsiteY42" fmla="*/ 382717 h 606580"/>
              <a:gd name="connsiteX43" fmla="*/ 350222 w 572779"/>
              <a:gd name="connsiteY43" fmla="*/ 574624 h 606580"/>
              <a:gd name="connsiteX44" fmla="*/ 318222 w 572779"/>
              <a:gd name="connsiteY44" fmla="*/ 606580 h 606580"/>
              <a:gd name="connsiteX45" fmla="*/ 286396 w 572779"/>
              <a:gd name="connsiteY45" fmla="*/ 578149 h 606580"/>
              <a:gd name="connsiteX46" fmla="*/ 254628 w 572779"/>
              <a:gd name="connsiteY46" fmla="*/ 606580 h 606580"/>
              <a:gd name="connsiteX47" fmla="*/ 222628 w 572779"/>
              <a:gd name="connsiteY47" fmla="*/ 574624 h 606580"/>
              <a:gd name="connsiteX48" fmla="*/ 222628 w 572779"/>
              <a:gd name="connsiteY48" fmla="*/ 382833 h 606580"/>
              <a:gd name="connsiteX49" fmla="*/ 216841 w 572779"/>
              <a:gd name="connsiteY49" fmla="*/ 382833 h 606580"/>
              <a:gd name="connsiteX50" fmla="*/ 171474 w 572779"/>
              <a:gd name="connsiteY50" fmla="*/ 337528 h 606580"/>
              <a:gd name="connsiteX51" fmla="*/ 171474 w 572779"/>
              <a:gd name="connsiteY51" fmla="*/ 205545 h 606580"/>
              <a:gd name="connsiteX52" fmla="*/ 216841 w 572779"/>
              <a:gd name="connsiteY52" fmla="*/ 160241 h 606580"/>
              <a:gd name="connsiteX53" fmla="*/ 233333 w 572779"/>
              <a:gd name="connsiteY53" fmla="*/ 160241 h 606580"/>
              <a:gd name="connsiteX54" fmla="*/ 249825 w 572779"/>
              <a:gd name="connsiteY54" fmla="*/ 242528 h 606580"/>
              <a:gd name="connsiteX55" fmla="*/ 269383 w 572779"/>
              <a:gd name="connsiteY55" fmla="*/ 242528 h 606580"/>
              <a:gd name="connsiteX56" fmla="*/ 274476 w 572779"/>
              <a:gd name="connsiteY56" fmla="*/ 186996 h 606580"/>
              <a:gd name="connsiteX57" fmla="*/ 273839 w 572779"/>
              <a:gd name="connsiteY57" fmla="*/ 183991 h 606580"/>
              <a:gd name="connsiteX58" fmla="*/ 265506 w 572779"/>
              <a:gd name="connsiteY58" fmla="*/ 162726 h 606580"/>
              <a:gd name="connsiteX59" fmla="*/ 264407 w 572779"/>
              <a:gd name="connsiteY59" fmla="*/ 160472 h 606580"/>
              <a:gd name="connsiteX60" fmla="*/ 264523 w 572779"/>
              <a:gd name="connsiteY60" fmla="*/ 160472 h 606580"/>
              <a:gd name="connsiteX61" fmla="*/ 264349 w 572779"/>
              <a:gd name="connsiteY61" fmla="*/ 160183 h 606580"/>
              <a:gd name="connsiteX62" fmla="*/ 92987 w 572779"/>
              <a:gd name="connsiteY62" fmla="*/ 160183 h 606580"/>
              <a:gd name="connsiteX63" fmla="*/ 136964 w 572779"/>
              <a:gd name="connsiteY63" fmla="*/ 160183 h 606580"/>
              <a:gd name="connsiteX64" fmla="*/ 136791 w 572779"/>
              <a:gd name="connsiteY64" fmla="*/ 160472 h 606580"/>
              <a:gd name="connsiteX65" fmla="*/ 137022 w 572779"/>
              <a:gd name="connsiteY65" fmla="*/ 160472 h 606580"/>
              <a:gd name="connsiteX66" fmla="*/ 135923 w 572779"/>
              <a:gd name="connsiteY66" fmla="*/ 162726 h 606580"/>
              <a:gd name="connsiteX67" fmla="*/ 126896 w 572779"/>
              <a:gd name="connsiteY67" fmla="*/ 187227 h 606580"/>
              <a:gd name="connsiteX68" fmla="*/ 131988 w 572779"/>
              <a:gd name="connsiteY68" fmla="*/ 242470 h 606580"/>
              <a:gd name="connsiteX69" fmla="*/ 149752 w 572779"/>
              <a:gd name="connsiteY69" fmla="*/ 242470 h 606580"/>
              <a:gd name="connsiteX70" fmla="*/ 149752 w 572779"/>
              <a:gd name="connsiteY70" fmla="*/ 337471 h 606580"/>
              <a:gd name="connsiteX71" fmla="*/ 178742 w 572779"/>
              <a:gd name="connsiteY71" fmla="*/ 392483 h 606580"/>
              <a:gd name="connsiteX72" fmla="*/ 178742 w 572779"/>
              <a:gd name="connsiteY72" fmla="*/ 574624 h 606580"/>
              <a:gd name="connsiteX73" fmla="*/ 146743 w 572779"/>
              <a:gd name="connsiteY73" fmla="*/ 606580 h 606580"/>
              <a:gd name="connsiteX74" fmla="*/ 114976 w 572779"/>
              <a:gd name="connsiteY74" fmla="*/ 578149 h 606580"/>
              <a:gd name="connsiteX75" fmla="*/ 83151 w 572779"/>
              <a:gd name="connsiteY75" fmla="*/ 606580 h 606580"/>
              <a:gd name="connsiteX76" fmla="*/ 51152 w 572779"/>
              <a:gd name="connsiteY76" fmla="*/ 574624 h 606580"/>
              <a:gd name="connsiteX77" fmla="*/ 51152 w 572779"/>
              <a:gd name="connsiteY77" fmla="*/ 382833 h 606580"/>
              <a:gd name="connsiteX78" fmla="*/ 45365 w 572779"/>
              <a:gd name="connsiteY78" fmla="*/ 382833 h 606580"/>
              <a:gd name="connsiteX79" fmla="*/ 0 w 572779"/>
              <a:gd name="connsiteY79" fmla="*/ 337528 h 606580"/>
              <a:gd name="connsiteX80" fmla="*/ 0 w 572779"/>
              <a:gd name="connsiteY80" fmla="*/ 205545 h 606580"/>
              <a:gd name="connsiteX81" fmla="*/ 45365 w 572779"/>
              <a:gd name="connsiteY81" fmla="*/ 160241 h 606580"/>
              <a:gd name="connsiteX82" fmla="*/ 61972 w 572779"/>
              <a:gd name="connsiteY82" fmla="*/ 160241 h 606580"/>
              <a:gd name="connsiteX83" fmla="*/ 78464 w 572779"/>
              <a:gd name="connsiteY83" fmla="*/ 242528 h 606580"/>
              <a:gd name="connsiteX84" fmla="*/ 97964 w 572779"/>
              <a:gd name="connsiteY84" fmla="*/ 242528 h 606580"/>
              <a:gd name="connsiteX85" fmla="*/ 103056 w 572779"/>
              <a:gd name="connsiteY85" fmla="*/ 186996 h 606580"/>
              <a:gd name="connsiteX86" fmla="*/ 102477 w 572779"/>
              <a:gd name="connsiteY86" fmla="*/ 183991 h 606580"/>
              <a:gd name="connsiteX87" fmla="*/ 94145 w 572779"/>
              <a:gd name="connsiteY87" fmla="*/ 162726 h 606580"/>
              <a:gd name="connsiteX88" fmla="*/ 93045 w 572779"/>
              <a:gd name="connsiteY88" fmla="*/ 160472 h 606580"/>
              <a:gd name="connsiteX89" fmla="*/ 93103 w 572779"/>
              <a:gd name="connsiteY89" fmla="*/ 160472 h 606580"/>
              <a:gd name="connsiteX90" fmla="*/ 92987 w 572779"/>
              <a:gd name="connsiteY90" fmla="*/ 160183 h 606580"/>
              <a:gd name="connsiteX91" fmla="*/ 457411 w 572779"/>
              <a:gd name="connsiteY91" fmla="*/ 751 h 606580"/>
              <a:gd name="connsiteX92" fmla="*/ 458047 w 572779"/>
              <a:gd name="connsiteY92" fmla="*/ 751 h 606580"/>
              <a:gd name="connsiteX93" fmla="*/ 521621 w 572779"/>
              <a:gd name="connsiteY93" fmla="*/ 49915 h 606580"/>
              <a:gd name="connsiteX94" fmla="*/ 523761 w 572779"/>
              <a:gd name="connsiteY94" fmla="*/ 66553 h 606580"/>
              <a:gd name="connsiteX95" fmla="*/ 458105 w 572779"/>
              <a:gd name="connsiteY95" fmla="*/ 132124 h 606580"/>
              <a:gd name="connsiteX96" fmla="*/ 457469 w 572779"/>
              <a:gd name="connsiteY96" fmla="*/ 132124 h 606580"/>
              <a:gd name="connsiteX97" fmla="*/ 393895 w 572779"/>
              <a:gd name="connsiteY97" fmla="*/ 82960 h 606580"/>
              <a:gd name="connsiteX98" fmla="*/ 391755 w 572779"/>
              <a:gd name="connsiteY98" fmla="*/ 66322 h 606580"/>
              <a:gd name="connsiteX99" fmla="*/ 457411 w 572779"/>
              <a:gd name="connsiteY99" fmla="*/ 751 h 606580"/>
              <a:gd name="connsiteX100" fmla="*/ 285868 w 572779"/>
              <a:gd name="connsiteY100" fmla="*/ 751 h 606580"/>
              <a:gd name="connsiteX101" fmla="*/ 286621 w 572779"/>
              <a:gd name="connsiteY101" fmla="*/ 751 h 606580"/>
              <a:gd name="connsiteX102" fmla="*/ 350227 w 572779"/>
              <a:gd name="connsiteY102" fmla="*/ 49915 h 606580"/>
              <a:gd name="connsiteX103" fmla="*/ 352369 w 572779"/>
              <a:gd name="connsiteY103" fmla="*/ 66553 h 606580"/>
              <a:gd name="connsiteX104" fmla="*/ 286736 w 572779"/>
              <a:gd name="connsiteY104" fmla="*/ 132124 h 606580"/>
              <a:gd name="connsiteX105" fmla="*/ 286100 w 572779"/>
              <a:gd name="connsiteY105" fmla="*/ 132124 h 606580"/>
              <a:gd name="connsiteX106" fmla="*/ 222493 w 572779"/>
              <a:gd name="connsiteY106" fmla="*/ 82845 h 606580"/>
              <a:gd name="connsiteX107" fmla="*/ 220351 w 572779"/>
              <a:gd name="connsiteY107" fmla="*/ 66264 h 606580"/>
              <a:gd name="connsiteX108" fmla="*/ 285868 w 572779"/>
              <a:gd name="connsiteY108" fmla="*/ 751 h 606580"/>
              <a:gd name="connsiteX109" fmla="*/ 114639 w 572779"/>
              <a:gd name="connsiteY109" fmla="*/ 751 h 606580"/>
              <a:gd name="connsiteX110" fmla="*/ 115275 w 572779"/>
              <a:gd name="connsiteY110" fmla="*/ 751 h 606580"/>
              <a:gd name="connsiteX111" fmla="*/ 178882 w 572779"/>
              <a:gd name="connsiteY111" fmla="*/ 49915 h 606580"/>
              <a:gd name="connsiteX112" fmla="*/ 181024 w 572779"/>
              <a:gd name="connsiteY112" fmla="*/ 66553 h 606580"/>
              <a:gd name="connsiteX113" fmla="*/ 115333 w 572779"/>
              <a:gd name="connsiteY113" fmla="*/ 132124 h 606580"/>
              <a:gd name="connsiteX114" fmla="*/ 114754 w 572779"/>
              <a:gd name="connsiteY114" fmla="*/ 132124 h 606580"/>
              <a:gd name="connsiteX115" fmla="*/ 51148 w 572779"/>
              <a:gd name="connsiteY115" fmla="*/ 82960 h 606580"/>
              <a:gd name="connsiteX116" fmla="*/ 49006 w 572779"/>
              <a:gd name="connsiteY116" fmla="*/ 66322 h 606580"/>
              <a:gd name="connsiteX117" fmla="*/ 114639 w 572779"/>
              <a:gd name="connsiteY117" fmla="*/ 751 h 606580"/>
              <a:gd name="connsiteX118" fmla="*/ 457410 w 572779"/>
              <a:gd name="connsiteY118" fmla="*/ 423 h 606580"/>
              <a:gd name="connsiteX119" fmla="*/ 391355 w 572779"/>
              <a:gd name="connsiteY119" fmla="*/ 66356 h 606580"/>
              <a:gd name="connsiteX120" fmla="*/ 393497 w 572779"/>
              <a:gd name="connsiteY120" fmla="*/ 83056 h 606580"/>
              <a:gd name="connsiteX121" fmla="*/ 457468 w 572779"/>
              <a:gd name="connsiteY121" fmla="*/ 132521 h 606580"/>
              <a:gd name="connsiteX122" fmla="*/ 457815 w 572779"/>
              <a:gd name="connsiteY122" fmla="*/ 132521 h 606580"/>
              <a:gd name="connsiteX123" fmla="*/ 458104 w 572779"/>
              <a:gd name="connsiteY123" fmla="*/ 132521 h 606580"/>
              <a:gd name="connsiteX124" fmla="*/ 524159 w 572779"/>
              <a:gd name="connsiteY124" fmla="*/ 66587 h 606580"/>
              <a:gd name="connsiteX125" fmla="*/ 522017 w 572779"/>
              <a:gd name="connsiteY125" fmla="*/ 49887 h 606580"/>
              <a:gd name="connsiteX126" fmla="*/ 458046 w 572779"/>
              <a:gd name="connsiteY126" fmla="*/ 423 h 606580"/>
              <a:gd name="connsiteX127" fmla="*/ 457699 w 572779"/>
              <a:gd name="connsiteY127" fmla="*/ 423 h 606580"/>
              <a:gd name="connsiteX128" fmla="*/ 114646 w 572779"/>
              <a:gd name="connsiteY128" fmla="*/ 423 h 606580"/>
              <a:gd name="connsiteX129" fmla="*/ 48620 w 572779"/>
              <a:gd name="connsiteY129" fmla="*/ 66356 h 606580"/>
              <a:gd name="connsiteX130" fmla="*/ 50761 w 572779"/>
              <a:gd name="connsiteY130" fmla="*/ 83056 h 606580"/>
              <a:gd name="connsiteX131" fmla="*/ 114762 w 572779"/>
              <a:gd name="connsiteY131" fmla="*/ 132521 h 606580"/>
              <a:gd name="connsiteX132" fmla="*/ 115051 w 572779"/>
              <a:gd name="connsiteY132" fmla="*/ 132521 h 606580"/>
              <a:gd name="connsiteX133" fmla="*/ 115340 w 572779"/>
              <a:gd name="connsiteY133" fmla="*/ 132521 h 606580"/>
              <a:gd name="connsiteX134" fmla="*/ 181424 w 572779"/>
              <a:gd name="connsiteY134" fmla="*/ 66587 h 606580"/>
              <a:gd name="connsiteX135" fmla="*/ 179225 w 572779"/>
              <a:gd name="connsiteY135" fmla="*/ 49887 h 606580"/>
              <a:gd name="connsiteX136" fmla="*/ 115282 w 572779"/>
              <a:gd name="connsiteY136" fmla="*/ 423 h 606580"/>
              <a:gd name="connsiteX137" fmla="*/ 114993 w 572779"/>
              <a:gd name="connsiteY137" fmla="*/ 423 h 606580"/>
              <a:gd name="connsiteX138" fmla="*/ 286036 w 572779"/>
              <a:gd name="connsiteY138" fmla="*/ 397 h 606580"/>
              <a:gd name="connsiteX139" fmla="*/ 219952 w 572779"/>
              <a:gd name="connsiteY139" fmla="*/ 66286 h 606580"/>
              <a:gd name="connsiteX140" fmla="*/ 222151 w 572779"/>
              <a:gd name="connsiteY140" fmla="*/ 82990 h 606580"/>
              <a:gd name="connsiteX141" fmla="*/ 286094 w 572779"/>
              <a:gd name="connsiteY141" fmla="*/ 132522 h 606580"/>
              <a:gd name="connsiteX142" fmla="*/ 286383 w 572779"/>
              <a:gd name="connsiteY142" fmla="*/ 132522 h 606580"/>
              <a:gd name="connsiteX143" fmla="*/ 286730 w 572779"/>
              <a:gd name="connsiteY143" fmla="*/ 132522 h 606580"/>
              <a:gd name="connsiteX144" fmla="*/ 352756 w 572779"/>
              <a:gd name="connsiteY144" fmla="*/ 66575 h 606580"/>
              <a:gd name="connsiteX145" fmla="*/ 350615 w 572779"/>
              <a:gd name="connsiteY145" fmla="*/ 49872 h 606580"/>
              <a:gd name="connsiteX146" fmla="*/ 286614 w 572779"/>
              <a:gd name="connsiteY146" fmla="*/ 397 h 606580"/>
              <a:gd name="connsiteX147" fmla="*/ 286325 w 572779"/>
              <a:gd name="connsiteY147" fmla="*/ 397 h 606580"/>
              <a:gd name="connsiteX148" fmla="*/ 457411 w 572779"/>
              <a:gd name="connsiteY148" fmla="*/ 0 h 606580"/>
              <a:gd name="connsiteX149" fmla="*/ 458047 w 572779"/>
              <a:gd name="connsiteY149" fmla="*/ 0 h 606580"/>
              <a:gd name="connsiteX150" fmla="*/ 522315 w 572779"/>
              <a:gd name="connsiteY150" fmla="*/ 49741 h 606580"/>
              <a:gd name="connsiteX151" fmla="*/ 524513 w 572779"/>
              <a:gd name="connsiteY151" fmla="*/ 66553 h 606580"/>
              <a:gd name="connsiteX152" fmla="*/ 458105 w 572779"/>
              <a:gd name="connsiteY152" fmla="*/ 132875 h 606580"/>
              <a:gd name="connsiteX153" fmla="*/ 457469 w 572779"/>
              <a:gd name="connsiteY153" fmla="*/ 132875 h 606580"/>
              <a:gd name="connsiteX154" fmla="*/ 393201 w 572779"/>
              <a:gd name="connsiteY154" fmla="*/ 83133 h 606580"/>
              <a:gd name="connsiteX155" fmla="*/ 391003 w 572779"/>
              <a:gd name="connsiteY155" fmla="*/ 66322 h 606580"/>
              <a:gd name="connsiteX156" fmla="*/ 457411 w 572779"/>
              <a:gd name="connsiteY156" fmla="*/ 0 h 606580"/>
              <a:gd name="connsiteX157" fmla="*/ 285868 w 572779"/>
              <a:gd name="connsiteY157" fmla="*/ 0 h 606580"/>
              <a:gd name="connsiteX158" fmla="*/ 286621 w 572779"/>
              <a:gd name="connsiteY158" fmla="*/ 0 h 606580"/>
              <a:gd name="connsiteX159" fmla="*/ 350980 w 572779"/>
              <a:gd name="connsiteY159" fmla="*/ 49741 h 606580"/>
              <a:gd name="connsiteX160" fmla="*/ 353179 w 572779"/>
              <a:gd name="connsiteY160" fmla="*/ 66553 h 606580"/>
              <a:gd name="connsiteX161" fmla="*/ 286736 w 572779"/>
              <a:gd name="connsiteY161" fmla="*/ 132875 h 606580"/>
              <a:gd name="connsiteX162" fmla="*/ 286100 w 572779"/>
              <a:gd name="connsiteY162" fmla="*/ 132875 h 606580"/>
              <a:gd name="connsiteX163" fmla="*/ 221740 w 572779"/>
              <a:gd name="connsiteY163" fmla="*/ 83076 h 606580"/>
              <a:gd name="connsiteX164" fmla="*/ 219599 w 572779"/>
              <a:gd name="connsiteY164" fmla="*/ 66264 h 606580"/>
              <a:gd name="connsiteX165" fmla="*/ 285868 w 572779"/>
              <a:gd name="connsiteY165" fmla="*/ 0 h 606580"/>
              <a:gd name="connsiteX166" fmla="*/ 114639 w 572779"/>
              <a:gd name="connsiteY166" fmla="*/ 0 h 606580"/>
              <a:gd name="connsiteX167" fmla="*/ 115275 w 572779"/>
              <a:gd name="connsiteY167" fmla="*/ 0 h 606580"/>
              <a:gd name="connsiteX168" fmla="*/ 179635 w 572779"/>
              <a:gd name="connsiteY168" fmla="*/ 49741 h 606580"/>
              <a:gd name="connsiteX169" fmla="*/ 181776 w 572779"/>
              <a:gd name="connsiteY169" fmla="*/ 66553 h 606580"/>
              <a:gd name="connsiteX170" fmla="*/ 115333 w 572779"/>
              <a:gd name="connsiteY170" fmla="*/ 132875 h 606580"/>
              <a:gd name="connsiteX171" fmla="*/ 114754 w 572779"/>
              <a:gd name="connsiteY171" fmla="*/ 132875 h 606580"/>
              <a:gd name="connsiteX172" fmla="*/ 50395 w 572779"/>
              <a:gd name="connsiteY172" fmla="*/ 83133 h 606580"/>
              <a:gd name="connsiteX173" fmla="*/ 48196 w 572779"/>
              <a:gd name="connsiteY173" fmla="*/ 66322 h 606580"/>
              <a:gd name="connsiteX174" fmla="*/ 114639 w 572779"/>
              <a:gd name="connsiteY174" fmla="*/ 0 h 60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572779" h="606580">
                <a:moveTo>
                  <a:pt x="435703" y="160183"/>
                </a:moveTo>
                <a:lnTo>
                  <a:pt x="479697" y="160183"/>
                </a:lnTo>
                <a:cubicBezTo>
                  <a:pt x="479639" y="160241"/>
                  <a:pt x="479639" y="160414"/>
                  <a:pt x="479581" y="160472"/>
                </a:cubicBezTo>
                <a:lnTo>
                  <a:pt x="479812" y="160472"/>
                </a:lnTo>
                <a:cubicBezTo>
                  <a:pt x="479407" y="161281"/>
                  <a:pt x="478713" y="162726"/>
                  <a:pt x="478713" y="162726"/>
                </a:cubicBezTo>
                <a:cubicBezTo>
                  <a:pt x="474834" y="170989"/>
                  <a:pt x="471245" y="178848"/>
                  <a:pt x="469682" y="187227"/>
                </a:cubicBezTo>
                <a:lnTo>
                  <a:pt x="474776" y="242470"/>
                </a:lnTo>
                <a:lnTo>
                  <a:pt x="494284" y="242470"/>
                </a:lnTo>
                <a:lnTo>
                  <a:pt x="510840" y="160183"/>
                </a:lnTo>
                <a:lnTo>
                  <a:pt x="527338" y="160183"/>
                </a:lnTo>
                <a:cubicBezTo>
                  <a:pt x="552345" y="160183"/>
                  <a:pt x="572663" y="180466"/>
                  <a:pt x="572779" y="205430"/>
                </a:cubicBezTo>
                <a:lnTo>
                  <a:pt x="572779" y="337413"/>
                </a:lnTo>
                <a:cubicBezTo>
                  <a:pt x="572779" y="362434"/>
                  <a:pt x="552519" y="382717"/>
                  <a:pt x="527396" y="382717"/>
                </a:cubicBezTo>
                <a:lnTo>
                  <a:pt x="521607" y="382717"/>
                </a:lnTo>
                <a:lnTo>
                  <a:pt x="521607" y="574624"/>
                </a:lnTo>
                <a:cubicBezTo>
                  <a:pt x="521607" y="592249"/>
                  <a:pt x="507251" y="606580"/>
                  <a:pt x="489595" y="606580"/>
                </a:cubicBezTo>
                <a:cubicBezTo>
                  <a:pt x="473155" y="606580"/>
                  <a:pt x="459552" y="594098"/>
                  <a:pt x="457815" y="578149"/>
                </a:cubicBezTo>
                <a:cubicBezTo>
                  <a:pt x="456021" y="594214"/>
                  <a:pt x="442417" y="606580"/>
                  <a:pt x="425978" y="606580"/>
                </a:cubicBezTo>
                <a:cubicBezTo>
                  <a:pt x="408322" y="606580"/>
                  <a:pt x="393966" y="592249"/>
                  <a:pt x="393966" y="574624"/>
                </a:cubicBezTo>
                <a:lnTo>
                  <a:pt x="393966" y="392541"/>
                </a:lnTo>
                <a:cubicBezTo>
                  <a:pt x="411506" y="380521"/>
                  <a:pt x="422967" y="360354"/>
                  <a:pt x="422967" y="337528"/>
                </a:cubicBezTo>
                <a:lnTo>
                  <a:pt x="422967" y="242528"/>
                </a:lnTo>
                <a:lnTo>
                  <a:pt x="440739" y="242528"/>
                </a:lnTo>
                <a:lnTo>
                  <a:pt x="445833" y="186996"/>
                </a:lnTo>
                <a:cubicBezTo>
                  <a:pt x="445659" y="186013"/>
                  <a:pt x="445428" y="184973"/>
                  <a:pt x="445196" y="183991"/>
                </a:cubicBezTo>
                <a:cubicBezTo>
                  <a:pt x="443459" y="176768"/>
                  <a:pt x="440276" y="169891"/>
                  <a:pt x="436860" y="162726"/>
                </a:cubicBezTo>
                <a:cubicBezTo>
                  <a:pt x="436860" y="162726"/>
                  <a:pt x="436166" y="161281"/>
                  <a:pt x="435818" y="160472"/>
                </a:cubicBezTo>
                <a:lnTo>
                  <a:pt x="435876" y="160472"/>
                </a:lnTo>
                <a:cubicBezTo>
                  <a:pt x="435818" y="160356"/>
                  <a:pt x="435818" y="160241"/>
                  <a:pt x="435703" y="160183"/>
                </a:cubicBezTo>
                <a:close/>
                <a:moveTo>
                  <a:pt x="264349" y="160183"/>
                </a:moveTo>
                <a:lnTo>
                  <a:pt x="308327" y="160183"/>
                </a:lnTo>
                <a:cubicBezTo>
                  <a:pt x="308269" y="160241"/>
                  <a:pt x="308269" y="160414"/>
                  <a:pt x="308154" y="160472"/>
                </a:cubicBezTo>
                <a:lnTo>
                  <a:pt x="308385" y="160472"/>
                </a:lnTo>
                <a:cubicBezTo>
                  <a:pt x="308038" y="161281"/>
                  <a:pt x="307344" y="162726"/>
                  <a:pt x="307344" y="162726"/>
                </a:cubicBezTo>
                <a:cubicBezTo>
                  <a:pt x="303467" y="170989"/>
                  <a:pt x="299821" y="178848"/>
                  <a:pt x="298316" y="187227"/>
                </a:cubicBezTo>
                <a:lnTo>
                  <a:pt x="303409" y="242470"/>
                </a:lnTo>
                <a:lnTo>
                  <a:pt x="322910" y="242470"/>
                </a:lnTo>
                <a:lnTo>
                  <a:pt x="339401" y="160183"/>
                </a:lnTo>
                <a:lnTo>
                  <a:pt x="355951" y="160183"/>
                </a:lnTo>
                <a:cubicBezTo>
                  <a:pt x="380949" y="160183"/>
                  <a:pt x="401202" y="180466"/>
                  <a:pt x="401376" y="205430"/>
                </a:cubicBezTo>
                <a:lnTo>
                  <a:pt x="401376" y="337413"/>
                </a:lnTo>
                <a:cubicBezTo>
                  <a:pt x="401376" y="362434"/>
                  <a:pt x="381065" y="382717"/>
                  <a:pt x="356009" y="382717"/>
                </a:cubicBezTo>
                <a:lnTo>
                  <a:pt x="350222" y="382717"/>
                </a:lnTo>
                <a:lnTo>
                  <a:pt x="350222" y="574624"/>
                </a:lnTo>
                <a:cubicBezTo>
                  <a:pt x="350222" y="592249"/>
                  <a:pt x="335872" y="606580"/>
                  <a:pt x="318222" y="606580"/>
                </a:cubicBezTo>
                <a:cubicBezTo>
                  <a:pt x="301788" y="606580"/>
                  <a:pt x="288190" y="594098"/>
                  <a:pt x="286396" y="578149"/>
                </a:cubicBezTo>
                <a:cubicBezTo>
                  <a:pt x="284660" y="594214"/>
                  <a:pt x="271062" y="606580"/>
                  <a:pt x="254628" y="606580"/>
                </a:cubicBezTo>
                <a:cubicBezTo>
                  <a:pt x="236978" y="606580"/>
                  <a:pt x="222628" y="592249"/>
                  <a:pt x="222628" y="574624"/>
                </a:cubicBezTo>
                <a:lnTo>
                  <a:pt x="222628" y="382833"/>
                </a:lnTo>
                <a:lnTo>
                  <a:pt x="216841" y="382833"/>
                </a:lnTo>
                <a:cubicBezTo>
                  <a:pt x="191727" y="382833"/>
                  <a:pt x="171474" y="362608"/>
                  <a:pt x="171474" y="337528"/>
                </a:cubicBezTo>
                <a:lnTo>
                  <a:pt x="171474" y="205545"/>
                </a:lnTo>
                <a:cubicBezTo>
                  <a:pt x="171474" y="180524"/>
                  <a:pt x="191727" y="160241"/>
                  <a:pt x="216841" y="160241"/>
                </a:cubicBezTo>
                <a:lnTo>
                  <a:pt x="233333" y="160241"/>
                </a:lnTo>
                <a:lnTo>
                  <a:pt x="249825" y="242528"/>
                </a:lnTo>
                <a:lnTo>
                  <a:pt x="269383" y="242528"/>
                </a:lnTo>
                <a:lnTo>
                  <a:pt x="274476" y="186996"/>
                </a:lnTo>
                <a:cubicBezTo>
                  <a:pt x="274302" y="186013"/>
                  <a:pt x="274071" y="184973"/>
                  <a:pt x="273839" y="183991"/>
                </a:cubicBezTo>
                <a:cubicBezTo>
                  <a:pt x="272045" y="176768"/>
                  <a:pt x="268921" y="169891"/>
                  <a:pt x="265506" y="162726"/>
                </a:cubicBezTo>
                <a:cubicBezTo>
                  <a:pt x="265506" y="162726"/>
                  <a:pt x="264812" y="161281"/>
                  <a:pt x="264407" y="160472"/>
                </a:cubicBezTo>
                <a:lnTo>
                  <a:pt x="264523" y="160472"/>
                </a:lnTo>
                <a:cubicBezTo>
                  <a:pt x="264407" y="160356"/>
                  <a:pt x="264407" y="160241"/>
                  <a:pt x="264349" y="160183"/>
                </a:cubicBezTo>
                <a:close/>
                <a:moveTo>
                  <a:pt x="92987" y="160183"/>
                </a:moveTo>
                <a:lnTo>
                  <a:pt x="136964" y="160183"/>
                </a:lnTo>
                <a:cubicBezTo>
                  <a:pt x="136848" y="160241"/>
                  <a:pt x="136848" y="160414"/>
                  <a:pt x="136791" y="160472"/>
                </a:cubicBezTo>
                <a:lnTo>
                  <a:pt x="137022" y="160472"/>
                </a:lnTo>
                <a:cubicBezTo>
                  <a:pt x="136617" y="161281"/>
                  <a:pt x="135923" y="162726"/>
                  <a:pt x="135923" y="162726"/>
                </a:cubicBezTo>
                <a:cubicBezTo>
                  <a:pt x="132104" y="170989"/>
                  <a:pt x="128458" y="178848"/>
                  <a:pt x="126896" y="187227"/>
                </a:cubicBezTo>
                <a:lnTo>
                  <a:pt x="131988" y="242470"/>
                </a:lnTo>
                <a:lnTo>
                  <a:pt x="149752" y="242470"/>
                </a:lnTo>
                <a:lnTo>
                  <a:pt x="149752" y="337471"/>
                </a:lnTo>
                <a:cubicBezTo>
                  <a:pt x="149752" y="360296"/>
                  <a:pt x="161267" y="380406"/>
                  <a:pt x="178742" y="392483"/>
                </a:cubicBezTo>
                <a:lnTo>
                  <a:pt x="178742" y="574624"/>
                </a:lnTo>
                <a:cubicBezTo>
                  <a:pt x="178742" y="592249"/>
                  <a:pt x="164392" y="606580"/>
                  <a:pt x="146743" y="606580"/>
                </a:cubicBezTo>
                <a:cubicBezTo>
                  <a:pt x="130310" y="606580"/>
                  <a:pt x="116712" y="594098"/>
                  <a:pt x="114976" y="578149"/>
                </a:cubicBezTo>
                <a:cubicBezTo>
                  <a:pt x="113182" y="594214"/>
                  <a:pt x="99584" y="606580"/>
                  <a:pt x="83151" y="606580"/>
                </a:cubicBezTo>
                <a:cubicBezTo>
                  <a:pt x="65502" y="606580"/>
                  <a:pt x="51152" y="592249"/>
                  <a:pt x="51152" y="574624"/>
                </a:cubicBezTo>
                <a:lnTo>
                  <a:pt x="51152" y="382833"/>
                </a:lnTo>
                <a:lnTo>
                  <a:pt x="45365" y="382833"/>
                </a:lnTo>
                <a:cubicBezTo>
                  <a:pt x="20310" y="382833"/>
                  <a:pt x="0" y="362608"/>
                  <a:pt x="0" y="337528"/>
                </a:cubicBezTo>
                <a:lnTo>
                  <a:pt x="0" y="205545"/>
                </a:lnTo>
                <a:cubicBezTo>
                  <a:pt x="0" y="180524"/>
                  <a:pt x="20310" y="160241"/>
                  <a:pt x="45365" y="160241"/>
                </a:cubicBezTo>
                <a:lnTo>
                  <a:pt x="61972" y="160241"/>
                </a:lnTo>
                <a:lnTo>
                  <a:pt x="78464" y="242528"/>
                </a:lnTo>
                <a:lnTo>
                  <a:pt x="97964" y="242528"/>
                </a:lnTo>
                <a:lnTo>
                  <a:pt x="103056" y="186996"/>
                </a:lnTo>
                <a:cubicBezTo>
                  <a:pt x="102940" y="186013"/>
                  <a:pt x="102709" y="184973"/>
                  <a:pt x="102477" y="183991"/>
                </a:cubicBezTo>
                <a:cubicBezTo>
                  <a:pt x="100683" y="176768"/>
                  <a:pt x="97501" y="169891"/>
                  <a:pt x="94145" y="162726"/>
                </a:cubicBezTo>
                <a:cubicBezTo>
                  <a:pt x="94145" y="162726"/>
                  <a:pt x="93450" y="161281"/>
                  <a:pt x="93045" y="160472"/>
                </a:cubicBezTo>
                <a:lnTo>
                  <a:pt x="93103" y="160472"/>
                </a:lnTo>
                <a:cubicBezTo>
                  <a:pt x="93045" y="160356"/>
                  <a:pt x="93045" y="160241"/>
                  <a:pt x="92987" y="160183"/>
                </a:cubicBezTo>
                <a:close/>
                <a:moveTo>
                  <a:pt x="457411" y="751"/>
                </a:moveTo>
                <a:lnTo>
                  <a:pt x="458047" y="751"/>
                </a:lnTo>
                <a:cubicBezTo>
                  <a:pt x="488012" y="751"/>
                  <a:pt x="514158" y="20971"/>
                  <a:pt x="521621" y="49915"/>
                </a:cubicBezTo>
                <a:cubicBezTo>
                  <a:pt x="523009" y="55403"/>
                  <a:pt x="523761" y="61007"/>
                  <a:pt x="523761" y="66553"/>
                </a:cubicBezTo>
                <a:cubicBezTo>
                  <a:pt x="523761" y="102718"/>
                  <a:pt x="494317" y="132124"/>
                  <a:pt x="458105" y="132124"/>
                </a:cubicBezTo>
                <a:lnTo>
                  <a:pt x="457469" y="132124"/>
                </a:lnTo>
                <a:cubicBezTo>
                  <a:pt x="427504" y="132124"/>
                  <a:pt x="401358" y="111904"/>
                  <a:pt x="393895" y="82960"/>
                </a:cubicBezTo>
                <a:cubicBezTo>
                  <a:pt x="392507" y="77472"/>
                  <a:pt x="391755" y="71868"/>
                  <a:pt x="391755" y="66322"/>
                </a:cubicBezTo>
                <a:cubicBezTo>
                  <a:pt x="391755" y="30157"/>
                  <a:pt x="421199" y="751"/>
                  <a:pt x="457411" y="751"/>
                </a:cubicBezTo>
                <a:close/>
                <a:moveTo>
                  <a:pt x="285868" y="751"/>
                </a:moveTo>
                <a:lnTo>
                  <a:pt x="286621" y="751"/>
                </a:lnTo>
                <a:cubicBezTo>
                  <a:pt x="316601" y="751"/>
                  <a:pt x="342761" y="20971"/>
                  <a:pt x="350227" y="49915"/>
                </a:cubicBezTo>
                <a:cubicBezTo>
                  <a:pt x="351674" y="55403"/>
                  <a:pt x="352369" y="61007"/>
                  <a:pt x="352369" y="66553"/>
                </a:cubicBezTo>
                <a:cubicBezTo>
                  <a:pt x="352369" y="102718"/>
                  <a:pt x="322909" y="132124"/>
                  <a:pt x="286736" y="132124"/>
                </a:cubicBezTo>
                <a:lnTo>
                  <a:pt x="286100" y="132124"/>
                </a:lnTo>
                <a:cubicBezTo>
                  <a:pt x="256119" y="132124"/>
                  <a:pt x="229959" y="111846"/>
                  <a:pt x="222493" y="82845"/>
                </a:cubicBezTo>
                <a:cubicBezTo>
                  <a:pt x="221046" y="77414"/>
                  <a:pt x="220351" y="71810"/>
                  <a:pt x="220351" y="66264"/>
                </a:cubicBezTo>
                <a:cubicBezTo>
                  <a:pt x="220351" y="30157"/>
                  <a:pt x="249753" y="751"/>
                  <a:pt x="285868" y="751"/>
                </a:cubicBezTo>
                <a:close/>
                <a:moveTo>
                  <a:pt x="114639" y="751"/>
                </a:moveTo>
                <a:lnTo>
                  <a:pt x="115275" y="751"/>
                </a:lnTo>
                <a:cubicBezTo>
                  <a:pt x="145256" y="751"/>
                  <a:pt x="171416" y="20971"/>
                  <a:pt x="178882" y="49915"/>
                </a:cubicBezTo>
                <a:cubicBezTo>
                  <a:pt x="180329" y="55403"/>
                  <a:pt x="181024" y="61007"/>
                  <a:pt x="181024" y="66553"/>
                </a:cubicBezTo>
                <a:cubicBezTo>
                  <a:pt x="181024" y="102718"/>
                  <a:pt x="151564" y="132124"/>
                  <a:pt x="115333" y="132124"/>
                </a:cubicBezTo>
                <a:lnTo>
                  <a:pt x="114754" y="132124"/>
                </a:lnTo>
                <a:cubicBezTo>
                  <a:pt x="84774" y="132124"/>
                  <a:pt x="58614" y="111904"/>
                  <a:pt x="51148" y="82960"/>
                </a:cubicBezTo>
                <a:cubicBezTo>
                  <a:pt x="49701" y="77472"/>
                  <a:pt x="49006" y="71868"/>
                  <a:pt x="49006" y="66322"/>
                </a:cubicBezTo>
                <a:cubicBezTo>
                  <a:pt x="49006" y="30157"/>
                  <a:pt x="78466" y="751"/>
                  <a:pt x="114639" y="751"/>
                </a:cubicBezTo>
                <a:close/>
                <a:moveTo>
                  <a:pt x="457410" y="423"/>
                </a:moveTo>
                <a:cubicBezTo>
                  <a:pt x="420880" y="423"/>
                  <a:pt x="391355" y="29894"/>
                  <a:pt x="391355" y="66356"/>
                </a:cubicBezTo>
                <a:cubicBezTo>
                  <a:pt x="391355" y="72135"/>
                  <a:pt x="392108" y="77740"/>
                  <a:pt x="393497" y="83056"/>
                </a:cubicBezTo>
                <a:cubicBezTo>
                  <a:pt x="400849" y="111487"/>
                  <a:pt x="426669" y="132521"/>
                  <a:pt x="457468" y="132521"/>
                </a:cubicBezTo>
                <a:lnTo>
                  <a:pt x="457815" y="132521"/>
                </a:lnTo>
                <a:lnTo>
                  <a:pt x="458104" y="132521"/>
                </a:lnTo>
                <a:cubicBezTo>
                  <a:pt x="494634" y="132521"/>
                  <a:pt x="524159" y="103050"/>
                  <a:pt x="524159" y="66587"/>
                </a:cubicBezTo>
                <a:cubicBezTo>
                  <a:pt x="524159" y="60809"/>
                  <a:pt x="523406" y="55204"/>
                  <a:pt x="522017" y="49887"/>
                </a:cubicBezTo>
                <a:cubicBezTo>
                  <a:pt x="514665" y="21457"/>
                  <a:pt x="488845" y="423"/>
                  <a:pt x="458046" y="423"/>
                </a:cubicBezTo>
                <a:lnTo>
                  <a:pt x="457699" y="423"/>
                </a:lnTo>
                <a:close/>
                <a:moveTo>
                  <a:pt x="114646" y="423"/>
                </a:moveTo>
                <a:cubicBezTo>
                  <a:pt x="78190" y="423"/>
                  <a:pt x="48620" y="29894"/>
                  <a:pt x="48620" y="66356"/>
                </a:cubicBezTo>
                <a:cubicBezTo>
                  <a:pt x="48620" y="72135"/>
                  <a:pt x="49372" y="77740"/>
                  <a:pt x="50761" y="83056"/>
                </a:cubicBezTo>
                <a:cubicBezTo>
                  <a:pt x="58110" y="111487"/>
                  <a:pt x="83977" y="132521"/>
                  <a:pt x="114762" y="132521"/>
                </a:cubicBezTo>
                <a:lnTo>
                  <a:pt x="115051" y="132521"/>
                </a:lnTo>
                <a:lnTo>
                  <a:pt x="115340" y="132521"/>
                </a:lnTo>
                <a:cubicBezTo>
                  <a:pt x="151854" y="132521"/>
                  <a:pt x="181424" y="103050"/>
                  <a:pt x="181424" y="66587"/>
                </a:cubicBezTo>
                <a:cubicBezTo>
                  <a:pt x="181424" y="60809"/>
                  <a:pt x="180614" y="55204"/>
                  <a:pt x="179225" y="49887"/>
                </a:cubicBezTo>
                <a:cubicBezTo>
                  <a:pt x="171934" y="21457"/>
                  <a:pt x="146067" y="423"/>
                  <a:pt x="115282" y="423"/>
                </a:cubicBezTo>
                <a:lnTo>
                  <a:pt x="114993" y="423"/>
                </a:lnTo>
                <a:close/>
                <a:moveTo>
                  <a:pt x="286036" y="397"/>
                </a:moveTo>
                <a:cubicBezTo>
                  <a:pt x="249522" y="282"/>
                  <a:pt x="219952" y="29874"/>
                  <a:pt x="219952" y="66286"/>
                </a:cubicBezTo>
                <a:cubicBezTo>
                  <a:pt x="219952" y="72066"/>
                  <a:pt x="220762" y="77672"/>
                  <a:pt x="222151" y="82990"/>
                </a:cubicBezTo>
                <a:cubicBezTo>
                  <a:pt x="229442" y="111484"/>
                  <a:pt x="255309" y="132522"/>
                  <a:pt x="286094" y="132522"/>
                </a:cubicBezTo>
                <a:lnTo>
                  <a:pt x="286383" y="132522"/>
                </a:lnTo>
                <a:lnTo>
                  <a:pt x="286730" y="132522"/>
                </a:lnTo>
                <a:cubicBezTo>
                  <a:pt x="323186" y="132522"/>
                  <a:pt x="352756" y="103045"/>
                  <a:pt x="352756" y="66575"/>
                </a:cubicBezTo>
                <a:cubicBezTo>
                  <a:pt x="352756" y="60796"/>
                  <a:pt x="352004" y="55189"/>
                  <a:pt x="350615" y="49872"/>
                </a:cubicBezTo>
                <a:cubicBezTo>
                  <a:pt x="343266" y="21436"/>
                  <a:pt x="317399" y="397"/>
                  <a:pt x="286614" y="397"/>
                </a:cubicBezTo>
                <a:lnTo>
                  <a:pt x="286325" y="397"/>
                </a:lnTo>
                <a:close/>
                <a:moveTo>
                  <a:pt x="457411" y="0"/>
                </a:moveTo>
                <a:lnTo>
                  <a:pt x="458047" y="0"/>
                </a:lnTo>
                <a:cubicBezTo>
                  <a:pt x="488359" y="0"/>
                  <a:pt x="514795" y="20451"/>
                  <a:pt x="522315" y="49741"/>
                </a:cubicBezTo>
                <a:cubicBezTo>
                  <a:pt x="523761" y="55230"/>
                  <a:pt x="524513" y="60891"/>
                  <a:pt x="524513" y="66553"/>
                </a:cubicBezTo>
                <a:cubicBezTo>
                  <a:pt x="524513" y="103122"/>
                  <a:pt x="494722" y="132875"/>
                  <a:pt x="458105" y="132875"/>
                </a:cubicBezTo>
                <a:lnTo>
                  <a:pt x="457469" y="132875"/>
                </a:lnTo>
                <a:cubicBezTo>
                  <a:pt x="427157" y="132875"/>
                  <a:pt x="400721" y="112424"/>
                  <a:pt x="393201" y="83133"/>
                </a:cubicBezTo>
                <a:cubicBezTo>
                  <a:pt x="391755" y="77645"/>
                  <a:pt x="391003" y="71983"/>
                  <a:pt x="391003" y="66322"/>
                </a:cubicBezTo>
                <a:cubicBezTo>
                  <a:pt x="391003" y="29752"/>
                  <a:pt x="420794" y="0"/>
                  <a:pt x="457411" y="0"/>
                </a:cubicBezTo>
                <a:close/>
                <a:moveTo>
                  <a:pt x="285868" y="0"/>
                </a:moveTo>
                <a:lnTo>
                  <a:pt x="286621" y="0"/>
                </a:lnTo>
                <a:cubicBezTo>
                  <a:pt x="316948" y="0"/>
                  <a:pt x="343456" y="20451"/>
                  <a:pt x="350980" y="49741"/>
                </a:cubicBezTo>
                <a:cubicBezTo>
                  <a:pt x="352427" y="55287"/>
                  <a:pt x="353179" y="60891"/>
                  <a:pt x="353179" y="66553"/>
                </a:cubicBezTo>
                <a:cubicBezTo>
                  <a:pt x="353179" y="103122"/>
                  <a:pt x="323372" y="132875"/>
                  <a:pt x="286736" y="132875"/>
                </a:cubicBezTo>
                <a:lnTo>
                  <a:pt x="286100" y="132875"/>
                </a:lnTo>
                <a:cubicBezTo>
                  <a:pt x="255772" y="132875"/>
                  <a:pt x="229322" y="112366"/>
                  <a:pt x="221740" y="83076"/>
                </a:cubicBezTo>
                <a:cubicBezTo>
                  <a:pt x="220294" y="77530"/>
                  <a:pt x="219599" y="71868"/>
                  <a:pt x="219599" y="66264"/>
                </a:cubicBezTo>
                <a:cubicBezTo>
                  <a:pt x="219599" y="29695"/>
                  <a:pt x="249348" y="0"/>
                  <a:pt x="285868" y="0"/>
                </a:cubicBezTo>
                <a:close/>
                <a:moveTo>
                  <a:pt x="114639" y="0"/>
                </a:moveTo>
                <a:lnTo>
                  <a:pt x="115275" y="0"/>
                </a:lnTo>
                <a:cubicBezTo>
                  <a:pt x="145603" y="0"/>
                  <a:pt x="172053" y="20451"/>
                  <a:pt x="179635" y="49741"/>
                </a:cubicBezTo>
                <a:cubicBezTo>
                  <a:pt x="181081" y="55230"/>
                  <a:pt x="181776" y="60891"/>
                  <a:pt x="181776" y="66553"/>
                </a:cubicBezTo>
                <a:cubicBezTo>
                  <a:pt x="181776" y="103122"/>
                  <a:pt x="151969" y="132875"/>
                  <a:pt x="115333" y="132875"/>
                </a:cubicBezTo>
                <a:lnTo>
                  <a:pt x="114754" y="132875"/>
                </a:lnTo>
                <a:cubicBezTo>
                  <a:pt x="84427" y="132875"/>
                  <a:pt x="57919" y="112424"/>
                  <a:pt x="50395" y="83133"/>
                </a:cubicBezTo>
                <a:cubicBezTo>
                  <a:pt x="48948" y="77645"/>
                  <a:pt x="48196" y="71983"/>
                  <a:pt x="48196" y="66322"/>
                </a:cubicBezTo>
                <a:cubicBezTo>
                  <a:pt x="48196" y="29752"/>
                  <a:pt x="78003" y="0"/>
                  <a:pt x="114639" y="0"/>
                </a:cubicBezTo>
                <a:close/>
              </a:path>
            </a:pathLst>
          </a:custGeom>
          <a:solidFill>
            <a:srgbClr val="4C5252"/>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p>
        </p:txBody>
      </p:sp>
      <p:sp>
        <p:nvSpPr>
          <p:cNvPr id="16" name="文本占位符 9"/>
          <p:cNvSpPr txBox="1"/>
          <p:nvPr/>
        </p:nvSpPr>
        <p:spPr>
          <a:xfrm>
            <a:off x="9115293" y="1214204"/>
            <a:ext cx="1146389" cy="659854"/>
          </a:xfrm>
          <a:prstGeom prst="rect">
            <a:avLst/>
          </a:prstGeom>
        </p:spPr>
        <p:txBody>
          <a:bodyPr anchor="ctr" anchorCtr="0"/>
          <a:lstStyle>
            <a:lvl1pPr marL="0" indent="0" algn="ctr" rtl="0" eaLnBrk="0" fontAlgn="base" hangingPunct="0">
              <a:spcBef>
                <a:spcPct val="20000"/>
              </a:spcBef>
              <a:spcAft>
                <a:spcPct val="0"/>
              </a:spcAft>
              <a:buFont typeface="Arial" panose="020B0604020202020204" pitchFamily="34" charset="0"/>
              <a:buNone/>
              <a:defRPr sz="1400" b="1" kern="120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8565"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zh-CN" altLang="en-US" dirty="0"/>
              <a:t>未知参数</a:t>
            </a:r>
            <a:endParaRPr lang="en-US" altLang="zh-CN" dirty="0"/>
          </a:p>
          <a:p>
            <a:r>
              <a:rPr lang="zh-CN" altLang="en-US" dirty="0"/>
              <a:t>待估计</a:t>
            </a:r>
            <a:endParaRPr lang="en-US" altLang="zh-CN" dirty="0"/>
          </a:p>
        </p:txBody>
      </p:sp>
      <p:sp>
        <p:nvSpPr>
          <p:cNvPr id="20" name="íšļïdè"/>
          <p:cNvSpPr/>
          <p:nvPr/>
        </p:nvSpPr>
        <p:spPr>
          <a:xfrm>
            <a:off x="10902760" y="2586984"/>
            <a:ext cx="605430" cy="515474"/>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rgbClr val="AD2A26"/>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p>
        </p:txBody>
      </p:sp>
      <p:sp>
        <p:nvSpPr>
          <p:cNvPr id="21" name="iṧḻïdé"/>
          <p:cNvSpPr/>
          <p:nvPr/>
        </p:nvSpPr>
        <p:spPr>
          <a:xfrm>
            <a:off x="8294545" y="2584918"/>
            <a:ext cx="604781" cy="477444"/>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rgbClr val="AD2A26"/>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p>
        </p:txBody>
      </p:sp>
      <p:sp>
        <p:nvSpPr>
          <p:cNvPr id="22" name="iṡḷidé"/>
          <p:cNvSpPr/>
          <p:nvPr/>
        </p:nvSpPr>
        <p:spPr>
          <a:xfrm>
            <a:off x="10045714" y="2582756"/>
            <a:ext cx="589911" cy="519702"/>
          </a:xfrm>
          <a:custGeom>
            <a:avLst/>
            <a:gdLst>
              <a:gd name="connsiteX0" fmla="*/ 0 w 609050"/>
              <a:gd name="connsiteY0" fmla="*/ 411255 h 550128"/>
              <a:gd name="connsiteX1" fmla="*/ 25953 w 609050"/>
              <a:gd name="connsiteY1" fmla="*/ 426310 h 550128"/>
              <a:gd name="connsiteX2" fmla="*/ 202989 w 609050"/>
              <a:gd name="connsiteY2" fmla="*/ 463367 h 550128"/>
              <a:gd name="connsiteX3" fmla="*/ 219808 w 609050"/>
              <a:gd name="connsiteY3" fmla="*/ 462933 h 550128"/>
              <a:gd name="connsiteX4" fmla="*/ 251707 w 609050"/>
              <a:gd name="connsiteY4" fmla="*/ 518375 h 550128"/>
              <a:gd name="connsiteX5" fmla="*/ 202989 w 609050"/>
              <a:gd name="connsiteY5" fmla="*/ 521125 h 550128"/>
              <a:gd name="connsiteX6" fmla="*/ 0 w 609050"/>
              <a:gd name="connsiteY6" fmla="*/ 434416 h 550128"/>
              <a:gd name="connsiteX7" fmla="*/ 0 w 609050"/>
              <a:gd name="connsiteY7" fmla="*/ 295387 h 550128"/>
              <a:gd name="connsiteX8" fmla="*/ 25960 w 609050"/>
              <a:gd name="connsiteY8" fmla="*/ 310451 h 550128"/>
              <a:gd name="connsiteX9" fmla="*/ 203040 w 609050"/>
              <a:gd name="connsiteY9" fmla="*/ 347531 h 550128"/>
              <a:gd name="connsiteX10" fmla="*/ 204781 w 609050"/>
              <a:gd name="connsiteY10" fmla="*/ 347531 h 550128"/>
              <a:gd name="connsiteX11" fmla="*/ 203040 w 609050"/>
              <a:gd name="connsiteY11" fmla="*/ 376355 h 550128"/>
              <a:gd name="connsiteX12" fmla="*/ 204781 w 609050"/>
              <a:gd name="connsiteY12" fmla="*/ 405469 h 550128"/>
              <a:gd name="connsiteX13" fmla="*/ 203040 w 609050"/>
              <a:gd name="connsiteY13" fmla="*/ 405469 h 550128"/>
              <a:gd name="connsiteX14" fmla="*/ 0 w 609050"/>
              <a:gd name="connsiteY14" fmla="*/ 318562 h 550128"/>
              <a:gd name="connsiteX15" fmla="*/ 435036 w 609050"/>
              <a:gd name="connsiteY15" fmla="*/ 202593 h 550128"/>
              <a:gd name="connsiteX16" fmla="*/ 609050 w 609050"/>
              <a:gd name="connsiteY16" fmla="*/ 376361 h 550128"/>
              <a:gd name="connsiteX17" fmla="*/ 435036 w 609050"/>
              <a:gd name="connsiteY17" fmla="*/ 550128 h 550128"/>
              <a:gd name="connsiteX18" fmla="*/ 317721 w 609050"/>
              <a:gd name="connsiteY18" fmla="*/ 504659 h 550128"/>
              <a:gd name="connsiteX19" fmla="*/ 280888 w 609050"/>
              <a:gd name="connsiteY19" fmla="*/ 457018 h 550128"/>
              <a:gd name="connsiteX20" fmla="*/ 262761 w 609050"/>
              <a:gd name="connsiteY20" fmla="*/ 401267 h 550128"/>
              <a:gd name="connsiteX21" fmla="*/ 261021 w 609050"/>
              <a:gd name="connsiteY21" fmla="*/ 376361 h 550128"/>
              <a:gd name="connsiteX22" fmla="*/ 264067 w 609050"/>
              <a:gd name="connsiteY22" fmla="*/ 343634 h 550128"/>
              <a:gd name="connsiteX23" fmla="*/ 290024 w 609050"/>
              <a:gd name="connsiteY23" fmla="*/ 280499 h 550128"/>
              <a:gd name="connsiteX24" fmla="*/ 405888 w 609050"/>
              <a:gd name="connsiteY24" fmla="*/ 205055 h 550128"/>
              <a:gd name="connsiteX25" fmla="*/ 435036 w 609050"/>
              <a:gd name="connsiteY25" fmla="*/ 202593 h 550128"/>
              <a:gd name="connsiteX26" fmla="*/ 0 w 609050"/>
              <a:gd name="connsiteY26" fmla="*/ 179589 h 550128"/>
              <a:gd name="connsiteX27" fmla="*/ 25955 w 609050"/>
              <a:gd name="connsiteY27" fmla="*/ 194643 h 550128"/>
              <a:gd name="connsiteX28" fmla="*/ 203003 w 609050"/>
              <a:gd name="connsiteY28" fmla="*/ 231699 h 550128"/>
              <a:gd name="connsiteX29" fmla="*/ 256364 w 609050"/>
              <a:gd name="connsiteY29" fmla="*/ 228804 h 550128"/>
              <a:gd name="connsiteX30" fmla="*/ 219968 w 609050"/>
              <a:gd name="connsiteY30" fmla="*/ 289166 h 550128"/>
              <a:gd name="connsiteX31" fmla="*/ 203003 w 609050"/>
              <a:gd name="connsiteY31" fmla="*/ 289600 h 550128"/>
              <a:gd name="connsiteX32" fmla="*/ 0 w 609050"/>
              <a:gd name="connsiteY32" fmla="*/ 202749 h 550128"/>
              <a:gd name="connsiteX33" fmla="*/ 203017 w 609050"/>
              <a:gd name="connsiteY33" fmla="*/ 0 h 550128"/>
              <a:gd name="connsiteX34" fmla="*/ 406034 w 609050"/>
              <a:gd name="connsiteY34" fmla="*/ 86902 h 550128"/>
              <a:gd name="connsiteX35" fmla="*/ 203017 w 609050"/>
              <a:gd name="connsiteY35" fmla="*/ 173804 h 550128"/>
              <a:gd name="connsiteX36" fmla="*/ 0 w 609050"/>
              <a:gd name="connsiteY36" fmla="*/ 86902 h 550128"/>
              <a:gd name="connsiteX37" fmla="*/ 203017 w 609050"/>
              <a:gd name="connsiteY37" fmla="*/ 0 h 550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9050" h="550128">
                <a:moveTo>
                  <a:pt x="0" y="411255"/>
                </a:moveTo>
                <a:cubicBezTo>
                  <a:pt x="7974" y="416611"/>
                  <a:pt x="16529" y="421677"/>
                  <a:pt x="25953" y="426310"/>
                </a:cubicBezTo>
                <a:cubicBezTo>
                  <a:pt x="73656" y="450194"/>
                  <a:pt x="136583" y="463367"/>
                  <a:pt x="202989" y="463367"/>
                </a:cubicBezTo>
                <a:cubicBezTo>
                  <a:pt x="208644" y="463367"/>
                  <a:pt x="214154" y="463222"/>
                  <a:pt x="219808" y="462933"/>
                </a:cubicBezTo>
                <a:cubicBezTo>
                  <a:pt x="227783" y="483054"/>
                  <a:pt x="238657" y="501583"/>
                  <a:pt x="251707" y="518375"/>
                </a:cubicBezTo>
                <a:cubicBezTo>
                  <a:pt x="236193" y="520256"/>
                  <a:pt x="219953" y="521125"/>
                  <a:pt x="202989" y="521125"/>
                </a:cubicBezTo>
                <a:cubicBezTo>
                  <a:pt x="86850" y="521125"/>
                  <a:pt x="0" y="475382"/>
                  <a:pt x="0" y="434416"/>
                </a:cubicBezTo>
                <a:close/>
                <a:moveTo>
                  <a:pt x="0" y="295387"/>
                </a:moveTo>
                <a:cubicBezTo>
                  <a:pt x="7976" y="300746"/>
                  <a:pt x="16533" y="305816"/>
                  <a:pt x="25960" y="310451"/>
                </a:cubicBezTo>
                <a:cubicBezTo>
                  <a:pt x="73675" y="334350"/>
                  <a:pt x="136617" y="347531"/>
                  <a:pt x="203040" y="347531"/>
                </a:cubicBezTo>
                <a:cubicBezTo>
                  <a:pt x="203621" y="347531"/>
                  <a:pt x="204201" y="347531"/>
                  <a:pt x="204781" y="347531"/>
                </a:cubicBezTo>
                <a:cubicBezTo>
                  <a:pt x="203621" y="356946"/>
                  <a:pt x="203040" y="366651"/>
                  <a:pt x="203040" y="376355"/>
                </a:cubicBezTo>
                <a:cubicBezTo>
                  <a:pt x="203040" y="386205"/>
                  <a:pt x="203621" y="395909"/>
                  <a:pt x="204781" y="405469"/>
                </a:cubicBezTo>
                <a:cubicBezTo>
                  <a:pt x="204201" y="405469"/>
                  <a:pt x="203621" y="405469"/>
                  <a:pt x="203040" y="405469"/>
                </a:cubicBezTo>
                <a:cubicBezTo>
                  <a:pt x="86872" y="405469"/>
                  <a:pt x="0" y="359553"/>
                  <a:pt x="0" y="318562"/>
                </a:cubicBezTo>
                <a:close/>
                <a:moveTo>
                  <a:pt x="435036" y="202593"/>
                </a:moveTo>
                <a:cubicBezTo>
                  <a:pt x="530889" y="202593"/>
                  <a:pt x="609050" y="280644"/>
                  <a:pt x="609050" y="376361"/>
                </a:cubicBezTo>
                <a:cubicBezTo>
                  <a:pt x="609050" y="472222"/>
                  <a:pt x="530889" y="550128"/>
                  <a:pt x="435036" y="550128"/>
                </a:cubicBezTo>
                <a:cubicBezTo>
                  <a:pt x="389792" y="550128"/>
                  <a:pt x="348754" y="532896"/>
                  <a:pt x="317721" y="504659"/>
                </a:cubicBezTo>
                <a:cubicBezTo>
                  <a:pt x="302785" y="491192"/>
                  <a:pt x="290314" y="474974"/>
                  <a:pt x="280888" y="457018"/>
                </a:cubicBezTo>
                <a:cubicBezTo>
                  <a:pt x="271897" y="439930"/>
                  <a:pt x="265517" y="421106"/>
                  <a:pt x="262761" y="401267"/>
                </a:cubicBezTo>
                <a:cubicBezTo>
                  <a:pt x="261601" y="393158"/>
                  <a:pt x="261021" y="384904"/>
                  <a:pt x="261021" y="376361"/>
                </a:cubicBezTo>
                <a:cubicBezTo>
                  <a:pt x="261021" y="365210"/>
                  <a:pt x="262036" y="354350"/>
                  <a:pt x="264067" y="343634"/>
                </a:cubicBezTo>
                <a:cubicBezTo>
                  <a:pt x="268417" y="320755"/>
                  <a:pt x="277408" y="299324"/>
                  <a:pt x="290024" y="280499"/>
                </a:cubicBezTo>
                <a:cubicBezTo>
                  <a:pt x="316126" y="241256"/>
                  <a:pt x="357599" y="213309"/>
                  <a:pt x="405888" y="205055"/>
                </a:cubicBezTo>
                <a:cubicBezTo>
                  <a:pt x="415314" y="203462"/>
                  <a:pt x="425030" y="202593"/>
                  <a:pt x="435036" y="202593"/>
                </a:cubicBezTo>
                <a:close/>
                <a:moveTo>
                  <a:pt x="0" y="179589"/>
                </a:moveTo>
                <a:cubicBezTo>
                  <a:pt x="7975" y="184945"/>
                  <a:pt x="16530" y="190011"/>
                  <a:pt x="25955" y="194643"/>
                </a:cubicBezTo>
                <a:cubicBezTo>
                  <a:pt x="73661" y="218527"/>
                  <a:pt x="136592" y="231699"/>
                  <a:pt x="203003" y="231699"/>
                </a:cubicBezTo>
                <a:cubicBezTo>
                  <a:pt x="221128" y="231699"/>
                  <a:pt x="238963" y="230686"/>
                  <a:pt x="256364" y="228804"/>
                </a:cubicBezTo>
                <a:cubicBezTo>
                  <a:pt x="241284" y="246754"/>
                  <a:pt x="228958" y="267164"/>
                  <a:pt x="219968" y="289166"/>
                </a:cubicBezTo>
                <a:cubicBezTo>
                  <a:pt x="214458" y="289455"/>
                  <a:pt x="208658" y="289600"/>
                  <a:pt x="203003" y="289600"/>
                </a:cubicBezTo>
                <a:cubicBezTo>
                  <a:pt x="86856" y="289600"/>
                  <a:pt x="0" y="243714"/>
                  <a:pt x="0" y="202749"/>
                </a:cubicBezTo>
                <a:close/>
                <a:moveTo>
                  <a:pt x="203017" y="0"/>
                </a:moveTo>
                <a:cubicBezTo>
                  <a:pt x="315140" y="0"/>
                  <a:pt x="406034" y="38907"/>
                  <a:pt x="406034" y="86902"/>
                </a:cubicBezTo>
                <a:cubicBezTo>
                  <a:pt x="406034" y="134897"/>
                  <a:pt x="315140" y="173804"/>
                  <a:pt x="203017" y="173804"/>
                </a:cubicBezTo>
                <a:cubicBezTo>
                  <a:pt x="90894" y="173804"/>
                  <a:pt x="0" y="134897"/>
                  <a:pt x="0" y="86902"/>
                </a:cubicBezTo>
                <a:cubicBezTo>
                  <a:pt x="0" y="38907"/>
                  <a:pt x="90894" y="0"/>
                  <a:pt x="203017" y="0"/>
                </a:cubicBezTo>
                <a:close/>
              </a:path>
            </a:pathLst>
          </a:custGeom>
          <a:solidFill>
            <a:srgbClr val="4C5252"/>
          </a:solid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dirty="0"/>
          </a:p>
        </p:txBody>
      </p:sp>
      <p:sp>
        <p:nvSpPr>
          <p:cNvPr id="27" name="下箭头 26"/>
          <p:cNvSpPr/>
          <p:nvPr/>
        </p:nvSpPr>
        <p:spPr>
          <a:xfrm>
            <a:off x="9698983" y="1927421"/>
            <a:ext cx="165701" cy="659854"/>
          </a:xfrm>
          <a:prstGeom prst="downArrow">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9" name="曲线连接符 28"/>
          <p:cNvCxnSpPr>
            <a:stCxn id="20" idx="7"/>
            <a:endCxn id="10" idx="6"/>
          </p:cNvCxnSpPr>
          <p:nvPr/>
        </p:nvCxnSpPr>
        <p:spPr>
          <a:xfrm flipH="1" flipV="1">
            <a:off x="10816590" y="1499870"/>
            <a:ext cx="372745" cy="1323340"/>
          </a:xfrm>
          <a:prstGeom prst="curvedConnector3">
            <a:avLst>
              <a:gd name="adj1" fmla="val -149404"/>
            </a:avLst>
          </a:prstGeom>
          <a:ln>
            <a:solidFill>
              <a:schemeClr val="tx2">
                <a:lumMod val="60000"/>
                <a:lumOff val="40000"/>
              </a:schemeClr>
            </a:solidFill>
            <a:tailEnd type="triangle"/>
          </a:ln>
        </p:spPr>
        <p:style>
          <a:lnRef idx="3">
            <a:schemeClr val="dk1"/>
          </a:lnRef>
          <a:fillRef idx="0">
            <a:schemeClr val="dk1"/>
          </a:fillRef>
          <a:effectRef idx="2">
            <a:schemeClr val="dk1"/>
          </a:effectRef>
          <a:fontRef idx="minor">
            <a:schemeClr val="tx1"/>
          </a:fontRef>
        </p:style>
      </p:cxnSp>
      <p:sp>
        <p:nvSpPr>
          <p:cNvPr id="33" name="文本占位符 2"/>
          <p:cNvSpPr txBox="1"/>
          <p:nvPr/>
        </p:nvSpPr>
        <p:spPr>
          <a:xfrm>
            <a:off x="9133201" y="2161355"/>
            <a:ext cx="702442" cy="42368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zh-CN" altLang="en-US"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产生</a:t>
            </a:r>
            <a:endParaRPr kumimoji="0" lang="en-US" altLang="zh-CN"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34" name="文本占位符 2"/>
          <p:cNvSpPr txBox="1"/>
          <p:nvPr/>
        </p:nvSpPr>
        <p:spPr>
          <a:xfrm>
            <a:off x="10984910" y="2110066"/>
            <a:ext cx="702442" cy="42368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lang="zh-CN" altLang="en-US" dirty="0">
                <a:solidFill>
                  <a:prstClr val="black">
                    <a:lumMod val="85000"/>
                    <a:lumOff val="15000"/>
                  </a:prstClr>
                </a:solidFill>
                <a:latin typeface="Roboto" panose="02000000000000000000" pitchFamily="2" charset="0"/>
                <a:ea typeface="Alibaba PuHuiTi" pitchFamily="18" charset="-122"/>
                <a:cs typeface="Alibaba PuHuiTi" pitchFamily="18" charset="-122"/>
              </a:rPr>
              <a:t>估计</a:t>
            </a:r>
            <a:endParaRPr kumimoji="0" lang="en-US" altLang="zh-CN"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35" name="文本占位符 2"/>
              <p:cNvSpPr txBox="1"/>
              <p:nvPr/>
            </p:nvSpPr>
            <p:spPr>
              <a:xfrm>
                <a:off x="1424940" y="4330700"/>
                <a:ext cx="5796915" cy="161671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lvl="0">
                  <a:defRPr/>
                </a:pP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P(D|</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P {</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正面，反面，反面，正面，正面，正面</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endPar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endParaRPr>
              </a:p>
              <a:p>
                <a:pPr lvl="0">
                  <a:defRPr/>
                </a:pP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P(</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正面</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P(</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反面</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P(</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反面</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P(</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正面</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P(</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正面</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P(</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正面</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endPar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endParaRPr>
              </a:p>
              <a:p>
                <a:pPr lvl="0">
                  <a:defRPr/>
                </a:pP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(1-</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(1-</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𝜃*𝜃*𝜃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14:m>
                  <m:oMath xmlns:m="http://schemas.openxmlformats.org/officeDocument/2006/math">
                    <m:sSup>
                      <m:sSupPr>
                        <m:ctrlPr>
                          <a:rPr lang="en-US" altLang="zh-CN" sz="140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pPr>
                      <m:e>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e>
                      <m:sup>
                        <m:r>
                          <a:rPr lang="en-US" altLang="zh-CN" sz="1400" b="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4</m:t>
                        </m:r>
                      </m:sup>
                    </m:sSup>
                    <m:sSup>
                      <m:sSupPr>
                        <m:ctrlPr>
                          <a:rPr kumimoji="0" lang="en-US" altLang="zh-CN" sz="1400" b="0" i="1" u="none" strike="noStrike" kern="1200" cap="none" spc="0" normalizeH="0" baseline="0" noProof="0" dirty="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sSupPr>
                      <m:e>
                        <m:r>
                          <a:rPr kumimoji="0" lang="en-US" altLang="zh-CN" sz="1400" b="0" i="1" u="none" strike="noStrike" kern="1200" cap="none" spc="0" normalizeH="0" baseline="0" noProof="0" dirty="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m:t>
                        </m:r>
                        <m:r>
                          <a:rPr kumimoji="0" lang="en-US" altLang="zh-CN" sz="1400" b="0" i="1" u="none" strike="noStrike" kern="1200" cap="none" spc="0" normalizeH="0" baseline="0" noProof="0" dirty="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1</m:t>
                        </m:r>
                        <m:r>
                          <a:rPr kumimoji="0" lang="en-US" altLang="zh-CN" sz="1400" b="0" i="1" u="none" strike="noStrike" kern="1200" cap="none" spc="0" normalizeH="0" baseline="0" noProof="0" dirty="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m:t>
                        </m:r>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r>
                          <a:rPr kumimoji="0" lang="en-US" altLang="zh-CN" sz="1400" b="0" i="1" u="none" strike="noStrike" kern="1200" cap="none" spc="0" normalizeH="0" baseline="0" noProof="0" dirty="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m:t>
                        </m:r>
                      </m:e>
                      <m:sup>
                        <m:r>
                          <a:rPr kumimoji="0" lang="en-US" altLang="zh-CN" sz="1400" b="0" i="1" u="none" strike="noStrike" kern="1200" cap="none" spc="0" normalizeH="0" baseline="0" noProof="0" dirty="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2</m:t>
                        </m:r>
                      </m:sup>
                    </m:sSup>
                  </m:oMath>
                </a14:m>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  </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a:p>
                <a:pPr lvl="0">
                  <a:defRPr/>
                </a:pP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问题转化为：</a:t>
                </a:r>
                <a:r>
                  <a:rPr lang="zh-CN" altLang="en-US" sz="1400" dirty="0">
                    <a:solidFill>
                      <a:schemeClr val="accent2">
                        <a:lumMod val="75000"/>
                      </a:schemeClr>
                    </a:solidFill>
                    <a:latin typeface="Roboto" panose="02000000000000000000" pitchFamily="2" charset="0"/>
                    <a:ea typeface="Alibaba PuHuiTi" pitchFamily="18" charset="-122"/>
                    <a:cs typeface="Alibaba PuHuiTi" pitchFamily="18" charset="-122"/>
                  </a:rPr>
                  <a:t>求此函数的极大值时，估计𝜃为多少！</a:t>
                </a:r>
                <a:endParaRPr lang="en-US" altLang="zh-CN" sz="1400" dirty="0">
                  <a:solidFill>
                    <a:schemeClr val="accent2">
                      <a:lumMod val="75000"/>
                    </a:schemeClr>
                  </a:solidFill>
                  <a:latin typeface="Roboto" panose="02000000000000000000" pitchFamily="2" charset="0"/>
                  <a:ea typeface="Alibaba PuHuiTi" pitchFamily="18" charset="-122"/>
                  <a:cs typeface="Alibaba PuHuiTi" pitchFamily="18" charset="-122"/>
                </a:endParaRPr>
              </a:p>
            </p:txBody>
          </p:sp>
        </mc:Choice>
        <mc:Fallback>
          <p:sp>
            <p:nvSpPr>
              <p:cNvPr id="35" name="文本占位符 2"/>
              <p:cNvSpPr txBox="1">
                <a:spLocks noRot="1" noChangeAspect="1" noMove="1" noResize="1" noEditPoints="1" noAdjustHandles="1" noChangeArrowheads="1" noChangeShapeType="1" noTextEdit="1"/>
              </p:cNvSpPr>
              <p:nvPr/>
            </p:nvSpPr>
            <p:spPr>
              <a:xfrm>
                <a:off x="1424940" y="4330700"/>
                <a:ext cx="5796915" cy="161671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文本占位符 2"/>
              <p:cNvSpPr txBox="1"/>
              <p:nvPr/>
            </p:nvSpPr>
            <p:spPr>
              <a:xfrm>
                <a:off x="7160895" y="4086860"/>
                <a:ext cx="5031105" cy="22440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lvl="0">
                  <a:defRPr/>
                </a:pP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f(</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14:m>
                  <m:oMath xmlns:m="http://schemas.openxmlformats.org/officeDocument/2006/math">
                    <m:sSup>
                      <m:sSupPr>
                        <m:ctrl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pPr>
                      <m:e>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e>
                      <m:sup>
                        <m: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4</m:t>
                        </m:r>
                      </m:sup>
                    </m:sSup>
                    <m:sSup>
                      <m:sSupPr>
                        <m:ctrlP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pPr>
                      <m:e>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1</m:t>
                        </m:r>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e>
                      <m:sup>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2</m:t>
                        </m:r>
                      </m:sup>
                    </m:sSup>
                  </m:oMath>
                </a14:m>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zh-CN" altLang="en-US" sz="1400" dirty="0">
                    <a:solidFill>
                      <a:schemeClr val="accent2">
                        <a:lumMod val="75000"/>
                      </a:schemeClr>
                    </a:solidFill>
                    <a:latin typeface="Roboto" panose="02000000000000000000" pitchFamily="2" charset="0"/>
                    <a:ea typeface="Alibaba PuHuiTi" pitchFamily="18" charset="-122"/>
                    <a:cs typeface="Alibaba PuHuiTi" pitchFamily="18" charset="-122"/>
                  </a:rPr>
                  <a:t>令导数</a:t>
                </a:r>
                <a:r>
                  <a:rPr lang="en-US" altLang="zh-CN" sz="1400" dirty="0">
                    <a:solidFill>
                      <a:schemeClr val="accent2">
                        <a:lumMod val="75000"/>
                      </a:schemeClr>
                    </a:solidFill>
                    <a:latin typeface="Roboto" panose="02000000000000000000" pitchFamily="2" charset="0"/>
                    <a:ea typeface="Alibaba PuHuiTi" pitchFamily="18" charset="-122"/>
                    <a:cs typeface="Alibaba PuHuiTi" pitchFamily="18" charset="-122"/>
                  </a:rPr>
                  <a:t>=0</a:t>
                </a:r>
                <a:r>
                  <a:rPr lang="zh-CN" altLang="en-US" sz="1400" dirty="0">
                    <a:solidFill>
                      <a:schemeClr val="accent2">
                        <a:lumMod val="75000"/>
                      </a:schemeClr>
                    </a:solidFill>
                    <a:latin typeface="Roboto" panose="02000000000000000000" pitchFamily="2" charset="0"/>
                    <a:ea typeface="Alibaba PuHuiTi" pitchFamily="18" charset="-122"/>
                    <a:cs typeface="Alibaba PuHuiTi" pitchFamily="18" charset="-122"/>
                  </a:rPr>
                  <a:t>求极值，可估计出𝜃值</a:t>
                </a:r>
                <a:endParaRPr lang="en-US" altLang="zh-CN" sz="1400" dirty="0">
                  <a:solidFill>
                    <a:schemeClr val="accent2">
                      <a:lumMod val="75000"/>
                    </a:schemeClr>
                  </a:solidFill>
                  <a:latin typeface="Roboto" panose="02000000000000000000" pitchFamily="2" charset="0"/>
                  <a:ea typeface="Alibaba PuHuiTi" pitchFamily="18" charset="-122"/>
                  <a:cs typeface="Alibaba PuHuiTi" pitchFamily="18" charset="-122"/>
                </a:endParaRPr>
              </a:p>
              <a:p>
                <a:pPr lvl="0">
                  <a:defRPr/>
                </a:pP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14:m>
                  <m:oMath xmlns:m="http://schemas.openxmlformats.org/officeDocument/2006/math">
                    <m:f>
                      <m:fPr>
                        <m:ctrlPr>
                          <a:rPr lang="en-GB" altLang="zh-CN" sz="140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fPr>
                      <m:num>
                        <m:r>
                          <a:rPr lang="en-GB" altLang="zh-CN" sz="140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m:rPr>
                            <m:sty m:val="p"/>
                          </m:rPr>
                          <a:rPr lang="en-GB"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f</m:t>
                        </m:r>
                        <m:r>
                          <a:rPr lang="en-US" altLang="zh-CN" sz="1400" b="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r>
                          <a:rPr lang="en-US" altLang="zh-CN" sz="1400" b="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num>
                      <m:den>
                        <m:r>
                          <a:rPr lang="en-GB" altLang="zh-CN" sz="140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den>
                    </m:f>
                  </m:oMath>
                </a14:m>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4</a:t>
                </a:r>
                <a14:m>
                  <m:oMath xmlns:m="http://schemas.openxmlformats.org/officeDocument/2006/math">
                    <m:sSup>
                      <m:sSupPr>
                        <m:ctrl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pPr>
                      <m:e>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e>
                      <m:sup>
                        <m:r>
                          <a:rPr lang="en-US" altLang="zh-CN" sz="1400" b="0" i="1" dirty="0"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4</m:t>
                        </m:r>
                        <m:r>
                          <a:rPr lang="en-US" altLang="zh-CN" sz="1400" b="0" i="1" dirty="0"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a:rPr lang="en-US" altLang="zh-CN" sz="1400" b="0" i="1" dirty="0"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1</m:t>
                        </m:r>
                      </m:sup>
                    </m:sSup>
                    <m:sSup>
                      <m:sSupPr>
                        <m:ctrlP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pPr>
                      <m:e>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1</m:t>
                        </m:r>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e>
                      <m:sup>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2</m:t>
                        </m:r>
                      </m:sup>
                    </m:sSup>
                  </m:oMath>
                </a14:m>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14:m>
                  <m:oMath xmlns:m="http://schemas.openxmlformats.org/officeDocument/2006/math">
                    <m:sSup>
                      <m:sSupPr>
                        <m:ctrl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pPr>
                      <m:e>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e>
                      <m:sup>
                        <m: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4</m:t>
                        </m:r>
                      </m:sup>
                    </m:sSup>
                  </m:oMath>
                </a14:m>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2(1-</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)(-1)</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endPar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endParaRPr>
              </a:p>
              <a:p>
                <a:pPr lvl="0">
                  <a:defRPr/>
                </a:pP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14:m>
                  <m:oMath xmlns:m="http://schemas.openxmlformats.org/officeDocument/2006/math">
                    <m:sSup>
                      <m:sSupPr>
                        <m:ctrl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pPr>
                      <m:e>
                        <m:r>
                          <m:rPr>
                            <m:nor/>
                          </m:rPr>
                          <a:rPr lang="en-US" altLang="zh-CN" sz="1400" b="0" i="0"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4</m:t>
                        </m:r>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e>
                      <m:sup>
                        <m:r>
                          <a:rPr lang="en-US" altLang="zh-CN" sz="1400" b="0" i="1" dirty="0"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3</m:t>
                        </m:r>
                      </m:sup>
                    </m:sSup>
                  </m:oMath>
                </a14:m>
                <a:r>
                  <a:rPr lang="en-US" altLang="zh-CN" sz="1400" dirty="0">
                    <a:solidFill>
                      <a:prstClr val="black">
                        <a:lumMod val="85000"/>
                        <a:lumOff val="15000"/>
                      </a:prstClr>
                    </a:solidFill>
                    <a:ea typeface="Alibaba PuHuiTi" pitchFamily="18" charset="-122"/>
                    <a:cs typeface="Alibaba PuHuiTi" pitchFamily="18" charset="-122"/>
                  </a:rPr>
                  <a:t> </a:t>
                </a:r>
                <a14:m>
                  <m:oMath xmlns:m="http://schemas.openxmlformats.org/officeDocument/2006/math">
                    <m:sSup>
                      <m:sSupPr>
                        <m:ctrlP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pPr>
                      <m:e>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1</m:t>
                        </m:r>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e>
                      <m:sup>
                        <m:r>
                          <a:rPr lang="en-US" altLang="zh-CN" sz="1400" i="1" dirty="0">
                            <a:solidFill>
                              <a:prstClr val="black">
                                <a:lumMod val="85000"/>
                                <a:lumOff val="15000"/>
                              </a:prstClr>
                            </a:solidFill>
                            <a:latin typeface="Cambria Math" panose="02040503050406030204" pitchFamily="18" charset="0"/>
                            <a:ea typeface="Alibaba PuHuiTi" pitchFamily="18" charset="-122"/>
                            <a:cs typeface="Alibaba PuHuiTi" pitchFamily="18" charset="-122"/>
                          </a:rPr>
                          <m:t>2</m:t>
                        </m:r>
                      </m:sup>
                    </m:sSup>
                  </m:oMath>
                </a14:m>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2</a:t>
                </a:r>
                <a:r>
                  <a:rPr lang="en-US" altLang="zh-CN" sz="1400" dirty="0">
                    <a:solidFill>
                      <a:prstClr val="black">
                        <a:lumMod val="85000"/>
                        <a:lumOff val="15000"/>
                      </a:prstClr>
                    </a:solidFill>
                    <a:ea typeface="Alibaba PuHuiTi" pitchFamily="18" charset="-122"/>
                    <a:cs typeface="Alibaba PuHuiTi" pitchFamily="18" charset="-122"/>
                  </a:rPr>
                  <a:t> </a:t>
                </a:r>
                <a14:m>
                  <m:oMath xmlns:m="http://schemas.openxmlformats.org/officeDocument/2006/math">
                    <m:sSup>
                      <m:sSupPr>
                        <m:ctrl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pPr>
                      <m:e>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e>
                      <m:sup>
                        <m: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4</m:t>
                        </m:r>
                      </m:sup>
                    </m:sSup>
                    <m:r>
                      <a:rPr lang="en-US" altLang="zh-CN" sz="1400" b="0" i="0"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a:rPr lang="en-US" altLang="zh-CN" sz="1400" b="0" i="0"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1</m:t>
                    </m:r>
                    <m:r>
                      <a:rPr lang="en-US" altLang="zh-CN" sz="1400" b="0" i="0"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r>
                      <a:rPr lang="en-US" altLang="zh-CN" sz="1400" b="0" i="0"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oMath>
                </a14:m>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endPar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endParaRPr>
              </a:p>
              <a:p>
                <a:pPr lvl="0">
                  <a:defRPr/>
                </a:pP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14:m>
                  <m:oMath xmlns:m="http://schemas.openxmlformats.org/officeDocument/2006/math">
                    <m:sSup>
                      <m:sSupPr>
                        <m:ctrl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pPr>
                      <m:e>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e>
                      <m:sup>
                        <m:r>
                          <a:rPr lang="en-US" altLang="zh-CN" sz="1400" b="0" i="1" dirty="0"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3</m:t>
                        </m:r>
                      </m:sup>
                    </m:sSup>
                    <m:r>
                      <a:rPr lang="en-US" altLang="zh-CN" sz="140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a:rPr lang="en-US" altLang="zh-CN" sz="1400">
                        <a:solidFill>
                          <a:prstClr val="black">
                            <a:lumMod val="85000"/>
                            <a:lumOff val="15000"/>
                          </a:prstClr>
                        </a:solidFill>
                        <a:latin typeface="Cambria Math" panose="02040503050406030204" pitchFamily="18" charset="0"/>
                        <a:ea typeface="Alibaba PuHuiTi" pitchFamily="18" charset="-122"/>
                        <a:cs typeface="Alibaba PuHuiTi" pitchFamily="18" charset="-122"/>
                      </a:rPr>
                      <m:t>1</m:t>
                    </m:r>
                    <m:r>
                      <a:rPr lang="en-US" altLang="zh-CN" sz="140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r>
                      <a:rPr lang="en-US" altLang="zh-CN" sz="140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oMath>
                </a14:m>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(4-6</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𝜃</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0</a:t>
                </a:r>
                <a:endPar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endParaRPr>
              </a:p>
              <a:p>
                <a:pPr>
                  <a:defRPr/>
                </a:pP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从而得：</a:t>
                </a:r>
                <a14:m>
                  <m:oMath xmlns:m="http://schemas.openxmlformats.org/officeDocument/2006/math">
                    <m:sSub>
                      <m:sSubPr>
                        <m:ctrlPr>
                          <a:rPr lang="en-US" altLang="zh-CN" sz="140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bPr>
                      <m:e>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e>
                      <m:sub>
                        <m:r>
                          <a:rPr lang="en-US" altLang="zh-CN" sz="1400" b="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1</m:t>
                        </m:r>
                      </m:sub>
                    </m:sSub>
                  </m:oMath>
                </a14:m>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0</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14:m>
                  <m:oMath xmlns:m="http://schemas.openxmlformats.org/officeDocument/2006/math">
                    <m:sSub>
                      <m:sSubPr>
                        <m:ctrl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bPr>
                      <m:e>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e>
                      <m:sub>
                        <m:r>
                          <a:rPr lang="en-US" altLang="zh-CN" sz="1400" b="0" i="1" dirty="0"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2</m:t>
                        </m:r>
                      </m:sub>
                    </m:sSub>
                  </m:oMath>
                </a14:m>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1</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en-US" altLang="zh-CN" sz="1400" dirty="0">
                    <a:solidFill>
                      <a:prstClr val="black">
                        <a:lumMod val="85000"/>
                        <a:lumOff val="15000"/>
                      </a:prstClr>
                    </a:solidFill>
                    <a:ea typeface="Alibaba PuHuiTi" pitchFamily="18" charset="-122"/>
                    <a:cs typeface="Alibaba PuHuiTi" pitchFamily="18" charset="-122"/>
                  </a:rPr>
                  <a:t> </a:t>
                </a:r>
                <a14:m>
                  <m:oMath xmlns:m="http://schemas.openxmlformats.org/officeDocument/2006/math">
                    <m:sSub>
                      <m:sSubPr>
                        <m:ctrl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bPr>
                      <m:e>
                        <m:r>
                          <m:rPr>
                            <m:nor/>
                          </m:rP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m:t>𝜃</m:t>
                        </m:r>
                      </m:e>
                      <m:sub>
                        <m:r>
                          <a:rPr lang="en-US" altLang="zh-CN" sz="1400" b="0" i="1" dirty="0"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3</m:t>
                        </m:r>
                      </m:sub>
                    </m:sSub>
                  </m:oMath>
                </a14:m>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a:t>
                </a:r>
                <a:r>
                  <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2/3</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 ； 取</a:t>
                </a:r>
                <a14:m>
                  <m:oMath xmlns:m="http://schemas.openxmlformats.org/officeDocument/2006/math">
                    <m:sSub>
                      <m:sSubPr>
                        <m:ctrlPr>
                          <a:rPr lang="en-US" altLang="zh-CN" sz="1400" i="1" smtClean="0">
                            <a:solidFill>
                              <a:schemeClr val="accent2">
                                <a:lumMod val="75000"/>
                              </a:schemeClr>
                            </a:solidFill>
                            <a:latin typeface="Cambria Math" panose="02040503050406030204" pitchFamily="18" charset="0"/>
                            <a:ea typeface="Alibaba PuHuiTi" pitchFamily="18" charset="-122"/>
                            <a:cs typeface="Alibaba PuHuiTi" pitchFamily="18" charset="-122"/>
                          </a:rPr>
                        </m:ctrlPr>
                      </m:sSubPr>
                      <m:e>
                        <m:r>
                          <m:rPr>
                            <m:nor/>
                          </m:rPr>
                          <a:rPr lang="zh-CN" altLang="en-US" sz="1400" dirty="0">
                            <a:solidFill>
                              <a:schemeClr val="accent2">
                                <a:lumMod val="75000"/>
                              </a:schemeClr>
                            </a:solidFill>
                            <a:latin typeface="Roboto" panose="02000000000000000000" pitchFamily="2" charset="0"/>
                            <a:ea typeface="Alibaba PuHuiTi" pitchFamily="18" charset="-122"/>
                            <a:cs typeface="Alibaba PuHuiTi" pitchFamily="18" charset="-122"/>
                          </a:rPr>
                          <m:t>𝜃</m:t>
                        </m:r>
                      </m:e>
                      <m:sub>
                        <m:r>
                          <a:rPr lang="en-US" altLang="zh-CN" sz="1400" i="1" dirty="0">
                            <a:solidFill>
                              <a:schemeClr val="accent2">
                                <a:lumMod val="75000"/>
                              </a:schemeClr>
                            </a:solidFill>
                            <a:latin typeface="Cambria Math" panose="02040503050406030204" pitchFamily="18" charset="0"/>
                            <a:ea typeface="Alibaba PuHuiTi" pitchFamily="18" charset="-122"/>
                            <a:cs typeface="Alibaba PuHuiTi" pitchFamily="18" charset="-122"/>
                          </a:rPr>
                          <m:t>3</m:t>
                        </m:r>
                      </m:sub>
                    </m:sSub>
                  </m:oMath>
                </a14:m>
                <a:r>
                  <a:rPr lang="zh-CN" altLang="en-US" sz="1400" dirty="0">
                    <a:solidFill>
                      <a:schemeClr val="accent2">
                        <a:lumMod val="75000"/>
                      </a:schemeClr>
                    </a:solidFill>
                    <a:latin typeface="Roboto" panose="02000000000000000000" pitchFamily="2" charset="0"/>
                    <a:ea typeface="Alibaba PuHuiTi" pitchFamily="18" charset="-122"/>
                    <a:cs typeface="Alibaba PuHuiTi" pitchFamily="18" charset="-122"/>
                  </a:rPr>
                  <a:t> </a:t>
                </a:r>
                <a:r>
                  <a:rPr lang="en-US" altLang="zh-CN" sz="1400" dirty="0">
                    <a:solidFill>
                      <a:schemeClr val="accent2">
                        <a:lumMod val="75000"/>
                      </a:schemeClr>
                    </a:solidFill>
                    <a:latin typeface="Roboto" panose="02000000000000000000" pitchFamily="2" charset="0"/>
                    <a:ea typeface="Alibaba PuHuiTi" pitchFamily="18" charset="-122"/>
                    <a:cs typeface="Alibaba PuHuiTi" pitchFamily="18" charset="-122"/>
                  </a:rPr>
                  <a:t>=</a:t>
                </a:r>
                <a:r>
                  <a:rPr lang="zh-CN" altLang="en-US" sz="1400" dirty="0">
                    <a:solidFill>
                      <a:schemeClr val="accent2">
                        <a:lumMod val="75000"/>
                      </a:schemeClr>
                    </a:solidFill>
                    <a:latin typeface="Roboto" panose="02000000000000000000" pitchFamily="2" charset="0"/>
                    <a:ea typeface="Alibaba PuHuiTi" pitchFamily="18" charset="-122"/>
                    <a:cs typeface="Alibaba PuHuiTi" pitchFamily="18" charset="-122"/>
                  </a:rPr>
                  <a:t> </a:t>
                </a:r>
                <a:r>
                  <a:rPr lang="en-US" altLang="zh-CN" sz="1400" dirty="0">
                    <a:solidFill>
                      <a:schemeClr val="accent2">
                        <a:lumMod val="75000"/>
                      </a:schemeClr>
                    </a:solidFill>
                    <a:latin typeface="Roboto" panose="02000000000000000000" pitchFamily="2" charset="0"/>
                    <a:ea typeface="Alibaba PuHuiTi" pitchFamily="18" charset="-122"/>
                    <a:cs typeface="Alibaba PuHuiTi" pitchFamily="18" charset="-122"/>
                  </a:rPr>
                  <a:t>2/3</a:t>
                </a:r>
                <a:r>
                  <a:rPr lang="zh-CN" altLang="en-US" sz="1400" dirty="0">
                    <a:solidFill>
                      <a:schemeClr val="accent2">
                        <a:lumMod val="75000"/>
                      </a:schemeClr>
                    </a:solidFill>
                    <a:latin typeface="Roboto" panose="02000000000000000000" pitchFamily="2" charset="0"/>
                    <a:ea typeface="Alibaba PuHuiTi" pitchFamily="18" charset="-122"/>
                    <a:cs typeface="Alibaba PuHuiTi" pitchFamily="18" charset="-122"/>
                  </a:rPr>
                  <a:t> </a:t>
                </a:r>
                <a:endPar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endParaRPr>
              </a:p>
              <a:p>
                <a:pPr lvl="0">
                  <a:defRPr/>
                </a:pPr>
                <a:endParaRPr lang="en-US" altLang="zh-CN" sz="1400" dirty="0">
                  <a:solidFill>
                    <a:prstClr val="black">
                      <a:lumMod val="85000"/>
                      <a:lumOff val="15000"/>
                    </a:prstClr>
                  </a:solidFill>
                  <a:latin typeface="Roboto" panose="02000000000000000000" pitchFamily="2" charset="0"/>
                  <a:ea typeface="Alibaba PuHuiTi" pitchFamily="18" charset="-122"/>
                  <a:cs typeface="Alibaba PuHuiTi" pitchFamily="18" charset="-122"/>
                </a:endParaRPr>
              </a:p>
            </p:txBody>
          </p:sp>
        </mc:Choice>
        <mc:Fallback>
          <p:sp>
            <p:nvSpPr>
              <p:cNvPr id="36" name="文本占位符 2"/>
              <p:cNvSpPr txBox="1">
                <a:spLocks noRot="1" noChangeAspect="1" noMove="1" noResize="1" noEditPoints="1" noAdjustHandles="1" noChangeArrowheads="1" noChangeShapeType="1" noTextEdit="1"/>
              </p:cNvSpPr>
              <p:nvPr/>
            </p:nvSpPr>
            <p:spPr>
              <a:xfrm>
                <a:off x="7160895" y="4086860"/>
                <a:ext cx="5031105" cy="2244090"/>
              </a:xfrm>
              <a:prstGeom prst="rect">
                <a:avLst/>
              </a:prstGeom>
              <a:blipFill rotWithShape="1">
                <a:blip r:embed="rId2"/>
                <a:stretch>
                  <a:fillRect b="-8574"/>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逻辑回归数学基础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对数函数</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22877" y="1398310"/>
            <a:ext cx="401626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对数函数</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35" name="文本占位符 2"/>
              <p:cNvSpPr txBox="1"/>
              <p:nvPr/>
            </p:nvSpPr>
            <p:spPr>
              <a:xfrm>
                <a:off x="1414780" y="1856740"/>
                <a:ext cx="6325870" cy="11944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lvl="0">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如果</a:t>
                </a:r>
                <a14:m>
                  <m:oMath xmlns:m="http://schemas.openxmlformats.org/officeDocument/2006/math">
                    <m:sSup>
                      <m:sSupPr>
                        <m:ctrlPr>
                          <a:rPr lang="en-US" altLang="zh-CN" sz="1400" i="1" smtClean="0">
                            <a:solidFill>
                              <a:schemeClr val="accent2">
                                <a:lumMod val="75000"/>
                              </a:schemeClr>
                            </a:solidFill>
                            <a:latin typeface="Cambria Math" panose="02040503050406030204" pitchFamily="18" charset="0"/>
                            <a:ea typeface="Alibaba PuHuiTi" pitchFamily="18" charset="-122"/>
                            <a:cs typeface="Alibaba PuHuiTi" pitchFamily="18" charset="-122"/>
                          </a:rPr>
                        </m:ctrlPr>
                      </m:sSupPr>
                      <m:e>
                        <m:r>
                          <m:rPr>
                            <m:sty m:val="p"/>
                          </m:r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a</m:t>
                        </m:r>
                      </m:e>
                      <m:sup>
                        <m:r>
                          <m:rPr>
                            <m:sty m:val="p"/>
                          </m:rPr>
                          <a:rPr lang="en-US" altLang="zh-CN" sz="1400" i="1">
                            <a:solidFill>
                              <a:schemeClr val="accent2">
                                <a:lumMod val="75000"/>
                              </a:schemeClr>
                            </a:solidFill>
                            <a:latin typeface="Cambria Math" panose="02040503050406030204" pitchFamily="18" charset="0"/>
                            <a:ea typeface="Alibaba PuHuiTi" pitchFamily="18" charset="-122"/>
                            <a:cs typeface="Alibaba PuHuiTi" pitchFamily="18" charset="-122"/>
                          </a:rPr>
                          <m:t>b</m:t>
                        </m:r>
                      </m:sup>
                    </m:sSup>
                  </m:oMath>
                </a14:m>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N</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(a</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&gt;</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0,</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b</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1),</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zh-CN" altLang="zh-CN" sz="1400" dirty="0">
                    <a:latin typeface="Alibaba PuHuiTi" pitchFamily="18" charset="-122"/>
                    <a:ea typeface="Alibaba PuHuiTi" pitchFamily="18" charset="-122"/>
                    <a:cs typeface="Alibaba PuHuiTi" pitchFamily="18" charset="-122"/>
                  </a:rPr>
                  <a:t>那么</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b</a:t>
                </a:r>
                <a:r>
                  <a:rPr lang="zh-CN" altLang="zh-CN" sz="1400" dirty="0">
                    <a:solidFill>
                      <a:schemeClr val="accent2">
                        <a:lumMod val="75000"/>
                      </a:schemeClr>
                    </a:solidFill>
                    <a:latin typeface="Alibaba PuHuiTi" pitchFamily="18" charset="-122"/>
                    <a:ea typeface="Alibaba PuHuiTi" pitchFamily="18" charset="-122"/>
                    <a:cs typeface="Alibaba PuHuiTi" pitchFamily="18" charset="-122"/>
                  </a:rPr>
                  <a:t>叫做以</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a:t>
                </a:r>
                <a:r>
                  <a:rPr lang="zh-CN" altLang="zh-CN" sz="1400" dirty="0">
                    <a:solidFill>
                      <a:schemeClr val="accent2">
                        <a:lumMod val="75000"/>
                      </a:schemeClr>
                    </a:solidFill>
                    <a:latin typeface="Alibaba PuHuiTi" pitchFamily="18" charset="-122"/>
                    <a:ea typeface="Alibaba PuHuiTi" pitchFamily="18" charset="-122"/>
                    <a:cs typeface="Alibaba PuHuiTi" pitchFamily="18" charset="-122"/>
                  </a:rPr>
                  <a:t>为底</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N</a:t>
                </a:r>
                <a:r>
                  <a:rPr lang="zh-CN" altLang="zh-CN" sz="1400" dirty="0">
                    <a:solidFill>
                      <a:schemeClr val="accent2">
                        <a:lumMod val="75000"/>
                      </a:schemeClr>
                    </a:solidFill>
                    <a:latin typeface="Alibaba PuHuiTi" pitchFamily="18" charset="-122"/>
                    <a:ea typeface="Alibaba PuHuiTi" pitchFamily="18" charset="-122"/>
                    <a:cs typeface="Alibaba PuHuiTi" pitchFamily="18" charset="-122"/>
                  </a:rPr>
                  <a:t>的对数</a:t>
                </a:r>
                <a:r>
                  <a:rPr lang="zh-CN" altLang="en-US" sz="1400" dirty="0">
                    <a:latin typeface="Alibaba PuHuiTi" pitchFamily="18" charset="-122"/>
                    <a:ea typeface="Alibaba PuHuiTi" pitchFamily="18" charset="-122"/>
                    <a:cs typeface="Alibaba PuHuiTi" pitchFamily="18" charset="-122"/>
                  </a:rPr>
                  <a:t>。记为 </a:t>
                </a:r>
                <a:r>
                  <a:rPr lang="en-US" altLang="zh-CN" sz="1400" dirty="0">
                    <a:latin typeface="Alibaba PuHuiTi" pitchFamily="18" charset="-122"/>
                    <a:ea typeface="Alibaba PuHuiTi" pitchFamily="18" charset="-122"/>
                    <a:cs typeface="Alibaba PuHuiTi" pitchFamily="18" charset="-122"/>
                  </a:rPr>
                  <a:t>b</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14:m>
                  <m:oMath xmlns:m="http://schemas.openxmlformats.org/officeDocument/2006/math">
                    <m:func>
                      <m:funcPr>
                        <m:ctrlPr>
                          <a:rPr lang="en-GB" altLang="zh-CN" sz="1400" i="1" smtClean="0">
                            <a:latin typeface="Cambria Math" panose="02040503050406030204" pitchFamily="18" charset="0"/>
                          </a:rPr>
                        </m:ctrlPr>
                      </m:funcPr>
                      <m:fName>
                        <m:sSub>
                          <m:sSubPr>
                            <m:ctrlPr>
                              <a:rPr lang="en-GB" altLang="zh-CN" sz="1400" i="1" smtClean="0">
                                <a:latin typeface="Cambria Math" panose="02040503050406030204" pitchFamily="18" charset="0"/>
                              </a:rPr>
                            </m:ctrlPr>
                          </m:sSubPr>
                          <m:e>
                            <m:r>
                              <m:rPr>
                                <m:sty m:val="p"/>
                              </m:rPr>
                              <a:rPr lang="en-GB" altLang="zh-CN" sz="1400" i="0" smtClean="0">
                                <a:latin typeface="Cambria Math" panose="02040503050406030204" pitchFamily="18" charset="0"/>
                              </a:rPr>
                              <m:t>log</m:t>
                            </m:r>
                          </m:e>
                          <m:sub>
                            <m:r>
                              <a:rPr lang="en-US" altLang="zh-CN" sz="1400" b="0" i="1" smtClean="0">
                                <a:latin typeface="Cambria Math" panose="02040503050406030204" pitchFamily="18" charset="0"/>
                              </a:rPr>
                              <m:t>𝑎</m:t>
                            </m:r>
                          </m:sub>
                        </m:sSub>
                      </m:fName>
                      <m:e>
                        <m:r>
                          <a:rPr lang="en-US" altLang="zh-CN" sz="1400" b="0" i="1" smtClean="0">
                            <a:latin typeface="Cambria Math" panose="02040503050406030204" pitchFamily="18" charset="0"/>
                          </a:rPr>
                          <m:t>𝑁</m:t>
                        </m:r>
                      </m:e>
                    </m:func>
                  </m:oMath>
                </a14:m>
                <a:endParaRPr lang="en-US" altLang="zh-CN" sz="1400" dirty="0">
                  <a:latin typeface="Alibaba PuHuiTi" pitchFamily="18" charset="-122"/>
                  <a:ea typeface="Alibaba PuHuiTi" pitchFamily="18" charset="-122"/>
                  <a:cs typeface="Alibaba PuHuiTi" pitchFamily="18" charset="-122"/>
                </a:endParaRPr>
              </a:p>
              <a:p>
                <a:pPr>
                  <a:defRPr/>
                </a:pPr>
                <a:r>
                  <a:rPr lang="en-US" altLang="zh-CN" sz="1400" dirty="0" err="1">
                    <a:latin typeface="Alibaba PuHuiTi" pitchFamily="18" charset="-122"/>
                    <a:ea typeface="Alibaba PuHuiTi" pitchFamily="18" charset="-122"/>
                    <a:cs typeface="Alibaba PuHuiTi" pitchFamily="18" charset="-122"/>
                  </a:rPr>
                  <a:t>eg</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14:m>
                  <m:oMath xmlns:m="http://schemas.openxmlformats.org/officeDocument/2006/math">
                    <m:func>
                      <m:funcPr>
                        <m:ctrlPr>
                          <a:rPr lang="en-GB" altLang="zh-CN" sz="1400" i="1">
                            <a:latin typeface="Cambria Math" panose="02040503050406030204" pitchFamily="18" charset="0"/>
                          </a:rPr>
                        </m:ctrlPr>
                      </m:funcPr>
                      <m:fName>
                        <m:sSub>
                          <m:sSubPr>
                            <m:ctrlPr>
                              <a:rPr lang="en-GB" altLang="zh-CN" sz="1400" i="1">
                                <a:latin typeface="Cambria Math" panose="02040503050406030204" pitchFamily="18" charset="0"/>
                              </a:rPr>
                            </m:ctrlPr>
                          </m:sSubPr>
                          <m:e>
                            <m:r>
                              <m:rPr>
                                <m:sty m:val="p"/>
                              </m:rPr>
                              <a:rPr lang="en-GB" altLang="zh-CN" sz="1400">
                                <a:latin typeface="Cambria Math" panose="02040503050406030204" pitchFamily="18" charset="0"/>
                              </a:rPr>
                              <m:t>log</m:t>
                            </m:r>
                          </m:e>
                          <m:sub>
                            <m:r>
                              <a:rPr lang="en-US" altLang="zh-CN" sz="1400" b="0" i="1" smtClean="0">
                                <a:latin typeface="Cambria Math" panose="02040503050406030204" pitchFamily="18" charset="0"/>
                              </a:rPr>
                              <m:t>10</m:t>
                            </m:r>
                          </m:sub>
                        </m:sSub>
                      </m:fName>
                      <m:e>
                        <m:r>
                          <a:rPr lang="en-US" altLang="zh-CN" sz="1400" b="0" i="1" smtClean="0">
                            <a:latin typeface="Cambria Math" panose="02040503050406030204" pitchFamily="18" charset="0"/>
                          </a:rPr>
                          <m:t>100</m:t>
                        </m:r>
                      </m:e>
                    </m:func>
                  </m:oMath>
                </a14:m>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2</a:t>
                </a:r>
                <a:r>
                  <a:rPr lang="zh-CN" altLang="en-US" sz="1400" dirty="0">
                    <a:latin typeface="Alibaba PuHuiTi" pitchFamily="18" charset="-122"/>
                    <a:ea typeface="Alibaba PuHuiTi" pitchFamily="18" charset="-122"/>
                    <a:cs typeface="Alibaba PuHuiTi" pitchFamily="18" charset="-122"/>
                  </a:rPr>
                  <a:t>      </a:t>
                </a:r>
                <a14:m>
                  <m:oMath xmlns:m="http://schemas.openxmlformats.org/officeDocument/2006/math">
                    <m:func>
                      <m:funcPr>
                        <m:ctrlPr>
                          <a:rPr lang="en-GB" altLang="zh-CN" sz="1400" i="1">
                            <a:latin typeface="Cambria Math" panose="02040503050406030204" pitchFamily="18" charset="0"/>
                          </a:rPr>
                        </m:ctrlPr>
                      </m:funcPr>
                      <m:fName>
                        <m:sSub>
                          <m:sSubPr>
                            <m:ctrlPr>
                              <a:rPr lang="en-GB" altLang="zh-CN" sz="1400" i="1">
                                <a:latin typeface="Cambria Math" panose="02040503050406030204" pitchFamily="18" charset="0"/>
                              </a:rPr>
                            </m:ctrlPr>
                          </m:sSubPr>
                          <m:e>
                            <m:r>
                              <m:rPr>
                                <m:sty m:val="p"/>
                              </m:rPr>
                              <a:rPr lang="en-GB" altLang="zh-CN" sz="1400">
                                <a:latin typeface="Cambria Math" panose="02040503050406030204" pitchFamily="18" charset="0"/>
                              </a:rPr>
                              <m:t>log</m:t>
                            </m:r>
                          </m:e>
                          <m:sub>
                            <m:r>
                              <a:rPr lang="en-US" altLang="zh-CN" sz="1400" b="0" i="1" smtClean="0">
                                <a:latin typeface="Cambria Math" panose="02040503050406030204" pitchFamily="18" charset="0"/>
                              </a:rPr>
                              <m:t>2</m:t>
                            </m:r>
                          </m:sub>
                        </m:sSub>
                      </m:fName>
                      <m:e>
                        <m:r>
                          <a:rPr lang="en-US" altLang="zh-CN" sz="1400" i="1">
                            <a:latin typeface="Cambria Math" panose="02040503050406030204" pitchFamily="18" charset="0"/>
                          </a:rPr>
                          <m:t>1</m:t>
                        </m:r>
                        <m:r>
                          <a:rPr lang="en-US" altLang="zh-CN" sz="1400" b="0" i="1" smtClean="0">
                            <a:latin typeface="Cambria Math" panose="02040503050406030204" pitchFamily="18" charset="0"/>
                          </a:rPr>
                          <m:t>6</m:t>
                        </m:r>
                      </m:e>
                    </m:func>
                  </m:oMath>
                </a14:m>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4</a:t>
                </a:r>
                <a:r>
                  <a:rPr lang="zh-CN" altLang="en-US" sz="1400" dirty="0">
                    <a:latin typeface="Alibaba PuHuiTi" pitchFamily="18" charset="-122"/>
                    <a:ea typeface="Alibaba PuHuiTi" pitchFamily="18" charset="-122"/>
                    <a:cs typeface="Alibaba PuHuiTi" pitchFamily="18" charset="-122"/>
                  </a:rPr>
                  <a:t>    </a:t>
                </a:r>
                <a:endParaRPr lang="zh-CN" altLang="en-US" sz="1400" dirty="0">
                  <a:latin typeface="Alibaba PuHuiTi" pitchFamily="18" charset="-122"/>
                  <a:ea typeface="Alibaba PuHuiTi" pitchFamily="18" charset="-122"/>
                  <a:cs typeface="Alibaba PuHuiTi" pitchFamily="18" charset="-122"/>
                </a:endParaRPr>
              </a:p>
              <a:p>
                <a:pPr>
                  <a:defRPr/>
                </a:pPr>
                <a:r>
                  <a:rPr lang="zh-CN" altLang="en-US" sz="1400" dirty="0">
                    <a:latin typeface="Alibaba PuHuiTi" pitchFamily="18" charset="-122"/>
                    <a:ea typeface="Alibaba PuHuiTi" pitchFamily="18" charset="-122"/>
                    <a:cs typeface="Alibaba PuHuiTi" pitchFamily="18" charset="-122"/>
                  </a:rPr>
                  <a:t>注意：</a:t>
                </a:r>
                <a:r>
                  <a:rPr lang="en-US" altLang="zh-CN" sz="1400" dirty="0">
                    <a:latin typeface="Alibaba PuHuiTi" pitchFamily="18" charset="-122"/>
                    <a:ea typeface="Alibaba PuHuiTi" pitchFamily="18" charset="-122"/>
                    <a:cs typeface="Alibaba PuHuiTi" pitchFamily="18" charset="-122"/>
                  </a:rPr>
                  <a:t>a</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&gt;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1 ,</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a</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&lt;</a:t>
                </a:r>
                <a:r>
                  <a:rPr lang="zh-CN" altLang="en-US" sz="1400" dirty="0">
                    <a:latin typeface="Alibaba PuHuiTi" pitchFamily="18" charset="-122"/>
                    <a:ea typeface="Alibaba PuHuiTi" pitchFamily="18" charset="-122"/>
                    <a:cs typeface="Alibaba PuHuiTi" pitchFamily="18" charset="-122"/>
                  </a:rPr>
                  <a:t> </a:t>
                </a:r>
                <a:r>
                  <a:rPr lang="en-US" altLang="zh-CN" sz="1400" dirty="0">
                    <a:latin typeface="Alibaba PuHuiTi" pitchFamily="18" charset="-122"/>
                    <a:ea typeface="Alibaba PuHuiTi" pitchFamily="18" charset="-122"/>
                    <a:cs typeface="Alibaba PuHuiTi" pitchFamily="18" charset="-122"/>
                  </a:rPr>
                  <a:t>1</a:t>
                </a:r>
                <a:r>
                  <a:rPr lang="zh-CN" altLang="en-US" sz="1400" dirty="0">
                    <a:latin typeface="Alibaba PuHuiTi" pitchFamily="18" charset="-122"/>
                    <a:ea typeface="Alibaba PuHuiTi" pitchFamily="18" charset="-122"/>
                    <a:cs typeface="Alibaba PuHuiTi" pitchFamily="18" charset="-122"/>
                  </a:rPr>
                  <a:t>时对数函数的图像</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lvl="0">
                  <a:defRPr/>
                </a:pP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p:txBody>
          </p:sp>
        </mc:Choice>
        <mc:Fallback>
          <p:sp>
            <p:nvSpPr>
              <p:cNvPr id="35" name="文本占位符 2"/>
              <p:cNvSpPr txBox="1">
                <a:spLocks noRot="1" noChangeAspect="1" noMove="1" noResize="1" noEditPoints="1" noAdjustHandles="1" noChangeArrowheads="1" noChangeShapeType="1" noTextEdit="1"/>
              </p:cNvSpPr>
              <p:nvPr/>
            </p:nvSpPr>
            <p:spPr>
              <a:xfrm>
                <a:off x="1414780" y="1856740"/>
                <a:ext cx="6325870" cy="1194435"/>
              </a:xfrm>
              <a:prstGeom prst="rect">
                <a:avLst/>
              </a:prstGeom>
              <a:blipFill rotWithShape="1">
                <a:blip r:embed="rId1"/>
                <a:stretch>
                  <a:fillRect b="-24136"/>
                </a:stretch>
              </a:blipFill>
            </p:spPr>
            <p:txBody>
              <a:bodyPr/>
              <a:lstStyle/>
              <a:p>
                <a:r>
                  <a:rPr lang="zh-CN" altLang="en-US">
                    <a:noFill/>
                  </a:rPr>
                  <a:t> </a:t>
                </a:r>
              </a:p>
            </p:txBody>
          </p:sp>
        </mc:Fallback>
      </mc:AlternateContent>
      <p:sp>
        <p:nvSpPr>
          <p:cNvPr id="25" name="Rectangle 1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3568"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0179" y="1295299"/>
            <a:ext cx="3108944" cy="2331708"/>
          </a:xfrm>
          <a:prstGeom prst="rect">
            <a:avLst/>
          </a:prstGeom>
          <a:noFill/>
          <a:extLst>
            <a:ext uri="{909E8E84-426E-40DD-AFC4-6F175D3DCCD1}">
              <a14:hiddenFill xmlns:a14="http://schemas.microsoft.com/office/drawing/2010/main">
                <a:solidFill>
                  <a:srgbClr val="FFFFFF"/>
                </a:solidFill>
              </a14:hiddenFill>
            </a:ext>
          </a:extLst>
        </p:spPr>
      </p:pic>
      <p:sp>
        <p:nvSpPr>
          <p:cNvPr id="28" name="文本占位符 2"/>
          <p:cNvSpPr txBox="1"/>
          <p:nvPr/>
        </p:nvSpPr>
        <p:spPr>
          <a:xfrm>
            <a:off x="1022877" y="2968795"/>
            <a:ext cx="301749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对数函数性质</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graphicFrame>
        <p:nvGraphicFramePr>
          <p:cNvPr id="32" name="对象 31"/>
          <p:cNvGraphicFramePr>
            <a:graphicFrameLocks noChangeAspect="1"/>
          </p:cNvGraphicFramePr>
          <p:nvPr/>
        </p:nvGraphicFramePr>
        <p:xfrm>
          <a:off x="2161069" y="3499106"/>
          <a:ext cx="2941867" cy="296338"/>
        </p:xfrm>
        <a:graphic>
          <a:graphicData uri="http://schemas.openxmlformats.org/presentationml/2006/ole">
            <mc:AlternateContent xmlns:mc="http://schemas.openxmlformats.org/markup-compatibility/2006">
              <mc:Choice xmlns:v="urn:schemas-microsoft-com:vml" Requires="v">
                <p:oleObj spid="_x0000_s1094" name="" r:id="rId3" imgW="1943100" imgH="228600" progId="Equation.3">
                  <p:embed/>
                </p:oleObj>
              </mc:Choice>
              <mc:Fallback>
                <p:oleObj name="" r:id="rId3" imgW="1943100" imgH="22860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1069" y="3499106"/>
                        <a:ext cx="2941867" cy="296338"/>
                      </a:xfrm>
                      <a:prstGeom prst="rect">
                        <a:avLst/>
                      </a:prstGeom>
                      <a:noFill/>
                    </p:spPr>
                  </p:pic>
                </p:oleObj>
              </mc:Fallback>
            </mc:AlternateContent>
          </a:graphicData>
        </a:graphic>
      </p:graphicFrame>
      <p:sp>
        <p:nvSpPr>
          <p:cNvPr id="37" name="Rectangle 20"/>
          <p:cNvSpPr>
            <a:spLocks noChangeArrowheads="1"/>
          </p:cNvSpPr>
          <p:nvPr/>
        </p:nvSpPr>
        <p:spPr bwMode="auto">
          <a:xfrm>
            <a:off x="2594344" y="45172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8" name="对象 37"/>
          <p:cNvGraphicFramePr>
            <a:graphicFrameLocks noChangeAspect="1"/>
          </p:cNvGraphicFramePr>
          <p:nvPr/>
        </p:nvGraphicFramePr>
        <p:xfrm>
          <a:off x="2161067" y="3978135"/>
          <a:ext cx="2751175" cy="561146"/>
        </p:xfrm>
        <a:graphic>
          <a:graphicData uri="http://schemas.openxmlformats.org/presentationml/2006/ole">
            <mc:AlternateContent xmlns:mc="http://schemas.openxmlformats.org/markup-compatibility/2006">
              <mc:Choice xmlns:v="urn:schemas-microsoft-com:vml" Requires="v">
                <p:oleObj spid="_x0000_s1095" name="" r:id="rId5" imgW="1879600" imgH="393700" progId="Equation.3">
                  <p:embed/>
                </p:oleObj>
              </mc:Choice>
              <mc:Fallback>
                <p:oleObj name="" r:id="rId5" imgW="1879600" imgH="393700"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61067" y="3978135"/>
                        <a:ext cx="2751175" cy="561146"/>
                      </a:xfrm>
                      <a:prstGeom prst="rect">
                        <a:avLst/>
                      </a:prstGeom>
                      <a:noFill/>
                    </p:spPr>
                  </p:pic>
                </p:oleObj>
              </mc:Fallback>
            </mc:AlternateContent>
          </a:graphicData>
        </a:graphic>
      </p:graphicFrame>
      <p:graphicFrame>
        <p:nvGraphicFramePr>
          <p:cNvPr id="40" name="对象 39"/>
          <p:cNvGraphicFramePr>
            <a:graphicFrameLocks noChangeAspect="1"/>
          </p:cNvGraphicFramePr>
          <p:nvPr/>
        </p:nvGraphicFramePr>
        <p:xfrm>
          <a:off x="2161068" y="4721972"/>
          <a:ext cx="2283342" cy="377248"/>
        </p:xfrm>
        <a:graphic>
          <a:graphicData uri="http://schemas.openxmlformats.org/presentationml/2006/ole">
            <mc:AlternateContent xmlns:mc="http://schemas.openxmlformats.org/markup-compatibility/2006">
              <mc:Choice xmlns:v="urn:schemas-microsoft-com:vml" Requires="v">
                <p:oleObj spid="_x0000_s1096" name="" r:id="rId7" imgW="1459865" imgH="241300" progId="Equation.3">
                  <p:embed/>
                </p:oleObj>
              </mc:Choice>
              <mc:Fallback>
                <p:oleObj name="" r:id="rId7" imgW="1459865" imgH="241300" progId="Equation.3">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1068" y="4721972"/>
                        <a:ext cx="2283342" cy="377248"/>
                      </a:xfrm>
                      <a:prstGeom prst="rect">
                        <a:avLst/>
                      </a:prstGeom>
                      <a:noFill/>
                    </p:spPr>
                  </p:pic>
                </p:oleObj>
              </mc:Fallback>
            </mc:AlternateContent>
          </a:graphicData>
        </a:graphic>
      </p:graphicFrame>
      <p:sp>
        <p:nvSpPr>
          <p:cNvPr id="42" name="文本框 41"/>
          <p:cNvSpPr txBox="1"/>
          <p:nvPr/>
        </p:nvSpPr>
        <p:spPr>
          <a:xfrm>
            <a:off x="4826483" y="4654280"/>
            <a:ext cx="2610293" cy="455189"/>
          </a:xfrm>
          <a:prstGeom prst="rect">
            <a:avLst/>
          </a:prstGeom>
          <a:noFill/>
        </p:spPr>
        <p:txBody>
          <a:bodyPr wrap="square">
            <a:spAutoFit/>
          </a:bodyPr>
          <a:lstStyle/>
          <a:p>
            <a:pPr marL="381635" indent="-381635" algn="just">
              <a:lnSpc>
                <a:spcPct val="150000"/>
              </a:lnSpc>
            </a:pPr>
            <a:r>
              <a:rPr lang="zh-CN" altLang="zh-CN" sz="1800" kern="100" dirty="0">
                <a:effectLst/>
                <a:latin typeface="Times New Roman" panose="02020603050405020304" pitchFamily="18" charset="0"/>
                <a:ea typeface="宋体" panose="02010600030101010101" pitchFamily="2" charset="-122"/>
              </a:rPr>
              <a:t>其中</a:t>
            </a:r>
            <a:r>
              <a:rPr lang="en-US" altLang="zh-CN" sz="1800" kern="100" dirty="0">
                <a:effectLst/>
                <a:latin typeface="Times New Roman" panose="02020603050405020304" pitchFamily="18" charset="0"/>
                <a:ea typeface="宋体" panose="02010600030101010101" pitchFamily="2" charset="-122"/>
              </a:rPr>
              <a:t>a&gt;0,a</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0,M&gt;0,N&gt;0</a:t>
            </a:r>
            <a:endParaRPr lang="zh-CN" altLang="zh-CN" sz="3200" kern="100" dirty="0">
              <a:effectLst/>
              <a:latin typeface="Times New Roman" panose="02020603050405020304" pitchFamily="18" charset="0"/>
              <a:ea typeface="宋体" panose="02010600030101010101" pitchFamily="2" charset="-122"/>
            </a:endParaRPr>
          </a:p>
        </p:txBody>
      </p:sp>
      <p:sp>
        <p:nvSpPr>
          <p:cNvPr id="43" name="文本占位符 2"/>
          <p:cNvSpPr txBox="1"/>
          <p:nvPr/>
        </p:nvSpPr>
        <p:spPr>
          <a:xfrm>
            <a:off x="2227057" y="5278037"/>
            <a:ext cx="6325939" cy="45518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lvl="0">
              <a:defRPr/>
            </a:pPr>
            <a:r>
              <a:rPr lang="zh-CN" altLang="en-US" sz="1400" dirty="0">
                <a:latin typeface="Alibaba PuHuiTi" pitchFamily="18" charset="-122"/>
                <a:ea typeface="Alibaba PuHuiTi" pitchFamily="18" charset="-122"/>
                <a:cs typeface="Alibaba PuHuiTi" pitchFamily="18" charset="-122"/>
              </a:rPr>
              <a:t>从对数运算性质来看：能把</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几个概率联乘</a:t>
            </a:r>
            <a:r>
              <a:rPr lang="zh-CN" altLang="en-US" sz="1400" dirty="0">
                <a:latin typeface="Alibaba PuHuiTi" pitchFamily="18" charset="-122"/>
                <a:ea typeface="Alibaba PuHuiTi" pitchFamily="18" charset="-122"/>
                <a:cs typeface="Alibaba PuHuiTi" pitchFamily="18" charset="-122"/>
              </a:rPr>
              <a:t>的式子，改成</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log</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相加</a:t>
            </a:r>
            <a:r>
              <a:rPr lang="zh-CN" altLang="en-US" sz="1400" dirty="0">
                <a:latin typeface="Alibaba PuHuiTi" pitchFamily="18" charset="-122"/>
                <a:ea typeface="Alibaba PuHuiTi" pitchFamily="18" charset="-122"/>
                <a:cs typeface="Alibaba PuHuiTi" pitchFamily="18" charset="-122"/>
              </a:rPr>
              <a:t>的形式</a:t>
            </a:r>
            <a:endParaRPr lang="en-US" altLang="zh-CN" sz="14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442176" y="1116815"/>
            <a:ext cx="5592377" cy="369332"/>
          </a:xfrm>
          <a:prstGeom prst="rect">
            <a:avLst/>
          </a:prstGeom>
          <a:noFill/>
        </p:spPr>
        <p:txBody>
          <a:bodyPr wrap="square" rtlCol="0">
            <a:spAutoFit/>
          </a:bodyPr>
          <a:lstStyle/>
          <a:p>
            <a:pPr>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1</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 逻辑回归的作用？</a:t>
            </a:r>
            <a:endPar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endParaRPr>
          </a:p>
        </p:txBody>
      </p:sp>
      <p:sp>
        <p:nvSpPr>
          <p:cNvPr id="2" name="TextBox 6"/>
          <p:cNvSpPr txBox="1"/>
          <p:nvPr/>
        </p:nvSpPr>
        <p:spPr>
          <a:xfrm>
            <a:off x="4845178" y="1416944"/>
            <a:ext cx="4798443" cy="414020"/>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解决二分类问题</a:t>
            </a:r>
            <a:endParaRPr kumimoji="0" lang="en-US" altLang="zh-CN" sz="14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endParaRPr>
          </a:p>
        </p:txBody>
      </p:sp>
      <p:sp>
        <p:nvSpPr>
          <p:cNvPr id="4" name="文本框 3"/>
          <p:cNvSpPr txBox="1"/>
          <p:nvPr/>
        </p:nvSpPr>
        <p:spPr>
          <a:xfrm>
            <a:off x="4465622" y="1902100"/>
            <a:ext cx="412678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2</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激活函数</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GB" altLang="zh-CN" b="1" dirty="0">
                <a:solidFill>
                  <a:prstClr val="black">
                    <a:lumMod val="65000"/>
                    <a:lumOff val="35000"/>
                  </a:prstClr>
                </a:solidFill>
                <a:latin typeface="Alibaba PuHuiTi" pitchFamily="18" charset="-122"/>
                <a:ea typeface="Alibaba PuHuiTi" pitchFamily="18" charset="-122"/>
                <a:cs typeface="Alibaba PuHuiTi" pitchFamily="18" charset="-122"/>
              </a:rPr>
              <a:t>sigmoid</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作用？</a:t>
            </a:r>
            <a:endParaRPr kumimoji="1" lang="zh-CN" alt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黑体" panose="02010609060101010101" pitchFamily="49" charset="-122"/>
              <a:cs typeface="+mn-cs"/>
            </a:endParaRPr>
          </a:p>
        </p:txBody>
      </p:sp>
      <p:sp>
        <p:nvSpPr>
          <p:cNvPr id="8" name="TextBox 6"/>
          <p:cNvSpPr txBox="1"/>
          <p:nvPr/>
        </p:nvSpPr>
        <p:spPr>
          <a:xfrm>
            <a:off x="4835399" y="2239046"/>
            <a:ext cx="5767329" cy="414020"/>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1400" dirty="0">
                <a:solidFill>
                  <a:schemeClr val="tx1">
                    <a:lumMod val="85000"/>
                    <a:lumOff val="15000"/>
                  </a:schemeClr>
                </a:solidFill>
                <a:latin typeface="Roboto" panose="02000000000000000000" pitchFamily="2" charset="0"/>
                <a:ea typeface="Alibaba PuHuiTi" pitchFamily="18" charset="-122"/>
                <a:cs typeface="Alibaba PuHuiTi" pitchFamily="18" charset="-122"/>
              </a:rPr>
              <a:t>把</a:t>
            </a:r>
            <a:r>
              <a:rPr lang="en-US" altLang="zh-CN" sz="1400" dirty="0">
                <a:solidFill>
                  <a:schemeClr val="tx1">
                    <a:lumMod val="85000"/>
                    <a:lumOff val="15000"/>
                  </a:schemeClr>
                </a:solidFill>
                <a:latin typeface="Roboto" panose="02000000000000000000" pitchFamily="2" charset="0"/>
                <a:ea typeface="Alibaba PuHuiTi" pitchFamily="18" charset="-122"/>
                <a:cs typeface="Alibaba PuHuiTi" pitchFamily="18" charset="-122"/>
              </a:rPr>
              <a:t> </a:t>
            </a:r>
            <a:r>
              <a:rPr lang="zh-CN" altLang="en-US" sz="1400" dirty="0">
                <a:solidFill>
                  <a:schemeClr val="tx1">
                    <a:lumMod val="85000"/>
                    <a:lumOff val="15000"/>
                  </a:schemeClr>
                </a:solidFill>
                <a:latin typeface="Roboto" panose="02000000000000000000" pitchFamily="2" charset="0"/>
                <a:ea typeface="Alibaba PuHuiTi" pitchFamily="18" charset="-122"/>
                <a:cs typeface="Alibaba PuHuiTi" pitchFamily="18" charset="-122"/>
              </a:rPr>
              <a:t>数值 映射到 </a:t>
            </a:r>
            <a:r>
              <a:rPr lang="en-US" altLang="zh-CN" sz="1400" dirty="0">
                <a:solidFill>
                  <a:schemeClr val="tx1">
                    <a:lumMod val="85000"/>
                    <a:lumOff val="15000"/>
                  </a:schemeClr>
                </a:solidFill>
                <a:latin typeface="Roboto" panose="02000000000000000000" pitchFamily="2" charset="0"/>
                <a:ea typeface="Alibaba PuHuiTi" pitchFamily="18" charset="-122"/>
                <a:cs typeface="Alibaba PuHuiTi" pitchFamily="18" charset="-122"/>
              </a:rPr>
              <a:t>(0</a:t>
            </a:r>
            <a:r>
              <a:rPr lang="zh-CN" altLang="en-US" sz="1400" dirty="0">
                <a:solidFill>
                  <a:schemeClr val="tx1">
                    <a:lumMod val="85000"/>
                    <a:lumOff val="15000"/>
                  </a:schemeClr>
                </a:solidFill>
                <a:latin typeface="Roboto" panose="02000000000000000000" pitchFamily="2" charset="0"/>
                <a:ea typeface="Alibaba PuHuiTi" pitchFamily="18" charset="-122"/>
                <a:cs typeface="Alibaba PuHuiTi" pitchFamily="18" charset="-122"/>
              </a:rPr>
              <a:t>， </a:t>
            </a:r>
            <a:r>
              <a:rPr lang="en-US" altLang="zh-CN" sz="1400" dirty="0">
                <a:solidFill>
                  <a:schemeClr val="tx1">
                    <a:lumMod val="85000"/>
                    <a:lumOff val="15000"/>
                  </a:schemeClr>
                </a:solidFill>
                <a:latin typeface="Roboto" panose="02000000000000000000" pitchFamily="2" charset="0"/>
                <a:ea typeface="Alibaba PuHuiTi" pitchFamily="18" charset="-122"/>
                <a:cs typeface="Alibaba PuHuiTi" pitchFamily="18" charset="-122"/>
              </a:rPr>
              <a:t>1</a:t>
            </a:r>
            <a:r>
              <a:rPr lang="zh-CN" altLang="en-US" sz="1400" dirty="0">
                <a:solidFill>
                  <a:schemeClr val="tx1">
                    <a:lumMod val="85000"/>
                    <a:lumOff val="15000"/>
                  </a:schemeClr>
                </a:solidFill>
                <a:latin typeface="Roboto" panose="02000000000000000000" pitchFamily="2" charset="0"/>
                <a:ea typeface="Alibaba PuHuiTi" pitchFamily="18" charset="-122"/>
                <a:cs typeface="Alibaba PuHuiTi" pitchFamily="18" charset="-122"/>
              </a:rPr>
              <a:t>）区间</a:t>
            </a:r>
            <a:r>
              <a:rPr lang="en-US" altLang="zh-CN" sz="1400" dirty="0">
                <a:solidFill>
                  <a:schemeClr val="tx1">
                    <a:lumMod val="85000"/>
                    <a:lumOff val="15000"/>
                  </a:schemeClr>
                </a:solidFill>
                <a:latin typeface="Roboto" panose="02000000000000000000" pitchFamily="2" charset="0"/>
                <a:ea typeface="Alibaba PuHuiTi" pitchFamily="18" charset="-122"/>
                <a:cs typeface="Alibaba PuHuiTi" pitchFamily="18" charset="-122"/>
              </a:rPr>
              <a:t>,</a:t>
            </a:r>
            <a:r>
              <a:rPr lang="zh-CN" altLang="en-US" sz="1400" dirty="0">
                <a:solidFill>
                  <a:schemeClr val="tx1">
                    <a:lumMod val="85000"/>
                    <a:lumOff val="15000"/>
                  </a:schemeClr>
                </a:solidFill>
                <a:latin typeface="Roboto" panose="02000000000000000000" pitchFamily="2" charset="0"/>
                <a:ea typeface="Alibaba PuHuiTi" pitchFamily="18" charset="-122"/>
                <a:cs typeface="Alibaba PuHuiTi" pitchFamily="18" charset="-122"/>
              </a:rPr>
              <a:t>进行分类预测</a:t>
            </a:r>
            <a:endParaRPr lang="zh-CN" altLang="en-US" sz="1400" dirty="0">
              <a:solidFill>
                <a:schemeClr val="tx1">
                  <a:lumMod val="85000"/>
                  <a:lumOff val="15000"/>
                </a:schemeClr>
              </a:solidFill>
              <a:latin typeface="Roboto" panose="02000000000000000000" pitchFamily="2" charset="0"/>
              <a:ea typeface="Alibaba PuHuiTi" pitchFamily="18" charset="-122"/>
              <a:cs typeface="Alibaba PuHuiTi" pitchFamily="18" charset="-122"/>
            </a:endParaRPr>
          </a:p>
        </p:txBody>
      </p:sp>
      <p:sp>
        <p:nvSpPr>
          <p:cNvPr id="10" name="文本框 9"/>
          <p:cNvSpPr txBox="1"/>
          <p:nvPr/>
        </p:nvSpPr>
        <p:spPr>
          <a:xfrm>
            <a:off x="4465622" y="2803301"/>
            <a:ext cx="3493509" cy="369332"/>
          </a:xfrm>
          <a:prstGeom prst="rect">
            <a:avLst/>
          </a:prstGeom>
          <a:noFill/>
        </p:spPr>
        <p:txBody>
          <a:bodyPr wrap="square" rtlCol="0">
            <a:spAutoFit/>
          </a:bodyPr>
          <a:lstStyle/>
          <a:p>
            <a:pPr>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3</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极大似然估计   </a:t>
            </a:r>
            <a:endParaRPr kumimoji="1" lang="zh-CN" alt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黑体" panose="02010609060101010101" pitchFamily="49" charset="-122"/>
              <a:cs typeface="+mn-cs"/>
            </a:endParaRPr>
          </a:p>
        </p:txBody>
      </p:sp>
      <p:sp>
        <p:nvSpPr>
          <p:cNvPr id="3" name="TextBox 6"/>
          <p:cNvSpPr txBox="1"/>
          <p:nvPr/>
        </p:nvSpPr>
        <p:spPr>
          <a:xfrm>
            <a:off x="4835399" y="3227207"/>
            <a:ext cx="6066804" cy="385234"/>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R="0" lvl="0" algn="l" defTabSz="914400" rtl="0" eaLnBrk="1" fontAlgn="auto" latinLnBrk="0" hangingPunct="1">
              <a:lnSpc>
                <a:spcPct val="150000"/>
              </a:lnSpc>
              <a:spcBef>
                <a:spcPts val="0"/>
              </a:spcBef>
              <a:spcAft>
                <a:spcPts val="0"/>
              </a:spcAft>
              <a:buClrTx/>
              <a:buSzTx/>
              <a:defRPr/>
            </a:pP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通过极大化概率事件，来估计最优参数</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15" name="文本框 14"/>
          <p:cNvSpPr txBox="1"/>
          <p:nvPr/>
        </p:nvSpPr>
        <p:spPr>
          <a:xfrm>
            <a:off x="4513950" y="3864149"/>
            <a:ext cx="5592377"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4</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了解常见对数函数</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graphicFrame>
        <p:nvGraphicFramePr>
          <p:cNvPr id="19" name="对象 18"/>
          <p:cNvGraphicFramePr>
            <a:graphicFrameLocks noChangeAspect="1"/>
          </p:cNvGraphicFramePr>
          <p:nvPr/>
        </p:nvGraphicFramePr>
        <p:xfrm>
          <a:off x="4835399" y="4416828"/>
          <a:ext cx="2941867" cy="296338"/>
        </p:xfrm>
        <a:graphic>
          <a:graphicData uri="http://schemas.openxmlformats.org/presentationml/2006/ole">
            <mc:AlternateContent xmlns:mc="http://schemas.openxmlformats.org/markup-compatibility/2006">
              <mc:Choice xmlns:v="urn:schemas-microsoft-com:vml" Requires="v">
                <p:oleObj spid="_x0000_s2091" name="" r:id="rId1" imgW="1943100" imgH="228600" progId="Equation.3">
                  <p:embed/>
                </p:oleObj>
              </mc:Choice>
              <mc:Fallback>
                <p:oleObj name="" r:id="rId1" imgW="1943100" imgH="228600" progId="Equation.3">
                  <p:embed/>
                  <p:pic>
                    <p:nvPicPr>
                      <p:cNvPr id="0" name="对象 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5399" y="4416828"/>
                        <a:ext cx="2941867" cy="296338"/>
                      </a:xfrm>
                      <a:prstGeom prst="rect">
                        <a:avLst/>
                      </a:prstGeom>
                      <a:noFill/>
                    </p:spPr>
                  </p:pic>
                </p:oleObj>
              </mc:Fallback>
            </mc:AlternateContent>
          </a:graphicData>
        </a:graphic>
      </p:graphicFrame>
      <p:graphicFrame>
        <p:nvGraphicFramePr>
          <p:cNvPr id="38" name="对象 37"/>
          <p:cNvGraphicFramePr>
            <a:graphicFrameLocks noChangeAspect="1"/>
          </p:cNvGraphicFramePr>
          <p:nvPr/>
        </p:nvGraphicFramePr>
        <p:xfrm>
          <a:off x="4851562" y="4909680"/>
          <a:ext cx="2751175" cy="561146"/>
        </p:xfrm>
        <a:graphic>
          <a:graphicData uri="http://schemas.openxmlformats.org/presentationml/2006/ole">
            <mc:AlternateContent xmlns:mc="http://schemas.openxmlformats.org/markup-compatibility/2006">
              <mc:Choice xmlns:v="urn:schemas-microsoft-com:vml" Requires="v">
                <p:oleObj spid="_x0000_s1095" name="" r:id="rId3" imgW="1879600" imgH="393700" progId="Equation.3">
                  <p:embed/>
                </p:oleObj>
              </mc:Choice>
              <mc:Fallback>
                <p:oleObj name="" r:id="rId3" imgW="1879600" imgH="393700"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1562" y="4909680"/>
                        <a:ext cx="2751175" cy="561146"/>
                      </a:xfrm>
                      <a:prstGeom prst="rect">
                        <a:avLst/>
                      </a:prstGeom>
                      <a:noFill/>
                    </p:spPr>
                  </p:pic>
                </p:oleObj>
              </mc:Fallback>
            </mc:AlternateContent>
          </a:graphicData>
        </a:graphic>
      </p:graphicFrame>
      <p:graphicFrame>
        <p:nvGraphicFramePr>
          <p:cNvPr id="40" name="对象 39"/>
          <p:cNvGraphicFramePr>
            <a:graphicFrameLocks noChangeAspect="1"/>
          </p:cNvGraphicFramePr>
          <p:nvPr/>
        </p:nvGraphicFramePr>
        <p:xfrm>
          <a:off x="4851563" y="5653517"/>
          <a:ext cx="2283342" cy="377248"/>
        </p:xfrm>
        <a:graphic>
          <a:graphicData uri="http://schemas.openxmlformats.org/presentationml/2006/ole">
            <mc:AlternateContent xmlns:mc="http://schemas.openxmlformats.org/markup-compatibility/2006">
              <mc:Choice xmlns:v="urn:schemas-microsoft-com:vml" Requires="v">
                <p:oleObj spid="_x0000_s1096" name="" r:id="rId5" imgW="1459865" imgH="241300" progId="Equation.3">
                  <p:embed/>
                </p:oleObj>
              </mc:Choice>
              <mc:Fallback>
                <p:oleObj name="" r:id="rId5" imgW="1459865" imgH="241300"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1563" y="5653517"/>
                        <a:ext cx="2283342" cy="377248"/>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40013" y="901085"/>
            <a:ext cx="7228417" cy="3999161"/>
          </a:xfrm>
        </p:spPr>
        <p:txBody>
          <a:bodyPr anchor="t"/>
          <a:lstStyle/>
          <a:p>
            <a:r>
              <a:rPr lang="zh-CN" altLang="en-US" dirty="0">
                <a:solidFill>
                  <a:schemeClr val="tx1"/>
                </a:solidFill>
                <a:latin typeface="Alibaba PuHuiTi" pitchFamily="18" charset="-122"/>
                <a:ea typeface="Alibaba PuHuiTi" pitchFamily="18" charset="-122"/>
                <a:cs typeface="Alibaba PuHuiTi" pitchFamily="18" charset="-122"/>
              </a:rPr>
              <a:t>逻辑回归简介</a:t>
            </a:r>
            <a:endParaRPr lang="en-US" altLang="zh-CN" dirty="0">
              <a:solidFill>
                <a:schemeClr val="tx1"/>
              </a:solidFill>
              <a:latin typeface="Alibaba PuHuiTi" pitchFamily="18" charset="-122"/>
              <a:ea typeface="Alibaba PuHuiTi" pitchFamily="18" charset="-122"/>
              <a:cs typeface="Alibaba PuHuiTi" pitchFamily="18" charset="-122"/>
            </a:endParaRPr>
          </a:p>
          <a:p>
            <a:pPr lvl="1"/>
            <a:r>
              <a:rPr lang="zh-CN" altLang="en-US" b="0" dirty="0">
                <a:latin typeface="Alibaba PuHuiTi" pitchFamily="18" charset="-122"/>
                <a:ea typeface="Alibaba PuHuiTi" pitchFamily="18" charset="-122"/>
                <a:cs typeface="Alibaba PuHuiTi" pitchFamily="18" charset="-122"/>
              </a:rPr>
              <a:t>应用场景，数学知识</a:t>
            </a:r>
            <a:endParaRPr lang="en-US" altLang="zh-CN" b="0" dirty="0">
              <a:latin typeface="Alibaba PuHuiTi" pitchFamily="18" charset="-122"/>
              <a:ea typeface="Alibaba PuHuiTi" pitchFamily="18" charset="-122"/>
              <a:cs typeface="Alibaba PuHuiTi" pitchFamily="18" charset="-122"/>
            </a:endParaRPr>
          </a:p>
          <a:p>
            <a:r>
              <a:rPr lang="zh-CN" altLang="en-US" dirty="0">
                <a:solidFill>
                  <a:srgbClr val="C00000"/>
                </a:solidFill>
                <a:latin typeface="Alibaba PuHuiTi" pitchFamily="18" charset="-122"/>
                <a:ea typeface="Alibaba PuHuiTi" pitchFamily="18" charset="-122"/>
                <a:cs typeface="Alibaba PuHuiTi" pitchFamily="18" charset="-122"/>
              </a:rPr>
              <a:t>逻辑回归原理</a:t>
            </a:r>
            <a:endParaRPr kumimoji="1" lang="en-US" altLang="zh-CN" sz="1600" b="0" dirty="0">
              <a:solidFill>
                <a:srgbClr val="C00000"/>
              </a:solidFill>
              <a:latin typeface="Alibaba PuHuiTi" pitchFamily="18" charset="-122"/>
              <a:ea typeface="Alibaba PuHuiTi" pitchFamily="18" charset="-122"/>
              <a:cs typeface="Alibaba PuHuiTi" pitchFamily="18" charset="-122"/>
            </a:endParaRPr>
          </a:p>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逻辑回归</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API</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函数和案例 </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分类问题评估</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r>
              <a:rPr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混淆矩阵、精确率、召回率、</a:t>
            </a:r>
            <a:r>
              <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rPr>
              <a:t>F1-score</a:t>
            </a:r>
            <a:r>
              <a:rPr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rPr>
              <a:t>AUC</a:t>
            </a:r>
            <a:r>
              <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指标、</a:t>
            </a:r>
            <a:r>
              <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rPr>
              <a:t>ROC</a:t>
            </a:r>
            <a:r>
              <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曲线 </a:t>
            </a:r>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电信客户流失预测案例</a:t>
            </a:r>
            <a:endPar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910773" y="772795"/>
            <a:ext cx="6298881" cy="4855845"/>
          </a:xfrm>
        </p:spPr>
        <p:txBody>
          <a:bodyPr/>
          <a:lstStyle/>
          <a:p>
            <a:pPr algn="l"/>
            <a:r>
              <a:rPr lang="zh-CN" altLang="en-US" b="0" i="0" u="none" strike="noStrike" dirty="0">
                <a:solidFill>
                  <a:srgbClr val="333333"/>
                </a:solidFill>
                <a:effectLst/>
                <a:latin typeface="Open Sans" panose="020B0606030504020204" pitchFamily="34" charset="0"/>
              </a:rPr>
              <a:t>理解逻辑回归算法的原理</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知道逻辑回归的优化操作</a:t>
            </a:r>
            <a:endParaRPr lang="zh-CN" altLang="en-US" b="0" i="0" u="none" strike="noStrike" dirty="0">
              <a:solidFill>
                <a:srgbClr val="333333"/>
              </a:solidFill>
              <a:effectLst/>
              <a:latin typeface="Open Sans" panose="020B0606030504020204" pitchFamily="34" charset="0"/>
            </a:endParaRPr>
          </a:p>
          <a:p>
            <a:pPr marL="0" indent="0">
              <a:buNone/>
            </a:pP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原理 </a:t>
            </a:r>
            <a:r>
              <a:rPr kumimoji="1" lang="en-US" altLang="zh-CN"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 概念</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279016" y="2678449"/>
            <a:ext cx="401626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基本思想</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5" name="文本占位符 2"/>
              <p:cNvSpPr txBox="1"/>
              <p:nvPr/>
            </p:nvSpPr>
            <p:spPr>
              <a:xfrm>
                <a:off x="1961454" y="3184249"/>
                <a:ext cx="7266752" cy="169637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42900" marR="0" lvl="0" indent="-342900" algn="l" defTabSz="914400" rtl="0" eaLnBrk="0" fontAlgn="base" latinLnBrk="0" hangingPunct="0">
                  <a:lnSpc>
                    <a:spcPct val="150000"/>
                  </a:lnSpc>
                  <a:spcBef>
                    <a:spcPct val="20000"/>
                  </a:spcBef>
                  <a:spcAft>
                    <a:spcPct val="0"/>
                  </a:spcAft>
                  <a:buClrTx/>
                  <a:buSzTx/>
                  <a:buFont typeface="+mj-lt"/>
                  <a:buAutoNum type="arabicPeriod"/>
                  <a:defRPr/>
                </a:pP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利用线性模型 </a:t>
                </a:r>
                <a:r>
                  <a:rPr kumimoji="0" lang="en-GB"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f(x) = </a:t>
                </a:r>
                <a14:m>
                  <m:oMath xmlns:m="http://schemas.openxmlformats.org/officeDocument/2006/math">
                    <m:sSup>
                      <m:sSupPr>
                        <m:ctrlPr>
                          <a:rPr kumimoji="0" lang="en-GB" altLang="zh-CN" sz="1400" b="0" i="1" u="none" strike="noStrike" kern="1200" cap="none" spc="0" normalizeH="0" baseline="0" noProof="0" smtClean="0">
                            <a:ln>
                              <a:noFill/>
                            </a:ln>
                            <a:solidFill>
                              <a:schemeClr val="tx1"/>
                            </a:solidFill>
                            <a:effectLst/>
                            <a:uLnTx/>
                            <a:uFillTx/>
                            <a:latin typeface="Cambria Math" panose="02040503050406030204" pitchFamily="18" charset="0"/>
                            <a:ea typeface="Alibaba PuHuiTi" pitchFamily="18" charset="-122"/>
                            <a:cs typeface="Alibaba PuHuiTi" pitchFamily="18" charset="-122"/>
                          </a:rPr>
                        </m:ctrlPr>
                      </m:sSupPr>
                      <m:e>
                        <m:r>
                          <m:rPr>
                            <m:sty m:val="p"/>
                          </m:rPr>
                          <a:rPr lang="en-GB" altLang="zh-CN" sz="1400" i="1">
                            <a:solidFill>
                              <a:schemeClr val="tx1"/>
                            </a:solidFill>
                            <a:latin typeface="Cambria Math" panose="02040503050406030204" pitchFamily="18" charset="0"/>
                            <a:ea typeface="Alibaba PuHuiTi" pitchFamily="18" charset="-122"/>
                            <a:cs typeface="Alibaba PuHuiTi" pitchFamily="18" charset="-122"/>
                          </a:rPr>
                          <m:t>w</m:t>
                        </m:r>
                      </m:e>
                      <m:sup>
                        <m:r>
                          <m:rPr>
                            <m:sty m:val="p"/>
                          </m:rPr>
                          <a:rPr lang="en-GB" altLang="zh-CN" sz="1400" i="1">
                            <a:solidFill>
                              <a:schemeClr val="tx1"/>
                            </a:solidFill>
                            <a:latin typeface="Cambria Math" panose="02040503050406030204" pitchFamily="18" charset="0"/>
                            <a:ea typeface="Alibaba PuHuiTi" pitchFamily="18" charset="-122"/>
                            <a:cs typeface="Alibaba PuHuiTi" pitchFamily="18" charset="-122"/>
                          </a:rPr>
                          <m:t>T</m:t>
                        </m:r>
                      </m:sup>
                    </m:sSup>
                  </m:oMath>
                </a14:m>
                <a:r>
                  <a:rPr kumimoji="0" lang="en-GB"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x + b </a:t>
                </a: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根据特征的重要性计算出一个值</a:t>
                </a:r>
                <a:endPar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p>
                <a:pPr marL="342900" marR="0" lvl="0" indent="-342900" algn="l" defTabSz="914400" rtl="0" eaLnBrk="0" fontAlgn="base" latinLnBrk="0" hangingPunct="0">
                  <a:lnSpc>
                    <a:spcPct val="150000"/>
                  </a:lnSpc>
                  <a:spcBef>
                    <a:spcPct val="20000"/>
                  </a:spcBef>
                  <a:spcAft>
                    <a:spcPct val="0"/>
                  </a:spcAft>
                  <a:buClrTx/>
                  <a:buSzTx/>
                  <a:buFont typeface="+mj-lt"/>
                  <a:buAutoNum type="arabicPeriod"/>
                  <a:defRPr/>
                </a:pP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再使用 </a:t>
                </a:r>
                <a:r>
                  <a:rPr kumimoji="0" lang="en-GB"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sigmoid </a:t>
                </a: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函数将 </a:t>
                </a:r>
                <a:r>
                  <a:rPr kumimoji="0" lang="en-GB"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f(x) </a:t>
                </a: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的输出值映射为概率值</a:t>
                </a:r>
                <a:endParaRPr kumimoji="0" lang="en-US"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p>
                <a:pPr marL="1333500" marR="0" lvl="1" indent="-342900" algn="l" defTabSz="914400" rtl="0" eaLnBrk="0" fontAlgn="base" latinLnBrk="0" hangingPunct="0">
                  <a:lnSpc>
                    <a:spcPct val="150000"/>
                  </a:lnSpc>
                  <a:spcBef>
                    <a:spcPct val="20000"/>
                  </a:spcBef>
                  <a:spcAft>
                    <a:spcPct val="0"/>
                  </a:spcAft>
                  <a:buClrTx/>
                  <a:buSzTx/>
                  <a:buFont typeface="+mj-lt"/>
                  <a:buAutoNum type="arabicPeriod"/>
                  <a:defRPr/>
                </a:pP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设置阈值</a:t>
                </a:r>
                <a:r>
                  <a:rPr kumimoji="0" lang="en-US"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err="1">
                    <a:ln>
                      <a:noFill/>
                    </a:ln>
                    <a:solidFill>
                      <a:schemeClr val="tx1"/>
                    </a:solidFill>
                    <a:effectLst/>
                    <a:uLnTx/>
                    <a:uFillTx/>
                    <a:latin typeface="Alibaba PuHuiTi" pitchFamily="18" charset="-122"/>
                    <a:ea typeface="Alibaba PuHuiTi" pitchFamily="18" charset="-122"/>
                    <a:cs typeface="Alibaba PuHuiTi" pitchFamily="18" charset="-122"/>
                  </a:rPr>
                  <a:t>eg</a:t>
                </a: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0.5)</a:t>
                </a:r>
                <a:endParaRPr kumimoji="0" lang="en-US"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p>
                <a:pPr marL="1333500" marR="0" lvl="1" indent="-342900" algn="l" defTabSz="914400" rtl="0" eaLnBrk="0" fontAlgn="base" latinLnBrk="0" hangingPunct="0">
                  <a:lnSpc>
                    <a:spcPct val="150000"/>
                  </a:lnSpc>
                  <a:spcBef>
                    <a:spcPct val="20000"/>
                  </a:spcBef>
                  <a:spcAft>
                    <a:spcPct val="0"/>
                  </a:spcAft>
                  <a:buClrTx/>
                  <a:buSzTx/>
                  <a:buFont typeface="+mj-lt"/>
                  <a:buAutoNum type="arabicPeriod"/>
                  <a:defRPr/>
                </a:pP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输出概率值大于 </a:t>
                </a:r>
                <a:r>
                  <a:rPr kumimoji="0" lang="en-US"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0.5</a:t>
                </a: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，则将未知样本输出为 </a:t>
                </a:r>
                <a:r>
                  <a:rPr kumimoji="0" lang="en-US"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1 </a:t>
                </a: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类 </a:t>
                </a:r>
                <a:endParaRPr kumimoji="0" lang="en-US"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a:p>
                <a:pPr marL="1333500" marR="0" lvl="1" indent="-342900" algn="l" defTabSz="914400" rtl="0" eaLnBrk="0" fontAlgn="base" latinLnBrk="0" hangingPunct="0">
                  <a:lnSpc>
                    <a:spcPct val="150000"/>
                  </a:lnSpc>
                  <a:spcBef>
                    <a:spcPct val="20000"/>
                  </a:spcBef>
                  <a:spcAft>
                    <a:spcPct val="0"/>
                  </a:spcAft>
                  <a:buClrTx/>
                  <a:buSzTx/>
                  <a:buFont typeface="+mj-lt"/>
                  <a:buAutoNum type="arabicPeriod"/>
                  <a:defRPr/>
                </a:pP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否则输出为 </a:t>
                </a:r>
                <a:r>
                  <a:rPr kumimoji="0" lang="en-US" altLang="zh-CN"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0 </a:t>
                </a: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类</a:t>
                </a:r>
                <a:endPar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endParaRPr>
              </a:p>
            </p:txBody>
          </p:sp>
        </mc:Choice>
        <mc:Fallback>
          <p:sp>
            <p:nvSpPr>
              <p:cNvPr id="5" name="文本占位符 2"/>
              <p:cNvSpPr txBox="1">
                <a:spLocks noRot="1" noChangeAspect="1" noMove="1" noResize="1" noEditPoints="1" noAdjustHandles="1" noChangeArrowheads="1" noChangeShapeType="1" noTextEdit="1"/>
              </p:cNvSpPr>
              <p:nvPr/>
            </p:nvSpPr>
            <p:spPr>
              <a:xfrm>
                <a:off x="1961454" y="3184249"/>
                <a:ext cx="7266752" cy="1696376"/>
              </a:xfrm>
              <a:prstGeom prst="rect">
                <a:avLst/>
              </a:prstGeom>
              <a:blipFill rotWithShape="1">
                <a:blip r:embed="rId1"/>
                <a:stretch>
                  <a:fillRect l="-8" t="-21" r="5" b="-8159"/>
                </a:stretch>
              </a:blipFill>
            </p:spPr>
            <p:txBody>
              <a:bodyPr/>
              <a:lstStyle/>
              <a:p>
                <a:r>
                  <a:rPr lang="zh-CN" altLang="en-US">
                    <a:noFill/>
                  </a:rPr>
                  <a:t> </a:t>
                </a:r>
              </a:p>
            </p:txBody>
          </p:sp>
        </mc:Fallback>
      </mc:AlternateContent>
      <p:sp>
        <p:nvSpPr>
          <p:cNvPr id="8" name="文本占位符 2"/>
          <p:cNvSpPr txBox="1"/>
          <p:nvPr/>
        </p:nvSpPr>
        <p:spPr>
          <a:xfrm>
            <a:off x="1279016" y="4880625"/>
            <a:ext cx="341991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逻辑回归的假设函数</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6" name="文本占位符 2"/>
          <p:cNvSpPr txBox="1"/>
          <p:nvPr/>
        </p:nvSpPr>
        <p:spPr>
          <a:xfrm>
            <a:off x="1978414" y="5832996"/>
            <a:ext cx="343687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线性回归的</a:t>
            </a:r>
            <a:r>
              <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输出</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，作为逻辑回归的</a:t>
            </a:r>
            <a:r>
              <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输入</a:t>
            </a:r>
            <a:endPar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2" name="文本占位符 2"/>
              <p:cNvSpPr txBox="1"/>
              <p:nvPr/>
            </p:nvSpPr>
            <p:spPr>
              <a:xfrm>
                <a:off x="1978414" y="5283750"/>
                <a:ext cx="471231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lvl="0">
                  <a:defRPr/>
                </a:pPr>
                <a:r>
                  <a:rPr lang="en-US" altLang="zh-CN" sz="1400" dirty="0">
                    <a:latin typeface="Roboto" panose="02000000000000000000" pitchFamily="2" charset="0"/>
                    <a:ea typeface="Alibaba PuHuiTi" pitchFamily="18" charset="-122"/>
                    <a:cs typeface="Alibaba PuHuiTi" pitchFamily="18" charset="-122"/>
                  </a:rPr>
                  <a:t>h(w)</a:t>
                </a:r>
                <a:r>
                  <a:rPr lang="zh-CN" altLang="en-US" sz="1400" dirty="0">
                    <a:latin typeface="Roboto" panose="02000000000000000000" pitchFamily="2" charset="0"/>
                    <a:ea typeface="Alibaba PuHuiTi" pitchFamily="18" charset="-122"/>
                    <a:cs typeface="Alibaba PuHuiTi" pitchFamily="18" charset="-122"/>
                  </a:rPr>
                  <a:t> </a:t>
                </a:r>
                <a:r>
                  <a:rPr lang="en-US" altLang="zh-CN" sz="1400" dirty="0">
                    <a:latin typeface="Roboto" panose="02000000000000000000" pitchFamily="2" charset="0"/>
                    <a:ea typeface="Alibaba PuHuiTi" pitchFamily="18" charset="-122"/>
                    <a:cs typeface="Alibaba PuHuiTi" pitchFamily="18" charset="-122"/>
                  </a:rPr>
                  <a:t>=</a:t>
                </a:r>
                <a:r>
                  <a:rPr lang="zh-CN" altLang="en-US" sz="1400" dirty="0">
                    <a:latin typeface="Roboto" panose="02000000000000000000" pitchFamily="2" charset="0"/>
                    <a:ea typeface="Alibaba PuHuiTi" pitchFamily="18" charset="-122"/>
                    <a:cs typeface="Alibaba PuHuiTi" pitchFamily="18" charset="-122"/>
                  </a:rPr>
                  <a:t> </a:t>
                </a:r>
                <a:r>
                  <a:rPr lang="en-US" altLang="zh-CN" sz="1400" dirty="0">
                    <a:latin typeface="Roboto" panose="02000000000000000000" pitchFamily="2" charset="0"/>
                    <a:ea typeface="Alibaba PuHuiTi" pitchFamily="18" charset="-122"/>
                    <a:cs typeface="Alibaba PuHuiTi" pitchFamily="18" charset="-122"/>
                  </a:rPr>
                  <a:t>sigmoid(</a:t>
                </a:r>
                <a14:m>
                  <m:oMath xmlns:m="http://schemas.openxmlformats.org/officeDocument/2006/math">
                    <m:sSup>
                      <m:sSupPr>
                        <m:ctrlPr>
                          <a:rPr lang="en-GB"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sSupPr>
                      <m:e>
                        <m:r>
                          <m:rPr>
                            <m:sty m:val="p"/>
                          </m:rPr>
                          <a:rPr lang="en-GB"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w</m:t>
                        </m:r>
                      </m:e>
                      <m:sup>
                        <m:r>
                          <m:rPr>
                            <m:sty m:val="p"/>
                          </m:rPr>
                          <a:rPr lang="en-GB"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T</m:t>
                        </m:r>
                      </m:sup>
                    </m:sSup>
                  </m:oMath>
                </a14:m>
                <a:r>
                  <a:rPr lang="en-GB" altLang="zh-CN" sz="1400" dirty="0">
                    <a:solidFill>
                      <a:prstClr val="black">
                        <a:lumMod val="85000"/>
                        <a:lumOff val="15000"/>
                      </a:prstClr>
                    </a:solidFill>
                    <a:latin typeface="Alibaba PuHuiTi" pitchFamily="18" charset="-122"/>
                    <a:ea typeface="Alibaba PuHuiTi" pitchFamily="18" charset="-122"/>
                    <a:cs typeface="Alibaba PuHuiTi" pitchFamily="18" charset="-122"/>
                  </a:rPr>
                  <a:t>x + b </a:t>
                </a:r>
                <a:r>
                  <a:rPr lang="en-US" altLang="zh-CN" sz="1400" dirty="0">
                    <a:latin typeface="Roboto" panose="02000000000000000000" pitchFamily="2" charset="0"/>
                    <a:ea typeface="Alibaba PuHuiTi" pitchFamily="18" charset="-122"/>
                    <a:cs typeface="Alibaba PuHuiTi" pitchFamily="18" charset="-122"/>
                  </a:rPr>
                  <a:t>)</a:t>
                </a:r>
                <a:endParaRPr kumimoji="0" lang="zh-CN" altLang="en-US" sz="1400" b="0" i="0" u="none" strike="noStrike" kern="1200" cap="none" spc="0" normalizeH="0" baseline="0" noProof="0" dirty="0">
                  <a:ln>
                    <a:noFill/>
                  </a:ln>
                  <a:effectLst/>
                  <a:uLnTx/>
                  <a:uFillTx/>
                  <a:latin typeface="Roboto" panose="02000000000000000000" pitchFamily="2" charset="0"/>
                  <a:ea typeface="Alibaba PuHuiTi" pitchFamily="18" charset="-122"/>
                  <a:cs typeface="Alibaba PuHuiTi" pitchFamily="18" charset="-122"/>
                </a:endParaRPr>
              </a:p>
            </p:txBody>
          </p:sp>
        </mc:Choice>
        <mc:Fallback>
          <p:sp>
            <p:nvSpPr>
              <p:cNvPr id="2" name="文本占位符 2"/>
              <p:cNvSpPr txBox="1">
                <a:spLocks noRot="1" noChangeAspect="1" noMove="1" noResize="1" noEditPoints="1" noAdjustHandles="1" noChangeArrowheads="1" noChangeShapeType="1" noTextEdit="1"/>
              </p:cNvSpPr>
              <p:nvPr/>
            </p:nvSpPr>
            <p:spPr>
              <a:xfrm>
                <a:off x="1978414" y="5283750"/>
                <a:ext cx="4712315" cy="499578"/>
              </a:xfrm>
              <a:prstGeom prst="rect">
                <a:avLst/>
              </a:prstGeom>
              <a:blipFill rotWithShape="1">
                <a:blip r:embed="rId2"/>
                <a:stretch>
                  <a:fillRect l="-8" t="-110" r="8" b="77"/>
                </a:stretch>
              </a:blipFill>
            </p:spPr>
            <p:txBody>
              <a:bodyPr/>
              <a:lstStyle/>
              <a:p>
                <a:r>
                  <a:rPr lang="zh-CN" altLang="en-US">
                    <a:noFill/>
                  </a:rPr>
                  <a:t> </a:t>
                </a:r>
              </a:p>
            </p:txBody>
          </p:sp>
        </mc:Fallback>
      </mc:AlternateContent>
      <p:sp>
        <p:nvSpPr>
          <p:cNvPr id="6" name="文本占位符 2"/>
          <p:cNvSpPr txBox="1"/>
          <p:nvPr/>
        </p:nvSpPr>
        <p:spPr>
          <a:xfrm>
            <a:off x="1980539" y="1824039"/>
            <a:ext cx="5673176" cy="83528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一种</a:t>
            </a:r>
            <a:r>
              <a:rPr kumimoji="0" lang="zh-CN" altLang="en-US" sz="1400" b="0" i="0" u="none" strike="noStrike" kern="1200" cap="none" spc="0" normalizeH="0" baseline="0" noProof="0" dirty="0">
                <a:ln>
                  <a:noFill/>
                </a:ln>
                <a:solidFill>
                  <a:srgbClr val="C0504D">
                    <a:lumMod val="75000"/>
                  </a:srgbClr>
                </a:solidFill>
                <a:effectLst/>
                <a:uLnTx/>
                <a:uFillTx/>
                <a:latin typeface="Roboto" panose="02000000000000000000" pitchFamily="2" charset="0"/>
                <a:ea typeface="Alibaba PuHuiTi" pitchFamily="18" charset="-122"/>
                <a:cs typeface="Alibaba PuHuiTi" pitchFamily="18" charset="-122"/>
              </a:rPr>
              <a:t>分类</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模型，</a:t>
            </a:r>
            <a:r>
              <a:rPr kumimoji="0" lang="zh-CN" altLang="en-US" sz="1400" b="0" i="0" u="none" strike="noStrike" kern="1200" cap="none" spc="0" normalizeH="0" baseline="0" noProof="0" dirty="0">
                <a:ln>
                  <a:noFill/>
                </a:ln>
                <a:solidFill>
                  <a:srgbClr val="C00000"/>
                </a:solidFill>
                <a:effectLst/>
                <a:uLnTx/>
                <a:uFillTx/>
                <a:latin typeface="Roboto" panose="02000000000000000000" pitchFamily="2" charset="0"/>
                <a:ea typeface="Alibaba PuHuiTi" pitchFamily="18" charset="-122"/>
                <a:cs typeface="Alibaba PuHuiTi" pitchFamily="18" charset="-122"/>
              </a:rPr>
              <a:t>把线性回归的输出，作为逻辑回归的输入。</a:t>
            </a:r>
            <a:endParaRPr kumimoji="0" lang="en-US" altLang="zh-CN" sz="1400" b="0" i="0" u="none" strike="noStrike" kern="1200" cap="none" spc="0" normalizeH="0" baseline="0" noProof="0" dirty="0">
              <a:ln>
                <a:noFill/>
              </a:ln>
              <a:solidFill>
                <a:srgbClr val="C00000"/>
              </a:solidFill>
              <a:effectLst/>
              <a:uLnTx/>
              <a:uFillTx/>
              <a:latin typeface="Roboto" panose="02000000000000000000" pitchFamily="2" charset="0"/>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输出是（</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0,</a:t>
            </a:r>
            <a:r>
              <a:rPr kumimoji="0" lang="zh-CN" altLang="en-US" sz="1400" b="0" i="0" u="none" strike="noStrike" kern="1200" cap="none" spc="0" normalizeH="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rPr>
              <a:t>）</a:t>
            </a:r>
            <a:r>
              <a:rPr lang="zh-CN" altLang="en-US" sz="1400" dirty="0">
                <a:solidFill>
                  <a:prstClr val="black">
                    <a:lumMod val="85000"/>
                    <a:lumOff val="15000"/>
                  </a:prstClr>
                </a:solidFill>
                <a:latin typeface="Roboto" panose="02000000000000000000" pitchFamily="2" charset="0"/>
                <a:ea typeface="Alibaba PuHuiTi" pitchFamily="18" charset="-122"/>
                <a:cs typeface="Alibaba PuHuiTi" pitchFamily="18" charset="-122"/>
              </a:rPr>
              <a:t>之间的值</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Roboto" panose="02000000000000000000" pitchFamily="2" charset="0"/>
              <a:ea typeface="Alibaba PuHuiTi" pitchFamily="18" charset="-122"/>
              <a:cs typeface="Alibaba PuHuiTi" pitchFamily="18" charset="-122"/>
            </a:endParaRPr>
          </a:p>
        </p:txBody>
      </p:sp>
      <p:sp>
        <p:nvSpPr>
          <p:cNvPr id="7" name="文本占位符 2"/>
          <p:cNvSpPr txBox="1"/>
          <p:nvPr/>
        </p:nvSpPr>
        <p:spPr>
          <a:xfrm>
            <a:off x="1279016" y="1324461"/>
            <a:ext cx="401626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逻辑回归概念 </a:t>
            </a:r>
            <a:r>
              <a:rPr kumimoji="0" lang="en-GB"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Logistic Regression </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原理 </a:t>
            </a:r>
            <a:r>
              <a:rPr kumimoji="1" lang="en-US" altLang="zh-CN"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 概念</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221659" y="1332437"/>
            <a:ext cx="401626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举个栗子：逻辑回归预测过程 </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7" name="图片 6"/>
          <p:cNvPicPr>
            <a:picLocks noChangeAspect="1"/>
          </p:cNvPicPr>
          <p:nvPr/>
        </p:nvPicPr>
        <p:blipFill>
          <a:blip r:embed="rId1"/>
          <a:stretch>
            <a:fillRect/>
          </a:stretch>
        </p:blipFill>
        <p:spPr>
          <a:xfrm>
            <a:off x="1547140" y="1948546"/>
            <a:ext cx="7939656" cy="2662738"/>
          </a:xfrm>
          <a:prstGeom prst="rect">
            <a:avLst/>
          </a:prstGeom>
        </p:spPr>
      </p:pic>
      <p:sp>
        <p:nvSpPr>
          <p:cNvPr id="10" name="文本框 9"/>
          <p:cNvSpPr txBox="1"/>
          <p:nvPr/>
        </p:nvSpPr>
        <p:spPr>
          <a:xfrm>
            <a:off x="4161132" y="1425315"/>
            <a:ext cx="177253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6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阈值为</a:t>
            </a:r>
            <a:r>
              <a:rPr kumimoji="0" lang="en-US" altLang="zh-CN" sz="16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0.6</a:t>
            </a:r>
            <a:r>
              <a:rPr kumimoji="0" lang="zh-CN" altLang="en-US" sz="16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endPar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逻辑回归原理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交叉熵</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损失函数</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221740" y="1189355"/>
            <a:ext cx="8906510" cy="4997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交叉熵是衡量两个概率分布（真实分布</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y</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和预测分布</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p</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）差异的指标</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R="0" lvl="0" algn="l" defTabSz="914400" rtl="0" eaLnBrk="0" fontAlgn="base" latinLnBrk="0" hangingPunct="0">
              <a:lnSpc>
                <a:spcPct val="150000"/>
              </a:lnSpc>
              <a:spcBef>
                <a:spcPct val="20000"/>
              </a:spcBef>
              <a:spcAft>
                <a:spcPct val="0"/>
              </a:spcAft>
              <a:buClrTx/>
              <a:buSzTx/>
              <a:buFont typeface="Arial" panose="020B0604020202020204" pitchFamily="34" charset="0"/>
              <a:defRPr/>
            </a:pPr>
            <a:r>
              <a:rPr lang="en-US" altLang="zh-CN"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sym typeface="+mn-ea"/>
              </a:rPr>
              <a:t>   </a:t>
            </a:r>
            <a:r>
              <a:rPr lang="zh-CN" altLang="en-US"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sym typeface="+mn-ea"/>
              </a:rPr>
              <a:t>最小化交叉熵损失函数实际上是在寻找能够最大化观测数据的对数似然性的模型</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4" name="文本占位符 2"/>
          <p:cNvSpPr txBox="1"/>
          <p:nvPr/>
        </p:nvSpPr>
        <p:spPr>
          <a:xfrm>
            <a:off x="3431458" y="5431664"/>
            <a:ext cx="384935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5" name="文本框 14"/>
          <p:cNvSpPr txBox="1"/>
          <p:nvPr/>
        </p:nvSpPr>
        <p:spPr>
          <a:xfrm>
            <a:off x="2807335" y="5549900"/>
            <a:ext cx="7358380" cy="1060450"/>
          </a:xfrm>
          <a:prstGeom prst="rect">
            <a:avLst/>
          </a:prstGeom>
          <a:noFill/>
        </p:spPr>
        <p:txBody>
          <a:bodyPr wrap="square">
            <a:spAutoFit/>
          </a:bodyPr>
          <a:lstStyle/>
          <a:p>
            <a:pPr lvl="0">
              <a:lnSpc>
                <a:spcPct val="150000"/>
              </a:lnSpc>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计算损失示例：</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1log0.40</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(1-1)log(1-0.40)</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第</a:t>
            </a:r>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个样本</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产生的损失</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lvl="0">
              <a:lnSpc>
                <a:spcPct val="150000"/>
              </a:lnSpc>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0log0.68</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(1-0)log(1-0.68)</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第</a:t>
            </a:r>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2</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个样本</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产生的损失</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lvl="0">
              <a:lnSpc>
                <a:spcPct val="150000"/>
              </a:lnSpc>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1</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log0.41</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(1-1)log(1-0.41)</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   # ...</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17" name="图片 16"/>
          <p:cNvPicPr>
            <a:picLocks noChangeAspect="1"/>
          </p:cNvPicPr>
          <p:nvPr/>
        </p:nvPicPr>
        <p:blipFill>
          <a:blip r:embed="rId1"/>
          <a:stretch>
            <a:fillRect/>
          </a:stretch>
        </p:blipFill>
        <p:spPr>
          <a:xfrm>
            <a:off x="2564384" y="3983767"/>
            <a:ext cx="5861930" cy="1695207"/>
          </a:xfrm>
          <a:prstGeom prst="rect">
            <a:avLst/>
          </a:prstGeom>
        </p:spPr>
      </p:pic>
      <p:sp>
        <p:nvSpPr>
          <p:cNvPr id="20" name="文本占位符 2"/>
          <p:cNvSpPr txBox="1"/>
          <p:nvPr/>
        </p:nvSpPr>
        <p:spPr>
          <a:xfrm>
            <a:off x="1063163" y="3593414"/>
            <a:ext cx="407444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srgbClr val="333333"/>
                </a:solidFill>
                <a:latin typeface="Open Sans" panose="020B0606030504020204" pitchFamily="34" charset="0"/>
              </a:rPr>
              <a:t>举个栗子 </a:t>
            </a:r>
            <a:r>
              <a:rPr lang="en-US" altLang="zh-CN" dirty="0">
                <a:solidFill>
                  <a:srgbClr val="333333"/>
                </a:solidFill>
                <a:latin typeface="Open Sans" panose="020B0606030504020204" pitchFamily="34" charset="0"/>
              </a:rPr>
              <a:t>–</a:t>
            </a:r>
            <a:r>
              <a:rPr lang="zh-CN" altLang="en-US" dirty="0">
                <a:solidFill>
                  <a:srgbClr val="333333"/>
                </a:solidFill>
                <a:latin typeface="Open Sans" panose="020B0606030504020204" pitchFamily="34" charset="0"/>
              </a:rPr>
              <a:t> 损失函数手工计算 </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2"/>
          <a:stretch>
            <a:fillRect/>
          </a:stretch>
        </p:blipFill>
        <p:spPr>
          <a:xfrm>
            <a:off x="2073275" y="1975485"/>
            <a:ext cx="4799965" cy="17100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2"/>
          <p:cNvSpPr txBox="1"/>
          <p:nvPr/>
        </p:nvSpPr>
        <p:spPr>
          <a:xfrm>
            <a:off x="1221659" y="1269572"/>
            <a:ext cx="384935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1</a:t>
            </a:r>
            <a:r>
              <a:rPr kumimoji="0" lang="zh-CN" altLang="en-US"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zh-CN"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伯努利分布</a:t>
            </a:r>
            <a:endParaRPr kumimoji="0" 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9" name="文本占位符 2"/>
          <p:cNvSpPr txBox="1"/>
          <p:nvPr/>
        </p:nvSpPr>
        <p:spPr>
          <a:xfrm>
            <a:off x="1221658" y="3990277"/>
            <a:ext cx="384935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2</a:t>
            </a:r>
            <a:r>
              <a:rPr kumimoji="0" lang="zh-CN" altLang="en-US"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zh-CN"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伯努利分布函数</a:t>
            </a:r>
            <a:endParaRPr kumimoji="0" 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11" name="文本框 10"/>
              <p:cNvSpPr txBox="1"/>
              <p:nvPr/>
            </p:nvSpPr>
            <p:spPr>
              <a:xfrm>
                <a:off x="1703070" y="4371340"/>
                <a:ext cx="10022840" cy="41402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假设：有样本</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14:m>
                  <m:oMath xmlns:m="http://schemas.openxmlformats.org/officeDocument/2006/math">
                    <m:sSub>
                      <m:sSubPr>
                        <m:ctrlP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sSubPr>
                      <m:e>
                        <m: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𝑥</m:t>
                        </m:r>
                      </m:e>
                      <m:sub>
                        <m: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1</m:t>
                        </m:r>
                      </m:sub>
                    </m:sSub>
                  </m:oMath>
                </a14:m>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sSub>
                      <m:sSubPr>
                        <m:ctrlP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sSubPr>
                      <m:e>
                        <m: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𝑦</m:t>
                        </m:r>
                      </m:e>
                      <m:sub>
                        <m: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1</m:t>
                        </m:r>
                      </m:sub>
                    </m:sSub>
                  </m:oMath>
                </a14:m>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14:m>
                  <m:oMath xmlns:m="http://schemas.openxmlformats.org/officeDocument/2006/math">
                    <m:sSub>
                      <m:sSubPr>
                        <m:ctrlP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sSubPr>
                      <m:e>
                        <m: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𝑥</m:t>
                        </m:r>
                      </m:e>
                      <m:sub>
                        <m: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1</m:t>
                        </m:r>
                      </m:sub>
                    </m:sSub>
                  </m:oMath>
                </a14:m>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Calibri" panose="020F0502020204030204"/>
                    <a:ea typeface="Alibaba PuHuiTi" pitchFamily="18" charset="-122"/>
                    <a:cs typeface="Alibaba PuHuiTi" pitchFamily="18" charset="-122"/>
                  </a:rPr>
                  <a:t> </a:t>
                </a:r>
                <a14:m>
                  <m:oMath xmlns:m="http://schemas.openxmlformats.org/officeDocument/2006/math">
                    <m:sSub>
                      <m:sSubPr>
                        <m:ctrlP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sSubPr>
                      <m:e>
                        <m: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𝑦</m:t>
                        </m:r>
                      </m:e>
                      <m:sub>
                        <m: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2</m:t>
                        </m:r>
                      </m:sub>
                    </m:sSub>
                  </m:oMath>
                </a14:m>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14:m>
                  <m:oMath xmlns:m="http://schemas.openxmlformats.org/officeDocument/2006/math">
                    <m:sSub>
                      <m:sSubPr>
                        <m:ctrlP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sSubPr>
                      <m:e>
                        <m: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𝑥</m:t>
                        </m:r>
                      </m:e>
                      <m:sub>
                        <m: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𝑛</m:t>
                        </m:r>
                      </m:sub>
                    </m:sSub>
                  </m:oMath>
                </a14:m>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Calibri" panose="020F0502020204030204"/>
                    <a:ea typeface="Alibaba PuHuiTi" pitchFamily="18" charset="-122"/>
                    <a:cs typeface="Alibaba PuHuiTi" pitchFamily="18" charset="-122"/>
                  </a:rPr>
                  <a:t> </a:t>
                </a:r>
                <a14:m>
                  <m:oMath xmlns:m="http://schemas.openxmlformats.org/officeDocument/2006/math">
                    <m:sSub>
                      <m:sSubPr>
                        <m:ctrlP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sSubPr>
                      <m:e>
                        <m: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𝑦</m:t>
                        </m:r>
                      </m:e>
                      <m:sub>
                        <m: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𝑛</m:t>
                        </m:r>
                      </m:sub>
                    </m:sSub>
                  </m:oMath>
                </a14:m>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n</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个样本</a:t>
                </a:r>
                <a:r>
                  <a:rPr kumimoji="0" lang="zh-CN" altLang="en-US" sz="1400" b="0" i="0" u="none" strike="noStrike" kern="1200" cap="none" spc="0" normalizeH="0" baseline="0" noProof="0" dirty="0">
                    <a:ln>
                      <a:noFill/>
                    </a:ln>
                    <a:solidFill>
                      <a:schemeClr val="tx1"/>
                    </a:solidFill>
                    <a:effectLst/>
                    <a:uLnTx/>
                    <a:uFillTx/>
                    <a:latin typeface="Alibaba PuHuiTi" pitchFamily="18" charset="-122"/>
                    <a:ea typeface="Alibaba PuHuiTi" pitchFamily="18" charset="-122"/>
                    <a:cs typeface="Alibaba PuHuiTi" pitchFamily="18" charset="-122"/>
                  </a:rPr>
                  <a:t>都预测正确的概率就是</a:t>
                </a:r>
                <a:r>
                  <a:rPr kumimoji="0" lang="zh-CN" altLang="en-US" sz="1400" b="0" i="0" u="none" strike="noStrike" kern="1200" cap="none" spc="0" normalizeH="0" baseline="0" noProof="0" dirty="0">
                    <a:ln>
                      <a:noFill/>
                    </a:ln>
                    <a:solidFill>
                      <a:srgbClr val="C00000"/>
                    </a:solidFill>
                    <a:effectLst/>
                    <a:uLnTx/>
                    <a:uFillTx/>
                    <a:latin typeface="Alibaba PuHuiTi" pitchFamily="18" charset="-122"/>
                    <a:ea typeface="Alibaba PuHuiTi" pitchFamily="18" charset="-122"/>
                    <a:cs typeface="Alibaba PuHuiTi" pitchFamily="18" charset="-122"/>
                  </a:rPr>
                  <a:t>伯努利分布的似然函数</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1703070" y="4371340"/>
                <a:ext cx="10022840" cy="414020"/>
              </a:xfrm>
              <a:prstGeom prst="rect">
                <a:avLst/>
              </a:prstGeom>
              <a:blipFill rotWithShape="1">
                <a:blip r:embed="rId1"/>
                <a:stretch>
                  <a:fillRect/>
                </a:stretch>
              </a:blipFill>
            </p:spPr>
            <p:txBody>
              <a:bodyPr/>
              <a:lstStyle/>
              <a:p>
                <a:r>
                  <a:rPr lang="zh-CN" altLang="en-US">
                    <a:noFill/>
                  </a:rPr>
                  <a:t> </a:t>
                </a:r>
              </a:p>
            </p:txBody>
          </p:sp>
        </mc:Fallback>
      </mc:AlternateContent>
      <p:pic>
        <p:nvPicPr>
          <p:cNvPr id="13" name="图片 12"/>
          <p:cNvPicPr>
            <a:picLocks noChangeAspect="1"/>
          </p:cNvPicPr>
          <p:nvPr/>
        </p:nvPicPr>
        <p:blipFill>
          <a:blip r:embed="rId2"/>
          <a:stretch>
            <a:fillRect/>
          </a:stretch>
        </p:blipFill>
        <p:spPr>
          <a:xfrm>
            <a:off x="2381245" y="4738099"/>
            <a:ext cx="4295345" cy="599350"/>
          </a:xfrm>
          <a:prstGeom prst="rect">
            <a:avLst/>
          </a:prstGeom>
        </p:spPr>
      </p:pic>
      <p:sp>
        <p:nvSpPr>
          <p:cNvPr id="14" name="文本占位符 2"/>
          <p:cNvSpPr txBox="1"/>
          <p:nvPr/>
        </p:nvSpPr>
        <p:spPr>
          <a:xfrm>
            <a:off x="3431458" y="5431664"/>
            <a:ext cx="384935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6" name="文本框 15"/>
          <p:cNvSpPr txBox="1"/>
          <p:nvPr/>
        </p:nvSpPr>
        <p:spPr>
          <a:xfrm>
            <a:off x="2356311" y="5238914"/>
            <a:ext cx="6146530" cy="708399"/>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p</a:t>
            </a:r>
            <a:r>
              <a:rPr kumimoji="0" lang="en-GB" altLang="zh-CN" sz="1400" b="0" i="0" u="none" strike="noStrike" kern="1200" cap="none" spc="0" normalizeH="0" baseline="-25000" noProof="0" dirty="0">
                <a:ln>
                  <a:noFill/>
                </a:ln>
                <a:solidFill>
                  <a:srgbClr val="333333"/>
                </a:solidFill>
                <a:effectLst/>
                <a:uLnTx/>
                <a:uFillTx/>
                <a:latin typeface="Alibaba PuHuiTi" pitchFamily="18" charset="-122"/>
                <a:ea typeface="Alibaba PuHuiTi" pitchFamily="18" charset="-122"/>
                <a:cs typeface="Alibaba PuHuiTi" pitchFamily="18" charset="-122"/>
              </a:rPr>
              <a:t>i</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表示每个样本被分类正确时的概率</a:t>
            </a:r>
            <a:endPar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en-GB" altLang="zh-CN" sz="1400" b="0"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y</a:t>
            </a:r>
            <a:r>
              <a:rPr kumimoji="0" lang="en-GB" altLang="zh-CN" sz="1400" b="0" i="0" u="none" strike="noStrike" kern="1200" cap="none" spc="0" normalizeH="0" baseline="-25000" noProof="0" dirty="0" err="1">
                <a:ln>
                  <a:noFill/>
                </a:ln>
                <a:solidFill>
                  <a:srgbClr val="333333"/>
                </a:solidFill>
                <a:effectLst/>
                <a:uLnTx/>
                <a:uFillTx/>
                <a:latin typeface="Alibaba PuHuiTi" pitchFamily="18" charset="-122"/>
                <a:ea typeface="Alibaba PuHuiTi" pitchFamily="18" charset="-122"/>
                <a:cs typeface="Alibaba PuHuiTi" pitchFamily="18" charset="-122"/>
              </a:rPr>
              <a:t>i</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表示每个样本的真实类别（</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0</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或</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8" name="文本占位符 2"/>
          <p:cNvSpPr txBox="1"/>
          <p:nvPr/>
        </p:nvSpPr>
        <p:spPr>
          <a:xfrm>
            <a:off x="1628518" y="5891906"/>
            <a:ext cx="931449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buFont typeface="Arial" panose="020B0604020202020204" pitchFamily="34" charset="0"/>
              <a:defRPr/>
            </a:pPr>
            <a:r>
              <a:rPr kumimoji="0" lang="zh-CN" altLang="en-US"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问题转化为：让</a:t>
            </a:r>
            <a:r>
              <a:rPr kumimoji="0" lang="zh-CN" altLang="en-US"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联合概率</a:t>
            </a:r>
            <a:r>
              <a:rPr lang="zh-CN" altLang="en-US" dirty="0">
                <a:solidFill>
                  <a:schemeClr val="accent2">
                    <a:lumMod val="75000"/>
                  </a:schemeClr>
                </a:solidFill>
                <a:latin typeface="Open Sans" panose="020B0606030504020204" pitchFamily="34" charset="0"/>
              </a:rPr>
              <a:t>事件</a:t>
            </a:r>
            <a:r>
              <a:rPr kumimoji="0" lang="zh-CN" altLang="en-US"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最大时，</a:t>
            </a:r>
            <a:r>
              <a:rPr kumimoji="0" lang="zh-CN" altLang="en-US"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估计</a:t>
            </a:r>
            <a:r>
              <a:rPr kumimoji="0" lang="en-US" altLang="zh-CN"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w</a:t>
            </a:r>
            <a:r>
              <a:rPr kumimoji="0" lang="zh-CN" altLang="en-US"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en-US" altLang="zh-CN"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b</a:t>
            </a:r>
            <a:r>
              <a:rPr kumimoji="0" lang="zh-CN" altLang="en-US" sz="1600" b="0" i="0" u="none" strike="noStrike" kern="1200" cap="none" spc="0" normalizeH="0" baseline="0" noProof="0" dirty="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的权重参数，这就是</a:t>
            </a:r>
            <a:r>
              <a:rPr kumimoji="0" lang="zh-CN" altLang="en-US" sz="1600" b="0" i="0" u="none" strike="noStrike" kern="1200" cap="none" spc="0" normalizeH="0" baseline="0" noProof="0" dirty="0">
                <a:ln>
                  <a:noFill/>
                </a:ln>
                <a:solidFill>
                  <a:schemeClr val="accent2">
                    <a:lumMod val="75000"/>
                  </a:schemeClr>
                </a:solidFill>
                <a:effectLst/>
                <a:uLnTx/>
                <a:uFillTx/>
                <a:latin typeface="Open Sans" panose="020B0606030504020204" pitchFamily="34" charset="0"/>
              </a:rPr>
              <a:t>极大似然估计</a:t>
            </a:r>
            <a:endParaRPr kumimoji="0" lang="zh-CN" altLang="en-GB"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10" name="标题 9"/>
          <p:cNvSpPr>
            <a:spLocks noGrp="1"/>
          </p:cNvSpPr>
          <p:nvPr>
            <p:ph type="title"/>
          </p:nvPr>
        </p:nvSpPr>
        <p:spPr>
          <a:xfrm>
            <a:off x="710879" y="839979"/>
            <a:ext cx="6459803" cy="517190"/>
          </a:xfrm>
        </p:spPr>
        <p:txBody>
          <a:bodyPr/>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逻辑回归原理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noProof="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sym typeface="+mn-ea"/>
              </a:rPr>
              <a:t>似然</a:t>
            </a:r>
            <a:r>
              <a:rPr>
                <a:solidFill>
                  <a:srgbClr val="333333"/>
                </a:solidFill>
                <a:latin typeface="Open Sans" panose="020B0606030504020204" pitchFamily="34" charset="0"/>
                <a:sym typeface="+mn-ea"/>
              </a:rPr>
              <a:t>函数</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17" name="图片 16"/>
          <p:cNvPicPr>
            <a:picLocks noChangeAspect="1"/>
          </p:cNvPicPr>
          <p:nvPr/>
        </p:nvPicPr>
        <p:blipFill>
          <a:blip r:embed="rId3"/>
          <a:stretch>
            <a:fillRect/>
          </a:stretch>
        </p:blipFill>
        <p:spPr>
          <a:xfrm>
            <a:off x="2108835" y="1759585"/>
            <a:ext cx="4839335" cy="23856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2"/>
          <p:cNvSpPr txBox="1"/>
          <p:nvPr/>
        </p:nvSpPr>
        <p:spPr>
          <a:xfrm>
            <a:off x="1221659" y="1332437"/>
            <a:ext cx="8246806"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buFont typeface="Arial" panose="020B0604020202020204" pitchFamily="34" charset="0"/>
              <a:defRPr/>
            </a:pPr>
            <a:r>
              <a:rPr kumimoji="0" lang="zh-CN" altLang="en-US"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伯努利分布的似然函数是逻辑回归交叉熵损失的来源</a:t>
            </a:r>
            <a:r>
              <a:rPr kumimoji="0" lang="en-US" altLang="zh-CN"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zh-CN" altLang="en-US"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对其取负对数，直接得到交叉熵损失</a:t>
            </a:r>
            <a:r>
              <a:rPr kumimoji="0" lang="en-US" altLang="zh-CN"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endParaRPr kumimoji="0" lang="en-US" altLang="zh-CN" sz="1600" b="0" i="0" u="none" strike="noStrike" kern="1200" cap="none" spc="0" normalizeH="0" baseline="0" noProof="0" dirty="0">
              <a:ln>
                <a:noFill/>
              </a:ln>
              <a:solidFill>
                <a:srgbClr val="C00000"/>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endParaRPr>
          </a:p>
        </p:txBody>
      </p:sp>
      <p:sp>
        <p:nvSpPr>
          <p:cNvPr id="8" name="文本框 7"/>
          <p:cNvSpPr txBox="1"/>
          <p:nvPr/>
        </p:nvSpPr>
        <p:spPr>
          <a:xfrm>
            <a:off x="1272540" y="1793875"/>
            <a:ext cx="6731635" cy="41402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zh-CN" sz="1400" b="0" i="0" u="none" strike="noStrike" dirty="0">
                <a:solidFill>
                  <a:srgbClr val="333333"/>
                </a:solidFill>
                <a:effectLst/>
                <a:latin typeface="Open Sans" panose="020B0606030504020204" pitchFamily="34" charset="0"/>
              </a:rPr>
              <a:t>1.</a:t>
            </a:r>
            <a:r>
              <a:rPr lang="zh-CN" altLang="en-US" sz="1400" b="0" i="0" u="none" strike="noStrike" dirty="0">
                <a:solidFill>
                  <a:srgbClr val="333333"/>
                </a:solidFill>
                <a:effectLst/>
                <a:latin typeface="Open Sans" panose="020B0606030504020204" pitchFamily="34" charset="0"/>
              </a:rPr>
              <a:t>把最大化问题将其变为最小化问题</a:t>
            </a:r>
            <a:r>
              <a:rPr lang="en-US" altLang="zh-CN" sz="1400" b="0" i="0" u="none" strike="noStrike" dirty="0">
                <a:solidFill>
                  <a:srgbClr val="333333"/>
                </a:solidFill>
                <a:effectLst/>
                <a:latin typeface="Open Sans" panose="020B0606030504020204" pitchFamily="34" charset="0"/>
              </a:rPr>
              <a:t>(</a:t>
            </a:r>
            <a:r>
              <a:rPr lang="zh-CN" altLang="en-US" sz="1400" b="0" i="0" u="none" strike="noStrike" dirty="0">
                <a:solidFill>
                  <a:srgbClr val="333333"/>
                </a:solidFill>
                <a:effectLst/>
                <a:latin typeface="Open Sans" panose="020B0606030504020204" pitchFamily="34" charset="0"/>
              </a:rPr>
              <a:t>最大化似然函数</a:t>
            </a:r>
            <a:r>
              <a:rPr lang="en-US" altLang="zh-CN" sz="1400" b="0" i="0" u="none" strike="noStrike" dirty="0">
                <a:solidFill>
                  <a:srgbClr val="333333"/>
                </a:solidFill>
                <a:effectLst/>
                <a:latin typeface="Open Sans" panose="020B0606030504020204" pitchFamily="34" charset="0"/>
              </a:rPr>
              <a:t> -&gt; </a:t>
            </a:r>
            <a:r>
              <a:rPr lang="zh-CN" altLang="en-US" sz="1400" b="0" i="0" u="none" strike="noStrike" dirty="0">
                <a:solidFill>
                  <a:srgbClr val="333333"/>
                </a:solidFill>
                <a:effectLst/>
                <a:latin typeface="Open Sans" panose="020B0606030504020204" pitchFamily="34" charset="0"/>
              </a:rPr>
              <a:t>最小化交叉熵损失</a:t>
            </a:r>
            <a:r>
              <a:rPr lang="en-US" altLang="zh-CN" sz="1400" b="0" i="0" u="none" strike="noStrike" dirty="0">
                <a:solidFill>
                  <a:srgbClr val="333333"/>
                </a:solidFill>
                <a:effectLst/>
                <a:latin typeface="Open Sans" panose="020B0606030504020204" pitchFamily="34" charset="0"/>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0" name="标题 9"/>
          <p:cNvSpPr>
            <a:spLocks noGrp="1"/>
          </p:cNvSpPr>
          <p:nvPr>
            <p:ph type="title"/>
          </p:nvPr>
        </p:nvSpPr>
        <p:spPr>
          <a:xfrm>
            <a:off x="710879" y="839979"/>
            <a:ext cx="6459803" cy="517190"/>
          </a:xfrm>
        </p:spPr>
        <p:txBody>
          <a:bodyPr/>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逻辑回归原理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交叉熵和</a:t>
            </a:r>
            <a:r>
              <a:rPr noProof="0">
                <a:ln>
                  <a:noFill/>
                </a:ln>
                <a:solidFill>
                  <a:srgbClr val="333333"/>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sym typeface="+mn-ea"/>
              </a:rPr>
              <a:t>似然</a:t>
            </a:r>
            <a:r>
              <a:rPr>
                <a:solidFill>
                  <a:srgbClr val="333333"/>
                </a:solidFill>
                <a:latin typeface="Open Sans" panose="020B0606030504020204" pitchFamily="34" charset="0"/>
                <a:sym typeface="+mn-ea"/>
              </a:rPr>
              <a:t>函数关系</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1632585" y="4246245"/>
            <a:ext cx="6756400" cy="1803400"/>
          </a:xfrm>
          <a:prstGeom prst="rect">
            <a:avLst/>
          </a:prstGeom>
        </p:spPr>
      </p:pic>
      <p:pic>
        <p:nvPicPr>
          <p:cNvPr id="6" name="图片 5"/>
          <p:cNvPicPr>
            <a:picLocks noChangeAspect="1"/>
          </p:cNvPicPr>
          <p:nvPr/>
        </p:nvPicPr>
        <p:blipFill>
          <a:blip r:embed="rId2"/>
          <a:stretch>
            <a:fillRect/>
          </a:stretch>
        </p:blipFill>
        <p:spPr>
          <a:xfrm>
            <a:off x="1632580" y="2241914"/>
            <a:ext cx="4295345" cy="599350"/>
          </a:xfrm>
          <a:prstGeom prst="rect">
            <a:avLst/>
          </a:prstGeom>
        </p:spPr>
      </p:pic>
      <p:pic>
        <p:nvPicPr>
          <p:cNvPr id="9" name="图片 8"/>
          <p:cNvPicPr>
            <a:picLocks noChangeAspect="1"/>
          </p:cNvPicPr>
          <p:nvPr/>
        </p:nvPicPr>
        <p:blipFill>
          <a:blip r:embed="rId3"/>
          <a:stretch>
            <a:fillRect/>
          </a:stretch>
        </p:blipFill>
        <p:spPr>
          <a:xfrm>
            <a:off x="1524000" y="3013710"/>
            <a:ext cx="4982210" cy="713105"/>
          </a:xfrm>
          <a:prstGeom prst="rect">
            <a:avLst/>
          </a:prstGeom>
        </p:spPr>
      </p:pic>
      <p:sp>
        <p:nvSpPr>
          <p:cNvPr id="12" name="文本框 11"/>
          <p:cNvSpPr txBox="1"/>
          <p:nvPr/>
        </p:nvSpPr>
        <p:spPr>
          <a:xfrm>
            <a:off x="1268095" y="3726180"/>
            <a:ext cx="6731635" cy="414020"/>
          </a:xfrm>
          <a:prstGeom prst="rect">
            <a:avLst/>
          </a:prstGeom>
          <a:noFill/>
        </p:spPr>
        <p:txBody>
          <a:bodyPr wrap="square">
            <a:spAutoFit/>
          </a:bodyPr>
          <a:p>
            <a:pPr marL="0" marR="0" lvl="0" indent="0" algn="l" defTabSz="914400" rtl="0" eaLnBrk="1" fontAlgn="auto" latinLnBrk="0" hangingPunct="1">
              <a:lnSpc>
                <a:spcPct val="150000"/>
              </a:lnSpc>
              <a:spcBef>
                <a:spcPts val="0"/>
              </a:spcBef>
              <a:spcAft>
                <a:spcPts val="0"/>
              </a:spcAft>
              <a:buClrTx/>
              <a:buSzTx/>
              <a:buFontTx/>
              <a:buNone/>
              <a:defRPr/>
            </a:pPr>
            <a:r>
              <a:rPr lang="en-US" altLang="zh-CN" sz="1400" b="0" i="0" u="none" strike="noStrike" dirty="0">
                <a:solidFill>
                  <a:srgbClr val="333333"/>
                </a:solidFill>
                <a:effectLst/>
                <a:latin typeface="Open Sans" panose="020B0606030504020204" pitchFamily="34" charset="0"/>
              </a:rPr>
              <a:t>2.</a:t>
            </a:r>
            <a:r>
              <a:rPr lang="zh-CN" altLang="en-US" sz="1400" b="0" i="0" u="none" strike="noStrike" dirty="0">
                <a:solidFill>
                  <a:srgbClr val="333333"/>
                </a:solidFill>
                <a:effectLst/>
                <a:latin typeface="Open Sans" panose="020B0606030504020204" pitchFamily="34" charset="0"/>
              </a:rPr>
              <a:t>把连乘问题将其变为连加问题</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442176" y="1941530"/>
            <a:ext cx="5592377"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1</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逻辑回归核心思想</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2" name="TextBox 6"/>
          <p:cNvSpPr txBox="1"/>
          <p:nvPr/>
        </p:nvSpPr>
        <p:spPr>
          <a:xfrm>
            <a:off x="4845178" y="2382335"/>
            <a:ext cx="5722155" cy="385234"/>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思想：解决分类问题，</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把线性回归的输出作为逻辑回归的输入</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4" name="文本框 3"/>
          <p:cNvSpPr txBox="1"/>
          <p:nvPr/>
        </p:nvSpPr>
        <p:spPr>
          <a:xfrm>
            <a:off x="4442174" y="3054941"/>
            <a:ext cx="5592377"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2</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逻辑回归的</a:t>
            </a:r>
            <a:r>
              <a:rPr kumimoji="1" 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优化操作</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endParaRPr kumimoji="1" lang="zh-CN" alt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黑体" panose="02010609060101010101" pitchFamily="49" charset="-122"/>
              <a:cs typeface="+mn-cs"/>
            </a:endParaRPr>
          </a:p>
        </p:txBody>
      </p:sp>
      <p:sp>
        <p:nvSpPr>
          <p:cNvPr id="8" name="TextBox 6"/>
          <p:cNvSpPr txBox="1"/>
          <p:nvPr/>
        </p:nvSpPr>
        <p:spPr>
          <a:xfrm>
            <a:off x="4845178" y="3559346"/>
            <a:ext cx="7199338" cy="1060450"/>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indent="-285750">
              <a:lnSpc>
                <a:spcPct val="150000"/>
              </a:lnSpc>
              <a:buFont typeface="Arial" panose="020B0604020202020204" pitchFamily="34" charset="0"/>
              <a:buChar char="•"/>
              <a:defRPr/>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极大化似然函数</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defRPr/>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sym typeface="+mn-ea"/>
              </a:rPr>
              <a:t>最小化交叉熵损失</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a:p>
            <a:pPr indent="0">
              <a:lnSpc>
                <a:spcPct val="150000"/>
              </a:lnSpc>
              <a:buFont typeface="Arial" panose="020B0604020202020204" pitchFamily="34" charset="0"/>
              <a:buNone/>
              <a:defRPr/>
            </a:pP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81606" y="1652714"/>
            <a:ext cx="4536504" cy="352917"/>
          </a:xfrm>
          <a:prstGeom prst="rect">
            <a:avLst/>
          </a:prstGeom>
        </p:spPr>
        <p:txBody>
          <a:bodyPr wrap="square">
            <a:spAutoFit/>
          </a:bodyPr>
          <a:lstStyle/>
          <a:p>
            <a:pPr>
              <a:lnSpc>
                <a:spcPct val="130000"/>
              </a:lnSpc>
            </a:pPr>
            <a:r>
              <a:rPr lang="en-US" altLang="zh-CN" sz="1400" dirty="0">
                <a:latin typeface="Alibaba PuHuiTi" pitchFamily="18" charset="-122"/>
                <a:ea typeface="Alibaba PuHuiTi" pitchFamily="18" charset="-122"/>
                <a:cs typeface="Alibaba PuHuiTi" pitchFamily="18" charset="-122"/>
              </a:rPr>
              <a:t>1</a:t>
            </a:r>
            <a:r>
              <a:rPr lang="zh-CN" altLang="en-US" sz="1400" dirty="0">
                <a:latin typeface="Alibaba PuHuiTi" pitchFamily="18" charset="-122"/>
                <a:ea typeface="Alibaba PuHuiTi" pitchFamily="18" charset="-122"/>
                <a:cs typeface="Alibaba PuHuiTi" pitchFamily="18" charset="-122"/>
              </a:rPr>
              <a:t> 以下关于逻辑回归的说法正确的是？（</a:t>
            </a:r>
            <a:r>
              <a:rPr lang="zh-CN" altLang="en-US" sz="1400" b="1" dirty="0">
                <a:latin typeface="Alibaba PuHuiTi" pitchFamily="18" charset="-122"/>
                <a:ea typeface="Alibaba PuHuiTi" pitchFamily="18" charset="-122"/>
                <a:cs typeface="Alibaba PuHuiTi" pitchFamily="18" charset="-122"/>
              </a:rPr>
              <a:t>多选</a:t>
            </a:r>
            <a:r>
              <a:rPr lang="zh-CN" altLang="en-US" sz="1400" dirty="0">
                <a:latin typeface="Alibaba PuHuiTi" pitchFamily="18" charset="-122"/>
                <a:ea typeface="Alibaba PuHuiTi" pitchFamily="18" charset="-122"/>
                <a:cs typeface="Alibaba PuHuiTi" pitchFamily="18" charset="-122"/>
              </a:rPr>
              <a:t>）</a:t>
            </a:r>
            <a:endParaRPr lang="en-US" altLang="zh-CN" sz="1400" dirty="0">
              <a:latin typeface="Alibaba PuHuiTi" pitchFamily="18" charset="-122"/>
              <a:ea typeface="Alibaba PuHuiTi" pitchFamily="18" charset="-122"/>
              <a:cs typeface="Alibaba PuHuiTi" pitchFamily="18" charset="-122"/>
            </a:endParaRPr>
          </a:p>
        </p:txBody>
      </p:sp>
      <p:sp>
        <p:nvSpPr>
          <p:cNvPr id="3" name="矩形 2"/>
          <p:cNvSpPr/>
          <p:nvPr/>
        </p:nvSpPr>
        <p:spPr>
          <a:xfrm>
            <a:off x="2569934" y="2262222"/>
            <a:ext cx="6731381" cy="2033377"/>
          </a:xfrm>
          <a:prstGeom prst="rect">
            <a:avLst/>
          </a:prstGeom>
        </p:spPr>
        <p:txBody>
          <a:bodyPr wrap="square">
            <a:spAutoFit/>
          </a:bodyPr>
          <a:lstStyle/>
          <a:p>
            <a:pPr>
              <a:lnSpc>
                <a:spcPct val="130000"/>
              </a:lnSpc>
            </a:pPr>
            <a:r>
              <a:rPr lang="en-US" altLang="zh-CN" sz="1400" b="1" dirty="0">
                <a:latin typeface="Alibaba PuHuiTi" pitchFamily="18" charset="-122"/>
                <a:ea typeface="Alibaba PuHuiTi" pitchFamily="18" charset="-122"/>
                <a:cs typeface="Alibaba PuHuiTi" pitchFamily="18" charset="-122"/>
              </a:rPr>
              <a:t>A</a:t>
            </a:r>
            <a:r>
              <a:rPr lang="zh-CN" altLang="en-US" sz="1400" b="1"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逻辑回归应用在分类场景中</a:t>
            </a:r>
            <a:endParaRPr lang="en-US" altLang="zh-CN" sz="1400" dirty="0">
              <a:latin typeface="Alibaba PuHuiTi" pitchFamily="18" charset="-122"/>
              <a:ea typeface="Alibaba PuHuiTi" pitchFamily="18" charset="-122"/>
              <a:cs typeface="Alibaba PuHuiTi" pitchFamily="18" charset="-122"/>
            </a:endParaRPr>
          </a:p>
          <a:p>
            <a:pPr>
              <a:lnSpc>
                <a:spcPct val="130000"/>
              </a:lnSpc>
            </a:pPr>
            <a:endParaRPr lang="en-US" altLang="zh-CN" sz="1400" dirty="0">
              <a:latin typeface="Alibaba PuHuiTi" pitchFamily="18" charset="-122"/>
              <a:ea typeface="Alibaba PuHuiTi" pitchFamily="18" charset="-122"/>
              <a:cs typeface="Alibaba PuHuiTi" pitchFamily="18" charset="-122"/>
            </a:endParaRPr>
          </a:p>
          <a:p>
            <a:pPr>
              <a:lnSpc>
                <a:spcPct val="130000"/>
              </a:lnSpc>
            </a:pPr>
            <a:r>
              <a:rPr lang="en-US" altLang="zh-CN" sz="1400" b="1" dirty="0">
                <a:latin typeface="Alibaba PuHuiTi" pitchFamily="18" charset="-122"/>
                <a:ea typeface="Alibaba PuHuiTi" pitchFamily="18" charset="-122"/>
                <a:cs typeface="Alibaba PuHuiTi" pitchFamily="18" charset="-122"/>
              </a:rPr>
              <a:t>B</a:t>
            </a:r>
            <a:r>
              <a:rPr lang="zh-CN" altLang="en-US" sz="1400" b="1"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逻辑回归使用了回归将特征数据进行拟合</a:t>
            </a:r>
            <a:endParaRPr lang="en-US" altLang="zh-CN" sz="1400" dirty="0">
              <a:latin typeface="Alibaba PuHuiTi" pitchFamily="18" charset="-122"/>
              <a:ea typeface="Alibaba PuHuiTi" pitchFamily="18" charset="-122"/>
              <a:cs typeface="Alibaba PuHuiTi" pitchFamily="18" charset="-122"/>
            </a:endParaRPr>
          </a:p>
          <a:p>
            <a:pPr>
              <a:lnSpc>
                <a:spcPct val="130000"/>
              </a:lnSpc>
            </a:pPr>
            <a:endParaRPr lang="en-US" altLang="zh-CN" sz="1400" dirty="0">
              <a:latin typeface="Alibaba PuHuiTi" pitchFamily="18" charset="-122"/>
              <a:ea typeface="Alibaba PuHuiTi" pitchFamily="18" charset="-122"/>
              <a:cs typeface="Alibaba PuHuiTi" pitchFamily="18" charset="-122"/>
            </a:endParaRPr>
          </a:p>
          <a:p>
            <a:pPr>
              <a:lnSpc>
                <a:spcPct val="130000"/>
              </a:lnSpc>
            </a:pPr>
            <a:r>
              <a:rPr lang="en-US" altLang="zh-CN" sz="1400" b="1" dirty="0">
                <a:latin typeface="Alibaba PuHuiTi" pitchFamily="18" charset="-122"/>
                <a:ea typeface="Alibaba PuHuiTi" pitchFamily="18" charset="-122"/>
                <a:cs typeface="Alibaba PuHuiTi" pitchFamily="18" charset="-122"/>
              </a:rPr>
              <a:t>C</a:t>
            </a:r>
            <a:r>
              <a:rPr lang="zh-CN" altLang="en-US" sz="1400" b="1"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逻辑回归使用了</a:t>
            </a:r>
            <a:r>
              <a:rPr lang="en-US" altLang="zh-CN" sz="1400" dirty="0">
                <a:latin typeface="Alibaba PuHuiTi" pitchFamily="18" charset="-122"/>
                <a:ea typeface="Alibaba PuHuiTi" pitchFamily="18" charset="-122"/>
                <a:cs typeface="Alibaba PuHuiTi" pitchFamily="18" charset="-122"/>
              </a:rPr>
              <a:t>sigmoid</a:t>
            </a:r>
            <a:r>
              <a:rPr lang="zh-CN" altLang="en-US" sz="1400" dirty="0">
                <a:latin typeface="Alibaba PuHuiTi" pitchFamily="18" charset="-122"/>
                <a:ea typeface="Alibaba PuHuiTi" pitchFamily="18" charset="-122"/>
                <a:cs typeface="Alibaba PuHuiTi" pitchFamily="18" charset="-122"/>
              </a:rPr>
              <a:t>激活函数将回归的结果映射到了</a:t>
            </a:r>
            <a:r>
              <a:rPr lang="en-US" altLang="zh-CN" sz="1400" dirty="0">
                <a:latin typeface="Alibaba PuHuiTi" pitchFamily="18" charset="-122"/>
                <a:ea typeface="Alibaba PuHuiTi" pitchFamily="18" charset="-122"/>
                <a:cs typeface="Alibaba PuHuiTi" pitchFamily="18" charset="-122"/>
              </a:rPr>
              <a:t>(0, 1)</a:t>
            </a:r>
            <a:r>
              <a:rPr lang="zh-CN" altLang="en-US" sz="1400" dirty="0">
                <a:latin typeface="Alibaba PuHuiTi" pitchFamily="18" charset="-122"/>
                <a:ea typeface="Alibaba PuHuiTi" pitchFamily="18" charset="-122"/>
                <a:cs typeface="Alibaba PuHuiTi" pitchFamily="18" charset="-122"/>
              </a:rPr>
              <a:t>值域中</a:t>
            </a:r>
            <a:endParaRPr lang="en-US" altLang="zh-CN" sz="1400" dirty="0">
              <a:latin typeface="Alibaba PuHuiTi" pitchFamily="18" charset="-122"/>
              <a:ea typeface="Alibaba PuHuiTi" pitchFamily="18" charset="-122"/>
              <a:cs typeface="Alibaba PuHuiTi" pitchFamily="18" charset="-122"/>
            </a:endParaRPr>
          </a:p>
          <a:p>
            <a:pPr>
              <a:lnSpc>
                <a:spcPct val="130000"/>
              </a:lnSpc>
            </a:pPr>
            <a:endParaRPr lang="en-US" altLang="zh-CN" sz="1400" dirty="0">
              <a:latin typeface="Alibaba PuHuiTi" pitchFamily="18" charset="-122"/>
              <a:ea typeface="Alibaba PuHuiTi" pitchFamily="18" charset="-122"/>
              <a:cs typeface="Alibaba PuHuiTi" pitchFamily="18" charset="-122"/>
            </a:endParaRPr>
          </a:p>
          <a:p>
            <a:pPr>
              <a:lnSpc>
                <a:spcPct val="130000"/>
              </a:lnSpc>
            </a:pPr>
            <a:r>
              <a:rPr lang="en-US" altLang="zh-CN" sz="1400" b="1" dirty="0">
                <a:latin typeface="Alibaba PuHuiTi" pitchFamily="18" charset="-122"/>
                <a:ea typeface="Alibaba PuHuiTi" pitchFamily="18" charset="-122"/>
                <a:cs typeface="Alibaba PuHuiTi" pitchFamily="18" charset="-122"/>
              </a:rPr>
              <a:t>D</a:t>
            </a:r>
            <a:r>
              <a:rPr lang="zh-CN" altLang="en-US" sz="1400" b="1"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逻辑回归的损失函数使用了极大似然估计，因为其输出值是一个概率</a:t>
            </a:r>
            <a:endParaRPr lang="zh-CN" altLang="en-US" sz="1400" dirty="0">
              <a:latin typeface="Alibaba PuHuiTi" pitchFamily="18" charset="-122"/>
              <a:ea typeface="Alibaba PuHuiTi" pitchFamily="18" charset="-122"/>
              <a:cs typeface="Alibaba PuHuiTi" pitchFamily="18" charset="-122"/>
            </a:endParaRPr>
          </a:p>
        </p:txBody>
      </p:sp>
      <p:sp>
        <p:nvSpPr>
          <p:cNvPr id="5" name="文本框 4"/>
          <p:cNvSpPr txBox="1"/>
          <p:nvPr/>
        </p:nvSpPr>
        <p:spPr>
          <a:xfrm>
            <a:off x="2569934" y="5804790"/>
            <a:ext cx="7642568" cy="343364"/>
          </a:xfrm>
          <a:prstGeom prst="rect">
            <a:avLst/>
          </a:prstGeom>
          <a:noFill/>
        </p:spPr>
        <p:txBody>
          <a:bodyPr wrap="square" rtlCol="0">
            <a:spAutoFit/>
          </a:bodyPr>
          <a:lstStyle/>
          <a:p>
            <a:pPr fontAlgn="auto">
              <a:lnSpc>
                <a:spcPct val="150000"/>
              </a:lnSpc>
              <a:spcBef>
                <a:spcPts val="0"/>
              </a:spcBef>
              <a:spcAft>
                <a:spcPts val="0"/>
              </a:spcAft>
            </a:pP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答案：</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ABCD</a:t>
            </a:r>
            <a:endParaRPr lang="en-US" altLang="zh-CN" sz="1200" dirty="0">
              <a:solidFill>
                <a:schemeClr val="accent2">
                  <a:lumMod val="7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0"/>
          </p:nvPr>
        </p:nvSpPr>
        <p:spPr>
          <a:xfrm>
            <a:off x="4540013" y="901085"/>
            <a:ext cx="7228417" cy="3999161"/>
          </a:xfrm>
        </p:spPr>
        <p:txBody>
          <a:bodyPr anchor="t"/>
          <a:lstStyle/>
          <a:p>
            <a:r>
              <a:rPr lang="zh-CN" altLang="en-US" dirty="0">
                <a:solidFill>
                  <a:schemeClr val="tx1"/>
                </a:solidFill>
                <a:latin typeface="Alibaba PuHuiTi" pitchFamily="18" charset="-122"/>
                <a:ea typeface="Alibaba PuHuiTi" pitchFamily="18" charset="-122"/>
                <a:cs typeface="Alibaba PuHuiTi" pitchFamily="18" charset="-122"/>
              </a:rPr>
              <a:t>逻辑回归简介</a:t>
            </a:r>
            <a:endParaRPr lang="en-US" altLang="zh-CN" dirty="0">
              <a:solidFill>
                <a:schemeClr val="tx1"/>
              </a:solidFill>
              <a:latin typeface="Alibaba PuHuiTi" pitchFamily="18" charset="-122"/>
              <a:ea typeface="Alibaba PuHuiTi" pitchFamily="18" charset="-122"/>
              <a:cs typeface="Alibaba PuHuiTi" pitchFamily="18" charset="-122"/>
            </a:endParaRPr>
          </a:p>
          <a:p>
            <a:pPr lvl="1"/>
            <a:r>
              <a:rPr lang="zh-CN" altLang="en-US" b="0" dirty="0">
                <a:latin typeface="Alibaba PuHuiTi" pitchFamily="18" charset="-122"/>
                <a:ea typeface="Alibaba PuHuiTi" pitchFamily="18" charset="-122"/>
                <a:cs typeface="Alibaba PuHuiTi" pitchFamily="18" charset="-122"/>
              </a:rPr>
              <a:t>应用场景，数学知识</a:t>
            </a:r>
            <a:endParaRPr lang="en-US" altLang="zh-CN" b="0" dirty="0">
              <a:latin typeface="Alibaba PuHuiTi" pitchFamily="18" charset="-122"/>
              <a:ea typeface="Alibaba PuHuiTi" pitchFamily="18" charset="-122"/>
              <a:cs typeface="Alibaba PuHuiTi" pitchFamily="18" charset="-122"/>
            </a:endParaRPr>
          </a:p>
          <a:p>
            <a:r>
              <a:rPr lang="zh-CN" altLang="en-US" dirty="0">
                <a:solidFill>
                  <a:schemeClr val="tx1"/>
                </a:solidFill>
                <a:latin typeface="Alibaba PuHuiTi" pitchFamily="18" charset="-122"/>
                <a:ea typeface="Alibaba PuHuiTi" pitchFamily="18" charset="-122"/>
                <a:cs typeface="Alibaba PuHuiTi" pitchFamily="18" charset="-122"/>
              </a:rPr>
              <a:t>逻辑回归原理</a:t>
            </a:r>
            <a:endParaRPr kumimoji="1" lang="en-US" altLang="zh-CN" sz="1600" b="0" dirty="0">
              <a:solidFill>
                <a:schemeClr val="tx1"/>
              </a:solidFill>
              <a:latin typeface="Alibaba PuHuiTi" pitchFamily="18" charset="-122"/>
              <a:ea typeface="Alibaba PuHuiTi" pitchFamily="18" charset="-122"/>
              <a:cs typeface="Alibaba PuHuiTi" pitchFamily="18" charset="-122"/>
            </a:endParaRPr>
          </a:p>
          <a:p>
            <a:r>
              <a:rPr kumimoji="1" lang="zh-CN" altLang="en-US" dirty="0">
                <a:solidFill>
                  <a:srgbClr val="C00000"/>
                </a:solidFill>
                <a:latin typeface="Alibaba PuHuiTi" pitchFamily="18" charset="-122"/>
                <a:ea typeface="Alibaba PuHuiTi" pitchFamily="18" charset="-122"/>
                <a:cs typeface="Alibaba PuHuiTi" pitchFamily="18" charset="-122"/>
              </a:rPr>
              <a:t>逻辑回归</a:t>
            </a:r>
            <a:r>
              <a:rPr kumimoji="1" lang="en-US" altLang="zh-CN" dirty="0">
                <a:solidFill>
                  <a:srgbClr val="C00000"/>
                </a:solidFill>
                <a:latin typeface="Alibaba PuHuiTi" pitchFamily="18" charset="-122"/>
                <a:ea typeface="Alibaba PuHuiTi" pitchFamily="18" charset="-122"/>
                <a:cs typeface="Alibaba PuHuiTi" pitchFamily="18" charset="-122"/>
              </a:rPr>
              <a:t>API</a:t>
            </a:r>
            <a:r>
              <a:rPr kumimoji="1" lang="zh-CN" altLang="en-US" dirty="0">
                <a:solidFill>
                  <a:srgbClr val="C00000"/>
                </a:solidFill>
                <a:latin typeface="Alibaba PuHuiTi" pitchFamily="18" charset="-122"/>
                <a:ea typeface="Alibaba PuHuiTi" pitchFamily="18" charset="-122"/>
                <a:cs typeface="Alibaba PuHuiTi" pitchFamily="18" charset="-122"/>
              </a:rPr>
              <a:t>函数和案例 </a:t>
            </a:r>
            <a:endParaRPr kumimoji="1" lang="en-US" altLang="zh-CN" sz="1600" b="0" dirty="0">
              <a:solidFill>
                <a:srgbClr val="C00000"/>
              </a:solidFill>
              <a:latin typeface="Alibaba PuHuiTi" pitchFamily="18" charset="-122"/>
              <a:ea typeface="Alibaba PuHuiTi" pitchFamily="18" charset="-122"/>
              <a:cs typeface="Alibaba PuHuiTi" pitchFamily="18" charset="-122"/>
            </a:endParaRPr>
          </a:p>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分类问题评估</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r>
              <a:rPr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混淆矩阵、精确率、召回率、</a:t>
            </a:r>
            <a:r>
              <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rPr>
              <a:t>F1-score</a:t>
            </a:r>
            <a:r>
              <a:rPr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rPr>
              <a:t>AUC</a:t>
            </a:r>
            <a:r>
              <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指标、</a:t>
            </a:r>
            <a:r>
              <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rPr>
              <a:t>ROC</a:t>
            </a:r>
            <a:r>
              <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曲线 </a:t>
            </a:r>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电信客户流失预测案例</a:t>
            </a:r>
            <a:endPar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866958" y="689171"/>
            <a:ext cx="6298881" cy="4855845"/>
          </a:xfrm>
        </p:spPr>
        <p:txBody>
          <a:bodyPr/>
          <a:lstStyle/>
          <a:p>
            <a:pPr algn="l"/>
            <a:r>
              <a:rPr lang="zh-CN" altLang="en-US" b="0" i="0" u="none" strike="noStrike" dirty="0">
                <a:solidFill>
                  <a:srgbClr val="333333"/>
                </a:solidFill>
                <a:effectLst/>
                <a:latin typeface="Open Sans" panose="020B0606030504020204" pitchFamily="34" charset="0"/>
              </a:rPr>
              <a:t>知道逻辑回归的</a:t>
            </a:r>
            <a:r>
              <a:rPr lang="en-GB" altLang="zh-CN" b="0" i="0" u="none" strike="noStrike" dirty="0">
                <a:solidFill>
                  <a:srgbClr val="333333"/>
                </a:solidFill>
                <a:effectLst/>
                <a:latin typeface="Open Sans" panose="020B0606030504020204" pitchFamily="34" charset="0"/>
              </a:rPr>
              <a:t>API</a:t>
            </a:r>
            <a:endParaRPr lang="en-GB" altLang="zh-CN"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动手实现癌症分类案例</a:t>
            </a:r>
            <a:endParaRPr lang="zh-CN" altLang="en-US" b="0" i="0" u="none" strike="noStrike" dirty="0">
              <a:solidFill>
                <a:srgbClr val="333333"/>
              </a:solidFill>
              <a:effectLst/>
              <a:latin typeface="Open Sans" panose="020B0606030504020204" pitchFamily="34" charset="0"/>
            </a:endParaRPr>
          </a:p>
          <a:p>
            <a:pPr marL="0" indent="0">
              <a:buNone/>
            </a:pP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a:t>
            </a:r>
            <a:r>
              <a:rPr kumimoji="1" lang="en-GB" altLang="zh-CN" dirty="0">
                <a:solidFill>
                  <a:schemeClr val="tx1">
                    <a:lumMod val="85000"/>
                    <a:lumOff val="15000"/>
                  </a:schemeClr>
                </a:solidFill>
                <a:latin typeface="Alibaba PuHuiTi" pitchFamily="18" charset="-122"/>
                <a:ea typeface="Alibaba PuHuiTi" pitchFamily="18" charset="-122"/>
                <a:cs typeface="Alibaba PuHuiTi" pitchFamily="18" charset="-122"/>
              </a:rPr>
              <a:t>API</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函数和案例 </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 </a:t>
            </a:r>
            <a:r>
              <a:rPr kumimoji="1" lang="en-US" altLang="zh-CN"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API</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介绍</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4" name="文本占位符 2"/>
          <p:cNvSpPr txBox="1"/>
          <p:nvPr/>
        </p:nvSpPr>
        <p:spPr>
          <a:xfrm>
            <a:off x="3431458" y="5431664"/>
            <a:ext cx="384935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1" name="文本占位符 2"/>
          <p:cNvSpPr txBox="1"/>
          <p:nvPr/>
        </p:nvSpPr>
        <p:spPr>
          <a:xfrm>
            <a:off x="1344449" y="1400451"/>
            <a:ext cx="9262591" cy="513242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buFont typeface="Arial" panose="020B0604020202020204" pitchFamily="34" charset="0"/>
              <a:defRPr/>
            </a:pPr>
            <a:r>
              <a:rPr kumimoji="0" lang="en-GB" altLang="zh-CN" sz="1400" b="0"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sklearn.linear_model.LogisticRegression</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(solver='</a:t>
            </a:r>
            <a:r>
              <a:rPr kumimoji="0" lang="en-GB" altLang="zh-CN" sz="1400" b="0"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liblinear</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penalty=‘l2’, C = 1.0)</a:t>
            </a:r>
            <a:endPar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solver </a:t>
            </a:r>
            <a:r>
              <a:rPr kumimoji="0" lang="zh-CN" altLang="en-US"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损失函数优化方法</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GB" altLang="zh-CN" sz="1400" b="0"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liblinear</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对</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小数据集场景</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训练速度更快，</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sag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和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saga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对大数据集更快一些。</a:t>
            </a:r>
            <a:endPar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2</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正则化：</a:t>
            </a:r>
            <a:endPar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1</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sag</a:t>
            </a:r>
            <a:r>
              <a:rPr kumimoji="0" lang="zh-CN" altLang="en-GB"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saga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支持 </a:t>
            </a:r>
            <a:r>
              <a:rPr kumimoji="0" lang="en-GB"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L2 </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正则化</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或者没有正则化</a:t>
            </a:r>
            <a:endPar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2</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en-GB" altLang="zh-CN" sz="1400" b="0" i="0" u="none" strike="noStrike" kern="1200" cap="none" spc="0" normalizeH="0" baseline="0" noProof="0" dirty="0" err="1">
                <a:ln>
                  <a:noFill/>
                </a:ln>
                <a:solidFill>
                  <a:srgbClr val="333333"/>
                </a:solidFill>
                <a:effectLst/>
                <a:uLnTx/>
                <a:uFillTx/>
                <a:latin typeface="Alibaba PuHuiTi" pitchFamily="18" charset="-122"/>
                <a:ea typeface="Alibaba PuHuiTi" pitchFamily="18" charset="-122"/>
                <a:cs typeface="Alibaba PuHuiTi" pitchFamily="18" charset="-122"/>
              </a:rPr>
              <a:t>liblinear</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和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saga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支持 </a:t>
            </a:r>
            <a:r>
              <a:rPr kumimoji="0" lang="en-GB"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L1 </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正则化</a:t>
            </a:r>
            <a:endPar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penalty</a:t>
            </a:r>
            <a:r>
              <a:rPr kumimoji="0" lang="zh-CN" altLang="en-GB"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正则化的种类，</a:t>
            </a:r>
            <a:r>
              <a:rPr kumimoji="0" lang="en-GB"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l1 </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或者 </a:t>
            </a:r>
            <a:r>
              <a:rPr kumimoji="0" lang="en-GB"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l2</a:t>
            </a:r>
            <a:endParaRPr kumimoji="0" lang="zh-CN" altLang="en-GB"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GB" altLang="zh-CN"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C</a:t>
            </a:r>
            <a:r>
              <a:rPr kumimoji="0" lang="zh-CN" altLang="en-GB" sz="1400" b="1"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正则化力度 </a:t>
            </a:r>
            <a:endParaRPr kumimoji="0" lang="zh-CN" altLang="en-GB"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a:t>
            </a:r>
            <a:r>
              <a:rPr kumimoji="1" lang="en-GB" altLang="zh-CN" dirty="0">
                <a:solidFill>
                  <a:schemeClr val="tx1">
                    <a:lumMod val="85000"/>
                    <a:lumOff val="15000"/>
                  </a:schemeClr>
                </a:solidFill>
                <a:latin typeface="Alibaba PuHuiTi" pitchFamily="18" charset="-122"/>
                <a:ea typeface="Alibaba PuHuiTi" pitchFamily="18" charset="-122"/>
                <a:cs typeface="Alibaba PuHuiTi" pitchFamily="18" charset="-122"/>
              </a:rPr>
              <a:t>API</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函数和案例 </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 </a:t>
            </a:r>
            <a:r>
              <a:rPr kumimoji="1" lang="en-US" altLang="zh-CN"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 案例癌症分类预测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221659" y="1332437"/>
            <a:ext cx="2209799"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b="1" dirty="0">
                <a:solidFill>
                  <a:srgbClr val="333333"/>
                </a:solidFill>
                <a:latin typeface="Open Sans" panose="020B0606030504020204" pitchFamily="34" charset="0"/>
                <a:ea typeface="Alibaba PuHuiTi" pitchFamily="18" charset="-122"/>
                <a:cs typeface="Alibaba PuHuiTi" pitchFamily="18" charset="-122"/>
              </a:rPr>
              <a:t>数据描述</a:t>
            </a:r>
            <a:endParaRPr kumimoji="0" lang="zh-CN" altLang="en-GB"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文本框 4"/>
          <p:cNvSpPr txBox="1"/>
          <p:nvPr/>
        </p:nvSpPr>
        <p:spPr>
          <a:xfrm>
            <a:off x="1833880" y="1802263"/>
            <a:ext cx="8600440" cy="1383665"/>
          </a:xfrm>
          <a:prstGeom prst="rect">
            <a:avLst/>
          </a:prstGeom>
          <a:noFill/>
        </p:spPr>
        <p:txBody>
          <a:bodyPr wrap="square">
            <a:spAutoFit/>
          </a:bodyPr>
          <a:lstStyle/>
          <a:p>
            <a:pPr>
              <a:lnSpc>
                <a:spcPct val="150000"/>
              </a:lnSpc>
            </a:pP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1</a:t>
            </a: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699</a:t>
            </a:r>
            <a:r>
              <a:rPr lang="zh-CN" altLang="en-US" sz="1400" dirty="0">
                <a:latin typeface="Alibaba PuHuiTi" pitchFamily="18" charset="-122"/>
                <a:ea typeface="Alibaba PuHuiTi" pitchFamily="18" charset="-122"/>
                <a:cs typeface="Alibaba PuHuiTi" pitchFamily="18" charset="-122"/>
              </a:rPr>
              <a:t>条样本，共</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11</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列数据</a:t>
            </a:r>
            <a:r>
              <a:rPr lang="zh-CN" altLang="en-US" sz="1400" dirty="0">
                <a:latin typeface="Alibaba PuHuiTi" pitchFamily="18" charset="-122"/>
                <a:ea typeface="Alibaba PuHuiTi" pitchFamily="18" charset="-122"/>
                <a:cs typeface="Alibaba PuHuiTi" pitchFamily="18" charset="-122"/>
              </a:rPr>
              <a:t>，第一列用于检索的</a:t>
            </a:r>
            <a:r>
              <a:rPr lang="en-GB" altLang="zh-CN" sz="1400" dirty="0">
                <a:latin typeface="Alibaba PuHuiTi" pitchFamily="18" charset="-122"/>
                <a:ea typeface="Alibaba PuHuiTi" pitchFamily="18" charset="-122"/>
                <a:cs typeface="Alibaba PuHuiTi" pitchFamily="18" charset="-122"/>
              </a:rPr>
              <a:t>id</a:t>
            </a:r>
            <a:r>
              <a:rPr lang="zh-CN" altLang="en-GB"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后</a:t>
            </a:r>
            <a:r>
              <a:rPr lang="en-US" altLang="zh-CN" sz="1400" dirty="0">
                <a:latin typeface="Alibaba PuHuiTi" pitchFamily="18" charset="-122"/>
                <a:ea typeface="Alibaba PuHuiTi" pitchFamily="18" charset="-122"/>
                <a:cs typeface="Alibaba PuHuiTi" pitchFamily="18" charset="-122"/>
              </a:rPr>
              <a:t>9</a:t>
            </a:r>
            <a:r>
              <a:rPr lang="zh-CN" altLang="en-US" sz="1400" dirty="0">
                <a:latin typeface="Alibaba PuHuiTi" pitchFamily="18" charset="-122"/>
                <a:ea typeface="Alibaba PuHuiTi" pitchFamily="18" charset="-122"/>
                <a:cs typeface="Alibaba PuHuiTi" pitchFamily="18" charset="-122"/>
              </a:rPr>
              <a:t>列分别是与肿瘤相关的医学特征，</a:t>
            </a:r>
            <a:endParaRPr lang="en-US" altLang="zh-CN" sz="1400" dirty="0">
              <a:latin typeface="Alibaba PuHuiTi" pitchFamily="18" charset="-122"/>
              <a:ea typeface="Alibaba PuHuiTi" pitchFamily="18" charset="-122"/>
              <a:cs typeface="Alibaba PuHuiTi" pitchFamily="18" charset="-122"/>
            </a:endParaRPr>
          </a:p>
          <a:p>
            <a:pPr>
              <a:lnSpc>
                <a:spcPct val="150000"/>
              </a:lnSpc>
            </a:pPr>
            <a:r>
              <a:rPr lang="zh-CN" altLang="en-US" sz="1400" dirty="0">
                <a:latin typeface="Alibaba PuHuiTi" pitchFamily="18" charset="-122"/>
                <a:ea typeface="Alibaba PuHuiTi" pitchFamily="18" charset="-122"/>
                <a:cs typeface="Alibaba PuHuiTi" pitchFamily="18" charset="-122"/>
              </a:rPr>
              <a:t>          最后一列表示</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肿瘤类型的数值</a:t>
            </a:r>
            <a:r>
              <a:rPr lang="zh-CN" altLang="en-US" sz="1400" dirty="0">
                <a:latin typeface="Alibaba PuHuiTi" pitchFamily="18" charset="-122"/>
                <a:ea typeface="Alibaba PuHuiTi" pitchFamily="18" charset="-122"/>
                <a:cs typeface="Alibaba PuHuiTi" pitchFamily="18" charset="-122"/>
              </a:rPr>
              <a:t>。</a:t>
            </a:r>
            <a:endParaRPr lang="zh-CN" altLang="en-US" sz="1400" dirty="0">
              <a:latin typeface="Alibaba PuHuiTi" pitchFamily="18" charset="-122"/>
              <a:ea typeface="Alibaba PuHuiTi" pitchFamily="18" charset="-122"/>
              <a:cs typeface="Alibaba PuHuiTi" pitchFamily="18" charset="-122"/>
            </a:endParaRPr>
          </a:p>
          <a:p>
            <a:pPr>
              <a:lnSpc>
                <a:spcPct val="150000"/>
              </a:lnSpc>
            </a:pP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2</a:t>
            </a:r>
            <a:r>
              <a:rPr lang="zh-CN" altLang="en-US" sz="1400" dirty="0">
                <a:latin typeface="Alibaba PuHuiTi" pitchFamily="18" charset="-122"/>
                <a:ea typeface="Alibaba PuHuiTi" pitchFamily="18" charset="-122"/>
                <a:cs typeface="Alibaba PuHuiTi" pitchFamily="18" charset="-122"/>
              </a:rPr>
              <a:t>）包含</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16</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个缺失值</a:t>
            </a:r>
            <a:r>
              <a:rPr lang="zh-CN" altLang="en-US" sz="1400" dirty="0">
                <a:latin typeface="Alibaba PuHuiTi" pitchFamily="18" charset="-122"/>
                <a:ea typeface="Alibaba PuHuiTi" pitchFamily="18" charset="-122"/>
                <a:cs typeface="Alibaba PuHuiTi" pitchFamily="18" charset="-122"/>
              </a:rPr>
              <a:t>，用”</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标出。</a:t>
            </a:r>
            <a:endParaRPr lang="en-US" altLang="zh-CN" sz="1400" dirty="0">
              <a:latin typeface="Alibaba PuHuiTi" pitchFamily="18" charset="-122"/>
              <a:ea typeface="Alibaba PuHuiTi" pitchFamily="18" charset="-122"/>
              <a:cs typeface="Alibaba PuHuiTi" pitchFamily="18" charset="-122"/>
            </a:endParaRPr>
          </a:p>
          <a:p>
            <a:pPr>
              <a:lnSpc>
                <a:spcPct val="150000"/>
              </a:lnSpc>
            </a:pP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3</a:t>
            </a: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2</a:t>
            </a:r>
            <a:r>
              <a:rPr lang="zh-CN" altLang="en-US" sz="1400" dirty="0">
                <a:latin typeface="Alibaba PuHuiTi" pitchFamily="18" charset="-122"/>
                <a:ea typeface="Alibaba PuHuiTi" pitchFamily="18" charset="-122"/>
                <a:cs typeface="Alibaba PuHuiTi" pitchFamily="18" charset="-122"/>
              </a:rPr>
              <a:t>表示良性，</a:t>
            </a:r>
            <a:r>
              <a:rPr lang="en-US" altLang="zh-CN" sz="1400" dirty="0">
                <a:latin typeface="Alibaba PuHuiTi" pitchFamily="18" charset="-122"/>
                <a:ea typeface="Alibaba PuHuiTi" pitchFamily="18" charset="-122"/>
                <a:cs typeface="Alibaba PuHuiTi" pitchFamily="18" charset="-122"/>
              </a:rPr>
              <a:t>4</a:t>
            </a:r>
            <a:r>
              <a:rPr lang="zh-CN" altLang="en-US" sz="1400" dirty="0">
                <a:latin typeface="Alibaba PuHuiTi" pitchFamily="18" charset="-122"/>
                <a:ea typeface="Alibaba PuHuiTi" pitchFamily="18" charset="-122"/>
                <a:cs typeface="Alibaba PuHuiTi" pitchFamily="18" charset="-122"/>
              </a:rPr>
              <a:t>表示恶性</a:t>
            </a:r>
            <a:endParaRPr lang="zh-CN" altLang="en-US" sz="1400" dirty="0">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84982" y="3269352"/>
            <a:ext cx="12022036" cy="241741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87400" y="883920"/>
            <a:ext cx="6126480" cy="400110"/>
          </a:xfrm>
          <a:prstGeom prst="rect">
            <a:avLst/>
          </a:prstGeom>
          <a:noFill/>
        </p:spPr>
        <p:txBody>
          <a:bodyPr wrap="square">
            <a:spAutoFit/>
          </a:bodyPr>
          <a:lstStyle/>
          <a:p>
            <a:r>
              <a:rPr kumimoji="1" lang="zh-CN" altLang="en-US" sz="2000" dirty="0">
                <a:solidFill>
                  <a:schemeClr val="tx1">
                    <a:lumMod val="85000"/>
                    <a:lumOff val="15000"/>
                  </a:schemeClr>
                </a:solidFill>
                <a:latin typeface="Alibaba PuHuiTi" pitchFamily="18" charset="-122"/>
                <a:ea typeface="Alibaba PuHuiTi" pitchFamily="18" charset="-122"/>
                <a:cs typeface="Alibaba PuHuiTi" pitchFamily="18" charset="-122"/>
              </a:rPr>
              <a:t>逻辑回归</a:t>
            </a:r>
            <a:r>
              <a:rPr kumimoji="1" lang="en-GB" altLang="zh-CN" sz="2000" dirty="0">
                <a:solidFill>
                  <a:schemeClr val="tx1">
                    <a:lumMod val="85000"/>
                    <a:lumOff val="15000"/>
                  </a:schemeClr>
                </a:solidFill>
                <a:latin typeface="Alibaba PuHuiTi" pitchFamily="18" charset="-122"/>
                <a:ea typeface="Alibaba PuHuiTi" pitchFamily="18" charset="-122"/>
                <a:cs typeface="Alibaba PuHuiTi" pitchFamily="18" charset="-122"/>
              </a:rPr>
              <a:t>API</a:t>
            </a:r>
            <a:r>
              <a:rPr kumimoji="1" lang="zh-CN" altLang="en-US" sz="2000" dirty="0">
                <a:solidFill>
                  <a:schemeClr val="tx1">
                    <a:lumMod val="85000"/>
                    <a:lumOff val="15000"/>
                  </a:schemeClr>
                </a:solidFill>
                <a:latin typeface="Alibaba PuHuiTi" pitchFamily="18" charset="-122"/>
                <a:ea typeface="Alibaba PuHuiTi" pitchFamily="18" charset="-122"/>
                <a:cs typeface="Alibaba PuHuiTi" pitchFamily="18" charset="-122"/>
              </a:rPr>
              <a:t>函数和案例 </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 </a:t>
            </a:r>
            <a:r>
              <a:rPr kumimoji="1" lang="en-US" altLang="zh-CN"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 癌症分类预测</a:t>
            </a:r>
            <a:endParaRPr lang="zh-CN" altLang="en-US" sz="2000" dirty="0"/>
          </a:p>
        </p:txBody>
      </p:sp>
      <p:sp>
        <p:nvSpPr>
          <p:cNvPr id="9" name="文本框 8"/>
          <p:cNvSpPr txBox="1"/>
          <p:nvPr/>
        </p:nvSpPr>
        <p:spPr>
          <a:xfrm>
            <a:off x="5257800" y="1922786"/>
            <a:ext cx="4516120" cy="3012428"/>
          </a:xfrm>
          <a:prstGeom prst="rect">
            <a:avLst/>
          </a:prstGeom>
          <a:noFill/>
        </p:spPr>
        <p:txBody>
          <a:bodyPr wrap="square">
            <a:spAutoFit/>
          </a:bodyPr>
          <a:lstStyle/>
          <a:p>
            <a:pPr>
              <a:lnSpc>
                <a:spcPct val="150000"/>
              </a:lnSpc>
            </a:pP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1.</a:t>
            </a:r>
            <a:r>
              <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获取数据 </a:t>
            </a:r>
            <a:endPar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a:lnSpc>
                <a:spcPct val="150000"/>
              </a:lnSpc>
            </a:pP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2.</a:t>
            </a:r>
            <a:r>
              <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基本数据处理 </a:t>
            </a:r>
            <a:endPar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a:lnSpc>
                <a:spcPct val="150000"/>
              </a:lnSpc>
            </a:pP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2.1 </a:t>
            </a:r>
            <a:r>
              <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缺失值处理 </a:t>
            </a:r>
            <a:endPar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a:lnSpc>
                <a:spcPct val="150000"/>
              </a:lnSpc>
            </a:pP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2.2 </a:t>
            </a:r>
            <a:r>
              <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确定特征值</a:t>
            </a: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t>
            </a:r>
            <a:r>
              <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目标值 </a:t>
            </a:r>
            <a:endPar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a:lnSpc>
                <a:spcPct val="150000"/>
              </a:lnSpc>
            </a:pP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2.3 </a:t>
            </a:r>
            <a:r>
              <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分割数据 </a:t>
            </a:r>
            <a:endPar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a:lnSpc>
                <a:spcPct val="150000"/>
              </a:lnSpc>
            </a:pP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3.</a:t>
            </a:r>
            <a:r>
              <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特征工程</a:t>
            </a: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t>
            </a:r>
            <a:r>
              <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标准化</a:t>
            </a: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 </a:t>
            </a:r>
            <a:endPar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a:lnSpc>
                <a:spcPct val="150000"/>
              </a:lnSpc>
            </a:pP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4.</a:t>
            </a:r>
            <a:r>
              <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机器学习</a:t>
            </a: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t>
            </a:r>
            <a:r>
              <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逻辑回归</a:t>
            </a: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 </a:t>
            </a:r>
            <a:endPar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a:lnSpc>
                <a:spcPct val="150000"/>
              </a:lnSpc>
            </a:pPr>
            <a:r>
              <a:rPr kumimoji="0" lang="en-US"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5.</a:t>
            </a:r>
            <a:r>
              <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模型评估</a:t>
            </a:r>
            <a:endParaRPr kumimoji="0" lang="zh-CN" altLang="en-US"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sp>
        <p:nvSpPr>
          <p:cNvPr id="10" name="文本占位符 2"/>
          <p:cNvSpPr txBox="1"/>
          <p:nvPr/>
        </p:nvSpPr>
        <p:spPr>
          <a:xfrm>
            <a:off x="1221659" y="1332437"/>
            <a:ext cx="2209799"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b="1" dirty="0">
                <a:solidFill>
                  <a:srgbClr val="333333"/>
                </a:solidFill>
                <a:latin typeface="Open Sans" panose="020B0606030504020204" pitchFamily="34" charset="0"/>
                <a:ea typeface="Alibaba PuHuiTi" pitchFamily="18" charset="-122"/>
                <a:cs typeface="Alibaba PuHuiTi" pitchFamily="18" charset="-122"/>
              </a:rPr>
              <a:t>案例分析</a:t>
            </a:r>
            <a:endParaRPr kumimoji="0" lang="zh-CN" altLang="en-GB"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逻辑回归</a:t>
            </a:r>
            <a:r>
              <a:rPr kumimoji="1" lang="en-GB" altLang="zh-CN" dirty="0">
                <a:solidFill>
                  <a:schemeClr val="tx1">
                    <a:lumMod val="85000"/>
                    <a:lumOff val="15000"/>
                  </a:schemeClr>
                </a:solidFill>
                <a:latin typeface="Alibaba PuHuiTi" pitchFamily="18" charset="-122"/>
                <a:ea typeface="Alibaba PuHuiTi" pitchFamily="18" charset="-122"/>
                <a:cs typeface="Alibaba PuHuiTi" pitchFamily="18" charset="-122"/>
              </a:rPr>
              <a:t>API</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函数和案例 </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 </a:t>
            </a:r>
            <a:r>
              <a:rPr kumimoji="1" lang="en-US" altLang="zh-CN"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a:t>
            </a:r>
            <a:r>
              <a:rPr kumimoji="1" lang="zh-CN" altLang="en-US" sz="2000" b="0" i="0" u="none" strike="noStrike" kern="1200" cap="none" spc="0" normalizeH="0" baseline="0" noProof="0" dirty="0">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 癌症分类预测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599625" y="1340906"/>
            <a:ext cx="2209799"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b="1" dirty="0">
                <a:solidFill>
                  <a:srgbClr val="333333"/>
                </a:solidFill>
                <a:latin typeface="Open Sans" panose="020B0606030504020204" pitchFamily="34" charset="0"/>
                <a:ea typeface="Alibaba PuHuiTi" pitchFamily="18" charset="-122"/>
                <a:cs typeface="Alibaba PuHuiTi" pitchFamily="18" charset="-122"/>
              </a:rPr>
              <a:t>代码实现</a:t>
            </a:r>
            <a:endParaRPr kumimoji="0" lang="zh-CN" altLang="en-GB"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4" name="TextBox 3"/>
          <p:cNvSpPr txBox="1"/>
          <p:nvPr/>
        </p:nvSpPr>
        <p:spPr>
          <a:xfrm>
            <a:off x="3895714" y="1340906"/>
            <a:ext cx="7954526" cy="5262979"/>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200" dirty="0">
                <a:solidFill>
                  <a:srgbClr val="0033B3"/>
                </a:solidFill>
                <a:effectLst/>
              </a:rPr>
              <a:t>def </a:t>
            </a:r>
            <a:r>
              <a:rPr lang="en-GB" altLang="zh-CN" sz="1200" dirty="0" err="1">
                <a:solidFill>
                  <a:srgbClr val="00627A"/>
                </a:solidFill>
                <a:effectLst/>
              </a:rPr>
              <a:t>dm_LogisticRegression</a:t>
            </a:r>
            <a:r>
              <a:rPr lang="en-GB" altLang="zh-CN" sz="1200" dirty="0"/>
              <a:t>():</a:t>
            </a:r>
            <a:br>
              <a:rPr lang="en-GB" altLang="zh-CN" sz="1200" dirty="0"/>
            </a:br>
            <a:r>
              <a:rPr lang="en-GB" altLang="zh-CN" sz="1200" dirty="0"/>
              <a:t>    </a:t>
            </a:r>
            <a:r>
              <a:rPr lang="en-GB" altLang="zh-CN" sz="1200" i="1" dirty="0">
                <a:solidFill>
                  <a:srgbClr val="8C8C8C"/>
                </a:solidFill>
                <a:effectLst/>
              </a:rPr>
              <a:t># 1 </a:t>
            </a:r>
            <a:r>
              <a:rPr lang="zh-CN" altLang="en-US" sz="1200" i="1" dirty="0">
                <a:solidFill>
                  <a:srgbClr val="8C8C8C"/>
                </a:solidFill>
                <a:effectLst/>
              </a:rPr>
              <a:t>获取数据</a:t>
            </a:r>
            <a:br>
              <a:rPr lang="zh-CN" altLang="en-US" sz="1200" i="1" dirty="0">
                <a:solidFill>
                  <a:srgbClr val="8C8C8C"/>
                </a:solidFill>
                <a:effectLst/>
              </a:rPr>
            </a:br>
            <a:r>
              <a:rPr lang="zh-CN" altLang="en-US" sz="1200" i="1" dirty="0">
                <a:solidFill>
                  <a:srgbClr val="8C8C8C"/>
                </a:solidFill>
                <a:effectLst/>
              </a:rPr>
              <a:t>    </a:t>
            </a:r>
            <a:r>
              <a:rPr lang="en-GB" altLang="zh-CN" sz="1200" dirty="0"/>
              <a:t>data = </a:t>
            </a:r>
            <a:r>
              <a:rPr lang="en-GB" altLang="zh-CN" sz="1200" dirty="0" err="1"/>
              <a:t>pd.read_csv</a:t>
            </a:r>
            <a:r>
              <a:rPr lang="en-GB" altLang="zh-CN" sz="1200" dirty="0"/>
              <a:t>(</a:t>
            </a:r>
            <a:r>
              <a:rPr lang="en-GB" altLang="zh-CN" sz="1200" dirty="0">
                <a:solidFill>
                  <a:srgbClr val="067D17"/>
                </a:solidFill>
                <a:effectLst/>
              </a:rPr>
              <a:t>‘./data/breast-cancer-</a:t>
            </a:r>
            <a:r>
              <a:rPr lang="en-GB" altLang="zh-CN" sz="1200" dirty="0" err="1">
                <a:solidFill>
                  <a:srgbClr val="067D17"/>
                </a:solidFill>
                <a:effectLst/>
              </a:rPr>
              <a:t>wisconsin.csv</a:t>
            </a:r>
            <a:r>
              <a:rPr lang="en-GB" altLang="zh-CN" sz="1200" dirty="0">
                <a:solidFill>
                  <a:srgbClr val="067D17"/>
                </a:solidFill>
                <a:effectLst/>
              </a:rPr>
              <a:t>’</a:t>
            </a:r>
            <a:r>
              <a:rPr lang="en-GB" altLang="zh-CN" sz="1200" dirty="0"/>
              <a:t>)</a:t>
            </a:r>
            <a:br>
              <a:rPr lang="en-GB" altLang="zh-CN" sz="1200" dirty="0"/>
            </a:br>
            <a:r>
              <a:rPr lang="en-GB" altLang="zh-CN" sz="1200" dirty="0"/>
              <a:t>    </a:t>
            </a:r>
            <a:r>
              <a:rPr lang="en-GB" altLang="zh-CN" sz="1200" dirty="0" err="1"/>
              <a:t>data.info</a:t>
            </a:r>
            <a:r>
              <a:rPr lang="en-GB" altLang="zh-CN" sz="1200" dirty="0"/>
              <a:t>()</a:t>
            </a:r>
            <a:br>
              <a:rPr lang="en-GB" altLang="zh-CN" sz="1200" dirty="0"/>
            </a:br>
            <a:r>
              <a:rPr lang="en-GB" altLang="zh-CN" sz="1200" dirty="0"/>
              <a:t>    </a:t>
            </a:r>
            <a:r>
              <a:rPr lang="en-GB" altLang="zh-CN" sz="1200" i="1" dirty="0">
                <a:solidFill>
                  <a:srgbClr val="8C8C8C"/>
                </a:solidFill>
                <a:effectLst/>
              </a:rPr>
              <a:t># 2 </a:t>
            </a:r>
            <a:r>
              <a:rPr lang="zh-CN" altLang="en-US" sz="1200" i="1" dirty="0">
                <a:solidFill>
                  <a:srgbClr val="8C8C8C"/>
                </a:solidFill>
                <a:effectLst/>
              </a:rPr>
              <a:t>基本数据处理</a:t>
            </a:r>
            <a:br>
              <a:rPr lang="zh-CN" altLang="en-US" sz="1200" i="1" dirty="0">
                <a:solidFill>
                  <a:srgbClr val="8C8C8C"/>
                </a:solidFill>
                <a:effectLst/>
              </a:rPr>
            </a:br>
            <a:r>
              <a:rPr lang="zh-CN" altLang="en-US" sz="1200" i="1" dirty="0">
                <a:solidFill>
                  <a:srgbClr val="8C8C8C"/>
                </a:solidFill>
                <a:effectLst/>
              </a:rPr>
              <a:t>    </a:t>
            </a:r>
            <a:r>
              <a:rPr lang="en-US" altLang="zh-CN" sz="1200" i="1" dirty="0">
                <a:solidFill>
                  <a:srgbClr val="8C8C8C"/>
                </a:solidFill>
                <a:effectLst/>
              </a:rPr>
              <a:t># 2.1 </a:t>
            </a:r>
            <a:r>
              <a:rPr lang="zh-CN" altLang="en-US" sz="1200" i="1" dirty="0">
                <a:solidFill>
                  <a:srgbClr val="8C8C8C"/>
                </a:solidFill>
                <a:effectLst/>
              </a:rPr>
              <a:t>缺失值处理</a:t>
            </a:r>
            <a:br>
              <a:rPr lang="zh-CN" altLang="en-US" sz="1200" i="1" dirty="0">
                <a:solidFill>
                  <a:srgbClr val="8C8C8C"/>
                </a:solidFill>
                <a:effectLst/>
              </a:rPr>
            </a:br>
            <a:r>
              <a:rPr lang="zh-CN" altLang="en-US" sz="1200" i="1" dirty="0">
                <a:solidFill>
                  <a:srgbClr val="8C8C8C"/>
                </a:solidFill>
                <a:effectLst/>
              </a:rPr>
              <a:t>    </a:t>
            </a:r>
            <a:r>
              <a:rPr lang="en-GB" altLang="zh-CN" sz="1200" dirty="0"/>
              <a:t>data = </a:t>
            </a:r>
            <a:r>
              <a:rPr lang="en-GB" altLang="zh-CN" sz="1200" dirty="0" err="1"/>
              <a:t>data.replace</a:t>
            </a:r>
            <a:r>
              <a:rPr lang="en-GB" altLang="zh-CN" sz="1200" dirty="0"/>
              <a:t>(</a:t>
            </a:r>
            <a:r>
              <a:rPr lang="en-GB" altLang="zh-CN" sz="1200" dirty="0" err="1">
                <a:solidFill>
                  <a:srgbClr val="660099"/>
                </a:solidFill>
                <a:effectLst/>
              </a:rPr>
              <a:t>to_replace</a:t>
            </a:r>
            <a:r>
              <a:rPr lang="en-GB" altLang="zh-CN" sz="1200" dirty="0"/>
              <a:t>=</a:t>
            </a:r>
            <a:r>
              <a:rPr lang="en-GB" altLang="zh-CN" sz="1200" dirty="0">
                <a:solidFill>
                  <a:srgbClr val="067D17"/>
                </a:solidFill>
                <a:effectLst/>
              </a:rPr>
              <a:t>“?”</a:t>
            </a:r>
            <a:r>
              <a:rPr lang="en-GB" altLang="zh-CN" sz="1200" dirty="0"/>
              <a:t>, </a:t>
            </a:r>
            <a:r>
              <a:rPr lang="en-GB" altLang="zh-CN" sz="1200" dirty="0">
                <a:solidFill>
                  <a:srgbClr val="660099"/>
                </a:solidFill>
                <a:effectLst/>
              </a:rPr>
              <a:t>value</a:t>
            </a:r>
            <a:r>
              <a:rPr lang="en-GB" altLang="zh-CN" sz="1200" dirty="0"/>
              <a:t>=</a:t>
            </a:r>
            <a:r>
              <a:rPr lang="en-GB" altLang="zh-CN" sz="1200" dirty="0" err="1"/>
              <a:t>np.NaN</a:t>
            </a:r>
            <a:r>
              <a:rPr lang="en-GB" altLang="zh-CN" sz="1200" dirty="0"/>
              <a:t>)</a:t>
            </a:r>
            <a:br>
              <a:rPr lang="en-GB" altLang="zh-CN" sz="1200" dirty="0"/>
            </a:br>
            <a:r>
              <a:rPr lang="en-GB" altLang="zh-CN" sz="1200" dirty="0"/>
              <a:t>    data = </a:t>
            </a:r>
            <a:r>
              <a:rPr lang="en-GB" altLang="zh-CN" sz="1200" dirty="0" err="1"/>
              <a:t>data.dropna</a:t>
            </a:r>
            <a:r>
              <a:rPr lang="en-GB" altLang="zh-CN" sz="1200" dirty="0"/>
              <a:t>()</a:t>
            </a:r>
            <a:br>
              <a:rPr lang="en-GB" altLang="zh-CN" sz="1200" dirty="0"/>
            </a:br>
            <a:r>
              <a:rPr lang="en-GB" altLang="zh-CN" sz="1200" dirty="0"/>
              <a:t>    </a:t>
            </a:r>
            <a:r>
              <a:rPr lang="en-GB" altLang="zh-CN" sz="1200" i="1" dirty="0">
                <a:solidFill>
                  <a:srgbClr val="8C8C8C"/>
                </a:solidFill>
                <a:effectLst/>
              </a:rPr>
              <a:t># 2.2 </a:t>
            </a:r>
            <a:r>
              <a:rPr lang="zh-CN" altLang="en-US" sz="1200" i="1" dirty="0">
                <a:solidFill>
                  <a:srgbClr val="8C8C8C"/>
                </a:solidFill>
                <a:effectLst/>
              </a:rPr>
              <a:t>确定特征值</a:t>
            </a:r>
            <a:r>
              <a:rPr lang="en-US" altLang="zh-CN" sz="1200" i="1" dirty="0">
                <a:solidFill>
                  <a:srgbClr val="8C8C8C"/>
                </a:solidFill>
                <a:effectLst/>
              </a:rPr>
              <a:t>,</a:t>
            </a:r>
            <a:r>
              <a:rPr lang="zh-CN" altLang="en-US" sz="1200" i="1" dirty="0">
                <a:solidFill>
                  <a:srgbClr val="8C8C8C"/>
                </a:solidFill>
                <a:effectLst/>
              </a:rPr>
              <a:t>目标值</a:t>
            </a:r>
            <a:br>
              <a:rPr lang="zh-CN" altLang="en-US" sz="1200" i="1" dirty="0">
                <a:solidFill>
                  <a:srgbClr val="8C8C8C"/>
                </a:solidFill>
                <a:effectLst/>
              </a:rPr>
            </a:br>
            <a:r>
              <a:rPr lang="zh-CN" altLang="en-US" sz="1200" i="1" dirty="0">
                <a:solidFill>
                  <a:srgbClr val="8C8C8C"/>
                </a:solidFill>
                <a:effectLst/>
              </a:rPr>
              <a:t>    </a:t>
            </a:r>
            <a:r>
              <a:rPr lang="en-GB" altLang="zh-CN" sz="1200" dirty="0"/>
              <a:t>x = </a:t>
            </a:r>
            <a:r>
              <a:rPr lang="en-GB" altLang="zh-CN" sz="1200" dirty="0" err="1"/>
              <a:t>data.iloc</a:t>
            </a:r>
            <a:r>
              <a:rPr lang="en-GB" altLang="zh-CN" sz="1200" dirty="0"/>
              <a:t>[:, </a:t>
            </a:r>
            <a:r>
              <a:rPr lang="en-GB" altLang="zh-CN" sz="1200" dirty="0">
                <a:solidFill>
                  <a:srgbClr val="1750EB"/>
                </a:solidFill>
                <a:effectLst/>
              </a:rPr>
              <a:t>1</a:t>
            </a:r>
            <a:r>
              <a:rPr lang="en-GB" altLang="zh-CN" sz="1200" dirty="0"/>
              <a:t>:-</a:t>
            </a:r>
            <a:r>
              <a:rPr lang="en-GB" altLang="zh-CN" sz="1200" dirty="0">
                <a:solidFill>
                  <a:srgbClr val="1750EB"/>
                </a:solidFill>
                <a:effectLst/>
              </a:rPr>
              <a:t>1</a:t>
            </a:r>
            <a:r>
              <a:rPr lang="en-GB" altLang="zh-CN" sz="1200" dirty="0"/>
              <a:t>]</a:t>
            </a:r>
            <a:br>
              <a:rPr lang="en-GB" altLang="zh-CN" sz="1200" dirty="0"/>
            </a:br>
            <a:r>
              <a:rPr lang="en-GB"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a:t>
            </a:r>
            <a:r>
              <a:rPr lang="en-GB" altLang="zh-CN" sz="1200" dirty="0" err="1">
                <a:solidFill>
                  <a:srgbClr val="067D17"/>
                </a:solidFill>
                <a:effectLst/>
              </a:rPr>
              <a:t>x.head</a:t>
            </a:r>
            <a:r>
              <a:rPr lang="en-GB" altLang="zh-CN" sz="1200" dirty="0">
                <a:solidFill>
                  <a:srgbClr val="067D17"/>
                </a:solidFill>
                <a:effectLst/>
              </a:rPr>
              <a:t>()--&gt;</a:t>
            </a:r>
            <a:r>
              <a:rPr lang="en-GB" altLang="zh-CN" sz="1200" dirty="0">
                <a:solidFill>
                  <a:srgbClr val="0037A6"/>
                </a:solidFill>
                <a:effectLst/>
              </a:rPr>
              <a:t>\n</a:t>
            </a:r>
            <a:r>
              <a:rPr lang="en-GB" altLang="zh-CN" sz="1200" dirty="0">
                <a:solidFill>
                  <a:srgbClr val="067D17"/>
                </a:solidFill>
                <a:effectLst/>
              </a:rPr>
              <a:t>’</a:t>
            </a:r>
            <a:r>
              <a:rPr lang="en-GB" altLang="zh-CN" sz="1200" dirty="0"/>
              <a:t>, </a:t>
            </a:r>
            <a:r>
              <a:rPr lang="en-GB" altLang="zh-CN" sz="1200" dirty="0" err="1"/>
              <a:t>x.head</a:t>
            </a:r>
            <a:r>
              <a:rPr lang="en-GB" altLang="zh-CN" sz="1200" dirty="0"/>
              <a:t>())</a:t>
            </a:r>
            <a:br>
              <a:rPr lang="en-GB" altLang="zh-CN" sz="1200" dirty="0"/>
            </a:br>
            <a:r>
              <a:rPr lang="en-GB" altLang="zh-CN" sz="1200" dirty="0"/>
              <a:t>    y = data[</a:t>
            </a:r>
            <a:r>
              <a:rPr lang="en-GB" altLang="zh-CN" sz="1200" dirty="0">
                <a:solidFill>
                  <a:srgbClr val="067D17"/>
                </a:solidFill>
                <a:effectLst/>
              </a:rPr>
              <a:t>“Class”</a:t>
            </a:r>
            <a:r>
              <a:rPr lang="en-GB" altLang="zh-CN" sz="1200" dirty="0"/>
              <a:t>]</a:t>
            </a:r>
            <a:br>
              <a:rPr lang="en-GB" altLang="zh-CN" sz="1200" dirty="0"/>
            </a:br>
            <a:r>
              <a:rPr lang="en-GB"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a:t>
            </a:r>
            <a:r>
              <a:rPr lang="en-GB" altLang="zh-CN" sz="1200" dirty="0" err="1">
                <a:solidFill>
                  <a:srgbClr val="067D17"/>
                </a:solidFill>
                <a:effectLst/>
              </a:rPr>
              <a:t>y.head</a:t>
            </a:r>
            <a:r>
              <a:rPr lang="en-GB" altLang="zh-CN" sz="1200" dirty="0">
                <a:solidFill>
                  <a:srgbClr val="067D17"/>
                </a:solidFill>
                <a:effectLst/>
              </a:rPr>
              <a:t>()--&gt;</a:t>
            </a:r>
            <a:r>
              <a:rPr lang="en-GB" altLang="zh-CN" sz="1200" dirty="0">
                <a:solidFill>
                  <a:srgbClr val="0037A6"/>
                </a:solidFill>
                <a:effectLst/>
              </a:rPr>
              <a:t>\n</a:t>
            </a:r>
            <a:r>
              <a:rPr lang="en-GB" altLang="zh-CN" sz="1200" dirty="0">
                <a:solidFill>
                  <a:srgbClr val="067D17"/>
                </a:solidFill>
                <a:effectLst/>
              </a:rPr>
              <a:t>’</a:t>
            </a:r>
            <a:r>
              <a:rPr lang="en-GB" altLang="zh-CN" sz="1200" dirty="0"/>
              <a:t>, </a:t>
            </a:r>
            <a:r>
              <a:rPr lang="en-GB" altLang="zh-CN" sz="1200" dirty="0" err="1"/>
              <a:t>y.head</a:t>
            </a:r>
            <a:r>
              <a:rPr lang="en-GB" altLang="zh-CN" sz="1200" dirty="0"/>
              <a:t>())</a:t>
            </a:r>
            <a:br>
              <a:rPr lang="en-GB" altLang="zh-CN" sz="1200" dirty="0"/>
            </a:br>
            <a:r>
              <a:rPr lang="en-GB" altLang="zh-CN" sz="1200" dirty="0"/>
              <a:t>    </a:t>
            </a:r>
            <a:r>
              <a:rPr lang="en-GB" altLang="zh-CN" sz="1200" i="1" dirty="0">
                <a:solidFill>
                  <a:srgbClr val="8C8C8C"/>
                </a:solidFill>
                <a:effectLst/>
              </a:rPr>
              <a:t># 2.3 </a:t>
            </a:r>
            <a:r>
              <a:rPr lang="zh-CN" altLang="en-US" sz="1200" i="1" dirty="0">
                <a:solidFill>
                  <a:srgbClr val="8C8C8C"/>
                </a:solidFill>
                <a:effectLst/>
              </a:rPr>
              <a:t>分割数据</a:t>
            </a:r>
            <a:br>
              <a:rPr lang="zh-CN" altLang="en-US" sz="1200" i="1" dirty="0">
                <a:solidFill>
                  <a:srgbClr val="8C8C8C"/>
                </a:solidFill>
                <a:effectLst/>
              </a:rPr>
            </a:br>
            <a:r>
              <a:rPr lang="zh-CN" altLang="en-US" sz="1200" i="1" dirty="0">
                <a:solidFill>
                  <a:srgbClr val="8C8C8C"/>
                </a:solidFill>
                <a:effectLst/>
              </a:rPr>
              <a:t>    </a:t>
            </a:r>
            <a:r>
              <a:rPr lang="en-GB" altLang="zh-CN" sz="1200" dirty="0" err="1"/>
              <a:t>x_train</a:t>
            </a:r>
            <a:r>
              <a:rPr lang="en-GB" altLang="zh-CN" sz="1200" dirty="0"/>
              <a:t>, </a:t>
            </a:r>
            <a:r>
              <a:rPr lang="en-GB" altLang="zh-CN" sz="1200" dirty="0" err="1"/>
              <a:t>x_test</a:t>
            </a:r>
            <a:r>
              <a:rPr lang="en-GB" altLang="zh-CN" sz="1200" dirty="0"/>
              <a:t>, </a:t>
            </a:r>
            <a:r>
              <a:rPr lang="en-GB" altLang="zh-CN" sz="1200" dirty="0" err="1"/>
              <a:t>y_train</a:t>
            </a:r>
            <a:r>
              <a:rPr lang="en-GB" altLang="zh-CN" sz="1200" dirty="0"/>
              <a:t>, </a:t>
            </a:r>
            <a:r>
              <a:rPr lang="en-GB" altLang="zh-CN" sz="1200" dirty="0" err="1"/>
              <a:t>y_test</a:t>
            </a:r>
            <a:r>
              <a:rPr lang="en-GB" altLang="zh-CN" sz="1200" dirty="0"/>
              <a:t> = </a:t>
            </a:r>
            <a:r>
              <a:rPr lang="en-GB" altLang="zh-CN" sz="1200" dirty="0" err="1"/>
              <a:t>train_test_split</a:t>
            </a:r>
            <a:r>
              <a:rPr lang="en-GB" altLang="zh-CN" sz="1200" dirty="0"/>
              <a:t>(x, y, </a:t>
            </a:r>
            <a:r>
              <a:rPr lang="en-GB" altLang="zh-CN" sz="1200" dirty="0" err="1">
                <a:solidFill>
                  <a:srgbClr val="660099"/>
                </a:solidFill>
                <a:effectLst/>
              </a:rPr>
              <a:t>random_state</a:t>
            </a:r>
            <a:r>
              <a:rPr lang="en-GB" altLang="zh-CN" sz="1200" dirty="0"/>
              <a:t>=</a:t>
            </a:r>
            <a:r>
              <a:rPr lang="en-GB" altLang="zh-CN" sz="1200" dirty="0">
                <a:solidFill>
                  <a:srgbClr val="1750EB"/>
                </a:solidFill>
                <a:effectLst/>
              </a:rPr>
              <a:t>22</a:t>
            </a:r>
            <a:r>
              <a:rPr lang="en-GB" altLang="zh-CN" sz="1200" dirty="0"/>
              <a:t>)</a:t>
            </a:r>
            <a:br>
              <a:rPr lang="en-GB" altLang="zh-CN" sz="1200" dirty="0"/>
            </a:br>
            <a:br>
              <a:rPr lang="en-GB" altLang="zh-CN" sz="1200" dirty="0"/>
            </a:br>
            <a:r>
              <a:rPr lang="en-GB" altLang="zh-CN" sz="1200" dirty="0"/>
              <a:t>    </a:t>
            </a:r>
            <a:r>
              <a:rPr lang="en-GB" altLang="zh-CN" sz="1200" i="1" dirty="0">
                <a:solidFill>
                  <a:srgbClr val="8C8C8C"/>
                </a:solidFill>
                <a:effectLst/>
              </a:rPr>
              <a:t># 3 </a:t>
            </a:r>
            <a:r>
              <a:rPr lang="zh-CN" altLang="en-US" sz="1200" i="1" dirty="0">
                <a:solidFill>
                  <a:srgbClr val="8C8C8C"/>
                </a:solidFill>
                <a:effectLst/>
              </a:rPr>
              <a:t>特征工程</a:t>
            </a:r>
            <a:r>
              <a:rPr lang="en-US" altLang="zh-CN" sz="1200" i="1" dirty="0">
                <a:solidFill>
                  <a:srgbClr val="8C8C8C"/>
                </a:solidFill>
                <a:effectLst/>
              </a:rPr>
              <a:t>(</a:t>
            </a:r>
            <a:r>
              <a:rPr lang="zh-CN" altLang="en-US" sz="1200" i="1" dirty="0">
                <a:solidFill>
                  <a:srgbClr val="8C8C8C"/>
                </a:solidFill>
                <a:effectLst/>
              </a:rPr>
              <a:t>标准化</a:t>
            </a:r>
            <a:r>
              <a:rPr lang="en-US" altLang="zh-CN" sz="1200" i="1" dirty="0">
                <a:solidFill>
                  <a:srgbClr val="8C8C8C"/>
                </a:solidFill>
                <a:effectLst/>
              </a:rPr>
              <a:t>)</a:t>
            </a:r>
            <a:br>
              <a:rPr lang="en-US" altLang="zh-CN" sz="1200" i="1" dirty="0">
                <a:solidFill>
                  <a:srgbClr val="8C8C8C"/>
                </a:solidFill>
                <a:effectLst/>
              </a:rPr>
            </a:br>
            <a:r>
              <a:rPr lang="en-US" altLang="zh-CN" sz="1200" i="1" dirty="0">
                <a:solidFill>
                  <a:srgbClr val="8C8C8C"/>
                </a:solidFill>
                <a:effectLst/>
              </a:rPr>
              <a:t>    </a:t>
            </a:r>
            <a:r>
              <a:rPr lang="en-GB" altLang="zh-CN" sz="1200" dirty="0"/>
              <a:t>transfer = </a:t>
            </a:r>
            <a:r>
              <a:rPr lang="en-GB" altLang="zh-CN" sz="1200" dirty="0" err="1"/>
              <a:t>StandardScaler</a:t>
            </a:r>
            <a:r>
              <a:rPr lang="en-GB" altLang="zh-CN" sz="1200" dirty="0"/>
              <a:t>()</a:t>
            </a:r>
            <a:br>
              <a:rPr lang="en-GB" altLang="zh-CN" sz="1200" dirty="0"/>
            </a:br>
            <a:r>
              <a:rPr lang="en-GB" altLang="zh-CN" sz="1200" dirty="0"/>
              <a:t>    </a:t>
            </a:r>
            <a:r>
              <a:rPr lang="en-GB" altLang="zh-CN" sz="1200" dirty="0" err="1"/>
              <a:t>x_train</a:t>
            </a:r>
            <a:r>
              <a:rPr lang="en-GB" altLang="zh-CN" sz="1200" dirty="0"/>
              <a:t> = </a:t>
            </a:r>
            <a:r>
              <a:rPr lang="en-GB" altLang="zh-CN" sz="1200" dirty="0" err="1"/>
              <a:t>transfer.fit_transform</a:t>
            </a:r>
            <a:r>
              <a:rPr lang="en-GB" altLang="zh-CN" sz="1200" dirty="0"/>
              <a:t>(</a:t>
            </a:r>
            <a:r>
              <a:rPr lang="en-GB" altLang="zh-CN" sz="1200" dirty="0" err="1"/>
              <a:t>x_train</a:t>
            </a:r>
            <a:r>
              <a:rPr lang="en-GB" altLang="zh-CN" sz="1200" dirty="0"/>
              <a:t>)</a:t>
            </a:r>
            <a:br>
              <a:rPr lang="en-GB" altLang="zh-CN" sz="1200" dirty="0"/>
            </a:br>
            <a:r>
              <a:rPr lang="en-GB" altLang="zh-CN" sz="1200" dirty="0"/>
              <a:t>    </a:t>
            </a:r>
            <a:r>
              <a:rPr lang="en-GB" altLang="zh-CN" sz="1200" dirty="0" err="1"/>
              <a:t>x_test</a:t>
            </a:r>
            <a:r>
              <a:rPr lang="en-GB" altLang="zh-CN" sz="1200" dirty="0"/>
              <a:t> = </a:t>
            </a:r>
            <a:r>
              <a:rPr lang="en-GB" altLang="zh-CN" sz="1200" dirty="0" err="1"/>
              <a:t>transfer.transform</a:t>
            </a:r>
            <a:r>
              <a:rPr lang="en-GB" altLang="zh-CN" sz="1200" dirty="0"/>
              <a:t>(</a:t>
            </a:r>
            <a:r>
              <a:rPr lang="en-GB" altLang="zh-CN" sz="1200" dirty="0" err="1"/>
              <a:t>x_test</a:t>
            </a:r>
            <a:r>
              <a:rPr lang="en-GB" altLang="zh-CN" sz="1200" dirty="0"/>
              <a:t>)</a:t>
            </a:r>
            <a:br>
              <a:rPr lang="en-GB" altLang="zh-CN" sz="1200" dirty="0"/>
            </a:br>
            <a:r>
              <a:rPr lang="en-GB" altLang="zh-CN" sz="1200" dirty="0"/>
              <a:t>    </a:t>
            </a:r>
            <a:r>
              <a:rPr lang="en-GB" altLang="zh-CN" sz="1200" i="1" dirty="0">
                <a:solidFill>
                  <a:srgbClr val="8C8C8C"/>
                </a:solidFill>
                <a:effectLst/>
              </a:rPr>
              <a:t># 4 </a:t>
            </a:r>
            <a:r>
              <a:rPr lang="zh-CN" altLang="en-US" sz="1200" i="1" dirty="0">
                <a:solidFill>
                  <a:srgbClr val="8C8C8C"/>
                </a:solidFill>
                <a:effectLst/>
              </a:rPr>
              <a:t>机器学习</a:t>
            </a:r>
            <a:r>
              <a:rPr lang="en-US" altLang="zh-CN" sz="1200" i="1" dirty="0">
                <a:solidFill>
                  <a:srgbClr val="8C8C8C"/>
                </a:solidFill>
                <a:effectLst/>
              </a:rPr>
              <a:t>(</a:t>
            </a:r>
            <a:r>
              <a:rPr lang="zh-CN" altLang="en-US" sz="1200" i="1" dirty="0">
                <a:solidFill>
                  <a:srgbClr val="8C8C8C"/>
                </a:solidFill>
                <a:effectLst/>
              </a:rPr>
              <a:t>逻辑回归</a:t>
            </a:r>
            <a:r>
              <a:rPr lang="en-US" altLang="zh-CN" sz="1200" i="1" dirty="0">
                <a:solidFill>
                  <a:srgbClr val="8C8C8C"/>
                </a:solidFill>
                <a:effectLst/>
              </a:rPr>
              <a:t>)</a:t>
            </a:r>
            <a:br>
              <a:rPr lang="en-US" altLang="zh-CN" sz="1200" i="1" dirty="0">
                <a:solidFill>
                  <a:srgbClr val="8C8C8C"/>
                </a:solidFill>
                <a:effectLst/>
              </a:rPr>
            </a:br>
            <a:r>
              <a:rPr lang="en-US" altLang="zh-CN" sz="1200" i="1" dirty="0">
                <a:solidFill>
                  <a:srgbClr val="8C8C8C"/>
                </a:solidFill>
                <a:effectLst/>
              </a:rPr>
              <a:t>    </a:t>
            </a:r>
            <a:r>
              <a:rPr lang="en-GB" altLang="zh-CN" sz="1200" dirty="0"/>
              <a:t>estimator = </a:t>
            </a:r>
            <a:r>
              <a:rPr lang="en-GB" altLang="zh-CN" sz="1200" dirty="0" err="1"/>
              <a:t>LogisticRegression</a:t>
            </a:r>
            <a:r>
              <a:rPr lang="en-GB" altLang="zh-CN" sz="1200" dirty="0"/>
              <a:t>()</a:t>
            </a:r>
            <a:br>
              <a:rPr lang="en-GB" altLang="zh-CN" sz="1200" dirty="0"/>
            </a:br>
            <a:r>
              <a:rPr lang="en-GB" altLang="zh-CN" sz="1200" dirty="0"/>
              <a:t>    </a:t>
            </a:r>
            <a:r>
              <a:rPr lang="en-GB" altLang="zh-CN" sz="1200" dirty="0" err="1"/>
              <a:t>estimator.fit</a:t>
            </a:r>
            <a:r>
              <a:rPr lang="en-GB" altLang="zh-CN" sz="1200" dirty="0"/>
              <a:t>(</a:t>
            </a:r>
            <a:r>
              <a:rPr lang="en-GB" altLang="zh-CN" sz="1200" dirty="0" err="1"/>
              <a:t>x_train</a:t>
            </a:r>
            <a:r>
              <a:rPr lang="en-GB" altLang="zh-CN" sz="1200" dirty="0"/>
              <a:t>, </a:t>
            </a:r>
            <a:r>
              <a:rPr lang="en-GB" altLang="zh-CN" sz="1200" dirty="0" err="1"/>
              <a:t>y_train</a:t>
            </a:r>
            <a:r>
              <a:rPr lang="en-GB" altLang="zh-CN" sz="1200" dirty="0"/>
              <a:t>)</a:t>
            </a:r>
            <a:br>
              <a:rPr lang="en-GB" altLang="zh-CN" sz="1200" dirty="0"/>
            </a:br>
            <a:r>
              <a:rPr lang="en-GB" altLang="zh-CN" sz="1200" dirty="0"/>
              <a:t>    </a:t>
            </a:r>
            <a:r>
              <a:rPr lang="en-GB" altLang="zh-CN" sz="1200" i="1" dirty="0">
                <a:solidFill>
                  <a:srgbClr val="8C8C8C"/>
                </a:solidFill>
                <a:effectLst/>
              </a:rPr>
              <a:t># 5 </a:t>
            </a:r>
            <a:r>
              <a:rPr lang="zh-CN" altLang="en-US" sz="1200" i="1" dirty="0">
                <a:solidFill>
                  <a:srgbClr val="8C8C8C"/>
                </a:solidFill>
                <a:effectLst/>
              </a:rPr>
              <a:t>模型评估</a:t>
            </a:r>
            <a:br>
              <a:rPr lang="zh-CN" altLang="en-US" sz="1200" i="1" dirty="0">
                <a:solidFill>
                  <a:srgbClr val="8C8C8C"/>
                </a:solidFill>
                <a:effectLst/>
              </a:rPr>
            </a:br>
            <a:r>
              <a:rPr lang="zh-CN" altLang="en-US" sz="1200" i="1" dirty="0">
                <a:solidFill>
                  <a:srgbClr val="8C8C8C"/>
                </a:solidFill>
                <a:effectLst/>
              </a:rPr>
              <a:t>    </a:t>
            </a:r>
            <a:r>
              <a:rPr lang="en-GB" altLang="zh-CN" sz="1200" dirty="0" err="1"/>
              <a:t>y_predict</a:t>
            </a:r>
            <a:r>
              <a:rPr lang="en-GB" altLang="zh-CN" sz="1200" dirty="0"/>
              <a:t> = </a:t>
            </a:r>
            <a:r>
              <a:rPr lang="en-GB" altLang="zh-CN" sz="1200" dirty="0" err="1"/>
              <a:t>estimator.predict</a:t>
            </a:r>
            <a:r>
              <a:rPr lang="en-GB" altLang="zh-CN" sz="1200" dirty="0"/>
              <a:t>(</a:t>
            </a:r>
            <a:r>
              <a:rPr lang="en-GB" altLang="zh-CN" sz="1200" dirty="0" err="1"/>
              <a:t>x_test</a:t>
            </a:r>
            <a:r>
              <a:rPr lang="en-GB" altLang="zh-CN" sz="1200" dirty="0"/>
              <a:t>)</a:t>
            </a:r>
            <a:br>
              <a:rPr lang="en-GB" altLang="zh-CN" sz="1200" dirty="0"/>
            </a:br>
            <a:r>
              <a:rPr lang="en-GB"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a:t>
            </a:r>
            <a:r>
              <a:rPr lang="en-GB" altLang="zh-CN" sz="1200" dirty="0" err="1">
                <a:solidFill>
                  <a:srgbClr val="067D17"/>
                </a:solidFill>
                <a:effectLst/>
              </a:rPr>
              <a:t>y_predict</a:t>
            </a:r>
            <a:r>
              <a:rPr lang="en-GB" altLang="zh-CN" sz="1200" dirty="0">
                <a:solidFill>
                  <a:srgbClr val="067D17"/>
                </a:solidFill>
                <a:effectLst/>
              </a:rPr>
              <a:t>--&gt;’</a:t>
            </a:r>
            <a:r>
              <a:rPr lang="en-GB" altLang="zh-CN" sz="1200" dirty="0"/>
              <a:t>, </a:t>
            </a:r>
            <a:r>
              <a:rPr lang="en-GB" altLang="zh-CN" sz="1200" dirty="0" err="1"/>
              <a:t>y_predict</a:t>
            </a:r>
            <a:r>
              <a:rPr lang="en-GB" altLang="zh-CN" sz="1200" dirty="0"/>
              <a:t>)</a:t>
            </a:r>
            <a:br>
              <a:rPr lang="en-GB" altLang="zh-CN" sz="1200" dirty="0"/>
            </a:br>
            <a:r>
              <a:rPr lang="en-GB" altLang="zh-CN" sz="1200" dirty="0"/>
              <a:t>    accuracy = </a:t>
            </a:r>
            <a:r>
              <a:rPr lang="en-GB" altLang="zh-CN" sz="1200" dirty="0" err="1"/>
              <a:t>estimator.score</a:t>
            </a:r>
            <a:r>
              <a:rPr lang="en-GB" altLang="zh-CN" sz="1200" dirty="0"/>
              <a:t>(</a:t>
            </a:r>
            <a:r>
              <a:rPr lang="en-GB" altLang="zh-CN" sz="1200" dirty="0" err="1"/>
              <a:t>x_test</a:t>
            </a:r>
            <a:r>
              <a:rPr lang="en-GB" altLang="zh-CN" sz="1200" dirty="0"/>
              <a:t>, </a:t>
            </a:r>
            <a:r>
              <a:rPr lang="en-GB" altLang="zh-CN" sz="1200" dirty="0" err="1"/>
              <a:t>y_test</a:t>
            </a:r>
            <a:r>
              <a:rPr lang="en-GB" altLang="zh-CN" sz="1200" dirty="0"/>
              <a:t>)</a:t>
            </a:r>
            <a:br>
              <a:rPr lang="en-GB" altLang="zh-CN" sz="1200" dirty="0"/>
            </a:br>
            <a:r>
              <a:rPr lang="en-GB"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‘accuracy--&gt;’</a:t>
            </a:r>
            <a:r>
              <a:rPr lang="en-GB" altLang="zh-CN" sz="1200" dirty="0"/>
              <a:t>, accuracy)</a:t>
            </a:r>
            <a:r>
              <a:rPr lang="zh-CN" altLang="en-US" sz="1200" dirty="0"/>
              <a:t>  </a:t>
            </a:r>
            <a:endParaRPr kumimoji="0" lang="en-US" altLang="zh-CN" sz="12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825750" y="4919345"/>
            <a:ext cx="7120890" cy="9220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答案：</a:t>
            </a:r>
            <a:r>
              <a:rPr kumimoji="0" lang="en-US" altLang="zh-CN" sz="12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ABC</a:t>
            </a:r>
            <a:endParaRPr kumimoji="0" lang="en-US" altLang="zh-CN" sz="12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逻辑回归默认将类别标签为</a:t>
            </a:r>
            <a:r>
              <a:rPr kumimoji="0" lang="en-US" altLang="zh-CN" sz="12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1</a:t>
            </a:r>
            <a:r>
              <a:rPr kumimoji="0" lang="zh-CN" altLang="en-US" sz="12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的类作为正例，与样本数量无关。</a:t>
            </a:r>
            <a:endParaRPr kumimoji="0" lang="zh-CN" altLang="en-US" sz="12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实际可通过</a:t>
            </a:r>
            <a:r>
              <a:rPr kumimoji="0" lang="en-US" altLang="zh-CN" sz="12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class_weight</a:t>
            </a:r>
            <a:r>
              <a:rPr kumimoji="0" lang="zh-CN" altLang="en-US" sz="12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参数调整类别权重，但并非直接以多数类为正例。</a:t>
            </a:r>
            <a:endParaRPr kumimoji="0" lang="zh-CN" altLang="en-US" sz="12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
        <p:nvSpPr>
          <p:cNvPr id="6" name="矩形 5"/>
          <p:cNvSpPr/>
          <p:nvPr/>
        </p:nvSpPr>
        <p:spPr>
          <a:xfrm>
            <a:off x="2295201" y="1626771"/>
            <a:ext cx="4752528" cy="352917"/>
          </a:xfrm>
          <a:prstGeom prst="rect">
            <a:avLst/>
          </a:prstGeom>
        </p:spPr>
        <p:txBody>
          <a:bodyPr wrap="square">
            <a:spAutoFit/>
          </a:bodyPr>
          <a:lstStyle/>
          <a:p>
            <a:pPr>
              <a:lnSpc>
                <a:spcPct val="13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、下列关于逻辑回归</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API</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的使用正确的是？（</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多选</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矩形 6"/>
          <p:cNvSpPr/>
          <p:nvPr/>
        </p:nvSpPr>
        <p:spPr>
          <a:xfrm>
            <a:off x="2740120" y="2202775"/>
            <a:ext cx="5256584" cy="1749390"/>
          </a:xfrm>
          <a:prstGeom prst="rect">
            <a:avLst/>
          </a:prstGeom>
        </p:spPr>
        <p:txBody>
          <a:bodyPr wrap="square">
            <a:spAutoFit/>
          </a:bodyPr>
          <a:lstStyle/>
          <a:p>
            <a:pPr>
              <a:lnSpc>
                <a:spcPct val="130000"/>
              </a:lnSpc>
            </a:pPr>
            <a:r>
              <a:rPr lang="en-US" altLang="zh-CN" sz="1200" b="1"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2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200" dirty="0">
                <a:solidFill>
                  <a:schemeClr val="tx1">
                    <a:lumMod val="85000"/>
                    <a:lumOff val="15000"/>
                  </a:schemeClr>
                </a:solidFill>
                <a:latin typeface="Alibaba PuHuiTi" pitchFamily="18" charset="-122"/>
                <a:ea typeface="Alibaba PuHuiTi" pitchFamily="18" charset="-122"/>
                <a:cs typeface="Alibaba PuHuiTi" pitchFamily="18" charset="-122"/>
              </a:rPr>
              <a:t>需要在</a:t>
            </a:r>
            <a:r>
              <a:rPr lang="en-US" altLang="zh-CN" sz="1200" dirty="0" err="1">
                <a:solidFill>
                  <a:schemeClr val="tx1">
                    <a:lumMod val="85000"/>
                    <a:lumOff val="15000"/>
                  </a:schemeClr>
                </a:solidFill>
                <a:latin typeface="Alibaba PuHuiTi" pitchFamily="18" charset="-122"/>
                <a:ea typeface="Alibaba PuHuiTi" pitchFamily="18" charset="-122"/>
                <a:cs typeface="Alibaba PuHuiTi" pitchFamily="18" charset="-122"/>
              </a:rPr>
              <a:t>sklearn</a:t>
            </a:r>
            <a:r>
              <a:rPr lang="zh-CN" altLang="en-US" sz="1200" dirty="0">
                <a:solidFill>
                  <a:schemeClr val="tx1">
                    <a:lumMod val="85000"/>
                    <a:lumOff val="15000"/>
                  </a:schemeClr>
                </a:solidFill>
                <a:latin typeface="Alibaba PuHuiTi" pitchFamily="18" charset="-122"/>
                <a:ea typeface="Alibaba PuHuiTi" pitchFamily="18" charset="-122"/>
                <a:cs typeface="Alibaba PuHuiTi" pitchFamily="18" charset="-122"/>
              </a:rPr>
              <a:t>的线性模型</a:t>
            </a:r>
            <a:r>
              <a:rPr lang="en-US" altLang="zh-CN" sz="1200" dirty="0" err="1">
                <a:solidFill>
                  <a:schemeClr val="tx1">
                    <a:lumMod val="85000"/>
                    <a:lumOff val="15000"/>
                  </a:schemeClr>
                </a:solidFill>
                <a:latin typeface="Alibaba PuHuiTi" pitchFamily="18" charset="-122"/>
                <a:ea typeface="Alibaba PuHuiTi" pitchFamily="18" charset="-122"/>
                <a:cs typeface="Alibaba PuHuiTi" pitchFamily="18" charset="-122"/>
              </a:rPr>
              <a:t>linear_model</a:t>
            </a:r>
            <a:r>
              <a:rPr lang="zh-CN" altLang="en-US" sz="1200" dirty="0">
                <a:solidFill>
                  <a:schemeClr val="tx1">
                    <a:lumMod val="85000"/>
                    <a:lumOff val="15000"/>
                  </a:schemeClr>
                </a:solidFill>
                <a:latin typeface="Alibaba PuHuiTi" pitchFamily="18" charset="-122"/>
                <a:ea typeface="Alibaba PuHuiTi" pitchFamily="18" charset="-122"/>
                <a:cs typeface="Alibaba PuHuiTi" pitchFamily="18" charset="-122"/>
              </a:rPr>
              <a:t>中导出使用</a:t>
            </a:r>
            <a:endParaRPr lang="en-US" altLang="zh-CN" sz="12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30000"/>
              </a:lnSpc>
            </a:pPr>
            <a:endParaRPr lang="en-US" altLang="zh-CN" sz="12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30000"/>
              </a:lnSpc>
            </a:pPr>
            <a:r>
              <a:rPr lang="en-US" altLang="zh-CN" sz="1200" b="1"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2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200" dirty="0">
                <a:solidFill>
                  <a:schemeClr val="tx1">
                    <a:lumMod val="85000"/>
                    <a:lumOff val="15000"/>
                  </a:schemeClr>
                </a:solidFill>
                <a:latin typeface="Alibaba PuHuiTi" pitchFamily="18" charset="-122"/>
                <a:ea typeface="Alibaba PuHuiTi" pitchFamily="18" charset="-122"/>
                <a:cs typeface="Alibaba PuHuiTi" pitchFamily="18" charset="-122"/>
              </a:rPr>
              <a:t>可以通过</a:t>
            </a:r>
            <a:r>
              <a:rPr lang="en-US" altLang="zh-CN" sz="1200" dirty="0">
                <a:solidFill>
                  <a:schemeClr val="tx1">
                    <a:lumMod val="85000"/>
                    <a:lumOff val="15000"/>
                  </a:schemeClr>
                </a:solidFill>
                <a:latin typeface="Alibaba PuHuiTi" pitchFamily="18" charset="-122"/>
                <a:ea typeface="Alibaba PuHuiTi" pitchFamily="18" charset="-122"/>
                <a:cs typeface="Alibaba PuHuiTi" pitchFamily="18" charset="-122"/>
              </a:rPr>
              <a:t>solver</a:t>
            </a:r>
            <a:r>
              <a:rPr lang="zh-CN" altLang="en-US" sz="1200" dirty="0">
                <a:solidFill>
                  <a:schemeClr val="tx1">
                    <a:lumMod val="85000"/>
                    <a:lumOff val="15000"/>
                  </a:schemeClr>
                </a:solidFill>
                <a:latin typeface="Alibaba PuHuiTi" pitchFamily="18" charset="-122"/>
                <a:ea typeface="Alibaba PuHuiTi" pitchFamily="18" charset="-122"/>
                <a:cs typeface="Alibaba PuHuiTi" pitchFamily="18" charset="-122"/>
              </a:rPr>
              <a:t>参数指定损失的优化方法</a:t>
            </a:r>
            <a:endParaRPr lang="en-US" altLang="zh-CN" sz="12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30000"/>
              </a:lnSpc>
            </a:pPr>
            <a:endParaRPr lang="en-US" altLang="zh-CN" sz="12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30000"/>
              </a:lnSpc>
            </a:pPr>
            <a:r>
              <a:rPr lang="en-US" altLang="zh-CN" sz="1200" b="1"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2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200" dirty="0">
                <a:solidFill>
                  <a:schemeClr val="tx1">
                    <a:lumMod val="85000"/>
                    <a:lumOff val="15000"/>
                  </a:schemeClr>
                </a:solidFill>
                <a:latin typeface="Alibaba PuHuiTi" pitchFamily="18" charset="-122"/>
                <a:ea typeface="Alibaba PuHuiTi" pitchFamily="18" charset="-122"/>
                <a:cs typeface="Alibaba PuHuiTi" pitchFamily="18" charset="-122"/>
              </a:rPr>
              <a:t>可以通过</a:t>
            </a:r>
            <a:r>
              <a:rPr lang="en-US" altLang="zh-CN" sz="1200" dirty="0">
                <a:solidFill>
                  <a:schemeClr val="tx1">
                    <a:lumMod val="85000"/>
                    <a:lumOff val="15000"/>
                  </a:schemeClr>
                </a:solidFill>
                <a:latin typeface="Alibaba PuHuiTi" pitchFamily="18" charset="-122"/>
                <a:ea typeface="Alibaba PuHuiTi" pitchFamily="18" charset="-122"/>
                <a:cs typeface="Alibaba PuHuiTi" pitchFamily="18" charset="-122"/>
              </a:rPr>
              <a:t>penalty</a:t>
            </a:r>
            <a:r>
              <a:rPr lang="zh-CN" altLang="en-US" sz="1200" dirty="0">
                <a:solidFill>
                  <a:schemeClr val="tx1">
                    <a:lumMod val="85000"/>
                    <a:lumOff val="15000"/>
                  </a:schemeClr>
                </a:solidFill>
                <a:latin typeface="Alibaba PuHuiTi" pitchFamily="18" charset="-122"/>
                <a:ea typeface="Alibaba PuHuiTi" pitchFamily="18" charset="-122"/>
                <a:cs typeface="Alibaba PuHuiTi" pitchFamily="18" charset="-122"/>
              </a:rPr>
              <a:t>参数指定使用哪种正则化方式</a:t>
            </a:r>
            <a:endParaRPr lang="en-US" altLang="zh-CN" sz="12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30000"/>
              </a:lnSpc>
            </a:pPr>
            <a:endParaRPr lang="en-US" altLang="zh-CN" sz="12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30000"/>
              </a:lnSpc>
            </a:pPr>
            <a:r>
              <a:rPr lang="en-US" altLang="zh-CN" sz="1200" b="1"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200" b="1"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200" dirty="0">
                <a:solidFill>
                  <a:schemeClr val="tx1">
                    <a:lumMod val="85000"/>
                    <a:lumOff val="15000"/>
                  </a:schemeClr>
                </a:solidFill>
                <a:latin typeface="Alibaba PuHuiTi" pitchFamily="18" charset="-122"/>
                <a:ea typeface="Alibaba PuHuiTi" pitchFamily="18" charset="-122"/>
                <a:cs typeface="Alibaba PuHuiTi" pitchFamily="18" charset="-122"/>
              </a:rPr>
              <a:t>它默认将样本中类别数较多的一类当做正例</a:t>
            </a:r>
            <a:endParaRPr lang="zh-CN" altLang="en-US" sz="12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0"/>
          </p:nvPr>
        </p:nvSpPr>
        <p:spPr>
          <a:xfrm>
            <a:off x="4516566" y="1429419"/>
            <a:ext cx="7228417" cy="3999161"/>
          </a:xfrm>
        </p:spPr>
        <p:txBody>
          <a:bodyPr anchor="t"/>
          <a:lstStyle/>
          <a:p>
            <a:r>
              <a:rPr lang="zh-CN" altLang="en-US" dirty="0">
                <a:solidFill>
                  <a:schemeClr val="tx1"/>
                </a:solidFill>
                <a:latin typeface="Alibaba PuHuiTi" pitchFamily="18" charset="-122"/>
                <a:ea typeface="Alibaba PuHuiTi" pitchFamily="18" charset="-122"/>
                <a:cs typeface="Alibaba PuHuiTi" pitchFamily="18" charset="-122"/>
              </a:rPr>
              <a:t>逻辑回归简介</a:t>
            </a:r>
            <a:endParaRPr lang="en-US" altLang="zh-CN" dirty="0">
              <a:solidFill>
                <a:schemeClr val="tx1"/>
              </a:solidFill>
              <a:latin typeface="Alibaba PuHuiTi" pitchFamily="18" charset="-122"/>
              <a:ea typeface="Alibaba PuHuiTi" pitchFamily="18" charset="-122"/>
              <a:cs typeface="Alibaba PuHuiTi" pitchFamily="18" charset="-122"/>
            </a:endParaRPr>
          </a:p>
          <a:p>
            <a:pPr lvl="1"/>
            <a:r>
              <a:rPr lang="zh-CN" altLang="en-US" b="0" dirty="0">
                <a:latin typeface="Alibaba PuHuiTi" pitchFamily="18" charset="-122"/>
                <a:ea typeface="Alibaba PuHuiTi" pitchFamily="18" charset="-122"/>
                <a:cs typeface="Alibaba PuHuiTi" pitchFamily="18" charset="-122"/>
              </a:rPr>
              <a:t>应用场景，数学知识</a:t>
            </a:r>
            <a:endParaRPr lang="en-US" altLang="zh-CN" b="0" dirty="0">
              <a:latin typeface="Alibaba PuHuiTi" pitchFamily="18" charset="-122"/>
              <a:ea typeface="Alibaba PuHuiTi" pitchFamily="18" charset="-122"/>
              <a:cs typeface="Alibaba PuHuiTi" pitchFamily="18" charset="-122"/>
            </a:endParaRPr>
          </a:p>
          <a:p>
            <a:r>
              <a:rPr lang="zh-CN" altLang="en-US" dirty="0">
                <a:solidFill>
                  <a:schemeClr val="tx1"/>
                </a:solidFill>
                <a:latin typeface="Alibaba PuHuiTi" pitchFamily="18" charset="-122"/>
                <a:ea typeface="Alibaba PuHuiTi" pitchFamily="18" charset="-122"/>
                <a:cs typeface="Alibaba PuHuiTi" pitchFamily="18" charset="-122"/>
              </a:rPr>
              <a:t>逻辑回归原理</a:t>
            </a:r>
            <a:endParaRPr kumimoji="1" lang="en-US" altLang="zh-CN" sz="1600" b="0" dirty="0">
              <a:solidFill>
                <a:schemeClr val="tx1"/>
              </a:solidFill>
              <a:latin typeface="Alibaba PuHuiTi" pitchFamily="18" charset="-122"/>
              <a:ea typeface="Alibaba PuHuiTi" pitchFamily="18" charset="-122"/>
              <a:cs typeface="Alibaba PuHuiTi" pitchFamily="18" charset="-122"/>
            </a:endParaRPr>
          </a:p>
          <a:p>
            <a:r>
              <a:rPr kumimoji="1" lang="zh-CN" altLang="en-US" dirty="0">
                <a:solidFill>
                  <a:schemeClr val="tx1"/>
                </a:solidFill>
                <a:latin typeface="Alibaba PuHuiTi" pitchFamily="18" charset="-122"/>
                <a:ea typeface="Alibaba PuHuiTi" pitchFamily="18" charset="-122"/>
                <a:cs typeface="Alibaba PuHuiTi" pitchFamily="18" charset="-122"/>
              </a:rPr>
              <a:t>逻辑回归</a:t>
            </a:r>
            <a:r>
              <a:rPr kumimoji="1" lang="en-US" altLang="zh-CN" dirty="0">
                <a:solidFill>
                  <a:schemeClr val="tx1"/>
                </a:solidFill>
                <a:latin typeface="Alibaba PuHuiTi" pitchFamily="18" charset="-122"/>
                <a:ea typeface="Alibaba PuHuiTi" pitchFamily="18" charset="-122"/>
                <a:cs typeface="Alibaba PuHuiTi" pitchFamily="18" charset="-122"/>
              </a:rPr>
              <a:t>API</a:t>
            </a:r>
            <a:r>
              <a:rPr kumimoji="1" lang="zh-CN" altLang="en-US" dirty="0">
                <a:solidFill>
                  <a:schemeClr val="tx1"/>
                </a:solidFill>
                <a:latin typeface="Alibaba PuHuiTi" pitchFamily="18" charset="-122"/>
                <a:ea typeface="Alibaba PuHuiTi" pitchFamily="18" charset="-122"/>
                <a:cs typeface="Alibaba PuHuiTi" pitchFamily="18" charset="-122"/>
              </a:rPr>
              <a:t>函数和案例 </a:t>
            </a:r>
            <a:endParaRPr kumimoji="1" lang="en-US" altLang="zh-CN" sz="1600" b="0" dirty="0">
              <a:solidFill>
                <a:schemeClr val="tx1"/>
              </a:solidFill>
              <a:latin typeface="Alibaba PuHuiTi" pitchFamily="18" charset="-122"/>
              <a:ea typeface="Alibaba PuHuiTi" pitchFamily="18" charset="-122"/>
              <a:cs typeface="Alibaba PuHuiTi" pitchFamily="18" charset="-122"/>
            </a:endParaRPr>
          </a:p>
          <a:p>
            <a:r>
              <a:rPr kumimoji="1" lang="zh-CN" altLang="en-US" dirty="0">
                <a:solidFill>
                  <a:srgbClr val="FF0000"/>
                </a:solidFill>
                <a:latin typeface="Alibaba PuHuiTi" pitchFamily="18" charset="-122"/>
                <a:ea typeface="Alibaba PuHuiTi" pitchFamily="18" charset="-122"/>
                <a:cs typeface="Alibaba PuHuiTi" pitchFamily="18" charset="-122"/>
              </a:rPr>
              <a:t>分类问题评估</a:t>
            </a:r>
            <a:endParaRPr kumimoji="1" lang="en-US" altLang="zh-CN" dirty="0">
              <a:solidFill>
                <a:srgbClr val="FF0000"/>
              </a:solidFill>
              <a:latin typeface="Alibaba PuHuiTi" pitchFamily="18" charset="-122"/>
              <a:ea typeface="Alibaba PuHuiTi" pitchFamily="18" charset="-122"/>
              <a:cs typeface="Alibaba PuHuiTi" pitchFamily="18" charset="-122"/>
            </a:endParaRPr>
          </a:p>
          <a:p>
            <a:pPr lvl="1"/>
            <a:r>
              <a:rPr lang="zh-CN" altLang="en-US" sz="1600" b="0" dirty="0">
                <a:solidFill>
                  <a:srgbClr val="FF0000"/>
                </a:solidFill>
                <a:latin typeface="Alibaba PuHuiTi" pitchFamily="18" charset="-122"/>
                <a:ea typeface="Alibaba PuHuiTi" pitchFamily="18" charset="-122"/>
                <a:cs typeface="Alibaba PuHuiTi" pitchFamily="18" charset="-122"/>
              </a:rPr>
              <a:t>混淆矩阵、</a:t>
            </a:r>
            <a:r>
              <a:rPr lang="zh-CN" altLang="en-US" sz="1600" b="0" dirty="0">
                <a:solidFill>
                  <a:schemeClr val="tx1"/>
                </a:solidFill>
                <a:latin typeface="Alibaba PuHuiTi" pitchFamily="18" charset="-122"/>
                <a:ea typeface="Alibaba PuHuiTi" pitchFamily="18" charset="-122"/>
                <a:cs typeface="Alibaba PuHuiTi" pitchFamily="18" charset="-122"/>
              </a:rPr>
              <a:t>精确率、召回率、</a:t>
            </a:r>
            <a:r>
              <a:rPr lang="en-US" altLang="zh-CN" sz="1600" b="0" dirty="0">
                <a:solidFill>
                  <a:schemeClr val="tx1"/>
                </a:solidFill>
                <a:latin typeface="Alibaba PuHuiTi" pitchFamily="18" charset="-122"/>
                <a:ea typeface="Alibaba PuHuiTi" pitchFamily="18" charset="-122"/>
                <a:cs typeface="Alibaba PuHuiTi" pitchFamily="18" charset="-122"/>
              </a:rPr>
              <a:t>F1-score</a:t>
            </a:r>
            <a:r>
              <a:rPr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rPr>
              <a:t>AUC</a:t>
            </a:r>
            <a:r>
              <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指标、</a:t>
            </a:r>
            <a:r>
              <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rPr>
              <a:t>ROC</a:t>
            </a:r>
            <a:r>
              <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曲线 </a:t>
            </a:r>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电信客户流失预测案例</a:t>
            </a:r>
            <a:endPar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843512" y="548493"/>
            <a:ext cx="6298881" cy="4855845"/>
          </a:xfrm>
        </p:spPr>
        <p:txBody>
          <a:bodyPr/>
          <a:lstStyle/>
          <a:p>
            <a:pPr algn="l"/>
            <a:r>
              <a:rPr lang="zh-CN" altLang="en-US" b="0" i="0" u="none" strike="noStrike" dirty="0">
                <a:solidFill>
                  <a:srgbClr val="333333"/>
                </a:solidFill>
                <a:effectLst/>
                <a:latin typeface="Open Sans" panose="020B0606030504020204" pitchFamily="34" charset="0"/>
              </a:rPr>
              <a:t>理解混淆矩阵的构建方法</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掌握精确率，召回率和</a:t>
            </a:r>
            <a:r>
              <a:rPr lang="en-GB" altLang="zh-CN" b="0" i="0" u="none" strike="noStrike" dirty="0">
                <a:solidFill>
                  <a:srgbClr val="333333"/>
                </a:solidFill>
                <a:effectLst/>
                <a:latin typeface="Open Sans" panose="020B0606030504020204" pitchFamily="34" charset="0"/>
              </a:rPr>
              <a:t>F1score</a:t>
            </a:r>
            <a:r>
              <a:rPr lang="zh-CN" altLang="en-US" b="0" i="0" u="none" strike="noStrike" dirty="0">
                <a:solidFill>
                  <a:srgbClr val="333333"/>
                </a:solidFill>
                <a:effectLst/>
                <a:latin typeface="Open Sans" panose="020B0606030504020204" pitchFamily="34" charset="0"/>
              </a:rPr>
              <a:t>的计算方法</a:t>
            </a:r>
            <a:endParaRPr lang="zh-CN" altLang="en-US" b="0" i="0" u="none" strike="noStrike" dirty="0">
              <a:solidFill>
                <a:srgbClr val="333333"/>
              </a:solidFill>
              <a:effectLst/>
              <a:latin typeface="Open Sans" panose="020B0606030504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5029382" y="2973408"/>
            <a:ext cx="5760538" cy="2505524"/>
          </a:xfrm>
        </p:spPr>
        <p:txBody>
          <a:bodyPr anchor="t"/>
          <a:lstStyle/>
          <a:p>
            <a:pPr>
              <a:lnSpc>
                <a:spcPct val="150000"/>
              </a:lnSpc>
            </a:pPr>
            <a:r>
              <a:rPr lang="zh-CN" altLang="en-US" sz="1600" dirty="0"/>
              <a:t>只做预测准确率</a:t>
            </a:r>
            <a:r>
              <a:rPr lang="zh-CN" altLang="en-US" sz="1600" dirty="0">
                <a:solidFill>
                  <a:schemeClr val="accent2">
                    <a:lumMod val="75000"/>
                  </a:schemeClr>
                </a:solidFill>
              </a:rPr>
              <a:t>能满足各种场景</a:t>
            </a:r>
            <a:r>
              <a:rPr lang="zh-CN" altLang="en-US" sz="1600" dirty="0"/>
              <a:t>需要吗？</a:t>
            </a:r>
            <a:endParaRPr lang="zh-CN" altLang="en-US" sz="1600" dirty="0"/>
          </a:p>
          <a:p>
            <a:pPr>
              <a:lnSpc>
                <a:spcPct val="150000"/>
              </a:lnSpc>
            </a:pPr>
            <a:r>
              <a:rPr lang="zh-CN" altLang="en-US" sz="1600" dirty="0"/>
              <a:t>比如上述癌症检测的案例</a:t>
            </a:r>
            <a:endParaRPr lang="en-US" altLang="zh-CN" sz="1600" dirty="0"/>
          </a:p>
          <a:p>
            <a:pPr marL="0" indent="0">
              <a:lnSpc>
                <a:spcPct val="150000"/>
              </a:lnSpc>
              <a:buNone/>
            </a:pPr>
            <a:r>
              <a:rPr lang="zh-CN" altLang="en-US" sz="1600" dirty="0">
                <a:solidFill>
                  <a:schemeClr val="accent2">
                    <a:lumMod val="75000"/>
                  </a:schemeClr>
                </a:solidFill>
              </a:rPr>
              <a:t>        癌症患者有没有被全部预测（检测）出来</a:t>
            </a:r>
            <a:r>
              <a:rPr lang="zh-CN" altLang="en-US" sz="1600" dirty="0"/>
              <a:t>。</a:t>
            </a:r>
            <a:endParaRPr lang="zh-CN" alt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混淆矩阵</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221740" y="1332230"/>
            <a:ext cx="7736205" cy="4997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Open Sans" panose="020B0606030504020204" pitchFamily="34" charset="0"/>
              </a:rPr>
              <a:t>什么是</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混淆矩阵？答</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模型的预测结果与实际标签的对比情况</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文本框 4"/>
          <p:cNvSpPr txBox="1"/>
          <p:nvPr/>
        </p:nvSpPr>
        <p:spPr>
          <a:xfrm>
            <a:off x="1837457" y="3819171"/>
            <a:ext cx="9139865" cy="1354730"/>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真实值是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正例</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的样本中，被分类为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正例</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的样本数量有多少，叫做</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真正例（</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TP</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True Positive</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真实值是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正例</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的样本中，被分类为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假例 </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的样本数量有多少，叫做</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伪反例（</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FN</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False Negative</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真实值是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假例</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的样本中，被分类为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正例</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的样本数量有多少，叫做</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伪正例（</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FP</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False Positive</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真实值是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假例 </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的样本中，被分类为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假例</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的样本数量有多少，叫做</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真反例（</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TN</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True Negative</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7437120" y="1831975"/>
            <a:ext cx="2938780" cy="1644650"/>
          </a:xfrm>
          <a:prstGeom prst="rect">
            <a:avLst/>
          </a:prstGeom>
        </p:spPr>
      </p:pic>
      <p:sp>
        <p:nvSpPr>
          <p:cNvPr id="8" name="文本占位符 2"/>
          <p:cNvSpPr txBox="1"/>
          <p:nvPr/>
        </p:nvSpPr>
        <p:spPr>
          <a:xfrm>
            <a:off x="1221659" y="3324109"/>
            <a:ext cx="404843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混淆矩阵四个指标</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2"/>
          <a:stretch>
            <a:fillRect/>
          </a:stretch>
        </p:blipFill>
        <p:spPr>
          <a:xfrm>
            <a:off x="1378585" y="2085975"/>
            <a:ext cx="5503545" cy="114173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混淆矩阵</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17824" y="1357202"/>
            <a:ext cx="404843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混淆矩阵</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举个栗子</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1" name="文本框 10"/>
          <p:cNvSpPr txBox="1"/>
          <p:nvPr/>
        </p:nvSpPr>
        <p:spPr>
          <a:xfrm>
            <a:off x="1290320" y="1782445"/>
            <a:ext cx="7985125" cy="414020"/>
          </a:xfrm>
          <a:prstGeom prst="rect">
            <a:avLst/>
          </a:prstGeom>
          <a:noFill/>
        </p:spPr>
        <p:txBody>
          <a:bodyPr wrap="square">
            <a:spAutoFit/>
          </a:bodyPr>
          <a:lstStyle/>
          <a:p>
            <a:pPr>
              <a:lnSpc>
                <a:spcPct val="150000"/>
              </a:lnSpc>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已知：样本集</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10</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样本</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，有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6 </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个恶性肿瘤样本，</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4 </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个良性肿瘤样本，我们假设</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恶性肿瘤为正例</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9" name="文本框 8"/>
          <p:cNvSpPr txBox="1"/>
          <p:nvPr/>
        </p:nvSpPr>
        <p:spPr>
          <a:xfrm>
            <a:off x="1529558" y="5250166"/>
            <a:ext cx="3432632" cy="385234"/>
          </a:xfrm>
          <a:prstGeom prst="rect">
            <a:avLst/>
          </a:prstGeom>
          <a:noFill/>
        </p:spPr>
        <p:txBody>
          <a:bodyPr wrap="square">
            <a:spAutoFit/>
          </a:bodyPr>
          <a:lstStyle/>
          <a:p>
            <a:pPr>
              <a:lnSpc>
                <a:spcPct val="150000"/>
              </a:lnSpc>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注意：</a:t>
            </a:r>
            <a:r>
              <a:rPr lang="en-GB" altLang="zh-CN" sz="1400" dirty="0">
                <a:solidFill>
                  <a:prstClr val="black">
                    <a:lumMod val="85000"/>
                    <a:lumOff val="15000"/>
                  </a:prstClr>
                </a:solidFill>
                <a:latin typeface="Alibaba PuHuiTi" pitchFamily="18" charset="-122"/>
                <a:ea typeface="Alibaba PuHuiTi" pitchFamily="18" charset="-122"/>
                <a:cs typeface="Alibaba PuHuiTi" pitchFamily="18" charset="-122"/>
              </a:rPr>
              <a:t>TP+FN+FP+TN = </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总样本数量</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2" name="文本框 1"/>
          <p:cNvSpPr txBox="1"/>
          <p:nvPr/>
        </p:nvSpPr>
        <p:spPr>
          <a:xfrm>
            <a:off x="1290320" y="2413000"/>
            <a:ext cx="4834890" cy="737235"/>
          </a:xfrm>
          <a:prstGeom prst="rect">
            <a:avLst/>
          </a:prstGeom>
          <a:noFill/>
        </p:spPr>
        <p:txBody>
          <a:bodyPr wrap="square">
            <a:spAutoFit/>
          </a:bodyPr>
          <a:lstStyle/>
          <a:p>
            <a:pPr>
              <a:lnSpc>
                <a:spcPct val="150000"/>
              </a:lnSpc>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模型</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A</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：预测对了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3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个恶性肿瘤</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样本</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4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个良性肿瘤</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样本</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a:lnSpc>
                <a:spcPct val="150000"/>
              </a:lnSpc>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请计算：</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FN</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TN</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7" name="文本框 6"/>
          <p:cNvSpPr txBox="1"/>
          <p:nvPr/>
        </p:nvSpPr>
        <p:spPr>
          <a:xfrm>
            <a:off x="6520657" y="2412764"/>
            <a:ext cx="4805515" cy="708399"/>
          </a:xfrm>
          <a:prstGeom prst="rect">
            <a:avLst/>
          </a:prstGeom>
          <a:noFill/>
        </p:spPr>
        <p:txBody>
          <a:bodyPr wrap="square">
            <a:spAutoFit/>
          </a:bodyPr>
          <a:lstStyle/>
          <a:p>
            <a:pPr>
              <a:lnSpc>
                <a:spcPct val="150000"/>
              </a:lnSpc>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模型</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B</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400" b="0" i="0" u="none" strike="noStrike" dirty="0">
                <a:solidFill>
                  <a:srgbClr val="333333"/>
                </a:solidFill>
                <a:effectLst/>
                <a:latin typeface="Open Sans" panose="020B0606030504020204" pitchFamily="34" charset="0"/>
              </a:rPr>
              <a:t>预测对</a:t>
            </a:r>
            <a:r>
              <a:rPr lang="zh-CN" altLang="en-US" sz="1400" b="0" i="0" u="none" strike="noStrike" dirty="0">
                <a:solidFill>
                  <a:schemeClr val="accent2">
                    <a:lumMod val="75000"/>
                  </a:schemeClr>
                </a:solidFill>
                <a:effectLst/>
                <a:latin typeface="Open Sans" panose="020B0606030504020204" pitchFamily="34" charset="0"/>
              </a:rPr>
              <a:t>了 </a:t>
            </a:r>
            <a:r>
              <a:rPr lang="en-US" altLang="zh-CN" sz="1400" b="0" i="0" u="none" strike="noStrike" dirty="0">
                <a:solidFill>
                  <a:schemeClr val="accent2">
                    <a:lumMod val="75000"/>
                  </a:schemeClr>
                </a:solidFill>
                <a:effectLst/>
                <a:latin typeface="Open Sans" panose="020B0606030504020204" pitchFamily="34" charset="0"/>
              </a:rPr>
              <a:t>6 </a:t>
            </a:r>
            <a:r>
              <a:rPr lang="zh-CN" altLang="en-US" sz="1400" b="0" i="0" u="none" strike="noStrike" dirty="0">
                <a:solidFill>
                  <a:schemeClr val="accent2">
                    <a:lumMod val="75000"/>
                  </a:schemeClr>
                </a:solidFill>
                <a:effectLst/>
                <a:latin typeface="Open Sans" panose="020B0606030504020204" pitchFamily="34" charset="0"/>
              </a:rPr>
              <a:t>个恶性肿瘤</a:t>
            </a:r>
            <a:r>
              <a:rPr lang="zh-CN" altLang="en-US" sz="1400" b="0" i="0" u="none" strike="noStrike" dirty="0">
                <a:solidFill>
                  <a:schemeClr val="tx1">
                    <a:lumMod val="85000"/>
                    <a:lumOff val="15000"/>
                  </a:schemeClr>
                </a:solidFill>
                <a:effectLst/>
                <a:latin typeface="Open Sans" panose="020B0606030504020204" pitchFamily="34" charset="0"/>
              </a:rPr>
              <a:t>样本</a:t>
            </a:r>
            <a:r>
              <a:rPr lang="zh-CN" altLang="en-US" sz="1400" b="0" i="0" u="none" strike="noStrike" dirty="0">
                <a:solidFill>
                  <a:srgbClr val="333333"/>
                </a:solidFill>
                <a:effectLst/>
                <a:latin typeface="Open Sans" panose="020B0606030504020204" pitchFamily="34" charset="0"/>
              </a:rPr>
              <a:t>，</a:t>
            </a:r>
            <a:r>
              <a:rPr lang="en-US" altLang="zh-CN" sz="1400" b="0" i="0" u="none" strike="noStrike" dirty="0">
                <a:solidFill>
                  <a:schemeClr val="accent2">
                    <a:lumMod val="75000"/>
                  </a:schemeClr>
                </a:solidFill>
                <a:effectLst/>
                <a:latin typeface="Open Sans" panose="020B0606030504020204" pitchFamily="34" charset="0"/>
              </a:rPr>
              <a:t>1</a:t>
            </a:r>
            <a:r>
              <a:rPr lang="zh-CN" altLang="en-US" sz="1400" b="0" i="0" u="none" strike="noStrike" dirty="0">
                <a:solidFill>
                  <a:schemeClr val="accent2">
                    <a:lumMod val="75000"/>
                  </a:schemeClr>
                </a:solidFill>
                <a:effectLst/>
                <a:latin typeface="Open Sans" panose="020B0606030504020204" pitchFamily="34" charset="0"/>
              </a:rPr>
              <a:t>个良性肿瘤</a:t>
            </a:r>
            <a:r>
              <a:rPr lang="zh-CN" altLang="en-US" sz="1400" b="0" i="0" u="none" strike="noStrike" dirty="0">
                <a:solidFill>
                  <a:srgbClr val="333333"/>
                </a:solidFill>
                <a:effectLst/>
                <a:latin typeface="Open Sans" panose="020B0606030504020204" pitchFamily="34" charset="0"/>
              </a:rPr>
              <a:t>样本</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a:lnSpc>
                <a:spcPct val="150000"/>
              </a:lnSpc>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请计算：</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FN</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TN</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2" name="文本框 11"/>
          <p:cNvSpPr txBox="1"/>
          <p:nvPr/>
        </p:nvSpPr>
        <p:spPr>
          <a:xfrm>
            <a:off x="2244213" y="3372748"/>
            <a:ext cx="2288457" cy="1347357"/>
          </a:xfrm>
          <a:prstGeom prst="rect">
            <a:avLst/>
          </a:prstGeom>
          <a:noFill/>
        </p:spPr>
        <p:txBody>
          <a:bodyPr wrap="square">
            <a:spAutoFit/>
          </a:bodyPr>
          <a:lstStyle/>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真正例 </a:t>
            </a:r>
            <a:r>
              <a:rPr lang="en-GB" altLang="zh-CN" sz="1400" b="0" i="0" u="none" strike="noStrike" dirty="0">
                <a:solidFill>
                  <a:srgbClr val="333333"/>
                </a:solidFill>
                <a:effectLst/>
                <a:latin typeface="Open Sans" panose="020B0606030504020204" pitchFamily="34" charset="0"/>
              </a:rPr>
              <a:t>TP </a:t>
            </a:r>
            <a:r>
              <a:rPr lang="zh-CN" altLang="en-US" sz="1400" b="0" i="0" u="none" strike="noStrike" dirty="0">
                <a:solidFill>
                  <a:srgbClr val="333333"/>
                </a:solidFill>
                <a:effectLst/>
                <a:latin typeface="Open Sans" panose="020B0606030504020204" pitchFamily="34" charset="0"/>
              </a:rPr>
              <a:t>为：</a:t>
            </a:r>
            <a:r>
              <a:rPr lang="en-US" altLang="zh-CN" sz="1400" b="0" i="0" u="none" strike="noStrike" dirty="0">
                <a:solidFill>
                  <a:srgbClr val="333333"/>
                </a:solidFill>
                <a:effectLst/>
                <a:latin typeface="Open Sans" panose="020B0606030504020204" pitchFamily="34" charset="0"/>
              </a:rPr>
              <a:t>3 </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伪反例 </a:t>
            </a:r>
            <a:r>
              <a:rPr lang="en-GB" altLang="zh-CN" sz="1400" b="0" i="0" u="none" strike="noStrike" dirty="0">
                <a:solidFill>
                  <a:srgbClr val="333333"/>
                </a:solidFill>
                <a:effectLst/>
                <a:latin typeface="Open Sans" panose="020B0606030504020204" pitchFamily="34" charset="0"/>
              </a:rPr>
              <a:t>FN </a:t>
            </a:r>
            <a:r>
              <a:rPr lang="zh-CN" altLang="en-US" sz="1400" b="0" i="0" u="none" strike="noStrike" dirty="0">
                <a:solidFill>
                  <a:srgbClr val="333333"/>
                </a:solidFill>
                <a:effectLst/>
                <a:latin typeface="Open Sans" panose="020B0606030504020204" pitchFamily="34" charset="0"/>
              </a:rPr>
              <a:t>为：</a:t>
            </a:r>
            <a:r>
              <a:rPr lang="en-US" altLang="zh-CN" sz="1400" b="0" i="0" u="none" strike="noStrike" dirty="0">
                <a:solidFill>
                  <a:srgbClr val="333333"/>
                </a:solidFill>
                <a:effectLst/>
                <a:latin typeface="Open Sans" panose="020B0606030504020204" pitchFamily="34" charset="0"/>
              </a:rPr>
              <a:t>3</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伪正例 </a:t>
            </a:r>
            <a:r>
              <a:rPr lang="en-GB" altLang="zh-CN" sz="1400" b="0" i="0" u="none" strike="noStrike" dirty="0">
                <a:solidFill>
                  <a:srgbClr val="333333"/>
                </a:solidFill>
                <a:effectLst/>
                <a:latin typeface="Open Sans" panose="020B0606030504020204" pitchFamily="34" charset="0"/>
              </a:rPr>
              <a:t>FP </a:t>
            </a:r>
            <a:r>
              <a:rPr lang="zh-CN" altLang="en-US" sz="1400" b="0" i="0" u="none" strike="noStrike" dirty="0">
                <a:solidFill>
                  <a:srgbClr val="333333"/>
                </a:solidFill>
                <a:effectLst/>
                <a:latin typeface="Open Sans" panose="020B0606030504020204" pitchFamily="34" charset="0"/>
              </a:rPr>
              <a:t>为：</a:t>
            </a:r>
            <a:r>
              <a:rPr lang="en-US" altLang="zh-CN" sz="1400" b="0" i="0" u="none" strike="noStrike" dirty="0">
                <a:solidFill>
                  <a:srgbClr val="333333"/>
                </a:solidFill>
                <a:effectLst/>
                <a:latin typeface="Open Sans" panose="020B0606030504020204" pitchFamily="34" charset="0"/>
              </a:rPr>
              <a:t>0</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真反例 </a:t>
            </a:r>
            <a:r>
              <a:rPr lang="en-GB" altLang="zh-CN" sz="1400" b="0" i="0" u="none" strike="noStrike" dirty="0">
                <a:solidFill>
                  <a:srgbClr val="333333"/>
                </a:solidFill>
                <a:effectLst/>
                <a:latin typeface="Open Sans" panose="020B0606030504020204" pitchFamily="34" charset="0"/>
              </a:rPr>
              <a:t>TN</a:t>
            </a:r>
            <a:r>
              <a:rPr lang="zh-CN" altLang="en-GB" sz="1400" b="0" i="0" u="none" strike="noStrike" dirty="0">
                <a:solidFill>
                  <a:srgbClr val="333333"/>
                </a:solidFill>
                <a:effectLst/>
                <a:latin typeface="Open Sans" panose="020B0606030504020204" pitchFamily="34" charset="0"/>
              </a:rPr>
              <a:t>：</a:t>
            </a:r>
            <a:r>
              <a:rPr lang="en-GB" altLang="zh-CN" sz="1400" b="0" i="0" u="none" strike="noStrike" dirty="0">
                <a:solidFill>
                  <a:srgbClr val="333333"/>
                </a:solidFill>
                <a:effectLst/>
                <a:latin typeface="Open Sans" panose="020B0606030504020204" pitchFamily="34" charset="0"/>
              </a:rPr>
              <a:t>4</a:t>
            </a:r>
            <a:endParaRPr lang="en-GB" altLang="zh-CN" sz="1400" b="0" i="0" u="none" strike="noStrike" dirty="0">
              <a:solidFill>
                <a:srgbClr val="333333"/>
              </a:solidFill>
              <a:effectLst/>
              <a:latin typeface="Open Sans" panose="020B0606030504020204" pitchFamily="34" charset="0"/>
            </a:endParaRPr>
          </a:p>
        </p:txBody>
      </p:sp>
      <p:sp>
        <p:nvSpPr>
          <p:cNvPr id="13" name="文本框 12"/>
          <p:cNvSpPr txBox="1"/>
          <p:nvPr/>
        </p:nvSpPr>
        <p:spPr>
          <a:xfrm>
            <a:off x="6758341" y="3387731"/>
            <a:ext cx="2288457" cy="1347357"/>
          </a:xfrm>
          <a:prstGeom prst="rect">
            <a:avLst/>
          </a:prstGeom>
          <a:noFill/>
        </p:spPr>
        <p:txBody>
          <a:bodyPr wrap="square">
            <a:spAutoFit/>
          </a:bodyPr>
          <a:lstStyle/>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真正例 </a:t>
            </a:r>
            <a:r>
              <a:rPr lang="en-GB" altLang="zh-CN" sz="1400" b="0" i="0" u="none" strike="noStrike" dirty="0">
                <a:solidFill>
                  <a:srgbClr val="333333"/>
                </a:solidFill>
                <a:effectLst/>
                <a:latin typeface="Open Sans" panose="020B0606030504020204" pitchFamily="34" charset="0"/>
              </a:rPr>
              <a:t>TP </a:t>
            </a:r>
            <a:r>
              <a:rPr lang="zh-CN" altLang="en-US" sz="1400" b="0" i="0" u="none" strike="noStrike" dirty="0">
                <a:solidFill>
                  <a:srgbClr val="333333"/>
                </a:solidFill>
                <a:effectLst/>
                <a:latin typeface="Open Sans" panose="020B0606030504020204" pitchFamily="34" charset="0"/>
              </a:rPr>
              <a:t>为：</a:t>
            </a:r>
            <a:r>
              <a:rPr lang="en-US" altLang="zh-CN" sz="1400" b="0" i="0" u="none" strike="noStrike" dirty="0">
                <a:solidFill>
                  <a:srgbClr val="333333"/>
                </a:solidFill>
                <a:effectLst/>
                <a:latin typeface="Open Sans" panose="020B0606030504020204" pitchFamily="34" charset="0"/>
              </a:rPr>
              <a:t>6</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伪反例 </a:t>
            </a:r>
            <a:r>
              <a:rPr lang="en-GB" altLang="zh-CN" sz="1400" b="0" i="0" u="none" strike="noStrike" dirty="0">
                <a:solidFill>
                  <a:srgbClr val="333333"/>
                </a:solidFill>
                <a:effectLst/>
                <a:latin typeface="Open Sans" panose="020B0606030504020204" pitchFamily="34" charset="0"/>
              </a:rPr>
              <a:t>FN </a:t>
            </a:r>
            <a:r>
              <a:rPr lang="zh-CN" altLang="en-US" sz="1400" b="0" i="0" u="none" strike="noStrike" dirty="0">
                <a:solidFill>
                  <a:srgbClr val="333333"/>
                </a:solidFill>
                <a:effectLst/>
                <a:latin typeface="Open Sans" panose="020B0606030504020204" pitchFamily="34" charset="0"/>
              </a:rPr>
              <a:t>为：</a:t>
            </a:r>
            <a:r>
              <a:rPr lang="en-US" altLang="zh-CN" sz="1400" b="0" i="0" u="none" strike="noStrike" dirty="0">
                <a:solidFill>
                  <a:srgbClr val="333333"/>
                </a:solidFill>
                <a:effectLst/>
                <a:latin typeface="Open Sans" panose="020B0606030504020204" pitchFamily="34" charset="0"/>
              </a:rPr>
              <a:t>0</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伪正例 </a:t>
            </a:r>
            <a:r>
              <a:rPr lang="en-GB" altLang="zh-CN" sz="1400" b="0" i="0" u="none" strike="noStrike" dirty="0">
                <a:solidFill>
                  <a:srgbClr val="333333"/>
                </a:solidFill>
                <a:effectLst/>
                <a:latin typeface="Open Sans" panose="020B0606030504020204" pitchFamily="34" charset="0"/>
              </a:rPr>
              <a:t>FP </a:t>
            </a:r>
            <a:r>
              <a:rPr lang="zh-CN" altLang="en-US" sz="1400" b="0" i="0" u="none" strike="noStrike" dirty="0">
                <a:solidFill>
                  <a:srgbClr val="333333"/>
                </a:solidFill>
                <a:effectLst/>
                <a:latin typeface="Open Sans" panose="020B0606030504020204" pitchFamily="34" charset="0"/>
              </a:rPr>
              <a:t>为：</a:t>
            </a:r>
            <a:r>
              <a:rPr lang="en-US" altLang="zh-CN" sz="1400" b="0" i="0" u="none" strike="noStrike" dirty="0">
                <a:solidFill>
                  <a:srgbClr val="333333"/>
                </a:solidFill>
                <a:effectLst/>
                <a:latin typeface="Open Sans" panose="020B0606030504020204" pitchFamily="34" charset="0"/>
              </a:rPr>
              <a:t>3</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真反例 </a:t>
            </a:r>
            <a:r>
              <a:rPr lang="en-GB" altLang="zh-CN" sz="1400" b="0" i="0" u="none" strike="noStrike" dirty="0">
                <a:solidFill>
                  <a:srgbClr val="333333"/>
                </a:solidFill>
                <a:effectLst/>
                <a:latin typeface="Open Sans" panose="020B0606030504020204" pitchFamily="34" charset="0"/>
              </a:rPr>
              <a:t>TN</a:t>
            </a:r>
            <a:r>
              <a:rPr lang="zh-CN" altLang="en-GB" sz="1400" b="0" i="0" u="none" strike="noStrike" dirty="0">
                <a:solidFill>
                  <a:srgbClr val="333333"/>
                </a:solidFill>
                <a:effectLst/>
                <a:latin typeface="Open Sans" panose="020B0606030504020204" pitchFamily="34" charset="0"/>
              </a:rPr>
              <a:t>：</a:t>
            </a:r>
            <a:r>
              <a:rPr lang="en-GB" altLang="zh-CN" sz="1400" b="0" i="0" u="none" strike="noStrike" dirty="0">
                <a:solidFill>
                  <a:srgbClr val="333333"/>
                </a:solidFill>
                <a:effectLst/>
                <a:latin typeface="Open Sans" panose="020B0606030504020204" pitchFamily="34" charset="0"/>
              </a:rPr>
              <a:t>1</a:t>
            </a:r>
            <a:endParaRPr lang="en-GB" altLang="zh-CN" sz="1400" b="0" i="0" u="none" strike="noStrike" dirty="0">
              <a:solidFill>
                <a:srgbClr val="333333"/>
              </a:solidFill>
              <a:effectLst/>
              <a:latin typeface="Open Sans" panose="020B0606030504020204" pitchFamily="34" charset="0"/>
            </a:endParaRPr>
          </a:p>
        </p:txBody>
      </p:sp>
      <p:cxnSp>
        <p:nvCxnSpPr>
          <p:cNvPr id="14" name="直线连接符 13"/>
          <p:cNvCxnSpPr/>
          <p:nvPr/>
        </p:nvCxnSpPr>
        <p:spPr>
          <a:xfrm flipV="1">
            <a:off x="6125452" y="2570079"/>
            <a:ext cx="0" cy="2150026"/>
          </a:xfrm>
          <a:prstGeom prst="line">
            <a:avLst/>
          </a:prstGeom>
          <a:ln w="34925">
            <a:solidFill>
              <a:srgbClr val="AD2A26"/>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混淆矩阵</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221659" y="1332437"/>
            <a:ext cx="404843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混淆矩阵 </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举个栗子</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TextBox 3"/>
          <p:cNvSpPr txBox="1"/>
          <p:nvPr/>
        </p:nvSpPr>
        <p:spPr>
          <a:xfrm>
            <a:off x="2177154" y="1849627"/>
            <a:ext cx="7289295" cy="4339650"/>
          </a:xfrm>
          <a:prstGeom prst="rect">
            <a:avLst/>
          </a:prstGeom>
          <a:solidFill>
            <a:srgbClr val="FFFFE4"/>
          </a:solidFill>
          <a:ln w="3175">
            <a:solidFill>
              <a:srgbClr val="919191"/>
            </a:solidFill>
          </a:ln>
        </p:spPr>
        <p:txBody>
          <a:bodyPr wrap="square">
            <a:spAutoFit/>
          </a:bodyPr>
          <a:lstStyle/>
          <a:p>
            <a:pPr>
              <a:defRPr/>
            </a:pPr>
            <a:r>
              <a:rPr lang="en-GB" altLang="zh-CN" sz="1200" dirty="0">
                <a:solidFill>
                  <a:srgbClr val="0033B3"/>
                </a:solidFill>
              </a:rPr>
              <a:t>from </a:t>
            </a:r>
            <a:r>
              <a:rPr lang="en-GB" altLang="zh-CN" sz="1200" dirty="0" err="1">
                <a:solidFill>
                  <a:srgbClr val="0033B3"/>
                </a:solidFill>
              </a:rPr>
              <a:t>sklearn.metrics</a:t>
            </a:r>
            <a:r>
              <a:rPr lang="en-GB" altLang="zh-CN" sz="1200" dirty="0">
                <a:solidFill>
                  <a:srgbClr val="0033B3"/>
                </a:solidFill>
              </a:rPr>
              <a:t> import </a:t>
            </a:r>
            <a:r>
              <a:rPr lang="en-GB" altLang="zh-CN" sz="1200" dirty="0" err="1">
                <a:solidFill>
                  <a:srgbClr val="0033B3"/>
                </a:solidFill>
              </a:rPr>
              <a:t>confusion_matrix</a:t>
            </a:r>
            <a:br>
              <a:rPr lang="en-GB" altLang="zh-CN" sz="1200" dirty="0">
                <a:solidFill>
                  <a:srgbClr val="0033B3"/>
                </a:solidFill>
              </a:rPr>
            </a:br>
            <a:r>
              <a:rPr lang="en-GB" altLang="zh-CN" sz="1200" dirty="0">
                <a:solidFill>
                  <a:srgbClr val="0033B3"/>
                </a:solidFill>
              </a:rPr>
              <a:t>import pandas as pd</a:t>
            </a:r>
            <a:r>
              <a:rPr lang="zh-CN" altLang="en-US" sz="1200" dirty="0">
                <a:solidFill>
                  <a:srgbClr val="0033B3"/>
                </a:solidFill>
              </a:rPr>
              <a:t> </a:t>
            </a:r>
            <a:endParaRPr lang="en-GB" altLang="zh-CN" sz="1200" dirty="0">
              <a:solidFill>
                <a:srgbClr val="0033B3"/>
              </a:solidFill>
            </a:endParaRPr>
          </a:p>
          <a:p>
            <a:pPr>
              <a:defRPr/>
            </a:pPr>
            <a:r>
              <a:rPr lang="en-GB" altLang="zh-CN" sz="1200" dirty="0">
                <a:solidFill>
                  <a:srgbClr val="0033B3"/>
                </a:solidFill>
                <a:effectLst/>
              </a:rPr>
              <a:t>def </a:t>
            </a:r>
            <a:r>
              <a:rPr lang="en-GB" altLang="zh-CN" sz="1200" dirty="0">
                <a:solidFill>
                  <a:srgbClr val="00627A"/>
                </a:solidFill>
                <a:effectLst/>
              </a:rPr>
              <a:t>dm01_</a:t>
            </a:r>
            <a:r>
              <a:rPr lang="zh-CN" altLang="en-US" sz="1200" dirty="0">
                <a:solidFill>
                  <a:srgbClr val="00627A"/>
                </a:solidFill>
                <a:effectLst/>
              </a:rPr>
              <a:t>混淆矩阵四个指标</a:t>
            </a:r>
            <a:r>
              <a:rPr lang="en-US" altLang="zh-CN" sz="1200" dirty="0"/>
              <a:t>():</a:t>
            </a:r>
            <a:br>
              <a:rPr lang="en-US" altLang="zh-CN" sz="1200" dirty="0"/>
            </a:br>
            <a:r>
              <a:rPr lang="en-US" altLang="zh-CN" sz="1200" dirty="0"/>
              <a:t>    </a:t>
            </a:r>
            <a:r>
              <a:rPr lang="en-US" altLang="zh-CN" sz="1200" i="1" dirty="0">
                <a:solidFill>
                  <a:srgbClr val="8C8C8C"/>
                </a:solidFill>
                <a:effectLst/>
              </a:rPr>
              <a:t># </a:t>
            </a:r>
            <a:r>
              <a:rPr lang="zh-CN" altLang="en-US" sz="1200" i="1" dirty="0">
                <a:solidFill>
                  <a:srgbClr val="8C8C8C"/>
                </a:solidFill>
                <a:effectLst/>
              </a:rPr>
              <a:t>样本集中共有</a:t>
            </a:r>
            <a:r>
              <a:rPr lang="en-US" altLang="zh-CN" sz="1200" i="1" dirty="0">
                <a:solidFill>
                  <a:srgbClr val="8C8C8C"/>
                </a:solidFill>
                <a:effectLst/>
              </a:rPr>
              <a:t>6</a:t>
            </a:r>
            <a:r>
              <a:rPr lang="zh-CN" altLang="en-US" sz="1200" i="1" dirty="0">
                <a:solidFill>
                  <a:srgbClr val="8C8C8C"/>
                </a:solidFill>
                <a:effectLst/>
              </a:rPr>
              <a:t>个恶性肿瘤样本</a:t>
            </a:r>
            <a:r>
              <a:rPr lang="en-US" altLang="zh-CN" sz="1200" i="1" dirty="0">
                <a:solidFill>
                  <a:srgbClr val="8C8C8C"/>
                </a:solidFill>
                <a:effectLst/>
              </a:rPr>
              <a:t>, 4</a:t>
            </a:r>
            <a:r>
              <a:rPr lang="zh-CN" altLang="en-US" sz="1200" i="1" dirty="0">
                <a:solidFill>
                  <a:srgbClr val="8C8C8C"/>
                </a:solidFill>
                <a:effectLst/>
              </a:rPr>
              <a:t>个良性肿瘤样本</a:t>
            </a:r>
            <a:br>
              <a:rPr lang="zh-CN" altLang="en-US" sz="1200" i="1" dirty="0">
                <a:solidFill>
                  <a:srgbClr val="8C8C8C"/>
                </a:solidFill>
                <a:effectLst/>
              </a:rPr>
            </a:br>
            <a:r>
              <a:rPr lang="zh-CN" altLang="en-US" sz="1200" i="1" dirty="0">
                <a:solidFill>
                  <a:srgbClr val="8C8C8C"/>
                </a:solidFill>
                <a:effectLst/>
              </a:rPr>
              <a:t>    </a:t>
            </a:r>
            <a:r>
              <a:rPr lang="en-GB" altLang="zh-CN" sz="1200" dirty="0" err="1"/>
              <a:t>y_true</a:t>
            </a:r>
            <a:r>
              <a:rPr lang="en-GB" altLang="zh-CN" sz="1200" dirty="0"/>
              <a:t> =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br>
              <a:rPr lang="en-US" altLang="zh-CN" sz="1200" dirty="0"/>
            </a:br>
            <a:r>
              <a:rPr lang="en-US" altLang="zh-CN" sz="1200" dirty="0"/>
              <a:t>    </a:t>
            </a:r>
            <a:r>
              <a:rPr lang="en-GB" altLang="zh-CN" sz="1200" dirty="0"/>
              <a:t>labels =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r>
              <a:rPr lang="en-US" altLang="zh-CN" sz="1200" dirty="0"/>
              <a:t>    </a:t>
            </a:r>
            <a:r>
              <a:rPr lang="en-GB" altLang="zh-CN" sz="1200" dirty="0" err="1"/>
              <a:t>dataframe_labels</a:t>
            </a:r>
            <a:r>
              <a:rPr lang="en-GB" altLang="zh-CN" sz="1200" dirty="0"/>
              <a:t> =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zh-CN" altLang="en-US" sz="1200" dirty="0">
                <a:solidFill>
                  <a:srgbClr val="067D17"/>
                </a:solidFill>
                <a:effectLst/>
              </a:rPr>
              <a:t>正例</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zh-CN" altLang="en-US" sz="1200" dirty="0">
                <a:solidFill>
                  <a:srgbClr val="067D17"/>
                </a:solidFill>
                <a:effectLst/>
              </a:rPr>
              <a:t>反例</a:t>
            </a:r>
            <a:r>
              <a:rPr lang="en-US" altLang="zh-CN" sz="1200" dirty="0">
                <a:solidFill>
                  <a:srgbClr val="067D17"/>
                </a:solidFill>
                <a:effectLst/>
              </a:rPr>
              <a:t>)”</a:t>
            </a:r>
            <a:r>
              <a:rPr lang="en-US" altLang="zh-CN" sz="1200" dirty="0"/>
              <a:t>]</a:t>
            </a:r>
            <a:br>
              <a:rPr lang="en-US" altLang="zh-CN" sz="1200" dirty="0"/>
            </a:br>
            <a:br>
              <a:rPr lang="en-US" altLang="zh-CN" sz="1200" dirty="0"/>
            </a:br>
            <a:r>
              <a:rPr lang="en-US" altLang="zh-CN" sz="1200" dirty="0"/>
              <a:t>    </a:t>
            </a:r>
            <a:r>
              <a:rPr lang="en-US" altLang="zh-CN" sz="1200" i="1" dirty="0">
                <a:solidFill>
                  <a:srgbClr val="8C8C8C"/>
                </a:solidFill>
                <a:effectLst/>
              </a:rPr>
              <a:t># 1. </a:t>
            </a:r>
            <a:r>
              <a:rPr lang="zh-CN" altLang="en-US" sz="1200" i="1" dirty="0">
                <a:solidFill>
                  <a:srgbClr val="8C8C8C"/>
                </a:solidFill>
                <a:effectLst/>
              </a:rPr>
              <a:t>模型 </a:t>
            </a:r>
            <a:r>
              <a:rPr lang="en-GB" altLang="zh-CN" sz="1200" i="1" dirty="0">
                <a:solidFill>
                  <a:srgbClr val="8C8C8C"/>
                </a:solidFill>
                <a:effectLst/>
              </a:rPr>
              <a:t>A: </a:t>
            </a:r>
            <a:r>
              <a:rPr lang="zh-CN" altLang="en-US" sz="1200" i="1" dirty="0">
                <a:solidFill>
                  <a:srgbClr val="8C8C8C"/>
                </a:solidFill>
                <a:effectLst/>
              </a:rPr>
              <a:t>预测对了</a:t>
            </a:r>
            <a:r>
              <a:rPr lang="en-US" altLang="zh-CN" sz="1200" i="1" dirty="0">
                <a:solidFill>
                  <a:srgbClr val="8C8C8C"/>
                </a:solidFill>
                <a:effectLst/>
              </a:rPr>
              <a:t>3</a:t>
            </a:r>
            <a:r>
              <a:rPr lang="zh-CN" altLang="en-US" sz="1200" i="1" dirty="0">
                <a:solidFill>
                  <a:srgbClr val="8C8C8C"/>
                </a:solidFill>
                <a:effectLst/>
              </a:rPr>
              <a:t>个恶性肿瘤样本</a:t>
            </a:r>
            <a:r>
              <a:rPr lang="en-US" altLang="zh-CN" sz="1200" i="1" dirty="0">
                <a:solidFill>
                  <a:srgbClr val="8C8C8C"/>
                </a:solidFill>
                <a:effectLst/>
              </a:rPr>
              <a:t>, 4</a:t>
            </a:r>
            <a:r>
              <a:rPr lang="zh-CN" altLang="en-US" sz="1200" i="1" dirty="0">
                <a:solidFill>
                  <a:srgbClr val="8C8C8C"/>
                </a:solidFill>
                <a:effectLst/>
              </a:rPr>
              <a:t>个良性肿瘤样本</a:t>
            </a:r>
            <a:br>
              <a:rPr lang="zh-CN" altLang="en-US" sz="1200" i="1" dirty="0">
                <a:solidFill>
                  <a:srgbClr val="8C8C8C"/>
                </a:solidFill>
                <a:effectLst/>
              </a:rPr>
            </a:br>
            <a:r>
              <a:rPr lang="zh-CN" altLang="en-US" sz="1200" i="1" dirty="0">
                <a:solidFill>
                  <a:srgbClr val="8C8C8C"/>
                </a:solidFill>
                <a:effectLst/>
              </a:rPr>
              <a:t>    </a:t>
            </a:r>
            <a:r>
              <a:rPr lang="en-GB" altLang="zh-CN" sz="1200" dirty="0">
                <a:solidFill>
                  <a:srgbClr val="000080"/>
                </a:solidFill>
                <a:effectLst/>
              </a:rPr>
              <a:t>print</a:t>
            </a:r>
            <a:r>
              <a:rPr lang="en-GB" altLang="zh-CN" sz="1200" dirty="0"/>
              <a:t>(</a:t>
            </a:r>
            <a:r>
              <a:rPr lang="en-GB" altLang="zh-CN" sz="1200" dirty="0">
                <a:solidFill>
                  <a:srgbClr val="067D17"/>
                </a:solidFill>
                <a:effectLst/>
              </a:rPr>
              <a:t>“</a:t>
            </a:r>
            <a:r>
              <a:rPr lang="zh-CN" altLang="en-US" sz="1200" dirty="0">
                <a:solidFill>
                  <a:srgbClr val="067D17"/>
                </a:solidFill>
                <a:effectLst/>
              </a:rPr>
              <a:t>模型</a:t>
            </a:r>
            <a:r>
              <a:rPr lang="en-GB" altLang="zh-CN" sz="1200" dirty="0">
                <a:solidFill>
                  <a:srgbClr val="067D17"/>
                </a:solidFill>
                <a:effectLst/>
              </a:rPr>
              <a:t>A:”</a:t>
            </a:r>
            <a:r>
              <a:rPr lang="en-GB" altLang="zh-CN" sz="1200" dirty="0"/>
              <a:t>)</a:t>
            </a:r>
            <a:br>
              <a:rPr lang="en-GB" altLang="zh-CN" sz="1200" dirty="0"/>
            </a:br>
            <a:r>
              <a:rPr lang="en-GB"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 </a:t>
            </a:r>
            <a:r>
              <a:rPr lang="en-GB" altLang="zh-CN" sz="1200" dirty="0"/>
              <a:t>* </a:t>
            </a:r>
            <a:r>
              <a:rPr lang="en-GB" altLang="zh-CN" sz="1200" dirty="0">
                <a:solidFill>
                  <a:srgbClr val="1750EB"/>
                </a:solidFill>
                <a:effectLst/>
              </a:rPr>
              <a:t>13</a:t>
            </a:r>
            <a:r>
              <a:rPr lang="en-GB" altLang="zh-CN" sz="1200" dirty="0"/>
              <a:t>)</a:t>
            </a:r>
            <a:br>
              <a:rPr lang="en-GB" altLang="zh-CN" sz="1200" dirty="0"/>
            </a:br>
            <a:r>
              <a:rPr lang="en-GB" altLang="zh-CN" sz="1200" dirty="0"/>
              <a:t>    </a:t>
            </a:r>
            <a:r>
              <a:rPr lang="en-GB" altLang="zh-CN" sz="1200" dirty="0" err="1"/>
              <a:t>y_pred</a:t>
            </a:r>
            <a:r>
              <a:rPr lang="en-US" altLang="zh-CN" sz="1200" dirty="0"/>
              <a:t>1</a:t>
            </a:r>
            <a:r>
              <a:rPr lang="en-GB" altLang="zh-CN" sz="1200" dirty="0"/>
              <a:t>=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r>
              <a:rPr lang="en-US" altLang="zh-CN" sz="1200" dirty="0"/>
              <a:t>    </a:t>
            </a:r>
            <a:r>
              <a:rPr lang="en-GB" altLang="zh-CN" sz="1200" dirty="0"/>
              <a:t>result = </a:t>
            </a:r>
            <a:r>
              <a:rPr lang="en-GB" altLang="zh-CN" sz="1200" dirty="0" err="1"/>
              <a:t>confusion_matrix</a:t>
            </a:r>
            <a:r>
              <a:rPr lang="en-GB" altLang="zh-CN" sz="1200" dirty="0"/>
              <a:t>(</a:t>
            </a:r>
            <a:r>
              <a:rPr lang="en-GB" altLang="zh-CN" sz="1200" dirty="0" err="1"/>
              <a:t>y_true</a:t>
            </a:r>
            <a:r>
              <a:rPr lang="en-GB" altLang="zh-CN" sz="1200" dirty="0"/>
              <a:t>, </a:t>
            </a:r>
            <a:r>
              <a:rPr lang="en-GB" altLang="zh-CN" sz="1200" dirty="0" err="1"/>
              <a:t>y_pred</a:t>
            </a:r>
            <a:r>
              <a:rPr lang="en-GB" altLang="zh-CN" sz="1200" dirty="0"/>
              <a:t>,</a:t>
            </a:r>
            <a:r>
              <a:rPr lang="en-US" altLang="zh-CN" sz="1200" dirty="0"/>
              <a:t>1</a:t>
            </a:r>
            <a:r>
              <a:rPr lang="en-GB" altLang="zh-CN" sz="1200" dirty="0"/>
              <a:t> </a:t>
            </a:r>
            <a:r>
              <a:rPr lang="en-GB" altLang="zh-CN" sz="1200" dirty="0">
                <a:solidFill>
                  <a:srgbClr val="660099"/>
                </a:solidFill>
                <a:effectLst/>
              </a:rPr>
              <a:t>labels</a:t>
            </a:r>
            <a:r>
              <a:rPr lang="en-GB" altLang="zh-CN" sz="1200" dirty="0"/>
              <a:t>=labels)</a:t>
            </a:r>
            <a:br>
              <a:rPr lang="en-GB" altLang="zh-CN" sz="1200" dirty="0"/>
            </a:br>
            <a:r>
              <a:rPr lang="en-GB" altLang="zh-CN" sz="1200" dirty="0"/>
              <a:t>    </a:t>
            </a:r>
            <a:r>
              <a:rPr lang="en-GB" altLang="zh-CN" sz="1200" dirty="0">
                <a:solidFill>
                  <a:srgbClr val="000080"/>
                </a:solidFill>
                <a:effectLst/>
              </a:rPr>
              <a:t>print</a:t>
            </a:r>
            <a:r>
              <a:rPr lang="en-GB" altLang="zh-CN" sz="1200" dirty="0"/>
              <a:t>(</a:t>
            </a:r>
            <a:r>
              <a:rPr lang="en-GB" altLang="zh-CN" sz="1200" dirty="0" err="1"/>
              <a:t>pd.DataFrame</a:t>
            </a:r>
            <a:r>
              <a:rPr lang="en-GB" altLang="zh-CN" sz="1200" dirty="0"/>
              <a:t>(result, </a:t>
            </a:r>
            <a:r>
              <a:rPr lang="en-GB" altLang="zh-CN" sz="1200" dirty="0">
                <a:solidFill>
                  <a:srgbClr val="660099"/>
                </a:solidFill>
                <a:effectLst/>
              </a:rPr>
              <a:t>columns</a:t>
            </a:r>
            <a:r>
              <a:rPr lang="en-GB" altLang="zh-CN" sz="1200" dirty="0"/>
              <a:t>=</a:t>
            </a:r>
            <a:r>
              <a:rPr lang="en-GB" altLang="zh-CN" sz="1200" dirty="0" err="1"/>
              <a:t>dataframe_labels</a:t>
            </a:r>
            <a:r>
              <a:rPr lang="en-GB" altLang="zh-CN" sz="1200" dirty="0"/>
              <a:t>,  </a:t>
            </a:r>
            <a:r>
              <a:rPr lang="en-GB" altLang="zh-CN" sz="1200" dirty="0">
                <a:solidFill>
                  <a:srgbClr val="660099"/>
                </a:solidFill>
                <a:effectLst/>
              </a:rPr>
              <a:t>index</a:t>
            </a:r>
            <a:r>
              <a:rPr lang="en-GB" altLang="zh-CN" sz="1200" dirty="0"/>
              <a:t>=</a:t>
            </a:r>
            <a:r>
              <a:rPr lang="en-GB" altLang="zh-CN" sz="1200" dirty="0" err="1"/>
              <a:t>dataframe_labels</a:t>
            </a:r>
            <a:r>
              <a:rPr lang="en-GB" altLang="zh-CN" sz="1200" dirty="0"/>
              <a:t>))</a:t>
            </a:r>
            <a:br>
              <a:rPr lang="en-GB" altLang="zh-CN" sz="1200" dirty="0"/>
            </a:br>
            <a:br>
              <a:rPr lang="en-GB" altLang="zh-CN" sz="1200" dirty="0"/>
            </a:br>
            <a:r>
              <a:rPr lang="en-GB" altLang="zh-CN" sz="1200" dirty="0"/>
              <a:t>    </a:t>
            </a:r>
            <a:r>
              <a:rPr lang="en-GB" altLang="zh-CN" sz="1200" i="1" dirty="0">
                <a:solidFill>
                  <a:srgbClr val="8C8C8C"/>
                </a:solidFill>
                <a:effectLst/>
              </a:rPr>
              <a:t># 2. </a:t>
            </a:r>
            <a:r>
              <a:rPr lang="zh-CN" altLang="en-US" sz="1200" i="1" dirty="0">
                <a:solidFill>
                  <a:srgbClr val="8C8C8C"/>
                </a:solidFill>
                <a:effectLst/>
              </a:rPr>
              <a:t>模型 </a:t>
            </a:r>
            <a:r>
              <a:rPr lang="en-GB" altLang="zh-CN" sz="1200" i="1" dirty="0">
                <a:solidFill>
                  <a:srgbClr val="8C8C8C"/>
                </a:solidFill>
                <a:effectLst/>
              </a:rPr>
              <a:t>B: </a:t>
            </a:r>
            <a:r>
              <a:rPr lang="zh-CN" altLang="en-US" sz="1200" i="1" dirty="0">
                <a:solidFill>
                  <a:srgbClr val="8C8C8C"/>
                </a:solidFill>
                <a:effectLst/>
              </a:rPr>
              <a:t>预测对了</a:t>
            </a:r>
            <a:r>
              <a:rPr lang="en-US" altLang="zh-CN" sz="1200" i="1" dirty="0">
                <a:solidFill>
                  <a:srgbClr val="8C8C8C"/>
                </a:solidFill>
                <a:effectLst/>
              </a:rPr>
              <a:t>6</a:t>
            </a:r>
            <a:r>
              <a:rPr lang="zh-CN" altLang="en-US" sz="1200" i="1" dirty="0">
                <a:solidFill>
                  <a:srgbClr val="8C8C8C"/>
                </a:solidFill>
                <a:effectLst/>
              </a:rPr>
              <a:t>个恶性肿瘤样本</a:t>
            </a:r>
            <a:r>
              <a:rPr lang="en-US" altLang="zh-CN" sz="1200" i="1" dirty="0">
                <a:solidFill>
                  <a:srgbClr val="8C8C8C"/>
                </a:solidFill>
                <a:effectLst/>
              </a:rPr>
              <a:t>, 1</a:t>
            </a:r>
            <a:r>
              <a:rPr lang="zh-CN" altLang="en-US" sz="1200" i="1" dirty="0">
                <a:solidFill>
                  <a:srgbClr val="8C8C8C"/>
                </a:solidFill>
                <a:effectLst/>
              </a:rPr>
              <a:t>个良性肿瘤样本</a:t>
            </a:r>
            <a:br>
              <a:rPr lang="zh-CN" altLang="en-US" sz="1200" i="1" dirty="0">
                <a:solidFill>
                  <a:srgbClr val="8C8C8C"/>
                </a:solidFill>
                <a:effectLst/>
              </a:rPr>
            </a:br>
            <a:r>
              <a:rPr lang="zh-CN" altLang="en-US" sz="1200" i="1" dirty="0">
                <a:solidFill>
                  <a:srgbClr val="8C8C8C"/>
                </a:solidFill>
                <a:effectLst/>
              </a:rPr>
              <a:t>    </a:t>
            </a:r>
            <a:r>
              <a:rPr lang="en-GB" altLang="zh-CN" sz="1200" dirty="0">
                <a:solidFill>
                  <a:srgbClr val="000080"/>
                </a:solidFill>
                <a:effectLst/>
              </a:rPr>
              <a:t>print</a:t>
            </a:r>
            <a:r>
              <a:rPr lang="en-GB" altLang="zh-CN" sz="1200" dirty="0"/>
              <a:t>(</a:t>
            </a:r>
            <a:r>
              <a:rPr lang="en-GB" altLang="zh-CN" sz="1200" dirty="0">
                <a:solidFill>
                  <a:srgbClr val="067D17"/>
                </a:solidFill>
                <a:effectLst/>
              </a:rPr>
              <a:t>“</a:t>
            </a:r>
            <a:r>
              <a:rPr lang="zh-CN" altLang="en-US" sz="1200" dirty="0">
                <a:solidFill>
                  <a:srgbClr val="067D17"/>
                </a:solidFill>
                <a:effectLst/>
              </a:rPr>
              <a:t>模型</a:t>
            </a:r>
            <a:r>
              <a:rPr lang="en-GB" altLang="zh-CN" sz="1200" dirty="0">
                <a:solidFill>
                  <a:srgbClr val="067D17"/>
                </a:solidFill>
                <a:effectLst/>
              </a:rPr>
              <a:t>B:”</a:t>
            </a:r>
            <a:r>
              <a:rPr lang="en-GB" altLang="zh-CN" sz="1200" dirty="0"/>
              <a:t>)</a:t>
            </a:r>
            <a:br>
              <a:rPr lang="en-GB" altLang="zh-CN" sz="1200" dirty="0"/>
            </a:br>
            <a:r>
              <a:rPr lang="en-GB"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 </a:t>
            </a:r>
            <a:r>
              <a:rPr lang="en-GB" altLang="zh-CN" sz="1200" dirty="0"/>
              <a:t>* </a:t>
            </a:r>
            <a:r>
              <a:rPr lang="en-GB" altLang="zh-CN" sz="1200" dirty="0">
                <a:solidFill>
                  <a:srgbClr val="1750EB"/>
                </a:solidFill>
                <a:effectLst/>
              </a:rPr>
              <a:t>13</a:t>
            </a:r>
            <a:r>
              <a:rPr lang="en-GB" altLang="zh-CN" sz="1200" dirty="0"/>
              <a:t>)</a:t>
            </a:r>
            <a:br>
              <a:rPr lang="en-GB" altLang="zh-CN" sz="1200" dirty="0"/>
            </a:br>
            <a:r>
              <a:rPr lang="en-GB" altLang="zh-CN" sz="1200" dirty="0"/>
              <a:t>    </a:t>
            </a:r>
            <a:r>
              <a:rPr lang="en-GB" altLang="zh-CN" sz="1200" dirty="0" err="1"/>
              <a:t>y_pred</a:t>
            </a:r>
            <a:r>
              <a:rPr lang="en-US" altLang="zh-CN" sz="1200" dirty="0"/>
              <a:t>2</a:t>
            </a:r>
            <a:r>
              <a:rPr lang="en-GB" altLang="zh-CN" sz="1200" dirty="0"/>
              <a:t>=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br>
              <a:rPr lang="en-US" altLang="zh-CN" sz="1200" dirty="0"/>
            </a:br>
            <a:r>
              <a:rPr lang="en-US" altLang="zh-CN" sz="1200" dirty="0"/>
              <a:t>    </a:t>
            </a:r>
            <a:r>
              <a:rPr lang="en-GB" altLang="zh-CN" sz="1200" dirty="0"/>
              <a:t>result = </a:t>
            </a:r>
            <a:r>
              <a:rPr lang="en-GB" altLang="zh-CN" sz="1200" dirty="0" err="1"/>
              <a:t>confusion_matrix</a:t>
            </a:r>
            <a:r>
              <a:rPr lang="en-GB" altLang="zh-CN" sz="1200" dirty="0"/>
              <a:t>(</a:t>
            </a:r>
            <a:r>
              <a:rPr lang="en-GB" altLang="zh-CN" sz="1200" dirty="0" err="1"/>
              <a:t>y_true</a:t>
            </a:r>
            <a:r>
              <a:rPr lang="en-GB" altLang="zh-CN" sz="1200" dirty="0"/>
              <a:t>, </a:t>
            </a:r>
            <a:r>
              <a:rPr lang="en-GB" altLang="zh-CN" sz="1200" dirty="0" err="1"/>
              <a:t>y_pred</a:t>
            </a:r>
            <a:r>
              <a:rPr lang="en-US" altLang="zh-CN" sz="1200" dirty="0"/>
              <a:t>2</a:t>
            </a:r>
            <a:r>
              <a:rPr lang="en-GB" altLang="zh-CN" sz="1200" dirty="0"/>
              <a:t>, </a:t>
            </a:r>
            <a:r>
              <a:rPr lang="en-GB" altLang="zh-CN" sz="1200" dirty="0">
                <a:solidFill>
                  <a:srgbClr val="660099"/>
                </a:solidFill>
                <a:effectLst/>
              </a:rPr>
              <a:t>labels</a:t>
            </a:r>
            <a:r>
              <a:rPr lang="en-GB" altLang="zh-CN" sz="1200" dirty="0"/>
              <a:t>=labels)</a:t>
            </a:r>
            <a:br>
              <a:rPr lang="en-GB" altLang="zh-CN" sz="1200" dirty="0"/>
            </a:br>
            <a:r>
              <a:rPr lang="en-GB" altLang="zh-CN" sz="1200" dirty="0"/>
              <a:t>    </a:t>
            </a:r>
            <a:r>
              <a:rPr lang="en-GB" altLang="zh-CN" sz="1200" dirty="0">
                <a:solidFill>
                  <a:srgbClr val="000080"/>
                </a:solidFill>
                <a:effectLst/>
              </a:rPr>
              <a:t>print</a:t>
            </a:r>
            <a:r>
              <a:rPr lang="en-GB" altLang="zh-CN" sz="1200" dirty="0"/>
              <a:t>(</a:t>
            </a:r>
            <a:r>
              <a:rPr lang="en-GB" altLang="zh-CN" sz="1200" dirty="0" err="1"/>
              <a:t>pd.DataFrame</a:t>
            </a:r>
            <a:r>
              <a:rPr lang="en-GB" altLang="zh-CN" sz="1200" dirty="0"/>
              <a:t>(result,  </a:t>
            </a:r>
            <a:r>
              <a:rPr lang="en-GB" altLang="zh-CN" sz="1200" dirty="0">
                <a:solidFill>
                  <a:srgbClr val="660099"/>
                </a:solidFill>
                <a:effectLst/>
              </a:rPr>
              <a:t>columns</a:t>
            </a:r>
            <a:r>
              <a:rPr lang="en-GB" altLang="zh-CN" sz="1200" dirty="0"/>
              <a:t>=</a:t>
            </a:r>
            <a:r>
              <a:rPr lang="en-GB" altLang="zh-CN" sz="1200" dirty="0" err="1"/>
              <a:t>dataframe_labels</a:t>
            </a:r>
            <a:r>
              <a:rPr lang="zh-CN" altLang="en-US" sz="1200" dirty="0"/>
              <a:t>，</a:t>
            </a:r>
            <a:r>
              <a:rPr lang="en-GB" altLang="zh-CN" sz="1200" dirty="0"/>
              <a:t>  </a:t>
            </a:r>
            <a:r>
              <a:rPr lang="en-GB" altLang="zh-CN" sz="1200" dirty="0">
                <a:solidFill>
                  <a:srgbClr val="660099"/>
                </a:solidFill>
                <a:effectLst/>
              </a:rPr>
              <a:t>index</a:t>
            </a:r>
            <a:r>
              <a:rPr lang="en-GB" altLang="zh-CN" sz="1200" dirty="0"/>
              <a:t>=</a:t>
            </a:r>
            <a:r>
              <a:rPr lang="en-GB" altLang="zh-CN" sz="1200" dirty="0" err="1"/>
              <a:t>dataframe_labels</a:t>
            </a:r>
            <a:r>
              <a:rPr lang="en-GB" altLang="zh-CN" sz="1200" dirty="0"/>
              <a:t>))</a:t>
            </a:r>
            <a:endParaRPr lang="en-US" altLang="zh-CN" sz="1200" dirty="0">
              <a:solidFill>
                <a:srgbClr val="0033B3"/>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zh-CN" altLang="en-US" dirty="0">
                <a:solidFill>
                  <a:schemeClr val="accent2">
                    <a:lumMod val="75000"/>
                  </a:schemeClr>
                </a:solidFill>
                <a:latin typeface="Alibaba PuHuiTi" pitchFamily="18" charset="-122"/>
                <a:ea typeface="Alibaba PuHuiTi" pitchFamily="18" charset="-122"/>
                <a:cs typeface="Alibaba PuHuiTi" pitchFamily="18" charset="-122"/>
              </a:rPr>
              <a:t>精确率</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、召回率、</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F1</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221659" y="1332437"/>
            <a:ext cx="622136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dirty="0">
                <a:solidFill>
                  <a:prstClr val="black">
                    <a:lumMod val="85000"/>
                    <a:lumOff val="15000"/>
                  </a:prstClr>
                </a:solidFill>
                <a:latin typeface="Open Sans" panose="020B0606030504020204" pitchFamily="34" charset="0"/>
              </a:rPr>
              <a:t>精确率</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en-GB"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Precision)</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2" name="文本框 1"/>
              <p:cNvSpPr txBox="1"/>
              <p:nvPr/>
            </p:nvSpPr>
            <p:spPr>
              <a:xfrm>
                <a:off x="2033971" y="1832015"/>
                <a:ext cx="5136712" cy="1165255"/>
              </a:xfrm>
              <a:prstGeom prst="rect">
                <a:avLst/>
              </a:prstGeom>
              <a:noFill/>
            </p:spPr>
            <p:txBody>
              <a:bodyPr wrap="square">
                <a:spAutoFit/>
              </a:bodyPr>
              <a:lstStyle/>
              <a:p>
                <a:pPr marL="285750" indent="-285750">
                  <a:lnSpc>
                    <a:spcPct val="150000"/>
                  </a:lnSpc>
                  <a:buFont typeface="Arial" panose="020B0604020202020204" pitchFamily="34" charset="0"/>
                  <a:buChar char="•"/>
                  <a:defRPr/>
                </a:pPr>
                <a:r>
                  <a:rPr lang="zh-CN" altLang="en-US" sz="1400" dirty="0">
                    <a:solidFill>
                      <a:srgbClr val="FF0000"/>
                    </a:solidFill>
                    <a:latin typeface="Alibaba PuHuiTi" pitchFamily="18" charset="-122"/>
                    <a:ea typeface="Alibaba PuHuiTi" pitchFamily="18" charset="-122"/>
                    <a:cs typeface="Alibaba PuHuiTi" pitchFamily="18" charset="-122"/>
                  </a:rPr>
                  <a:t>查准率</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，对正例样本的预测准确率。比如：把恶性肿瘤当做正例样本，想知道模型对恶性肿瘤的预测准确率。</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计算方法：</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P</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40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fPr>
                      <m:num>
                        <m:r>
                          <m:rPr>
                            <m:sty m:val="p"/>
                          </m:r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TP</m:t>
                        </m:r>
                      </m:num>
                      <m:den>
                        <m:r>
                          <m:rPr>
                            <m:sty m:val="p"/>
                          </m:r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TP</m:t>
                        </m:r>
                        <m:r>
                          <a:rPr lang="en-US" altLang="zh-CN" sz="1400" b="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a:rPr lang="zh-CN" altLang="en-US" sz="1400" b="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 </m:t>
                        </m:r>
                        <m:r>
                          <m:rPr>
                            <m:sty m:val="p"/>
                          </m:r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F</m:t>
                        </m:r>
                        <m:r>
                          <m:rPr>
                            <m:sty m:val="p"/>
                          </m:rPr>
                          <a:rPr lang="en-US" altLang="zh-CN" sz="1400" i="1" smtClean="0">
                            <a:solidFill>
                              <a:prstClr val="black">
                                <a:lumMod val="85000"/>
                                <a:lumOff val="15000"/>
                              </a:prstClr>
                            </a:solidFill>
                            <a:latin typeface="Cambria Math" panose="02040503050406030204" pitchFamily="18" charset="0"/>
                            <a:ea typeface="Alibaba PuHuiTi" pitchFamily="18" charset="-122"/>
                            <a:cs typeface="Alibaba PuHuiTi" pitchFamily="18" charset="-122"/>
                          </a:rPr>
                          <m:t>P</m:t>
                        </m:r>
                      </m:den>
                    </m:f>
                  </m:oMath>
                </a14:m>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2033971" y="1832015"/>
                <a:ext cx="5136712" cy="1165255"/>
              </a:xfrm>
              <a:prstGeom prst="rect">
                <a:avLst/>
              </a:prstGeom>
              <a:blipFill rotWithShape="1">
                <a:blip r:embed="rId1"/>
                <a:stretch>
                  <a:fillRect l="-1" t="-3" r="5" b="6"/>
                </a:stretch>
              </a:blipFill>
            </p:spPr>
            <p:txBody>
              <a:bodyPr/>
              <a:lstStyle/>
              <a:p>
                <a:r>
                  <a:rPr lang="zh-CN" altLang="en-US">
                    <a:noFill/>
                  </a:rPr>
                  <a:t> </a:t>
                </a:r>
              </a:p>
            </p:txBody>
          </p:sp>
        </mc:Fallback>
      </mc:AlternateContent>
      <p:pic>
        <p:nvPicPr>
          <p:cNvPr id="7" name="图片 6"/>
          <p:cNvPicPr>
            <a:picLocks noChangeAspect="1"/>
          </p:cNvPicPr>
          <p:nvPr/>
        </p:nvPicPr>
        <p:blipFill>
          <a:blip r:embed="rId2"/>
          <a:stretch>
            <a:fillRect/>
          </a:stretch>
        </p:blipFill>
        <p:spPr>
          <a:xfrm>
            <a:off x="8180616" y="1211429"/>
            <a:ext cx="2968171" cy="1838880"/>
          </a:xfrm>
          <a:prstGeom prst="rect">
            <a:avLst/>
          </a:prstGeom>
        </p:spPr>
      </p:pic>
      <p:sp>
        <p:nvSpPr>
          <p:cNvPr id="9" name="文本框 8"/>
          <p:cNvSpPr txBox="1"/>
          <p:nvPr/>
        </p:nvSpPr>
        <p:spPr>
          <a:xfrm>
            <a:off x="1437640" y="4109720"/>
            <a:ext cx="4657725" cy="737235"/>
          </a:xfrm>
          <a:prstGeom prst="rect">
            <a:avLst/>
          </a:prstGeom>
          <a:noFill/>
        </p:spPr>
        <p:txBody>
          <a:bodyPr wrap="square">
            <a:spAutoFit/>
          </a:bodyPr>
          <a:lstStyle/>
          <a:p>
            <a:pPr>
              <a:lnSpc>
                <a:spcPct val="150000"/>
              </a:lnSpc>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模型</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A</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：预测对了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3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个恶性肿瘤</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样本</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4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个良性肿瘤</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样本</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a:lnSpc>
                <a:spcPct val="150000"/>
              </a:lnSpc>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请计算：</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FN</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TN</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0" name="文本框 9"/>
          <p:cNvSpPr txBox="1"/>
          <p:nvPr/>
        </p:nvSpPr>
        <p:spPr>
          <a:xfrm>
            <a:off x="6667614" y="4101439"/>
            <a:ext cx="4805515" cy="708399"/>
          </a:xfrm>
          <a:prstGeom prst="rect">
            <a:avLst/>
          </a:prstGeom>
          <a:noFill/>
        </p:spPr>
        <p:txBody>
          <a:bodyPr wrap="square">
            <a:spAutoFit/>
          </a:bodyPr>
          <a:lstStyle/>
          <a:p>
            <a:pPr>
              <a:lnSpc>
                <a:spcPct val="150000"/>
              </a:lnSpc>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模型</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B</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400" b="0" i="0" u="none" strike="noStrike" dirty="0">
                <a:solidFill>
                  <a:srgbClr val="333333"/>
                </a:solidFill>
                <a:effectLst/>
                <a:latin typeface="Open Sans" panose="020B0606030504020204" pitchFamily="34" charset="0"/>
              </a:rPr>
              <a:t>预测对</a:t>
            </a:r>
            <a:r>
              <a:rPr lang="zh-CN" altLang="en-US" sz="1400" b="0" i="0" u="none" strike="noStrike" dirty="0">
                <a:solidFill>
                  <a:schemeClr val="accent2">
                    <a:lumMod val="75000"/>
                  </a:schemeClr>
                </a:solidFill>
                <a:effectLst/>
                <a:latin typeface="Open Sans" panose="020B0606030504020204" pitchFamily="34" charset="0"/>
              </a:rPr>
              <a:t>了 </a:t>
            </a:r>
            <a:r>
              <a:rPr lang="en-US" altLang="zh-CN" sz="1400" b="0" i="0" u="none" strike="noStrike" dirty="0">
                <a:solidFill>
                  <a:schemeClr val="accent2">
                    <a:lumMod val="75000"/>
                  </a:schemeClr>
                </a:solidFill>
                <a:effectLst/>
                <a:latin typeface="Open Sans" panose="020B0606030504020204" pitchFamily="34" charset="0"/>
              </a:rPr>
              <a:t>6 </a:t>
            </a:r>
            <a:r>
              <a:rPr lang="zh-CN" altLang="en-US" sz="1400" b="0" i="0" u="none" strike="noStrike" dirty="0">
                <a:solidFill>
                  <a:schemeClr val="accent2">
                    <a:lumMod val="75000"/>
                  </a:schemeClr>
                </a:solidFill>
                <a:effectLst/>
                <a:latin typeface="Open Sans" panose="020B0606030504020204" pitchFamily="34" charset="0"/>
              </a:rPr>
              <a:t>个恶性肿瘤</a:t>
            </a:r>
            <a:r>
              <a:rPr lang="zh-CN" altLang="en-US" sz="1400" b="0" i="0" u="none" strike="noStrike" dirty="0">
                <a:solidFill>
                  <a:schemeClr val="tx1">
                    <a:lumMod val="85000"/>
                    <a:lumOff val="15000"/>
                  </a:schemeClr>
                </a:solidFill>
                <a:effectLst/>
                <a:latin typeface="Open Sans" panose="020B0606030504020204" pitchFamily="34" charset="0"/>
              </a:rPr>
              <a:t>样本</a:t>
            </a:r>
            <a:r>
              <a:rPr lang="zh-CN" altLang="en-US" sz="1400" b="0" i="0" u="none" strike="noStrike" dirty="0">
                <a:solidFill>
                  <a:srgbClr val="333333"/>
                </a:solidFill>
                <a:effectLst/>
                <a:latin typeface="Open Sans" panose="020B0606030504020204" pitchFamily="34" charset="0"/>
              </a:rPr>
              <a:t>，</a:t>
            </a:r>
            <a:r>
              <a:rPr lang="en-US" altLang="zh-CN" sz="1400" b="0" i="0" u="none" strike="noStrike" dirty="0">
                <a:solidFill>
                  <a:schemeClr val="accent2">
                    <a:lumMod val="75000"/>
                  </a:schemeClr>
                </a:solidFill>
                <a:effectLst/>
                <a:latin typeface="Open Sans" panose="020B0606030504020204" pitchFamily="34" charset="0"/>
              </a:rPr>
              <a:t>1</a:t>
            </a:r>
            <a:r>
              <a:rPr lang="zh-CN" altLang="en-US" sz="1400" b="0" i="0" u="none" strike="noStrike" dirty="0">
                <a:solidFill>
                  <a:schemeClr val="accent2">
                    <a:lumMod val="75000"/>
                  </a:schemeClr>
                </a:solidFill>
                <a:effectLst/>
                <a:latin typeface="Open Sans" panose="020B0606030504020204" pitchFamily="34" charset="0"/>
              </a:rPr>
              <a:t>个良性肿瘤</a:t>
            </a:r>
            <a:r>
              <a:rPr lang="zh-CN" altLang="en-US" sz="1400" b="0" i="0" u="none" strike="noStrike" dirty="0">
                <a:solidFill>
                  <a:srgbClr val="333333"/>
                </a:solidFill>
                <a:effectLst/>
                <a:latin typeface="Open Sans" panose="020B0606030504020204" pitchFamily="34" charset="0"/>
              </a:rPr>
              <a:t>样本</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a:lnSpc>
                <a:spcPct val="150000"/>
              </a:lnSpc>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请计算：</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FN</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TN</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1" name="文本框 10"/>
          <p:cNvSpPr txBox="1"/>
          <p:nvPr/>
        </p:nvSpPr>
        <p:spPr>
          <a:xfrm>
            <a:off x="2033905" y="4895850"/>
            <a:ext cx="2883535" cy="1706880"/>
          </a:xfrm>
          <a:prstGeom prst="rect">
            <a:avLst/>
          </a:prstGeom>
          <a:noFill/>
        </p:spPr>
        <p:txBody>
          <a:bodyPr wrap="square">
            <a:spAutoFit/>
          </a:bodyPr>
          <a:lstStyle/>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真正例 </a:t>
            </a:r>
            <a:r>
              <a:rPr lang="en-GB" altLang="zh-CN" sz="1400" b="0" i="0" u="none" strike="noStrike" dirty="0">
                <a:solidFill>
                  <a:srgbClr val="333333"/>
                </a:solidFill>
                <a:effectLst/>
                <a:latin typeface="Open Sans" panose="020B0606030504020204" pitchFamily="34" charset="0"/>
              </a:rPr>
              <a:t>TP </a:t>
            </a:r>
            <a:r>
              <a:rPr lang="zh-CN" altLang="en-US" sz="1400" b="0" i="0" u="none" strike="noStrike" dirty="0">
                <a:solidFill>
                  <a:srgbClr val="333333"/>
                </a:solidFill>
                <a:effectLst/>
                <a:latin typeface="Open Sans" panose="020B0606030504020204" pitchFamily="34" charset="0"/>
              </a:rPr>
              <a:t>为：</a:t>
            </a:r>
            <a:r>
              <a:rPr lang="en-US" altLang="zh-CN" sz="1400" b="0" i="0" u="none" strike="noStrike" dirty="0">
                <a:solidFill>
                  <a:srgbClr val="333333"/>
                </a:solidFill>
                <a:effectLst/>
                <a:latin typeface="Open Sans" panose="020B0606030504020204" pitchFamily="34" charset="0"/>
              </a:rPr>
              <a:t>3 </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伪反例 </a:t>
            </a:r>
            <a:r>
              <a:rPr lang="en-GB" altLang="zh-CN" sz="1400" b="0" i="0" u="none" strike="noStrike" dirty="0">
                <a:solidFill>
                  <a:srgbClr val="333333"/>
                </a:solidFill>
                <a:effectLst/>
                <a:latin typeface="Open Sans" panose="020B0606030504020204" pitchFamily="34" charset="0"/>
              </a:rPr>
              <a:t>FN </a:t>
            </a:r>
            <a:r>
              <a:rPr lang="zh-CN" altLang="en-US" sz="1400" b="0" i="0" u="none" strike="noStrike" dirty="0">
                <a:solidFill>
                  <a:srgbClr val="333333"/>
                </a:solidFill>
                <a:effectLst/>
                <a:latin typeface="Open Sans" panose="020B0606030504020204" pitchFamily="34" charset="0"/>
              </a:rPr>
              <a:t>为：</a:t>
            </a:r>
            <a:r>
              <a:rPr lang="en-US" altLang="zh-CN" sz="1400" b="0" i="0" u="none" strike="noStrike" dirty="0">
                <a:solidFill>
                  <a:srgbClr val="333333"/>
                </a:solidFill>
                <a:effectLst/>
                <a:latin typeface="Open Sans" panose="020B0606030504020204" pitchFamily="34" charset="0"/>
              </a:rPr>
              <a:t>3</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伪正例 </a:t>
            </a:r>
            <a:r>
              <a:rPr lang="en-GB" altLang="zh-CN" sz="1400" b="0" i="0" u="none" strike="noStrike" dirty="0">
                <a:solidFill>
                  <a:srgbClr val="333333"/>
                </a:solidFill>
                <a:effectLst/>
                <a:latin typeface="Open Sans" panose="020B0606030504020204" pitchFamily="34" charset="0"/>
              </a:rPr>
              <a:t>FP </a:t>
            </a:r>
            <a:r>
              <a:rPr lang="zh-CN" altLang="en-US" sz="1400" b="0" i="0" u="none" strike="noStrike" dirty="0">
                <a:solidFill>
                  <a:srgbClr val="333333"/>
                </a:solidFill>
                <a:effectLst/>
                <a:latin typeface="Open Sans" panose="020B0606030504020204" pitchFamily="34" charset="0"/>
              </a:rPr>
              <a:t>为：</a:t>
            </a:r>
            <a:r>
              <a:rPr lang="en-US" altLang="zh-CN" sz="1400" b="0" i="0" u="none" strike="noStrike" dirty="0">
                <a:solidFill>
                  <a:srgbClr val="333333"/>
                </a:solidFill>
                <a:effectLst/>
                <a:latin typeface="Open Sans" panose="020B0606030504020204" pitchFamily="34" charset="0"/>
              </a:rPr>
              <a:t>0</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真反例 </a:t>
            </a:r>
            <a:r>
              <a:rPr lang="en-GB" altLang="zh-CN" sz="1400" b="0" i="0" u="none" strike="noStrike" dirty="0">
                <a:solidFill>
                  <a:srgbClr val="333333"/>
                </a:solidFill>
                <a:effectLst/>
                <a:latin typeface="Open Sans" panose="020B0606030504020204" pitchFamily="34" charset="0"/>
              </a:rPr>
              <a:t>TN</a:t>
            </a:r>
            <a:r>
              <a:rPr lang="zh-CN" altLang="en-GB" sz="1400" b="0" i="0" u="none" strike="noStrike" dirty="0">
                <a:solidFill>
                  <a:srgbClr val="333333"/>
                </a:solidFill>
                <a:effectLst/>
                <a:latin typeface="Open Sans" panose="020B0606030504020204" pitchFamily="34" charset="0"/>
              </a:rPr>
              <a:t>：</a:t>
            </a:r>
            <a:r>
              <a:rPr lang="en-GB" altLang="zh-CN" sz="1400" b="0" i="0" u="none" strike="noStrike" dirty="0">
                <a:solidFill>
                  <a:srgbClr val="333333"/>
                </a:solidFill>
                <a:effectLst/>
                <a:latin typeface="Open Sans" panose="020B0606030504020204" pitchFamily="34" charset="0"/>
              </a:rPr>
              <a:t>4</a:t>
            </a:r>
            <a:endParaRPr lang="en-GB" altLang="zh-CN" sz="1400" b="0" i="0" u="none" strike="noStrike" dirty="0">
              <a:solidFill>
                <a:srgbClr val="333333"/>
              </a:solidFill>
              <a:effectLst/>
              <a:latin typeface="Open Sans" panose="020B0606030504020204" pitchFamily="34" charset="0"/>
            </a:endParaRPr>
          </a:p>
          <a:p>
            <a:pPr algn="l">
              <a:lnSpc>
                <a:spcPct val="150000"/>
              </a:lnSpc>
            </a:pPr>
            <a:r>
              <a:rPr lang="zh-CN" altLang="en-US" sz="1400" b="0" i="0" u="none" strike="noStrike" dirty="0">
                <a:solidFill>
                  <a:schemeClr val="accent2">
                    <a:lumMod val="75000"/>
                  </a:schemeClr>
                </a:solidFill>
                <a:effectLst/>
                <a:latin typeface="Open Sans" panose="020B0606030504020204" pitchFamily="34" charset="0"/>
              </a:rPr>
              <a:t>精度：</a:t>
            </a:r>
            <a:r>
              <a:rPr lang="en-US" altLang="zh-CN" sz="1400" b="0" i="0" u="none" strike="noStrike" dirty="0">
                <a:solidFill>
                  <a:schemeClr val="accent2">
                    <a:lumMod val="75000"/>
                  </a:schemeClr>
                </a:solidFill>
                <a:effectLst/>
                <a:latin typeface="Open Sans" panose="020B0606030504020204" pitchFamily="34" charset="0"/>
              </a:rPr>
              <a:t>3</a:t>
            </a:r>
            <a:r>
              <a:rPr lang="zh-CN" altLang="en-US" sz="1400" b="0" i="0" u="none" strike="noStrike" dirty="0">
                <a:solidFill>
                  <a:schemeClr val="accent2">
                    <a:lumMod val="75000"/>
                  </a:schemeClr>
                </a:solidFill>
                <a:effectLst/>
                <a:latin typeface="Open Sans" panose="020B0606030504020204" pitchFamily="34" charset="0"/>
              </a:rPr>
              <a:t> </a:t>
            </a:r>
            <a:r>
              <a:rPr lang="en-US" altLang="zh-CN" sz="1400" b="0" i="0" u="none" strike="noStrike" dirty="0">
                <a:solidFill>
                  <a:schemeClr val="accent2">
                    <a:lumMod val="75000"/>
                  </a:schemeClr>
                </a:solidFill>
                <a:effectLst/>
                <a:latin typeface="Open Sans" panose="020B0606030504020204" pitchFamily="34" charset="0"/>
              </a:rPr>
              <a:t>/</a:t>
            </a:r>
            <a:r>
              <a:rPr lang="zh-CN" altLang="en-US" sz="1400" b="0" i="0" u="none" strike="noStrike" dirty="0">
                <a:solidFill>
                  <a:schemeClr val="accent2">
                    <a:lumMod val="75000"/>
                  </a:schemeClr>
                </a:solidFill>
                <a:effectLst/>
                <a:latin typeface="Open Sans" panose="020B0606030504020204" pitchFamily="34" charset="0"/>
              </a:rPr>
              <a:t> </a:t>
            </a:r>
            <a:r>
              <a:rPr lang="en-US" altLang="zh-CN" sz="1400" b="0" i="0" u="none" strike="noStrike" dirty="0">
                <a:solidFill>
                  <a:schemeClr val="accent2">
                    <a:lumMod val="75000"/>
                  </a:schemeClr>
                </a:solidFill>
                <a:effectLst/>
                <a:latin typeface="Open Sans" panose="020B0606030504020204" pitchFamily="34" charset="0"/>
              </a:rPr>
              <a:t>(3+0</a:t>
            </a:r>
            <a:r>
              <a:rPr lang="en-US" altLang="zh-CN" sz="1400" dirty="0">
                <a:solidFill>
                  <a:schemeClr val="accent2">
                    <a:lumMod val="75000"/>
                  </a:schemeClr>
                </a:solidFill>
                <a:latin typeface="Open Sans" panose="020B0606030504020204" pitchFamily="34" charset="0"/>
              </a:rPr>
              <a:t>)</a:t>
            </a:r>
            <a:r>
              <a:rPr lang="zh-CN" altLang="en-US" sz="1400" b="0" i="0" u="none" strike="noStrike" dirty="0">
                <a:solidFill>
                  <a:schemeClr val="accent2">
                    <a:lumMod val="75000"/>
                  </a:schemeClr>
                </a:solidFill>
                <a:effectLst/>
                <a:latin typeface="Open Sans" panose="020B0606030504020204" pitchFamily="34" charset="0"/>
              </a:rPr>
              <a:t> </a:t>
            </a:r>
            <a:r>
              <a:rPr lang="en-US" altLang="zh-CN" sz="1400" b="0" i="0" u="none" strike="noStrike" dirty="0">
                <a:solidFill>
                  <a:schemeClr val="accent2">
                    <a:lumMod val="75000"/>
                  </a:schemeClr>
                </a:solidFill>
                <a:effectLst/>
                <a:latin typeface="Open Sans" panose="020B0606030504020204" pitchFamily="34" charset="0"/>
              </a:rPr>
              <a:t>=</a:t>
            </a:r>
            <a:r>
              <a:rPr lang="zh-CN" altLang="en-US" sz="1400" b="0" i="0" u="none" strike="noStrike" dirty="0">
                <a:solidFill>
                  <a:schemeClr val="accent2">
                    <a:lumMod val="75000"/>
                  </a:schemeClr>
                </a:solidFill>
                <a:effectLst/>
                <a:latin typeface="Open Sans" panose="020B0606030504020204" pitchFamily="34" charset="0"/>
              </a:rPr>
              <a:t> </a:t>
            </a:r>
            <a:r>
              <a:rPr lang="en-US" altLang="zh-CN" sz="1400" b="0" i="0" u="none" strike="noStrike" dirty="0">
                <a:solidFill>
                  <a:schemeClr val="accent2">
                    <a:lumMod val="75000"/>
                  </a:schemeClr>
                </a:solidFill>
                <a:effectLst/>
                <a:latin typeface="Open Sans" panose="020B0606030504020204" pitchFamily="34" charset="0"/>
              </a:rPr>
              <a:t>100%</a:t>
            </a:r>
            <a:r>
              <a:rPr lang="zh-CN" altLang="en-US" sz="1400" b="0" i="0" u="none" strike="noStrike" dirty="0">
                <a:solidFill>
                  <a:schemeClr val="accent2">
                    <a:lumMod val="75000"/>
                  </a:schemeClr>
                </a:solidFill>
                <a:effectLst/>
                <a:latin typeface="Open Sans" panose="020B0606030504020204" pitchFamily="34" charset="0"/>
              </a:rPr>
              <a:t> </a:t>
            </a:r>
            <a:endParaRPr lang="en-GB" altLang="zh-CN" sz="1400" b="0" i="0" u="none" strike="noStrike" dirty="0">
              <a:solidFill>
                <a:schemeClr val="accent2">
                  <a:lumMod val="75000"/>
                </a:schemeClr>
              </a:solidFill>
              <a:effectLst/>
              <a:latin typeface="Open Sans" panose="020B0606030504020204" pitchFamily="34" charset="0"/>
            </a:endParaRPr>
          </a:p>
        </p:txBody>
      </p:sp>
      <p:sp>
        <p:nvSpPr>
          <p:cNvPr id="12" name="文本框 11"/>
          <p:cNvSpPr txBox="1"/>
          <p:nvPr/>
        </p:nvSpPr>
        <p:spPr>
          <a:xfrm>
            <a:off x="6905298" y="4896049"/>
            <a:ext cx="2288457" cy="1673728"/>
          </a:xfrm>
          <a:prstGeom prst="rect">
            <a:avLst/>
          </a:prstGeom>
          <a:noFill/>
        </p:spPr>
        <p:txBody>
          <a:bodyPr wrap="square">
            <a:spAutoFit/>
          </a:bodyPr>
          <a:lstStyle/>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真正例 </a:t>
            </a:r>
            <a:r>
              <a:rPr lang="en-GB" altLang="zh-CN" sz="1400" b="0" i="0" u="none" strike="noStrike" dirty="0">
                <a:solidFill>
                  <a:srgbClr val="333333"/>
                </a:solidFill>
                <a:effectLst/>
                <a:latin typeface="Open Sans" panose="020B0606030504020204" pitchFamily="34" charset="0"/>
              </a:rPr>
              <a:t>TP </a:t>
            </a:r>
            <a:r>
              <a:rPr lang="zh-CN" altLang="en-US" sz="1400" b="0" i="0" u="none" strike="noStrike" dirty="0">
                <a:solidFill>
                  <a:srgbClr val="333333"/>
                </a:solidFill>
                <a:effectLst/>
                <a:latin typeface="Open Sans" panose="020B0606030504020204" pitchFamily="34" charset="0"/>
              </a:rPr>
              <a:t>为：</a:t>
            </a:r>
            <a:r>
              <a:rPr lang="en-US" altLang="zh-CN" sz="1400" b="0" i="0" u="none" strike="noStrike" dirty="0">
                <a:solidFill>
                  <a:srgbClr val="333333"/>
                </a:solidFill>
                <a:effectLst/>
                <a:latin typeface="Open Sans" panose="020B0606030504020204" pitchFamily="34" charset="0"/>
              </a:rPr>
              <a:t>6</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伪反例 </a:t>
            </a:r>
            <a:r>
              <a:rPr lang="en-GB" altLang="zh-CN" sz="1400" b="0" i="0" u="none" strike="noStrike" dirty="0">
                <a:solidFill>
                  <a:srgbClr val="333333"/>
                </a:solidFill>
                <a:effectLst/>
                <a:latin typeface="Open Sans" panose="020B0606030504020204" pitchFamily="34" charset="0"/>
              </a:rPr>
              <a:t>FN </a:t>
            </a:r>
            <a:r>
              <a:rPr lang="zh-CN" altLang="en-US" sz="1400" b="0" i="0" u="none" strike="noStrike" dirty="0">
                <a:solidFill>
                  <a:srgbClr val="333333"/>
                </a:solidFill>
                <a:effectLst/>
                <a:latin typeface="Open Sans" panose="020B0606030504020204" pitchFamily="34" charset="0"/>
              </a:rPr>
              <a:t>为：</a:t>
            </a:r>
            <a:r>
              <a:rPr lang="en-US" altLang="zh-CN" sz="1400" b="0" i="0" u="none" strike="noStrike" dirty="0">
                <a:solidFill>
                  <a:srgbClr val="333333"/>
                </a:solidFill>
                <a:effectLst/>
                <a:latin typeface="Open Sans" panose="020B0606030504020204" pitchFamily="34" charset="0"/>
              </a:rPr>
              <a:t>0</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伪正例 </a:t>
            </a:r>
            <a:r>
              <a:rPr lang="en-GB" altLang="zh-CN" sz="1400" b="0" i="0" u="none" strike="noStrike" dirty="0">
                <a:solidFill>
                  <a:srgbClr val="333333"/>
                </a:solidFill>
                <a:effectLst/>
                <a:latin typeface="Open Sans" panose="020B0606030504020204" pitchFamily="34" charset="0"/>
              </a:rPr>
              <a:t>FP </a:t>
            </a:r>
            <a:r>
              <a:rPr lang="zh-CN" altLang="en-US" sz="1400" b="0" i="0" u="none" strike="noStrike" dirty="0">
                <a:solidFill>
                  <a:srgbClr val="333333"/>
                </a:solidFill>
                <a:effectLst/>
                <a:latin typeface="Open Sans" panose="020B0606030504020204" pitchFamily="34" charset="0"/>
              </a:rPr>
              <a:t>为：</a:t>
            </a:r>
            <a:r>
              <a:rPr lang="en-US" altLang="zh-CN" sz="1400" b="0" i="0" u="none" strike="noStrike" dirty="0">
                <a:solidFill>
                  <a:srgbClr val="333333"/>
                </a:solidFill>
                <a:effectLst/>
                <a:latin typeface="Open Sans" panose="020B0606030504020204" pitchFamily="34" charset="0"/>
              </a:rPr>
              <a:t>3</a:t>
            </a:r>
            <a:endParaRPr lang="en-US" altLang="zh-CN" sz="1400" b="0" i="0" u="none" strike="noStrike" dirty="0">
              <a:solidFill>
                <a:srgbClr val="333333"/>
              </a:solidFill>
              <a:effectLst/>
              <a:latin typeface="Open Sans" panose="020B0606030504020204" pitchFamily="34" charset="0"/>
            </a:endParaRPr>
          </a:p>
          <a:p>
            <a:pPr algn="l">
              <a:lnSpc>
                <a:spcPct val="150000"/>
              </a:lnSpc>
              <a:buFont typeface="+mj-lt"/>
              <a:buAutoNum type="arabicPeriod"/>
            </a:pPr>
            <a:r>
              <a:rPr lang="zh-CN" altLang="en-US" sz="1400" b="0" i="0" u="none" strike="noStrike" dirty="0">
                <a:solidFill>
                  <a:srgbClr val="333333"/>
                </a:solidFill>
                <a:effectLst/>
                <a:latin typeface="Open Sans" panose="020B0606030504020204" pitchFamily="34" charset="0"/>
              </a:rPr>
              <a:t>真反例 </a:t>
            </a:r>
            <a:r>
              <a:rPr lang="en-GB" altLang="zh-CN" sz="1400" b="0" i="0" u="none" strike="noStrike" dirty="0">
                <a:solidFill>
                  <a:srgbClr val="333333"/>
                </a:solidFill>
                <a:effectLst/>
                <a:latin typeface="Open Sans" panose="020B0606030504020204" pitchFamily="34" charset="0"/>
              </a:rPr>
              <a:t>TN</a:t>
            </a:r>
            <a:r>
              <a:rPr lang="zh-CN" altLang="en-GB" sz="1400" b="0" i="0" u="none" strike="noStrike" dirty="0">
                <a:solidFill>
                  <a:srgbClr val="333333"/>
                </a:solidFill>
                <a:effectLst/>
                <a:latin typeface="Open Sans" panose="020B0606030504020204" pitchFamily="34" charset="0"/>
              </a:rPr>
              <a:t>：</a:t>
            </a:r>
            <a:r>
              <a:rPr lang="en-GB" altLang="zh-CN" sz="1400" b="0" i="0" u="none" strike="noStrike" dirty="0">
                <a:solidFill>
                  <a:srgbClr val="333333"/>
                </a:solidFill>
                <a:effectLst/>
                <a:latin typeface="Open Sans" panose="020B0606030504020204" pitchFamily="34" charset="0"/>
              </a:rPr>
              <a:t>1</a:t>
            </a:r>
            <a:endParaRPr lang="en-GB" altLang="zh-CN" sz="1400" b="0" i="0" u="none" strike="noStrike" dirty="0">
              <a:solidFill>
                <a:srgbClr val="333333"/>
              </a:solidFill>
              <a:effectLst/>
              <a:latin typeface="Open Sans" panose="020B0606030504020204" pitchFamily="34" charset="0"/>
            </a:endParaRPr>
          </a:p>
          <a:p>
            <a:pPr algn="l">
              <a:lnSpc>
                <a:spcPct val="150000"/>
              </a:lnSpc>
            </a:pPr>
            <a:r>
              <a:rPr lang="zh-CN" altLang="en-US" sz="1400" b="0" i="0" u="none" strike="noStrike" dirty="0">
                <a:solidFill>
                  <a:schemeClr val="accent2">
                    <a:lumMod val="75000"/>
                  </a:schemeClr>
                </a:solidFill>
                <a:effectLst/>
                <a:latin typeface="Open Sans" panose="020B0606030504020204" pitchFamily="34" charset="0"/>
              </a:rPr>
              <a:t>精度：</a:t>
            </a:r>
            <a:r>
              <a:rPr lang="en-US" altLang="zh-CN" sz="1400" b="0" i="0" u="none" strike="noStrike" dirty="0">
                <a:solidFill>
                  <a:schemeClr val="accent2">
                    <a:lumMod val="75000"/>
                  </a:schemeClr>
                </a:solidFill>
                <a:effectLst/>
                <a:latin typeface="Open Sans" panose="020B0606030504020204" pitchFamily="34" charset="0"/>
              </a:rPr>
              <a:t>6</a:t>
            </a:r>
            <a:r>
              <a:rPr lang="en-US" altLang="zh-CN" sz="1400" dirty="0">
                <a:solidFill>
                  <a:schemeClr val="accent2">
                    <a:lumMod val="75000"/>
                  </a:schemeClr>
                </a:solidFill>
                <a:latin typeface="Open Sans" panose="020B0606030504020204" pitchFamily="34" charset="0"/>
              </a:rPr>
              <a:t>/(6+3)</a:t>
            </a:r>
            <a:r>
              <a:rPr lang="zh-CN" altLang="en-US" sz="1400" dirty="0">
                <a:solidFill>
                  <a:schemeClr val="accent2">
                    <a:lumMod val="75000"/>
                  </a:schemeClr>
                </a:solidFill>
                <a:latin typeface="Open Sans" panose="020B0606030504020204" pitchFamily="34" charset="0"/>
              </a:rPr>
              <a:t> </a:t>
            </a:r>
            <a:r>
              <a:rPr lang="en-US" altLang="zh-CN" sz="1400" dirty="0">
                <a:solidFill>
                  <a:schemeClr val="accent2">
                    <a:lumMod val="75000"/>
                  </a:schemeClr>
                </a:solidFill>
                <a:latin typeface="Open Sans" panose="020B0606030504020204" pitchFamily="34" charset="0"/>
              </a:rPr>
              <a:t>=</a:t>
            </a:r>
            <a:r>
              <a:rPr lang="zh-CN" altLang="en-US" sz="1400" dirty="0">
                <a:solidFill>
                  <a:schemeClr val="accent2">
                    <a:lumMod val="75000"/>
                  </a:schemeClr>
                </a:solidFill>
                <a:latin typeface="Open Sans" panose="020B0606030504020204" pitchFamily="34" charset="0"/>
              </a:rPr>
              <a:t> </a:t>
            </a:r>
            <a:r>
              <a:rPr lang="en-US" altLang="zh-CN" sz="1400" dirty="0">
                <a:solidFill>
                  <a:schemeClr val="accent2">
                    <a:lumMod val="75000"/>
                  </a:schemeClr>
                </a:solidFill>
                <a:latin typeface="Open Sans" panose="020B0606030504020204" pitchFamily="34" charset="0"/>
              </a:rPr>
              <a:t>67%</a:t>
            </a:r>
            <a:endParaRPr lang="en-GB" altLang="zh-CN" sz="1400" b="0" i="0" u="none" strike="noStrike" dirty="0">
              <a:solidFill>
                <a:schemeClr val="accent2">
                  <a:lumMod val="75000"/>
                </a:schemeClr>
              </a:solidFill>
              <a:effectLst/>
              <a:latin typeface="Open Sans" panose="020B0606030504020204" pitchFamily="34" charset="0"/>
            </a:endParaRPr>
          </a:p>
        </p:txBody>
      </p:sp>
      <p:cxnSp>
        <p:nvCxnSpPr>
          <p:cNvPr id="13" name="直线连接符 12"/>
          <p:cNvCxnSpPr/>
          <p:nvPr/>
        </p:nvCxnSpPr>
        <p:spPr>
          <a:xfrm flipV="1">
            <a:off x="6272409" y="4185275"/>
            <a:ext cx="0" cy="2150026"/>
          </a:xfrm>
          <a:prstGeom prst="line">
            <a:avLst/>
          </a:prstGeom>
          <a:ln w="22225">
            <a:solidFill>
              <a:srgbClr val="AD2A26"/>
            </a:solidFill>
            <a:prstDash val="dash"/>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437640" y="3685540"/>
            <a:ext cx="7619365" cy="414020"/>
          </a:xfrm>
          <a:prstGeom prst="rect">
            <a:avLst/>
          </a:prstGeom>
          <a:noFill/>
        </p:spPr>
        <p:txBody>
          <a:bodyPr wrap="square">
            <a:spAutoFit/>
          </a:bodyPr>
          <a:lstStyle/>
          <a:p>
            <a:pPr>
              <a:lnSpc>
                <a:spcPct val="150000"/>
              </a:lnSpc>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已知：样本集</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10</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样本</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，有 </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6 </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个恶性肿瘤样本，</a:t>
            </a: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4 </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个良性肿瘤样本，我们假设</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恶性肿瘤为正例</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cxnSp>
        <p:nvCxnSpPr>
          <p:cNvPr id="15" name="直线连接符 14"/>
          <p:cNvCxnSpPr/>
          <p:nvPr/>
        </p:nvCxnSpPr>
        <p:spPr>
          <a:xfrm flipH="1">
            <a:off x="2092012" y="3229922"/>
            <a:ext cx="7966388" cy="0"/>
          </a:xfrm>
          <a:prstGeom prst="line">
            <a:avLst/>
          </a:prstGeom>
          <a:ln w="22225">
            <a:solidFill>
              <a:srgbClr val="AD2A26"/>
            </a:solidFill>
            <a:prstDash val="dash"/>
          </a:ln>
        </p:spPr>
        <p:style>
          <a:lnRef idx="1">
            <a:schemeClr val="accent1"/>
          </a:lnRef>
          <a:fillRef idx="0">
            <a:schemeClr val="accent1"/>
          </a:fillRef>
          <a:effectRef idx="0">
            <a:schemeClr val="accent1"/>
          </a:effectRef>
          <a:fontRef idx="minor">
            <a:schemeClr val="tx1"/>
          </a:fontRef>
        </p:style>
      </p:cxnSp>
      <p:sp>
        <p:nvSpPr>
          <p:cNvPr id="18" name="文本占位符 2"/>
          <p:cNvSpPr txBox="1"/>
          <p:nvPr/>
        </p:nvSpPr>
        <p:spPr>
          <a:xfrm>
            <a:off x="1160301" y="3208434"/>
            <a:ext cx="622136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精确率</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en-GB"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Precision)</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举个栗子</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zh-CN" altLang="en-US" dirty="0">
                <a:solidFill>
                  <a:schemeClr val="accent2">
                    <a:lumMod val="75000"/>
                  </a:schemeClr>
                </a:solidFill>
                <a:latin typeface="Alibaba PuHuiTi" pitchFamily="18" charset="-122"/>
                <a:ea typeface="Alibaba PuHuiTi" pitchFamily="18" charset="-122"/>
                <a:cs typeface="Alibaba PuHuiTi" pitchFamily="18" charset="-122"/>
              </a:rPr>
              <a:t>精确率</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、召回率、</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F1</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5" name="TextBox 3"/>
          <p:cNvSpPr txBox="1"/>
          <p:nvPr/>
        </p:nvSpPr>
        <p:spPr>
          <a:xfrm>
            <a:off x="2701805" y="2061927"/>
            <a:ext cx="6459803" cy="3785652"/>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200" dirty="0">
                <a:solidFill>
                  <a:srgbClr val="0033B3"/>
                </a:solidFill>
                <a:effectLst/>
              </a:rPr>
              <a:t>from </a:t>
            </a:r>
            <a:r>
              <a:rPr lang="en-GB" altLang="zh-CN" sz="1200" dirty="0" err="1"/>
              <a:t>sklearn.metrics</a:t>
            </a:r>
            <a:r>
              <a:rPr lang="en-GB" altLang="zh-CN" sz="1200" dirty="0"/>
              <a:t> </a:t>
            </a:r>
            <a:r>
              <a:rPr lang="en-GB" altLang="zh-CN" sz="1200" dirty="0">
                <a:solidFill>
                  <a:srgbClr val="0033B3"/>
                </a:solidFill>
                <a:effectLst/>
              </a:rPr>
              <a:t>import </a:t>
            </a:r>
            <a:r>
              <a:rPr lang="en-GB" altLang="zh-CN" sz="1200" dirty="0" err="1"/>
              <a:t>accuracy_score</a:t>
            </a:r>
            <a:br>
              <a:rPr lang="en-GB" altLang="zh-CN" sz="1200" dirty="0"/>
            </a:br>
            <a:r>
              <a:rPr lang="en-GB" altLang="zh-CN" sz="1200" dirty="0">
                <a:solidFill>
                  <a:srgbClr val="0033B3"/>
                </a:solidFill>
                <a:effectLst/>
              </a:rPr>
              <a:t>from </a:t>
            </a:r>
            <a:r>
              <a:rPr lang="en-GB" altLang="zh-CN" sz="1200" dirty="0" err="1"/>
              <a:t>sklearn.metrics</a:t>
            </a:r>
            <a:r>
              <a:rPr lang="en-GB" altLang="zh-CN" sz="1200" dirty="0"/>
              <a:t> </a:t>
            </a:r>
            <a:r>
              <a:rPr lang="en-GB" altLang="zh-CN" sz="1200" dirty="0">
                <a:solidFill>
                  <a:srgbClr val="0033B3"/>
                </a:solidFill>
                <a:effectLst/>
              </a:rPr>
              <a:t>import </a:t>
            </a:r>
            <a:r>
              <a:rPr lang="en-GB" altLang="zh-CN" sz="1200" dirty="0" err="1"/>
              <a:t>precision_score</a:t>
            </a:r>
            <a:endParaRPr lang="en-GB" altLang="zh-CN" sz="1200" dirty="0"/>
          </a:p>
          <a:p>
            <a:pPr marL="0" marR="0" lvl="0" indent="0" algn="l" defTabSz="914400" rtl="0" eaLnBrk="1" fontAlgn="auto" latinLnBrk="0" hangingPunct="1">
              <a:lnSpc>
                <a:spcPct val="100000"/>
              </a:lnSpc>
              <a:spcBef>
                <a:spcPts val="0"/>
              </a:spcBef>
              <a:spcAft>
                <a:spcPts val="0"/>
              </a:spcAft>
              <a:buClrTx/>
              <a:buSzTx/>
              <a:buFontTx/>
              <a:buNone/>
              <a:defRPr/>
            </a:pPr>
            <a:br>
              <a:rPr lang="en-GB" altLang="zh-CN" sz="1200" dirty="0"/>
            </a:br>
            <a:r>
              <a:rPr lang="en-GB" altLang="zh-CN" sz="1200" dirty="0">
                <a:solidFill>
                  <a:srgbClr val="0033B3"/>
                </a:solidFill>
                <a:effectLst/>
              </a:rPr>
              <a:t>def </a:t>
            </a:r>
            <a:r>
              <a:rPr lang="en-GB" altLang="zh-CN" sz="1200" dirty="0">
                <a:solidFill>
                  <a:srgbClr val="00627A"/>
                </a:solidFill>
                <a:effectLst/>
              </a:rPr>
              <a:t>dm01_</a:t>
            </a:r>
            <a:r>
              <a:rPr lang="zh-CN" altLang="en-US" sz="1200" dirty="0">
                <a:solidFill>
                  <a:srgbClr val="00627A"/>
                </a:solidFill>
                <a:effectLst/>
              </a:rPr>
              <a:t>精度</a:t>
            </a:r>
            <a:r>
              <a:rPr lang="en-GB" altLang="zh-CN" sz="1200" dirty="0">
                <a:solidFill>
                  <a:srgbClr val="00627A"/>
                </a:solidFill>
                <a:effectLst/>
              </a:rPr>
              <a:t>Precision</a:t>
            </a:r>
            <a:r>
              <a:rPr lang="en-GB" altLang="zh-CN" sz="1200" dirty="0"/>
              <a:t>():</a:t>
            </a:r>
            <a:br>
              <a:rPr lang="en-GB" altLang="zh-CN" sz="1200" dirty="0"/>
            </a:br>
            <a:br>
              <a:rPr lang="en-GB" altLang="zh-CN" sz="1200" dirty="0"/>
            </a:br>
            <a:r>
              <a:rPr lang="en-GB" altLang="zh-CN" sz="1200" dirty="0"/>
              <a:t>    </a:t>
            </a:r>
            <a:r>
              <a:rPr lang="en-GB" altLang="zh-CN" sz="1200" i="1" dirty="0">
                <a:solidFill>
                  <a:srgbClr val="8C8C8C"/>
                </a:solidFill>
                <a:effectLst/>
              </a:rPr>
              <a:t># </a:t>
            </a:r>
            <a:r>
              <a:rPr lang="zh-CN" altLang="en-US" sz="1200" i="1" dirty="0">
                <a:solidFill>
                  <a:srgbClr val="8C8C8C"/>
                </a:solidFill>
                <a:effectLst/>
              </a:rPr>
              <a:t>样本集中共有</a:t>
            </a:r>
            <a:r>
              <a:rPr lang="en-US" altLang="zh-CN" sz="1200" i="1" dirty="0">
                <a:solidFill>
                  <a:srgbClr val="8C8C8C"/>
                </a:solidFill>
                <a:effectLst/>
              </a:rPr>
              <a:t>6</a:t>
            </a:r>
            <a:r>
              <a:rPr lang="zh-CN" altLang="en-US" sz="1200" i="1" dirty="0">
                <a:solidFill>
                  <a:srgbClr val="8C8C8C"/>
                </a:solidFill>
                <a:effectLst/>
              </a:rPr>
              <a:t>个恶性肿瘤样本</a:t>
            </a:r>
            <a:r>
              <a:rPr lang="en-US" altLang="zh-CN" sz="1200" i="1" dirty="0">
                <a:solidFill>
                  <a:srgbClr val="8C8C8C"/>
                </a:solidFill>
                <a:effectLst/>
              </a:rPr>
              <a:t>, 4</a:t>
            </a:r>
            <a:r>
              <a:rPr lang="zh-CN" altLang="en-US" sz="1200" i="1" dirty="0">
                <a:solidFill>
                  <a:srgbClr val="8C8C8C"/>
                </a:solidFill>
                <a:effectLst/>
              </a:rPr>
              <a:t>个良性肿瘤样本</a:t>
            </a:r>
            <a:br>
              <a:rPr lang="zh-CN" altLang="en-US" sz="1200" i="1" dirty="0">
                <a:solidFill>
                  <a:srgbClr val="8C8C8C"/>
                </a:solidFill>
                <a:effectLst/>
              </a:rPr>
            </a:br>
            <a:r>
              <a:rPr lang="zh-CN" altLang="en-US" sz="1200" i="1" dirty="0">
                <a:solidFill>
                  <a:srgbClr val="8C8C8C"/>
                </a:solidFill>
                <a:effectLst/>
              </a:rPr>
              <a:t>    </a:t>
            </a:r>
            <a:r>
              <a:rPr lang="en-GB" altLang="zh-CN" sz="1200" dirty="0" err="1"/>
              <a:t>y_true</a:t>
            </a:r>
            <a:r>
              <a:rPr lang="en-GB" altLang="zh-CN" sz="1200" dirty="0"/>
              <a:t> =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solidFill>
                  <a:srgbClr val="067D17"/>
                </a:solidFill>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br>
              <a:rPr lang="en-US" altLang="zh-CN" sz="1200" dirty="0"/>
            </a:br>
            <a:r>
              <a:rPr lang="en-US" altLang="zh-CN" sz="1200" dirty="0"/>
              <a:t>    </a:t>
            </a:r>
            <a:r>
              <a:rPr lang="en-US" altLang="zh-CN" sz="1200" i="1" dirty="0">
                <a:solidFill>
                  <a:srgbClr val="8C8C8C"/>
                </a:solidFill>
                <a:effectLst/>
              </a:rPr>
              <a:t># 1. </a:t>
            </a:r>
            <a:r>
              <a:rPr lang="zh-CN" altLang="en-US" sz="1200" i="1" dirty="0">
                <a:solidFill>
                  <a:srgbClr val="8C8C8C"/>
                </a:solidFill>
                <a:effectLst/>
              </a:rPr>
              <a:t>模型 </a:t>
            </a:r>
            <a:r>
              <a:rPr lang="en-GB" altLang="zh-CN" sz="1200" i="1" dirty="0">
                <a:solidFill>
                  <a:srgbClr val="8C8C8C"/>
                </a:solidFill>
                <a:effectLst/>
              </a:rPr>
              <a:t>A: </a:t>
            </a:r>
            <a:r>
              <a:rPr lang="zh-CN" altLang="en-US" sz="1200" i="1" dirty="0">
                <a:solidFill>
                  <a:srgbClr val="8C8C8C"/>
                </a:solidFill>
                <a:effectLst/>
              </a:rPr>
              <a:t>预测对了</a:t>
            </a:r>
            <a:r>
              <a:rPr lang="en-US" altLang="zh-CN" sz="1200" i="1" dirty="0">
                <a:solidFill>
                  <a:srgbClr val="8C8C8C"/>
                </a:solidFill>
                <a:effectLst/>
              </a:rPr>
              <a:t>3</a:t>
            </a:r>
            <a:r>
              <a:rPr lang="zh-CN" altLang="en-US" sz="1200" i="1" dirty="0">
                <a:solidFill>
                  <a:srgbClr val="8C8C8C"/>
                </a:solidFill>
                <a:effectLst/>
              </a:rPr>
              <a:t>个恶性肿瘤样本</a:t>
            </a:r>
            <a:r>
              <a:rPr lang="en-US" altLang="zh-CN" sz="1200" i="1" dirty="0">
                <a:solidFill>
                  <a:srgbClr val="8C8C8C"/>
                </a:solidFill>
                <a:effectLst/>
              </a:rPr>
              <a:t>, 4</a:t>
            </a:r>
            <a:r>
              <a:rPr lang="zh-CN" altLang="en-US" sz="1200" i="1" dirty="0">
                <a:solidFill>
                  <a:srgbClr val="8C8C8C"/>
                </a:solidFill>
                <a:effectLst/>
              </a:rPr>
              <a:t>个良性肿瘤样本</a:t>
            </a:r>
            <a:br>
              <a:rPr lang="zh-CN" altLang="en-US" sz="1200" i="1" dirty="0">
                <a:solidFill>
                  <a:srgbClr val="8C8C8C"/>
                </a:solidFill>
                <a:effectLst/>
              </a:rPr>
            </a:br>
            <a:r>
              <a:rPr lang="zh-CN" altLang="en-US" sz="1200" i="1" dirty="0">
                <a:solidFill>
                  <a:srgbClr val="8C8C8C"/>
                </a:solidFill>
                <a:effectLst/>
              </a:rPr>
              <a:t>    </a:t>
            </a:r>
            <a:r>
              <a:rPr lang="en-GB" altLang="zh-CN" sz="1200" dirty="0" err="1"/>
              <a:t>y_pred</a:t>
            </a:r>
            <a:r>
              <a:rPr lang="en-US" altLang="zh-CN" sz="1200" dirty="0"/>
              <a:t>1</a:t>
            </a:r>
            <a:r>
              <a:rPr lang="en-GB" altLang="zh-CN" sz="1200" dirty="0"/>
              <a:t> =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br>
              <a:rPr lang="en-US" altLang="zh-CN" sz="1200" dirty="0"/>
            </a:br>
            <a:r>
              <a:rPr lang="en-US" altLang="zh-CN" sz="1200" dirty="0"/>
              <a:t>    </a:t>
            </a:r>
            <a:r>
              <a:rPr lang="en-GB" altLang="zh-CN" sz="1200" dirty="0"/>
              <a:t>result = </a:t>
            </a:r>
            <a:r>
              <a:rPr lang="en-GB" altLang="zh-CN" sz="1200" dirty="0" err="1"/>
              <a:t>precision_score</a:t>
            </a:r>
            <a:r>
              <a:rPr lang="en-GB" altLang="zh-CN" sz="1200" dirty="0"/>
              <a:t>(</a:t>
            </a:r>
            <a:r>
              <a:rPr lang="en-GB" altLang="zh-CN" sz="1200" dirty="0" err="1"/>
              <a:t>y_true</a:t>
            </a:r>
            <a:r>
              <a:rPr lang="en-GB" altLang="zh-CN" sz="1200" dirty="0"/>
              <a:t>, </a:t>
            </a:r>
            <a:r>
              <a:rPr lang="en-GB" altLang="zh-CN" sz="1200" dirty="0" err="1"/>
              <a:t>y_pred</a:t>
            </a:r>
            <a:r>
              <a:rPr lang="en-US" altLang="zh-CN" sz="1200" dirty="0"/>
              <a:t>1</a:t>
            </a:r>
            <a:r>
              <a:rPr lang="en-GB" altLang="zh-CN" sz="1200" dirty="0"/>
              <a:t>, </a:t>
            </a:r>
            <a:r>
              <a:rPr lang="en-GB" altLang="zh-CN" sz="1200" dirty="0" err="1">
                <a:solidFill>
                  <a:srgbClr val="660099"/>
                </a:solidFill>
                <a:effectLst/>
              </a:rPr>
              <a:t>pos_label</a:t>
            </a:r>
            <a:r>
              <a:rPr lang="en-GB" altLang="zh-CN" sz="1200" dirty="0"/>
              <a:t>=</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a:t>
            </a:r>
            <a:br>
              <a:rPr lang="en-US" altLang="zh-CN" sz="1200" dirty="0"/>
            </a:br>
            <a:r>
              <a:rPr lang="en-US"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a:t>
            </a:r>
            <a:r>
              <a:rPr lang="zh-CN" altLang="en-US" sz="1200" dirty="0">
                <a:solidFill>
                  <a:srgbClr val="067D17"/>
                </a:solidFill>
                <a:effectLst/>
              </a:rPr>
              <a:t>模型</a:t>
            </a:r>
            <a:r>
              <a:rPr lang="en-GB" altLang="zh-CN" sz="1200" dirty="0">
                <a:solidFill>
                  <a:srgbClr val="067D17"/>
                </a:solidFill>
                <a:effectLst/>
              </a:rPr>
              <a:t>A</a:t>
            </a:r>
            <a:r>
              <a:rPr lang="zh-CN" altLang="en-US" sz="1200" dirty="0">
                <a:solidFill>
                  <a:srgbClr val="067D17"/>
                </a:solidFill>
                <a:effectLst/>
              </a:rPr>
              <a:t>精度</a:t>
            </a:r>
            <a:r>
              <a:rPr lang="en-US" altLang="zh-CN" sz="1200" dirty="0">
                <a:solidFill>
                  <a:srgbClr val="067D17"/>
                </a:solidFill>
                <a:effectLst/>
              </a:rPr>
              <a:t>:"</a:t>
            </a:r>
            <a:r>
              <a:rPr lang="en-US" altLang="zh-CN" sz="1200" dirty="0"/>
              <a:t>, </a:t>
            </a:r>
            <a:r>
              <a:rPr lang="en-GB" altLang="zh-CN" sz="1200" dirty="0"/>
              <a:t>result)</a:t>
            </a:r>
            <a:br>
              <a:rPr lang="en-GB" altLang="zh-CN" sz="1200" dirty="0"/>
            </a:br>
            <a:br>
              <a:rPr lang="en-GB" altLang="zh-CN" sz="1200" dirty="0"/>
            </a:br>
            <a:br>
              <a:rPr lang="en-GB" altLang="zh-CN" sz="1200" dirty="0"/>
            </a:br>
            <a:r>
              <a:rPr lang="en-GB" altLang="zh-CN" sz="1200" dirty="0"/>
              <a:t>    </a:t>
            </a:r>
            <a:r>
              <a:rPr lang="en-GB" altLang="zh-CN" sz="1200" i="1" dirty="0">
                <a:solidFill>
                  <a:srgbClr val="8C8C8C"/>
                </a:solidFill>
                <a:effectLst/>
              </a:rPr>
              <a:t># 2. </a:t>
            </a:r>
            <a:r>
              <a:rPr lang="zh-CN" altLang="en-US" sz="1200" i="1" dirty="0">
                <a:solidFill>
                  <a:srgbClr val="8C8C8C"/>
                </a:solidFill>
                <a:effectLst/>
              </a:rPr>
              <a:t>模型 </a:t>
            </a:r>
            <a:r>
              <a:rPr lang="en-GB" altLang="zh-CN" sz="1200" i="1" dirty="0">
                <a:solidFill>
                  <a:srgbClr val="8C8C8C"/>
                </a:solidFill>
                <a:effectLst/>
              </a:rPr>
              <a:t>B: </a:t>
            </a:r>
            <a:r>
              <a:rPr lang="zh-CN" altLang="en-US" sz="1200" i="1" dirty="0">
                <a:solidFill>
                  <a:srgbClr val="8C8C8C"/>
                </a:solidFill>
                <a:effectLst/>
              </a:rPr>
              <a:t>预测对了</a:t>
            </a:r>
            <a:r>
              <a:rPr lang="en-US" altLang="zh-CN" sz="1200" i="1" dirty="0">
                <a:solidFill>
                  <a:srgbClr val="8C8C8C"/>
                </a:solidFill>
                <a:effectLst/>
              </a:rPr>
              <a:t>6</a:t>
            </a:r>
            <a:r>
              <a:rPr lang="zh-CN" altLang="en-US" sz="1200" i="1" dirty="0">
                <a:solidFill>
                  <a:srgbClr val="8C8C8C"/>
                </a:solidFill>
                <a:effectLst/>
              </a:rPr>
              <a:t>个恶性肿瘤样本</a:t>
            </a:r>
            <a:r>
              <a:rPr lang="en-US" altLang="zh-CN" sz="1200" i="1" dirty="0">
                <a:solidFill>
                  <a:srgbClr val="8C8C8C"/>
                </a:solidFill>
                <a:effectLst/>
              </a:rPr>
              <a:t>, 1</a:t>
            </a:r>
            <a:r>
              <a:rPr lang="zh-CN" altLang="en-US" sz="1200" i="1" dirty="0">
                <a:solidFill>
                  <a:srgbClr val="8C8C8C"/>
                </a:solidFill>
                <a:effectLst/>
              </a:rPr>
              <a:t>个良性肿瘤样本</a:t>
            </a:r>
            <a:br>
              <a:rPr lang="zh-CN" altLang="en-US" sz="1200" i="1" dirty="0">
                <a:solidFill>
                  <a:srgbClr val="8C8C8C"/>
                </a:solidFill>
                <a:effectLst/>
              </a:rPr>
            </a:br>
            <a:r>
              <a:rPr lang="zh-CN" altLang="en-US" sz="1200" i="1" dirty="0">
                <a:solidFill>
                  <a:srgbClr val="8C8C8C"/>
                </a:solidFill>
                <a:effectLst/>
              </a:rPr>
              <a:t>    </a:t>
            </a:r>
            <a:r>
              <a:rPr lang="en-GB" altLang="zh-CN" sz="1200" dirty="0" err="1"/>
              <a:t>y_pred</a:t>
            </a:r>
            <a:r>
              <a:rPr lang="en-US" altLang="zh-CN" sz="1200" dirty="0"/>
              <a:t>2</a:t>
            </a:r>
            <a:r>
              <a:rPr lang="en-GB" altLang="zh-CN" sz="1200" dirty="0"/>
              <a:t> =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br>
              <a:rPr lang="en-US" altLang="zh-CN" sz="1200" dirty="0"/>
            </a:br>
            <a:r>
              <a:rPr lang="en-US" altLang="zh-CN" sz="1200" dirty="0"/>
              <a:t>    </a:t>
            </a:r>
            <a:r>
              <a:rPr lang="en-GB" altLang="zh-CN" sz="1200" dirty="0"/>
              <a:t>result = </a:t>
            </a:r>
            <a:r>
              <a:rPr lang="en-GB" altLang="zh-CN" sz="1200" dirty="0" err="1"/>
              <a:t>precision_score</a:t>
            </a:r>
            <a:r>
              <a:rPr lang="en-GB" altLang="zh-CN" sz="1200" dirty="0"/>
              <a:t>(</a:t>
            </a:r>
            <a:r>
              <a:rPr lang="en-GB" altLang="zh-CN" sz="1200" dirty="0" err="1"/>
              <a:t>y_true</a:t>
            </a:r>
            <a:r>
              <a:rPr lang="en-GB" altLang="zh-CN" sz="1200" dirty="0"/>
              <a:t>, </a:t>
            </a:r>
            <a:r>
              <a:rPr lang="en-GB" altLang="zh-CN" sz="1200" dirty="0" err="1"/>
              <a:t>y_pred</a:t>
            </a:r>
            <a:r>
              <a:rPr lang="en-US" altLang="zh-CN" sz="1200" dirty="0"/>
              <a:t>2</a:t>
            </a:r>
            <a:r>
              <a:rPr lang="en-GB" altLang="zh-CN" sz="1200" dirty="0"/>
              <a:t>, </a:t>
            </a:r>
            <a:r>
              <a:rPr lang="en-GB" altLang="zh-CN" sz="1200" dirty="0" err="1">
                <a:solidFill>
                  <a:srgbClr val="660099"/>
                </a:solidFill>
                <a:effectLst/>
              </a:rPr>
              <a:t>pos_label</a:t>
            </a:r>
            <a:r>
              <a:rPr lang="en-GB" altLang="zh-CN" sz="1200" dirty="0"/>
              <a:t>=</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a:t>
            </a:r>
            <a:br>
              <a:rPr lang="en-US" altLang="zh-CN" sz="1200" dirty="0"/>
            </a:br>
            <a:r>
              <a:rPr lang="en-US"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a:t>
            </a:r>
            <a:r>
              <a:rPr lang="zh-CN" altLang="en-US" sz="1200" dirty="0">
                <a:solidFill>
                  <a:srgbClr val="067D17"/>
                </a:solidFill>
                <a:effectLst/>
              </a:rPr>
              <a:t>模型</a:t>
            </a:r>
            <a:r>
              <a:rPr lang="en-GB" altLang="zh-CN" sz="1200" dirty="0">
                <a:solidFill>
                  <a:srgbClr val="067D17"/>
                </a:solidFill>
                <a:effectLst/>
              </a:rPr>
              <a:t>B</a:t>
            </a:r>
            <a:r>
              <a:rPr lang="zh-CN" altLang="en-US" sz="1200" dirty="0">
                <a:solidFill>
                  <a:srgbClr val="067D17"/>
                </a:solidFill>
                <a:effectLst/>
              </a:rPr>
              <a:t>精度</a:t>
            </a:r>
            <a:r>
              <a:rPr lang="en-US" altLang="zh-CN" sz="1200" dirty="0">
                <a:solidFill>
                  <a:srgbClr val="067D17"/>
                </a:solidFill>
                <a:effectLst/>
              </a:rPr>
              <a:t>:"</a:t>
            </a:r>
            <a:r>
              <a:rPr lang="en-US" altLang="zh-CN" sz="1200" dirty="0"/>
              <a:t>, </a:t>
            </a:r>
            <a:r>
              <a:rPr lang="en-GB" altLang="zh-CN" sz="1200" dirty="0"/>
              <a:t>result)</a:t>
            </a:r>
            <a:endParaRPr kumimoji="0" lang="en-US" altLang="zh-CN" sz="12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154816" y="1357169"/>
            <a:ext cx="4098486"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精确率</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en-GB"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Precision)</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举个栗子</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精确率、</a:t>
            </a:r>
            <a:r>
              <a:rPr kumimoji="1" lang="zh-CN" altLang="en-US" dirty="0">
                <a:solidFill>
                  <a:schemeClr val="accent2">
                    <a:lumMod val="75000"/>
                  </a:schemeClr>
                </a:solidFill>
                <a:latin typeface="Alibaba PuHuiTi" pitchFamily="18" charset="-122"/>
                <a:ea typeface="Alibaba PuHuiTi" pitchFamily="18" charset="-122"/>
                <a:cs typeface="Alibaba PuHuiTi" pitchFamily="18" charset="-122"/>
              </a:rPr>
              <a:t>召回率</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F1</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221659" y="1332437"/>
            <a:ext cx="622136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召回率</a:t>
            </a: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(Recall)</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概念</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2" name="文本框 1"/>
              <p:cNvSpPr txBox="1"/>
              <p:nvPr/>
            </p:nvSpPr>
            <p:spPr>
              <a:xfrm>
                <a:off x="1592570" y="1651319"/>
                <a:ext cx="5578112" cy="1580754"/>
              </a:xfrm>
              <a:prstGeom prst="rect">
                <a:avLst/>
              </a:prstGeom>
              <a:noFill/>
            </p:spPr>
            <p:txBody>
              <a:bodyPr wrap="square">
                <a:spAutoFit/>
              </a:bodyPr>
              <a:lstStyle/>
              <a:p>
                <a:pPr marL="285750" indent="-285750">
                  <a:lnSpc>
                    <a:spcPct val="150000"/>
                  </a:lnSpc>
                  <a:buFont typeface="Arial" panose="020B0604020202020204" pitchFamily="34" charset="0"/>
                  <a:buChar char="•"/>
                  <a:defRPr/>
                </a:pPr>
                <a:r>
                  <a:rPr lang="zh-CN" altLang="en-US" sz="1400" noProof="0" dirty="0">
                    <a:solidFill>
                      <a:prstClr val="black">
                        <a:lumMod val="85000"/>
                        <a:lumOff val="15000"/>
                      </a:prstClr>
                    </a:solidFill>
                    <a:latin typeface="Alibaba PuHuiTi" pitchFamily="18" charset="-122"/>
                    <a:ea typeface="Alibaba PuHuiTi" pitchFamily="18" charset="-122"/>
                    <a:cs typeface="Alibaba PuHuiTi" pitchFamily="18" charset="-122"/>
                  </a:rPr>
                  <a:t>也叫</a:t>
                </a:r>
                <a:r>
                  <a:rPr lang="zh-CN" altLang="en-US" sz="1400" noProof="0" dirty="0">
                    <a:solidFill>
                      <a:schemeClr val="accent2">
                        <a:lumMod val="75000"/>
                      </a:schemeClr>
                    </a:solidFill>
                    <a:latin typeface="Alibaba PuHuiTi" pitchFamily="18" charset="-122"/>
                    <a:ea typeface="Alibaba PuHuiTi" pitchFamily="18" charset="-122"/>
                    <a:cs typeface="Alibaba PuHuiTi" pitchFamily="18" charset="-122"/>
                  </a:rPr>
                  <a:t>查全</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率</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，指的是预测为真正例样本占所有真实正例样本的比重例如：恶性肿瘤当做正例样本，则我们想知道模型是否能把所有的恶性肿瘤患者都预测出来</a:t>
                </a:r>
                <a:r>
                  <a:rPr lang="zh-CN" altLang="en-US" dirty="0"/>
                  <a:t>。</a:t>
                </a:r>
                <a:endParaRPr lang="en-US" altLang="zh-CN" dirty="0"/>
              </a:p>
              <a:p>
                <a:pPr marL="285750" indent="-285750">
                  <a:lnSpc>
                    <a:spcPct val="150000"/>
                  </a:lnSpc>
                  <a:buFont typeface="Arial" panose="020B0604020202020204" pitchFamily="34" charset="0"/>
                  <a:buChar char="•"/>
                  <a:defRPr/>
                </a:pPr>
                <a:r>
                  <a:rPr lang="zh-CN" altLang="en-US" sz="1400" noProof="0" dirty="0">
                    <a:solidFill>
                      <a:prstClr val="black">
                        <a:lumMod val="85000"/>
                        <a:lumOff val="15000"/>
                      </a:prstClr>
                    </a:solidFill>
                    <a:latin typeface="Alibaba PuHuiTi" pitchFamily="18" charset="-122"/>
                    <a:ea typeface="Alibaba PuHuiTi" pitchFamily="18" charset="-122"/>
                    <a:cs typeface="Alibaba PuHuiTi" pitchFamily="18" charset="-122"/>
                  </a:rPr>
                  <a:t>计算方法</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f>
                      <m:fPr>
                        <m:ctrlP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fPr>
                      <m:num>
                        <m:r>
                          <m:rPr>
                            <m:sty m:val="p"/>
                          </m:rP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TP</m:t>
                        </m:r>
                      </m:num>
                      <m:den>
                        <m:r>
                          <m:rPr>
                            <m:sty m:val="p"/>
                          </m:rP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TP</m:t>
                        </m:r>
                        <m: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m:t>
                        </m:r>
                        <m:r>
                          <a:rPr kumimoji="0" lang="zh-CN" altLang="en-US"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 </m:t>
                        </m:r>
                        <m:r>
                          <m:rPr>
                            <m:sty m:val="p"/>
                          </m:rPr>
                          <a:rPr kumimoji="0" lang="en-US" altLang="zh-CN" sz="1400" b="0" i="1" u="none" strike="noStrike" kern="1200" cap="none" spc="0" normalizeH="0" baseline="0" noProof="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FN</m:t>
                        </m:r>
                      </m:den>
                    </m:f>
                  </m:oMath>
                </a14:m>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592570" y="1651319"/>
                <a:ext cx="5578112" cy="1580754"/>
              </a:xfrm>
              <a:prstGeom prst="rect">
                <a:avLst/>
              </a:prstGeom>
              <a:blipFill rotWithShape="1">
                <a:blip r:embed="rId1"/>
                <a:stretch>
                  <a:fillRect l="-11" t="-20" r="5" b="35"/>
                </a:stretch>
              </a:blipFill>
            </p:spPr>
            <p:txBody>
              <a:bodyPr/>
              <a:lstStyle/>
              <a:p>
                <a:r>
                  <a:rPr lang="zh-CN" altLang="en-US">
                    <a:noFill/>
                  </a:rPr>
                  <a:t> </a:t>
                </a:r>
              </a:p>
            </p:txBody>
          </p:sp>
        </mc:Fallback>
      </mc:AlternateContent>
      <p:sp>
        <p:nvSpPr>
          <p:cNvPr id="9" name="文本框 8"/>
          <p:cNvSpPr txBox="1"/>
          <p:nvPr>
            <p:custDataLst>
              <p:tags r:id="rId2"/>
            </p:custDataLst>
          </p:nvPr>
        </p:nvSpPr>
        <p:spPr>
          <a:xfrm>
            <a:off x="1437640" y="4064635"/>
            <a:ext cx="4658360" cy="73723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模型</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：预测对了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3 </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个恶性肿瘤</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样本，</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4 </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个良性肿瘤</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样本</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请计算：</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FN</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TN</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0" name="文本框 9"/>
          <p:cNvSpPr txBox="1"/>
          <p:nvPr>
            <p:custDataLst>
              <p:tags r:id="rId3"/>
            </p:custDataLst>
          </p:nvPr>
        </p:nvSpPr>
        <p:spPr>
          <a:xfrm>
            <a:off x="6667614" y="4044994"/>
            <a:ext cx="4805515" cy="73723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模型B：预测对了</a:t>
            </a:r>
            <a:r>
              <a:rPr kumimoji="0" lang="zh-CN" altLang="en-US" sz="1400" b="0" i="0" u="none" strike="noStrike" kern="1200" cap="none" spc="0" normalizeH="0" baseline="0" noProof="0" dirty="0">
                <a:ln>
                  <a:noFill/>
                </a:ln>
                <a:gradFill>
                  <a:gsLst>
                    <a:gs pos="50000">
                      <a:schemeClr val="accent2"/>
                    </a:gs>
                    <a:gs pos="0">
                      <a:schemeClr val="accent2">
                        <a:lumMod val="25000"/>
                        <a:lumOff val="75000"/>
                      </a:schemeClr>
                    </a:gs>
                    <a:gs pos="100000">
                      <a:schemeClr val="accent2">
                        <a:lumMod val="85000"/>
                      </a:schemeClr>
                    </a:gs>
                  </a:gsLst>
                  <a:lin ang="5400000" scaled="1"/>
                </a:gradFill>
                <a:effectLst/>
                <a:uLnTx/>
                <a:uFillTx/>
                <a:latin typeface="Alibaba PuHuiTi" pitchFamily="18" charset="-122"/>
                <a:ea typeface="Alibaba PuHuiTi" pitchFamily="18" charset="-122"/>
                <a:cs typeface="Alibaba PuHuiTi" pitchFamily="18" charset="-122"/>
              </a:rPr>
              <a:t> </a:t>
            </a:r>
            <a:r>
              <a:rPr kumimoji="0" lang="zh-CN" altLang="en-US" sz="1400" b="0" i="0" u="none" strike="noStrike" kern="1200" cap="none" spc="0" normalizeH="0" baseline="0" noProof="0" dirty="0">
                <a:ln>
                  <a:noFill/>
                </a:ln>
                <a:solidFill>
                  <a:srgbClr val="AD2B26"/>
                </a:solidFill>
                <a:effectLst/>
                <a:uLnTx/>
                <a:uFillTx/>
                <a:latin typeface="Alibaba PuHuiTi" pitchFamily="18" charset="-122"/>
                <a:ea typeface="Alibaba PuHuiTi" pitchFamily="18" charset="-122"/>
                <a:cs typeface="Alibaba PuHuiTi" pitchFamily="18" charset="-122"/>
              </a:rPr>
              <a:t>6 个恶性肿瘤</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样本，</a:t>
            </a:r>
            <a:r>
              <a:rPr kumimoji="0" lang="zh-CN" altLang="en-US" sz="1400" b="0" i="0" u="none" strike="noStrike" kern="1200" cap="none" spc="0" normalizeH="0" baseline="0" noProof="0" dirty="0">
                <a:ln>
                  <a:noFill/>
                </a:ln>
                <a:solidFill>
                  <a:srgbClr val="AD2B26"/>
                </a:solidFill>
                <a:effectLst/>
                <a:uLnTx/>
                <a:uFillTx/>
                <a:latin typeface="Alibaba PuHuiTi" pitchFamily="18" charset="-122"/>
                <a:ea typeface="Alibaba PuHuiTi" pitchFamily="18" charset="-122"/>
                <a:cs typeface="Alibaba PuHuiTi" pitchFamily="18" charset="-122"/>
              </a:rPr>
              <a:t>1个良性肿瘤</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样本</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请计算：</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FN</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TN</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1" name="文本框 10"/>
          <p:cNvSpPr txBox="1"/>
          <p:nvPr>
            <p:custDataLst>
              <p:tags r:id="rId4"/>
            </p:custDataLst>
          </p:nvPr>
        </p:nvSpPr>
        <p:spPr>
          <a:xfrm>
            <a:off x="2092084" y="4802136"/>
            <a:ext cx="3343579" cy="200106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真正例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TP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3 </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伪反例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FN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3</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伪正例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FP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0</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真反例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TN</a:t>
            </a:r>
            <a:r>
              <a:rPr kumimoji="0" lang="zh-CN" altLang="en-GB"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4</a:t>
            </a:r>
            <a:endPar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精度：</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3</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(3+0)</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100%</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endPar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召回率：</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3</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(3</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3)</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50%</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endParaRPr kumimoji="0" lang="en-GB"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
        <p:nvSpPr>
          <p:cNvPr id="12" name="文本框 11"/>
          <p:cNvSpPr txBox="1"/>
          <p:nvPr>
            <p:custDataLst>
              <p:tags r:id="rId5"/>
            </p:custDataLst>
          </p:nvPr>
        </p:nvSpPr>
        <p:spPr>
          <a:xfrm>
            <a:off x="6905299" y="4760581"/>
            <a:ext cx="3849260" cy="200106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真正例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TP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6</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伪反例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FN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0</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伪正例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FP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a:t>
            </a:r>
            <a:r>
              <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3</a:t>
            </a:r>
            <a:endParaRPr kumimoji="0" lang="en-US"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真反例 </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TN</a:t>
            </a:r>
            <a:r>
              <a:rPr kumimoji="0" lang="zh-CN" altLang="en-GB"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1</a:t>
            </a:r>
            <a:endPar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精度：</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6/(6+3)</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67%</a:t>
            </a:r>
            <a:endPar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召回率：</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6</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(6</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0)</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100</a:t>
            </a:r>
            <a:endPar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cxnSp>
        <p:nvCxnSpPr>
          <p:cNvPr id="13" name="直线连接符 12"/>
          <p:cNvCxnSpPr/>
          <p:nvPr>
            <p:custDataLst>
              <p:tags r:id="rId6"/>
            </p:custDataLst>
          </p:nvPr>
        </p:nvCxnSpPr>
        <p:spPr>
          <a:xfrm flipV="1">
            <a:off x="6272409" y="4185275"/>
            <a:ext cx="0" cy="2150026"/>
          </a:xfrm>
          <a:prstGeom prst="line">
            <a:avLst/>
          </a:prstGeom>
          <a:ln w="22225">
            <a:solidFill>
              <a:srgbClr val="AD2A26"/>
            </a:solidFill>
            <a:prstDash val="dash"/>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437640" y="3685540"/>
            <a:ext cx="7695565" cy="41402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已知：样本集</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10</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样本</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，有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6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个恶性肿瘤样本，</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4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个良性肿瘤样本，我们假设</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恶性肿瘤为正例</a:t>
            </a:r>
            <a:endPar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cxnSp>
        <p:nvCxnSpPr>
          <p:cNvPr id="15" name="直线连接符 14"/>
          <p:cNvCxnSpPr/>
          <p:nvPr/>
        </p:nvCxnSpPr>
        <p:spPr>
          <a:xfrm flipH="1">
            <a:off x="2092012" y="3361367"/>
            <a:ext cx="7966388" cy="0"/>
          </a:xfrm>
          <a:prstGeom prst="line">
            <a:avLst/>
          </a:prstGeom>
          <a:ln w="22225">
            <a:solidFill>
              <a:srgbClr val="AD2A26"/>
            </a:solidFill>
            <a:prstDash val="dash"/>
          </a:ln>
        </p:spPr>
        <p:style>
          <a:lnRef idx="1">
            <a:schemeClr val="accent1"/>
          </a:lnRef>
          <a:fillRef idx="0">
            <a:schemeClr val="accent1"/>
          </a:fillRef>
          <a:effectRef idx="0">
            <a:schemeClr val="accent1"/>
          </a:effectRef>
          <a:fontRef idx="minor">
            <a:schemeClr val="tx1"/>
          </a:fontRef>
        </p:style>
      </p:cxnSp>
      <p:sp>
        <p:nvSpPr>
          <p:cNvPr id="18" name="文本占位符 2"/>
          <p:cNvSpPr txBox="1"/>
          <p:nvPr/>
        </p:nvSpPr>
        <p:spPr>
          <a:xfrm>
            <a:off x="1160301" y="3230736"/>
            <a:ext cx="622136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Open Sans" panose="020B0606030504020204" pitchFamily="34" charset="0"/>
              </a:rPr>
              <a:t>召回率</a:t>
            </a:r>
            <a:r>
              <a:rPr lang="en-US" altLang="zh-CN" dirty="0">
                <a:solidFill>
                  <a:prstClr val="black">
                    <a:lumMod val="85000"/>
                    <a:lumOff val="15000"/>
                  </a:prstClr>
                </a:solidFill>
                <a:latin typeface="Open Sans" panose="020B0606030504020204" pitchFamily="34" charset="0"/>
              </a:rPr>
              <a:t>(Recall)</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举个栗子</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7"/>
          <a:stretch>
            <a:fillRect/>
          </a:stretch>
        </p:blipFill>
        <p:spPr>
          <a:xfrm>
            <a:off x="7622502" y="926690"/>
            <a:ext cx="3941797" cy="21889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精确率、</a:t>
            </a:r>
            <a:r>
              <a:rPr kumimoji="1" lang="zh-CN" altLang="en-US" dirty="0">
                <a:solidFill>
                  <a:schemeClr val="accent2">
                    <a:lumMod val="75000"/>
                  </a:schemeClr>
                </a:solidFill>
                <a:latin typeface="Alibaba PuHuiTi" pitchFamily="18" charset="-122"/>
                <a:ea typeface="Alibaba PuHuiTi" pitchFamily="18" charset="-122"/>
                <a:cs typeface="Alibaba PuHuiTi" pitchFamily="18" charset="-122"/>
              </a:rPr>
              <a:t>召回率</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F1</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5" name="TextBox 3"/>
          <p:cNvSpPr txBox="1"/>
          <p:nvPr/>
        </p:nvSpPr>
        <p:spPr>
          <a:xfrm>
            <a:off x="2539770" y="2373937"/>
            <a:ext cx="7518629" cy="3046988"/>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i="1" dirty="0">
                <a:solidFill>
                  <a:srgbClr val="8C8C8C"/>
                </a:solidFill>
                <a:effectLst/>
              </a:rPr>
              <a:t># </a:t>
            </a:r>
            <a:r>
              <a:rPr lang="zh-CN" altLang="en-US" sz="1200" i="1" dirty="0">
                <a:solidFill>
                  <a:srgbClr val="8C8C8C"/>
                </a:solidFill>
                <a:effectLst/>
              </a:rPr>
              <a:t>召回率（查全率）</a:t>
            </a:r>
            <a:br>
              <a:rPr lang="zh-CN" altLang="en-US" sz="1200" i="1" dirty="0">
                <a:solidFill>
                  <a:srgbClr val="8C8C8C"/>
                </a:solidFill>
                <a:effectLst/>
              </a:rPr>
            </a:br>
            <a:r>
              <a:rPr lang="en-GB" altLang="zh-CN" sz="1200" dirty="0">
                <a:solidFill>
                  <a:srgbClr val="0033B3"/>
                </a:solidFill>
                <a:effectLst/>
              </a:rPr>
              <a:t>from </a:t>
            </a:r>
            <a:r>
              <a:rPr lang="en-GB" altLang="zh-CN" sz="1200" dirty="0" err="1"/>
              <a:t>sklearn.metrics</a:t>
            </a:r>
            <a:r>
              <a:rPr lang="en-GB" altLang="zh-CN" sz="1200" dirty="0"/>
              <a:t> </a:t>
            </a:r>
            <a:r>
              <a:rPr lang="en-GB" altLang="zh-CN" sz="1200" dirty="0">
                <a:solidFill>
                  <a:srgbClr val="0033B3"/>
                </a:solidFill>
                <a:effectLst/>
              </a:rPr>
              <a:t>import </a:t>
            </a:r>
            <a:r>
              <a:rPr lang="en-GB" altLang="zh-CN" sz="1200" dirty="0" err="1"/>
              <a:t>recall_score</a:t>
            </a:r>
            <a:br>
              <a:rPr lang="en-GB" altLang="zh-CN" sz="1200" dirty="0"/>
            </a:br>
            <a:r>
              <a:rPr lang="en-GB" altLang="zh-CN" sz="1200" dirty="0">
                <a:solidFill>
                  <a:srgbClr val="0033B3"/>
                </a:solidFill>
                <a:effectLst/>
              </a:rPr>
              <a:t>def </a:t>
            </a:r>
            <a:r>
              <a:rPr lang="en-GB" altLang="zh-CN" sz="1200" dirty="0">
                <a:solidFill>
                  <a:srgbClr val="00627A"/>
                </a:solidFill>
                <a:effectLst/>
              </a:rPr>
              <a:t>dm02_</a:t>
            </a:r>
            <a:r>
              <a:rPr lang="zh-CN" altLang="en-US" sz="1200" dirty="0">
                <a:solidFill>
                  <a:srgbClr val="00627A"/>
                </a:solidFill>
                <a:effectLst/>
              </a:rPr>
              <a:t>召回率</a:t>
            </a:r>
            <a:r>
              <a:rPr lang="en-GB" altLang="zh-CN" sz="1200" dirty="0">
                <a:solidFill>
                  <a:srgbClr val="00627A"/>
                </a:solidFill>
                <a:effectLst/>
              </a:rPr>
              <a:t>recall</a:t>
            </a:r>
            <a:r>
              <a:rPr lang="en-GB" altLang="zh-CN" sz="1200" dirty="0"/>
              <a:t>():</a:t>
            </a:r>
            <a:br>
              <a:rPr lang="en-GB" altLang="zh-CN" sz="1200" dirty="0"/>
            </a:br>
            <a:r>
              <a:rPr lang="en-GB" altLang="zh-CN" sz="1200" dirty="0"/>
              <a:t>    </a:t>
            </a:r>
            <a:r>
              <a:rPr lang="en-GB" altLang="zh-CN" sz="1200" i="1" dirty="0">
                <a:solidFill>
                  <a:srgbClr val="8C8C8C"/>
                </a:solidFill>
                <a:effectLst/>
              </a:rPr>
              <a:t># </a:t>
            </a:r>
            <a:r>
              <a:rPr lang="zh-CN" altLang="en-US" sz="1200" i="1" dirty="0">
                <a:solidFill>
                  <a:srgbClr val="8C8C8C"/>
                </a:solidFill>
                <a:effectLst/>
              </a:rPr>
              <a:t>样本集中共有</a:t>
            </a:r>
            <a:r>
              <a:rPr lang="en-US" altLang="zh-CN" sz="1200" i="1" dirty="0">
                <a:solidFill>
                  <a:srgbClr val="8C8C8C"/>
                </a:solidFill>
                <a:effectLst/>
              </a:rPr>
              <a:t>6</a:t>
            </a:r>
            <a:r>
              <a:rPr lang="zh-CN" altLang="en-US" sz="1200" i="1" dirty="0">
                <a:solidFill>
                  <a:srgbClr val="8C8C8C"/>
                </a:solidFill>
                <a:effectLst/>
              </a:rPr>
              <a:t>个恶性肿瘤样本</a:t>
            </a:r>
            <a:r>
              <a:rPr lang="en-US" altLang="zh-CN" sz="1200" i="1" dirty="0">
                <a:solidFill>
                  <a:srgbClr val="8C8C8C"/>
                </a:solidFill>
                <a:effectLst/>
              </a:rPr>
              <a:t>, 4</a:t>
            </a:r>
            <a:r>
              <a:rPr lang="zh-CN" altLang="en-US" sz="1200" i="1" dirty="0">
                <a:solidFill>
                  <a:srgbClr val="8C8C8C"/>
                </a:solidFill>
                <a:effectLst/>
              </a:rPr>
              <a:t>个良性肿瘤样本</a:t>
            </a:r>
            <a:br>
              <a:rPr lang="zh-CN" altLang="en-US" sz="1200" i="1" dirty="0">
                <a:solidFill>
                  <a:srgbClr val="8C8C8C"/>
                </a:solidFill>
                <a:effectLst/>
              </a:rPr>
            </a:br>
            <a:r>
              <a:rPr lang="zh-CN" altLang="en-US" sz="1200" i="1" dirty="0">
                <a:solidFill>
                  <a:srgbClr val="8C8C8C"/>
                </a:solidFill>
                <a:effectLst/>
              </a:rPr>
              <a:t>    </a:t>
            </a:r>
            <a:r>
              <a:rPr lang="en-GB" altLang="zh-CN" sz="1200" dirty="0" err="1"/>
              <a:t>y_true</a:t>
            </a:r>
            <a:r>
              <a:rPr lang="en-GB" altLang="zh-CN" sz="1200" dirty="0"/>
              <a:t> =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solidFill>
                  <a:srgbClr val="067D17"/>
                </a:solidFill>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br>
              <a:rPr lang="en-US" altLang="zh-CN" sz="1200" dirty="0"/>
            </a:br>
            <a:r>
              <a:rPr lang="en-US" altLang="zh-CN" sz="1200" dirty="0"/>
              <a:t>    </a:t>
            </a:r>
            <a:r>
              <a:rPr lang="en-US" altLang="zh-CN" sz="1200" i="1" dirty="0">
                <a:solidFill>
                  <a:srgbClr val="8C8C8C"/>
                </a:solidFill>
                <a:effectLst/>
              </a:rPr>
              <a:t># 1. </a:t>
            </a:r>
            <a:r>
              <a:rPr lang="zh-CN" altLang="en-US" sz="1200" i="1" dirty="0">
                <a:solidFill>
                  <a:srgbClr val="8C8C8C"/>
                </a:solidFill>
                <a:effectLst/>
              </a:rPr>
              <a:t>模型 </a:t>
            </a:r>
            <a:r>
              <a:rPr lang="en-GB" altLang="zh-CN" sz="1200" i="1" dirty="0">
                <a:solidFill>
                  <a:srgbClr val="8C8C8C"/>
                </a:solidFill>
                <a:effectLst/>
              </a:rPr>
              <a:t>A: </a:t>
            </a:r>
            <a:r>
              <a:rPr lang="zh-CN" altLang="en-US" sz="1200" i="1" dirty="0">
                <a:solidFill>
                  <a:srgbClr val="8C8C8C"/>
                </a:solidFill>
                <a:effectLst/>
              </a:rPr>
              <a:t>预测对了</a:t>
            </a:r>
            <a:r>
              <a:rPr lang="en-US" altLang="zh-CN" sz="1200" i="1" dirty="0">
                <a:solidFill>
                  <a:srgbClr val="8C8C8C"/>
                </a:solidFill>
                <a:effectLst/>
              </a:rPr>
              <a:t>3</a:t>
            </a:r>
            <a:r>
              <a:rPr lang="zh-CN" altLang="en-US" sz="1200" i="1" dirty="0">
                <a:solidFill>
                  <a:srgbClr val="8C8C8C"/>
                </a:solidFill>
                <a:effectLst/>
              </a:rPr>
              <a:t>个恶性肿瘤样本</a:t>
            </a:r>
            <a:r>
              <a:rPr lang="en-US" altLang="zh-CN" sz="1200" i="1" dirty="0">
                <a:solidFill>
                  <a:srgbClr val="8C8C8C"/>
                </a:solidFill>
                <a:effectLst/>
              </a:rPr>
              <a:t>, 4</a:t>
            </a:r>
            <a:r>
              <a:rPr lang="zh-CN" altLang="en-US" sz="1200" i="1" dirty="0">
                <a:solidFill>
                  <a:srgbClr val="8C8C8C"/>
                </a:solidFill>
                <a:effectLst/>
              </a:rPr>
              <a:t>个良性肿瘤样本</a:t>
            </a:r>
            <a:br>
              <a:rPr lang="zh-CN" altLang="en-US" sz="1200" i="1" dirty="0">
                <a:solidFill>
                  <a:srgbClr val="8C8C8C"/>
                </a:solidFill>
                <a:effectLst/>
              </a:rPr>
            </a:br>
            <a:r>
              <a:rPr lang="zh-CN" altLang="en-US" sz="1200" i="1" dirty="0">
                <a:solidFill>
                  <a:srgbClr val="8C8C8C"/>
                </a:solidFill>
                <a:effectLst/>
              </a:rPr>
              <a:t>    </a:t>
            </a:r>
            <a:r>
              <a:rPr lang="en-GB" altLang="zh-CN" sz="1200" dirty="0" err="1"/>
              <a:t>y_pred</a:t>
            </a:r>
            <a:r>
              <a:rPr lang="en-US" altLang="zh-CN" sz="1200" dirty="0"/>
              <a:t>1</a:t>
            </a:r>
            <a:r>
              <a:rPr lang="en-GB" altLang="zh-CN" sz="1200" dirty="0"/>
              <a:t> =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r>
              <a:rPr lang="en-US" altLang="zh-CN" sz="1200" dirty="0"/>
              <a:t>    </a:t>
            </a:r>
            <a:r>
              <a:rPr lang="en-GB" altLang="zh-CN" sz="1200" dirty="0"/>
              <a:t>result = </a:t>
            </a:r>
            <a:r>
              <a:rPr lang="en-GB" altLang="zh-CN" sz="1200" dirty="0" err="1"/>
              <a:t>recall_score</a:t>
            </a:r>
            <a:r>
              <a:rPr lang="en-GB" altLang="zh-CN" sz="1200" dirty="0"/>
              <a:t>(</a:t>
            </a:r>
            <a:r>
              <a:rPr lang="en-GB" altLang="zh-CN" sz="1200" dirty="0" err="1"/>
              <a:t>y_true</a:t>
            </a:r>
            <a:r>
              <a:rPr lang="en-GB" altLang="zh-CN" sz="1200" dirty="0"/>
              <a:t>, </a:t>
            </a:r>
            <a:r>
              <a:rPr lang="en-GB" altLang="zh-CN" sz="1200" dirty="0" err="1"/>
              <a:t>y_pred</a:t>
            </a:r>
            <a:r>
              <a:rPr lang="en-US" altLang="zh-CN" sz="1200" dirty="0"/>
              <a:t>1</a:t>
            </a:r>
            <a:r>
              <a:rPr lang="en-GB" altLang="zh-CN" sz="1200" dirty="0"/>
              <a:t>, </a:t>
            </a:r>
            <a:r>
              <a:rPr lang="en-GB" altLang="zh-CN" sz="1200" dirty="0" err="1">
                <a:solidFill>
                  <a:srgbClr val="660099"/>
                </a:solidFill>
                <a:effectLst/>
              </a:rPr>
              <a:t>pos_label</a:t>
            </a:r>
            <a:r>
              <a:rPr lang="en-GB" altLang="zh-CN" sz="1200" dirty="0"/>
              <a:t>=</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a:t>
            </a:r>
            <a:br>
              <a:rPr lang="en-US" altLang="zh-CN" sz="1200" dirty="0"/>
            </a:br>
            <a:r>
              <a:rPr lang="en-US"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a:t>
            </a:r>
            <a:r>
              <a:rPr lang="zh-CN" altLang="en-US" sz="1200" dirty="0">
                <a:solidFill>
                  <a:srgbClr val="067D17"/>
                </a:solidFill>
                <a:effectLst/>
              </a:rPr>
              <a:t>模型</a:t>
            </a:r>
            <a:r>
              <a:rPr lang="en-GB" altLang="zh-CN" sz="1200" dirty="0">
                <a:solidFill>
                  <a:srgbClr val="067D17"/>
                </a:solidFill>
                <a:effectLst/>
              </a:rPr>
              <a:t>A</a:t>
            </a:r>
            <a:r>
              <a:rPr lang="zh-CN" altLang="en-US" sz="1200" dirty="0">
                <a:solidFill>
                  <a:srgbClr val="067D17"/>
                </a:solidFill>
                <a:effectLst/>
              </a:rPr>
              <a:t>召回率</a:t>
            </a:r>
            <a:r>
              <a:rPr lang="en-US" altLang="zh-CN" sz="1200" dirty="0">
                <a:solidFill>
                  <a:srgbClr val="067D17"/>
                </a:solidFill>
                <a:effectLst/>
              </a:rPr>
              <a:t>:"</a:t>
            </a:r>
            <a:r>
              <a:rPr lang="en-US" altLang="zh-CN" sz="1200" dirty="0"/>
              <a:t>, </a:t>
            </a:r>
            <a:r>
              <a:rPr lang="en-GB" altLang="zh-CN" sz="1200" dirty="0"/>
              <a:t>result)</a:t>
            </a:r>
            <a:br>
              <a:rPr lang="en-GB" altLang="zh-CN" sz="1200" dirty="0"/>
            </a:br>
            <a:br>
              <a:rPr lang="en-GB" altLang="zh-CN" sz="1200" dirty="0"/>
            </a:br>
            <a:r>
              <a:rPr lang="en-GB" altLang="zh-CN" sz="1200" dirty="0"/>
              <a:t>    </a:t>
            </a:r>
            <a:r>
              <a:rPr lang="en-GB" altLang="zh-CN" sz="1200" i="1" dirty="0">
                <a:solidFill>
                  <a:srgbClr val="8C8C8C"/>
                </a:solidFill>
                <a:effectLst/>
              </a:rPr>
              <a:t># 2. </a:t>
            </a:r>
            <a:r>
              <a:rPr lang="zh-CN" altLang="en-US" sz="1200" i="1" dirty="0">
                <a:solidFill>
                  <a:srgbClr val="8C8C8C"/>
                </a:solidFill>
                <a:effectLst/>
              </a:rPr>
              <a:t>模型 </a:t>
            </a:r>
            <a:r>
              <a:rPr lang="en-GB" altLang="zh-CN" sz="1200" i="1" dirty="0">
                <a:solidFill>
                  <a:srgbClr val="8C8C8C"/>
                </a:solidFill>
                <a:effectLst/>
              </a:rPr>
              <a:t>B: </a:t>
            </a:r>
            <a:r>
              <a:rPr lang="zh-CN" altLang="en-US" sz="1200" i="1" dirty="0">
                <a:solidFill>
                  <a:srgbClr val="8C8C8C"/>
                </a:solidFill>
                <a:effectLst/>
              </a:rPr>
              <a:t>预测对了</a:t>
            </a:r>
            <a:r>
              <a:rPr lang="en-US" altLang="zh-CN" sz="1200" i="1" dirty="0">
                <a:solidFill>
                  <a:srgbClr val="8C8C8C"/>
                </a:solidFill>
                <a:effectLst/>
              </a:rPr>
              <a:t>6</a:t>
            </a:r>
            <a:r>
              <a:rPr lang="zh-CN" altLang="en-US" sz="1200" i="1" dirty="0">
                <a:solidFill>
                  <a:srgbClr val="8C8C8C"/>
                </a:solidFill>
                <a:effectLst/>
              </a:rPr>
              <a:t>个恶性肿瘤样本</a:t>
            </a:r>
            <a:r>
              <a:rPr lang="en-US" altLang="zh-CN" sz="1200" i="1" dirty="0">
                <a:solidFill>
                  <a:srgbClr val="8C8C8C"/>
                </a:solidFill>
                <a:effectLst/>
              </a:rPr>
              <a:t>, 1</a:t>
            </a:r>
            <a:r>
              <a:rPr lang="zh-CN" altLang="en-US" sz="1200" i="1" dirty="0">
                <a:solidFill>
                  <a:srgbClr val="8C8C8C"/>
                </a:solidFill>
                <a:effectLst/>
              </a:rPr>
              <a:t>个良性肿瘤样本</a:t>
            </a:r>
            <a:br>
              <a:rPr lang="zh-CN" altLang="en-US" sz="1200" i="1" dirty="0">
                <a:solidFill>
                  <a:srgbClr val="8C8C8C"/>
                </a:solidFill>
                <a:effectLst/>
              </a:rPr>
            </a:br>
            <a:r>
              <a:rPr lang="zh-CN" altLang="en-US" sz="1200" i="1" dirty="0">
                <a:solidFill>
                  <a:srgbClr val="8C8C8C"/>
                </a:solidFill>
                <a:effectLst/>
              </a:rPr>
              <a:t>    </a:t>
            </a:r>
            <a:r>
              <a:rPr lang="en-GB" altLang="zh-CN" sz="1200" dirty="0" err="1"/>
              <a:t>y_pred</a:t>
            </a:r>
            <a:r>
              <a:rPr lang="en-US" altLang="zh-CN" sz="1200" dirty="0"/>
              <a:t>2</a:t>
            </a:r>
            <a:r>
              <a:rPr lang="en-GB" altLang="zh-CN" sz="1200" dirty="0"/>
              <a:t>=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br>
              <a:rPr lang="en-US" altLang="zh-CN" sz="1200" dirty="0"/>
            </a:br>
            <a:r>
              <a:rPr lang="en-US" altLang="zh-CN" sz="1200" dirty="0"/>
              <a:t>    </a:t>
            </a:r>
            <a:r>
              <a:rPr lang="en-GB" altLang="zh-CN" sz="1200" dirty="0"/>
              <a:t>result = </a:t>
            </a:r>
            <a:r>
              <a:rPr lang="en-GB" altLang="zh-CN" sz="1200" dirty="0" err="1"/>
              <a:t>recall_score</a:t>
            </a:r>
            <a:r>
              <a:rPr lang="en-GB" altLang="zh-CN" sz="1200" dirty="0"/>
              <a:t>(</a:t>
            </a:r>
            <a:r>
              <a:rPr lang="en-GB" altLang="zh-CN" sz="1200" dirty="0" err="1"/>
              <a:t>y_true</a:t>
            </a:r>
            <a:r>
              <a:rPr lang="en-GB" altLang="zh-CN" sz="1200" dirty="0"/>
              <a:t>, </a:t>
            </a:r>
            <a:r>
              <a:rPr lang="en-GB" altLang="zh-CN" sz="1200" dirty="0" err="1"/>
              <a:t>y_pred</a:t>
            </a:r>
            <a:r>
              <a:rPr lang="en-US" altLang="zh-CN" sz="1200" dirty="0"/>
              <a:t>2</a:t>
            </a:r>
            <a:r>
              <a:rPr lang="en-GB" altLang="zh-CN" sz="1200" dirty="0"/>
              <a:t>, </a:t>
            </a:r>
            <a:r>
              <a:rPr lang="en-GB" altLang="zh-CN" sz="1200" dirty="0" err="1">
                <a:solidFill>
                  <a:srgbClr val="660099"/>
                </a:solidFill>
                <a:effectLst/>
              </a:rPr>
              <a:t>pos_label</a:t>
            </a:r>
            <a:r>
              <a:rPr lang="en-GB" altLang="zh-CN" sz="1200" dirty="0"/>
              <a:t>=</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a:t>
            </a:r>
            <a:br>
              <a:rPr lang="en-US" altLang="zh-CN" sz="1200" dirty="0"/>
            </a:br>
            <a:r>
              <a:rPr lang="en-US"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a:t>
            </a:r>
            <a:r>
              <a:rPr lang="zh-CN" altLang="en-US" sz="1200" dirty="0">
                <a:solidFill>
                  <a:srgbClr val="067D17"/>
                </a:solidFill>
                <a:effectLst/>
              </a:rPr>
              <a:t>模型</a:t>
            </a:r>
            <a:r>
              <a:rPr lang="en-GB" altLang="zh-CN" sz="1200" dirty="0">
                <a:solidFill>
                  <a:srgbClr val="067D17"/>
                </a:solidFill>
                <a:effectLst/>
              </a:rPr>
              <a:t>B</a:t>
            </a:r>
            <a:r>
              <a:rPr lang="zh-CN" altLang="en-US" sz="1200" dirty="0">
                <a:solidFill>
                  <a:srgbClr val="067D17"/>
                </a:solidFill>
                <a:effectLst/>
              </a:rPr>
              <a:t>召回率</a:t>
            </a:r>
            <a:r>
              <a:rPr lang="en-US" altLang="zh-CN" sz="1200" dirty="0">
                <a:solidFill>
                  <a:srgbClr val="067D17"/>
                </a:solidFill>
                <a:effectLst/>
              </a:rPr>
              <a:t>:"</a:t>
            </a:r>
            <a:r>
              <a:rPr lang="en-US" altLang="zh-CN" sz="1200" dirty="0"/>
              <a:t>, </a:t>
            </a:r>
            <a:r>
              <a:rPr lang="en-GB" altLang="zh-CN" sz="1200" dirty="0"/>
              <a:t>result)</a:t>
            </a:r>
            <a:endParaRPr kumimoji="0" lang="en-US" altLang="zh-CN" sz="12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154816" y="1357169"/>
            <a:ext cx="4098486"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F1- score</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举个栗子 </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精确率、召回率、</a:t>
            </a:r>
            <a:r>
              <a:rPr kumimoji="1" lang="en-US" altLang="zh-CN" dirty="0">
                <a:solidFill>
                  <a:schemeClr val="accent2">
                    <a:lumMod val="75000"/>
                  </a:schemeClr>
                </a:solidFill>
                <a:latin typeface="Alibaba PuHuiTi" pitchFamily="18" charset="-122"/>
                <a:ea typeface="Alibaba PuHuiTi" pitchFamily="18" charset="-122"/>
                <a:cs typeface="Alibaba PuHuiTi" pitchFamily="18" charset="-122"/>
              </a:rPr>
              <a:t>F1</a:t>
            </a:r>
            <a:endParaRPr kumimoji="1" lang="zh-CN" altLang="en-US"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221659" y="1332437"/>
            <a:ext cx="622136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F1- score</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2" name="文本框 1"/>
              <p:cNvSpPr txBox="1"/>
              <p:nvPr/>
            </p:nvSpPr>
            <p:spPr>
              <a:xfrm>
                <a:off x="2033905" y="1725295"/>
                <a:ext cx="9387205" cy="1109345"/>
              </a:xfrm>
              <a:prstGeom prst="rect">
                <a:avLst/>
              </a:prstGeom>
              <a:noFill/>
            </p:spPr>
            <p:txBody>
              <a:bodyPr wrap="square">
                <a:spAutoFit/>
              </a:bodyPr>
              <a:lstStyle/>
              <a:p>
                <a:pPr marL="285750" indent="-285750">
                  <a:lnSpc>
                    <a:spcPct val="150000"/>
                  </a:lnSpc>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若对模型的精确率、召回率都有要求，希望知道模型在这两个评估方向的</a:t>
                </a:r>
                <a:r>
                  <a:rPr lang="zh-CN" altLang="en-US" dirty="0">
                    <a:solidFill>
                      <a:schemeClr val="accent2">
                        <a:lumMod val="75000"/>
                      </a:schemeClr>
                    </a:solidFill>
                    <a:latin typeface="Alibaba PuHuiTi" pitchFamily="18" charset="-122"/>
                    <a:ea typeface="Alibaba PuHuiTi" pitchFamily="18" charset="-122"/>
                    <a:cs typeface="Alibaba PuHuiTi" pitchFamily="18" charset="-122"/>
                  </a:rPr>
                  <a:t>综合预测能力</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a:t>
                </a:r>
                <a:endParaRPr kumimoji="0" lang="en-US" altLang="zh-CN"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noProof="0" dirty="0">
                    <a:solidFill>
                      <a:prstClr val="black">
                        <a:lumMod val="85000"/>
                        <a:lumOff val="15000"/>
                      </a:prstClr>
                    </a:solidFill>
                    <a:latin typeface="Alibaba PuHuiTi" pitchFamily="18" charset="-122"/>
                    <a:ea typeface="Alibaba PuHuiTi" pitchFamily="18" charset="-122"/>
                    <a:cs typeface="Alibaba PuHuiTi" pitchFamily="18" charset="-122"/>
                  </a:rPr>
                  <a:t>计算方法</a:t>
                </a:r>
                <a:r>
                  <a:rPr kumimoji="0" lang="zh-CN" altLang="en-US"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P</a:t>
                </a:r>
                <a:r>
                  <a:rPr kumimoji="0" lang="zh-CN" altLang="en-US"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en-US" altLang="zh-CN"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14:m>
                  <m:oMath xmlns:m="http://schemas.openxmlformats.org/officeDocument/2006/math">
                    <m:f>
                      <m:fPr>
                        <m:ctrlPr>
                          <a:rPr kumimoji="0" lang="en-US" altLang="zh-CN"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fPr>
                      <m:num>
                        <m:r>
                          <a:rPr kumimoji="0" lang="en-US" altLang="zh-CN"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2</m:t>
                        </m:r>
                        <m:r>
                          <a:rPr kumimoji="0" lang="zh-CN" altLang="en-US"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 ∗</m:t>
                        </m:r>
                        <m:r>
                          <a:rPr kumimoji="0" lang="en-US" altLang="zh-CN"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𝑃𝑟𝑒𝑐𝑖𝑠𝑖𝑜𝑛</m:t>
                        </m:r>
                        <m:r>
                          <a:rPr kumimoji="0" lang="zh-CN" altLang="en-US"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 ∗</m:t>
                        </m:r>
                        <m:r>
                          <a:rPr kumimoji="0" lang="en-US" altLang="zh-CN"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𝑅𝑒𝑐𝑎𝑙𝑙</m:t>
                        </m:r>
                      </m:num>
                      <m:den>
                        <m:r>
                          <a:rPr kumimoji="0" lang="en-US" altLang="zh-CN"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𝑃𝑟𝑒𝑐𝑖𝑠𝑖𝑜𝑛</m:t>
                        </m:r>
                        <m:r>
                          <a:rPr kumimoji="0" lang="en-US" altLang="zh-CN"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m:t>
                        </m:r>
                        <m:r>
                          <a:rPr kumimoji="0" lang="en-US" altLang="zh-CN"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t>𝑅𝑒𝑐𝑎𝑙𝑙</m:t>
                        </m:r>
                      </m:den>
                    </m:f>
                  </m:oMath>
                </a14:m>
                <a:r>
                  <a:rPr kumimoji="0" lang="en-US" altLang="zh-CN"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   </a:t>
                </a:r>
                <a:endParaRPr kumimoji="0" lang="en-US" altLang="zh-CN"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2033905" y="1725295"/>
                <a:ext cx="9387205" cy="1109345"/>
              </a:xfrm>
              <a:prstGeom prst="rect">
                <a:avLst/>
              </a:prstGeom>
              <a:blipFill rotWithShape="1">
                <a:blip r:embed="rId1"/>
                <a:stretch>
                  <a:fillRect/>
                </a:stretch>
              </a:blipFill>
            </p:spPr>
            <p:txBody>
              <a:bodyPr/>
              <a:lstStyle/>
              <a:p>
                <a:r>
                  <a:rPr lang="zh-CN" altLang="en-US">
                    <a:noFill/>
                  </a:rPr>
                  <a:t> </a:t>
                </a:r>
              </a:p>
            </p:txBody>
          </p:sp>
        </mc:Fallback>
      </mc:AlternateContent>
      <p:sp>
        <p:nvSpPr>
          <p:cNvPr id="9" name="文本框 8"/>
          <p:cNvSpPr txBox="1"/>
          <p:nvPr>
            <p:custDataLst>
              <p:tags r:id="rId2"/>
            </p:custDataLst>
          </p:nvPr>
        </p:nvSpPr>
        <p:spPr>
          <a:xfrm>
            <a:off x="1437640" y="4064635"/>
            <a:ext cx="4658995" cy="73723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模型</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：预测对了 </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3 </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个恶性肿瘤</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样本，</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4 </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个良性肿瘤</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样本</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请计算：</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FN</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TN</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0" name="文本框 9"/>
          <p:cNvSpPr txBox="1"/>
          <p:nvPr>
            <p:custDataLst>
              <p:tags r:id="rId3"/>
            </p:custDataLst>
          </p:nvPr>
        </p:nvSpPr>
        <p:spPr>
          <a:xfrm>
            <a:off x="6667614" y="4044994"/>
            <a:ext cx="4805515" cy="73723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模型</a:t>
            </a:r>
            <a:r>
              <a:rPr lang="en-US" altLang="zh-CN"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B</a:t>
            </a: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：预测对了</a:t>
            </a:r>
            <a:r>
              <a:rPr lang="zh-CN" altLang="en-US" sz="1400" noProof="0" dirty="0">
                <a:ln>
                  <a:noFill/>
                </a:ln>
                <a:gradFill>
                  <a:gsLst>
                    <a:gs pos="50000">
                      <a:schemeClr val="accent2"/>
                    </a:gs>
                    <a:gs pos="0">
                      <a:schemeClr val="accent2">
                        <a:lumMod val="25000"/>
                        <a:lumOff val="75000"/>
                      </a:schemeClr>
                    </a:gs>
                    <a:gs pos="100000">
                      <a:schemeClr val="accent2">
                        <a:lumMod val="85000"/>
                      </a:schemeClr>
                    </a:gs>
                  </a:gsLst>
                  <a:lin ang="5400000" scaled="1"/>
                </a:gradFill>
                <a:effectLst/>
                <a:uLnTx/>
                <a:uFillTx/>
                <a:latin typeface="Alibaba PuHuiTi" pitchFamily="18" charset="-122"/>
                <a:ea typeface="Alibaba PuHuiTi" pitchFamily="18" charset="-122"/>
                <a:cs typeface="Alibaba PuHuiTi" pitchFamily="18" charset="-122"/>
                <a:sym typeface="+mn-ea"/>
              </a:rPr>
              <a:t> </a:t>
            </a:r>
            <a:r>
              <a:rPr lang="zh-CN" altLang="en-US" sz="1400" noProof="0" dirty="0">
                <a:ln>
                  <a:noFill/>
                </a:ln>
                <a:solidFill>
                  <a:srgbClr val="AD2B26"/>
                </a:solidFill>
                <a:effectLst/>
                <a:uLnTx/>
                <a:uFillTx/>
                <a:latin typeface="Alibaba PuHuiTi" pitchFamily="18" charset="-122"/>
                <a:ea typeface="Alibaba PuHuiTi" pitchFamily="18" charset="-122"/>
                <a:cs typeface="Alibaba PuHuiTi" pitchFamily="18" charset="-122"/>
                <a:sym typeface="+mn-ea"/>
              </a:rPr>
              <a:t>6 个恶性肿瘤</a:t>
            </a: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样本，</a:t>
            </a:r>
            <a:r>
              <a:rPr lang="zh-CN" altLang="en-US" sz="1400" noProof="0" dirty="0">
                <a:ln>
                  <a:noFill/>
                </a:ln>
                <a:solidFill>
                  <a:srgbClr val="AD2B26"/>
                </a:solidFill>
                <a:effectLst/>
                <a:uLnTx/>
                <a:uFillTx/>
                <a:latin typeface="Alibaba PuHuiTi" pitchFamily="18" charset="-122"/>
                <a:ea typeface="Alibaba PuHuiTi" pitchFamily="18" charset="-122"/>
                <a:cs typeface="Alibaba PuHuiTi" pitchFamily="18" charset="-122"/>
                <a:sym typeface="+mn-ea"/>
              </a:rPr>
              <a:t>1个良性肿瘤</a:t>
            </a:r>
            <a:r>
              <a:rPr lang="zh-CN" altLang="en-US" sz="140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sym typeface="+mn-ea"/>
              </a:rPr>
              <a:t>样本</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请计算：</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FN</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FP</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TN</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1" name="文本框 10"/>
          <p:cNvSpPr txBox="1"/>
          <p:nvPr>
            <p:custDataLst>
              <p:tags r:id="rId4"/>
            </p:custDataLst>
          </p:nvPr>
        </p:nvSpPr>
        <p:spPr>
          <a:xfrm>
            <a:off x="2092084" y="4753876"/>
            <a:ext cx="3343579" cy="203009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真正例 </a:t>
            </a:r>
            <a:r>
              <a:rPr kumimoji="0" lang="en-GB"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TP </a:t>
            </a: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a:t>
            </a:r>
            <a:r>
              <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3 </a:t>
            </a:r>
            <a:endPar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伪反例 </a:t>
            </a:r>
            <a:r>
              <a:rPr kumimoji="0" lang="en-GB"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FN </a:t>
            </a: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a:t>
            </a:r>
            <a:r>
              <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3</a:t>
            </a:r>
            <a:endPar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伪正例 </a:t>
            </a:r>
            <a:r>
              <a:rPr kumimoji="0" lang="en-GB"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FP </a:t>
            </a: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a:t>
            </a:r>
            <a:r>
              <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0</a:t>
            </a:r>
            <a:endParaRPr kumimoji="0" lang="en-US"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真反例 </a:t>
            </a:r>
            <a:r>
              <a:rPr kumimoji="0" lang="en-GB"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TN</a:t>
            </a:r>
            <a:r>
              <a:rPr kumimoji="0" lang="zh-CN" altLang="en-GB"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4</a:t>
            </a:r>
            <a:endParaRPr kumimoji="0" lang="en-GB" altLang="zh-CN" sz="12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精度：</a:t>
            </a:r>
            <a:r>
              <a:rPr kumimoji="0" lang="en-US" altLang="zh-CN"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100%</a:t>
            </a:r>
            <a:r>
              <a:rPr kumimoji="0" lang="zh-CN" altLang="en-US"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endParaRPr kumimoji="0" lang="en-US" altLang="zh-CN" sz="12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lang="zh-CN" altLang="en-US" sz="1200" noProof="0" dirty="0">
                <a:solidFill>
                  <a:schemeClr val="accent2">
                    <a:lumMod val="75000"/>
                  </a:schemeClr>
                </a:solidFill>
                <a:latin typeface="Alibaba PuHuiTi" pitchFamily="18" charset="-122"/>
                <a:ea typeface="Alibaba PuHuiTi" pitchFamily="18" charset="-122"/>
                <a:cs typeface="Alibaba PuHuiTi" pitchFamily="18" charset="-122"/>
              </a:rPr>
              <a:t>召回率：</a:t>
            </a:r>
            <a:r>
              <a:rPr lang="en-US" altLang="zh-CN" sz="1200" noProof="0" dirty="0">
                <a:solidFill>
                  <a:schemeClr val="accent2">
                    <a:lumMod val="75000"/>
                  </a:schemeClr>
                </a:solidFill>
                <a:latin typeface="Alibaba PuHuiTi" pitchFamily="18" charset="-122"/>
                <a:ea typeface="Alibaba PuHuiTi" pitchFamily="18" charset="-122"/>
                <a:cs typeface="Alibaba PuHuiTi" pitchFamily="18" charset="-122"/>
              </a:rPr>
              <a:t>50%</a:t>
            </a:r>
            <a:endParaRPr lang="en-US" altLang="zh-CN" sz="1200" noProof="0" dirty="0">
              <a:solidFill>
                <a:schemeClr val="accent2">
                  <a:lumMod val="75000"/>
                </a:schemeClr>
              </a:solidFill>
              <a:latin typeface="Alibaba PuHuiTi" pitchFamily="18" charset="-122"/>
              <a:ea typeface="Alibaba PuHuiTi" pitchFamily="18" charset="-122"/>
              <a:cs typeface="Alibaba PuHuiTi" pitchFamily="18" charset="-122"/>
            </a:endParaRPr>
          </a:p>
          <a:p>
            <a:pPr>
              <a:lnSpc>
                <a:spcPct val="150000"/>
              </a:lnSpc>
            </a:pPr>
            <a:r>
              <a:rPr lang="en-GB" altLang="zh-CN" sz="1200" dirty="0">
                <a:solidFill>
                  <a:schemeClr val="accent2">
                    <a:lumMod val="75000"/>
                  </a:schemeClr>
                </a:solidFill>
                <a:latin typeface="Alibaba PuHuiTi" pitchFamily="18" charset="-122"/>
                <a:ea typeface="Alibaba PuHuiTi" pitchFamily="18" charset="-122"/>
                <a:cs typeface="Alibaba PuHuiTi" pitchFamily="18" charset="-122"/>
              </a:rPr>
              <a:t>F1-score</a:t>
            </a:r>
            <a:r>
              <a:rPr lang="zh-CN" altLang="en-GB" sz="1200" dirty="0">
                <a:solidFill>
                  <a:schemeClr val="accent2">
                    <a:lumMod val="75000"/>
                  </a:schemeClr>
                </a:solidFill>
                <a:latin typeface="Alibaba PuHuiTi" pitchFamily="18" charset="-122"/>
                <a:ea typeface="Alibaba PuHuiTi" pitchFamily="18" charset="-122"/>
                <a:cs typeface="Alibaba PuHuiTi" pitchFamily="18" charset="-122"/>
              </a:rPr>
              <a:t>约</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 </a:t>
            </a:r>
            <a:r>
              <a:rPr lang="en-GB" altLang="zh-CN" sz="1200" dirty="0">
                <a:solidFill>
                  <a:schemeClr val="accent2">
                    <a:lumMod val="75000"/>
                  </a:schemeClr>
                </a:solidFill>
                <a:latin typeface="Alibaba PuHuiTi" pitchFamily="18" charset="-122"/>
                <a:ea typeface="Alibaba PuHuiTi" pitchFamily="18" charset="-122"/>
                <a:cs typeface="Alibaba PuHuiTi" pitchFamily="18" charset="-122"/>
              </a:rPr>
              <a:t>67%</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 </a:t>
            </a:r>
            <a:endParaRPr lang="en-GB" altLang="zh-CN" sz="1200"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12" name="文本框 11"/>
          <p:cNvSpPr txBox="1"/>
          <p:nvPr>
            <p:custDataLst>
              <p:tags r:id="rId5"/>
            </p:custDataLst>
          </p:nvPr>
        </p:nvSpPr>
        <p:spPr>
          <a:xfrm>
            <a:off x="6905299" y="4760581"/>
            <a:ext cx="3849260" cy="203009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真正例 </a:t>
            </a:r>
            <a:r>
              <a:rPr kumimoji="0" lang="en-GB" altLang="zh-CN"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TP </a:t>
            </a:r>
            <a:r>
              <a:rPr kumimoji="0" lang="zh-CN" altLang="en-US"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a:t>
            </a:r>
            <a:r>
              <a:rPr kumimoji="0" lang="en-US" altLang="zh-CN"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6</a:t>
            </a:r>
            <a:endParaRPr kumimoji="0" lang="en-US" altLang="zh-CN"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伪反例 </a:t>
            </a:r>
            <a:r>
              <a:rPr kumimoji="0" lang="en-GB" altLang="zh-CN"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FN </a:t>
            </a:r>
            <a:r>
              <a:rPr kumimoji="0" lang="zh-CN" altLang="en-US"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a:t>
            </a:r>
            <a:r>
              <a:rPr kumimoji="0" lang="en-US" altLang="zh-CN"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0</a:t>
            </a:r>
            <a:endParaRPr kumimoji="0" lang="en-US" altLang="zh-CN"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伪正例 </a:t>
            </a:r>
            <a:r>
              <a:rPr kumimoji="0" lang="en-GB" altLang="zh-CN"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FP </a:t>
            </a:r>
            <a:r>
              <a:rPr kumimoji="0" lang="zh-CN" altLang="en-US"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为：</a:t>
            </a:r>
            <a:r>
              <a:rPr kumimoji="0" lang="en-US" altLang="zh-CN"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3</a:t>
            </a:r>
            <a:endParaRPr kumimoji="0" lang="en-US" altLang="zh-CN"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zh-CN" altLang="en-US"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真反例 </a:t>
            </a:r>
            <a:r>
              <a:rPr kumimoji="0" lang="en-GB" altLang="zh-CN"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TN</a:t>
            </a:r>
            <a:r>
              <a:rPr kumimoji="0" lang="zh-CN" altLang="en-GB"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a:t>
            </a:r>
            <a:r>
              <a:rPr kumimoji="0" lang="en-GB" altLang="zh-CN"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1</a:t>
            </a:r>
            <a:endParaRPr kumimoji="0" lang="en-GB" altLang="zh-CN" sz="120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精度： </a:t>
            </a:r>
            <a:r>
              <a:rPr kumimoji="0" lang="en-US" altLang="zh-CN" sz="120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67%</a:t>
            </a:r>
            <a:endParaRPr kumimoji="0" lang="en-US" altLang="zh-CN" sz="120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lang="zh-CN" altLang="en-US" sz="1200" noProof="0" dirty="0">
                <a:solidFill>
                  <a:schemeClr val="accent2">
                    <a:lumMod val="75000"/>
                  </a:schemeClr>
                </a:solidFill>
                <a:latin typeface="Alibaba PuHuiTi" pitchFamily="18" charset="-122"/>
                <a:ea typeface="Alibaba PuHuiTi" pitchFamily="18" charset="-122"/>
                <a:cs typeface="Alibaba PuHuiTi" pitchFamily="18" charset="-122"/>
              </a:rPr>
              <a:t>召回率： </a:t>
            </a:r>
            <a:r>
              <a:rPr lang="en-US" altLang="zh-CN" sz="1200" noProof="0" dirty="0">
                <a:solidFill>
                  <a:schemeClr val="accent2">
                    <a:lumMod val="75000"/>
                  </a:schemeClr>
                </a:solidFill>
                <a:latin typeface="Alibaba PuHuiTi" pitchFamily="18" charset="-122"/>
                <a:ea typeface="Alibaba PuHuiTi" pitchFamily="18" charset="-122"/>
                <a:cs typeface="Alibaba PuHuiTi" pitchFamily="18" charset="-122"/>
              </a:rPr>
              <a:t>100</a:t>
            </a:r>
            <a:endParaRPr lang="en-US" altLang="zh-CN" sz="1200" noProof="0" dirty="0">
              <a:solidFill>
                <a:schemeClr val="accent2">
                  <a:lumMod val="75000"/>
                </a:schemeClr>
              </a:solidFill>
              <a:latin typeface="Alibaba PuHuiTi" pitchFamily="18" charset="-122"/>
              <a:ea typeface="Alibaba PuHuiTi" pitchFamily="18" charset="-122"/>
              <a:cs typeface="Alibaba PuHuiTi" pitchFamily="18" charset="-122"/>
            </a:endParaRPr>
          </a:p>
          <a:p>
            <a:pPr>
              <a:lnSpc>
                <a:spcPct val="150000"/>
              </a:lnSpc>
            </a:pPr>
            <a:r>
              <a:rPr lang="en-GB" altLang="zh-CN" sz="1200" dirty="0">
                <a:solidFill>
                  <a:schemeClr val="accent2">
                    <a:lumMod val="75000"/>
                  </a:schemeClr>
                </a:solidFill>
                <a:latin typeface="Alibaba PuHuiTi" pitchFamily="18" charset="-122"/>
                <a:ea typeface="Alibaba PuHuiTi" pitchFamily="18" charset="-122"/>
                <a:cs typeface="Alibaba PuHuiTi" pitchFamily="18" charset="-122"/>
              </a:rPr>
              <a:t>F1-score</a:t>
            </a:r>
            <a:r>
              <a:rPr lang="zh-CN" altLang="en-GB" sz="1200" dirty="0">
                <a:solidFill>
                  <a:schemeClr val="accent2">
                    <a:lumMod val="75000"/>
                  </a:schemeClr>
                </a:solidFill>
                <a:latin typeface="Alibaba PuHuiTi" pitchFamily="18" charset="-122"/>
                <a:ea typeface="Alibaba PuHuiTi" pitchFamily="18" charset="-122"/>
                <a:cs typeface="Alibaba PuHuiTi" pitchFamily="18" charset="-122"/>
                <a:sym typeface="+mn-ea"/>
              </a:rPr>
              <a:t>约</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sym typeface="+mn-ea"/>
              </a:rPr>
              <a:t> </a:t>
            </a:r>
            <a:r>
              <a:rPr lang="en-GB" altLang="zh-CN" sz="1200" dirty="0">
                <a:solidFill>
                  <a:schemeClr val="accent2">
                    <a:lumMod val="75000"/>
                  </a:schemeClr>
                </a:solidFill>
                <a:latin typeface="Alibaba PuHuiTi" pitchFamily="18" charset="-122"/>
                <a:ea typeface="Alibaba PuHuiTi" pitchFamily="18" charset="-122"/>
                <a:cs typeface="Alibaba PuHuiTi" pitchFamily="18" charset="-122"/>
              </a:rPr>
              <a:t>80%</a:t>
            </a:r>
            <a:endParaRPr lang="en-GB" altLang="zh-CN" sz="1200" dirty="0">
              <a:solidFill>
                <a:schemeClr val="accent2">
                  <a:lumMod val="75000"/>
                </a:schemeClr>
              </a:solidFill>
              <a:latin typeface="Alibaba PuHuiTi" pitchFamily="18" charset="-122"/>
              <a:ea typeface="Alibaba PuHuiTi" pitchFamily="18" charset="-122"/>
              <a:cs typeface="Alibaba PuHuiTi" pitchFamily="18" charset="-122"/>
            </a:endParaRPr>
          </a:p>
        </p:txBody>
      </p:sp>
      <p:cxnSp>
        <p:nvCxnSpPr>
          <p:cNvPr id="13" name="直线连接符 12"/>
          <p:cNvCxnSpPr/>
          <p:nvPr>
            <p:custDataLst>
              <p:tags r:id="rId6"/>
            </p:custDataLst>
          </p:nvPr>
        </p:nvCxnSpPr>
        <p:spPr>
          <a:xfrm flipV="1">
            <a:off x="6272409" y="4185275"/>
            <a:ext cx="0" cy="2150026"/>
          </a:xfrm>
          <a:prstGeom prst="line">
            <a:avLst/>
          </a:prstGeom>
          <a:ln w="22225">
            <a:solidFill>
              <a:srgbClr val="AD2A26"/>
            </a:solidFill>
            <a:prstDash val="dash"/>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437640" y="3685540"/>
            <a:ext cx="7553325" cy="41402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已知：样本集</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10</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样本</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，有 </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6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个恶性肿瘤样本，</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4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个良性肿瘤样本，我们假设</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恶性肿瘤为正例</a:t>
            </a:r>
            <a:endPar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cxnSp>
        <p:nvCxnSpPr>
          <p:cNvPr id="15" name="直线连接符 14"/>
          <p:cNvCxnSpPr/>
          <p:nvPr/>
        </p:nvCxnSpPr>
        <p:spPr>
          <a:xfrm flipH="1">
            <a:off x="2092012" y="3229922"/>
            <a:ext cx="7966388" cy="0"/>
          </a:xfrm>
          <a:prstGeom prst="line">
            <a:avLst/>
          </a:prstGeom>
          <a:ln w="22225">
            <a:solidFill>
              <a:srgbClr val="AD2A26"/>
            </a:solidFill>
            <a:prstDash val="dash"/>
          </a:ln>
        </p:spPr>
        <p:style>
          <a:lnRef idx="1">
            <a:schemeClr val="accent1"/>
          </a:lnRef>
          <a:fillRef idx="0">
            <a:schemeClr val="accent1"/>
          </a:fillRef>
          <a:effectRef idx="0">
            <a:schemeClr val="accent1"/>
          </a:effectRef>
          <a:fontRef idx="minor">
            <a:schemeClr val="tx1"/>
          </a:fontRef>
        </p:style>
      </p:cxnSp>
      <p:sp>
        <p:nvSpPr>
          <p:cNvPr id="18" name="文本占位符 2"/>
          <p:cNvSpPr txBox="1"/>
          <p:nvPr/>
        </p:nvSpPr>
        <p:spPr>
          <a:xfrm>
            <a:off x="1160301" y="3230736"/>
            <a:ext cx="622136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F1-score</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举个栗子 </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精确率、召回率、</a:t>
            </a:r>
            <a:r>
              <a:rPr kumimoji="1" lang="en-US" altLang="zh-CN" dirty="0">
                <a:solidFill>
                  <a:schemeClr val="accent2">
                    <a:lumMod val="75000"/>
                  </a:schemeClr>
                </a:solidFill>
                <a:latin typeface="Alibaba PuHuiTi" pitchFamily="18" charset="-122"/>
                <a:ea typeface="Alibaba PuHuiTi" pitchFamily="18" charset="-122"/>
                <a:cs typeface="Alibaba PuHuiTi" pitchFamily="18" charset="-122"/>
              </a:rPr>
              <a:t>F1</a:t>
            </a:r>
            <a:endParaRPr kumimoji="1" lang="zh-CN" altLang="en-US"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5" name="TextBox 3"/>
          <p:cNvSpPr txBox="1"/>
          <p:nvPr/>
        </p:nvSpPr>
        <p:spPr>
          <a:xfrm>
            <a:off x="2234970" y="2269177"/>
            <a:ext cx="6979367" cy="3231654"/>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br>
              <a:rPr lang="en-GB" altLang="zh-CN" sz="1200" dirty="0"/>
            </a:br>
            <a:r>
              <a:rPr lang="en-GB" altLang="zh-CN" sz="1200" dirty="0">
                <a:solidFill>
                  <a:srgbClr val="0033B3"/>
                </a:solidFill>
                <a:effectLst/>
              </a:rPr>
              <a:t>from </a:t>
            </a:r>
            <a:r>
              <a:rPr lang="en-GB" altLang="zh-CN" sz="1200" dirty="0" err="1"/>
              <a:t>sklearn.metrics</a:t>
            </a:r>
            <a:r>
              <a:rPr lang="en-GB" altLang="zh-CN" sz="1200" dirty="0"/>
              <a:t> </a:t>
            </a:r>
            <a:r>
              <a:rPr lang="en-GB" altLang="zh-CN" sz="1200" dirty="0">
                <a:solidFill>
                  <a:srgbClr val="0033B3"/>
                </a:solidFill>
                <a:effectLst/>
              </a:rPr>
              <a:t>import </a:t>
            </a:r>
            <a:r>
              <a:rPr lang="en-GB" altLang="zh-CN" sz="1200" dirty="0"/>
              <a:t>f1_score</a:t>
            </a:r>
            <a:br>
              <a:rPr lang="en-GB" altLang="zh-CN" sz="1200" dirty="0"/>
            </a:br>
            <a:r>
              <a:rPr lang="en-GB" altLang="zh-CN" sz="1200" dirty="0">
                <a:solidFill>
                  <a:srgbClr val="0033B3"/>
                </a:solidFill>
                <a:effectLst/>
              </a:rPr>
              <a:t>def </a:t>
            </a:r>
            <a:r>
              <a:rPr lang="en-GB" altLang="zh-CN" sz="1200" dirty="0">
                <a:solidFill>
                  <a:srgbClr val="00627A"/>
                </a:solidFill>
                <a:effectLst/>
              </a:rPr>
              <a:t>dm03_F1</a:t>
            </a:r>
            <a:r>
              <a:rPr lang="en-GB" altLang="zh-CN" sz="1200" dirty="0"/>
              <a:t>():</a:t>
            </a:r>
            <a:br>
              <a:rPr lang="en-GB" altLang="zh-CN" sz="1200" dirty="0"/>
            </a:br>
            <a:r>
              <a:rPr lang="en-GB" altLang="zh-CN" sz="1200" dirty="0"/>
              <a:t>    </a:t>
            </a:r>
            <a:r>
              <a:rPr lang="en-GB" altLang="zh-CN" sz="1200" i="1" dirty="0">
                <a:solidFill>
                  <a:srgbClr val="8C8C8C"/>
                </a:solidFill>
                <a:effectLst/>
              </a:rPr>
              <a:t># </a:t>
            </a:r>
            <a:r>
              <a:rPr lang="zh-CN" altLang="en-US" sz="1200" i="1" dirty="0">
                <a:solidFill>
                  <a:srgbClr val="8C8C8C"/>
                </a:solidFill>
                <a:effectLst/>
              </a:rPr>
              <a:t>样本集中共有</a:t>
            </a:r>
            <a:r>
              <a:rPr lang="en-US" altLang="zh-CN" sz="1200" i="1" dirty="0">
                <a:solidFill>
                  <a:srgbClr val="8C8C8C"/>
                </a:solidFill>
                <a:effectLst/>
              </a:rPr>
              <a:t>6</a:t>
            </a:r>
            <a:r>
              <a:rPr lang="zh-CN" altLang="en-US" sz="1200" i="1" dirty="0">
                <a:solidFill>
                  <a:srgbClr val="8C8C8C"/>
                </a:solidFill>
                <a:effectLst/>
              </a:rPr>
              <a:t>个恶性肿瘤样本</a:t>
            </a:r>
            <a:r>
              <a:rPr lang="en-US" altLang="zh-CN" sz="1200" i="1" dirty="0">
                <a:solidFill>
                  <a:srgbClr val="8C8C8C"/>
                </a:solidFill>
                <a:effectLst/>
              </a:rPr>
              <a:t>, 4</a:t>
            </a:r>
            <a:r>
              <a:rPr lang="zh-CN" altLang="en-US" sz="1200" i="1" dirty="0">
                <a:solidFill>
                  <a:srgbClr val="8C8C8C"/>
                </a:solidFill>
                <a:effectLst/>
              </a:rPr>
              <a:t>个良性肿瘤样本</a:t>
            </a:r>
            <a:br>
              <a:rPr lang="zh-CN" altLang="en-US" sz="1200" i="1" dirty="0">
                <a:solidFill>
                  <a:srgbClr val="8C8C8C"/>
                </a:solidFill>
                <a:effectLst/>
              </a:rPr>
            </a:br>
            <a:r>
              <a:rPr lang="zh-CN" altLang="en-US" sz="1200" i="1" dirty="0">
                <a:solidFill>
                  <a:srgbClr val="8C8C8C"/>
                </a:solidFill>
                <a:effectLst/>
              </a:rPr>
              <a:t>    </a:t>
            </a:r>
            <a:r>
              <a:rPr lang="en-GB" altLang="zh-CN" sz="1200" dirty="0" err="1"/>
              <a:t>y_true</a:t>
            </a:r>
            <a:r>
              <a:rPr lang="en-GB" altLang="zh-CN" sz="1200" dirty="0"/>
              <a:t> =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br>
              <a:rPr lang="en-US" altLang="zh-CN" sz="1200" dirty="0"/>
            </a:br>
            <a:r>
              <a:rPr lang="en-US" altLang="zh-CN" sz="1200" dirty="0"/>
              <a:t>    </a:t>
            </a:r>
            <a:r>
              <a:rPr lang="en-US" altLang="zh-CN" sz="1200" i="1" dirty="0">
                <a:solidFill>
                  <a:srgbClr val="8C8C8C"/>
                </a:solidFill>
                <a:effectLst/>
              </a:rPr>
              <a:t># 1. </a:t>
            </a:r>
            <a:r>
              <a:rPr lang="zh-CN" altLang="en-US" sz="1200" i="1" dirty="0">
                <a:solidFill>
                  <a:srgbClr val="8C8C8C"/>
                </a:solidFill>
                <a:effectLst/>
              </a:rPr>
              <a:t>模型 </a:t>
            </a:r>
            <a:r>
              <a:rPr lang="en-GB" altLang="zh-CN" sz="1200" i="1" dirty="0">
                <a:solidFill>
                  <a:srgbClr val="8C8C8C"/>
                </a:solidFill>
                <a:effectLst/>
              </a:rPr>
              <a:t>A: </a:t>
            </a:r>
            <a:r>
              <a:rPr lang="zh-CN" altLang="en-US" sz="1200" i="1" dirty="0">
                <a:solidFill>
                  <a:srgbClr val="8C8C8C"/>
                </a:solidFill>
                <a:effectLst/>
              </a:rPr>
              <a:t>预测对了</a:t>
            </a:r>
            <a:r>
              <a:rPr lang="en-US" altLang="zh-CN" sz="1200" i="1" dirty="0">
                <a:solidFill>
                  <a:srgbClr val="8C8C8C"/>
                </a:solidFill>
                <a:effectLst/>
              </a:rPr>
              <a:t>3</a:t>
            </a:r>
            <a:r>
              <a:rPr lang="zh-CN" altLang="en-US" sz="1200" i="1" dirty="0">
                <a:solidFill>
                  <a:srgbClr val="8C8C8C"/>
                </a:solidFill>
                <a:effectLst/>
              </a:rPr>
              <a:t>个恶性肿瘤样本</a:t>
            </a:r>
            <a:r>
              <a:rPr lang="en-US" altLang="zh-CN" sz="1200" i="1" dirty="0">
                <a:solidFill>
                  <a:srgbClr val="8C8C8C"/>
                </a:solidFill>
                <a:effectLst/>
              </a:rPr>
              <a:t>, 4</a:t>
            </a:r>
            <a:r>
              <a:rPr lang="zh-CN" altLang="en-US" sz="1200" i="1" dirty="0">
                <a:solidFill>
                  <a:srgbClr val="8C8C8C"/>
                </a:solidFill>
                <a:effectLst/>
              </a:rPr>
              <a:t>个良性肿瘤样本</a:t>
            </a:r>
            <a:br>
              <a:rPr lang="zh-CN" altLang="en-US" sz="1200" i="1" dirty="0">
                <a:solidFill>
                  <a:srgbClr val="8C8C8C"/>
                </a:solidFill>
                <a:effectLst/>
              </a:rPr>
            </a:br>
            <a:r>
              <a:rPr lang="zh-CN" altLang="en-US" sz="1200" i="1" dirty="0">
                <a:solidFill>
                  <a:srgbClr val="8C8C8C"/>
                </a:solidFill>
                <a:effectLst/>
              </a:rPr>
              <a:t>    </a:t>
            </a:r>
            <a:r>
              <a:rPr lang="en-GB" altLang="zh-CN" sz="1200" dirty="0" err="1"/>
              <a:t>y_pred</a:t>
            </a:r>
            <a:r>
              <a:rPr lang="en-GB" altLang="zh-CN" sz="1200" dirty="0"/>
              <a:t> =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r>
              <a:rPr lang="en-US" altLang="zh-CN" sz="1200" dirty="0"/>
              <a:t>    </a:t>
            </a:r>
            <a:r>
              <a:rPr lang="en-GB" altLang="zh-CN" sz="1200" dirty="0"/>
              <a:t>result = f1_score(</a:t>
            </a:r>
            <a:r>
              <a:rPr lang="en-GB" altLang="zh-CN" sz="1200" dirty="0" err="1"/>
              <a:t>y_true</a:t>
            </a:r>
            <a:r>
              <a:rPr lang="en-GB" altLang="zh-CN" sz="1200" dirty="0"/>
              <a:t>, </a:t>
            </a:r>
            <a:r>
              <a:rPr lang="en-GB" altLang="zh-CN" sz="1200" dirty="0" err="1"/>
              <a:t>y_pred</a:t>
            </a:r>
            <a:r>
              <a:rPr lang="en-GB" altLang="zh-CN" sz="1200" dirty="0"/>
              <a:t>, </a:t>
            </a:r>
            <a:r>
              <a:rPr lang="en-GB" altLang="zh-CN" sz="1200" dirty="0" err="1">
                <a:solidFill>
                  <a:srgbClr val="660099"/>
                </a:solidFill>
                <a:effectLst/>
              </a:rPr>
              <a:t>pos_label</a:t>
            </a:r>
            <a:r>
              <a:rPr lang="en-GB" altLang="zh-CN" sz="1200" dirty="0"/>
              <a:t>=</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a:t>
            </a:r>
            <a:br>
              <a:rPr lang="en-US" altLang="zh-CN" sz="1200" dirty="0"/>
            </a:br>
            <a:r>
              <a:rPr lang="en-US"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a:t>
            </a:r>
            <a:r>
              <a:rPr lang="zh-CN" altLang="en-US" sz="1200" dirty="0">
                <a:solidFill>
                  <a:srgbClr val="067D17"/>
                </a:solidFill>
                <a:effectLst/>
              </a:rPr>
              <a:t>模型</a:t>
            </a:r>
            <a:r>
              <a:rPr lang="en-GB" altLang="zh-CN" sz="1200" dirty="0">
                <a:solidFill>
                  <a:srgbClr val="067D17"/>
                </a:solidFill>
                <a:effectLst/>
              </a:rPr>
              <a:t>Af1-score:"</a:t>
            </a:r>
            <a:r>
              <a:rPr lang="en-GB" altLang="zh-CN" sz="1200" dirty="0"/>
              <a:t>, result)</a:t>
            </a:r>
            <a:br>
              <a:rPr lang="en-GB" altLang="zh-CN" sz="1200" dirty="0"/>
            </a:br>
            <a:br>
              <a:rPr lang="en-GB" altLang="zh-CN" sz="1200" dirty="0"/>
            </a:br>
            <a:r>
              <a:rPr lang="en-GB" altLang="zh-CN" sz="1200" dirty="0"/>
              <a:t>    </a:t>
            </a:r>
            <a:r>
              <a:rPr lang="en-GB" altLang="zh-CN" sz="1200" i="1" dirty="0">
                <a:solidFill>
                  <a:srgbClr val="8C8C8C"/>
                </a:solidFill>
                <a:effectLst/>
              </a:rPr>
              <a:t># 2. </a:t>
            </a:r>
            <a:r>
              <a:rPr lang="zh-CN" altLang="en-US" sz="1200" i="1" dirty="0">
                <a:solidFill>
                  <a:srgbClr val="8C8C8C"/>
                </a:solidFill>
                <a:effectLst/>
              </a:rPr>
              <a:t>模型 </a:t>
            </a:r>
            <a:r>
              <a:rPr lang="en-GB" altLang="zh-CN" sz="1200" i="1" dirty="0">
                <a:solidFill>
                  <a:srgbClr val="8C8C8C"/>
                </a:solidFill>
                <a:effectLst/>
              </a:rPr>
              <a:t>B: </a:t>
            </a:r>
            <a:r>
              <a:rPr lang="zh-CN" altLang="en-US" sz="1200" i="1" dirty="0">
                <a:solidFill>
                  <a:srgbClr val="8C8C8C"/>
                </a:solidFill>
                <a:effectLst/>
              </a:rPr>
              <a:t>预测对了</a:t>
            </a:r>
            <a:r>
              <a:rPr lang="en-US" altLang="zh-CN" sz="1200" i="1" dirty="0">
                <a:solidFill>
                  <a:srgbClr val="8C8C8C"/>
                </a:solidFill>
                <a:effectLst/>
              </a:rPr>
              <a:t>6</a:t>
            </a:r>
            <a:r>
              <a:rPr lang="zh-CN" altLang="en-US" sz="1200" i="1" dirty="0">
                <a:solidFill>
                  <a:srgbClr val="8C8C8C"/>
                </a:solidFill>
                <a:effectLst/>
              </a:rPr>
              <a:t>个恶性肿瘤样本</a:t>
            </a:r>
            <a:r>
              <a:rPr lang="en-US" altLang="zh-CN" sz="1200" i="1" dirty="0">
                <a:solidFill>
                  <a:srgbClr val="8C8C8C"/>
                </a:solidFill>
                <a:effectLst/>
              </a:rPr>
              <a:t>, 1</a:t>
            </a:r>
            <a:r>
              <a:rPr lang="zh-CN" altLang="en-US" sz="1200" i="1" dirty="0">
                <a:solidFill>
                  <a:srgbClr val="8C8C8C"/>
                </a:solidFill>
                <a:effectLst/>
              </a:rPr>
              <a:t>个良性肿瘤样本</a:t>
            </a:r>
            <a:br>
              <a:rPr lang="zh-CN" altLang="en-US" sz="1200" i="1" dirty="0">
                <a:solidFill>
                  <a:srgbClr val="8C8C8C"/>
                </a:solidFill>
                <a:effectLst/>
              </a:rPr>
            </a:br>
            <a:r>
              <a:rPr lang="zh-CN" altLang="en-US" sz="1200" i="1" dirty="0">
                <a:solidFill>
                  <a:srgbClr val="8C8C8C"/>
                </a:solidFill>
                <a:effectLst/>
              </a:rPr>
              <a:t>    </a:t>
            </a:r>
            <a:r>
              <a:rPr lang="en-GB" altLang="zh-CN" sz="1200" dirty="0" err="1"/>
              <a:t>y_pred</a:t>
            </a:r>
            <a:r>
              <a:rPr lang="en-GB" altLang="zh-CN" sz="1200" dirty="0"/>
              <a:t> = [</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 </a:t>
            </a:r>
            <a:r>
              <a:rPr lang="en-US" altLang="zh-CN" sz="1200" dirty="0">
                <a:solidFill>
                  <a:srgbClr val="067D17"/>
                </a:solidFill>
                <a:effectLst/>
              </a:rPr>
              <a:t>"</a:t>
            </a:r>
            <a:r>
              <a:rPr lang="zh-CN" altLang="en-US" sz="1200" dirty="0">
                <a:solidFill>
                  <a:srgbClr val="067D17"/>
                </a:solidFill>
                <a:effectLst/>
              </a:rPr>
              <a:t>良性</a:t>
            </a:r>
            <a:r>
              <a:rPr lang="en-US" altLang="zh-CN" sz="1200" dirty="0">
                <a:solidFill>
                  <a:srgbClr val="067D17"/>
                </a:solidFill>
                <a:effectLst/>
              </a:rPr>
              <a:t>"</a:t>
            </a:r>
            <a:r>
              <a:rPr lang="en-US" altLang="zh-CN" sz="1200" dirty="0"/>
              <a:t>]</a:t>
            </a:r>
            <a:br>
              <a:rPr lang="en-US" altLang="zh-CN" sz="1200" dirty="0"/>
            </a:br>
            <a:br>
              <a:rPr lang="en-US" altLang="zh-CN" sz="1200" dirty="0"/>
            </a:br>
            <a:r>
              <a:rPr lang="en-US" altLang="zh-CN" sz="1200" dirty="0"/>
              <a:t>    </a:t>
            </a:r>
            <a:r>
              <a:rPr lang="en-GB" altLang="zh-CN" sz="1200" dirty="0"/>
              <a:t>result = f1_score(</a:t>
            </a:r>
            <a:r>
              <a:rPr lang="en-GB" altLang="zh-CN" sz="1200" dirty="0" err="1"/>
              <a:t>y_true</a:t>
            </a:r>
            <a:r>
              <a:rPr lang="en-GB" altLang="zh-CN" sz="1200" dirty="0"/>
              <a:t>, </a:t>
            </a:r>
            <a:r>
              <a:rPr lang="en-GB" altLang="zh-CN" sz="1200" dirty="0" err="1"/>
              <a:t>y_pred</a:t>
            </a:r>
            <a:r>
              <a:rPr lang="en-GB" altLang="zh-CN" sz="1200" dirty="0"/>
              <a:t>, </a:t>
            </a:r>
            <a:r>
              <a:rPr lang="en-GB" altLang="zh-CN" sz="1200" dirty="0" err="1">
                <a:solidFill>
                  <a:srgbClr val="660099"/>
                </a:solidFill>
                <a:effectLst/>
              </a:rPr>
              <a:t>pos_label</a:t>
            </a:r>
            <a:r>
              <a:rPr lang="en-GB" altLang="zh-CN" sz="1200" dirty="0"/>
              <a:t>=</a:t>
            </a:r>
            <a:r>
              <a:rPr lang="en-GB" altLang="zh-CN" sz="1200" dirty="0">
                <a:solidFill>
                  <a:srgbClr val="067D17"/>
                </a:solidFill>
                <a:effectLst/>
              </a:rPr>
              <a:t>"</a:t>
            </a:r>
            <a:r>
              <a:rPr lang="zh-CN" altLang="en-US" sz="1200" dirty="0">
                <a:solidFill>
                  <a:srgbClr val="067D17"/>
                </a:solidFill>
                <a:effectLst/>
              </a:rPr>
              <a:t>恶性</a:t>
            </a:r>
            <a:r>
              <a:rPr lang="en-US" altLang="zh-CN" sz="1200" dirty="0">
                <a:solidFill>
                  <a:srgbClr val="067D17"/>
                </a:solidFill>
                <a:effectLst/>
              </a:rPr>
              <a:t>"</a:t>
            </a:r>
            <a:r>
              <a:rPr lang="en-US" altLang="zh-CN" sz="1200" dirty="0"/>
              <a:t>)</a:t>
            </a:r>
            <a:br>
              <a:rPr lang="en-US" altLang="zh-CN" sz="1200" dirty="0"/>
            </a:br>
            <a:r>
              <a:rPr lang="en-US" altLang="zh-CN" sz="1200" dirty="0"/>
              <a:t>    </a:t>
            </a:r>
            <a:r>
              <a:rPr lang="en-GB" altLang="zh-CN" sz="1200" dirty="0">
                <a:solidFill>
                  <a:srgbClr val="000080"/>
                </a:solidFill>
                <a:effectLst/>
              </a:rPr>
              <a:t>print</a:t>
            </a:r>
            <a:r>
              <a:rPr lang="en-GB" altLang="zh-CN" sz="1200" dirty="0"/>
              <a:t>(</a:t>
            </a:r>
            <a:r>
              <a:rPr lang="en-GB" altLang="zh-CN" sz="1200" dirty="0">
                <a:solidFill>
                  <a:srgbClr val="067D17"/>
                </a:solidFill>
                <a:effectLst/>
              </a:rPr>
              <a:t>"</a:t>
            </a:r>
            <a:r>
              <a:rPr lang="zh-CN" altLang="en-US" sz="1200" dirty="0">
                <a:solidFill>
                  <a:srgbClr val="067D17"/>
                </a:solidFill>
                <a:effectLst/>
              </a:rPr>
              <a:t>模型</a:t>
            </a:r>
            <a:r>
              <a:rPr lang="en-GB" altLang="zh-CN" sz="1200" dirty="0">
                <a:solidFill>
                  <a:srgbClr val="067D17"/>
                </a:solidFill>
                <a:effectLst/>
              </a:rPr>
              <a:t>Bf1-score::"</a:t>
            </a:r>
            <a:r>
              <a:rPr lang="en-GB" altLang="zh-CN" sz="1200" dirty="0"/>
              <a:t>, result)</a:t>
            </a:r>
            <a:br>
              <a:rPr lang="en-GB" altLang="zh-CN" sz="1200" dirty="0"/>
            </a:br>
            <a:r>
              <a:rPr lang="en-GB" altLang="zh-CN" sz="1200" dirty="0"/>
              <a:t>   </a:t>
            </a:r>
            <a:endParaRPr kumimoji="0" lang="en-US" altLang="zh-CN" sz="1200" b="0" i="0" u="none" strike="noStrike" kern="1200" cap="none" spc="0" normalizeH="0" baseline="0" noProof="0" dirty="0">
              <a:ln>
                <a:noFill/>
              </a:ln>
              <a:solidFill>
                <a:srgbClr val="0033B3"/>
              </a:solidFill>
              <a:effectLst/>
              <a:uLnTx/>
              <a:uFillTx/>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154816" y="1357169"/>
            <a:ext cx="4098486"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F1- score</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举个栗子 </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 </a:t>
            </a:r>
            <a:r>
              <a:rPr lang="zh-CN" altLang="en-US" dirty="0">
                <a:solidFill>
                  <a:prstClr val="black">
                    <a:lumMod val="85000"/>
                    <a:lumOff val="15000"/>
                  </a:prstClr>
                </a:solidFill>
                <a:latin typeface="Open Sans" panose="020B0606030504020204" pitchFamily="34" charset="0"/>
              </a:rPr>
              <a:t>程序</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计算</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p:cNvSpPr txBox="1"/>
          <p:nvPr/>
        </p:nvSpPr>
        <p:spPr>
          <a:xfrm>
            <a:off x="173117" y="209410"/>
            <a:ext cx="4269059" cy="610724"/>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2" name="文本框 1"/>
          <p:cNvSpPr txBox="1"/>
          <p:nvPr/>
        </p:nvSpPr>
        <p:spPr>
          <a:xfrm>
            <a:off x="4178220" y="820134"/>
            <a:ext cx="55923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1</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混淆矩阵的四个指标</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pic>
        <p:nvPicPr>
          <p:cNvPr id="4" name="图片 3"/>
          <p:cNvPicPr>
            <a:picLocks noChangeAspect="1"/>
          </p:cNvPicPr>
          <p:nvPr/>
        </p:nvPicPr>
        <p:blipFill>
          <a:blip r:embed="rId1"/>
          <a:stretch>
            <a:fillRect/>
          </a:stretch>
        </p:blipFill>
        <p:spPr>
          <a:xfrm>
            <a:off x="5058431" y="1189466"/>
            <a:ext cx="3456819" cy="1934680"/>
          </a:xfrm>
          <a:prstGeom prst="rect">
            <a:avLst/>
          </a:prstGeom>
        </p:spPr>
      </p:pic>
      <p:sp>
        <p:nvSpPr>
          <p:cNvPr id="8" name="文本框 7"/>
          <p:cNvSpPr txBox="1"/>
          <p:nvPr>
            <p:custDataLst>
              <p:tags r:id="rId2"/>
            </p:custDataLst>
          </p:nvPr>
        </p:nvSpPr>
        <p:spPr>
          <a:xfrm>
            <a:off x="4178220" y="3364523"/>
            <a:ext cx="5592377" cy="368300"/>
          </a:xfrm>
          <a:prstGeom prst="rect">
            <a:avLst/>
          </a:prstGeom>
          <a:noFill/>
        </p:spPr>
        <p:txBody>
          <a:bodyPr wrap="square" rtlCol="0">
            <a:spAutoFit/>
          </a:bodyPr>
          <a:lstStyle/>
          <a:p>
            <a:pPr>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3</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精确率</a:t>
            </a:r>
            <a:r>
              <a:rPr lang="en-GB" altLang="zh-CN" dirty="0">
                <a:effectLst/>
                <a:latin typeface="Roboto" panose="02000000000000000000" pitchFamily="2" charset="0"/>
                <a:sym typeface="+mn-ea"/>
              </a:rPr>
              <a:t>Precision</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，也叫</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sym typeface="+mn-ea"/>
              </a:rPr>
              <a:t>查准率,</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精度  </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9" name="文本框 8"/>
          <p:cNvSpPr txBox="1"/>
          <p:nvPr>
            <p:custDataLst>
              <p:tags r:id="rId3"/>
            </p:custDataLst>
          </p:nvPr>
        </p:nvSpPr>
        <p:spPr>
          <a:xfrm>
            <a:off x="4178219" y="4227423"/>
            <a:ext cx="5592377" cy="368300"/>
          </a:xfrm>
          <a:prstGeom prst="rect">
            <a:avLst/>
          </a:prstGeom>
          <a:noFill/>
        </p:spPr>
        <p:txBody>
          <a:bodyPr wrap="square" rtlCol="0">
            <a:spAutoFit/>
          </a:bodyPr>
          <a:lstStyle/>
          <a:p>
            <a:pPr>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4</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召回率</a:t>
            </a:r>
            <a:r>
              <a:rPr lang="en-GB" altLang="zh-CN" dirty="0">
                <a:effectLst/>
                <a:latin typeface="Roboto" panose="02000000000000000000" pitchFamily="2" charset="0"/>
                <a:sym typeface="+mn-ea"/>
              </a:rPr>
              <a:t>Recall</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，也叫查全率 </a:t>
            </a:r>
            <a:endParaRPr lang="en-GB" altLang="zh-CN" b="0" i="0" dirty="0">
              <a:effectLst/>
              <a:latin typeface="Roboto" panose="02000000000000000000" pitchFamily="2" charset="0"/>
            </a:endParaRPr>
          </a:p>
        </p:txBody>
      </p:sp>
      <mc:AlternateContent xmlns:mc="http://schemas.openxmlformats.org/markup-compatibility/2006">
        <mc:Choice xmlns:a14="http://schemas.microsoft.com/office/drawing/2010/main" Requires="a14">
          <p:sp>
            <p:nvSpPr>
              <p:cNvPr id="10" name="TextBox 6"/>
              <p:cNvSpPr txBox="1"/>
              <p:nvPr>
                <p:custDataLst>
                  <p:tags r:id="rId4"/>
                </p:custDataLst>
              </p:nvPr>
            </p:nvSpPr>
            <p:spPr>
              <a:xfrm>
                <a:off x="7350562" y="4122095"/>
                <a:ext cx="4450912" cy="57983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defRPr/>
                </a:pP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P</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fPr>
                      <m:num>
                        <m:r>
                          <m:rPr>
                            <m:sty m:val="p"/>
                          </m:rP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TP</m:t>
                        </m:r>
                      </m:num>
                      <m:den>
                        <m:r>
                          <m:rPr>
                            <m:sty m:val="p"/>
                          </m:rP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TP</m:t>
                        </m:r>
                        <m: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a:rPr lang="zh-CN" altLang="en-US"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 </m:t>
                        </m:r>
                        <m:r>
                          <m:rPr>
                            <m:sty m:val="p"/>
                          </m:rP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FN</m:t>
                        </m:r>
                      </m:den>
                    </m:f>
                  </m:oMath>
                </a14:m>
                <a:r>
                  <a:rPr lang="zh-CN" altLang="en-US" sz="1600" dirty="0">
                    <a:solidFill>
                      <a:srgbClr val="C0504D">
                        <a:lumMod val="75000"/>
                      </a:srgbClr>
                    </a:solidFill>
                    <a:latin typeface="Alibaba PuHuiTi" pitchFamily="18" charset="-122"/>
                    <a:ea typeface="Alibaba PuHuiTi" pitchFamily="18" charset="-122"/>
                    <a:cs typeface="Alibaba PuHuiTi" pitchFamily="18" charset="-122"/>
                  </a:rPr>
                  <a:t>  </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Choice>
        <mc:Fallback>
          <p:sp>
            <p:nvSpPr>
              <p:cNvPr id="10" name="TextBox 6"/>
              <p:cNvSpPr txBox="1">
                <a:spLocks noRot="1" noChangeAspect="1" noMove="1" noResize="1" noEditPoints="1" noAdjustHandles="1" noChangeArrowheads="1" noChangeShapeType="1" noTextEdit="1"/>
              </p:cNvSpPr>
              <p:nvPr>
                <p:custDataLst>
                  <p:tags r:id="rId5"/>
                </p:custDataLst>
              </p:nvPr>
            </p:nvSpPr>
            <p:spPr>
              <a:xfrm>
                <a:off x="7350562" y="4122095"/>
                <a:ext cx="4450912" cy="579839"/>
              </a:xfrm>
              <a:prstGeom prst="rect">
                <a:avLst/>
              </a:prstGeom>
              <a:blipFill rotWithShape="1">
                <a:blip r:embed="rId6"/>
                <a:stretch>
                  <a:fillRect l="-10" t="-53" r="14" b="68"/>
                </a:stretch>
              </a:blipFill>
            </p:spPr>
            <p:txBody>
              <a:bodyPr/>
              <a:lstStyle/>
              <a:p>
                <a:r>
                  <a:rPr lang="zh-CN" altLang="en-US">
                    <a:noFill/>
                  </a:rPr>
                  <a:t> </a:t>
                </a:r>
              </a:p>
            </p:txBody>
          </p:sp>
        </mc:Fallback>
      </mc:AlternateContent>
      <p:sp>
        <p:nvSpPr>
          <p:cNvPr id="11" name="文本框 10"/>
          <p:cNvSpPr txBox="1"/>
          <p:nvPr/>
        </p:nvSpPr>
        <p:spPr>
          <a:xfrm>
            <a:off x="4178219" y="5090323"/>
            <a:ext cx="6877723"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5</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F1</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score,</a:t>
            </a:r>
            <a:r>
              <a:rPr lang="zh-CN" altLang="en-US" dirty="0">
                <a:solidFill>
                  <a:schemeClr val="accent2">
                    <a:lumMod val="75000"/>
                  </a:schemeClr>
                </a:solidFill>
                <a:latin typeface="Alibaba PuHuiTi" pitchFamily="18" charset="-122"/>
                <a:ea typeface="Alibaba PuHuiTi" pitchFamily="18" charset="-122"/>
                <a:cs typeface="Alibaba PuHuiTi" pitchFamily="18" charset="-122"/>
                <a:sym typeface="+mn-ea"/>
              </a:rPr>
              <a:t>综合</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sym typeface="+mn-ea"/>
              </a:rPr>
              <a:t>精确率、召回率</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13" name="TextBox 6"/>
              <p:cNvSpPr txBox="1"/>
              <p:nvPr/>
            </p:nvSpPr>
            <p:spPr>
              <a:xfrm>
                <a:off x="7751416" y="4961313"/>
                <a:ext cx="5592377" cy="626110"/>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indent="0">
                  <a:lnSpc>
                    <a:spcPct val="150000"/>
                  </a:lnSpc>
                  <a:buFont typeface="Arial" panose="020B0604020202020204" pitchFamily="34" charset="0"/>
                  <a:buNone/>
                  <a:defRPr/>
                </a:pP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P</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fPr>
                      <m:num>
                        <m: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2</m:t>
                        </m:r>
                        <m:r>
                          <a:rPr lang="zh-CN" altLang="en-US"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 ∗</m:t>
                        </m:r>
                        <m: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𝑃𝑟𝑒𝑐𝑖𝑠𝑖𝑜𝑛</m:t>
                        </m:r>
                        <m:r>
                          <a:rPr lang="zh-CN" altLang="en-US"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 ∗</m:t>
                        </m:r>
                        <m: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𝑅𝑒𝑐𝑎𝑙𝑙</m:t>
                        </m:r>
                      </m:num>
                      <m:den>
                        <m: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𝑃𝑟𝑒𝑐𝑖𝑠𝑖𝑜𝑛</m:t>
                        </m:r>
                        <m: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𝑅𝑒𝑐𝑎𝑙𝑙</m:t>
                        </m:r>
                      </m:den>
                    </m:f>
                  </m:oMath>
                </a14:m>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Choice>
        <mc:Fallback>
          <p:sp>
            <p:nvSpPr>
              <p:cNvPr id="13" name="TextBox 6"/>
              <p:cNvSpPr txBox="1">
                <a:spLocks noRot="1" noChangeAspect="1" noMove="1" noResize="1" noEditPoints="1" noAdjustHandles="1" noChangeArrowheads="1" noChangeShapeType="1" noTextEdit="1"/>
              </p:cNvSpPr>
              <p:nvPr/>
            </p:nvSpPr>
            <p:spPr>
              <a:xfrm>
                <a:off x="7751416" y="4961313"/>
                <a:ext cx="5592377" cy="626110"/>
              </a:xfrm>
              <a:prstGeom prst="rect">
                <a:avLst/>
              </a:prstGeom>
              <a:blipFill rotWithShape="1">
                <a:blip r:embed="rId7"/>
                <a:stretch>
                  <a:fillRect l="-11" t="-9" r="10"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TextBox 6"/>
              <p:cNvSpPr txBox="1"/>
              <p:nvPr>
                <p:custDataLst>
                  <p:tags r:id="rId8"/>
                </p:custDataLst>
              </p:nvPr>
            </p:nvSpPr>
            <p:spPr>
              <a:xfrm>
                <a:off x="8245445" y="3154028"/>
                <a:ext cx="1525054" cy="57983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nSpc>
                    <a:spcPct val="150000"/>
                  </a:lnSpc>
                  <a:defRPr/>
                </a:pP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P</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ctrlPr>
                      </m:fPr>
                      <m:num>
                        <m:r>
                          <m:rPr>
                            <m:sty m:val="p"/>
                          </m:rP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TP</m:t>
                        </m:r>
                      </m:num>
                      <m:den>
                        <m:r>
                          <m:rPr>
                            <m:sty m:val="p"/>
                          </m:rP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TP</m:t>
                        </m:r>
                        <m: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m:t>
                        </m:r>
                        <m:r>
                          <a:rPr lang="zh-CN" altLang="en-US"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 </m:t>
                        </m:r>
                        <m:r>
                          <m:rPr>
                            <m:sty m:val="p"/>
                          </m:rPr>
                          <a:rPr lang="en-US" altLang="zh-CN" sz="16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FP</m:t>
                        </m:r>
                      </m:den>
                    </m:f>
                  </m:oMath>
                </a14:m>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   </a:t>
                </a:r>
                <a:endParaRPr kumimoji="0" lang="en-US" altLang="zh-CN" sz="16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mc:Choice>
        <mc:Fallback>
          <p:sp>
            <p:nvSpPr>
              <p:cNvPr id="14" name="TextBox 6"/>
              <p:cNvSpPr txBox="1">
                <a:spLocks noRot="1" noChangeAspect="1" noMove="1" noResize="1" noEditPoints="1" noAdjustHandles="1" noChangeArrowheads="1" noChangeShapeType="1" noTextEdit="1"/>
              </p:cNvSpPr>
              <p:nvPr>
                <p:custDataLst>
                  <p:tags r:id="rId9"/>
                </p:custDataLst>
              </p:nvPr>
            </p:nvSpPr>
            <p:spPr>
              <a:xfrm>
                <a:off x="8245445" y="3154028"/>
                <a:ext cx="1525054" cy="579839"/>
              </a:xfrm>
              <a:prstGeom prst="rect">
                <a:avLst/>
              </a:prstGeom>
              <a:blipFill rotWithShape="1">
                <a:blip r:embed="rId10"/>
                <a:stretch>
                  <a:fillRect l="-40" t="-107" r="26" b="1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0" grpId="0"/>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564091" y="1533570"/>
            <a:ext cx="6127422" cy="307777"/>
          </a:xfrm>
          <a:prstGeom prst="rect">
            <a:avLst/>
          </a:prstGeom>
          <a:noFill/>
        </p:spPr>
        <p:txBody>
          <a:bodyPr wrap="square">
            <a:spAutoFit/>
          </a:bodyPr>
          <a:lstStyle/>
          <a:p>
            <a:r>
              <a:rPr lang="zh-CN" altLang="en-US" sz="1400" dirty="0">
                <a:latin typeface="Alibaba PuHuiTi" pitchFamily="18" charset="-122"/>
                <a:ea typeface="Alibaba PuHuiTi" pitchFamily="18" charset="-122"/>
                <a:cs typeface="Alibaba PuHuiTi" pitchFamily="18" charset="-122"/>
              </a:rPr>
              <a:t>关于精确率、召回率和 </a:t>
            </a:r>
            <a:r>
              <a:rPr lang="en-GB" altLang="zh-CN" sz="1400" dirty="0">
                <a:latin typeface="Alibaba PuHuiTi" pitchFamily="18" charset="-122"/>
                <a:ea typeface="Alibaba PuHuiTi" pitchFamily="18" charset="-122"/>
                <a:cs typeface="Alibaba PuHuiTi" pitchFamily="18" charset="-122"/>
              </a:rPr>
              <a:t>F1 </a:t>
            </a:r>
            <a:r>
              <a:rPr lang="zh-CN" altLang="en-US" sz="1400" dirty="0">
                <a:latin typeface="Alibaba PuHuiTi" pitchFamily="18" charset="-122"/>
                <a:ea typeface="Alibaba PuHuiTi" pitchFamily="18" charset="-122"/>
                <a:cs typeface="Alibaba PuHuiTi" pitchFamily="18" charset="-122"/>
              </a:rPr>
              <a:t>值的定义，下列说法正确的是：</a:t>
            </a:r>
            <a:endParaRPr lang="zh-CN" altLang="en-US" sz="1400" dirty="0">
              <a:latin typeface="Alibaba PuHuiTi" pitchFamily="18" charset="-122"/>
              <a:ea typeface="Alibaba PuHuiTi" pitchFamily="18" charset="-122"/>
              <a:cs typeface="Alibaba PuHuiTi" pitchFamily="18" charset="-122"/>
            </a:endParaRPr>
          </a:p>
        </p:txBody>
      </p:sp>
      <p:sp>
        <p:nvSpPr>
          <p:cNvPr id="6" name="文本框 5"/>
          <p:cNvSpPr txBox="1"/>
          <p:nvPr/>
        </p:nvSpPr>
        <p:spPr>
          <a:xfrm>
            <a:off x="2697636" y="2110174"/>
            <a:ext cx="7200507" cy="2647391"/>
          </a:xfrm>
          <a:prstGeom prst="rect">
            <a:avLst/>
          </a:prstGeom>
          <a:noFill/>
        </p:spPr>
        <p:txBody>
          <a:bodyPr wrap="square">
            <a:spAutoFit/>
          </a:bodyPr>
          <a:lstStyle/>
          <a:p>
            <a:pPr marL="342900" indent="-342900">
              <a:lnSpc>
                <a:spcPct val="150000"/>
              </a:lnSpc>
              <a:buAutoNum type="alphaUcPeriod"/>
            </a:pPr>
            <a:r>
              <a:rPr lang="zh-CN" altLang="en-US" sz="1400" dirty="0">
                <a:latin typeface="Alibaba PuHuiTi" pitchFamily="18" charset="-122"/>
                <a:ea typeface="Alibaba PuHuiTi" pitchFamily="18" charset="-122"/>
                <a:cs typeface="Alibaba PuHuiTi" pitchFamily="18" charset="-122"/>
              </a:rPr>
              <a:t>精确率是指预测为正例中实际为正例的比例，召回率是指实际为正例中被预测为正例的比例，</a:t>
            </a:r>
            <a:r>
              <a:rPr lang="en-GB" altLang="zh-CN" sz="1400" dirty="0">
                <a:latin typeface="Alibaba PuHuiTi" pitchFamily="18" charset="-122"/>
                <a:ea typeface="Alibaba PuHuiTi" pitchFamily="18" charset="-122"/>
                <a:cs typeface="Alibaba PuHuiTi" pitchFamily="18" charset="-122"/>
              </a:rPr>
              <a:t>F1 </a:t>
            </a:r>
            <a:r>
              <a:rPr lang="zh-CN" altLang="en-US" sz="1400" dirty="0">
                <a:latin typeface="Alibaba PuHuiTi" pitchFamily="18" charset="-122"/>
                <a:ea typeface="Alibaba PuHuiTi" pitchFamily="18" charset="-122"/>
                <a:cs typeface="Alibaba PuHuiTi" pitchFamily="18" charset="-122"/>
              </a:rPr>
              <a:t>值是精确率和召回率的调和平均数。 </a:t>
            </a:r>
            <a:endParaRPr lang="en-US" altLang="zh-CN" sz="1400" dirty="0">
              <a:latin typeface="Alibaba PuHuiTi" pitchFamily="18" charset="-122"/>
              <a:ea typeface="Alibaba PuHuiTi" pitchFamily="18" charset="-122"/>
              <a:cs typeface="Alibaba PuHuiTi" pitchFamily="18" charset="-122"/>
            </a:endParaRPr>
          </a:p>
          <a:p>
            <a:pPr>
              <a:lnSpc>
                <a:spcPct val="150000"/>
              </a:lnSpc>
            </a:pPr>
            <a:endParaRPr lang="en-US" altLang="zh-CN" sz="1400" dirty="0">
              <a:latin typeface="Alibaba PuHuiTi" pitchFamily="18" charset="-122"/>
              <a:ea typeface="Alibaba PuHuiTi" pitchFamily="18" charset="-122"/>
              <a:cs typeface="Alibaba PuHuiTi" pitchFamily="18" charset="-122"/>
            </a:endParaRPr>
          </a:p>
          <a:p>
            <a:pPr>
              <a:lnSpc>
                <a:spcPct val="150000"/>
              </a:lnSpc>
            </a:pPr>
            <a:r>
              <a:rPr lang="en-GB" altLang="zh-CN" sz="1400" dirty="0">
                <a:latin typeface="Alibaba PuHuiTi" pitchFamily="18" charset="-122"/>
                <a:ea typeface="Alibaba PuHuiTi" pitchFamily="18" charset="-122"/>
                <a:cs typeface="Alibaba PuHuiTi" pitchFamily="18" charset="-122"/>
              </a:rPr>
              <a:t>B. </a:t>
            </a:r>
            <a:r>
              <a:rPr lang="zh-CN" altLang="en-US" sz="1400" dirty="0">
                <a:latin typeface="Alibaba PuHuiTi" pitchFamily="18" charset="-122"/>
                <a:ea typeface="Alibaba PuHuiTi" pitchFamily="18" charset="-122"/>
                <a:cs typeface="Alibaba PuHuiTi" pitchFamily="18" charset="-122"/>
              </a:rPr>
              <a:t>精确率是指实际为正例中被预测为正例的比例，召回率是指预测为正例中实际为正例的比例，</a:t>
            </a:r>
            <a:r>
              <a:rPr lang="en-GB" altLang="zh-CN" sz="1400" dirty="0">
                <a:latin typeface="Alibaba PuHuiTi" pitchFamily="18" charset="-122"/>
                <a:ea typeface="Alibaba PuHuiTi" pitchFamily="18" charset="-122"/>
                <a:cs typeface="Alibaba PuHuiTi" pitchFamily="18" charset="-122"/>
              </a:rPr>
              <a:t>F1 </a:t>
            </a:r>
            <a:r>
              <a:rPr lang="zh-CN" altLang="en-US" sz="1400" dirty="0">
                <a:latin typeface="Alibaba PuHuiTi" pitchFamily="18" charset="-122"/>
                <a:ea typeface="Alibaba PuHuiTi" pitchFamily="18" charset="-122"/>
                <a:cs typeface="Alibaba PuHuiTi" pitchFamily="18" charset="-122"/>
              </a:rPr>
              <a:t>值是精确率和召回率的调和平均数。 </a:t>
            </a:r>
            <a:endParaRPr lang="en-US" altLang="zh-CN" sz="1400" dirty="0">
              <a:latin typeface="Alibaba PuHuiTi" pitchFamily="18" charset="-122"/>
              <a:ea typeface="Alibaba PuHuiTi" pitchFamily="18" charset="-122"/>
              <a:cs typeface="Alibaba PuHuiTi" pitchFamily="18" charset="-122"/>
            </a:endParaRPr>
          </a:p>
          <a:p>
            <a:pPr>
              <a:lnSpc>
                <a:spcPct val="150000"/>
              </a:lnSpc>
            </a:pPr>
            <a:endParaRPr lang="en-US" altLang="zh-CN" sz="1400" dirty="0">
              <a:latin typeface="Alibaba PuHuiTi" pitchFamily="18" charset="-122"/>
              <a:ea typeface="Alibaba PuHuiTi" pitchFamily="18" charset="-122"/>
              <a:cs typeface="Alibaba PuHuiTi" pitchFamily="18" charset="-122"/>
            </a:endParaRPr>
          </a:p>
          <a:p>
            <a:pPr>
              <a:lnSpc>
                <a:spcPct val="150000"/>
              </a:lnSpc>
            </a:pPr>
            <a:r>
              <a:rPr lang="en-GB" altLang="zh-CN" sz="1400" dirty="0">
                <a:latin typeface="Alibaba PuHuiTi" pitchFamily="18" charset="-122"/>
                <a:ea typeface="Alibaba PuHuiTi" pitchFamily="18" charset="-122"/>
                <a:cs typeface="Alibaba PuHuiTi" pitchFamily="18" charset="-122"/>
              </a:rPr>
              <a:t>C. </a:t>
            </a:r>
            <a:r>
              <a:rPr lang="zh-CN" altLang="en-US" sz="1400" dirty="0">
                <a:latin typeface="Alibaba PuHuiTi" pitchFamily="18" charset="-122"/>
                <a:ea typeface="Alibaba PuHuiTi" pitchFamily="18" charset="-122"/>
                <a:cs typeface="Alibaba PuHuiTi" pitchFamily="18" charset="-122"/>
              </a:rPr>
              <a:t>精确率是指实际为正例中被预测为正例的比例，召回率是指预测为正例中实际为正例的比例，</a:t>
            </a:r>
            <a:r>
              <a:rPr lang="en-GB" altLang="zh-CN" sz="1400" dirty="0">
                <a:latin typeface="Alibaba PuHuiTi" pitchFamily="18" charset="-122"/>
                <a:ea typeface="Alibaba PuHuiTi" pitchFamily="18" charset="-122"/>
                <a:cs typeface="Alibaba PuHuiTi" pitchFamily="18" charset="-122"/>
              </a:rPr>
              <a:t>F1 </a:t>
            </a:r>
            <a:r>
              <a:rPr lang="zh-CN" altLang="en-US" sz="1400" dirty="0">
                <a:latin typeface="Alibaba PuHuiTi" pitchFamily="18" charset="-122"/>
                <a:ea typeface="Alibaba PuHuiTi" pitchFamily="18" charset="-122"/>
                <a:cs typeface="Alibaba PuHuiTi" pitchFamily="18" charset="-122"/>
              </a:rPr>
              <a:t>值是精确率和召回率的算术平均数。</a:t>
            </a:r>
            <a:endParaRPr lang="zh-CN" altLang="en-US" sz="1400" dirty="0">
              <a:latin typeface="Alibaba PuHuiTi" pitchFamily="18" charset="-122"/>
              <a:ea typeface="Alibaba PuHuiTi" pitchFamily="18" charset="-122"/>
              <a:cs typeface="Alibaba PuHuiTi" pitchFamily="18" charset="-122"/>
            </a:endParaRPr>
          </a:p>
        </p:txBody>
      </p:sp>
      <p:sp>
        <p:nvSpPr>
          <p:cNvPr id="9" name="文本框 8"/>
          <p:cNvSpPr txBox="1"/>
          <p:nvPr/>
        </p:nvSpPr>
        <p:spPr>
          <a:xfrm>
            <a:off x="2697636" y="5861263"/>
            <a:ext cx="5343428" cy="307777"/>
          </a:xfrm>
          <a:prstGeom prst="rect">
            <a:avLst/>
          </a:prstGeom>
          <a:noFill/>
        </p:spPr>
        <p:txBody>
          <a:bodyPr wrap="square">
            <a:spAutoFit/>
          </a:bodyPr>
          <a:lstStyle/>
          <a:p>
            <a:r>
              <a:rPr lang="zh-CN" altLang="en-US" sz="1400" dirty="0">
                <a:latin typeface="Alibaba PuHuiTi" pitchFamily="18" charset="-122"/>
                <a:ea typeface="Alibaba PuHuiTi" pitchFamily="18" charset="-122"/>
                <a:cs typeface="Alibaba PuHuiTi" pitchFamily="18" charset="-122"/>
              </a:rPr>
              <a:t>答案：</a:t>
            </a:r>
            <a:r>
              <a:rPr lang="en-US" altLang="zh-CN" sz="1400" dirty="0">
                <a:latin typeface="Alibaba PuHuiTi" pitchFamily="18" charset="-122"/>
                <a:ea typeface="Alibaba PuHuiTi" pitchFamily="18" charset="-122"/>
                <a:cs typeface="Alibaba PuHuiTi" pitchFamily="18" charset="-122"/>
              </a:rPr>
              <a:t>A</a:t>
            </a:r>
            <a:endParaRPr lang="zh-CN" altLang="en-US" sz="1400" dirty="0">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564091" y="1533570"/>
            <a:ext cx="6127422" cy="7372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如果一个二分类模型的精确率为 </a:t>
            </a:r>
            <a:r>
              <a:rPr kumimoji="0" lang="en-US"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0.8</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，召回率为 </a:t>
            </a:r>
            <a:r>
              <a:rPr kumimoji="0" lang="en-US"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0.6</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，那么该模型的 </a:t>
            </a:r>
            <a:r>
              <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F1 </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值为：</a:t>
            </a:r>
            <a:endPar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sp>
        <p:nvSpPr>
          <p:cNvPr id="6" name="文本框 5"/>
          <p:cNvSpPr txBox="1"/>
          <p:nvPr/>
        </p:nvSpPr>
        <p:spPr>
          <a:xfrm>
            <a:off x="2697636" y="2110174"/>
            <a:ext cx="7200507" cy="1383665"/>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AutoNum type="alphaUcPeriod"/>
              <a:defRPr/>
            </a:pPr>
            <a:r>
              <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0.44 </a:t>
            </a:r>
            <a:endPar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marL="342900" marR="0" lvl="0" indent="-342900" algn="l" defTabSz="914400" rtl="0" eaLnBrk="1" fontAlgn="auto" latinLnBrk="0" hangingPunct="1">
              <a:lnSpc>
                <a:spcPct val="150000"/>
              </a:lnSpc>
              <a:spcBef>
                <a:spcPts val="0"/>
              </a:spcBef>
              <a:spcAft>
                <a:spcPts val="0"/>
              </a:spcAft>
              <a:buClrTx/>
              <a:buSzTx/>
              <a:buAutoNum type="alphaUcPeriod"/>
              <a:defRPr/>
            </a:pPr>
            <a:r>
              <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0.60 </a:t>
            </a:r>
            <a:endPar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marL="342900" marR="0" lvl="0" indent="-342900" algn="l" defTabSz="914400" rtl="0" eaLnBrk="1" fontAlgn="auto" latinLnBrk="0" hangingPunct="1">
              <a:lnSpc>
                <a:spcPct val="150000"/>
              </a:lnSpc>
              <a:spcBef>
                <a:spcPts val="0"/>
              </a:spcBef>
              <a:spcAft>
                <a:spcPts val="0"/>
              </a:spcAft>
              <a:buClrTx/>
              <a:buSzTx/>
              <a:buAutoNum type="alphaUcPeriod"/>
              <a:defRPr/>
            </a:pPr>
            <a:r>
              <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0.69 </a:t>
            </a:r>
            <a:endPar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marL="342900" marR="0" lvl="0" indent="-342900" algn="l" defTabSz="914400" rtl="0" eaLnBrk="1" fontAlgn="auto" latinLnBrk="0" hangingPunct="1">
              <a:lnSpc>
                <a:spcPct val="150000"/>
              </a:lnSpc>
              <a:spcBef>
                <a:spcPts val="0"/>
              </a:spcBef>
              <a:spcAft>
                <a:spcPts val="0"/>
              </a:spcAft>
              <a:buClrTx/>
              <a:buSzTx/>
              <a:buAutoNum type="alphaUcPeriod"/>
              <a:defRPr/>
            </a:pPr>
            <a:r>
              <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0.75</a:t>
            </a:r>
            <a:endPar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sp>
        <p:nvSpPr>
          <p:cNvPr id="9" name="文本框 8"/>
          <p:cNvSpPr txBox="1"/>
          <p:nvPr/>
        </p:nvSpPr>
        <p:spPr>
          <a:xfrm>
            <a:off x="2757131" y="4496170"/>
            <a:ext cx="5343428"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答案：</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C   2*0.8*0.6/(0.8+0.6)=0.6857</a:t>
            </a:r>
            <a:endPar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0"/>
          </p:nvPr>
        </p:nvSpPr>
        <p:spPr>
          <a:xfrm>
            <a:off x="4516566" y="1429419"/>
            <a:ext cx="7228417" cy="3999161"/>
          </a:xfrm>
        </p:spPr>
        <p:txBody>
          <a:bodyPr anchor="t"/>
          <a:lstStyle/>
          <a:p>
            <a:r>
              <a:rPr lang="zh-CN" altLang="en-US" dirty="0">
                <a:solidFill>
                  <a:schemeClr val="tx1"/>
                </a:solidFill>
                <a:latin typeface="Alibaba PuHuiTi" pitchFamily="18" charset="-122"/>
                <a:ea typeface="Alibaba PuHuiTi" pitchFamily="18" charset="-122"/>
                <a:cs typeface="Alibaba PuHuiTi" pitchFamily="18" charset="-122"/>
              </a:rPr>
              <a:t>逻辑回归简介</a:t>
            </a:r>
            <a:endParaRPr lang="en-US" altLang="zh-CN" dirty="0">
              <a:solidFill>
                <a:schemeClr val="tx1"/>
              </a:solidFill>
              <a:latin typeface="Alibaba PuHuiTi" pitchFamily="18" charset="-122"/>
              <a:ea typeface="Alibaba PuHuiTi" pitchFamily="18" charset="-122"/>
              <a:cs typeface="Alibaba PuHuiTi" pitchFamily="18" charset="-122"/>
            </a:endParaRPr>
          </a:p>
          <a:p>
            <a:pPr lvl="1"/>
            <a:r>
              <a:rPr lang="zh-CN" altLang="en-US" b="0" dirty="0">
                <a:latin typeface="Alibaba PuHuiTi" pitchFamily="18" charset="-122"/>
                <a:ea typeface="Alibaba PuHuiTi" pitchFamily="18" charset="-122"/>
                <a:cs typeface="Alibaba PuHuiTi" pitchFamily="18" charset="-122"/>
              </a:rPr>
              <a:t>应用场景，数学知识</a:t>
            </a:r>
            <a:endParaRPr lang="en-US" altLang="zh-CN" b="0" dirty="0">
              <a:latin typeface="Alibaba PuHuiTi" pitchFamily="18" charset="-122"/>
              <a:ea typeface="Alibaba PuHuiTi" pitchFamily="18" charset="-122"/>
              <a:cs typeface="Alibaba PuHuiTi" pitchFamily="18" charset="-122"/>
            </a:endParaRPr>
          </a:p>
          <a:p>
            <a:r>
              <a:rPr lang="zh-CN" altLang="en-US" dirty="0">
                <a:solidFill>
                  <a:schemeClr val="tx1"/>
                </a:solidFill>
                <a:latin typeface="Alibaba PuHuiTi" pitchFamily="18" charset="-122"/>
                <a:ea typeface="Alibaba PuHuiTi" pitchFamily="18" charset="-122"/>
                <a:cs typeface="Alibaba PuHuiTi" pitchFamily="18" charset="-122"/>
              </a:rPr>
              <a:t>逻辑回归原理</a:t>
            </a:r>
            <a:endParaRPr kumimoji="1" lang="en-US" altLang="zh-CN" sz="1600" b="0" dirty="0">
              <a:solidFill>
                <a:schemeClr val="tx1"/>
              </a:solidFill>
              <a:latin typeface="Alibaba PuHuiTi" pitchFamily="18" charset="-122"/>
              <a:ea typeface="Alibaba PuHuiTi" pitchFamily="18" charset="-122"/>
              <a:cs typeface="Alibaba PuHuiTi" pitchFamily="18" charset="-122"/>
            </a:endParaRPr>
          </a:p>
          <a:p>
            <a:r>
              <a:rPr kumimoji="1" lang="zh-CN" altLang="en-US" dirty="0">
                <a:solidFill>
                  <a:schemeClr val="tx1"/>
                </a:solidFill>
                <a:latin typeface="Alibaba PuHuiTi" pitchFamily="18" charset="-122"/>
                <a:ea typeface="Alibaba PuHuiTi" pitchFamily="18" charset="-122"/>
                <a:cs typeface="Alibaba PuHuiTi" pitchFamily="18" charset="-122"/>
              </a:rPr>
              <a:t>逻辑回归</a:t>
            </a:r>
            <a:r>
              <a:rPr kumimoji="1" lang="en-US" altLang="zh-CN" dirty="0">
                <a:solidFill>
                  <a:schemeClr val="tx1"/>
                </a:solidFill>
                <a:latin typeface="Alibaba PuHuiTi" pitchFamily="18" charset="-122"/>
                <a:ea typeface="Alibaba PuHuiTi" pitchFamily="18" charset="-122"/>
                <a:cs typeface="Alibaba PuHuiTi" pitchFamily="18" charset="-122"/>
              </a:rPr>
              <a:t>API</a:t>
            </a:r>
            <a:r>
              <a:rPr kumimoji="1" lang="zh-CN" altLang="en-US" dirty="0">
                <a:solidFill>
                  <a:schemeClr val="tx1"/>
                </a:solidFill>
                <a:latin typeface="Alibaba PuHuiTi" pitchFamily="18" charset="-122"/>
                <a:ea typeface="Alibaba PuHuiTi" pitchFamily="18" charset="-122"/>
                <a:cs typeface="Alibaba PuHuiTi" pitchFamily="18" charset="-122"/>
              </a:rPr>
              <a:t>函数和案例 </a:t>
            </a:r>
            <a:endParaRPr kumimoji="1" lang="en-US" altLang="zh-CN" sz="1600" b="0" dirty="0">
              <a:solidFill>
                <a:schemeClr val="tx1"/>
              </a:solidFill>
              <a:latin typeface="Alibaba PuHuiTi" pitchFamily="18" charset="-122"/>
              <a:ea typeface="Alibaba PuHuiTi" pitchFamily="18" charset="-122"/>
              <a:cs typeface="Alibaba PuHuiTi" pitchFamily="18" charset="-122"/>
            </a:endParaRPr>
          </a:p>
          <a:p>
            <a:r>
              <a:rPr kumimoji="1" lang="zh-CN" altLang="en-US" dirty="0">
                <a:solidFill>
                  <a:srgbClr val="FF0000"/>
                </a:solidFill>
                <a:latin typeface="Alibaba PuHuiTi" pitchFamily="18" charset="-122"/>
                <a:ea typeface="Alibaba PuHuiTi" pitchFamily="18" charset="-122"/>
                <a:cs typeface="Alibaba PuHuiTi" pitchFamily="18" charset="-122"/>
              </a:rPr>
              <a:t>分类问题评估</a:t>
            </a:r>
            <a:endParaRPr kumimoji="1" lang="en-US" altLang="zh-CN" dirty="0">
              <a:solidFill>
                <a:srgbClr val="FF0000"/>
              </a:solidFill>
              <a:latin typeface="Alibaba PuHuiTi" pitchFamily="18" charset="-122"/>
              <a:ea typeface="Alibaba PuHuiTi" pitchFamily="18" charset="-122"/>
              <a:cs typeface="Alibaba PuHuiTi" pitchFamily="18" charset="-122"/>
            </a:endParaRPr>
          </a:p>
          <a:p>
            <a:pPr lvl="1"/>
            <a:r>
              <a:rPr lang="zh-CN" altLang="en-US" sz="1600" b="0" dirty="0">
                <a:latin typeface="Alibaba PuHuiTi" pitchFamily="18" charset="-122"/>
                <a:ea typeface="Alibaba PuHuiTi" pitchFamily="18" charset="-122"/>
                <a:cs typeface="Alibaba PuHuiTi" pitchFamily="18" charset="-122"/>
              </a:rPr>
              <a:t>混淆矩阵、精确率、召回率、</a:t>
            </a:r>
            <a:r>
              <a:rPr lang="en-US" altLang="zh-CN" sz="1600" b="0" dirty="0">
                <a:latin typeface="Alibaba PuHuiTi" pitchFamily="18" charset="-122"/>
                <a:ea typeface="Alibaba PuHuiTi" pitchFamily="18" charset="-122"/>
                <a:cs typeface="Alibaba PuHuiTi" pitchFamily="18" charset="-122"/>
              </a:rPr>
              <a:t>F1-score</a:t>
            </a:r>
            <a:r>
              <a:rPr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en-US" altLang="zh-CN" sz="1600" b="0" dirty="0">
                <a:solidFill>
                  <a:srgbClr val="FF0000"/>
                </a:solidFill>
                <a:latin typeface="Alibaba PuHuiTi" pitchFamily="18" charset="-122"/>
                <a:ea typeface="Alibaba PuHuiTi" pitchFamily="18" charset="-122"/>
                <a:cs typeface="Alibaba PuHuiTi" pitchFamily="18" charset="-122"/>
              </a:rPr>
              <a:t>AUC</a:t>
            </a:r>
            <a:r>
              <a:rPr kumimoji="1" lang="zh-CN" altLang="en-US" sz="1600" b="0" dirty="0">
                <a:solidFill>
                  <a:srgbClr val="FF0000"/>
                </a:solidFill>
                <a:latin typeface="Alibaba PuHuiTi" pitchFamily="18" charset="-122"/>
                <a:ea typeface="Alibaba PuHuiTi" pitchFamily="18" charset="-122"/>
                <a:cs typeface="Alibaba PuHuiTi" pitchFamily="18" charset="-122"/>
              </a:rPr>
              <a:t>指标、</a:t>
            </a:r>
            <a:r>
              <a:rPr kumimoji="1" lang="en-US" altLang="zh-CN" sz="1600" b="0" dirty="0">
                <a:solidFill>
                  <a:srgbClr val="FF0000"/>
                </a:solidFill>
                <a:latin typeface="Alibaba PuHuiTi" pitchFamily="18" charset="-122"/>
                <a:ea typeface="Alibaba PuHuiTi" pitchFamily="18" charset="-122"/>
                <a:cs typeface="Alibaba PuHuiTi" pitchFamily="18" charset="-122"/>
              </a:rPr>
              <a:t>ROC</a:t>
            </a:r>
            <a:r>
              <a:rPr kumimoji="1" lang="zh-CN" altLang="en-US" sz="1600" b="0" dirty="0">
                <a:solidFill>
                  <a:srgbClr val="FF0000"/>
                </a:solidFill>
                <a:latin typeface="Alibaba PuHuiTi" pitchFamily="18" charset="-122"/>
                <a:ea typeface="Alibaba PuHuiTi" pitchFamily="18" charset="-122"/>
                <a:cs typeface="Alibaba PuHuiTi" pitchFamily="18" charset="-122"/>
              </a:rPr>
              <a:t>曲线 </a:t>
            </a:r>
            <a:endParaRPr lang="en-US" altLang="zh-CN" sz="1600" b="0" dirty="0">
              <a:solidFill>
                <a:srgbClr val="FF0000"/>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电信客户流失预测案例</a:t>
            </a:r>
            <a:endPar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996168" y="289616"/>
            <a:ext cx="6298881" cy="4855845"/>
          </a:xfrm>
        </p:spPr>
        <p:txBody>
          <a:bodyPr/>
          <a:lstStyle/>
          <a:p>
            <a:r>
              <a:rPr lang="zh-CN" altLang="en-US" b="0" i="0" u="none" strike="noStrike" dirty="0">
                <a:solidFill>
                  <a:srgbClr val="333333"/>
                </a:solidFill>
                <a:effectLst/>
                <a:latin typeface="Open Sans" panose="020B0606030504020204" pitchFamily="34" charset="0"/>
              </a:rPr>
              <a:t>知道</a:t>
            </a:r>
            <a:r>
              <a:rPr lang="en-GB" altLang="zh-CN" b="0" i="0" u="none" strike="noStrike" dirty="0">
                <a:solidFill>
                  <a:srgbClr val="333333"/>
                </a:solidFill>
                <a:effectLst/>
                <a:latin typeface="Open Sans" panose="020B0606030504020204" pitchFamily="34" charset="0"/>
              </a:rPr>
              <a:t>ROC</a:t>
            </a:r>
            <a:r>
              <a:rPr lang="zh-CN" altLang="en-US" b="0" i="0" u="none" strike="noStrike" dirty="0">
                <a:solidFill>
                  <a:srgbClr val="333333"/>
                </a:solidFill>
                <a:effectLst/>
                <a:latin typeface="Open Sans" panose="020B0606030504020204" pitchFamily="34" charset="0"/>
              </a:rPr>
              <a:t>曲线和</a:t>
            </a:r>
            <a:r>
              <a:rPr lang="en-GB" altLang="zh-CN" b="0" i="0" u="none" strike="noStrike" dirty="0">
                <a:solidFill>
                  <a:srgbClr val="333333"/>
                </a:solidFill>
                <a:effectLst/>
                <a:latin typeface="Open Sans" panose="020B0606030504020204" pitchFamily="34" charset="0"/>
              </a:rPr>
              <a:t>AUC</a:t>
            </a:r>
            <a:r>
              <a:rPr lang="zh-CN" altLang="en-US" b="0" i="0" u="none" strike="noStrike" dirty="0">
                <a:solidFill>
                  <a:srgbClr val="333333"/>
                </a:solidFill>
                <a:effectLst/>
                <a:latin typeface="Open Sans" panose="020B0606030504020204" pitchFamily="34" charset="0"/>
              </a:rPr>
              <a:t>指标</a:t>
            </a:r>
            <a:endParaRPr lang="en-US" altLang="zh-CN" b="0" i="0" u="none" strike="noStrike" dirty="0">
              <a:solidFill>
                <a:srgbClr val="333333"/>
              </a:solidFill>
              <a:effectLst/>
              <a:latin typeface="Open Sans" panose="020B0606030504020204" pitchFamily="34" charset="0"/>
            </a:endParaRPr>
          </a:p>
          <a:p>
            <a:r>
              <a:rPr lang="zh-CN" altLang="en-US" dirty="0">
                <a:solidFill>
                  <a:srgbClr val="333333"/>
                </a:solidFill>
                <a:latin typeface="Open Sans" panose="020B0606030504020204" pitchFamily="34" charset="0"/>
                <a:ea typeface="Alibaba PuHuiTi" pitchFamily="18" charset="-122"/>
                <a:cs typeface="Alibaba PuHuiTi" pitchFamily="18" charset="-122"/>
              </a:rPr>
              <a:t>了解相应的</a:t>
            </a:r>
            <a:r>
              <a:rPr lang="en-US" altLang="zh-CN" dirty="0">
                <a:solidFill>
                  <a:srgbClr val="333333"/>
                </a:solidFill>
                <a:latin typeface="Open Sans" panose="020B0606030504020204" pitchFamily="34" charset="0"/>
                <a:ea typeface="Alibaba PuHuiTi" pitchFamily="18" charset="-122"/>
                <a:cs typeface="Alibaba PuHuiTi" pitchFamily="18" charset="-122"/>
              </a:rPr>
              <a:t>API</a:t>
            </a:r>
            <a:r>
              <a:rPr lang="zh-CN" altLang="en-US" dirty="0">
                <a:solidFill>
                  <a:srgbClr val="333333"/>
                </a:solidFill>
                <a:latin typeface="Open Sans" panose="020B0606030504020204" pitchFamily="34" charset="0"/>
                <a:ea typeface="Alibaba PuHuiTi" pitchFamily="18" charset="-122"/>
                <a:cs typeface="Alibaba PuHuiTi" pitchFamily="18" charset="-122"/>
              </a:rPr>
              <a:t>函数</a:t>
            </a:r>
            <a:endParaRPr lang="en-US" altLang="zh-CN"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–ROC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曲线、</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AUC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指标</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985825" y="3042708"/>
            <a:ext cx="5697197"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en-GB" altLang="zh-CN"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ROC</a:t>
            </a:r>
            <a:r>
              <a:rPr kumimoji="0" lang="zh-CN" altLang="en-US"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曲线（</a:t>
            </a:r>
            <a:r>
              <a:rPr kumimoji="0" lang="en-GB" altLang="zh-CN"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Receiver Operating Characteristic curve</a:t>
            </a:r>
            <a:r>
              <a:rPr kumimoji="0" lang="zh-CN" altLang="en-GB"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a:t>
            </a:r>
            <a:endParaRPr kumimoji="0" lang="zh-CN" altLang="en-GB"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6683022" y="1208300"/>
            <a:ext cx="5186058" cy="4168394"/>
          </a:xfrm>
          <a:prstGeom prst="rect">
            <a:avLst/>
          </a:prstGeom>
        </p:spPr>
      </p:pic>
      <p:sp>
        <p:nvSpPr>
          <p:cNvPr id="8" name="文本框 7"/>
          <p:cNvSpPr txBox="1"/>
          <p:nvPr/>
        </p:nvSpPr>
        <p:spPr>
          <a:xfrm>
            <a:off x="1317853" y="3587442"/>
            <a:ext cx="5123333" cy="1031564"/>
          </a:xfrm>
          <a:prstGeom prst="rect">
            <a:avLst/>
          </a:prstGeom>
          <a:noFill/>
        </p:spPr>
        <p:txBody>
          <a:bodyPr wrap="square">
            <a:spAutoFit/>
          </a:bodyPr>
          <a:lstStyle/>
          <a:p>
            <a:pPr>
              <a:lnSpc>
                <a:spcPct val="150000"/>
              </a:lnSpc>
            </a:pP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是一种常用于评估分类模型性能的</a:t>
            </a:r>
            <a:r>
              <a:rPr lang="zh-CN" altLang="en-US" sz="1400" b="0" i="0" dirty="0">
                <a:solidFill>
                  <a:schemeClr val="accent2">
                    <a:lumMod val="75000"/>
                  </a:schemeClr>
                </a:solidFill>
                <a:effectLst/>
                <a:latin typeface="Alibaba PuHuiTi" pitchFamily="18" charset="-122"/>
                <a:ea typeface="Alibaba PuHuiTi" pitchFamily="18" charset="-122"/>
                <a:cs typeface="Alibaba PuHuiTi" pitchFamily="18" charset="-122"/>
              </a:rPr>
              <a:t>可视化工具</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a:t>
            </a: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ROC</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曲线以模型的</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真正率</a:t>
            </a:r>
            <a:r>
              <a:rPr lang="en-GB" altLang="zh-CN" sz="1400" dirty="0">
                <a:solidFill>
                  <a:schemeClr val="accent2">
                    <a:lumMod val="75000"/>
                  </a:schemeClr>
                </a:solidFill>
                <a:latin typeface="Alibaba PuHuiTi" pitchFamily="18" charset="-122"/>
                <a:ea typeface="Alibaba PuHuiTi" pitchFamily="18" charset="-122"/>
                <a:cs typeface="Alibaba PuHuiTi" pitchFamily="18" charset="-122"/>
              </a:rPr>
              <a:t>TPR</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为纵轴</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假正率</a:t>
            </a:r>
            <a:r>
              <a:rPr lang="en-GB" altLang="zh-CN" sz="1400" dirty="0">
                <a:solidFill>
                  <a:schemeClr val="accent2">
                    <a:lumMod val="75000"/>
                  </a:schemeClr>
                </a:solidFill>
                <a:latin typeface="Alibaba PuHuiTi" pitchFamily="18" charset="-122"/>
                <a:ea typeface="Alibaba PuHuiTi" pitchFamily="18" charset="-122"/>
                <a:cs typeface="Alibaba PuHuiTi" pitchFamily="18" charset="-122"/>
              </a:rPr>
              <a:t>FPR</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为横轴</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，它将模型在</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不同阈值</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下的表现以曲线的形式展现出来。</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1" name="文本占位符 2"/>
          <p:cNvSpPr txBox="1"/>
          <p:nvPr/>
        </p:nvSpPr>
        <p:spPr>
          <a:xfrm>
            <a:off x="985826" y="1357169"/>
            <a:ext cx="410546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zh-CN" altLang="en-US"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真正率</a:t>
            </a:r>
            <a:r>
              <a:rPr kumimoji="0" lang="en-US" altLang="zh-CN"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TPR</a:t>
            </a:r>
            <a:r>
              <a:rPr kumimoji="0" lang="zh-CN" altLang="en-US"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与假正率</a:t>
            </a:r>
            <a:r>
              <a:rPr kumimoji="0" lang="en-US" altLang="zh-CN"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FPR</a:t>
            </a:r>
            <a:endParaRPr kumimoji="0" lang="zh-CN" altLang="en-GB"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endParaRPr>
          </a:p>
        </p:txBody>
      </p:sp>
      <p:sp>
        <p:nvSpPr>
          <p:cNvPr id="13" name="文本框 12"/>
          <p:cNvSpPr txBox="1"/>
          <p:nvPr/>
        </p:nvSpPr>
        <p:spPr>
          <a:xfrm>
            <a:off x="1263764" y="1791053"/>
            <a:ext cx="5419258" cy="1031564"/>
          </a:xfrm>
          <a:prstGeom prst="rect">
            <a:avLst/>
          </a:prstGeom>
          <a:noFill/>
        </p:spPr>
        <p:txBody>
          <a:bodyPr wrap="square">
            <a:spAutoFit/>
          </a:bodyPr>
          <a:lstStyle/>
          <a:p>
            <a:pPr algn="l">
              <a:lnSpc>
                <a:spcPct val="15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zh-CN" altLang="en-US" sz="14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正样本中被预测为正样本的概率</a:t>
            </a:r>
            <a:r>
              <a:rPr lang="en-GB"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TPR </a:t>
            </a:r>
            <a:r>
              <a:rPr lang="zh-CN" altLang="en-GB"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a:t>
            </a:r>
            <a:r>
              <a:rPr lang="en-GB"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True Positive Rate</a:t>
            </a:r>
            <a:r>
              <a:rPr lang="zh-CN" altLang="en-GB"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a:t>
            </a:r>
            <a:endParaRPr lang="zh-CN" altLang="en-GB"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pPr algn="l">
              <a:lnSpc>
                <a:spcPct val="150000"/>
              </a:lnSpc>
            </a:pPr>
            <a:r>
              <a:rPr lang="en-US" altLang="zh-CN" sz="14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2</a:t>
            </a:r>
            <a:r>
              <a:rPr lang="zh-CN" altLang="en-US" sz="14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 负样本中被预测为正样本的概率</a:t>
            </a:r>
            <a:r>
              <a:rPr lang="en-GB"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FPR </a:t>
            </a:r>
            <a:r>
              <a:rPr lang="zh-CN" altLang="en-GB"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a:t>
            </a:r>
            <a:r>
              <a:rPr lang="en-GB"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False Positive Rate</a:t>
            </a:r>
            <a:r>
              <a:rPr lang="zh-CN" altLang="en-GB"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a:t>
            </a:r>
            <a:endPar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pPr algn="l">
              <a:lnSpc>
                <a:spcPct val="150000"/>
              </a:lnSpc>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通过这两个指标可以描述模型</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对正</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负样本的分辨能力</a:t>
            </a:r>
            <a:endParaRPr lang="en-US" altLang="zh-CN" sz="14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p:txBody>
      </p:sp>
      <p:sp>
        <p:nvSpPr>
          <p:cNvPr id="16" name="文本框 15"/>
          <p:cNvSpPr txBox="1"/>
          <p:nvPr/>
        </p:nvSpPr>
        <p:spPr>
          <a:xfrm>
            <a:off x="1263764" y="5384892"/>
            <a:ext cx="7543924" cy="1031564"/>
          </a:xfrm>
          <a:prstGeom prst="rect">
            <a:avLst/>
          </a:prstGeom>
          <a:noFill/>
        </p:spPr>
        <p:txBody>
          <a:bodyPr wrap="square">
            <a:spAutoFit/>
          </a:bodyPr>
          <a:lstStyle/>
          <a:p>
            <a:pPr>
              <a:lnSpc>
                <a:spcPct val="150000"/>
              </a:lnSpc>
            </a:pP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ROC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曲线的优劣可以通过曲线下的面积（</a:t>
            </a: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AUC</a:t>
            </a:r>
            <a:r>
              <a:rPr lang="zh-CN" altLang="en-GB"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来衡量，</a:t>
            </a:r>
            <a:r>
              <a:rPr lang="en-GB" altLang="zh-CN" sz="1400" b="0" i="0" dirty="0">
                <a:solidFill>
                  <a:schemeClr val="accent2">
                    <a:lumMod val="75000"/>
                  </a:schemeClr>
                </a:solidFill>
                <a:effectLst/>
                <a:latin typeface="Alibaba PuHuiTi" pitchFamily="18" charset="-122"/>
                <a:ea typeface="Alibaba PuHuiTi" pitchFamily="18" charset="-122"/>
                <a:cs typeface="Alibaba PuHuiTi" pitchFamily="18" charset="-122"/>
              </a:rPr>
              <a:t>AUC</a:t>
            </a:r>
            <a:r>
              <a:rPr lang="zh-CN" altLang="en-US" sz="1400" b="0" i="0" dirty="0">
                <a:solidFill>
                  <a:schemeClr val="accent2">
                    <a:lumMod val="75000"/>
                  </a:schemeClr>
                </a:solidFill>
                <a:effectLst/>
                <a:latin typeface="Alibaba PuHuiTi" pitchFamily="18" charset="-122"/>
                <a:ea typeface="Alibaba PuHuiTi" pitchFamily="18" charset="-122"/>
                <a:cs typeface="Alibaba PuHuiTi" pitchFamily="18" charset="-122"/>
              </a:rPr>
              <a:t>越大表示分类器性能越好</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a:t>
            </a:r>
            <a:endParaRPr lang="en-US"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a:lnSpc>
                <a:spcPct val="150000"/>
              </a:lnSpc>
            </a:pP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当</a:t>
            </a:r>
            <a:r>
              <a:rPr lang="en-GB" altLang="zh-CN" sz="1400" b="0" i="0" dirty="0">
                <a:solidFill>
                  <a:schemeClr val="accent2">
                    <a:lumMod val="75000"/>
                  </a:schemeClr>
                </a:solidFill>
                <a:effectLst/>
                <a:latin typeface="Alibaba PuHuiTi" pitchFamily="18" charset="-122"/>
                <a:ea typeface="Alibaba PuHuiTi" pitchFamily="18" charset="-122"/>
                <a:cs typeface="Alibaba PuHuiTi" pitchFamily="18" charset="-122"/>
              </a:rPr>
              <a:t>AUC=0.5</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时，表示分类器的性能等同于随机猜测</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pPr>
            <a:r>
              <a:rPr lang="zh-CN" altLang="en-GB"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当</a:t>
            </a:r>
            <a:r>
              <a:rPr lang="en-GB" altLang="zh-CN" sz="1400" b="0" i="0" dirty="0">
                <a:solidFill>
                  <a:schemeClr val="accent2">
                    <a:lumMod val="75000"/>
                  </a:schemeClr>
                </a:solidFill>
                <a:effectLst/>
                <a:latin typeface="Alibaba PuHuiTi" pitchFamily="18" charset="-122"/>
                <a:ea typeface="Alibaba PuHuiTi" pitchFamily="18" charset="-122"/>
                <a:cs typeface="Alibaba PuHuiTi" pitchFamily="18" charset="-122"/>
              </a:rPr>
              <a:t>AUC=1</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时，表示分类器的性能完美，能够完全正确地将正负例分类。</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7" name="文本占位符 2"/>
          <p:cNvSpPr txBox="1"/>
          <p:nvPr/>
        </p:nvSpPr>
        <p:spPr>
          <a:xfrm>
            <a:off x="972667" y="4877392"/>
            <a:ext cx="512333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en-GB" altLang="zh-CN"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AUC (Area Under the ROC Curve</a:t>
            </a:r>
            <a:r>
              <a:rPr kumimoji="0" lang="zh-CN" altLang="en-GB"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a:t>
            </a:r>
            <a:r>
              <a:rPr lang="zh-CN" altLang="en-US" b="1" dirty="0">
                <a:latin typeface="Alibaba PuHuiTi" pitchFamily="18" charset="-122"/>
                <a:ea typeface="Alibaba PuHuiTi" pitchFamily="18" charset="-122"/>
                <a:cs typeface="Alibaba PuHuiTi" pitchFamily="18" charset="-122"/>
              </a:rPr>
              <a:t>曲线下面积</a:t>
            </a:r>
            <a:endParaRPr kumimoji="0" lang="zh-CN" altLang="en-GB" sz="1600" b="1"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ROC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曲线、</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AUC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指标</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7791292" y="1098574"/>
            <a:ext cx="4501215" cy="3617938"/>
          </a:xfrm>
          <a:prstGeom prst="rect">
            <a:avLst/>
          </a:prstGeom>
        </p:spPr>
      </p:pic>
      <p:sp>
        <p:nvSpPr>
          <p:cNvPr id="8" name="文本框 7"/>
          <p:cNvSpPr txBox="1"/>
          <p:nvPr/>
        </p:nvSpPr>
        <p:spPr>
          <a:xfrm>
            <a:off x="866876" y="1679280"/>
            <a:ext cx="6974066" cy="2030095"/>
          </a:xfrm>
          <a:prstGeom prst="rect">
            <a:avLst/>
          </a:prstGeom>
          <a:noFill/>
        </p:spPr>
        <p:txBody>
          <a:bodyPr wrap="square">
            <a:spAutoFit/>
          </a:bodyPr>
          <a:lstStyle/>
          <a:p>
            <a:pPr algn="l">
              <a:lnSpc>
                <a:spcPct val="150000"/>
              </a:lnSpc>
            </a:pPr>
            <a:r>
              <a:rPr lang="zh-CN" altLang="en-US" sz="1200" dirty="0">
                <a:solidFill>
                  <a:srgbClr val="333333"/>
                </a:solidFill>
                <a:latin typeface="Alibaba PuHuiTi" pitchFamily="18" charset="-122"/>
                <a:ea typeface="Alibaba PuHuiTi" pitchFamily="18" charset="-122"/>
                <a:cs typeface="Alibaba PuHuiTi" pitchFamily="18" charset="-122"/>
              </a:rPr>
              <a:t>点坐标说明：图像</a:t>
            </a:r>
            <a:r>
              <a:rPr lang="en-US" altLang="zh-CN" sz="1200" dirty="0">
                <a:solidFill>
                  <a:srgbClr val="333333"/>
                </a:solidFill>
                <a:latin typeface="Alibaba PuHuiTi" pitchFamily="18" charset="-122"/>
                <a:ea typeface="Alibaba PuHuiTi" pitchFamily="18" charset="-122"/>
                <a:cs typeface="Alibaba PuHuiTi" pitchFamily="18" charset="-122"/>
              </a:rPr>
              <a:t>x</a:t>
            </a:r>
            <a:r>
              <a:rPr lang="zh-CN" altLang="en-US" sz="1200" dirty="0">
                <a:solidFill>
                  <a:srgbClr val="333333"/>
                </a:solidFill>
                <a:latin typeface="Alibaba PuHuiTi" pitchFamily="18" charset="-122"/>
                <a:ea typeface="Alibaba PuHuiTi" pitchFamily="18" charset="-122"/>
                <a:cs typeface="Alibaba PuHuiTi" pitchFamily="18" charset="-122"/>
              </a:rPr>
              <a:t>轴</a:t>
            </a:r>
            <a:r>
              <a:rPr lang="en-US" altLang="zh-CN" sz="1200" dirty="0">
                <a:solidFill>
                  <a:srgbClr val="333333"/>
                </a:solidFill>
                <a:latin typeface="Alibaba PuHuiTi" pitchFamily="18" charset="-122"/>
                <a:ea typeface="Alibaba PuHuiTi" pitchFamily="18" charset="-122"/>
                <a:cs typeface="Alibaba PuHuiTi" pitchFamily="18" charset="-122"/>
              </a:rPr>
              <a:t>FPR/y</a:t>
            </a:r>
            <a:r>
              <a:rPr lang="zh-CN" altLang="en-US" sz="1200" dirty="0">
                <a:solidFill>
                  <a:srgbClr val="333333"/>
                </a:solidFill>
                <a:latin typeface="Alibaba PuHuiTi" pitchFamily="18" charset="-122"/>
                <a:ea typeface="Alibaba PuHuiTi" pitchFamily="18" charset="-122"/>
                <a:cs typeface="Alibaba PuHuiTi" pitchFamily="18" charset="-122"/>
              </a:rPr>
              <a:t>轴</a:t>
            </a:r>
            <a:r>
              <a:rPr lang="en-US" altLang="zh-CN" sz="1200" dirty="0">
                <a:solidFill>
                  <a:srgbClr val="333333"/>
                </a:solidFill>
                <a:latin typeface="Alibaba PuHuiTi" pitchFamily="18" charset="-122"/>
                <a:ea typeface="Alibaba PuHuiTi" pitchFamily="18" charset="-122"/>
                <a:cs typeface="Alibaba PuHuiTi" pitchFamily="18" charset="-122"/>
              </a:rPr>
              <a:t>TPR,</a:t>
            </a:r>
            <a:r>
              <a:rPr lang="zh-CN" altLang="en-US" sz="1200" dirty="0">
                <a:solidFill>
                  <a:srgbClr val="333333"/>
                </a:solidFill>
                <a:latin typeface="Alibaba PuHuiTi" pitchFamily="18" charset="-122"/>
                <a:ea typeface="Alibaba PuHuiTi" pitchFamily="18" charset="-122"/>
                <a:cs typeface="Alibaba PuHuiTi" pitchFamily="18" charset="-122"/>
              </a:rPr>
              <a:t> 任意一点坐标</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A</a:t>
            </a:r>
            <a:r>
              <a:rPr lang="en-US" altLang="zh-CN"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(FPR</a:t>
            </a:r>
            <a:r>
              <a:rPr lang="zh-CN" altLang="en-US"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值</a:t>
            </a:r>
            <a:r>
              <a:rPr lang="en-US" altLang="zh-CN"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a:t>
            </a:r>
            <a:r>
              <a:rPr lang="zh-CN" altLang="en-US"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  </a:t>
            </a:r>
            <a:r>
              <a:rPr lang="en-US" altLang="zh-CN"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TPR</a:t>
            </a:r>
            <a:r>
              <a:rPr lang="zh-CN" altLang="en-US"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值</a:t>
            </a:r>
            <a:r>
              <a:rPr lang="en-US" altLang="zh-CN"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a:t>
            </a:r>
            <a:endParaRPr lang="en-US" altLang="zh-CN"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pPr>
              <a:lnSpc>
                <a:spcPct val="150000"/>
              </a:lnSpc>
              <a:buFont typeface="+mj-lt"/>
              <a:buAutoNum type="arabicPeriod"/>
            </a:pP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点</a:t>
            </a:r>
            <a:r>
              <a:rPr lang="en-US" altLang="zh-CN" sz="1200" b="0" i="0" u="none" strike="noStrike" dirty="0">
                <a:solidFill>
                  <a:srgbClr val="333333"/>
                </a:solidFill>
                <a:effectLst/>
                <a:latin typeface="Alibaba PuHuiTi" pitchFamily="18" charset="-122"/>
                <a:ea typeface="Alibaba PuHuiTi" pitchFamily="18" charset="-122"/>
                <a:cs typeface="Alibaba PuHuiTi" pitchFamily="18" charset="-122"/>
              </a:rPr>
              <a:t>(0, 0) </a:t>
            </a:r>
            <a:r>
              <a:rPr lang="zh-CN" altLang="en-US" sz="1200" dirty="0">
                <a:solidFill>
                  <a:srgbClr val="333333"/>
                </a:solidFill>
                <a:latin typeface="Alibaba PuHuiTi" pitchFamily="18" charset="-122"/>
                <a:ea typeface="Alibaba PuHuiTi" pitchFamily="18" charset="-122"/>
                <a:cs typeface="Alibaba PuHuiTi" pitchFamily="18" charset="-122"/>
              </a:rPr>
              <a:t>：</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所有的</a:t>
            </a:r>
            <a:r>
              <a:rPr lang="zh-CN" altLang="en-US" sz="1200" b="0" i="0" u="none" strike="noStrike" dirty="0">
                <a:solidFill>
                  <a:schemeClr val="accent2"/>
                </a:solidFill>
                <a:effectLst/>
                <a:latin typeface="Alibaba PuHuiTi" pitchFamily="18" charset="-122"/>
                <a:ea typeface="Alibaba PuHuiTi" pitchFamily="18" charset="-122"/>
                <a:cs typeface="Alibaba PuHuiTi" pitchFamily="18" charset="-122"/>
              </a:rPr>
              <a:t>负样本都预测正确</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，所有的</a:t>
            </a:r>
            <a:r>
              <a:rPr lang="zh-CN" altLang="en-US" sz="1200" b="0" i="0" u="none" strike="noStrike" dirty="0">
                <a:solidFill>
                  <a:schemeClr val="accent2"/>
                </a:solidFill>
                <a:effectLst/>
                <a:latin typeface="Alibaba PuHuiTi" pitchFamily="18" charset="-122"/>
                <a:ea typeface="Alibaba PuHuiTi" pitchFamily="18" charset="-122"/>
                <a:cs typeface="Alibaba PuHuiTi" pitchFamily="18" charset="-122"/>
              </a:rPr>
              <a:t>正样本都预测错误</a:t>
            </a:r>
            <a:r>
              <a:rPr lang="zh-CN" altLang="en-US"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a:t>
            </a:r>
            <a:r>
              <a:rPr lang="zh-CN" altLang="en-US" sz="1200" dirty="0">
                <a:solidFill>
                  <a:schemeClr val="tx1">
                    <a:lumMod val="85000"/>
                    <a:lumOff val="15000"/>
                  </a:schemeClr>
                </a:solidFill>
                <a:latin typeface="Alibaba PuHuiTi" pitchFamily="18" charset="-122"/>
                <a:ea typeface="Alibaba PuHuiTi" pitchFamily="18" charset="-122"/>
                <a:cs typeface="Alibaba PuHuiTi" pitchFamily="18" charset="-122"/>
              </a:rPr>
              <a:t>相当于</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点的</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(FPR</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0,</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TPR</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0</a:t>
            </a:r>
            <a:r>
              <a:rPr lang="zh-CN" altLang="en-US" sz="1200" dirty="0">
                <a:solidFill>
                  <a:schemeClr val="tx1">
                    <a:lumMod val="85000"/>
                    <a:lumOff val="15000"/>
                  </a:schemeClr>
                </a:solidFill>
                <a:latin typeface="Alibaba PuHuiTi" pitchFamily="18" charset="-122"/>
                <a:ea typeface="Alibaba PuHuiTi" pitchFamily="18" charset="-122"/>
                <a:cs typeface="Alibaba PuHuiTi" pitchFamily="18" charset="-122"/>
              </a:rPr>
              <a:t>）</a:t>
            </a:r>
            <a:endParaRPr lang="zh-CN" altLang="en-US" sz="12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a:lnSpc>
                <a:spcPct val="150000"/>
              </a:lnSpc>
              <a:buFont typeface="+mj-lt"/>
              <a:buAutoNum type="arabicPeriod"/>
            </a:pP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点</a:t>
            </a:r>
            <a:r>
              <a:rPr lang="en-US" altLang="zh-CN" sz="1200" b="0" i="0" u="none" strike="noStrike" dirty="0">
                <a:solidFill>
                  <a:srgbClr val="333333"/>
                </a:solidFill>
                <a:effectLst/>
                <a:latin typeface="Alibaba PuHuiTi" pitchFamily="18" charset="-122"/>
                <a:ea typeface="Alibaba PuHuiTi" pitchFamily="18" charset="-122"/>
                <a:cs typeface="Alibaba PuHuiTi" pitchFamily="18" charset="-122"/>
              </a:rPr>
              <a:t>(1, 0) </a:t>
            </a:r>
            <a:r>
              <a:rPr lang="zh-CN" altLang="en-US" sz="1200" dirty="0">
                <a:solidFill>
                  <a:srgbClr val="333333"/>
                </a:solidFill>
                <a:latin typeface="Alibaba PuHuiTi" pitchFamily="18" charset="-122"/>
                <a:ea typeface="Alibaba PuHuiTi" pitchFamily="18" charset="-122"/>
                <a:cs typeface="Alibaba PuHuiTi" pitchFamily="18" charset="-122"/>
              </a:rPr>
              <a:t>：</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所有的</a:t>
            </a:r>
            <a:r>
              <a:rPr lang="zh-CN" altLang="en-US" sz="1200" b="0" i="0" u="none" strike="noStrike" dirty="0">
                <a:solidFill>
                  <a:schemeClr val="accent2"/>
                </a:solidFill>
                <a:effectLst/>
                <a:latin typeface="Alibaba PuHuiTi" pitchFamily="18" charset="-122"/>
                <a:ea typeface="Alibaba PuHuiTi" pitchFamily="18" charset="-122"/>
                <a:cs typeface="Alibaba PuHuiTi" pitchFamily="18" charset="-122"/>
              </a:rPr>
              <a:t>负样本都预测错误</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，所有的</a:t>
            </a:r>
            <a:r>
              <a:rPr lang="zh-CN" altLang="en-US" sz="1200" b="0" i="0" u="none" strike="noStrike" dirty="0">
                <a:solidFill>
                  <a:schemeClr val="accent2"/>
                </a:solidFill>
                <a:effectLst/>
                <a:latin typeface="Alibaba PuHuiTi" pitchFamily="18" charset="-122"/>
                <a:ea typeface="Alibaba PuHuiTi" pitchFamily="18" charset="-122"/>
                <a:cs typeface="Alibaba PuHuiTi" pitchFamily="18" charset="-122"/>
              </a:rPr>
              <a:t>正样本都预测错误。</a:t>
            </a:r>
            <a:r>
              <a:rPr lang="zh-CN" altLang="en-US" sz="1200" dirty="0">
                <a:solidFill>
                  <a:srgbClr val="333333"/>
                </a:solidFill>
                <a:latin typeface="Alibaba PuHuiTi" pitchFamily="18" charset="-122"/>
                <a:ea typeface="Alibaba PuHuiTi" pitchFamily="18" charset="-122"/>
                <a:cs typeface="Alibaba PuHuiTi" pitchFamily="18" charset="-122"/>
              </a:rPr>
              <a:t>相当于</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点的</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(FPR</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1,</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TPR</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0)</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 </a:t>
            </a:r>
            <a:endParaRPr lang="en-US" altLang="zh-CN"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pPr>
              <a:lnSpc>
                <a:spcPct val="150000"/>
              </a:lnSpc>
            </a:pPr>
            <a:r>
              <a:rPr lang="zh-CN" altLang="en-US"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latin typeface="Alibaba PuHuiTi" pitchFamily="18" charset="-122"/>
                <a:ea typeface="Alibaba PuHuiTi" pitchFamily="18" charset="-122"/>
                <a:cs typeface="Alibaba PuHuiTi" pitchFamily="18" charset="-122"/>
              </a:rPr>
              <a:t>	</a:t>
            </a:r>
            <a:r>
              <a:rPr lang="en-US" altLang="zh-CN" sz="1200" dirty="0">
                <a:solidFill>
                  <a:srgbClr val="333333"/>
                </a:solidFill>
                <a:effectLst/>
                <a:latin typeface="Alibaba PuHuiTi" pitchFamily="18" charset="-122"/>
                <a:ea typeface="Alibaba PuHuiTi" pitchFamily="18" charset="-122"/>
                <a:cs typeface="Alibaba PuHuiTi" pitchFamily="18" charset="-122"/>
                <a:sym typeface="+mn-ea"/>
              </a:rPr>
              <a:t>(1, 0) </a:t>
            </a:r>
            <a:r>
              <a:rPr lang="en-US" altLang="zh-CN" sz="1200" dirty="0">
                <a:solidFill>
                  <a:srgbClr val="333333"/>
                </a:solidFill>
                <a:latin typeface="Alibaba PuHuiTi" pitchFamily="18" charset="-122"/>
                <a:ea typeface="Alibaba PuHuiTi" pitchFamily="18" charset="-122"/>
                <a:cs typeface="Alibaba PuHuiTi" pitchFamily="18" charset="-122"/>
              </a:rPr>
              <a:t>-</a:t>
            </a:r>
            <a:r>
              <a:rPr lang="zh-CN" altLang="en-US" sz="1200" dirty="0">
                <a:solidFill>
                  <a:srgbClr val="333333"/>
                </a:solidFill>
                <a:latin typeface="Alibaba PuHuiTi" pitchFamily="18" charset="-122"/>
                <a:ea typeface="Alibaba PuHuiTi" pitchFamily="18" charset="-122"/>
                <a:cs typeface="Alibaba PuHuiTi" pitchFamily="18" charset="-122"/>
              </a:rPr>
              <a:t> 最不好的效果</a:t>
            </a:r>
            <a:r>
              <a:rPr lang="en-US" altLang="zh-CN" sz="1200" dirty="0">
                <a:solidFill>
                  <a:srgbClr val="333333"/>
                </a:solidFill>
                <a:latin typeface="Alibaba PuHuiTi" pitchFamily="18" charset="-122"/>
                <a:ea typeface="Alibaba PuHuiTi" pitchFamily="18" charset="-122"/>
                <a:cs typeface="Alibaba PuHuiTi" pitchFamily="18" charset="-122"/>
              </a:rPr>
              <a:t>!!!</a:t>
            </a:r>
            <a:endPar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endParaRPr>
          </a:p>
          <a:p>
            <a:pPr algn="l">
              <a:lnSpc>
                <a:spcPct val="150000"/>
              </a:lnSpc>
              <a:buFont typeface="+mj-lt"/>
              <a:buAutoNum type="arabicPeriod"/>
            </a:pP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点</a:t>
            </a:r>
            <a:r>
              <a:rPr lang="en-US" altLang="zh-CN" sz="1200" b="0" i="0" u="none" strike="noStrike" dirty="0">
                <a:solidFill>
                  <a:srgbClr val="333333"/>
                </a:solidFill>
                <a:effectLst/>
                <a:latin typeface="Alibaba PuHuiTi" pitchFamily="18" charset="-122"/>
                <a:ea typeface="Alibaba PuHuiTi" pitchFamily="18" charset="-122"/>
                <a:cs typeface="Alibaba PuHuiTi" pitchFamily="18" charset="-122"/>
              </a:rPr>
              <a:t>(1, 1)</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：所有的</a:t>
            </a:r>
            <a:r>
              <a:rPr lang="zh-CN" altLang="en-US" sz="1200" b="0" i="0" u="none" strike="noStrike" dirty="0">
                <a:solidFill>
                  <a:schemeClr val="accent2"/>
                </a:solidFill>
                <a:effectLst/>
                <a:latin typeface="Alibaba PuHuiTi" pitchFamily="18" charset="-122"/>
                <a:ea typeface="Alibaba PuHuiTi" pitchFamily="18" charset="-122"/>
                <a:cs typeface="Alibaba PuHuiTi" pitchFamily="18" charset="-122"/>
              </a:rPr>
              <a:t>负样本都预测错误</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，表示所有的</a:t>
            </a:r>
            <a:r>
              <a:rPr lang="zh-CN" altLang="en-US" sz="1200" b="0" i="0" u="none" strike="noStrike" dirty="0">
                <a:solidFill>
                  <a:schemeClr val="accent2"/>
                </a:solidFill>
                <a:effectLst/>
                <a:latin typeface="Alibaba PuHuiTi" pitchFamily="18" charset="-122"/>
                <a:ea typeface="Alibaba PuHuiTi" pitchFamily="18" charset="-122"/>
                <a:cs typeface="Alibaba PuHuiTi" pitchFamily="18" charset="-122"/>
              </a:rPr>
              <a:t>正样本都预测正确</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。相当于</a:t>
            </a:r>
            <a:r>
              <a:rPr lang="zh-CN" altLang="en-US"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点的</a:t>
            </a:r>
            <a:r>
              <a:rPr lang="en-US" altLang="zh-CN"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FPR</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1</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TPR</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1</a:t>
            </a:r>
            <a:r>
              <a:rPr lang="en-US" altLang="zh-CN"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rPr>
              <a:t>)</a:t>
            </a:r>
            <a:endParaRPr lang="zh-CN" altLang="en-US" sz="1200" b="0" i="0" u="none" strike="noStrike" dirty="0">
              <a:solidFill>
                <a:schemeClr val="accent2">
                  <a:lumMod val="75000"/>
                </a:schemeClr>
              </a:solidFill>
              <a:effectLst/>
              <a:latin typeface="Alibaba PuHuiTi" pitchFamily="18" charset="-122"/>
              <a:ea typeface="Alibaba PuHuiTi" pitchFamily="18" charset="-122"/>
              <a:cs typeface="Alibaba PuHuiTi" pitchFamily="18" charset="-122"/>
            </a:endParaRPr>
          </a:p>
          <a:p>
            <a:pPr>
              <a:lnSpc>
                <a:spcPct val="150000"/>
              </a:lnSpc>
              <a:buFont typeface="+mj-lt"/>
              <a:buAutoNum type="arabicPeriod"/>
            </a:pP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点</a:t>
            </a:r>
            <a:r>
              <a:rPr lang="en-US" altLang="zh-CN" sz="1200" b="0" i="0" u="none" strike="noStrike" dirty="0">
                <a:solidFill>
                  <a:srgbClr val="333333"/>
                </a:solidFill>
                <a:effectLst/>
                <a:latin typeface="Alibaba PuHuiTi" pitchFamily="18" charset="-122"/>
                <a:ea typeface="Alibaba PuHuiTi" pitchFamily="18" charset="-122"/>
                <a:cs typeface="Alibaba PuHuiTi" pitchFamily="18" charset="-122"/>
              </a:rPr>
              <a:t>(0, 1)</a:t>
            </a:r>
            <a:r>
              <a:rPr lang="zh-CN" altLang="en-US" sz="1200" b="0" i="0" u="none" strike="noStrike" dirty="0">
                <a:solidFill>
                  <a:srgbClr val="333333"/>
                </a:solidFill>
                <a:effectLst/>
                <a:latin typeface="Alibaba PuHuiTi" pitchFamily="18" charset="-122"/>
                <a:ea typeface="Alibaba PuHuiTi" pitchFamily="18" charset="-122"/>
                <a:cs typeface="Alibaba PuHuiTi" pitchFamily="18" charset="-122"/>
              </a:rPr>
              <a:t>：</a:t>
            </a:r>
            <a:r>
              <a:rPr lang="zh-CN" altLang="en-US" sz="12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所有的</a:t>
            </a:r>
            <a:r>
              <a:rPr lang="zh-CN" altLang="en-US" sz="1200" b="0" i="0" u="none" strike="noStrike" dirty="0">
                <a:solidFill>
                  <a:schemeClr val="accent2"/>
                </a:solidFill>
                <a:effectLst/>
                <a:latin typeface="Alibaba PuHuiTi" pitchFamily="18" charset="-122"/>
                <a:ea typeface="Alibaba PuHuiTi" pitchFamily="18" charset="-122"/>
                <a:cs typeface="Alibaba PuHuiTi" pitchFamily="18" charset="-122"/>
              </a:rPr>
              <a:t>负样本都预测正确</a:t>
            </a:r>
            <a:r>
              <a:rPr lang="zh-CN" altLang="en-US" sz="12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，表示所有的</a:t>
            </a:r>
            <a:r>
              <a:rPr lang="zh-CN" altLang="en-US" sz="1200" b="0" i="0" u="none" strike="noStrike" dirty="0">
                <a:solidFill>
                  <a:schemeClr val="accent2"/>
                </a:solidFill>
                <a:effectLst/>
                <a:latin typeface="Alibaba PuHuiTi" pitchFamily="18" charset="-122"/>
                <a:ea typeface="Alibaba PuHuiTi" pitchFamily="18" charset="-122"/>
                <a:cs typeface="Alibaba PuHuiTi" pitchFamily="18" charset="-122"/>
              </a:rPr>
              <a:t>正样本都预测正确</a:t>
            </a:r>
            <a:r>
              <a:rPr lang="zh-CN" altLang="en-US" sz="1200" b="0" i="0" u="none" strike="noStrike" dirty="0">
                <a:solidFill>
                  <a:schemeClr val="tx1">
                    <a:lumMod val="85000"/>
                    <a:lumOff val="15000"/>
                  </a:schemeClr>
                </a:solidFill>
                <a:effectLst/>
                <a:latin typeface="Alibaba PuHuiTi" pitchFamily="18" charset="-122"/>
                <a:ea typeface="Alibaba PuHuiTi" pitchFamily="18" charset="-122"/>
                <a:cs typeface="Alibaba PuHuiTi" pitchFamily="18" charset="-122"/>
              </a:rPr>
              <a:t>。相当于</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点的</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(FPR</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0</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TPR</a:t>
            </a: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1)</a:t>
            </a:r>
            <a:endParaRPr lang="en-US" altLang="zh-CN" sz="1200" dirty="0">
              <a:solidFill>
                <a:schemeClr val="accent2">
                  <a:lumMod val="75000"/>
                </a:schemeClr>
              </a:solidFill>
              <a:latin typeface="Alibaba PuHuiTi" pitchFamily="18" charset="-122"/>
              <a:ea typeface="Alibaba PuHuiTi" pitchFamily="18" charset="-122"/>
              <a:cs typeface="Alibaba PuHuiTi" pitchFamily="18" charset="-122"/>
            </a:endParaRPr>
          </a:p>
          <a:p>
            <a:pPr lvl="2">
              <a:lnSpc>
                <a:spcPct val="150000"/>
              </a:lnSpc>
            </a:pPr>
            <a:r>
              <a:rPr lang="en-US" altLang="zh-CN" sz="1200" dirty="0">
                <a:solidFill>
                  <a:srgbClr val="333333"/>
                </a:solidFill>
                <a:effectLst/>
                <a:latin typeface="Alibaba PuHuiTi" pitchFamily="18" charset="-122"/>
                <a:ea typeface="Alibaba PuHuiTi" pitchFamily="18" charset="-122"/>
                <a:cs typeface="Alibaba PuHuiTi" pitchFamily="18" charset="-122"/>
                <a:sym typeface="+mn-ea"/>
              </a:rPr>
              <a:t>(0, 1) </a:t>
            </a:r>
            <a:r>
              <a:rPr lang="en-US" altLang="zh-CN" sz="1200" dirty="0">
                <a:solidFill>
                  <a:srgbClr val="333333"/>
                </a:solidFill>
                <a:latin typeface="Alibaba PuHuiTi" pitchFamily="18" charset="-122"/>
                <a:ea typeface="Alibaba PuHuiTi" pitchFamily="18" charset="-122"/>
                <a:cs typeface="Alibaba PuHuiTi" pitchFamily="18" charset="-122"/>
              </a:rPr>
              <a:t>-</a:t>
            </a:r>
            <a:r>
              <a:rPr lang="zh-CN" altLang="en-US" sz="1200" dirty="0">
                <a:solidFill>
                  <a:srgbClr val="333333"/>
                </a:solidFill>
                <a:latin typeface="Alibaba PuHuiTi" pitchFamily="18" charset="-122"/>
                <a:ea typeface="Alibaba PuHuiTi" pitchFamily="18" charset="-122"/>
                <a:cs typeface="Alibaba PuHuiTi" pitchFamily="18" charset="-122"/>
              </a:rPr>
              <a:t> 最好的效果</a:t>
            </a:r>
            <a:r>
              <a:rPr lang="en-US" altLang="zh-CN" sz="1200" dirty="0">
                <a:solidFill>
                  <a:srgbClr val="333333"/>
                </a:solidFill>
                <a:latin typeface="Alibaba PuHuiTi" pitchFamily="18" charset="-122"/>
                <a:ea typeface="Alibaba PuHuiTi" pitchFamily="18" charset="-122"/>
                <a:cs typeface="Alibaba PuHuiTi" pitchFamily="18" charset="-122"/>
              </a:rPr>
              <a:t>!!!</a:t>
            </a:r>
            <a:endParaRPr lang="en-US" altLang="zh-CN" sz="1200" dirty="0">
              <a:solidFill>
                <a:srgbClr val="333333"/>
              </a:solidFill>
              <a:latin typeface="Alibaba PuHuiTi" pitchFamily="18" charset="-122"/>
              <a:ea typeface="Alibaba PuHuiTi" pitchFamily="18" charset="-122"/>
              <a:cs typeface="Alibaba PuHuiTi" pitchFamily="18" charset="-122"/>
            </a:endParaRPr>
          </a:p>
        </p:txBody>
      </p:sp>
      <p:sp>
        <p:nvSpPr>
          <p:cNvPr id="11" name="文本占位符 2"/>
          <p:cNvSpPr txBox="1"/>
          <p:nvPr/>
        </p:nvSpPr>
        <p:spPr>
          <a:xfrm>
            <a:off x="863906" y="1287161"/>
            <a:ext cx="410546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buFont typeface="Arial" panose="020B0604020202020204" pitchFamily="34" charset="0"/>
              <a:defRPr/>
            </a:pPr>
            <a:r>
              <a:rPr kumimoji="0" lang="en-GB" altLang="zh-CN"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ROC </a:t>
            </a:r>
            <a:r>
              <a:rPr kumimoji="0" lang="zh-CN" altLang="en-US"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曲线图像中，</a:t>
            </a:r>
            <a:r>
              <a:rPr kumimoji="0" lang="en-US" altLang="zh-CN"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4 </a:t>
            </a:r>
            <a:r>
              <a:rPr kumimoji="0" lang="zh-CN" altLang="en-US"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个特殊点的含义</a:t>
            </a:r>
            <a:endParaRPr kumimoji="0" lang="zh-CN" altLang="en-GB"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文本框 4"/>
          <p:cNvSpPr txBox="1"/>
          <p:nvPr/>
        </p:nvSpPr>
        <p:spPr>
          <a:xfrm>
            <a:off x="906096" y="4704484"/>
            <a:ext cx="8330082" cy="170688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b="1" dirty="0">
                <a:solidFill>
                  <a:schemeClr val="accent2"/>
                </a:solidFill>
                <a:latin typeface="Alibaba PuHuiTi" pitchFamily="18" charset="-122"/>
                <a:ea typeface="Alibaba PuHuiTi" pitchFamily="18" charset="-122"/>
                <a:cs typeface="Alibaba PuHuiTi" pitchFamily="18" charset="-122"/>
              </a:rPr>
              <a:t>曲线</a:t>
            </a:r>
            <a:r>
              <a:rPr kumimoji="0" lang="zh-CN" altLang="en-US" sz="1400" b="1" i="0" u="none" strike="noStrike" kern="1200" cap="none" spc="0" normalizeH="0" baseline="0" noProof="0" dirty="0">
                <a:ln>
                  <a:noFill/>
                </a:ln>
                <a:solidFill>
                  <a:schemeClr val="accent2"/>
                </a:solidFill>
                <a:effectLst/>
                <a:uLnTx/>
                <a:uFillTx/>
                <a:latin typeface="Alibaba PuHuiTi" pitchFamily="18" charset="-122"/>
                <a:ea typeface="Alibaba PuHuiTi" pitchFamily="18" charset="-122"/>
                <a:cs typeface="Alibaba PuHuiTi" pitchFamily="18" charset="-122"/>
              </a:rPr>
              <a:t>越靠近 </a:t>
            </a:r>
            <a:r>
              <a:rPr kumimoji="0" lang="en-US" altLang="zh-CN" sz="1400" b="1" i="0" u="none" strike="noStrike" kern="1200" cap="none" spc="0" normalizeH="0" baseline="0" noProof="0" dirty="0">
                <a:ln>
                  <a:noFill/>
                </a:ln>
                <a:solidFill>
                  <a:schemeClr val="accent2"/>
                </a:solidFill>
                <a:effectLst/>
                <a:uLnTx/>
                <a:uFillTx/>
                <a:latin typeface="Alibaba PuHuiTi" pitchFamily="18" charset="-122"/>
                <a:ea typeface="Alibaba PuHuiTi" pitchFamily="18" charset="-122"/>
                <a:cs typeface="Alibaba PuHuiTi" pitchFamily="18" charset="-122"/>
              </a:rPr>
              <a:t>(0,1) </a:t>
            </a:r>
            <a:r>
              <a:rPr kumimoji="0" lang="zh-CN" altLang="en-US" sz="1400" b="1" i="0" u="none" strike="noStrike" kern="1200" cap="none" spc="0" normalizeH="0" baseline="0" noProof="0" dirty="0">
                <a:ln>
                  <a:noFill/>
                </a:ln>
                <a:solidFill>
                  <a:schemeClr val="accent2"/>
                </a:solidFill>
                <a:effectLst/>
                <a:uLnTx/>
                <a:uFillTx/>
                <a:latin typeface="Alibaba PuHuiTi" pitchFamily="18" charset="-122"/>
                <a:ea typeface="Alibaba PuHuiTi" pitchFamily="18" charset="-122"/>
                <a:cs typeface="Alibaba PuHuiTi" pitchFamily="18" charset="-122"/>
              </a:rPr>
              <a:t>点则模型对正负样本的辨别能力就越强</a:t>
            </a:r>
            <a:r>
              <a:rPr kumimoji="0" lang="en-US" altLang="zh-CN" sz="1400" b="1" i="0" u="none" strike="noStrike" kern="1200" cap="none" spc="0" normalizeH="0" baseline="0" noProof="0" dirty="0">
                <a:ln>
                  <a:noFill/>
                </a:ln>
                <a:solidFill>
                  <a:schemeClr val="accent2"/>
                </a:solidFill>
                <a:effectLst/>
                <a:uLnTx/>
                <a:uFillTx/>
                <a:latin typeface="Alibaba PuHuiTi" pitchFamily="18" charset="-122"/>
                <a:ea typeface="Alibaba PuHuiTi" pitchFamily="18" charset="-122"/>
                <a:cs typeface="Alibaba PuHuiTi" pitchFamily="18" charset="-122"/>
              </a:rPr>
              <a:t>!!!</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GB" altLang="zh-CN" sz="1400" b="0" i="0" u="none" strike="noStrike" kern="1200" cap="none" spc="0" normalizeH="0" baseline="0" noProof="0" dirty="0">
                <a:ln>
                  <a:noFill/>
                </a:ln>
                <a:solidFill>
                  <a:srgbClr val="374151"/>
                </a:solidFill>
                <a:effectLst/>
                <a:uLnTx/>
                <a:uFillTx/>
                <a:latin typeface="Alibaba PuHuiTi" pitchFamily="18" charset="-122"/>
                <a:ea typeface="Alibaba PuHuiTi" pitchFamily="18" charset="-122"/>
                <a:cs typeface="Alibaba PuHuiTi" pitchFamily="18" charset="-122"/>
              </a:rPr>
              <a:t>AUC </a:t>
            </a:r>
            <a:r>
              <a:rPr kumimoji="0" lang="zh-CN" altLang="en-US" sz="1400" b="0" i="0" u="none" strike="noStrike" kern="1200" cap="none" spc="0" normalizeH="0" baseline="0" noProof="0" dirty="0">
                <a:ln>
                  <a:noFill/>
                </a:ln>
                <a:solidFill>
                  <a:srgbClr val="374151"/>
                </a:solidFill>
                <a:effectLst/>
                <a:uLnTx/>
                <a:uFillTx/>
                <a:latin typeface="Alibaba PuHuiTi" pitchFamily="18" charset="-122"/>
                <a:ea typeface="Alibaba PuHuiTi" pitchFamily="18" charset="-122"/>
                <a:cs typeface="Alibaba PuHuiTi" pitchFamily="18" charset="-122"/>
              </a:rPr>
              <a:t>是 </a:t>
            </a:r>
            <a:r>
              <a:rPr kumimoji="0" lang="en-GB" altLang="zh-CN" sz="1400" b="0" i="0" u="none" strike="noStrike" kern="1200" cap="none" spc="0" normalizeH="0" baseline="0" noProof="0" dirty="0">
                <a:ln>
                  <a:noFill/>
                </a:ln>
                <a:solidFill>
                  <a:srgbClr val="374151"/>
                </a:solidFill>
                <a:effectLst/>
                <a:uLnTx/>
                <a:uFillTx/>
                <a:latin typeface="Alibaba PuHuiTi" pitchFamily="18" charset="-122"/>
                <a:ea typeface="Alibaba PuHuiTi" pitchFamily="18" charset="-122"/>
                <a:cs typeface="Alibaba PuHuiTi" pitchFamily="18" charset="-122"/>
              </a:rPr>
              <a:t>ROC </a:t>
            </a:r>
            <a:r>
              <a:rPr kumimoji="0" lang="zh-CN" altLang="en-US" sz="1400" b="0" i="0" u="none" strike="noStrike" kern="1200" cap="none" spc="0" normalizeH="0" baseline="0" noProof="0" dirty="0">
                <a:ln>
                  <a:noFill/>
                </a:ln>
                <a:solidFill>
                  <a:srgbClr val="374151"/>
                </a:solidFill>
                <a:effectLst/>
                <a:uLnTx/>
                <a:uFillTx/>
                <a:latin typeface="Alibaba PuHuiTi" pitchFamily="18" charset="-122"/>
                <a:ea typeface="Alibaba PuHuiTi" pitchFamily="18" charset="-122"/>
                <a:cs typeface="Alibaba PuHuiTi" pitchFamily="18" charset="-122"/>
              </a:rPr>
              <a:t>曲线下面的面积，该值越大，则模型的辨别能力就越强，</a:t>
            </a:r>
            <a:r>
              <a:rPr kumimoji="0" lang="en-GB"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AUC </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范围在 </a:t>
            </a:r>
            <a:r>
              <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[0, 1] </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之间</a:t>
            </a:r>
            <a:endPar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当 </a:t>
            </a:r>
            <a:r>
              <a:rPr kumimoji="0" lang="en-GB"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AUC</a:t>
            </a:r>
            <a:r>
              <a:rPr kumimoji="0" lang="en-US" altLang="en-GB"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a:t>
            </a:r>
            <a:r>
              <a:rPr kumimoji="0" lang="en-GB"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 1 </a:t>
            </a:r>
            <a:r>
              <a:rPr kumimoji="0" lang="zh-CN" altLang="en-US" sz="1400" b="0" i="0" u="none" strike="noStrike" kern="1200" cap="none" spc="0" normalizeH="0" baseline="0" noProof="0" dirty="0">
                <a:ln>
                  <a:noFill/>
                </a:ln>
                <a:solidFill>
                  <a:srgbClr val="374151"/>
                </a:solidFill>
                <a:effectLst/>
                <a:uLnTx/>
                <a:uFillTx/>
                <a:latin typeface="Alibaba PuHuiTi" pitchFamily="18" charset="-122"/>
                <a:ea typeface="Alibaba PuHuiTi" pitchFamily="18" charset="-122"/>
                <a:cs typeface="Alibaba PuHuiTi" pitchFamily="18" charset="-122"/>
              </a:rPr>
              <a:t>时，该模型被认为是完美的分类器，但是几乎不存在完美分类器</a:t>
            </a:r>
            <a:endParaRPr kumimoji="0" lang="zh-CN" altLang="en-US" sz="1400" b="0" i="0" u="none" strike="noStrike" kern="1200" cap="none" spc="0" normalizeH="0" baseline="0" noProof="0" dirty="0">
              <a:ln>
                <a:noFill/>
              </a:ln>
              <a:solidFill>
                <a:srgbClr val="374151"/>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74151"/>
                </a:solidFill>
                <a:effectLst/>
                <a:uLnTx/>
                <a:uFillTx/>
                <a:latin typeface="Alibaba PuHuiTi" pitchFamily="18" charset="-122"/>
                <a:ea typeface="Alibaba PuHuiTi" pitchFamily="18" charset="-122"/>
                <a:cs typeface="Alibaba PuHuiTi" pitchFamily="18" charset="-122"/>
              </a:rPr>
              <a:t>当 </a:t>
            </a:r>
            <a:r>
              <a:rPr kumimoji="0" lang="en-GB"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AUC &lt;= 0.5 </a:t>
            </a:r>
            <a:r>
              <a:rPr kumimoji="0" lang="zh-CN" altLang="en-US" sz="1400" b="0" i="0" u="none" strike="noStrike" kern="1200" cap="none" spc="0" normalizeH="0" baseline="0" noProof="0" dirty="0">
                <a:ln>
                  <a:noFill/>
                </a:ln>
                <a:solidFill>
                  <a:srgbClr val="374151"/>
                </a:solidFill>
                <a:effectLst/>
                <a:uLnTx/>
                <a:uFillTx/>
                <a:latin typeface="Alibaba PuHuiTi" pitchFamily="18" charset="-122"/>
                <a:ea typeface="Alibaba PuHuiTi" pitchFamily="18" charset="-122"/>
                <a:cs typeface="Alibaba PuHuiTi" pitchFamily="18" charset="-122"/>
              </a:rPr>
              <a:t>时，模型区分正负样本的就会变得模棱两可，近似于随机猜测</a:t>
            </a:r>
            <a:endParaRPr kumimoji="0" lang="zh-CN" altLang="en-US" sz="1400" b="0" i="0" u="none" strike="noStrike" kern="1200" cap="none" spc="0" normalizeH="0" baseline="0" noProof="0" dirty="0">
              <a:ln>
                <a:noFill/>
              </a:ln>
              <a:solidFill>
                <a:srgbClr val="374151"/>
              </a:solidFill>
              <a:effectLst/>
              <a:uLnTx/>
              <a:uFillTx/>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915976" y="4202555"/>
            <a:ext cx="410546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buFont typeface="Arial" panose="020B0604020202020204" pitchFamily="34" charset="0"/>
              <a:defRPr/>
            </a:pPr>
            <a:r>
              <a:rPr lang="zh-CN" altLang="en-US" b="1" dirty="0">
                <a:solidFill>
                  <a:prstClr val="black">
                    <a:lumMod val="85000"/>
                    <a:lumOff val="15000"/>
                  </a:prstClr>
                </a:solidFill>
                <a:latin typeface="Alibaba PuHuiTi" pitchFamily="18" charset="-122"/>
                <a:ea typeface="Alibaba PuHuiTi" pitchFamily="18" charset="-122"/>
                <a:cs typeface="Alibaba PuHuiTi" pitchFamily="18" charset="-122"/>
              </a:rPr>
              <a:t>从图像上来看</a:t>
            </a:r>
            <a:endParaRPr kumimoji="0" lang="zh-CN" altLang="en-GB"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7" name="文本框 6"/>
          <p:cNvSpPr txBox="1"/>
          <p:nvPr/>
        </p:nvSpPr>
        <p:spPr>
          <a:xfrm>
            <a:off x="1081405" y="3799205"/>
            <a:ext cx="6710045" cy="403860"/>
          </a:xfrm>
          <a:prstGeom prst="rect">
            <a:avLst/>
          </a:prstGeom>
          <a:noFill/>
        </p:spPr>
        <p:txBody>
          <a:bodyPr wrap="square">
            <a:noAutofit/>
          </a:bodyPr>
          <a:lstStyle/>
          <a:p>
            <a:r>
              <a:rPr lang="en-GB" altLang="zh-CN" b="0" i="0" dirty="0">
                <a:solidFill>
                  <a:srgbClr val="374151"/>
                </a:solidFill>
                <a:effectLst/>
                <a:latin typeface="Söhne"/>
              </a:rPr>
              <a:t>ROC</a:t>
            </a:r>
            <a:r>
              <a:rPr lang="zh-CN" altLang="en-US" b="0" i="0" dirty="0">
                <a:solidFill>
                  <a:srgbClr val="374151"/>
                </a:solidFill>
                <a:effectLst/>
                <a:latin typeface="Söhne"/>
              </a:rPr>
              <a:t>曲线上的每个点代表模型在不同阈值下的性能表现</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ROC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曲线、</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AUC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指标</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8" name="文本框 7"/>
          <p:cNvSpPr txBox="1"/>
          <p:nvPr/>
        </p:nvSpPr>
        <p:spPr>
          <a:xfrm>
            <a:off x="1707505" y="1551840"/>
            <a:ext cx="9502362" cy="103156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b="0" i="0" dirty="0">
                <a:effectLst/>
                <a:latin typeface="Alibaba PuHuiTi" pitchFamily="18" charset="-122"/>
                <a:ea typeface="Alibaba PuHuiTi" pitchFamily="18" charset="-122"/>
                <a:cs typeface="Alibaba PuHuiTi" pitchFamily="18" charset="-122"/>
              </a:rPr>
              <a:t>已知：在网页某个位置有一个广告图片，该广告共被展示了 </a:t>
            </a:r>
            <a:r>
              <a:rPr lang="en-US" altLang="zh-CN" sz="1400" b="0" i="0" dirty="0">
                <a:effectLst/>
                <a:latin typeface="Alibaba PuHuiTi" pitchFamily="18" charset="-122"/>
                <a:ea typeface="Alibaba PuHuiTi" pitchFamily="18" charset="-122"/>
                <a:cs typeface="Alibaba PuHuiTi" pitchFamily="18" charset="-122"/>
              </a:rPr>
              <a:t>6 </a:t>
            </a:r>
            <a:r>
              <a:rPr lang="zh-CN" altLang="en-US" sz="1400" b="0" i="0" dirty="0">
                <a:effectLst/>
                <a:latin typeface="Alibaba PuHuiTi" pitchFamily="18" charset="-122"/>
                <a:ea typeface="Alibaba PuHuiTi" pitchFamily="18" charset="-122"/>
                <a:cs typeface="Alibaba PuHuiTi" pitchFamily="18" charset="-122"/>
              </a:rPr>
              <a:t>次</a:t>
            </a:r>
            <a:r>
              <a:rPr lang="zh-CN" altLang="en-US" sz="1400" dirty="0">
                <a:latin typeface="Alibaba PuHuiTi" pitchFamily="18" charset="-122"/>
                <a:ea typeface="Alibaba PuHuiTi" pitchFamily="18" charset="-122"/>
                <a:cs typeface="Alibaba PuHuiTi" pitchFamily="18" charset="-122"/>
              </a:rPr>
              <a:t>；</a:t>
            </a:r>
            <a:r>
              <a:rPr lang="zh-CN" altLang="en-US" sz="1400" b="0" i="0" dirty="0">
                <a:effectLst/>
                <a:latin typeface="Alibaba PuHuiTi" pitchFamily="18" charset="-122"/>
                <a:ea typeface="Alibaba PuHuiTi" pitchFamily="18" charset="-122"/>
                <a:cs typeface="Alibaba PuHuiTi" pitchFamily="18" charset="-122"/>
              </a:rPr>
              <a:t> 有 </a:t>
            </a:r>
            <a:r>
              <a:rPr lang="en-US" altLang="zh-CN" sz="1400" b="0" i="0" dirty="0">
                <a:effectLst/>
                <a:latin typeface="Alibaba PuHuiTi" pitchFamily="18" charset="-122"/>
                <a:ea typeface="Alibaba PuHuiTi" pitchFamily="18" charset="-122"/>
                <a:cs typeface="Alibaba PuHuiTi" pitchFamily="18" charset="-122"/>
              </a:rPr>
              <a:t>2 </a:t>
            </a:r>
            <a:r>
              <a:rPr lang="zh-CN" altLang="en-US" sz="1400" b="0" i="0" dirty="0">
                <a:effectLst/>
                <a:latin typeface="Alibaba PuHuiTi" pitchFamily="18" charset="-122"/>
                <a:ea typeface="Alibaba PuHuiTi" pitchFamily="18" charset="-122"/>
                <a:cs typeface="Alibaba PuHuiTi" pitchFamily="18" charset="-122"/>
              </a:rPr>
              <a:t>次被浏览者点击了。每次点击的概率见图</a:t>
            </a:r>
            <a:r>
              <a:rPr lang="en-US" altLang="zh-CN" sz="1400" b="0" i="0" dirty="0">
                <a:effectLst/>
                <a:latin typeface="Alibaba PuHuiTi" pitchFamily="18" charset="-122"/>
                <a:ea typeface="Alibaba PuHuiTi" pitchFamily="18" charset="-122"/>
                <a:cs typeface="Alibaba PuHuiTi" pitchFamily="18" charset="-122"/>
              </a:rPr>
              <a:t>1</a:t>
            </a:r>
            <a:r>
              <a:rPr lang="zh-CN" altLang="en-US" sz="1400" b="0" i="0" dirty="0">
                <a:effectLst/>
                <a:latin typeface="Alibaba PuHuiTi" pitchFamily="18" charset="-122"/>
                <a:ea typeface="Alibaba PuHuiTi" pitchFamily="18" charset="-122"/>
                <a:cs typeface="Alibaba PuHuiTi" pitchFamily="18" charset="-122"/>
              </a:rPr>
              <a:t>。</a:t>
            </a:r>
            <a:endParaRPr lang="en-US" altLang="zh-CN" sz="1400" b="0" i="0" dirty="0">
              <a:effectLst/>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latin typeface="Alibaba PuHuiTi" pitchFamily="18" charset="-122"/>
                <a:ea typeface="Alibaba PuHuiTi" pitchFamily="18" charset="-122"/>
                <a:cs typeface="Alibaba PuHuiTi" pitchFamily="18" charset="-122"/>
              </a:rPr>
              <a:t>           其中</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正样本</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{1,</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3}</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负样本为</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{2,</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4,</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5,</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6}</a:t>
            </a:r>
            <a:endParaRPr lang="en-US"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latin typeface="Alibaba PuHuiTi" pitchFamily="18" charset="-122"/>
                <a:ea typeface="Alibaba PuHuiTi" pitchFamily="18" charset="-122"/>
                <a:cs typeface="Alibaba PuHuiTi" pitchFamily="18" charset="-122"/>
              </a:rPr>
              <a:t>要求画出：在不同阈值下的</a:t>
            </a:r>
            <a:r>
              <a:rPr lang="en-US" altLang="zh-CN" sz="1400" dirty="0">
                <a:latin typeface="Alibaba PuHuiTi" pitchFamily="18" charset="-122"/>
                <a:ea typeface="Alibaba PuHuiTi" pitchFamily="18" charset="-122"/>
                <a:cs typeface="Alibaba PuHuiTi" pitchFamily="18" charset="-122"/>
              </a:rPr>
              <a:t>ROC</a:t>
            </a:r>
            <a:r>
              <a:rPr lang="zh-CN" altLang="en-US" sz="1400" dirty="0">
                <a:latin typeface="Alibaba PuHuiTi" pitchFamily="18" charset="-122"/>
                <a:ea typeface="Alibaba PuHuiTi" pitchFamily="18" charset="-122"/>
                <a:cs typeface="Alibaba PuHuiTi" pitchFamily="18" charset="-122"/>
              </a:rPr>
              <a:t>曲线。</a:t>
            </a:r>
            <a:endParaRPr lang="en-US" altLang="zh-CN" sz="1400" dirty="0">
              <a:latin typeface="Alibaba PuHuiTi" pitchFamily="18" charset="-122"/>
              <a:ea typeface="Alibaba PuHuiTi" pitchFamily="18" charset="-122"/>
              <a:cs typeface="Alibaba PuHuiTi" pitchFamily="18" charset="-122"/>
            </a:endParaRPr>
          </a:p>
        </p:txBody>
      </p:sp>
      <p:sp>
        <p:nvSpPr>
          <p:cNvPr id="11" name="文本占位符 2"/>
          <p:cNvSpPr txBox="1"/>
          <p:nvPr/>
        </p:nvSpPr>
        <p:spPr>
          <a:xfrm>
            <a:off x="985826" y="1211240"/>
            <a:ext cx="410546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GB"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案例</a:t>
            </a:r>
            <a:r>
              <a:rPr kumimoji="0" lang="zh-CN" altLang="en-US"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GB" altLang="zh-CN"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ROC </a:t>
            </a:r>
            <a:r>
              <a:rPr kumimoji="0" lang="zh-CN" altLang="en-US"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曲线的绘制</a:t>
            </a:r>
            <a:endParaRPr kumimoji="0" lang="zh-CN" altLang="en-GB"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4" name="图片 3"/>
          <p:cNvPicPr>
            <a:picLocks noChangeAspect="1"/>
          </p:cNvPicPr>
          <p:nvPr/>
        </p:nvPicPr>
        <p:blipFill>
          <a:blip r:embed="rId1"/>
          <a:stretch>
            <a:fillRect/>
          </a:stretch>
        </p:blipFill>
        <p:spPr>
          <a:xfrm>
            <a:off x="1626267" y="2998484"/>
            <a:ext cx="3163248" cy="3218744"/>
          </a:xfrm>
          <a:prstGeom prst="rect">
            <a:avLst/>
          </a:prstGeom>
        </p:spPr>
      </p:pic>
      <p:pic>
        <p:nvPicPr>
          <p:cNvPr id="7" name="图片 6"/>
          <p:cNvPicPr>
            <a:picLocks noChangeAspect="1"/>
          </p:cNvPicPr>
          <p:nvPr/>
        </p:nvPicPr>
        <p:blipFill>
          <a:blip r:embed="rId2"/>
          <a:stretch>
            <a:fillRect/>
          </a:stretch>
        </p:blipFill>
        <p:spPr>
          <a:xfrm>
            <a:off x="6640148" y="2906761"/>
            <a:ext cx="3383002" cy="3424767"/>
          </a:xfrm>
          <a:prstGeom prst="rect">
            <a:avLst/>
          </a:prstGeom>
        </p:spPr>
      </p:pic>
      <p:sp>
        <p:nvSpPr>
          <p:cNvPr id="10" name="文本框 9"/>
          <p:cNvSpPr txBox="1"/>
          <p:nvPr/>
        </p:nvSpPr>
        <p:spPr>
          <a:xfrm>
            <a:off x="1799601" y="2611863"/>
            <a:ext cx="2477912" cy="307777"/>
          </a:xfrm>
          <a:prstGeom prst="rect">
            <a:avLst/>
          </a:prstGeom>
          <a:noFill/>
        </p:spPr>
        <p:txBody>
          <a:bodyPr wrap="square">
            <a:spAutoFit/>
          </a:bodyPr>
          <a:lstStyle/>
          <a:p>
            <a:r>
              <a:rPr lang="zh-CN" altLang="en-US" sz="1400" b="0" i="0" dirty="0">
                <a:effectLst/>
                <a:latin typeface="Roboto" panose="02000000000000000000" pitchFamily="2" charset="0"/>
              </a:rPr>
              <a:t>图</a:t>
            </a:r>
            <a:r>
              <a:rPr lang="en-US" altLang="zh-CN" sz="1400" b="0" i="0" dirty="0">
                <a:effectLst/>
                <a:latin typeface="Roboto" panose="02000000000000000000" pitchFamily="2" charset="0"/>
              </a:rPr>
              <a:t>1</a:t>
            </a:r>
            <a:r>
              <a:rPr lang="zh-CN" altLang="en-US" sz="1400" b="0" i="0" dirty="0">
                <a:effectLst/>
                <a:latin typeface="Roboto" panose="02000000000000000000" pitchFamily="2" charset="0"/>
              </a:rPr>
              <a:t>：每次点击的概率</a:t>
            </a:r>
            <a:r>
              <a:rPr lang="zh-CN" altLang="en-US" sz="1400" dirty="0">
                <a:latin typeface="Roboto" panose="02000000000000000000" pitchFamily="2" charset="0"/>
              </a:rPr>
              <a:t>图</a:t>
            </a:r>
            <a:endParaRPr lang="zh-CN" altLang="en-US" sz="1400" dirty="0"/>
          </a:p>
        </p:txBody>
      </p:sp>
      <p:sp>
        <p:nvSpPr>
          <p:cNvPr id="13" name="文本框 12"/>
          <p:cNvSpPr txBox="1"/>
          <p:nvPr/>
        </p:nvSpPr>
        <p:spPr>
          <a:xfrm>
            <a:off x="6696592" y="2635847"/>
            <a:ext cx="3247535" cy="307777"/>
          </a:xfrm>
          <a:prstGeom prst="rect">
            <a:avLst/>
          </a:prstGeom>
          <a:noFill/>
        </p:spPr>
        <p:txBody>
          <a:bodyPr wrap="square">
            <a:spAutoFit/>
          </a:bodyPr>
          <a:lstStyle/>
          <a:p>
            <a:r>
              <a:rPr lang="zh-CN" altLang="en-US" sz="1400" b="0" i="0" dirty="0">
                <a:effectLst/>
                <a:latin typeface="Alibaba PuHuiTi" pitchFamily="18" charset="-122"/>
                <a:ea typeface="Alibaba PuHuiTi" pitchFamily="18" charset="-122"/>
                <a:cs typeface="Alibaba PuHuiTi" pitchFamily="18" charset="-122"/>
              </a:rPr>
              <a:t>图</a:t>
            </a:r>
            <a:r>
              <a:rPr lang="en-US" altLang="zh-CN" sz="1400" b="0" i="0" dirty="0">
                <a:effectLst/>
                <a:latin typeface="Alibaba PuHuiTi" pitchFamily="18" charset="-122"/>
                <a:ea typeface="Alibaba PuHuiTi" pitchFamily="18" charset="-122"/>
                <a:cs typeface="Alibaba PuHuiTi" pitchFamily="18" charset="-122"/>
              </a:rPr>
              <a:t>2</a:t>
            </a:r>
            <a:r>
              <a:rPr lang="zh-CN" altLang="en-US" sz="1400" b="0" i="0" dirty="0">
                <a:effectLst/>
                <a:latin typeface="Alibaba PuHuiTi" pitchFamily="18" charset="-122"/>
                <a:ea typeface="Alibaba PuHuiTi" pitchFamily="18" charset="-122"/>
                <a:cs typeface="Alibaba PuHuiTi" pitchFamily="18" charset="-122"/>
              </a:rPr>
              <a:t>：根据预测点击概率排序之后的图</a:t>
            </a:r>
            <a:endParaRPr lang="zh-CN" altLang="en-US" sz="1400" dirty="0">
              <a:latin typeface="Alibaba PuHuiTi" pitchFamily="18" charset="-122"/>
              <a:ea typeface="Alibaba PuHuiTi" pitchFamily="18" charset="-122"/>
              <a:cs typeface="Alibaba PuHuiTi" pitchFamily="18" charset="-122"/>
            </a:endParaRPr>
          </a:p>
        </p:txBody>
      </p:sp>
      <p:sp>
        <p:nvSpPr>
          <p:cNvPr id="14" name="文本框 13"/>
          <p:cNvSpPr txBox="1"/>
          <p:nvPr/>
        </p:nvSpPr>
        <p:spPr>
          <a:xfrm>
            <a:off x="1707326" y="6370518"/>
            <a:ext cx="5851008" cy="307777"/>
          </a:xfrm>
          <a:prstGeom prst="rect">
            <a:avLst/>
          </a:prstGeom>
          <a:noFill/>
        </p:spPr>
        <p:txBody>
          <a:bodyPr wrap="square">
            <a:spAutoFit/>
          </a:bodyPr>
          <a:lstStyle/>
          <a:p>
            <a:r>
              <a:rPr lang="zh-CN" altLang="en-US" sz="1400" dirty="0">
                <a:latin typeface="Alibaba PuHuiTi" pitchFamily="18" charset="-122"/>
                <a:ea typeface="Alibaba PuHuiTi" pitchFamily="18" charset="-122"/>
                <a:cs typeface="Alibaba PuHuiTi" pitchFamily="18" charset="-122"/>
              </a:rPr>
              <a:t>思路分析：根据</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不同的阈值，</a:t>
            </a:r>
            <a:r>
              <a:rPr lang="zh-CN" altLang="en-US" sz="1400" dirty="0">
                <a:latin typeface="Alibaba PuHuiTi" pitchFamily="18" charset="-122"/>
                <a:ea typeface="Alibaba PuHuiTi" pitchFamily="18" charset="-122"/>
                <a:cs typeface="Alibaba PuHuiTi" pitchFamily="18" charset="-122"/>
              </a:rPr>
              <a:t>求出</a:t>
            </a:r>
            <a:r>
              <a:rPr lang="en-US" altLang="zh-CN" sz="1400" dirty="0">
                <a:latin typeface="Alibaba PuHuiTi" pitchFamily="18" charset="-122"/>
                <a:ea typeface="Alibaba PuHuiTi" pitchFamily="18" charset="-122"/>
                <a:cs typeface="Alibaba PuHuiTi" pitchFamily="18" charset="-122"/>
              </a:rPr>
              <a:t>TPR</a:t>
            </a:r>
            <a:r>
              <a:rPr lang="zh-CN" altLang="en-US" sz="1400"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FPR</a:t>
            </a:r>
            <a:r>
              <a:rPr lang="zh-CN" altLang="en-US" sz="1400" dirty="0">
                <a:latin typeface="Alibaba PuHuiTi" pitchFamily="18" charset="-122"/>
                <a:ea typeface="Alibaba PuHuiTi" pitchFamily="18" charset="-122"/>
                <a:cs typeface="Alibaba PuHuiTi" pitchFamily="18" charset="-122"/>
              </a:rPr>
              <a:t>，得出点坐标画</a:t>
            </a:r>
            <a:r>
              <a:rPr lang="en-US" altLang="zh-CN" sz="1400" dirty="0">
                <a:latin typeface="Alibaba PuHuiTi" pitchFamily="18" charset="-122"/>
                <a:ea typeface="Alibaba PuHuiTi" pitchFamily="18" charset="-122"/>
                <a:cs typeface="Alibaba PuHuiTi" pitchFamily="18" charset="-122"/>
              </a:rPr>
              <a:t>ROC</a:t>
            </a:r>
            <a:r>
              <a:rPr lang="zh-CN" altLang="en-US" sz="1400" dirty="0">
                <a:latin typeface="Alibaba PuHuiTi" pitchFamily="18" charset="-122"/>
                <a:ea typeface="Alibaba PuHuiTi" pitchFamily="18" charset="-122"/>
                <a:cs typeface="Alibaba PuHuiTi" pitchFamily="18" charset="-122"/>
              </a:rPr>
              <a:t>图</a:t>
            </a:r>
            <a:endParaRPr lang="zh-CN" altLang="en-US" sz="14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ROC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曲线、</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AUC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指标</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1" name="文本占位符 2"/>
          <p:cNvSpPr txBox="1"/>
          <p:nvPr/>
        </p:nvSpPr>
        <p:spPr>
          <a:xfrm>
            <a:off x="7781737" y="1344323"/>
            <a:ext cx="410546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GB"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案例</a:t>
            </a:r>
            <a:r>
              <a:rPr kumimoji="0" lang="zh-CN" altLang="en-US"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GB" altLang="zh-CN"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ROC </a:t>
            </a:r>
            <a:r>
              <a:rPr kumimoji="0" lang="zh-CN" altLang="en-US"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曲线的绘制</a:t>
            </a:r>
            <a:endParaRPr kumimoji="0" lang="zh-CN" altLang="en-GB"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文本框 4"/>
          <p:cNvSpPr txBox="1"/>
          <p:nvPr/>
        </p:nvSpPr>
        <p:spPr>
          <a:xfrm>
            <a:off x="861650" y="1357169"/>
            <a:ext cx="7153462" cy="5052345"/>
          </a:xfrm>
          <a:prstGeom prst="rect">
            <a:avLst/>
          </a:prstGeom>
          <a:noFill/>
        </p:spPr>
        <p:txBody>
          <a:bodyPr wrap="square">
            <a:spAutoFit/>
          </a:bodyPr>
          <a:lstStyle/>
          <a:p>
            <a:pPr>
              <a:lnSpc>
                <a:spcPct val="150000"/>
              </a:lnSpc>
            </a:pP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阈值：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0.9</a:t>
            </a:r>
            <a:endParaRPr lang="en-US" altLang="zh-CN" sz="1200" dirty="0">
              <a:solidFill>
                <a:schemeClr val="accent2">
                  <a:lumMod val="7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200" dirty="0">
                <a:latin typeface="Alibaba PuHuiTi" pitchFamily="18" charset="-122"/>
                <a:ea typeface="Alibaba PuHuiTi" pitchFamily="18" charset="-122"/>
                <a:cs typeface="Alibaba PuHuiTi" pitchFamily="18" charset="-122"/>
              </a:rPr>
              <a:t>	</a:t>
            </a:r>
            <a:r>
              <a:rPr lang="zh-CN" altLang="en-US" sz="1200" dirty="0">
                <a:latin typeface="Alibaba PuHuiTi" pitchFamily="18" charset="-122"/>
                <a:ea typeface="Alibaba PuHuiTi" pitchFamily="18" charset="-122"/>
                <a:cs typeface="Alibaba PuHuiTi" pitchFamily="18" charset="-122"/>
              </a:rPr>
              <a:t>原本为正例的 </a:t>
            </a:r>
            <a:r>
              <a:rPr lang="en-US" altLang="zh-CN" sz="1200" dirty="0">
                <a:latin typeface="Alibaba PuHuiTi" pitchFamily="18" charset="-122"/>
                <a:ea typeface="Alibaba PuHuiTi" pitchFamily="18" charset="-122"/>
                <a:cs typeface="Alibaba PuHuiTi" pitchFamily="18" charset="-122"/>
              </a:rPr>
              <a:t>1</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3 </a:t>
            </a:r>
            <a:r>
              <a:rPr lang="zh-CN" altLang="en-US" sz="1200" dirty="0">
                <a:latin typeface="Alibaba PuHuiTi" pitchFamily="18" charset="-122"/>
                <a:ea typeface="Alibaba PuHuiTi" pitchFamily="18" charset="-122"/>
                <a:cs typeface="Alibaba PuHuiTi" pitchFamily="18" charset="-122"/>
              </a:rPr>
              <a:t>号的样本中 </a:t>
            </a:r>
            <a:r>
              <a:rPr lang="en-US" altLang="zh-CN" sz="1200" dirty="0">
                <a:latin typeface="Alibaba PuHuiTi" pitchFamily="18" charset="-122"/>
                <a:ea typeface="Alibaba PuHuiTi" pitchFamily="18" charset="-122"/>
                <a:cs typeface="Alibaba PuHuiTi" pitchFamily="18" charset="-122"/>
              </a:rPr>
              <a:t>3 </a:t>
            </a:r>
            <a:r>
              <a:rPr lang="zh-CN" altLang="en-US" sz="1200" dirty="0">
                <a:latin typeface="Alibaba PuHuiTi" pitchFamily="18" charset="-122"/>
                <a:ea typeface="Alibaba PuHuiTi" pitchFamily="18" charset="-122"/>
                <a:cs typeface="Alibaba PuHuiTi" pitchFamily="18" charset="-122"/>
              </a:rPr>
              <a:t>号样本被分类错误，则 </a:t>
            </a:r>
            <a:r>
              <a:rPr lang="en-GB" altLang="zh-CN" sz="1200" dirty="0">
                <a:latin typeface="Alibaba PuHuiTi" pitchFamily="18" charset="-122"/>
                <a:ea typeface="Alibaba PuHuiTi" pitchFamily="18" charset="-122"/>
                <a:cs typeface="Alibaba PuHuiTi" pitchFamily="18" charset="-122"/>
              </a:rPr>
              <a:t>TPR = </a:t>
            </a:r>
            <a:r>
              <a:rPr lang="en-US" altLang="zh-CN" sz="1200" dirty="0">
                <a:latin typeface="Alibaba PuHuiTi" pitchFamily="18" charset="-122"/>
                <a:ea typeface="Alibaba PuHuiTi" pitchFamily="18" charset="-122"/>
                <a:cs typeface="Alibaba PuHuiTi" pitchFamily="18" charset="-122"/>
              </a:rPr>
              <a:t>0</a:t>
            </a:r>
            <a:r>
              <a:rPr lang="en-GB" altLang="zh-CN" sz="1200" dirty="0">
                <a:latin typeface="Alibaba PuHuiTi" pitchFamily="18" charset="-122"/>
                <a:ea typeface="Alibaba PuHuiTi" pitchFamily="18" charset="-122"/>
                <a:cs typeface="Alibaba PuHuiTi" pitchFamily="18" charset="-122"/>
              </a:rPr>
              <a:t>/2 = 0</a:t>
            </a:r>
            <a:endParaRPr lang="en-GB" altLang="zh-CN" sz="1200" dirty="0">
              <a:latin typeface="Alibaba PuHuiTi" pitchFamily="18" charset="-122"/>
              <a:ea typeface="Alibaba PuHuiTi" pitchFamily="18" charset="-122"/>
              <a:cs typeface="Alibaba PuHuiTi" pitchFamily="18" charset="-122"/>
            </a:endParaRPr>
          </a:p>
          <a:p>
            <a:pPr>
              <a:lnSpc>
                <a:spcPct val="150000"/>
              </a:lnSpc>
            </a:pPr>
            <a:r>
              <a:rPr lang="en-US" altLang="zh-CN" sz="1200" dirty="0">
                <a:latin typeface="Alibaba PuHuiTi" pitchFamily="18" charset="-122"/>
                <a:ea typeface="Alibaba PuHuiTi" pitchFamily="18" charset="-122"/>
                <a:cs typeface="Alibaba PuHuiTi" pitchFamily="18" charset="-122"/>
              </a:rPr>
              <a:t>	</a:t>
            </a:r>
            <a:r>
              <a:rPr lang="zh-CN" altLang="en-US" sz="1200" dirty="0">
                <a:latin typeface="Alibaba PuHuiTi" pitchFamily="18" charset="-122"/>
                <a:ea typeface="Alibaba PuHuiTi" pitchFamily="18" charset="-122"/>
                <a:cs typeface="Alibaba PuHuiTi" pitchFamily="18" charset="-122"/>
              </a:rPr>
              <a:t>原本为负例的 </a:t>
            </a:r>
            <a:r>
              <a:rPr lang="en-US" altLang="zh-CN" sz="1200" dirty="0">
                <a:latin typeface="Alibaba PuHuiTi" pitchFamily="18" charset="-122"/>
                <a:ea typeface="Alibaba PuHuiTi" pitchFamily="18" charset="-122"/>
                <a:cs typeface="Alibaba PuHuiTi" pitchFamily="18" charset="-122"/>
              </a:rPr>
              <a:t>2</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4</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5</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6 </a:t>
            </a:r>
            <a:r>
              <a:rPr lang="zh-CN" altLang="en-US" sz="1200" dirty="0">
                <a:latin typeface="Alibaba PuHuiTi" pitchFamily="18" charset="-122"/>
                <a:ea typeface="Alibaba PuHuiTi" pitchFamily="18" charset="-122"/>
                <a:cs typeface="Alibaba PuHuiTi" pitchFamily="18" charset="-122"/>
              </a:rPr>
              <a:t>号样本没有一个被分为正例，则 </a:t>
            </a:r>
            <a:r>
              <a:rPr lang="en-GB" altLang="zh-CN" sz="1200" dirty="0">
                <a:latin typeface="Alibaba PuHuiTi" pitchFamily="18" charset="-122"/>
                <a:ea typeface="Alibaba PuHuiTi" pitchFamily="18" charset="-122"/>
                <a:cs typeface="Alibaba PuHuiTi" pitchFamily="18" charset="-122"/>
              </a:rPr>
              <a:t>FPR = 0</a:t>
            </a:r>
            <a:endParaRPr lang="en-GB" altLang="zh-CN" sz="1200" dirty="0">
              <a:latin typeface="Alibaba PuHuiTi" pitchFamily="18" charset="-122"/>
              <a:ea typeface="Alibaba PuHuiTi" pitchFamily="18" charset="-122"/>
              <a:cs typeface="Alibaba PuHuiTi" pitchFamily="18" charset="-122"/>
            </a:endParaRPr>
          </a:p>
          <a:p>
            <a:pPr>
              <a:lnSpc>
                <a:spcPct val="150000"/>
              </a:lnSpc>
            </a:pP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阈值：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0.8</a:t>
            </a:r>
            <a:endParaRPr lang="en-US" altLang="zh-CN" sz="1200" dirty="0">
              <a:solidFill>
                <a:schemeClr val="accent2">
                  <a:lumMod val="7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200" dirty="0">
                <a:latin typeface="Alibaba PuHuiTi" pitchFamily="18" charset="-122"/>
                <a:ea typeface="Alibaba PuHuiTi" pitchFamily="18" charset="-122"/>
                <a:cs typeface="Alibaba PuHuiTi" pitchFamily="18" charset="-122"/>
              </a:rPr>
              <a:t>	</a:t>
            </a:r>
            <a:r>
              <a:rPr lang="zh-CN" altLang="en-US" sz="1200" dirty="0">
                <a:latin typeface="Alibaba PuHuiTi" pitchFamily="18" charset="-122"/>
                <a:ea typeface="Alibaba PuHuiTi" pitchFamily="18" charset="-122"/>
                <a:cs typeface="Alibaba PuHuiTi" pitchFamily="18" charset="-122"/>
              </a:rPr>
              <a:t>原本为正例的 </a:t>
            </a:r>
            <a:r>
              <a:rPr lang="en-US" altLang="zh-CN" sz="1200" dirty="0">
                <a:latin typeface="Alibaba PuHuiTi" pitchFamily="18" charset="-122"/>
                <a:ea typeface="Alibaba PuHuiTi" pitchFamily="18" charset="-122"/>
                <a:cs typeface="Alibaba PuHuiTi" pitchFamily="18" charset="-122"/>
              </a:rPr>
              <a:t>1</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3 </a:t>
            </a:r>
            <a:r>
              <a:rPr lang="zh-CN" altLang="en-US" sz="1200" dirty="0">
                <a:latin typeface="Alibaba PuHuiTi" pitchFamily="18" charset="-122"/>
                <a:ea typeface="Alibaba PuHuiTi" pitchFamily="18" charset="-122"/>
                <a:cs typeface="Alibaba PuHuiTi" pitchFamily="18" charset="-122"/>
              </a:rPr>
              <a:t>号样本被分类正确，则 </a:t>
            </a:r>
            <a:r>
              <a:rPr lang="en-GB" altLang="zh-CN" sz="1200" dirty="0">
                <a:latin typeface="Alibaba PuHuiTi" pitchFamily="18" charset="-122"/>
                <a:ea typeface="Alibaba PuHuiTi" pitchFamily="18" charset="-122"/>
                <a:cs typeface="Alibaba PuHuiTi" pitchFamily="18" charset="-122"/>
              </a:rPr>
              <a:t>TPR = </a:t>
            </a:r>
            <a:r>
              <a:rPr lang="en-US" altLang="zh-CN" sz="1200" dirty="0">
                <a:latin typeface="Alibaba PuHuiTi" pitchFamily="18" charset="-122"/>
                <a:ea typeface="Alibaba PuHuiTi" pitchFamily="18" charset="-122"/>
                <a:cs typeface="Alibaba PuHuiTi" pitchFamily="18" charset="-122"/>
              </a:rPr>
              <a:t>1</a:t>
            </a:r>
            <a:r>
              <a:rPr lang="en-GB" altLang="zh-CN" sz="1200" dirty="0">
                <a:latin typeface="Alibaba PuHuiTi" pitchFamily="18" charset="-122"/>
                <a:ea typeface="Alibaba PuHuiTi" pitchFamily="18" charset="-122"/>
                <a:cs typeface="Alibaba PuHuiTi" pitchFamily="18" charset="-122"/>
              </a:rPr>
              <a:t>/2 = </a:t>
            </a:r>
            <a:r>
              <a:rPr lang="en-US" altLang="zh-CN" sz="1200" dirty="0">
                <a:latin typeface="Alibaba PuHuiTi" pitchFamily="18" charset="-122"/>
                <a:ea typeface="Alibaba PuHuiTi" pitchFamily="18" charset="-122"/>
                <a:cs typeface="Alibaba PuHuiTi" pitchFamily="18" charset="-122"/>
              </a:rPr>
              <a:t>0.5</a:t>
            </a:r>
            <a:endParaRPr lang="en-GB" altLang="zh-CN" sz="1200" dirty="0">
              <a:latin typeface="Alibaba PuHuiTi" pitchFamily="18" charset="-122"/>
              <a:ea typeface="Alibaba PuHuiTi" pitchFamily="18" charset="-122"/>
              <a:cs typeface="Alibaba PuHuiTi" pitchFamily="18" charset="-122"/>
            </a:endParaRPr>
          </a:p>
          <a:p>
            <a:pPr>
              <a:lnSpc>
                <a:spcPct val="150000"/>
              </a:lnSpc>
            </a:pPr>
            <a:r>
              <a:rPr lang="en-US" altLang="zh-CN" sz="1200" dirty="0">
                <a:latin typeface="Alibaba PuHuiTi" pitchFamily="18" charset="-122"/>
                <a:ea typeface="Alibaba PuHuiTi" pitchFamily="18" charset="-122"/>
                <a:cs typeface="Alibaba PuHuiTi" pitchFamily="18" charset="-122"/>
              </a:rPr>
              <a:t>	</a:t>
            </a:r>
            <a:r>
              <a:rPr lang="zh-CN" altLang="en-US" sz="1200" dirty="0">
                <a:latin typeface="Alibaba PuHuiTi" pitchFamily="18" charset="-122"/>
                <a:ea typeface="Alibaba PuHuiTi" pitchFamily="18" charset="-122"/>
                <a:cs typeface="Alibaba PuHuiTi" pitchFamily="18" charset="-122"/>
              </a:rPr>
              <a:t>原本为负例的 </a:t>
            </a:r>
            <a:r>
              <a:rPr lang="en-US" altLang="zh-CN" sz="1200" dirty="0">
                <a:latin typeface="Alibaba PuHuiTi" pitchFamily="18" charset="-122"/>
                <a:ea typeface="Alibaba PuHuiTi" pitchFamily="18" charset="-122"/>
                <a:cs typeface="Alibaba PuHuiTi" pitchFamily="18" charset="-122"/>
              </a:rPr>
              <a:t>2</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4</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5</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6 </a:t>
            </a:r>
            <a:r>
              <a:rPr lang="zh-CN" altLang="en-US" sz="1200" dirty="0">
                <a:latin typeface="Alibaba PuHuiTi" pitchFamily="18" charset="-122"/>
                <a:ea typeface="Alibaba PuHuiTi" pitchFamily="18" charset="-122"/>
                <a:cs typeface="Alibaba PuHuiTi" pitchFamily="18" charset="-122"/>
              </a:rPr>
              <a:t>号样本没有一个被分为正例，则 </a:t>
            </a:r>
            <a:r>
              <a:rPr lang="en-GB" altLang="zh-CN" sz="1200" dirty="0">
                <a:latin typeface="Alibaba PuHuiTi" pitchFamily="18" charset="-122"/>
                <a:ea typeface="Alibaba PuHuiTi" pitchFamily="18" charset="-122"/>
                <a:cs typeface="Alibaba PuHuiTi" pitchFamily="18" charset="-122"/>
              </a:rPr>
              <a:t>FPR = 0</a:t>
            </a:r>
            <a:endParaRPr lang="en-GB" altLang="zh-CN" sz="1200" dirty="0">
              <a:latin typeface="Alibaba PuHuiTi" pitchFamily="18" charset="-122"/>
              <a:ea typeface="Alibaba PuHuiTi" pitchFamily="18" charset="-122"/>
              <a:cs typeface="Alibaba PuHuiTi" pitchFamily="18" charset="-122"/>
            </a:endParaRPr>
          </a:p>
          <a:p>
            <a:pPr>
              <a:lnSpc>
                <a:spcPct val="150000"/>
              </a:lnSpc>
            </a:pP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阈值：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0.7</a:t>
            </a:r>
            <a:endParaRPr lang="en-US" altLang="zh-CN" sz="1200" dirty="0">
              <a:solidFill>
                <a:schemeClr val="accent2">
                  <a:lumMod val="7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200" dirty="0">
                <a:latin typeface="Alibaba PuHuiTi" pitchFamily="18" charset="-122"/>
                <a:ea typeface="Alibaba PuHuiTi" pitchFamily="18" charset="-122"/>
                <a:cs typeface="Alibaba PuHuiTi" pitchFamily="18" charset="-122"/>
              </a:rPr>
              <a:t>	</a:t>
            </a:r>
            <a:r>
              <a:rPr lang="zh-CN" altLang="en-US" sz="1200" dirty="0">
                <a:latin typeface="Alibaba PuHuiTi" pitchFamily="18" charset="-122"/>
                <a:ea typeface="Alibaba PuHuiTi" pitchFamily="18" charset="-122"/>
                <a:cs typeface="Alibaba PuHuiTi" pitchFamily="18" charset="-122"/>
              </a:rPr>
              <a:t>原本为正例的 </a:t>
            </a:r>
            <a:r>
              <a:rPr lang="en-US" altLang="zh-CN" sz="1200" dirty="0">
                <a:latin typeface="Alibaba PuHuiTi" pitchFamily="18" charset="-122"/>
                <a:ea typeface="Alibaba PuHuiTi" pitchFamily="18" charset="-122"/>
                <a:cs typeface="Alibaba PuHuiTi" pitchFamily="18" charset="-122"/>
              </a:rPr>
              <a:t>1</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3 </a:t>
            </a:r>
            <a:r>
              <a:rPr lang="zh-CN" altLang="en-US" sz="1200" dirty="0">
                <a:latin typeface="Alibaba PuHuiTi" pitchFamily="18" charset="-122"/>
                <a:ea typeface="Alibaba PuHuiTi" pitchFamily="18" charset="-122"/>
                <a:cs typeface="Alibaba PuHuiTi" pitchFamily="18" charset="-122"/>
              </a:rPr>
              <a:t>号样本被分类正确，则 </a:t>
            </a:r>
            <a:r>
              <a:rPr lang="en-GB" altLang="zh-CN" sz="1200" dirty="0">
                <a:latin typeface="Alibaba PuHuiTi" pitchFamily="18" charset="-122"/>
                <a:ea typeface="Alibaba PuHuiTi" pitchFamily="18" charset="-122"/>
                <a:cs typeface="Alibaba PuHuiTi" pitchFamily="18" charset="-122"/>
              </a:rPr>
              <a:t>TPR = 2/2 = 1</a:t>
            </a:r>
            <a:endParaRPr lang="en-GB" altLang="zh-CN" sz="1200" dirty="0">
              <a:latin typeface="Alibaba PuHuiTi" pitchFamily="18" charset="-122"/>
              <a:ea typeface="Alibaba PuHuiTi" pitchFamily="18" charset="-122"/>
              <a:cs typeface="Alibaba PuHuiTi" pitchFamily="18" charset="-122"/>
            </a:endParaRPr>
          </a:p>
          <a:p>
            <a:pPr>
              <a:lnSpc>
                <a:spcPct val="150000"/>
              </a:lnSpc>
            </a:pPr>
            <a:r>
              <a:rPr lang="en-US" altLang="zh-CN" sz="1200" dirty="0">
                <a:latin typeface="Alibaba PuHuiTi" pitchFamily="18" charset="-122"/>
                <a:ea typeface="Alibaba PuHuiTi" pitchFamily="18" charset="-122"/>
                <a:cs typeface="Alibaba PuHuiTi" pitchFamily="18" charset="-122"/>
              </a:rPr>
              <a:t>	</a:t>
            </a:r>
            <a:r>
              <a:rPr lang="zh-CN" altLang="en-US" sz="1200" dirty="0">
                <a:latin typeface="Alibaba PuHuiTi" pitchFamily="18" charset="-122"/>
                <a:ea typeface="Alibaba PuHuiTi" pitchFamily="18" charset="-122"/>
                <a:cs typeface="Alibaba PuHuiTi" pitchFamily="18" charset="-122"/>
              </a:rPr>
              <a:t>原本为负类的 </a:t>
            </a:r>
            <a:r>
              <a:rPr lang="en-US" altLang="zh-CN" sz="1200" dirty="0">
                <a:latin typeface="Alibaba PuHuiTi" pitchFamily="18" charset="-122"/>
                <a:ea typeface="Alibaba PuHuiTi" pitchFamily="18" charset="-122"/>
                <a:cs typeface="Alibaba PuHuiTi" pitchFamily="18" charset="-122"/>
              </a:rPr>
              <a:t>2</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4</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5</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6 </a:t>
            </a:r>
            <a:r>
              <a:rPr lang="zh-CN" altLang="en-US" sz="1200" dirty="0">
                <a:latin typeface="Alibaba PuHuiTi" pitchFamily="18" charset="-122"/>
                <a:ea typeface="Alibaba PuHuiTi" pitchFamily="18" charset="-122"/>
                <a:cs typeface="Alibaba PuHuiTi" pitchFamily="18" charset="-122"/>
              </a:rPr>
              <a:t>号样本中 </a:t>
            </a:r>
            <a:r>
              <a:rPr lang="en-US" altLang="zh-CN" sz="1200" dirty="0">
                <a:latin typeface="Alibaba PuHuiTi" pitchFamily="18" charset="-122"/>
                <a:ea typeface="Alibaba PuHuiTi" pitchFamily="18" charset="-122"/>
                <a:cs typeface="Alibaba PuHuiTi" pitchFamily="18" charset="-122"/>
              </a:rPr>
              <a:t>2 </a:t>
            </a:r>
            <a:r>
              <a:rPr lang="zh-CN" altLang="en-US" sz="1200" dirty="0">
                <a:latin typeface="Alibaba PuHuiTi" pitchFamily="18" charset="-122"/>
                <a:ea typeface="Alibaba PuHuiTi" pitchFamily="18" charset="-122"/>
                <a:cs typeface="Alibaba PuHuiTi" pitchFamily="18" charset="-122"/>
              </a:rPr>
              <a:t>号样本被分类错误，则 </a:t>
            </a:r>
            <a:r>
              <a:rPr lang="en-GB" altLang="zh-CN" sz="1200" dirty="0">
                <a:latin typeface="Alibaba PuHuiTi" pitchFamily="18" charset="-122"/>
                <a:ea typeface="Alibaba PuHuiTi" pitchFamily="18" charset="-122"/>
                <a:cs typeface="Alibaba PuHuiTi" pitchFamily="18" charset="-122"/>
              </a:rPr>
              <a:t>FPR = </a:t>
            </a:r>
            <a:r>
              <a:rPr lang="en-US" altLang="zh-CN" sz="1200" dirty="0">
                <a:latin typeface="Alibaba PuHuiTi" pitchFamily="18" charset="-122"/>
                <a:ea typeface="Alibaba PuHuiTi" pitchFamily="18" charset="-122"/>
                <a:cs typeface="Alibaba PuHuiTi" pitchFamily="18" charset="-122"/>
              </a:rPr>
              <a:t>0/</a:t>
            </a:r>
            <a:r>
              <a:rPr lang="en-GB" altLang="zh-CN" sz="1200" dirty="0">
                <a:latin typeface="Alibaba PuHuiTi" pitchFamily="18" charset="-122"/>
                <a:ea typeface="Alibaba PuHuiTi" pitchFamily="18" charset="-122"/>
                <a:cs typeface="Alibaba PuHuiTi" pitchFamily="18" charset="-122"/>
              </a:rPr>
              <a:t>4 = 0</a:t>
            </a:r>
            <a:endParaRPr lang="en-GB" altLang="zh-CN" sz="1200" dirty="0">
              <a:latin typeface="Alibaba PuHuiTi" pitchFamily="18" charset="-122"/>
              <a:ea typeface="Alibaba PuHuiTi" pitchFamily="18" charset="-122"/>
              <a:cs typeface="Alibaba PuHuiTi" pitchFamily="18" charset="-122"/>
            </a:endParaRPr>
          </a:p>
          <a:p>
            <a:pPr>
              <a:lnSpc>
                <a:spcPct val="150000"/>
              </a:lnSpc>
            </a:pP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阈值：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0.6</a:t>
            </a:r>
            <a:endParaRPr lang="en-US" altLang="zh-CN" sz="1200" dirty="0">
              <a:solidFill>
                <a:schemeClr val="accent2">
                  <a:lumMod val="7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200" dirty="0">
                <a:latin typeface="Alibaba PuHuiTi" pitchFamily="18" charset="-122"/>
                <a:ea typeface="Alibaba PuHuiTi" pitchFamily="18" charset="-122"/>
                <a:cs typeface="Alibaba PuHuiTi" pitchFamily="18" charset="-122"/>
              </a:rPr>
              <a:t>	</a:t>
            </a:r>
            <a:r>
              <a:rPr lang="zh-CN" altLang="en-US" sz="1200" dirty="0">
                <a:latin typeface="Alibaba PuHuiTi" pitchFamily="18" charset="-122"/>
                <a:ea typeface="Alibaba PuHuiTi" pitchFamily="18" charset="-122"/>
                <a:cs typeface="Alibaba PuHuiTi" pitchFamily="18" charset="-122"/>
              </a:rPr>
              <a:t>原本为正例的 </a:t>
            </a:r>
            <a:r>
              <a:rPr lang="en-US" altLang="zh-CN" sz="1200" dirty="0">
                <a:latin typeface="Alibaba PuHuiTi" pitchFamily="18" charset="-122"/>
                <a:ea typeface="Alibaba PuHuiTi" pitchFamily="18" charset="-122"/>
                <a:cs typeface="Alibaba PuHuiTi" pitchFamily="18" charset="-122"/>
              </a:rPr>
              <a:t>1</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3 </a:t>
            </a:r>
            <a:r>
              <a:rPr lang="zh-CN" altLang="en-US" sz="1200" dirty="0">
                <a:latin typeface="Alibaba PuHuiTi" pitchFamily="18" charset="-122"/>
                <a:ea typeface="Alibaba PuHuiTi" pitchFamily="18" charset="-122"/>
                <a:cs typeface="Alibaba PuHuiTi" pitchFamily="18" charset="-122"/>
              </a:rPr>
              <a:t>号样本被分类正确，则 </a:t>
            </a:r>
            <a:r>
              <a:rPr lang="en-GB" altLang="zh-CN" sz="1200" dirty="0">
                <a:latin typeface="Alibaba PuHuiTi" pitchFamily="18" charset="-122"/>
                <a:ea typeface="Alibaba PuHuiTi" pitchFamily="18" charset="-122"/>
                <a:cs typeface="Alibaba PuHuiTi" pitchFamily="18" charset="-122"/>
              </a:rPr>
              <a:t>TPR = 2/2 = 1</a:t>
            </a:r>
            <a:endParaRPr lang="en-GB" altLang="zh-CN" sz="1200" dirty="0">
              <a:latin typeface="Alibaba PuHuiTi" pitchFamily="18" charset="-122"/>
              <a:ea typeface="Alibaba PuHuiTi" pitchFamily="18" charset="-122"/>
              <a:cs typeface="Alibaba PuHuiTi" pitchFamily="18" charset="-122"/>
            </a:endParaRPr>
          </a:p>
          <a:p>
            <a:pPr>
              <a:lnSpc>
                <a:spcPct val="150000"/>
              </a:lnSpc>
            </a:pPr>
            <a:r>
              <a:rPr lang="en-US" altLang="zh-CN" sz="1200" dirty="0">
                <a:latin typeface="Alibaba PuHuiTi" pitchFamily="18" charset="-122"/>
                <a:ea typeface="Alibaba PuHuiTi" pitchFamily="18" charset="-122"/>
                <a:cs typeface="Alibaba PuHuiTi" pitchFamily="18" charset="-122"/>
              </a:rPr>
              <a:t>	</a:t>
            </a:r>
            <a:r>
              <a:rPr lang="zh-CN" altLang="en-US" sz="1200" dirty="0">
                <a:latin typeface="Alibaba PuHuiTi" pitchFamily="18" charset="-122"/>
                <a:ea typeface="Alibaba PuHuiTi" pitchFamily="18" charset="-122"/>
                <a:cs typeface="Alibaba PuHuiTi" pitchFamily="18" charset="-122"/>
              </a:rPr>
              <a:t>原本为负类的 </a:t>
            </a:r>
            <a:r>
              <a:rPr lang="en-US" altLang="zh-CN" sz="1200" dirty="0">
                <a:latin typeface="Alibaba PuHuiTi" pitchFamily="18" charset="-122"/>
                <a:ea typeface="Alibaba PuHuiTi" pitchFamily="18" charset="-122"/>
                <a:cs typeface="Alibaba PuHuiTi" pitchFamily="18" charset="-122"/>
              </a:rPr>
              <a:t>2</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4</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5</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6 </a:t>
            </a:r>
            <a:r>
              <a:rPr lang="zh-CN" altLang="en-US" sz="1200" dirty="0">
                <a:latin typeface="Alibaba PuHuiTi" pitchFamily="18" charset="-122"/>
                <a:ea typeface="Alibaba PuHuiTi" pitchFamily="18" charset="-122"/>
                <a:cs typeface="Alibaba PuHuiTi" pitchFamily="18" charset="-122"/>
              </a:rPr>
              <a:t>号样本中 </a:t>
            </a:r>
            <a:r>
              <a:rPr lang="en-US" altLang="zh-CN" sz="1200" dirty="0">
                <a:latin typeface="Alibaba PuHuiTi" pitchFamily="18" charset="-122"/>
                <a:ea typeface="Alibaba PuHuiTi" pitchFamily="18" charset="-122"/>
                <a:cs typeface="Alibaba PuHuiTi" pitchFamily="18" charset="-122"/>
              </a:rPr>
              <a:t>2</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4 </a:t>
            </a:r>
            <a:r>
              <a:rPr lang="zh-CN" altLang="en-US" sz="1200" dirty="0">
                <a:latin typeface="Alibaba PuHuiTi" pitchFamily="18" charset="-122"/>
                <a:ea typeface="Alibaba PuHuiTi" pitchFamily="18" charset="-122"/>
                <a:cs typeface="Alibaba PuHuiTi" pitchFamily="18" charset="-122"/>
              </a:rPr>
              <a:t>号样本被分类错误，则 </a:t>
            </a:r>
            <a:r>
              <a:rPr lang="en-GB" altLang="zh-CN" sz="1200" dirty="0">
                <a:latin typeface="Alibaba PuHuiTi" pitchFamily="18" charset="-122"/>
                <a:ea typeface="Alibaba PuHuiTi" pitchFamily="18" charset="-122"/>
                <a:cs typeface="Alibaba PuHuiTi" pitchFamily="18" charset="-122"/>
              </a:rPr>
              <a:t>FPR = </a:t>
            </a:r>
            <a:r>
              <a:rPr lang="en-US" altLang="zh-CN" sz="1200" dirty="0">
                <a:latin typeface="Alibaba PuHuiTi" pitchFamily="18" charset="-122"/>
                <a:ea typeface="Alibaba PuHuiTi" pitchFamily="18" charset="-122"/>
                <a:cs typeface="Alibaba PuHuiTi" pitchFamily="18" charset="-122"/>
              </a:rPr>
              <a:t>1</a:t>
            </a:r>
            <a:r>
              <a:rPr lang="en-GB" altLang="zh-CN" sz="1200" dirty="0">
                <a:latin typeface="Alibaba PuHuiTi" pitchFamily="18" charset="-122"/>
                <a:ea typeface="Alibaba PuHuiTi" pitchFamily="18" charset="-122"/>
                <a:cs typeface="Alibaba PuHuiTi" pitchFamily="18" charset="-122"/>
              </a:rPr>
              <a:t>/4 = 0.</a:t>
            </a:r>
            <a:r>
              <a:rPr lang="en-US" altLang="zh-CN" sz="1200" dirty="0">
                <a:latin typeface="Alibaba PuHuiTi" pitchFamily="18" charset="-122"/>
                <a:ea typeface="Alibaba PuHuiTi" pitchFamily="18" charset="-122"/>
                <a:cs typeface="Alibaba PuHuiTi" pitchFamily="18" charset="-122"/>
              </a:rPr>
              <a:t>2</a:t>
            </a:r>
            <a:r>
              <a:rPr lang="en-GB" altLang="zh-CN" sz="1200" dirty="0">
                <a:latin typeface="Alibaba PuHuiTi" pitchFamily="18" charset="-122"/>
                <a:ea typeface="Alibaba PuHuiTi" pitchFamily="18" charset="-122"/>
                <a:cs typeface="Alibaba PuHuiTi" pitchFamily="18" charset="-122"/>
              </a:rPr>
              <a:t>5</a:t>
            </a:r>
            <a:endParaRPr lang="en-GB" altLang="zh-CN" sz="1200" dirty="0">
              <a:latin typeface="Alibaba PuHuiTi" pitchFamily="18" charset="-122"/>
              <a:ea typeface="Alibaba PuHuiTi" pitchFamily="18" charset="-122"/>
              <a:cs typeface="Alibaba PuHuiTi" pitchFamily="18" charset="-122"/>
            </a:endParaRPr>
          </a:p>
          <a:p>
            <a:pPr>
              <a:lnSpc>
                <a:spcPct val="150000"/>
              </a:lnSpc>
            </a:pP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阈值：</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0.5</a:t>
            </a:r>
            <a:endParaRPr lang="en-US" altLang="zh-CN" sz="1200" dirty="0">
              <a:solidFill>
                <a:schemeClr val="accent2">
                  <a:lumMod val="7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200" dirty="0">
                <a:latin typeface="Alibaba PuHuiTi" pitchFamily="18" charset="-122"/>
                <a:ea typeface="Alibaba PuHuiTi" pitchFamily="18" charset="-122"/>
                <a:cs typeface="Alibaba PuHuiTi" pitchFamily="18" charset="-122"/>
              </a:rPr>
              <a:t>	</a:t>
            </a:r>
            <a:r>
              <a:rPr lang="zh-CN" altLang="en-US" sz="1200" dirty="0">
                <a:latin typeface="Alibaba PuHuiTi" pitchFamily="18" charset="-122"/>
                <a:ea typeface="Alibaba PuHuiTi" pitchFamily="18" charset="-122"/>
                <a:cs typeface="Alibaba PuHuiTi" pitchFamily="18" charset="-122"/>
              </a:rPr>
              <a:t>原本为正例的 </a:t>
            </a:r>
            <a:r>
              <a:rPr lang="en-US" altLang="zh-CN" sz="1200" dirty="0">
                <a:latin typeface="Alibaba PuHuiTi" pitchFamily="18" charset="-122"/>
                <a:ea typeface="Alibaba PuHuiTi" pitchFamily="18" charset="-122"/>
                <a:cs typeface="Alibaba PuHuiTi" pitchFamily="18" charset="-122"/>
              </a:rPr>
              <a:t>1</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3 </a:t>
            </a:r>
            <a:r>
              <a:rPr lang="zh-CN" altLang="en-US" sz="1200" dirty="0">
                <a:latin typeface="Alibaba PuHuiTi" pitchFamily="18" charset="-122"/>
                <a:ea typeface="Alibaba PuHuiTi" pitchFamily="18" charset="-122"/>
                <a:cs typeface="Alibaba PuHuiTi" pitchFamily="18" charset="-122"/>
              </a:rPr>
              <a:t>号样本被分类正确，则 </a:t>
            </a:r>
            <a:r>
              <a:rPr lang="en-GB" altLang="zh-CN" sz="1200" dirty="0">
                <a:latin typeface="Alibaba PuHuiTi" pitchFamily="18" charset="-122"/>
                <a:ea typeface="Alibaba PuHuiTi" pitchFamily="18" charset="-122"/>
                <a:cs typeface="Alibaba PuHuiTi" pitchFamily="18" charset="-122"/>
              </a:rPr>
              <a:t>TPR = 2/2 = 1</a:t>
            </a:r>
            <a:endParaRPr lang="en-GB" altLang="zh-CN" sz="1200" dirty="0">
              <a:latin typeface="Alibaba PuHuiTi" pitchFamily="18" charset="-122"/>
              <a:ea typeface="Alibaba PuHuiTi" pitchFamily="18" charset="-122"/>
              <a:cs typeface="Alibaba PuHuiTi" pitchFamily="18" charset="-122"/>
            </a:endParaRPr>
          </a:p>
          <a:p>
            <a:pPr>
              <a:lnSpc>
                <a:spcPct val="150000"/>
              </a:lnSpc>
            </a:pPr>
            <a:r>
              <a:rPr lang="en-US" altLang="zh-CN" sz="1200" dirty="0">
                <a:latin typeface="Alibaba PuHuiTi" pitchFamily="18" charset="-122"/>
                <a:ea typeface="Alibaba PuHuiTi" pitchFamily="18" charset="-122"/>
                <a:cs typeface="Alibaba PuHuiTi" pitchFamily="18" charset="-122"/>
              </a:rPr>
              <a:t>	</a:t>
            </a:r>
            <a:r>
              <a:rPr lang="zh-CN" altLang="en-US" sz="1200" dirty="0">
                <a:latin typeface="Alibaba PuHuiTi" pitchFamily="18" charset="-122"/>
                <a:ea typeface="Alibaba PuHuiTi" pitchFamily="18" charset="-122"/>
                <a:cs typeface="Alibaba PuHuiTi" pitchFamily="18" charset="-122"/>
              </a:rPr>
              <a:t>原本为负类的 </a:t>
            </a:r>
            <a:r>
              <a:rPr lang="en-US" altLang="zh-CN" sz="1200" dirty="0">
                <a:latin typeface="Alibaba PuHuiTi" pitchFamily="18" charset="-122"/>
                <a:ea typeface="Alibaba PuHuiTi" pitchFamily="18" charset="-122"/>
                <a:cs typeface="Alibaba PuHuiTi" pitchFamily="18" charset="-122"/>
              </a:rPr>
              <a:t>2</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4</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5</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6 </a:t>
            </a:r>
            <a:r>
              <a:rPr lang="zh-CN" altLang="en-US" sz="1200" dirty="0">
                <a:latin typeface="Alibaba PuHuiTi" pitchFamily="18" charset="-122"/>
                <a:ea typeface="Alibaba PuHuiTi" pitchFamily="18" charset="-122"/>
                <a:cs typeface="Alibaba PuHuiTi" pitchFamily="18" charset="-122"/>
              </a:rPr>
              <a:t>号样本中 </a:t>
            </a:r>
            <a:r>
              <a:rPr lang="en-US" altLang="zh-CN" sz="1200" dirty="0">
                <a:latin typeface="Alibaba PuHuiTi" pitchFamily="18" charset="-122"/>
                <a:ea typeface="Alibaba PuHuiTi" pitchFamily="18" charset="-122"/>
                <a:cs typeface="Alibaba PuHuiTi" pitchFamily="18" charset="-122"/>
              </a:rPr>
              <a:t>2</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4</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5 </a:t>
            </a:r>
            <a:r>
              <a:rPr lang="zh-CN" altLang="en-US" sz="1200" dirty="0">
                <a:latin typeface="Alibaba PuHuiTi" pitchFamily="18" charset="-122"/>
                <a:ea typeface="Alibaba PuHuiTi" pitchFamily="18" charset="-122"/>
                <a:cs typeface="Alibaba PuHuiTi" pitchFamily="18" charset="-122"/>
              </a:rPr>
              <a:t>号样本被分类错误，则 </a:t>
            </a:r>
            <a:r>
              <a:rPr lang="en-GB" altLang="zh-CN" sz="1200" dirty="0">
                <a:latin typeface="Alibaba PuHuiTi" pitchFamily="18" charset="-122"/>
                <a:ea typeface="Alibaba PuHuiTi" pitchFamily="18" charset="-122"/>
                <a:cs typeface="Alibaba PuHuiTi" pitchFamily="18" charset="-122"/>
              </a:rPr>
              <a:t>FPR = </a:t>
            </a:r>
            <a:r>
              <a:rPr lang="en-US" altLang="zh-CN" sz="1200" dirty="0">
                <a:latin typeface="Alibaba PuHuiTi" pitchFamily="18" charset="-122"/>
                <a:ea typeface="Alibaba PuHuiTi" pitchFamily="18" charset="-122"/>
                <a:cs typeface="Alibaba PuHuiTi" pitchFamily="18" charset="-122"/>
              </a:rPr>
              <a:t>2</a:t>
            </a:r>
            <a:r>
              <a:rPr lang="en-GB" altLang="zh-CN" sz="1200" dirty="0">
                <a:latin typeface="Alibaba PuHuiTi" pitchFamily="18" charset="-122"/>
                <a:ea typeface="Alibaba PuHuiTi" pitchFamily="18" charset="-122"/>
                <a:cs typeface="Alibaba PuHuiTi" pitchFamily="18" charset="-122"/>
              </a:rPr>
              <a:t>/4 = 0.5</a:t>
            </a:r>
            <a:endParaRPr lang="en-GB" altLang="zh-CN" sz="1200" dirty="0">
              <a:latin typeface="Alibaba PuHuiTi" pitchFamily="18" charset="-122"/>
              <a:ea typeface="Alibaba PuHuiTi" pitchFamily="18" charset="-122"/>
              <a:cs typeface="Alibaba PuHuiTi" pitchFamily="18" charset="-122"/>
            </a:endParaRPr>
          </a:p>
          <a:p>
            <a:pPr>
              <a:lnSpc>
                <a:spcPct val="150000"/>
              </a:lnSpc>
            </a:pPr>
            <a:r>
              <a:rPr lang="zh-CN" altLang="en-US" sz="1200" dirty="0">
                <a:solidFill>
                  <a:schemeClr val="accent2">
                    <a:lumMod val="75000"/>
                  </a:schemeClr>
                </a:solidFill>
                <a:latin typeface="Alibaba PuHuiTi" pitchFamily="18" charset="-122"/>
                <a:ea typeface="Alibaba PuHuiTi" pitchFamily="18" charset="-122"/>
                <a:cs typeface="Alibaba PuHuiTi" pitchFamily="18" charset="-122"/>
              </a:rPr>
              <a:t>阈值 </a:t>
            </a:r>
            <a:r>
              <a:rPr lang="en-US" altLang="zh-CN" sz="1200" dirty="0">
                <a:solidFill>
                  <a:schemeClr val="accent2">
                    <a:lumMod val="75000"/>
                  </a:schemeClr>
                </a:solidFill>
                <a:latin typeface="Alibaba PuHuiTi" pitchFamily="18" charset="-122"/>
                <a:ea typeface="Alibaba PuHuiTi" pitchFamily="18" charset="-122"/>
                <a:cs typeface="Alibaba PuHuiTi" pitchFamily="18" charset="-122"/>
              </a:rPr>
              <a:t>0.4</a:t>
            </a:r>
            <a:endParaRPr lang="en-US" altLang="zh-CN" sz="1200" dirty="0">
              <a:solidFill>
                <a:schemeClr val="accent2">
                  <a:lumMod val="7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200" dirty="0">
                <a:latin typeface="Alibaba PuHuiTi" pitchFamily="18" charset="-122"/>
                <a:ea typeface="Alibaba PuHuiTi" pitchFamily="18" charset="-122"/>
                <a:cs typeface="Alibaba PuHuiTi" pitchFamily="18" charset="-122"/>
              </a:rPr>
              <a:t>	</a:t>
            </a:r>
            <a:r>
              <a:rPr lang="zh-CN" altLang="en-US" sz="1200" dirty="0">
                <a:latin typeface="Alibaba PuHuiTi" pitchFamily="18" charset="-122"/>
                <a:ea typeface="Alibaba PuHuiTi" pitchFamily="18" charset="-122"/>
                <a:cs typeface="Alibaba PuHuiTi" pitchFamily="18" charset="-122"/>
              </a:rPr>
              <a:t>原本为正例的 </a:t>
            </a:r>
            <a:r>
              <a:rPr lang="en-US" altLang="zh-CN" sz="1200" dirty="0">
                <a:latin typeface="Alibaba PuHuiTi" pitchFamily="18" charset="-122"/>
                <a:ea typeface="Alibaba PuHuiTi" pitchFamily="18" charset="-122"/>
                <a:cs typeface="Alibaba PuHuiTi" pitchFamily="18" charset="-122"/>
              </a:rPr>
              <a:t>1</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3 </a:t>
            </a:r>
            <a:r>
              <a:rPr lang="zh-CN" altLang="en-US" sz="1200" dirty="0">
                <a:latin typeface="Alibaba PuHuiTi" pitchFamily="18" charset="-122"/>
                <a:ea typeface="Alibaba PuHuiTi" pitchFamily="18" charset="-122"/>
                <a:cs typeface="Alibaba PuHuiTi" pitchFamily="18" charset="-122"/>
              </a:rPr>
              <a:t>号样本被分类正确，则 </a:t>
            </a:r>
            <a:r>
              <a:rPr lang="en-GB" altLang="zh-CN" sz="1200" dirty="0">
                <a:latin typeface="Alibaba PuHuiTi" pitchFamily="18" charset="-122"/>
                <a:ea typeface="Alibaba PuHuiTi" pitchFamily="18" charset="-122"/>
                <a:cs typeface="Alibaba PuHuiTi" pitchFamily="18" charset="-122"/>
              </a:rPr>
              <a:t>TPR = 2/2 = 1</a:t>
            </a:r>
            <a:endParaRPr lang="en-GB" altLang="zh-CN" sz="1200" dirty="0">
              <a:latin typeface="Alibaba PuHuiTi" pitchFamily="18" charset="-122"/>
              <a:ea typeface="Alibaba PuHuiTi" pitchFamily="18" charset="-122"/>
              <a:cs typeface="Alibaba PuHuiTi" pitchFamily="18" charset="-122"/>
            </a:endParaRPr>
          </a:p>
          <a:p>
            <a:pPr>
              <a:lnSpc>
                <a:spcPct val="150000"/>
              </a:lnSpc>
            </a:pPr>
            <a:r>
              <a:rPr lang="en-US" altLang="zh-CN" sz="1200" dirty="0">
                <a:latin typeface="Alibaba PuHuiTi" pitchFamily="18" charset="-122"/>
                <a:ea typeface="Alibaba PuHuiTi" pitchFamily="18" charset="-122"/>
                <a:cs typeface="Alibaba PuHuiTi" pitchFamily="18" charset="-122"/>
              </a:rPr>
              <a:t>	</a:t>
            </a:r>
            <a:r>
              <a:rPr lang="zh-CN" altLang="en-US" sz="1200" dirty="0">
                <a:latin typeface="Alibaba PuHuiTi" pitchFamily="18" charset="-122"/>
                <a:ea typeface="Alibaba PuHuiTi" pitchFamily="18" charset="-122"/>
                <a:cs typeface="Alibaba PuHuiTi" pitchFamily="18" charset="-122"/>
              </a:rPr>
              <a:t>原本为负类的 </a:t>
            </a:r>
            <a:r>
              <a:rPr lang="en-US" altLang="zh-CN" sz="1200" dirty="0">
                <a:latin typeface="Alibaba PuHuiTi" pitchFamily="18" charset="-122"/>
                <a:ea typeface="Alibaba PuHuiTi" pitchFamily="18" charset="-122"/>
                <a:cs typeface="Alibaba PuHuiTi" pitchFamily="18" charset="-122"/>
              </a:rPr>
              <a:t>2</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4</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5</a:t>
            </a:r>
            <a:r>
              <a:rPr lang="zh-CN" altLang="en-US" sz="1200" dirty="0">
                <a:latin typeface="Alibaba PuHuiTi" pitchFamily="18" charset="-122"/>
                <a:ea typeface="Alibaba PuHuiTi" pitchFamily="18" charset="-122"/>
                <a:cs typeface="Alibaba PuHuiTi" pitchFamily="18" charset="-122"/>
              </a:rPr>
              <a:t>、</a:t>
            </a:r>
            <a:r>
              <a:rPr lang="en-US" altLang="zh-CN" sz="1200" dirty="0">
                <a:latin typeface="Alibaba PuHuiTi" pitchFamily="18" charset="-122"/>
                <a:ea typeface="Alibaba PuHuiTi" pitchFamily="18" charset="-122"/>
                <a:cs typeface="Alibaba PuHuiTi" pitchFamily="18" charset="-122"/>
              </a:rPr>
              <a:t>6 </a:t>
            </a:r>
            <a:r>
              <a:rPr lang="zh-CN" altLang="en-US" sz="1200" dirty="0">
                <a:latin typeface="Alibaba PuHuiTi" pitchFamily="18" charset="-122"/>
                <a:ea typeface="Alibaba PuHuiTi" pitchFamily="18" charset="-122"/>
                <a:cs typeface="Alibaba PuHuiTi" pitchFamily="18" charset="-122"/>
              </a:rPr>
              <a:t>号样本全部被分类错误，则 </a:t>
            </a:r>
            <a:r>
              <a:rPr lang="en-GB" altLang="zh-CN" sz="1200" dirty="0">
                <a:latin typeface="Alibaba PuHuiTi" pitchFamily="18" charset="-122"/>
                <a:ea typeface="Alibaba PuHuiTi" pitchFamily="18" charset="-122"/>
                <a:cs typeface="Alibaba PuHuiTi" pitchFamily="18" charset="-122"/>
              </a:rPr>
              <a:t>FPR = </a:t>
            </a:r>
            <a:r>
              <a:rPr lang="en-US" altLang="zh-CN" sz="1200" dirty="0">
                <a:latin typeface="Alibaba PuHuiTi" pitchFamily="18" charset="-122"/>
                <a:ea typeface="Alibaba PuHuiTi" pitchFamily="18" charset="-122"/>
                <a:cs typeface="Alibaba PuHuiTi" pitchFamily="18" charset="-122"/>
              </a:rPr>
              <a:t>3</a:t>
            </a:r>
            <a:r>
              <a:rPr lang="en-GB" altLang="zh-CN" sz="1200" dirty="0">
                <a:latin typeface="Alibaba PuHuiTi" pitchFamily="18" charset="-122"/>
                <a:ea typeface="Alibaba PuHuiTi" pitchFamily="18" charset="-122"/>
                <a:cs typeface="Alibaba PuHuiTi" pitchFamily="18" charset="-122"/>
              </a:rPr>
              <a:t>/4 = </a:t>
            </a:r>
            <a:r>
              <a:rPr lang="en-US" altLang="zh-CN" sz="1200" dirty="0">
                <a:latin typeface="Alibaba PuHuiTi" pitchFamily="18" charset="-122"/>
                <a:ea typeface="Alibaba PuHuiTi" pitchFamily="18" charset="-122"/>
                <a:cs typeface="Alibaba PuHuiTi" pitchFamily="18" charset="-122"/>
              </a:rPr>
              <a:t>0.75</a:t>
            </a:r>
            <a:endParaRPr lang="zh-CN" altLang="en-US" sz="1200" dirty="0">
              <a:latin typeface="Alibaba PuHuiTi" pitchFamily="18" charset="-122"/>
              <a:ea typeface="Alibaba PuHuiTi" pitchFamily="18" charset="-122"/>
              <a:cs typeface="Alibaba PuHuiTi" pitchFamily="18" charset="-122"/>
            </a:endParaRPr>
          </a:p>
        </p:txBody>
      </p:sp>
      <p:sp>
        <p:nvSpPr>
          <p:cNvPr id="6" name="文本框 5"/>
          <p:cNvSpPr txBox="1"/>
          <p:nvPr/>
        </p:nvSpPr>
        <p:spPr>
          <a:xfrm>
            <a:off x="8165883" y="2054905"/>
            <a:ext cx="2796762" cy="1030282"/>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b="0" i="0" dirty="0">
                <a:effectLst/>
                <a:latin typeface="Roboto" panose="02000000000000000000" pitchFamily="2" charset="0"/>
              </a:rPr>
              <a:t>会得出不同阈值下的点坐标：</a:t>
            </a:r>
            <a:endParaRPr lang="en-US" altLang="zh-CN" sz="1400" b="0" i="0" dirty="0">
              <a:effectLst/>
              <a:latin typeface="Roboto" panose="02000000000000000000" pitchFamily="2" charset="0"/>
            </a:endParaRPr>
          </a:p>
          <a:p>
            <a:pPr marL="0" marR="0" lvl="0" indent="0" algn="l" defTabSz="914400" rtl="0" eaLnBrk="1" fontAlgn="auto" latinLnBrk="0" hangingPunct="1">
              <a:lnSpc>
                <a:spcPct val="150000"/>
              </a:lnSpc>
              <a:spcBef>
                <a:spcPts val="0"/>
              </a:spcBef>
              <a:spcAft>
                <a:spcPts val="0"/>
              </a:spcAft>
              <a:buClrTx/>
              <a:buSzTx/>
              <a:buFontTx/>
              <a:buNone/>
              <a:defRPr/>
            </a:pPr>
            <a:r>
              <a:rPr lang="en-US" altLang="zh-CN" sz="1400" b="0" i="0" dirty="0">
                <a:effectLst/>
                <a:latin typeface="Roboto" panose="02000000000000000000" pitchFamily="2" charset="0"/>
              </a:rPr>
              <a:t>(0, 0.5)</a:t>
            </a:r>
            <a:r>
              <a:rPr lang="zh-CN" altLang="en-US" sz="1400" b="0" i="0" dirty="0">
                <a:effectLst/>
                <a:latin typeface="Roboto" panose="02000000000000000000" pitchFamily="2" charset="0"/>
              </a:rPr>
              <a:t>、</a:t>
            </a:r>
            <a:r>
              <a:rPr lang="en-US" altLang="zh-CN" sz="1400" b="0" i="0" dirty="0">
                <a:effectLst/>
                <a:latin typeface="Roboto" panose="02000000000000000000" pitchFamily="2" charset="0"/>
              </a:rPr>
              <a:t>(0, 1)</a:t>
            </a:r>
            <a:r>
              <a:rPr lang="zh-CN" altLang="en-US" sz="1400" b="0" i="0" dirty="0">
                <a:effectLst/>
                <a:latin typeface="Roboto" panose="02000000000000000000" pitchFamily="2" charset="0"/>
              </a:rPr>
              <a:t>、</a:t>
            </a:r>
            <a:r>
              <a:rPr lang="en-US" altLang="zh-CN" sz="1400" b="0" i="0" dirty="0">
                <a:effectLst/>
                <a:latin typeface="Roboto" panose="02000000000000000000" pitchFamily="2" charset="0"/>
              </a:rPr>
              <a:t>(0.25, 1)</a:t>
            </a:r>
            <a:r>
              <a:rPr lang="zh-CN" altLang="en-US" sz="1400" b="0" i="0" dirty="0">
                <a:effectLst/>
                <a:latin typeface="Roboto" panose="02000000000000000000" pitchFamily="2" charset="0"/>
              </a:rPr>
              <a:t>、</a:t>
            </a:r>
            <a:endParaRPr lang="en-US" altLang="zh-CN" sz="1400" b="0" i="0" dirty="0">
              <a:effectLst/>
              <a:latin typeface="Roboto" panose="02000000000000000000" pitchFamily="2" charset="0"/>
            </a:endParaRPr>
          </a:p>
          <a:p>
            <a:pPr marL="0" marR="0" lvl="0" indent="0" algn="l" defTabSz="914400" rtl="0" eaLnBrk="1" fontAlgn="auto" latinLnBrk="0" hangingPunct="1">
              <a:lnSpc>
                <a:spcPct val="150000"/>
              </a:lnSpc>
              <a:spcBef>
                <a:spcPts val="0"/>
              </a:spcBef>
              <a:spcAft>
                <a:spcPts val="0"/>
              </a:spcAft>
              <a:buClrTx/>
              <a:buSzTx/>
              <a:buFontTx/>
              <a:buNone/>
              <a:defRPr/>
            </a:pPr>
            <a:r>
              <a:rPr lang="en-US" altLang="zh-CN" sz="1400" b="0" i="0" dirty="0">
                <a:effectLst/>
                <a:latin typeface="Roboto" panose="02000000000000000000" pitchFamily="2" charset="0"/>
              </a:rPr>
              <a:t>(0.5, 1)</a:t>
            </a:r>
            <a:r>
              <a:rPr lang="zh-CN" altLang="en-US" sz="1400" b="0" i="0" dirty="0">
                <a:effectLst/>
                <a:latin typeface="Roboto" panose="02000000000000000000" pitchFamily="2" charset="0"/>
              </a:rPr>
              <a:t>、</a:t>
            </a:r>
            <a:r>
              <a:rPr lang="en-US" altLang="zh-CN" sz="1400" b="0" i="0" dirty="0">
                <a:effectLst/>
                <a:latin typeface="Roboto" panose="02000000000000000000" pitchFamily="2" charset="0"/>
              </a:rPr>
              <a:t>(0.75, 1)</a:t>
            </a:r>
            <a:r>
              <a:rPr lang="zh-CN" altLang="en-US" sz="1400" b="0" i="0" dirty="0">
                <a:effectLst/>
                <a:latin typeface="Roboto" panose="02000000000000000000" pitchFamily="2" charset="0"/>
              </a:rPr>
              <a:t>、</a:t>
            </a:r>
            <a:r>
              <a:rPr lang="en-US" altLang="zh-CN" sz="1400" b="0" i="0" dirty="0">
                <a:effectLst/>
                <a:latin typeface="Roboto" panose="02000000000000000000" pitchFamily="2" charset="0"/>
              </a:rPr>
              <a:t>(1, 1)</a:t>
            </a:r>
            <a:endParaRPr lang="en-US" altLang="zh-CN" sz="1400" b="0" i="0" dirty="0">
              <a:effectLst/>
              <a:latin typeface="Alibaba PuHuiTi" pitchFamily="18" charset="-122"/>
              <a:ea typeface="Alibaba PuHuiTi" pitchFamily="18" charset="-122"/>
              <a:cs typeface="Alibaba PuHuiTi" pitchFamily="18" charset="-122"/>
            </a:endParaRPr>
          </a:p>
        </p:txBody>
      </p:sp>
      <p:pic>
        <p:nvPicPr>
          <p:cNvPr id="15" name="图片 14"/>
          <p:cNvPicPr>
            <a:picLocks noChangeAspect="1"/>
          </p:cNvPicPr>
          <p:nvPr/>
        </p:nvPicPr>
        <p:blipFill>
          <a:blip r:embed="rId1"/>
          <a:stretch>
            <a:fillRect/>
          </a:stretch>
        </p:blipFill>
        <p:spPr>
          <a:xfrm>
            <a:off x="8165883" y="3815179"/>
            <a:ext cx="3789243" cy="2142882"/>
          </a:xfrm>
          <a:prstGeom prst="rect">
            <a:avLst/>
          </a:prstGeom>
        </p:spPr>
      </p:pic>
      <p:sp>
        <p:nvSpPr>
          <p:cNvPr id="17" name="文本框 16"/>
          <p:cNvSpPr txBox="1"/>
          <p:nvPr/>
        </p:nvSpPr>
        <p:spPr>
          <a:xfrm>
            <a:off x="8225094" y="3465037"/>
            <a:ext cx="3105256" cy="307777"/>
          </a:xfrm>
          <a:prstGeom prst="rect">
            <a:avLst/>
          </a:prstGeom>
          <a:noFill/>
        </p:spPr>
        <p:txBody>
          <a:bodyPr wrap="square">
            <a:spAutoFit/>
          </a:bodyPr>
          <a:lstStyle/>
          <a:p>
            <a:r>
              <a:rPr lang="zh-CN" altLang="en-US" sz="1400" b="0" i="0" dirty="0">
                <a:effectLst/>
                <a:latin typeface="Alibaba PuHuiTi" pitchFamily="18" charset="-122"/>
                <a:ea typeface="Alibaba PuHuiTi" pitchFamily="18" charset="-122"/>
                <a:cs typeface="Alibaba PuHuiTi" pitchFamily="18" charset="-122"/>
              </a:rPr>
              <a:t>由 </a:t>
            </a:r>
            <a:r>
              <a:rPr lang="en-GB" altLang="zh-CN" sz="1400" b="0" i="0" dirty="0">
                <a:effectLst/>
                <a:latin typeface="Alibaba PuHuiTi" pitchFamily="18" charset="-122"/>
                <a:ea typeface="Alibaba PuHuiTi" pitchFamily="18" charset="-122"/>
                <a:cs typeface="Alibaba PuHuiTi" pitchFamily="18" charset="-122"/>
              </a:rPr>
              <a:t>TPR </a:t>
            </a:r>
            <a:r>
              <a:rPr lang="zh-CN" altLang="en-US" sz="1400" b="0" i="0" dirty="0">
                <a:effectLst/>
                <a:latin typeface="Alibaba PuHuiTi" pitchFamily="18" charset="-122"/>
                <a:ea typeface="Alibaba PuHuiTi" pitchFamily="18" charset="-122"/>
                <a:cs typeface="Alibaba PuHuiTi" pitchFamily="18" charset="-122"/>
              </a:rPr>
              <a:t>和 </a:t>
            </a:r>
            <a:r>
              <a:rPr lang="en-GB" altLang="zh-CN" sz="1400" b="0" i="0" dirty="0">
                <a:effectLst/>
                <a:latin typeface="Alibaba PuHuiTi" pitchFamily="18" charset="-122"/>
                <a:ea typeface="Alibaba PuHuiTi" pitchFamily="18" charset="-122"/>
                <a:cs typeface="Alibaba PuHuiTi" pitchFamily="18" charset="-122"/>
              </a:rPr>
              <a:t>FPR </a:t>
            </a:r>
            <a:r>
              <a:rPr lang="zh-CN" altLang="en-US" sz="1400" b="0" i="0" dirty="0">
                <a:effectLst/>
                <a:latin typeface="Alibaba PuHuiTi" pitchFamily="18" charset="-122"/>
                <a:ea typeface="Alibaba PuHuiTi" pitchFamily="18" charset="-122"/>
                <a:cs typeface="Alibaba PuHuiTi" pitchFamily="18" charset="-122"/>
              </a:rPr>
              <a:t>构成的 </a:t>
            </a:r>
            <a:r>
              <a:rPr lang="en-GB" altLang="zh-CN" sz="1400" b="0" i="0" dirty="0">
                <a:effectLst/>
                <a:latin typeface="Alibaba PuHuiTi" pitchFamily="18" charset="-122"/>
                <a:ea typeface="Alibaba PuHuiTi" pitchFamily="18" charset="-122"/>
                <a:cs typeface="Alibaba PuHuiTi" pitchFamily="18" charset="-122"/>
              </a:rPr>
              <a:t>ROC </a:t>
            </a:r>
            <a:r>
              <a:rPr lang="zh-CN" altLang="en-US" sz="1400" b="0" i="0" dirty="0">
                <a:effectLst/>
                <a:latin typeface="Alibaba PuHuiTi" pitchFamily="18" charset="-122"/>
                <a:ea typeface="Alibaba PuHuiTi" pitchFamily="18" charset="-122"/>
                <a:cs typeface="Alibaba PuHuiTi" pitchFamily="18" charset="-122"/>
              </a:rPr>
              <a:t>图像为</a:t>
            </a:r>
            <a:endParaRPr lang="zh-CN" altLang="en-US" sz="1400" dirty="0">
              <a:latin typeface="Alibaba PuHuiTi" pitchFamily="18" charset="-122"/>
              <a:ea typeface="Alibaba PuHuiTi" pitchFamily="18" charset="-122"/>
              <a:cs typeface="Alibaba PuHuiTi" pitchFamily="18" charset="-122"/>
            </a:endParaRPr>
          </a:p>
        </p:txBody>
      </p:sp>
      <p:sp>
        <p:nvSpPr>
          <p:cNvPr id="2" name="文本框 1"/>
          <p:cNvSpPr txBox="1"/>
          <p:nvPr/>
        </p:nvSpPr>
        <p:spPr>
          <a:xfrm>
            <a:off x="8225094" y="6000426"/>
            <a:ext cx="3620268" cy="523220"/>
          </a:xfrm>
          <a:prstGeom prst="rect">
            <a:avLst/>
          </a:prstGeom>
          <a:noFill/>
        </p:spPr>
        <p:txBody>
          <a:bodyPr wrap="square">
            <a:spAutoFit/>
          </a:bodyPr>
          <a:lstStyle/>
          <a:p>
            <a:r>
              <a:rPr lang="en-GB" altLang="zh-CN" sz="1400" b="0" i="0" dirty="0">
                <a:solidFill>
                  <a:srgbClr val="374151"/>
                </a:solidFill>
                <a:effectLst/>
                <a:latin typeface="Alibaba PuHuiTi" pitchFamily="18" charset="-122"/>
                <a:ea typeface="Alibaba PuHuiTi" pitchFamily="18" charset="-122"/>
                <a:cs typeface="Alibaba PuHuiTi" pitchFamily="18" charset="-122"/>
              </a:rPr>
              <a:t>ROC</a:t>
            </a:r>
            <a:r>
              <a:rPr lang="zh-CN" altLang="en-US" sz="1400" b="0" i="0" dirty="0">
                <a:solidFill>
                  <a:srgbClr val="374151"/>
                </a:solidFill>
                <a:effectLst/>
                <a:latin typeface="Alibaba PuHuiTi" pitchFamily="18" charset="-122"/>
                <a:ea typeface="Alibaba PuHuiTi" pitchFamily="18" charset="-122"/>
                <a:cs typeface="Alibaba PuHuiTi" pitchFamily="18" charset="-122"/>
              </a:rPr>
              <a:t>曲线上的每个点</a:t>
            </a:r>
            <a:endParaRPr lang="en-US" altLang="zh-CN" sz="1400" b="0" i="0" dirty="0">
              <a:solidFill>
                <a:srgbClr val="374151"/>
              </a:solidFill>
              <a:effectLst/>
              <a:latin typeface="Alibaba PuHuiTi" pitchFamily="18" charset="-122"/>
              <a:ea typeface="Alibaba PuHuiTi" pitchFamily="18" charset="-122"/>
              <a:cs typeface="Alibaba PuHuiTi" pitchFamily="18" charset="-122"/>
            </a:endParaRPr>
          </a:p>
          <a:p>
            <a:r>
              <a:rPr lang="zh-CN" altLang="en-US" sz="1400" b="0" i="0" dirty="0">
                <a:solidFill>
                  <a:srgbClr val="374151"/>
                </a:solidFill>
                <a:effectLst/>
                <a:latin typeface="Alibaba PuHuiTi" pitchFamily="18" charset="-122"/>
                <a:ea typeface="Alibaba PuHuiTi" pitchFamily="18" charset="-122"/>
                <a:cs typeface="Alibaba PuHuiTi" pitchFamily="18" charset="-122"/>
              </a:rPr>
              <a:t>代表模型在不同阈值下的性能表现</a:t>
            </a:r>
            <a:endParaRPr lang="zh-CN" altLang="en-US" sz="14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分类评估方法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ROC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曲线、</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AUC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指标</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1" name="文本占位符 2"/>
          <p:cNvSpPr txBox="1"/>
          <p:nvPr/>
        </p:nvSpPr>
        <p:spPr>
          <a:xfrm>
            <a:off x="1030981" y="1357169"/>
            <a:ext cx="410546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en-US" altLang="zh-CN"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AUC</a:t>
            </a:r>
            <a:r>
              <a:rPr kumimoji="0" lang="zh-CN" altLang="en-US"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的计算</a:t>
            </a:r>
            <a:r>
              <a:rPr kumimoji="0" lang="en-GB" altLang="zh-CN" sz="1600" b="1" i="0" u="none" strike="noStrike" kern="1200" cap="none" spc="0" normalizeH="0" baseline="0" noProof="0" dirty="0" err="1">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api</a:t>
            </a:r>
            <a:endParaRPr kumimoji="0" lang="en-GB" altLang="zh-CN"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GB"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4" name="文本框 3"/>
          <p:cNvSpPr txBox="1"/>
          <p:nvPr/>
        </p:nvSpPr>
        <p:spPr>
          <a:xfrm>
            <a:off x="1811705" y="1856747"/>
            <a:ext cx="8568589" cy="796436"/>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GB"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from </a:t>
            </a:r>
            <a:r>
              <a:rPr kumimoji="0" lang="en-GB" altLang="zh-CN" sz="1600"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sklearn.metrics</a:t>
            </a:r>
            <a:r>
              <a:rPr kumimoji="0" lang="en-GB"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 import </a:t>
            </a:r>
            <a:r>
              <a:rPr kumimoji="0" lang="en-GB" altLang="zh-CN" sz="1600"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roc_auc_score</a:t>
            </a:r>
            <a:endParaRPr kumimoji="0" lang="en-GB"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GB" altLang="zh-CN" sz="1600"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sklearn.metrics.roc_auc_score</a:t>
            </a:r>
            <a:r>
              <a:rPr kumimoji="0" lang="en-GB"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t>
            </a:r>
            <a:r>
              <a:rPr kumimoji="0" lang="en-GB" altLang="zh-CN" sz="1600"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y_true</a:t>
            </a:r>
            <a:r>
              <a:rPr kumimoji="0" lang="en-GB"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 </a:t>
            </a:r>
            <a:r>
              <a:rPr kumimoji="0" lang="en-GB" altLang="zh-CN" sz="1600"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y_score</a:t>
            </a:r>
            <a:r>
              <a:rPr kumimoji="0" lang="en-GB"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t>
            </a:r>
            <a:endParaRPr kumimoji="0" lang="en-GB" altLang="zh-CN" sz="16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p:txBody>
      </p:sp>
      <p:sp>
        <p:nvSpPr>
          <p:cNvPr id="8" name="文本框 7"/>
          <p:cNvSpPr txBox="1"/>
          <p:nvPr/>
        </p:nvSpPr>
        <p:spPr>
          <a:xfrm>
            <a:off x="1754555" y="2601779"/>
            <a:ext cx="6784622" cy="1030282"/>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 </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计算</a:t>
            </a:r>
            <a:r>
              <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ROC</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曲线面积，即</a:t>
            </a:r>
            <a:r>
              <a:rPr kumimoji="0" lang="en-GB"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AUC</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值</a:t>
            </a:r>
            <a:endPar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 </a:t>
            </a:r>
            <a:r>
              <a:rPr kumimoji="0" lang="en-GB" altLang="zh-CN" sz="1400"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y_true</a:t>
            </a:r>
            <a:r>
              <a:rPr kumimoji="0" lang="zh-CN" altLang="en-GB"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每个样本的真实类别，必须为</a:t>
            </a:r>
            <a:r>
              <a:rPr kumimoji="0" lang="en-US"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0(</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反例</a:t>
            </a:r>
            <a:r>
              <a:rPr kumimoji="0" lang="en-US"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正例</a:t>
            </a:r>
            <a:r>
              <a:rPr kumimoji="0" lang="en-US" altLang="zh-CN"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标记</a:t>
            </a:r>
            <a:endPar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 </a:t>
            </a:r>
            <a:r>
              <a:rPr kumimoji="0" lang="en-GB" altLang="zh-CN" sz="1400" b="0" i="0" u="none" strike="noStrike" kern="1200" cap="none" spc="0" normalizeH="0" baseline="0" noProof="0" dirty="0" err="1">
                <a:ln>
                  <a:noFill/>
                </a:ln>
                <a:solidFill>
                  <a:prstClr val="black"/>
                </a:solidFill>
                <a:effectLst/>
                <a:uLnTx/>
                <a:uFillTx/>
                <a:latin typeface="Alibaba PuHuiTi" pitchFamily="18" charset="-122"/>
                <a:ea typeface="Alibaba PuHuiTi" pitchFamily="18" charset="-122"/>
                <a:cs typeface="Alibaba PuHuiTi" pitchFamily="18" charset="-122"/>
              </a:rPr>
              <a:t>y_score</a:t>
            </a:r>
            <a:r>
              <a:rPr kumimoji="0" lang="zh-CN" altLang="en-GB"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solidFill>
                <a:effectLst/>
                <a:uLnTx/>
                <a:uFillTx/>
                <a:latin typeface="Alibaba PuHuiTi" pitchFamily="18" charset="-122"/>
                <a:ea typeface="Alibaba PuHuiTi" pitchFamily="18" charset="-122"/>
                <a:cs typeface="Alibaba PuHuiTi" pitchFamily="18" charset="-122"/>
              </a:rPr>
              <a:t>预测得分，可以是正例的估计概率、置信值或者分类器方法的返回值</a:t>
            </a:r>
            <a:endParaRPr kumimoji="0" lang="zh-CN" altLang="en-US" sz="1400" b="0" i="0" u="none" strike="noStrike" kern="1200" cap="none" spc="0" normalizeH="0" baseline="0" noProof="0" dirty="0">
              <a:ln>
                <a:noFill/>
              </a:ln>
              <a:solidFill>
                <a:prstClr val="black"/>
              </a:solidFill>
              <a:effectLst/>
              <a:uLnTx/>
              <a:uFillTx/>
              <a:latin typeface="Roboto" panose="02000000000000000000" pitchFamily="2" charset="0"/>
              <a:ea typeface="黑体" panose="02010609060101010101" pitchFamily="49" charset="-122"/>
              <a:cs typeface="+mn-cs"/>
            </a:endParaRPr>
          </a:p>
        </p:txBody>
      </p:sp>
      <p:sp>
        <p:nvSpPr>
          <p:cNvPr id="2" name="文本占位符 2"/>
          <p:cNvSpPr txBox="1"/>
          <p:nvPr/>
        </p:nvSpPr>
        <p:spPr>
          <a:xfrm>
            <a:off x="1099561" y="3836844"/>
            <a:ext cx="4105463"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分类评估报告</a:t>
            </a:r>
            <a:r>
              <a:rPr kumimoji="0" lang="en-GB" altLang="zh-CN" sz="1600" b="1" i="0" u="none" strike="noStrike" kern="1200" cap="none" spc="0" normalizeH="0" baseline="0" noProof="0" dirty="0" err="1">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api</a:t>
            </a:r>
            <a:endParaRPr kumimoji="0" lang="en-GB" altLang="zh-CN"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endParaRPr kumimoji="0" lang="zh-CN" altLang="en-GB" sz="1600" b="1"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文本框 4"/>
          <p:cNvSpPr txBox="1"/>
          <p:nvPr/>
        </p:nvSpPr>
        <p:spPr>
          <a:xfrm>
            <a:off x="1532991" y="4331887"/>
            <a:ext cx="8568589" cy="338554"/>
          </a:xfrm>
          <a:prstGeom prst="rect">
            <a:avLst/>
          </a:prstGeom>
          <a:noFill/>
        </p:spPr>
        <p:txBody>
          <a:bodyPr wrap="square">
            <a:spAutoFit/>
          </a:bodyPr>
          <a:lstStyle/>
          <a:p>
            <a:r>
              <a:rPr lang="en-GB" altLang="zh-CN" sz="1600" dirty="0" err="1">
                <a:latin typeface="Alibaba PuHuiTi" pitchFamily="18" charset="-122"/>
                <a:ea typeface="Alibaba PuHuiTi" pitchFamily="18" charset="-122"/>
                <a:cs typeface="Alibaba PuHuiTi" pitchFamily="18" charset="-122"/>
              </a:rPr>
              <a:t>sklearn.metrics.classification_report</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labels=[], </a:t>
            </a:r>
            <a:r>
              <a:rPr lang="en-GB" altLang="zh-CN" sz="1600" dirty="0" err="1">
                <a:latin typeface="Alibaba PuHuiTi" pitchFamily="18" charset="-122"/>
                <a:ea typeface="Alibaba PuHuiTi" pitchFamily="18" charset="-122"/>
                <a:cs typeface="Alibaba PuHuiTi" pitchFamily="18" charset="-122"/>
              </a:rPr>
              <a:t>target_names</a:t>
            </a:r>
            <a:r>
              <a:rPr lang="en-GB" altLang="zh-CN" sz="1600" dirty="0">
                <a:latin typeface="Alibaba PuHuiTi" pitchFamily="18" charset="-122"/>
                <a:ea typeface="Alibaba PuHuiTi" pitchFamily="18" charset="-122"/>
                <a:cs typeface="Alibaba PuHuiTi" pitchFamily="18" charset="-122"/>
              </a:rPr>
              <a:t>=None )</a:t>
            </a:r>
            <a:endParaRPr lang="en-GB" altLang="zh-CN" sz="1600" dirty="0">
              <a:latin typeface="Alibaba PuHuiTi" pitchFamily="18" charset="-122"/>
              <a:ea typeface="Alibaba PuHuiTi" pitchFamily="18" charset="-122"/>
              <a:cs typeface="Alibaba PuHuiTi" pitchFamily="18" charset="-122"/>
            </a:endParaRPr>
          </a:p>
        </p:txBody>
      </p:sp>
      <p:sp>
        <p:nvSpPr>
          <p:cNvPr id="6" name="文本框 5"/>
          <p:cNvSpPr txBox="1"/>
          <p:nvPr/>
        </p:nvSpPr>
        <p:spPr>
          <a:xfrm>
            <a:off x="2042271" y="4704034"/>
            <a:ext cx="3680178" cy="1669431"/>
          </a:xfrm>
          <a:prstGeom prst="rect">
            <a:avLst/>
          </a:prstGeom>
          <a:noFill/>
        </p:spPr>
        <p:txBody>
          <a:bodyPr wrap="square">
            <a:spAutoFit/>
          </a:bodyPr>
          <a:lstStyle/>
          <a:p>
            <a:pPr lvl="0">
              <a:lnSpc>
                <a:spcPct val="150000"/>
              </a:lnSpc>
            </a:pPr>
            <a:r>
              <a:rPr lang="en-GB" altLang="zh-CN" sz="1400" dirty="0" err="1">
                <a:latin typeface="Roboto" panose="02000000000000000000" pitchFamily="2" charset="0"/>
              </a:rPr>
              <a:t>y_true</a:t>
            </a:r>
            <a:r>
              <a:rPr lang="zh-CN" altLang="en-GB" sz="1400" dirty="0">
                <a:latin typeface="Roboto" panose="02000000000000000000" pitchFamily="2" charset="0"/>
              </a:rPr>
              <a:t>：</a:t>
            </a:r>
            <a:r>
              <a:rPr lang="zh-CN" altLang="en-US" sz="1400" dirty="0">
                <a:latin typeface="Roboto" panose="02000000000000000000" pitchFamily="2" charset="0"/>
              </a:rPr>
              <a:t>真实目标值</a:t>
            </a:r>
            <a:endParaRPr lang="zh-CN" altLang="en-US" sz="1400" dirty="0">
              <a:latin typeface="Roboto" panose="02000000000000000000" pitchFamily="2" charset="0"/>
            </a:endParaRPr>
          </a:p>
          <a:p>
            <a:pPr lvl="0">
              <a:lnSpc>
                <a:spcPct val="150000"/>
              </a:lnSpc>
            </a:pPr>
            <a:r>
              <a:rPr lang="en-GB" altLang="zh-CN" sz="1400" dirty="0" err="1">
                <a:latin typeface="Roboto" panose="02000000000000000000" pitchFamily="2" charset="0"/>
              </a:rPr>
              <a:t>y_pred</a:t>
            </a:r>
            <a:r>
              <a:rPr lang="zh-CN" altLang="en-GB" sz="1400" dirty="0">
                <a:latin typeface="Roboto" panose="02000000000000000000" pitchFamily="2" charset="0"/>
              </a:rPr>
              <a:t>：</a:t>
            </a:r>
            <a:r>
              <a:rPr lang="zh-CN" altLang="en-US" sz="1400" dirty="0">
                <a:latin typeface="Roboto" panose="02000000000000000000" pitchFamily="2" charset="0"/>
              </a:rPr>
              <a:t>估计器预测目标值</a:t>
            </a:r>
            <a:endParaRPr lang="zh-CN" altLang="en-US" sz="1400" dirty="0">
              <a:latin typeface="Roboto" panose="02000000000000000000" pitchFamily="2" charset="0"/>
            </a:endParaRPr>
          </a:p>
          <a:p>
            <a:pPr lvl="0">
              <a:lnSpc>
                <a:spcPct val="150000"/>
              </a:lnSpc>
            </a:pPr>
            <a:r>
              <a:rPr lang="en-GB" altLang="zh-CN" sz="1400" dirty="0">
                <a:latin typeface="Roboto" panose="02000000000000000000" pitchFamily="2" charset="0"/>
              </a:rPr>
              <a:t>labels:</a:t>
            </a:r>
            <a:r>
              <a:rPr lang="zh-CN" altLang="en-US" sz="1400" dirty="0">
                <a:latin typeface="Roboto" panose="02000000000000000000" pitchFamily="2" charset="0"/>
              </a:rPr>
              <a:t>指定类别对应的数字</a:t>
            </a:r>
            <a:endParaRPr lang="zh-CN" altLang="en-US" sz="1400" dirty="0">
              <a:latin typeface="Roboto" panose="02000000000000000000" pitchFamily="2" charset="0"/>
            </a:endParaRPr>
          </a:p>
          <a:p>
            <a:pPr lvl="0">
              <a:lnSpc>
                <a:spcPct val="150000"/>
              </a:lnSpc>
            </a:pPr>
            <a:r>
              <a:rPr lang="en-GB" altLang="zh-CN" sz="1400" dirty="0" err="1">
                <a:latin typeface="Roboto" panose="02000000000000000000" pitchFamily="2" charset="0"/>
              </a:rPr>
              <a:t>target_names</a:t>
            </a:r>
            <a:r>
              <a:rPr lang="zh-CN" altLang="en-GB" sz="1400" dirty="0">
                <a:latin typeface="Roboto" panose="02000000000000000000" pitchFamily="2" charset="0"/>
              </a:rPr>
              <a:t>：</a:t>
            </a:r>
            <a:r>
              <a:rPr lang="zh-CN" altLang="en-US" sz="1400" dirty="0">
                <a:latin typeface="Roboto" panose="02000000000000000000" pitchFamily="2" charset="0"/>
              </a:rPr>
              <a:t>目标类别名称</a:t>
            </a:r>
            <a:endParaRPr lang="zh-CN" altLang="en-US" sz="1400" dirty="0">
              <a:latin typeface="Roboto" panose="02000000000000000000" pitchFamily="2" charset="0"/>
            </a:endParaRPr>
          </a:p>
          <a:p>
            <a:pPr lvl="0">
              <a:lnSpc>
                <a:spcPct val="150000"/>
              </a:lnSpc>
            </a:pPr>
            <a:r>
              <a:rPr lang="en-GB" altLang="zh-CN" sz="1400" dirty="0">
                <a:latin typeface="Roboto" panose="02000000000000000000" pitchFamily="2" charset="0"/>
              </a:rPr>
              <a:t>return</a:t>
            </a:r>
            <a:r>
              <a:rPr lang="zh-CN" altLang="en-GB" sz="1400" dirty="0">
                <a:latin typeface="Roboto" panose="02000000000000000000" pitchFamily="2" charset="0"/>
              </a:rPr>
              <a:t>：</a:t>
            </a:r>
            <a:r>
              <a:rPr lang="zh-CN" altLang="en-US" sz="1400" dirty="0">
                <a:latin typeface="Roboto" panose="02000000000000000000" pitchFamily="2" charset="0"/>
              </a:rPr>
              <a:t>每个类别精确率与召回率</a:t>
            </a:r>
            <a:endParaRPr lang="zh-CN" altLang="en-US" sz="1400" dirty="0">
              <a:latin typeface="Roboto" panose="02000000000000000000" pitchFamily="2"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p:cNvSpPr txBox="1"/>
          <p:nvPr/>
        </p:nvSpPr>
        <p:spPr>
          <a:xfrm>
            <a:off x="173117" y="209410"/>
            <a:ext cx="4269059" cy="610724"/>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2" name="文本框 1"/>
          <p:cNvSpPr txBox="1"/>
          <p:nvPr/>
        </p:nvSpPr>
        <p:spPr>
          <a:xfrm>
            <a:off x="4178222" y="1845605"/>
            <a:ext cx="55923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1</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ROC</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曲线</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3" name="TextBox 6"/>
          <p:cNvSpPr txBox="1"/>
          <p:nvPr/>
        </p:nvSpPr>
        <p:spPr>
          <a:xfrm>
            <a:off x="4828540" y="2249170"/>
            <a:ext cx="4994910" cy="829945"/>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nSpc>
                <a:spcPct val="150000"/>
              </a:lnSpc>
              <a:buFont typeface="Arial" panose="020B0604020202020204" pitchFamily="34" charset="0"/>
              <a:buNone/>
              <a:defRPr/>
            </a:pP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ROC</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曲线以模型的</a:t>
            </a:r>
            <a:r>
              <a:rPr lang="zh-CN" altLang="en-US" sz="1600" dirty="0">
                <a:solidFill>
                  <a:schemeClr val="accent2">
                    <a:lumMod val="75000"/>
                  </a:schemeClr>
                </a:solidFill>
                <a:latin typeface="Alibaba PuHuiTi" pitchFamily="18" charset="-122"/>
                <a:ea typeface="Alibaba PuHuiTi" pitchFamily="18" charset="-122"/>
                <a:cs typeface="Alibaba PuHuiTi" pitchFamily="18" charset="-122"/>
              </a:rPr>
              <a:t>真正率</a:t>
            </a:r>
            <a:r>
              <a:rPr lang="en-US" altLang="zh-CN" sz="1600" dirty="0">
                <a:solidFill>
                  <a:schemeClr val="accent2">
                    <a:lumMod val="75000"/>
                  </a:schemeClr>
                </a:solidFill>
                <a:latin typeface="Alibaba PuHuiTi" pitchFamily="18" charset="-122"/>
                <a:ea typeface="Alibaba PuHuiTi" pitchFamily="18" charset="-122"/>
                <a:cs typeface="Alibaba PuHuiTi" pitchFamily="18" charset="-122"/>
              </a:rPr>
              <a:t>TPR</a:t>
            </a:r>
            <a:r>
              <a:rPr lang="zh-CN" altLang="en-US" sz="1600" dirty="0">
                <a:solidFill>
                  <a:schemeClr val="accent2">
                    <a:lumMod val="75000"/>
                  </a:schemeClr>
                </a:solidFill>
                <a:latin typeface="Alibaba PuHuiTi" pitchFamily="18" charset="-122"/>
                <a:ea typeface="Alibaba PuHuiTi" pitchFamily="18" charset="-122"/>
                <a:cs typeface="Alibaba PuHuiTi" pitchFamily="18" charset="-122"/>
              </a:rPr>
              <a:t>、假正率</a:t>
            </a:r>
            <a:r>
              <a:rPr lang="en-US" altLang="zh-CN" sz="1600" dirty="0">
                <a:solidFill>
                  <a:schemeClr val="accent2">
                    <a:lumMod val="75000"/>
                  </a:schemeClr>
                </a:solidFill>
                <a:latin typeface="Alibaba PuHuiTi" pitchFamily="18" charset="-122"/>
                <a:ea typeface="Alibaba PuHuiTi" pitchFamily="18" charset="-122"/>
                <a:cs typeface="Alibaba PuHuiTi" pitchFamily="18" charset="-122"/>
              </a:rPr>
              <a:t>FPR</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为</a:t>
            </a: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y/x</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轴，它将模型在不同阈值下的表现以曲线的形式展现出来。</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文本框 4"/>
          <p:cNvSpPr txBox="1"/>
          <p:nvPr/>
        </p:nvSpPr>
        <p:spPr>
          <a:xfrm>
            <a:off x="4178222" y="3298385"/>
            <a:ext cx="6750119" cy="369332"/>
          </a:xfrm>
          <a:prstGeom prst="rect">
            <a:avLst/>
          </a:prstGeom>
          <a:noFill/>
        </p:spPr>
        <p:txBody>
          <a:bodyPr wrap="square" rtlCol="0">
            <a:spAutoFit/>
          </a:bodyPr>
          <a:lstStyle/>
          <a:p>
            <a:pPr>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2</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 </a:t>
            </a: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AUC</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指标</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8" name="TextBox 6"/>
          <p:cNvSpPr txBox="1"/>
          <p:nvPr/>
        </p:nvSpPr>
        <p:spPr>
          <a:xfrm>
            <a:off x="4828853" y="3866120"/>
            <a:ext cx="7030211" cy="1198880"/>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nSpc>
                <a:spcPct val="150000"/>
              </a:lnSpc>
              <a:buFont typeface="Arial" panose="020B0604020202020204" pitchFamily="34" charset="0"/>
              <a:buNone/>
              <a:defRPr/>
            </a:pPr>
            <a:r>
              <a:rPr lang="en-US" altLang="zh-CN" sz="1600" dirty="0">
                <a:solidFill>
                  <a:schemeClr val="accent2">
                    <a:lumMod val="75000"/>
                  </a:schemeClr>
                </a:solidFill>
                <a:latin typeface="Alibaba PuHuiTi" pitchFamily="18" charset="-122"/>
                <a:ea typeface="Alibaba PuHuiTi" pitchFamily="18" charset="-122"/>
                <a:cs typeface="Alibaba PuHuiTi" pitchFamily="18" charset="-122"/>
              </a:rPr>
              <a:t>AUC</a:t>
            </a:r>
            <a:r>
              <a:rPr lang="zh-CN" altLang="en-US" sz="1600" dirty="0">
                <a:solidFill>
                  <a:schemeClr val="accent2">
                    <a:lumMod val="75000"/>
                  </a:schemeClr>
                </a:solidFill>
                <a:latin typeface="Alibaba PuHuiTi" pitchFamily="18" charset="-122"/>
                <a:ea typeface="Alibaba PuHuiTi" pitchFamily="18" charset="-122"/>
                <a:cs typeface="Alibaba PuHuiTi" pitchFamily="18" charset="-122"/>
              </a:rPr>
              <a:t>越大表示分类器性能越好</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indent="-285750">
              <a:lnSpc>
                <a:spcPct val="150000"/>
              </a:lnSpc>
              <a:buFont typeface="Arial" panose="020B0604020202020204" pitchFamily="34" charset="0"/>
              <a:buChar char="•"/>
              <a:defRPr/>
            </a:pP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当</a:t>
            </a: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AUC=0.5</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时，表示分类器的性能等同于随机猜测</a:t>
            </a:r>
            <a:endPar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endParaRPr>
          </a:p>
          <a:p>
            <a:pPr indent="-285750">
              <a:lnSpc>
                <a:spcPct val="150000"/>
              </a:lnSpc>
              <a:buFont typeface="Arial" panose="020B0604020202020204" pitchFamily="34" charset="0"/>
              <a:buChar char="•"/>
              <a:defRPr/>
            </a:pPr>
            <a:r>
              <a:rPr lang="zh-CN" altLang="en-GB" sz="1600" dirty="0">
                <a:solidFill>
                  <a:schemeClr val="tx1">
                    <a:lumMod val="85000"/>
                    <a:lumOff val="15000"/>
                  </a:schemeClr>
                </a:solidFill>
                <a:latin typeface="Alibaba PuHuiTi" pitchFamily="18" charset="-122"/>
                <a:ea typeface="Alibaba PuHuiTi" pitchFamily="18" charset="-122"/>
                <a:cs typeface="Alibaba PuHuiTi" pitchFamily="18" charset="-122"/>
              </a:rPr>
              <a:t>当</a:t>
            </a:r>
            <a:r>
              <a:rPr lang="en-GB" altLang="zh-CN" sz="1600" dirty="0">
                <a:solidFill>
                  <a:schemeClr val="accent2">
                    <a:lumMod val="75000"/>
                  </a:schemeClr>
                </a:solidFill>
                <a:latin typeface="Alibaba PuHuiTi" pitchFamily="18" charset="-122"/>
                <a:ea typeface="Alibaba PuHuiTi" pitchFamily="18" charset="-122"/>
                <a:cs typeface="Alibaba PuHuiTi" pitchFamily="18" charset="-122"/>
              </a:rPr>
              <a:t>AUC=1</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时，表示分类器的性能完美，能够完全正确地将正负例分类</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1640" y="1779662"/>
            <a:ext cx="5280781" cy="352917"/>
          </a:xfrm>
          <a:prstGeom prst="rect">
            <a:avLst/>
          </a:prstGeom>
        </p:spPr>
        <p:txBody>
          <a:bodyPr wrap="square">
            <a:spAutoFit/>
          </a:bodyPr>
          <a:lstStyle/>
          <a:p>
            <a:pPr>
              <a:lnSpc>
                <a:spcPct val="130000"/>
              </a:lnSpc>
            </a:pPr>
            <a:r>
              <a:rPr lang="en-US" altLang="zh-CN" sz="1400" dirty="0">
                <a:solidFill>
                  <a:schemeClr val="tx1"/>
                </a:solidFill>
                <a:latin typeface="Alibaba PuHuiTi" pitchFamily="18" charset="-122"/>
                <a:ea typeface="Alibaba PuHuiTi" pitchFamily="18" charset="-122"/>
                <a:cs typeface="Alibaba PuHuiTi" pitchFamily="18" charset="-122"/>
              </a:rPr>
              <a:t>1</a:t>
            </a:r>
            <a:r>
              <a:rPr lang="zh-CN" altLang="en-US" sz="1400" dirty="0">
                <a:solidFill>
                  <a:schemeClr val="tx1"/>
                </a:solidFill>
                <a:latin typeface="Alibaba PuHuiTi" pitchFamily="18" charset="-122"/>
                <a:ea typeface="Alibaba PuHuiTi" pitchFamily="18" charset="-122"/>
                <a:cs typeface="Alibaba PuHuiTi" pitchFamily="18" charset="-122"/>
              </a:rPr>
              <a:t>、下列关于逻辑回归模型的评估说法正确的是？（</a:t>
            </a:r>
            <a:r>
              <a:rPr lang="zh-CN" altLang="en-US" sz="1400" b="1" dirty="0">
                <a:solidFill>
                  <a:schemeClr val="tx1"/>
                </a:solidFill>
                <a:latin typeface="Alibaba PuHuiTi" pitchFamily="18" charset="-122"/>
                <a:ea typeface="Alibaba PuHuiTi" pitchFamily="18" charset="-122"/>
                <a:cs typeface="Alibaba PuHuiTi" pitchFamily="18" charset="-122"/>
              </a:rPr>
              <a:t>多选</a:t>
            </a:r>
            <a:r>
              <a:rPr lang="zh-CN" altLang="en-US" sz="1400" dirty="0">
                <a:solidFill>
                  <a:schemeClr val="tx1"/>
                </a:solidFill>
                <a:latin typeface="Alibaba PuHuiTi" pitchFamily="18" charset="-122"/>
                <a:ea typeface="Alibaba PuHuiTi" pitchFamily="18" charset="-122"/>
                <a:cs typeface="Alibaba PuHuiTi" pitchFamily="18" charset="-122"/>
              </a:rPr>
              <a:t>）</a:t>
            </a:r>
            <a:endParaRPr lang="zh-CN" altLang="en-US" sz="1400" dirty="0">
              <a:solidFill>
                <a:schemeClr val="tx1"/>
              </a:solidFill>
              <a:latin typeface="Alibaba PuHuiTi" pitchFamily="18" charset="-122"/>
              <a:ea typeface="Alibaba PuHuiTi" pitchFamily="18" charset="-122"/>
              <a:cs typeface="Alibaba PuHuiTi" pitchFamily="18" charset="-122"/>
            </a:endParaRPr>
          </a:p>
        </p:txBody>
      </p:sp>
      <p:sp>
        <p:nvSpPr>
          <p:cNvPr id="3" name="矩形 2"/>
          <p:cNvSpPr/>
          <p:nvPr/>
        </p:nvSpPr>
        <p:spPr>
          <a:xfrm>
            <a:off x="1943708" y="2243155"/>
            <a:ext cx="5256584" cy="2033377"/>
          </a:xfrm>
          <a:prstGeom prst="rect">
            <a:avLst/>
          </a:prstGeom>
        </p:spPr>
        <p:txBody>
          <a:bodyPr wrap="square">
            <a:spAutoFit/>
          </a:bodyPr>
          <a:lstStyle/>
          <a:p>
            <a:pPr>
              <a:lnSpc>
                <a:spcPct val="130000"/>
              </a:lnSpc>
            </a:pPr>
            <a:r>
              <a:rPr lang="en-US" altLang="zh-CN" sz="1400" b="1" dirty="0">
                <a:latin typeface="Alibaba PuHuiTi" pitchFamily="18" charset="-122"/>
                <a:ea typeface="Alibaba PuHuiTi" pitchFamily="18" charset="-122"/>
                <a:cs typeface="Alibaba PuHuiTi" pitchFamily="18" charset="-122"/>
              </a:rPr>
              <a:t>A</a:t>
            </a:r>
            <a:r>
              <a:rPr lang="zh-CN" altLang="en-US" sz="1400" b="1"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我们在评估逻辑回归模型时只需要选择一种评估方法即可</a:t>
            </a:r>
            <a:endParaRPr lang="en-US" altLang="zh-CN" sz="1400" dirty="0">
              <a:latin typeface="Alibaba PuHuiTi" pitchFamily="18" charset="-122"/>
              <a:ea typeface="Alibaba PuHuiTi" pitchFamily="18" charset="-122"/>
              <a:cs typeface="Alibaba PuHuiTi" pitchFamily="18" charset="-122"/>
            </a:endParaRPr>
          </a:p>
          <a:p>
            <a:pPr>
              <a:lnSpc>
                <a:spcPct val="130000"/>
              </a:lnSpc>
            </a:pPr>
            <a:endParaRPr lang="en-US" altLang="zh-CN" sz="1400" dirty="0">
              <a:latin typeface="Alibaba PuHuiTi" pitchFamily="18" charset="-122"/>
              <a:ea typeface="Alibaba PuHuiTi" pitchFamily="18" charset="-122"/>
              <a:cs typeface="Alibaba PuHuiTi" pitchFamily="18" charset="-122"/>
            </a:endParaRPr>
          </a:p>
          <a:p>
            <a:pPr>
              <a:lnSpc>
                <a:spcPct val="130000"/>
              </a:lnSpc>
            </a:pPr>
            <a:r>
              <a:rPr lang="en-US" altLang="zh-CN" sz="1400" b="1" dirty="0">
                <a:latin typeface="Alibaba PuHuiTi" pitchFamily="18" charset="-122"/>
                <a:ea typeface="Alibaba PuHuiTi" pitchFamily="18" charset="-122"/>
                <a:cs typeface="Alibaba PuHuiTi" pitchFamily="18" charset="-122"/>
              </a:rPr>
              <a:t>B</a:t>
            </a:r>
            <a:r>
              <a:rPr lang="zh-CN" altLang="en-US" sz="1400" b="1"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混淆矩阵能够帮助我们快速计算出其它分类模型指标</a:t>
            </a:r>
            <a:endParaRPr lang="en-US" altLang="zh-CN" sz="1400" dirty="0">
              <a:latin typeface="Alibaba PuHuiTi" pitchFamily="18" charset="-122"/>
              <a:ea typeface="Alibaba PuHuiTi" pitchFamily="18" charset="-122"/>
              <a:cs typeface="Alibaba PuHuiTi" pitchFamily="18" charset="-122"/>
            </a:endParaRPr>
          </a:p>
          <a:p>
            <a:pPr>
              <a:lnSpc>
                <a:spcPct val="130000"/>
              </a:lnSpc>
            </a:pPr>
            <a:endParaRPr lang="en-US" altLang="zh-CN" sz="1400" dirty="0">
              <a:latin typeface="Alibaba PuHuiTi" pitchFamily="18" charset="-122"/>
              <a:ea typeface="Alibaba PuHuiTi" pitchFamily="18" charset="-122"/>
              <a:cs typeface="Alibaba PuHuiTi" pitchFamily="18" charset="-122"/>
            </a:endParaRPr>
          </a:p>
          <a:p>
            <a:pPr>
              <a:lnSpc>
                <a:spcPct val="130000"/>
              </a:lnSpc>
            </a:pPr>
            <a:r>
              <a:rPr lang="en-US" altLang="zh-CN" sz="1400" b="1" dirty="0">
                <a:latin typeface="Alibaba PuHuiTi" pitchFamily="18" charset="-122"/>
                <a:ea typeface="Alibaba PuHuiTi" pitchFamily="18" charset="-122"/>
                <a:cs typeface="Alibaba PuHuiTi" pitchFamily="18" charset="-122"/>
              </a:rPr>
              <a:t>C</a:t>
            </a:r>
            <a:r>
              <a:rPr lang="zh-CN" altLang="en-US" sz="1400" b="1"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召回率和精确率表达的是同样的概念</a:t>
            </a:r>
            <a:endParaRPr lang="en-US" altLang="zh-CN" sz="1400" dirty="0">
              <a:latin typeface="Alibaba PuHuiTi" pitchFamily="18" charset="-122"/>
              <a:ea typeface="Alibaba PuHuiTi" pitchFamily="18" charset="-122"/>
              <a:cs typeface="Alibaba PuHuiTi" pitchFamily="18" charset="-122"/>
            </a:endParaRPr>
          </a:p>
          <a:p>
            <a:pPr>
              <a:lnSpc>
                <a:spcPct val="130000"/>
              </a:lnSpc>
            </a:pPr>
            <a:endParaRPr lang="en-US" altLang="zh-CN" sz="1400" dirty="0">
              <a:latin typeface="Alibaba PuHuiTi" pitchFamily="18" charset="-122"/>
              <a:ea typeface="Alibaba PuHuiTi" pitchFamily="18" charset="-122"/>
              <a:cs typeface="Alibaba PuHuiTi" pitchFamily="18" charset="-122"/>
            </a:endParaRPr>
          </a:p>
          <a:p>
            <a:pPr>
              <a:lnSpc>
                <a:spcPct val="130000"/>
              </a:lnSpc>
            </a:pPr>
            <a:r>
              <a:rPr lang="en-US" altLang="zh-CN" sz="1400" b="1" dirty="0">
                <a:latin typeface="Alibaba PuHuiTi" pitchFamily="18" charset="-122"/>
                <a:ea typeface="Alibaba PuHuiTi" pitchFamily="18" charset="-122"/>
                <a:cs typeface="Alibaba PuHuiTi" pitchFamily="18" charset="-122"/>
              </a:rPr>
              <a:t>D</a:t>
            </a:r>
            <a:r>
              <a:rPr lang="zh-CN" altLang="en-US" sz="1400" b="1" dirty="0">
                <a:latin typeface="Alibaba PuHuiTi" pitchFamily="18" charset="-122"/>
                <a:ea typeface="Alibaba PuHuiTi" pitchFamily="18" charset="-122"/>
                <a:cs typeface="Alibaba PuHuiTi" pitchFamily="18" charset="-122"/>
              </a:rPr>
              <a:t>）</a:t>
            </a:r>
            <a:r>
              <a:rPr lang="en-US" altLang="zh-CN" sz="1400" dirty="0">
                <a:latin typeface="Alibaba PuHuiTi" pitchFamily="18" charset="-122"/>
                <a:ea typeface="Alibaba PuHuiTi" pitchFamily="18" charset="-122"/>
                <a:cs typeface="Alibaba PuHuiTi" pitchFamily="18" charset="-122"/>
              </a:rPr>
              <a:t>ROC</a:t>
            </a:r>
            <a:r>
              <a:rPr lang="zh-CN" altLang="en-US" sz="1400" dirty="0">
                <a:latin typeface="Alibaba PuHuiTi" pitchFamily="18" charset="-122"/>
                <a:ea typeface="Alibaba PuHuiTi" pitchFamily="18" charset="-122"/>
                <a:cs typeface="Alibaba PuHuiTi" pitchFamily="18" charset="-122"/>
              </a:rPr>
              <a:t>曲线下与坐标轴形成的闭合区域的面积即为</a:t>
            </a:r>
            <a:r>
              <a:rPr lang="en-US" altLang="zh-CN" sz="1400" dirty="0">
                <a:latin typeface="Alibaba PuHuiTi" pitchFamily="18" charset="-122"/>
                <a:ea typeface="Alibaba PuHuiTi" pitchFamily="18" charset="-122"/>
                <a:cs typeface="Alibaba PuHuiTi" pitchFamily="18" charset="-122"/>
              </a:rPr>
              <a:t>AUC</a:t>
            </a:r>
            <a:r>
              <a:rPr lang="zh-CN" altLang="en-US" sz="1400" dirty="0">
                <a:latin typeface="Alibaba PuHuiTi" pitchFamily="18" charset="-122"/>
                <a:ea typeface="Alibaba PuHuiTi" pitchFamily="18" charset="-122"/>
                <a:cs typeface="Alibaba PuHuiTi" pitchFamily="18" charset="-122"/>
              </a:rPr>
              <a:t>指标的值</a:t>
            </a:r>
            <a:endParaRPr lang="zh-CN" altLang="en-US" sz="1400" dirty="0">
              <a:latin typeface="Alibaba PuHuiTi" pitchFamily="18" charset="-122"/>
              <a:ea typeface="Alibaba PuHuiTi" pitchFamily="18" charset="-122"/>
              <a:cs typeface="Alibaba PuHuiTi" pitchFamily="18" charset="-122"/>
            </a:endParaRPr>
          </a:p>
        </p:txBody>
      </p:sp>
      <p:sp>
        <p:nvSpPr>
          <p:cNvPr id="9" name="文本框 8"/>
          <p:cNvSpPr txBox="1"/>
          <p:nvPr/>
        </p:nvSpPr>
        <p:spPr>
          <a:xfrm>
            <a:off x="2047403" y="5071979"/>
            <a:ext cx="1181734" cy="276999"/>
          </a:xfrm>
          <a:prstGeom prst="rect">
            <a:avLst/>
          </a:prstGeom>
          <a:noFill/>
        </p:spPr>
        <p:txBody>
          <a:bodyPr wrap="none" rtlCol="0">
            <a:spAutoFit/>
          </a:bodyPr>
          <a:lstStyle/>
          <a:p>
            <a:pPr fontAlgn="auto">
              <a:spcBef>
                <a:spcPts val="0"/>
              </a:spcBef>
              <a:spcAft>
                <a:spcPts val="0"/>
              </a:spcAft>
            </a:pPr>
            <a:r>
              <a:rPr lang="zh-CN" altLang="en-US" sz="1200" b="1" dirty="0">
                <a:solidFill>
                  <a:schemeClr val="accent2">
                    <a:lumMod val="75000"/>
                  </a:schemeClr>
                </a:solidFill>
                <a:latin typeface="微软雅黑" panose="020B0503020204020204" pitchFamily="34" charset="-122"/>
                <a:ea typeface="微软雅黑" panose="020B0503020204020204" pitchFamily="34" charset="-122"/>
              </a:rPr>
              <a:t>答案解析：</a:t>
            </a:r>
            <a:r>
              <a:rPr lang="en-US" altLang="zh-CN" sz="1200" b="1" dirty="0">
                <a:solidFill>
                  <a:schemeClr val="accent2">
                    <a:lumMod val="75000"/>
                  </a:schemeClr>
                </a:solidFill>
                <a:latin typeface="微软雅黑" panose="020B0503020204020204" pitchFamily="34" charset="-122"/>
                <a:ea typeface="微软雅黑" panose="020B0503020204020204" pitchFamily="34" charset="-122"/>
              </a:rPr>
              <a:t>BD</a:t>
            </a:r>
            <a:endParaRPr lang="en-US" altLang="zh-CN" sz="1200" b="1" dirty="0">
              <a:solidFill>
                <a:schemeClr val="accent2">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98904" y="897959"/>
            <a:ext cx="5280781" cy="352917"/>
          </a:xfrm>
          <a:prstGeom prst="rect">
            <a:avLst/>
          </a:prstGeom>
        </p:spPr>
        <p:txBody>
          <a:bodyPr wrap="square">
            <a:spAutoFit/>
          </a:bodyPr>
          <a:lstStyle/>
          <a:p>
            <a:pPr>
              <a:lnSpc>
                <a:spcPct val="13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以下哪个描述最准确地解释了</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AUC</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指标的含义？</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3" name="矩形 2"/>
          <p:cNvSpPr/>
          <p:nvPr/>
        </p:nvSpPr>
        <p:spPr>
          <a:xfrm>
            <a:off x="2198905" y="1250876"/>
            <a:ext cx="5191710" cy="1348126"/>
          </a:xfrm>
          <a:prstGeom prst="rect">
            <a:avLst/>
          </a:prstGeom>
        </p:spPr>
        <p:txBody>
          <a:bodyPr wrap="square">
            <a:spAutoFit/>
          </a:bodyPr>
          <a:lstStyle/>
          <a:p>
            <a:pPr algn="l">
              <a:lnSpc>
                <a:spcPct val="150000"/>
              </a:lnSpc>
            </a:pP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A. AUC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是</a:t>
            </a: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ROC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曲线下方的面积，用于比较分类器的性能。 </a:t>
            </a:r>
            <a:endParaRPr lang="en-US"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algn="l">
              <a:lnSpc>
                <a:spcPct val="150000"/>
              </a:lnSpc>
            </a:pP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B. AUC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是</a:t>
            </a: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ROC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曲线上某一点的斜率，表示分类器的灵敏度。</a:t>
            </a:r>
            <a:endParaRPr lang="en-US"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algn="l">
              <a:lnSpc>
                <a:spcPct val="150000"/>
              </a:lnSpc>
            </a:pP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C. AUC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是</a:t>
            </a: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ROC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曲线上的最大误分类率，用于评估分类器的错误率。 </a:t>
            </a:r>
            <a:endParaRPr lang="en-US"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algn="l">
              <a:lnSpc>
                <a:spcPct val="150000"/>
              </a:lnSpc>
            </a:pP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D. AUC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是</a:t>
            </a: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ROC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曲线上的阈值，用于选择最佳分类器。</a:t>
            </a:r>
            <a:endPar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p:txBody>
      </p:sp>
      <p:sp>
        <p:nvSpPr>
          <p:cNvPr id="9" name="文本框 8"/>
          <p:cNvSpPr txBox="1"/>
          <p:nvPr/>
        </p:nvSpPr>
        <p:spPr>
          <a:xfrm>
            <a:off x="7679641" y="1983442"/>
            <a:ext cx="1037463" cy="307777"/>
          </a:xfrm>
          <a:prstGeom prst="rect">
            <a:avLst/>
          </a:prstGeom>
          <a:noFill/>
        </p:spPr>
        <p:txBody>
          <a:bodyPr wrap="none" rtlCol="0">
            <a:spAutoFit/>
          </a:bodyPr>
          <a:lstStyle/>
          <a:p>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答案：</a:t>
            </a:r>
            <a:r>
              <a:rPr lang="en-US" altLang="zh-CN" sz="1400" b="1" dirty="0">
                <a:solidFill>
                  <a:schemeClr val="accent2">
                    <a:lumMod val="75000"/>
                  </a:schemeClr>
                </a:solidFill>
                <a:latin typeface="微软雅黑" panose="020B0503020204020204" pitchFamily="34" charset="-122"/>
                <a:ea typeface="微软雅黑" panose="020B0503020204020204" pitchFamily="34" charset="-122"/>
              </a:rPr>
              <a:t>A</a:t>
            </a:r>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a:t>
            </a:r>
            <a:endParaRPr lang="zh-CN" altLang="en-US" sz="1400" b="1"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0" name="矩形 9"/>
          <p:cNvSpPr/>
          <p:nvPr/>
        </p:nvSpPr>
        <p:spPr>
          <a:xfrm>
            <a:off x="2115634" y="2929570"/>
            <a:ext cx="4181471" cy="348557"/>
          </a:xfrm>
          <a:prstGeom prst="rect">
            <a:avLst/>
          </a:prstGeom>
        </p:spPr>
        <p:txBody>
          <a:bodyPr wrap="square">
            <a:spAutoFit/>
          </a:bodyPr>
          <a:lstStyle/>
          <a:p>
            <a:pPr>
              <a:lnSpc>
                <a:spcPct val="13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2</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zh-CN" altLang="en-US" sz="1400" b="0" i="0" dirty="0">
                <a:solidFill>
                  <a:srgbClr val="374151"/>
                </a:solidFill>
                <a:effectLst/>
                <a:latin typeface="Söhne"/>
              </a:rPr>
              <a:t>下面哪个选项最能说明</a:t>
            </a:r>
            <a:r>
              <a:rPr lang="en-GB" altLang="zh-CN" sz="1400" b="0" i="0" dirty="0">
                <a:solidFill>
                  <a:srgbClr val="374151"/>
                </a:solidFill>
                <a:effectLst/>
                <a:latin typeface="Söhne"/>
              </a:rPr>
              <a:t>ROC</a:t>
            </a:r>
            <a:r>
              <a:rPr lang="zh-CN" altLang="en-US" sz="1400" b="0" i="0" dirty="0">
                <a:solidFill>
                  <a:srgbClr val="374151"/>
                </a:solidFill>
                <a:effectLst/>
                <a:latin typeface="Söhne"/>
              </a:rPr>
              <a:t>曲线的作用？</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1" name="矩形 10"/>
          <p:cNvSpPr/>
          <p:nvPr/>
        </p:nvSpPr>
        <p:spPr>
          <a:xfrm>
            <a:off x="2115635" y="3282487"/>
            <a:ext cx="4268356" cy="1354730"/>
          </a:xfrm>
          <a:prstGeom prst="rect">
            <a:avLst/>
          </a:prstGeom>
        </p:spPr>
        <p:txBody>
          <a:bodyPr wrap="square">
            <a:spAutoFit/>
          </a:bodyPr>
          <a:lstStyle/>
          <a:p>
            <a:pPr>
              <a:lnSpc>
                <a:spcPct val="150000"/>
              </a:lnSpc>
            </a:pP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A</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 </a:t>
            </a: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ROC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曲线用于描述模型的参数。 </a:t>
            </a:r>
            <a:endParaRPr lang="en-US"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a:lnSpc>
                <a:spcPct val="150000"/>
              </a:lnSpc>
            </a:pP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B ROC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曲线用于可视化模型的损失函数。 </a:t>
            </a:r>
            <a:endParaRPr lang="en-US"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a:lnSpc>
                <a:spcPct val="150000"/>
              </a:lnSpc>
            </a:pP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C ROC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曲线用于评估二元分类模型的性能。 </a:t>
            </a:r>
            <a:endParaRPr lang="en-US"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a:lnSpc>
                <a:spcPct val="150000"/>
              </a:lnSpc>
            </a:pPr>
            <a:r>
              <a:rPr lang="en-GB" altLang="zh-CN"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D ROC</a:t>
            </a:r>
            <a:r>
              <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曲线用于选择最佳的回归模型。</a:t>
            </a:r>
            <a:endParaRPr lang="zh-CN" altLang="en-US" sz="14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p:txBody>
      </p:sp>
      <p:sp>
        <p:nvSpPr>
          <p:cNvPr id="13" name="文本框 12"/>
          <p:cNvSpPr txBox="1"/>
          <p:nvPr/>
        </p:nvSpPr>
        <p:spPr>
          <a:xfrm>
            <a:off x="7679641" y="4456233"/>
            <a:ext cx="1023037" cy="307777"/>
          </a:xfrm>
          <a:prstGeom prst="rect">
            <a:avLst/>
          </a:prstGeom>
          <a:noFill/>
        </p:spPr>
        <p:txBody>
          <a:bodyPr wrap="none" rtlCol="0">
            <a:spAutoFit/>
          </a:bodyPr>
          <a:lstStyle/>
          <a:p>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答案：</a:t>
            </a:r>
            <a:r>
              <a:rPr lang="en-US" altLang="zh-CN" sz="1400" b="1" dirty="0">
                <a:solidFill>
                  <a:schemeClr val="accent2">
                    <a:lumMod val="75000"/>
                  </a:schemeClr>
                </a:solidFill>
                <a:latin typeface="微软雅黑" panose="020B0503020204020204" pitchFamily="34" charset="-122"/>
                <a:ea typeface="微软雅黑" panose="020B0503020204020204" pitchFamily="34" charset="-122"/>
              </a:rPr>
              <a:t>C</a:t>
            </a:r>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a:t>
            </a:r>
            <a:endParaRPr lang="zh-CN" altLang="en-US" sz="1400" b="1" dirty="0">
              <a:solidFill>
                <a:schemeClr val="accent2">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ppt_x"/>
                                          </p:val>
                                        </p:tav>
                                        <p:tav tm="100000">
                                          <p:val>
                                            <p:strVal val="#ppt_x"/>
                                          </p:val>
                                        </p:tav>
                                      </p:tavLst>
                                    </p:anim>
                                    <p:anim calcmode="lin" valueType="num">
                                      <p:cBhvr additive="base">
                                        <p:cTn id="23" dur="500" fill="hold"/>
                                        <p:tgtEl>
                                          <p:spTgt spid="10"/>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randombar(horizontal)">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 grpId="0"/>
      <p:bldP spid="10" grpId="0"/>
      <p:bldP spid="11" grpId="0"/>
      <p:bldP spid="1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0"/>
          </p:nvPr>
        </p:nvSpPr>
        <p:spPr>
          <a:xfrm>
            <a:off x="4516566" y="1429419"/>
            <a:ext cx="7228417" cy="3999161"/>
          </a:xfrm>
        </p:spPr>
        <p:txBody>
          <a:bodyPr anchor="t"/>
          <a:lstStyle/>
          <a:p>
            <a:r>
              <a:rPr lang="zh-CN" altLang="en-US" dirty="0">
                <a:solidFill>
                  <a:schemeClr val="tx1"/>
                </a:solidFill>
                <a:latin typeface="Alibaba PuHuiTi" pitchFamily="18" charset="-122"/>
                <a:ea typeface="Alibaba PuHuiTi" pitchFamily="18" charset="-122"/>
                <a:cs typeface="Alibaba PuHuiTi" pitchFamily="18" charset="-122"/>
              </a:rPr>
              <a:t>逻辑回归简介</a:t>
            </a:r>
            <a:endParaRPr lang="en-US" altLang="zh-CN" dirty="0">
              <a:solidFill>
                <a:schemeClr val="tx1"/>
              </a:solidFill>
              <a:latin typeface="Alibaba PuHuiTi" pitchFamily="18" charset="-122"/>
              <a:ea typeface="Alibaba PuHuiTi" pitchFamily="18" charset="-122"/>
              <a:cs typeface="Alibaba PuHuiTi" pitchFamily="18" charset="-122"/>
            </a:endParaRPr>
          </a:p>
          <a:p>
            <a:pPr lvl="1"/>
            <a:r>
              <a:rPr lang="zh-CN" altLang="en-US" b="0" dirty="0">
                <a:latin typeface="Alibaba PuHuiTi" pitchFamily="18" charset="-122"/>
                <a:ea typeface="Alibaba PuHuiTi" pitchFamily="18" charset="-122"/>
                <a:cs typeface="Alibaba PuHuiTi" pitchFamily="18" charset="-122"/>
              </a:rPr>
              <a:t>应用场景，数学知识</a:t>
            </a:r>
            <a:endParaRPr lang="en-US" altLang="zh-CN" b="0" dirty="0">
              <a:latin typeface="Alibaba PuHuiTi" pitchFamily="18" charset="-122"/>
              <a:ea typeface="Alibaba PuHuiTi" pitchFamily="18" charset="-122"/>
              <a:cs typeface="Alibaba PuHuiTi" pitchFamily="18" charset="-122"/>
            </a:endParaRPr>
          </a:p>
          <a:p>
            <a:r>
              <a:rPr lang="zh-CN" altLang="en-US" dirty="0">
                <a:solidFill>
                  <a:schemeClr val="tx1"/>
                </a:solidFill>
                <a:latin typeface="Alibaba PuHuiTi" pitchFamily="18" charset="-122"/>
                <a:ea typeface="Alibaba PuHuiTi" pitchFamily="18" charset="-122"/>
                <a:cs typeface="Alibaba PuHuiTi" pitchFamily="18" charset="-122"/>
              </a:rPr>
              <a:t>逻辑回归原理</a:t>
            </a:r>
            <a:endParaRPr kumimoji="1" lang="en-US" altLang="zh-CN" sz="1600" b="0" dirty="0">
              <a:solidFill>
                <a:schemeClr val="tx1"/>
              </a:solidFill>
              <a:latin typeface="Alibaba PuHuiTi" pitchFamily="18" charset="-122"/>
              <a:ea typeface="Alibaba PuHuiTi" pitchFamily="18" charset="-122"/>
              <a:cs typeface="Alibaba PuHuiTi" pitchFamily="18" charset="-122"/>
            </a:endParaRPr>
          </a:p>
          <a:p>
            <a:r>
              <a:rPr kumimoji="1" lang="zh-CN" altLang="en-US" dirty="0">
                <a:solidFill>
                  <a:schemeClr val="tx1"/>
                </a:solidFill>
                <a:latin typeface="Alibaba PuHuiTi" pitchFamily="18" charset="-122"/>
                <a:ea typeface="Alibaba PuHuiTi" pitchFamily="18" charset="-122"/>
                <a:cs typeface="Alibaba PuHuiTi" pitchFamily="18" charset="-122"/>
              </a:rPr>
              <a:t>逻辑回归</a:t>
            </a:r>
            <a:r>
              <a:rPr kumimoji="1" lang="en-US" altLang="zh-CN" dirty="0">
                <a:solidFill>
                  <a:schemeClr val="tx1"/>
                </a:solidFill>
                <a:latin typeface="Alibaba PuHuiTi" pitchFamily="18" charset="-122"/>
                <a:ea typeface="Alibaba PuHuiTi" pitchFamily="18" charset="-122"/>
                <a:cs typeface="Alibaba PuHuiTi" pitchFamily="18" charset="-122"/>
              </a:rPr>
              <a:t>API</a:t>
            </a:r>
            <a:r>
              <a:rPr kumimoji="1" lang="zh-CN" altLang="en-US" dirty="0">
                <a:solidFill>
                  <a:schemeClr val="tx1"/>
                </a:solidFill>
                <a:latin typeface="Alibaba PuHuiTi" pitchFamily="18" charset="-122"/>
                <a:ea typeface="Alibaba PuHuiTi" pitchFamily="18" charset="-122"/>
                <a:cs typeface="Alibaba PuHuiTi" pitchFamily="18" charset="-122"/>
              </a:rPr>
              <a:t>函数和案例 </a:t>
            </a:r>
            <a:endParaRPr kumimoji="1" lang="en-US" altLang="zh-CN" sz="1600" b="0" dirty="0">
              <a:solidFill>
                <a:schemeClr val="tx1"/>
              </a:solidFill>
              <a:latin typeface="Alibaba PuHuiTi" pitchFamily="18" charset="-122"/>
              <a:ea typeface="Alibaba PuHuiTi" pitchFamily="18" charset="-122"/>
              <a:cs typeface="Alibaba PuHuiTi" pitchFamily="18" charset="-122"/>
            </a:endParaRPr>
          </a:p>
          <a:p>
            <a:r>
              <a:rPr kumimoji="1" lang="zh-CN" altLang="en-US" dirty="0">
                <a:solidFill>
                  <a:schemeClr val="tx1"/>
                </a:solidFill>
                <a:latin typeface="Alibaba PuHuiTi" pitchFamily="18" charset="-122"/>
                <a:ea typeface="Alibaba PuHuiTi" pitchFamily="18" charset="-122"/>
                <a:cs typeface="Alibaba PuHuiTi" pitchFamily="18" charset="-122"/>
              </a:rPr>
              <a:t>分类问题评估</a:t>
            </a:r>
            <a:endParaRPr kumimoji="1" lang="en-US" altLang="zh-CN" dirty="0">
              <a:solidFill>
                <a:schemeClr val="tx1"/>
              </a:solidFill>
              <a:latin typeface="Alibaba PuHuiTi" pitchFamily="18" charset="-122"/>
              <a:ea typeface="Alibaba PuHuiTi" pitchFamily="18" charset="-122"/>
              <a:cs typeface="Alibaba PuHuiTi" pitchFamily="18" charset="-122"/>
            </a:endParaRPr>
          </a:p>
          <a:p>
            <a:pPr lvl="1"/>
            <a:r>
              <a:rPr lang="zh-CN" altLang="en-US" sz="1600" b="0" dirty="0">
                <a:latin typeface="Alibaba PuHuiTi" pitchFamily="18" charset="-122"/>
                <a:ea typeface="Alibaba PuHuiTi" pitchFamily="18" charset="-122"/>
                <a:cs typeface="Alibaba PuHuiTi" pitchFamily="18" charset="-122"/>
              </a:rPr>
              <a:t>混淆矩阵、精确率、召回率、</a:t>
            </a:r>
            <a:r>
              <a:rPr lang="en-US" altLang="zh-CN" sz="1600" b="0" dirty="0">
                <a:latin typeface="Alibaba PuHuiTi" pitchFamily="18" charset="-122"/>
                <a:ea typeface="Alibaba PuHuiTi" pitchFamily="18" charset="-122"/>
                <a:cs typeface="Alibaba PuHuiTi" pitchFamily="18" charset="-122"/>
              </a:rPr>
              <a:t>F1-score</a:t>
            </a:r>
            <a:r>
              <a:rPr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en-US" altLang="zh-CN" sz="1600" b="0" dirty="0">
                <a:latin typeface="Alibaba PuHuiTi" pitchFamily="18" charset="-122"/>
                <a:ea typeface="Alibaba PuHuiTi" pitchFamily="18" charset="-122"/>
                <a:cs typeface="Alibaba PuHuiTi" pitchFamily="18" charset="-122"/>
              </a:rPr>
              <a:t>AUC</a:t>
            </a:r>
            <a:r>
              <a:rPr kumimoji="1" lang="zh-CN" altLang="en-US" sz="1600" b="0" dirty="0">
                <a:latin typeface="Alibaba PuHuiTi" pitchFamily="18" charset="-122"/>
                <a:ea typeface="Alibaba PuHuiTi" pitchFamily="18" charset="-122"/>
                <a:cs typeface="Alibaba PuHuiTi" pitchFamily="18" charset="-122"/>
              </a:rPr>
              <a:t>指标、</a:t>
            </a:r>
            <a:r>
              <a:rPr kumimoji="1" lang="en-US" altLang="zh-CN" sz="1600" b="0" dirty="0">
                <a:latin typeface="Alibaba PuHuiTi" pitchFamily="18" charset="-122"/>
                <a:ea typeface="Alibaba PuHuiTi" pitchFamily="18" charset="-122"/>
                <a:cs typeface="Alibaba PuHuiTi" pitchFamily="18" charset="-122"/>
              </a:rPr>
              <a:t>ROC</a:t>
            </a:r>
            <a:r>
              <a:rPr kumimoji="1" lang="zh-CN" altLang="en-US" sz="1600" b="0" dirty="0">
                <a:latin typeface="Alibaba PuHuiTi" pitchFamily="18" charset="-122"/>
                <a:ea typeface="Alibaba PuHuiTi" pitchFamily="18" charset="-122"/>
                <a:cs typeface="Alibaba PuHuiTi" pitchFamily="18" charset="-122"/>
              </a:rPr>
              <a:t>曲线 </a:t>
            </a:r>
            <a:endParaRPr lang="en-US" altLang="zh-CN" sz="1600" b="0" dirty="0">
              <a:latin typeface="Alibaba PuHuiTi" pitchFamily="18" charset="-122"/>
              <a:ea typeface="Alibaba PuHuiTi" pitchFamily="18" charset="-122"/>
              <a:cs typeface="Alibaba PuHuiTi" pitchFamily="18" charset="-122"/>
            </a:endParaRPr>
          </a:p>
          <a:p>
            <a:r>
              <a:rPr lang="zh-CN" altLang="en-US" dirty="0">
                <a:solidFill>
                  <a:srgbClr val="C00000"/>
                </a:solidFill>
                <a:latin typeface="Alibaba PuHuiTi" pitchFamily="18" charset="-122"/>
                <a:ea typeface="Alibaba PuHuiTi" pitchFamily="18" charset="-122"/>
                <a:cs typeface="Alibaba PuHuiTi" pitchFamily="18" charset="-122"/>
              </a:rPr>
              <a:t>电信客户流失预测案例</a:t>
            </a:r>
            <a:endParaRPr lang="en-US" altLang="zh-CN" dirty="0">
              <a:solidFill>
                <a:srgbClr val="C00000"/>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996168" y="570921"/>
            <a:ext cx="6298881" cy="4855845"/>
          </a:xfrm>
        </p:spPr>
        <p:txBody>
          <a:bodyPr/>
          <a:lstStyle/>
          <a:p>
            <a:pPr algn="l"/>
            <a:r>
              <a:rPr lang="zh-CN" altLang="en-US" b="0" i="0" u="none" strike="noStrike" dirty="0">
                <a:solidFill>
                  <a:srgbClr val="333333"/>
                </a:solidFill>
                <a:effectLst/>
                <a:latin typeface="Open Sans" panose="020B0606030504020204" pitchFamily="34" charset="0"/>
              </a:rPr>
              <a:t>了解案例的背景信息</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知道案例的处理流程</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动手实现电信客户流失案例的代码</a:t>
            </a:r>
            <a:endParaRPr lang="zh-CN" altLang="en-US" b="0" i="0" u="none" strike="noStrike" dirty="0">
              <a:solidFill>
                <a:srgbClr val="333333"/>
              </a:solidFill>
              <a:effectLst/>
              <a:latin typeface="Open Sans" panose="020B0606030504020204" pitchFamily="34" charset="0"/>
            </a:endParaRPr>
          </a:p>
          <a:p>
            <a:endParaRPr lang="en-US" altLang="zh-CN"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电信客户流失预测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221659" y="1332437"/>
            <a:ext cx="622136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案例需求</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2" name="文本框 1"/>
          <p:cNvSpPr txBox="1"/>
          <p:nvPr/>
        </p:nvSpPr>
        <p:spPr>
          <a:xfrm>
            <a:off x="2033971" y="1725140"/>
            <a:ext cx="8720588" cy="1027204"/>
          </a:xfrm>
          <a:prstGeom prst="rect">
            <a:avLst/>
          </a:prstGeom>
          <a:noFill/>
        </p:spPr>
        <p:txBody>
          <a:bodyPr wrap="square">
            <a:spAutoFit/>
          </a:bodyPr>
          <a:lstStyle/>
          <a:p>
            <a:pPr marL="285750" indent="-285750">
              <a:lnSpc>
                <a:spcPct val="150000"/>
              </a:lnSpc>
              <a:buFont typeface="Arial" panose="020B0604020202020204" pitchFamily="34" charset="0"/>
              <a:buChar char="•"/>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已知：用户个人，通话，上网等信息数据</a:t>
            </a:r>
            <a:endPar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需求：</a:t>
            </a:r>
            <a:r>
              <a:rPr lang="zh-CN" altLang="en-US" sz="1400" b="0" i="0" u="none" strike="noStrike" dirty="0">
                <a:solidFill>
                  <a:srgbClr val="333333"/>
                </a:solidFill>
                <a:effectLst/>
                <a:latin typeface="Open Sans" panose="020B0606030504020204" pitchFamily="34" charset="0"/>
              </a:rPr>
              <a:t>通过分析特征属性确定用户流失的原因，以及哪些因素可能导致用户流失。建立预测模型来判断用户是否流失，并提出用户流失预警策略。</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8" name="文本占位符 2"/>
          <p:cNvSpPr txBox="1"/>
          <p:nvPr/>
        </p:nvSpPr>
        <p:spPr>
          <a:xfrm>
            <a:off x="1160301" y="3230736"/>
            <a:ext cx="622136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Open Sans" panose="020B0606030504020204" pitchFamily="34" charset="0"/>
                <a:ea typeface="阿里巴巴普惠体" panose="00020600040101010101" pitchFamily="18" charset="-122"/>
                <a:cs typeface="阿里巴巴普惠体" panose="00020600040101010101" pitchFamily="18" charset="-122"/>
              </a:rPr>
              <a:t>数据集介绍</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4982092" y="2821882"/>
            <a:ext cx="4377179" cy="376882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电信客户流失预测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221659" y="1332437"/>
            <a:ext cx="622136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数据集介绍</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3386636" y="3761508"/>
            <a:ext cx="4681600" cy="2916069"/>
          </a:xfrm>
          <a:prstGeom prst="rect">
            <a:avLst/>
          </a:prstGeom>
        </p:spPr>
      </p:pic>
      <p:pic>
        <p:nvPicPr>
          <p:cNvPr id="7" name="图片 6"/>
          <p:cNvPicPr>
            <a:picLocks noChangeAspect="1"/>
          </p:cNvPicPr>
          <p:nvPr/>
        </p:nvPicPr>
        <p:blipFill>
          <a:blip r:embed="rId2"/>
          <a:stretch>
            <a:fillRect/>
          </a:stretch>
        </p:blipFill>
        <p:spPr>
          <a:xfrm>
            <a:off x="743182" y="1410975"/>
            <a:ext cx="8763405" cy="2007508"/>
          </a:xfrm>
          <a:prstGeom prst="rect">
            <a:avLst/>
          </a:prstGeom>
        </p:spPr>
      </p:pic>
      <p:pic>
        <p:nvPicPr>
          <p:cNvPr id="8" name="图片 7"/>
          <p:cNvPicPr>
            <a:picLocks noChangeAspect="1"/>
          </p:cNvPicPr>
          <p:nvPr/>
        </p:nvPicPr>
        <p:blipFill>
          <a:blip r:embed="rId3"/>
          <a:stretch>
            <a:fillRect/>
          </a:stretch>
        </p:blipFill>
        <p:spPr>
          <a:xfrm>
            <a:off x="6239435" y="1410975"/>
            <a:ext cx="5594056" cy="215703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电信客户流失预测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221659" y="1332437"/>
            <a:ext cx="6221360"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案例步骤分析</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2" name="文本框 1"/>
          <p:cNvSpPr txBox="1"/>
          <p:nvPr/>
        </p:nvSpPr>
        <p:spPr>
          <a:xfrm>
            <a:off x="2033971" y="1725140"/>
            <a:ext cx="8720588" cy="4939030"/>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1</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、数据基本处理</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主要是查看数据行</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列数量</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对类别数据数据进行</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one-hot</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处理</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查看标签分布情况</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2</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、特征筛选</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分析哪些特征对标签值影响大</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对标签进行分组统计，对比</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0/1</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标签分组后的均值等</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初步筛选出对标签影响比较大的特征，形成</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x</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y</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3</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、模型训练</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样本均衡情况下模型训练</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样本不平衡情况下模型训练</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交叉验证网格搜索等方式模型训练</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4</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、模型评估</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精确率</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Roc_AUC</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指标计算</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DIAGRAM_VIRTUALLY_FRAME" val="{&quot;height&quot;:217.1813385826772,&quot;left&quot;:113.2,&quot;top&quot;:318.50346456692915,&quot;width&quot;:790.1959842519685}"/>
</p:tagLst>
</file>

<file path=ppt/tags/tag2.xml><?xml version="1.0" encoding="utf-8"?>
<p:tagLst xmlns:p="http://schemas.openxmlformats.org/presentationml/2006/main">
  <p:tag name="KSO_WM_DIAGRAM_VIRTUALLY_FRAME" val="{&quot;height&quot;:217.1813385826772,&quot;left&quot;:113.2,&quot;top&quot;:318.50346456692915,&quot;width&quot;:790.1959842519685}"/>
</p:tagLst>
</file>

<file path=ppt/tags/tag3.xml><?xml version="1.0" encoding="utf-8"?>
<p:tagLst xmlns:p="http://schemas.openxmlformats.org/presentationml/2006/main">
  <p:tag name="KSO_WM_DIAGRAM_VIRTUALLY_FRAME" val="{&quot;height&quot;:217.1813385826772,&quot;left&quot;:113.2,&quot;top&quot;:318.50346456692915,&quot;width&quot;:790.1959842519685}"/>
</p:tagLst>
</file>

<file path=ppt/tags/tag4.xml><?xml version="1.0" encoding="utf-8"?>
<p:tagLst xmlns:p="http://schemas.openxmlformats.org/presentationml/2006/main">
  <p:tag name="KSO_WM_DIAGRAM_VIRTUALLY_FRAME" val="{&quot;height&quot;:217.1813385826772,&quot;left&quot;:113.2,&quot;top&quot;:318.50346456692915,&quot;width&quot;:790.1959842519685}"/>
</p:tagLst>
</file>

<file path=ppt/tags/tag5.xml><?xml version="1.0" encoding="utf-8"?>
<p:tagLst xmlns:p="http://schemas.openxmlformats.org/presentationml/2006/main">
  <p:tag name="KSO_WM_DIAGRAM_VIRTUALLY_FRAME" val="{&quot;height&quot;:217.1813385826772,&quot;left&quot;:113.2,&quot;top&quot;:318.50346456692915,&quot;width&quot;:790.1959842519685}"/>
</p:tagLst>
</file>

<file path=ppt/tags/tag6.xml><?xml version="1.0" encoding="utf-8"?>
<p:tagLst xmlns:p="http://schemas.openxmlformats.org/presentationml/2006/main">
  <p:tag name="KSO_WM_DIAGRAM_VIRTUALLY_FRAME" val="{&quot;height&quot;:216.19543307086616,&quot;left&quot;:113.2,&quot;top&quot;:318.50346456692915,&quot;width&quot;:790.1959842519685}"/>
</p:tagLst>
</file>

<file path=ppt/tags/tag7.xml><?xml version="1.0" encoding="utf-8"?>
<p:tagLst xmlns:p="http://schemas.openxmlformats.org/presentationml/2006/main">
  <p:tag name="KSO_WM_DIAGRAM_VIRTUALLY_FRAME" val="{&quot;height&quot;:216.19543307086616,&quot;left&quot;:113.2,&quot;top&quot;:318.50346456692915,&quot;width&quot;:790.1959842519685}"/>
</p:tagLst>
</file>

<file path=ppt/tags/tag8.xml><?xml version="1.0" encoding="utf-8"?>
<p:tagLst xmlns:p="http://schemas.openxmlformats.org/presentationml/2006/main">
  <p:tag name="KSO_WM_DIAGRAM_VIRTUALLY_FRAME" val="{&quot;height&quot;:216.19543307086616,&quot;left&quot;:113.2,&quot;top&quot;:318.50346456692915,&quot;width&quot;:790.1959842519685}"/>
</p:tagLst>
</file>

<file path=ppt/tags/tag9.xml><?xml version="1.0" encoding="utf-8"?>
<p:tagLst xmlns:p="http://schemas.openxmlformats.org/presentationml/2006/main">
  <p:tag name="KSO_WM_DIAGRAM_VIRTUALLY_FRAME" val="{&quot;height&quot;:216.19543307086616,&quot;left&quot;:113.2,&quot;top&quot;:318.50346456692915,&quot;width&quot;:790.1959842519685}"/>
</p:tagLst>
</file>

<file path=ppt/tags/tag10.xml><?xml version="1.0" encoding="utf-8"?>
<p:tagLst xmlns:p="http://schemas.openxmlformats.org/presentationml/2006/main">
  <p:tag name="KSO_WM_DIAGRAM_VIRTUALLY_FRAME" val="{&quot;height&quot;:216.19543307086616,&quot;left&quot;:113.2,&quot;top&quot;:318.50346456692915,&quot;width&quot;:790.1959842519685}"/>
</p:tagLst>
</file>

<file path=ppt/tags/tag11.xml><?xml version="1.0" encoding="utf-8"?>
<p:tagLst xmlns:p="http://schemas.openxmlformats.org/presentationml/2006/main">
  <p:tag name="KSO_WM_DIAGRAM_VIRTUALLY_FRAME" val="{&quot;height&quot;:129.13236220472444,&quot;left&quot;:328.99362204724406,&quot;top&quot;:252.2486614173228,&quot;width&quot;:596.8062992125984}"/>
</p:tagLst>
</file>

<file path=ppt/tags/tag12.xml><?xml version="1.0" encoding="utf-8"?>
<p:tagLst xmlns:p="http://schemas.openxmlformats.org/presentationml/2006/main">
  <p:tag name="KSO_WM_DIAGRAM_VIRTUALLY_FRAME" val="{&quot;height&quot;:129.13236220472444,&quot;left&quot;:328.99362204724406,&quot;top&quot;:252.2486614173228,&quot;width&quot;:596.8062992125984}"/>
</p:tagLst>
</file>

<file path=ppt/tags/tag13.xml><?xml version="1.0" encoding="utf-8"?>
<p:tagLst xmlns:p="http://schemas.openxmlformats.org/presentationml/2006/main">
  <p:tag name="KSO_WM_DIAGRAM_VIRTUALLY_FRAME" val="{&quot;height&quot;:129.13236220472444,&quot;left&quot;:328.99362204724406,&quot;top&quot;:252.2486614173228,&quot;width&quot;:596.8062992125984}"/>
</p:tagLst>
</file>

<file path=ppt/tags/tag14.xml><?xml version="1.0" encoding="utf-8"?>
<p:tagLst xmlns:p="http://schemas.openxmlformats.org/presentationml/2006/main">
  <p:tag name="KSO_WM_DIAGRAM_VIRTUALLY_FRAME" val="{&quot;height&quot;:129.13236220472444,&quot;left&quot;:328.99362204724406,&quot;top&quot;:252.2486614173228,&quot;width&quot;:596.8062992125984}"/>
</p:tagLst>
</file>

<file path=ppt/tags/tag15.xml><?xml version="1.0" encoding="utf-8"?>
<p:tagLst xmlns:p="http://schemas.openxmlformats.org/presentationml/2006/main">
  <p:tag name="KSO_WM_DIAGRAM_VIRTUALLY_FRAME" val="{&quot;height&quot;:129.13236220472444,&quot;left&quot;:328.99362204724406,&quot;top&quot;:252.2486614173228,&quot;width&quot;:596.8062992125984}"/>
</p:tagLst>
</file>

<file path=ppt/tags/tag16.xml><?xml version="1.0" encoding="utf-8"?>
<p:tagLst xmlns:p="http://schemas.openxmlformats.org/presentationml/2006/main">
  <p:tag name="KSO_WM_DIAGRAM_VIRTUALLY_FRAME" val="{&quot;height&quot;:129.13236220472444,&quot;left&quot;:328.99362204724406,&quot;top&quot;:252.2486614173228,&quot;width&quot;:596.8062992125984}"/>
</p:tagLst>
</file>

<file path=ppt/tags/tag17.xml><?xml version="1.0" encoding="utf-8"?>
<p:tagLst xmlns:p="http://schemas.openxmlformats.org/presentationml/2006/main">
  <p:tag name="commondata" val="eyJoZGlkIjoiZDQyYmI2YWIwMGE0NjZkZjEwMWNhNGQwYzZmYTJjZTAifQ=="/>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12943</Words>
  <Application>WPS 演示</Application>
  <PresentationFormat>宽屏</PresentationFormat>
  <Paragraphs>688</Paragraphs>
  <Slides>56</Slides>
  <Notes>34</Notes>
  <HiddenSlides>0</HiddenSlides>
  <MMClips>0</MMClips>
  <ScaleCrop>false</ScaleCrop>
  <HeadingPairs>
    <vt:vector size="8" baseType="variant">
      <vt:variant>
        <vt:lpstr>已用的字体</vt:lpstr>
      </vt:variant>
      <vt:variant>
        <vt:i4>27</vt:i4>
      </vt:variant>
      <vt:variant>
        <vt:lpstr>主题</vt:lpstr>
      </vt:variant>
      <vt:variant>
        <vt:i4>7</vt:i4>
      </vt:variant>
      <vt:variant>
        <vt:lpstr>嵌入 OLE 服务器</vt:lpstr>
      </vt:variant>
      <vt:variant>
        <vt:i4>6</vt:i4>
      </vt:variant>
      <vt:variant>
        <vt:lpstr>幻灯片标题</vt:lpstr>
      </vt:variant>
      <vt:variant>
        <vt:i4>56</vt:i4>
      </vt:variant>
    </vt:vector>
  </HeadingPairs>
  <TitlesOfParts>
    <vt:vector size="96" baseType="lpstr">
      <vt:lpstr>Arial</vt:lpstr>
      <vt:lpstr>宋体</vt:lpstr>
      <vt:lpstr>Wingdings</vt:lpstr>
      <vt:lpstr>Calibri</vt:lpstr>
      <vt:lpstr>黑体</vt:lpstr>
      <vt:lpstr>Alibaba PuHuiTi B</vt:lpstr>
      <vt:lpstr>Alibaba PuHuiTi R</vt:lpstr>
      <vt:lpstr>Segoe UI</vt:lpstr>
      <vt:lpstr>微软雅黑</vt:lpstr>
      <vt:lpstr>Verdana</vt:lpstr>
      <vt:lpstr>阿里巴巴普惠体</vt:lpstr>
      <vt:lpstr>华文楷体</vt:lpstr>
      <vt:lpstr>Alibaba PuHuiTi</vt:lpstr>
      <vt:lpstr>Alibaba PuHuiTi Medium</vt:lpstr>
      <vt:lpstr>Alibaba PuHuiTi M</vt:lpstr>
      <vt:lpstr>Segoe UI Light</vt:lpstr>
      <vt:lpstr>微软雅黑 Light</vt:lpstr>
      <vt:lpstr>Open Sans</vt:lpstr>
      <vt:lpstr>等线</vt:lpstr>
      <vt:lpstr>Roboto</vt:lpstr>
      <vt:lpstr>Cambria Math</vt:lpstr>
      <vt:lpstr>Times New Roman</vt:lpstr>
      <vt:lpstr>Calibri</vt:lpstr>
      <vt:lpstr>Arial Unicode MS</vt:lpstr>
      <vt:lpstr>Söhne</vt:lpstr>
      <vt:lpstr>BatangChe</vt:lpstr>
      <vt:lpstr>Segoe Print</vt:lpstr>
      <vt:lpstr>封面2</vt:lpstr>
      <vt:lpstr>目录</vt:lpstr>
      <vt:lpstr>学习目标</vt:lpstr>
      <vt:lpstr>章节页版式（一级+二级标题）</vt:lpstr>
      <vt:lpstr>章节页版式（一级标题）</vt:lpstr>
      <vt:lpstr>正文设计方案</vt:lpstr>
      <vt:lpstr>5_结束页设计方案</vt:lpstr>
      <vt:lpstr>Equation.3</vt:lpstr>
      <vt:lpstr>Equation.3</vt:lpstr>
      <vt:lpstr>Equation.3</vt:lpstr>
      <vt:lpstr>Equation.3</vt:lpstr>
      <vt:lpstr>Equation.3</vt:lpstr>
      <vt:lpstr>Equation.3</vt:lpstr>
      <vt:lpstr>逻辑回归</vt:lpstr>
      <vt:lpstr>PowerPoint 演示文稿</vt:lpstr>
      <vt:lpstr>PowerPoint 演示文稿</vt:lpstr>
      <vt:lpstr> 逻辑回归的应用场景</vt:lpstr>
      <vt:lpstr> 逻辑回归数学基础 – sigmoid函数</vt:lpstr>
      <vt:lpstr> 逻辑回归数学基础 – 概率</vt:lpstr>
      <vt:lpstr> 逻辑回归数学基础 – 极大似然估计</vt:lpstr>
      <vt:lpstr> 逻辑回归数学基础 – 对数函数</vt:lpstr>
      <vt:lpstr>PowerPoint 演示文稿</vt:lpstr>
      <vt:lpstr>PowerPoint 演示文稿</vt:lpstr>
      <vt:lpstr>PowerPoint 演示文稿</vt:lpstr>
      <vt:lpstr> 逻辑回归原理 – 概念</vt:lpstr>
      <vt:lpstr> 逻辑回归原理 – 概念</vt:lpstr>
      <vt:lpstr> 逻辑回归原理 - 交叉熵损失函数</vt:lpstr>
      <vt:lpstr> 逻辑回归原理 - 似然函数</vt:lpstr>
      <vt:lpstr> 逻辑回归原理 - 交叉熵和似然函数关系</vt:lpstr>
      <vt:lpstr>PowerPoint 演示文稿</vt:lpstr>
      <vt:lpstr>PowerPoint 演示文稿</vt:lpstr>
      <vt:lpstr>PowerPoint 演示文稿</vt:lpstr>
      <vt:lpstr>PowerPoint 演示文稿</vt:lpstr>
      <vt:lpstr> 逻辑回归API函数和案例  – API介绍</vt:lpstr>
      <vt:lpstr> 逻辑回归API函数和案例  – 案例癌症分类预测</vt:lpstr>
      <vt:lpstr>PowerPoint 演示文稿</vt:lpstr>
      <vt:lpstr> 逻辑回归API函数和案例  – 癌症分类预测</vt:lpstr>
      <vt:lpstr>PowerPoint 演示文稿</vt:lpstr>
      <vt:lpstr>PowerPoint 演示文稿</vt:lpstr>
      <vt:lpstr>PowerPoint 演示文稿</vt:lpstr>
      <vt:lpstr>PowerPoint 演示文稿</vt:lpstr>
      <vt:lpstr> 分类评估方法 – 混淆矩阵</vt:lpstr>
      <vt:lpstr> 分类评估方法 – 混淆矩阵</vt:lpstr>
      <vt:lpstr> 分类评估方法 – 混淆矩阵</vt:lpstr>
      <vt:lpstr> 分类评估方法 – 精确率、召回率、F1</vt:lpstr>
      <vt:lpstr> 分类评估方法 – 精确率、召回率、F1</vt:lpstr>
      <vt:lpstr> 分类评估方法 – 精确率、召回率、F1</vt:lpstr>
      <vt:lpstr> 分类评估方法 – 精确率、召回率、F1</vt:lpstr>
      <vt:lpstr> 分类评估方法 – 精确率、召回率、F1</vt:lpstr>
      <vt:lpstr> 分类评估方法 – 精确率、召回率、F1</vt:lpstr>
      <vt:lpstr>PowerPoint 演示文稿</vt:lpstr>
      <vt:lpstr>PowerPoint 演示文稿</vt:lpstr>
      <vt:lpstr>PowerPoint 演示文稿</vt:lpstr>
      <vt:lpstr>PowerPoint 演示文稿</vt:lpstr>
      <vt:lpstr>PowerPoint 演示文稿</vt:lpstr>
      <vt:lpstr> 分类评估方法 –ROC曲线、AUC指标</vt:lpstr>
      <vt:lpstr> 分类评估方法 – ROC曲线、AUC指标</vt:lpstr>
      <vt:lpstr> 分类评估方法 – ROC曲线、AUC指标</vt:lpstr>
      <vt:lpstr> 分类评估方法 – ROC曲线、AUC指标</vt:lpstr>
      <vt:lpstr> 分类评估方法 – ROC曲线、AUC指标</vt:lpstr>
      <vt:lpstr>PowerPoint 演示文稿</vt:lpstr>
      <vt:lpstr>PowerPoint 演示文稿</vt:lpstr>
      <vt:lpstr>PowerPoint 演示文稿</vt:lpstr>
      <vt:lpstr>PowerPoint 演示文稿</vt:lpstr>
      <vt:lpstr>PowerPoint 演示文稿</vt:lpstr>
      <vt:lpstr> 案例 –电信客户流失预测</vt:lpstr>
      <vt:lpstr> 案例 –电信客户流失预测</vt:lpstr>
      <vt:lpstr> 案例 –电信客户流失预测</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武常斌</cp:lastModifiedBy>
  <cp:revision>1360</cp:revision>
  <dcterms:created xsi:type="dcterms:W3CDTF">2020-03-31T02:23:00Z</dcterms:created>
  <dcterms:modified xsi:type="dcterms:W3CDTF">2025-05-29T06:36:28Z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02FEEB264B85499EA3A54EE4AD968737_12</vt:lpwstr>
  </property>
  <property fmtid="{D5CDD505-2E9C-101B-9397-08002B2CF9AE}" pid="3" name="KSOProductBuildVer">
    <vt:lpwstr>2052-12.1.0.21171</vt:lpwstr>
  </property>
</Properties>
</file>