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2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6" r:id="rId5"/>
    <p:sldMasterId id="2147483658" r:id="rId6"/>
    <p:sldMasterId id="2147483660" r:id="rId7"/>
    <p:sldMasterId id="2147483676" r:id="rId8"/>
    <p:sldMasterId id="2147483678" r:id="rId9"/>
    <p:sldMasterId id="2147483694" r:id="rId10"/>
    <p:sldMasterId id="2147483710" r:id="rId11"/>
    <p:sldMasterId id="2147483726" r:id="rId12"/>
    <p:sldMasterId id="2147483742" r:id="rId13"/>
    <p:sldMasterId id="2147483758" r:id="rId14"/>
    <p:sldMasterId id="2147483774" r:id="rId15"/>
    <p:sldMasterId id="2147483790" r:id="rId16"/>
    <p:sldMasterId id="2147483806" r:id="rId17"/>
    <p:sldMasterId id="2147483822" r:id="rId18"/>
    <p:sldMasterId id="2147483838" r:id="rId19"/>
    <p:sldMasterId id="2147483854" r:id="rId20"/>
    <p:sldMasterId id="2147483870" r:id="rId21"/>
    <p:sldMasterId id="2147483886" r:id="rId22"/>
  </p:sldMasterIdLst>
  <p:notesMasterIdLst>
    <p:notesMasterId r:id="rId27"/>
  </p:notesMasterIdLst>
  <p:handoutMasterIdLst>
    <p:handoutMasterId r:id="rId135"/>
  </p:handoutMasterIdLst>
  <p:sldIdLst>
    <p:sldId id="1361" r:id="rId23"/>
    <p:sldId id="1351" r:id="rId24"/>
    <p:sldId id="464" r:id="rId25"/>
    <p:sldId id="547" r:id="rId26"/>
    <p:sldId id="549" r:id="rId28"/>
    <p:sldId id="550" r:id="rId29"/>
    <p:sldId id="468" r:id="rId30"/>
    <p:sldId id="1223" r:id="rId31"/>
    <p:sldId id="551" r:id="rId32"/>
    <p:sldId id="1228" r:id="rId33"/>
    <p:sldId id="1352" r:id="rId34"/>
    <p:sldId id="1266" r:id="rId35"/>
    <p:sldId id="537" r:id="rId36"/>
    <p:sldId id="543" r:id="rId37"/>
    <p:sldId id="1224" r:id="rId38"/>
    <p:sldId id="1371" r:id="rId39"/>
    <p:sldId id="1225" r:id="rId40"/>
    <p:sldId id="552" r:id="rId41"/>
    <p:sldId id="553" r:id="rId42"/>
    <p:sldId id="1226" r:id="rId43"/>
    <p:sldId id="1227" r:id="rId44"/>
    <p:sldId id="487" r:id="rId45"/>
    <p:sldId id="544" r:id="rId46"/>
    <p:sldId id="1081" r:id="rId47"/>
    <p:sldId id="1363" r:id="rId48"/>
    <p:sldId id="1364" r:id="rId49"/>
    <p:sldId id="1235" r:id="rId50"/>
    <p:sldId id="1236" r:id="rId51"/>
    <p:sldId id="1372" r:id="rId52"/>
    <p:sldId id="1238" r:id="rId53"/>
    <p:sldId id="1239" r:id="rId54"/>
    <p:sldId id="1240" r:id="rId55"/>
    <p:sldId id="1242" r:id="rId56"/>
    <p:sldId id="1241" r:id="rId57"/>
    <p:sldId id="1375" r:id="rId58"/>
    <p:sldId id="1243" r:id="rId59"/>
    <p:sldId id="1244" r:id="rId60"/>
    <p:sldId id="1376" r:id="rId61"/>
    <p:sldId id="1373" r:id="rId62"/>
    <p:sldId id="1377" r:id="rId63"/>
    <p:sldId id="1380" r:id="rId64"/>
    <p:sldId id="1258" r:id="rId65"/>
    <p:sldId id="1260" r:id="rId66"/>
    <p:sldId id="1379" r:id="rId67"/>
    <p:sldId id="1262" r:id="rId68"/>
    <p:sldId id="1381" r:id="rId69"/>
    <p:sldId id="1264" r:id="rId70"/>
    <p:sldId id="1268" r:id="rId71"/>
    <p:sldId id="1249" r:id="rId72"/>
    <p:sldId id="1250" r:id="rId73"/>
    <p:sldId id="1269" r:id="rId74"/>
    <p:sldId id="1365" r:id="rId75"/>
    <p:sldId id="1366" r:id="rId76"/>
    <p:sldId id="1230" r:id="rId77"/>
    <p:sldId id="1232" r:id="rId78"/>
    <p:sldId id="1252" r:id="rId79"/>
    <p:sldId id="1255" r:id="rId80"/>
    <p:sldId id="1253" r:id="rId81"/>
    <p:sldId id="1270" r:id="rId82"/>
    <p:sldId id="1386" r:id="rId83"/>
    <p:sldId id="1355" r:id="rId84"/>
    <p:sldId id="1367" r:id="rId85"/>
    <p:sldId id="1286" r:id="rId86"/>
    <p:sldId id="1287" r:id="rId87"/>
    <p:sldId id="1288" r:id="rId88"/>
    <p:sldId id="1289" r:id="rId89"/>
    <p:sldId id="1290" r:id="rId90"/>
    <p:sldId id="1299" r:id="rId91"/>
    <p:sldId id="1296" r:id="rId92"/>
    <p:sldId id="1295" r:id="rId93"/>
    <p:sldId id="1298" r:id="rId94"/>
    <p:sldId id="1387" r:id="rId95"/>
    <p:sldId id="1382" r:id="rId96"/>
    <p:sldId id="1383" r:id="rId97"/>
    <p:sldId id="1384" r:id="rId98"/>
    <p:sldId id="1385" r:id="rId99"/>
    <p:sldId id="1356" r:id="rId100"/>
    <p:sldId id="1369" r:id="rId101"/>
    <p:sldId id="1316" r:id="rId102"/>
    <p:sldId id="1317" r:id="rId103"/>
    <p:sldId id="1318" r:id="rId104"/>
    <p:sldId id="1319" r:id="rId105"/>
    <p:sldId id="1368" r:id="rId106"/>
    <p:sldId id="1307" r:id="rId107"/>
    <p:sldId id="1305" r:id="rId108"/>
    <p:sldId id="1308" r:id="rId109"/>
    <p:sldId id="1309" r:id="rId110"/>
    <p:sldId id="1310" r:id="rId111"/>
    <p:sldId id="1312" r:id="rId112"/>
    <p:sldId id="1311" r:id="rId113"/>
    <p:sldId id="1313" r:id="rId114"/>
    <p:sldId id="1314" r:id="rId115"/>
    <p:sldId id="1358" r:id="rId116"/>
    <p:sldId id="1370" r:id="rId117"/>
    <p:sldId id="1322" r:id="rId118"/>
    <p:sldId id="1324" r:id="rId119"/>
    <p:sldId id="1325" r:id="rId120"/>
    <p:sldId id="1326" r:id="rId121"/>
    <p:sldId id="1327" r:id="rId122"/>
    <p:sldId id="1328" r:id="rId123"/>
    <p:sldId id="1360" r:id="rId124"/>
    <p:sldId id="1330" r:id="rId125"/>
    <p:sldId id="1331" r:id="rId126"/>
    <p:sldId id="1335" r:id="rId127"/>
    <p:sldId id="1336" r:id="rId128"/>
    <p:sldId id="1337" r:id="rId129"/>
    <p:sldId id="1339" r:id="rId130"/>
    <p:sldId id="1341" r:id="rId131"/>
    <p:sldId id="1342" r:id="rId132"/>
    <p:sldId id="1343" r:id="rId133"/>
    <p:sldId id="1362" r:id="rId134"/>
  </p:sldIdLst>
  <p:sldSz cx="12192000" cy="6858000"/>
  <p:notesSz cx="6858000" cy="9144000"/>
  <p:custDataLst>
    <p:tags r:id="rId1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AD2A26"/>
    <a:srgbClr val="8A8A8A"/>
    <a:srgbClr val="4C5252"/>
    <a:srgbClr val="F9F9F9"/>
    <a:srgbClr val="48504F"/>
    <a:srgbClr val="AD2B26"/>
    <a:srgbClr val="49504F"/>
    <a:srgbClr val="B70006"/>
    <a:srgbClr val="FFF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8" autoAdjust="0"/>
    <p:restoredTop sz="92535" autoAdjust="0"/>
  </p:normalViewPr>
  <p:slideViewPr>
    <p:cSldViewPr snapToGrid="0">
      <p:cViewPr varScale="1">
        <p:scale>
          <a:sx n="114" d="100"/>
          <a:sy n="114" d="100"/>
        </p:scale>
        <p:origin x="5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76.xml"/><Relationship Id="rId98" Type="http://schemas.openxmlformats.org/officeDocument/2006/relationships/slide" Target="slides/slide75.xml"/><Relationship Id="rId97" Type="http://schemas.openxmlformats.org/officeDocument/2006/relationships/slide" Target="slides/slide74.xml"/><Relationship Id="rId96" Type="http://schemas.openxmlformats.org/officeDocument/2006/relationships/slide" Target="slides/slide73.xml"/><Relationship Id="rId95" Type="http://schemas.openxmlformats.org/officeDocument/2006/relationships/slide" Target="slides/slide72.xml"/><Relationship Id="rId94" Type="http://schemas.openxmlformats.org/officeDocument/2006/relationships/slide" Target="slides/slide71.xml"/><Relationship Id="rId93" Type="http://schemas.openxmlformats.org/officeDocument/2006/relationships/slide" Target="slides/slide70.xml"/><Relationship Id="rId92" Type="http://schemas.openxmlformats.org/officeDocument/2006/relationships/slide" Target="slides/slide69.xml"/><Relationship Id="rId91" Type="http://schemas.openxmlformats.org/officeDocument/2006/relationships/slide" Target="slides/slide68.xml"/><Relationship Id="rId90" Type="http://schemas.openxmlformats.org/officeDocument/2006/relationships/slide" Target="slides/slide67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66.xml"/><Relationship Id="rId88" Type="http://schemas.openxmlformats.org/officeDocument/2006/relationships/slide" Target="slides/slide65.xml"/><Relationship Id="rId87" Type="http://schemas.openxmlformats.org/officeDocument/2006/relationships/slide" Target="slides/slide64.xml"/><Relationship Id="rId86" Type="http://schemas.openxmlformats.org/officeDocument/2006/relationships/slide" Target="slides/slide63.xml"/><Relationship Id="rId85" Type="http://schemas.openxmlformats.org/officeDocument/2006/relationships/slide" Target="slides/slide62.xml"/><Relationship Id="rId84" Type="http://schemas.openxmlformats.org/officeDocument/2006/relationships/slide" Target="slides/slide61.xml"/><Relationship Id="rId83" Type="http://schemas.openxmlformats.org/officeDocument/2006/relationships/slide" Target="slides/slide60.xml"/><Relationship Id="rId82" Type="http://schemas.openxmlformats.org/officeDocument/2006/relationships/slide" Target="slides/slide59.xml"/><Relationship Id="rId81" Type="http://schemas.openxmlformats.org/officeDocument/2006/relationships/slide" Target="slides/slide58.xml"/><Relationship Id="rId80" Type="http://schemas.openxmlformats.org/officeDocument/2006/relationships/slide" Target="slides/slide57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56.xml"/><Relationship Id="rId78" Type="http://schemas.openxmlformats.org/officeDocument/2006/relationships/slide" Target="slides/slide55.xml"/><Relationship Id="rId77" Type="http://schemas.openxmlformats.org/officeDocument/2006/relationships/slide" Target="slides/slide54.xml"/><Relationship Id="rId76" Type="http://schemas.openxmlformats.org/officeDocument/2006/relationships/slide" Target="slides/slide53.xml"/><Relationship Id="rId75" Type="http://schemas.openxmlformats.org/officeDocument/2006/relationships/slide" Target="slides/slide52.xml"/><Relationship Id="rId74" Type="http://schemas.openxmlformats.org/officeDocument/2006/relationships/slide" Target="slides/slide51.xml"/><Relationship Id="rId73" Type="http://schemas.openxmlformats.org/officeDocument/2006/relationships/slide" Target="slides/slide50.xml"/><Relationship Id="rId72" Type="http://schemas.openxmlformats.org/officeDocument/2006/relationships/slide" Target="slides/slide49.xml"/><Relationship Id="rId71" Type="http://schemas.openxmlformats.org/officeDocument/2006/relationships/slide" Target="slides/slide48.xml"/><Relationship Id="rId70" Type="http://schemas.openxmlformats.org/officeDocument/2006/relationships/slide" Target="slides/slide47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46.xml"/><Relationship Id="rId68" Type="http://schemas.openxmlformats.org/officeDocument/2006/relationships/slide" Target="slides/slide45.xml"/><Relationship Id="rId67" Type="http://schemas.openxmlformats.org/officeDocument/2006/relationships/slide" Target="slides/slide44.xml"/><Relationship Id="rId66" Type="http://schemas.openxmlformats.org/officeDocument/2006/relationships/slide" Target="slides/slide43.xml"/><Relationship Id="rId65" Type="http://schemas.openxmlformats.org/officeDocument/2006/relationships/slide" Target="slides/slide42.xml"/><Relationship Id="rId64" Type="http://schemas.openxmlformats.org/officeDocument/2006/relationships/slide" Target="slides/slide41.xml"/><Relationship Id="rId63" Type="http://schemas.openxmlformats.org/officeDocument/2006/relationships/slide" Target="slides/slide40.xml"/><Relationship Id="rId62" Type="http://schemas.openxmlformats.org/officeDocument/2006/relationships/slide" Target="slides/slide39.xml"/><Relationship Id="rId61" Type="http://schemas.openxmlformats.org/officeDocument/2006/relationships/slide" Target="slides/slide38.xml"/><Relationship Id="rId60" Type="http://schemas.openxmlformats.org/officeDocument/2006/relationships/slide" Target="slides/slide3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6.xml"/><Relationship Id="rId58" Type="http://schemas.openxmlformats.org/officeDocument/2006/relationships/slide" Target="slides/slide35.xml"/><Relationship Id="rId57" Type="http://schemas.openxmlformats.org/officeDocument/2006/relationships/slide" Target="slides/slide34.xml"/><Relationship Id="rId56" Type="http://schemas.openxmlformats.org/officeDocument/2006/relationships/slide" Target="slides/slide33.xml"/><Relationship Id="rId55" Type="http://schemas.openxmlformats.org/officeDocument/2006/relationships/slide" Target="slides/slide32.xml"/><Relationship Id="rId54" Type="http://schemas.openxmlformats.org/officeDocument/2006/relationships/slide" Target="slides/slide31.xml"/><Relationship Id="rId53" Type="http://schemas.openxmlformats.org/officeDocument/2006/relationships/slide" Target="slides/slide30.xml"/><Relationship Id="rId52" Type="http://schemas.openxmlformats.org/officeDocument/2006/relationships/slide" Target="slides/slide29.xml"/><Relationship Id="rId51" Type="http://schemas.openxmlformats.org/officeDocument/2006/relationships/slide" Target="slides/slide28.xml"/><Relationship Id="rId50" Type="http://schemas.openxmlformats.org/officeDocument/2006/relationships/slide" Target="slides/slide2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6.xml"/><Relationship Id="rId48" Type="http://schemas.openxmlformats.org/officeDocument/2006/relationships/slide" Target="slides/slide25.xml"/><Relationship Id="rId47" Type="http://schemas.openxmlformats.org/officeDocument/2006/relationships/slide" Target="slides/slide24.xml"/><Relationship Id="rId46" Type="http://schemas.openxmlformats.org/officeDocument/2006/relationships/slide" Target="slides/slide23.xml"/><Relationship Id="rId45" Type="http://schemas.openxmlformats.org/officeDocument/2006/relationships/slide" Target="slides/slide22.xml"/><Relationship Id="rId44" Type="http://schemas.openxmlformats.org/officeDocument/2006/relationships/slide" Target="slides/slide21.xml"/><Relationship Id="rId43" Type="http://schemas.openxmlformats.org/officeDocument/2006/relationships/slide" Target="slides/slide20.xml"/><Relationship Id="rId42" Type="http://schemas.openxmlformats.org/officeDocument/2006/relationships/slide" Target="slides/slide19.xml"/><Relationship Id="rId41" Type="http://schemas.openxmlformats.org/officeDocument/2006/relationships/slide" Target="slides/slide18.xml"/><Relationship Id="rId40" Type="http://schemas.openxmlformats.org/officeDocument/2006/relationships/slide" Target="slides/slide1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6.xml"/><Relationship Id="rId38" Type="http://schemas.openxmlformats.org/officeDocument/2006/relationships/slide" Target="slides/slide15.xml"/><Relationship Id="rId37" Type="http://schemas.openxmlformats.org/officeDocument/2006/relationships/slide" Target="slides/slide14.xml"/><Relationship Id="rId36" Type="http://schemas.openxmlformats.org/officeDocument/2006/relationships/slide" Target="slides/slide13.xml"/><Relationship Id="rId35" Type="http://schemas.openxmlformats.org/officeDocument/2006/relationships/slide" Target="slides/slide12.xml"/><Relationship Id="rId34" Type="http://schemas.openxmlformats.org/officeDocument/2006/relationships/slide" Target="slides/slide11.xml"/><Relationship Id="rId33" Type="http://schemas.openxmlformats.org/officeDocument/2006/relationships/slide" Target="slides/slide10.xml"/><Relationship Id="rId32" Type="http://schemas.openxmlformats.org/officeDocument/2006/relationships/slide" Target="slides/slide9.xml"/><Relationship Id="rId31" Type="http://schemas.openxmlformats.org/officeDocument/2006/relationships/slide" Target="slides/slide8.xml"/><Relationship Id="rId30" Type="http://schemas.openxmlformats.org/officeDocument/2006/relationships/slide" Target="slides/slide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6.xml"/><Relationship Id="rId28" Type="http://schemas.openxmlformats.org/officeDocument/2006/relationships/slide" Target="slides/slide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4.xml"/><Relationship Id="rId25" Type="http://schemas.openxmlformats.org/officeDocument/2006/relationships/slide" Target="slides/slide3.xml"/><Relationship Id="rId24" Type="http://schemas.openxmlformats.org/officeDocument/2006/relationships/slide" Target="slides/slide2.xml"/><Relationship Id="rId23" Type="http://schemas.openxmlformats.org/officeDocument/2006/relationships/slide" Target="slides/slide1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9" Type="http://schemas.openxmlformats.org/officeDocument/2006/relationships/tags" Target="tags/tag6.xml"/><Relationship Id="rId138" Type="http://schemas.openxmlformats.org/officeDocument/2006/relationships/tableStyles" Target="tableStyles.xml"/><Relationship Id="rId137" Type="http://schemas.openxmlformats.org/officeDocument/2006/relationships/viewProps" Target="viewProps.xml"/><Relationship Id="rId136" Type="http://schemas.openxmlformats.org/officeDocument/2006/relationships/presProps" Target="presProps.xml"/><Relationship Id="rId135" Type="http://schemas.openxmlformats.org/officeDocument/2006/relationships/handoutMaster" Target="handoutMasters/handoutMaster1.xml"/><Relationship Id="rId134" Type="http://schemas.openxmlformats.org/officeDocument/2006/relationships/slide" Target="slides/slide111.xml"/><Relationship Id="rId133" Type="http://schemas.openxmlformats.org/officeDocument/2006/relationships/slide" Target="slides/slide110.xml"/><Relationship Id="rId132" Type="http://schemas.openxmlformats.org/officeDocument/2006/relationships/slide" Target="slides/slide109.xml"/><Relationship Id="rId131" Type="http://schemas.openxmlformats.org/officeDocument/2006/relationships/slide" Target="slides/slide108.xml"/><Relationship Id="rId130" Type="http://schemas.openxmlformats.org/officeDocument/2006/relationships/slide" Target="slides/slide107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106.xml"/><Relationship Id="rId128" Type="http://schemas.openxmlformats.org/officeDocument/2006/relationships/slide" Target="slides/slide105.xml"/><Relationship Id="rId127" Type="http://schemas.openxmlformats.org/officeDocument/2006/relationships/slide" Target="slides/slide104.xml"/><Relationship Id="rId126" Type="http://schemas.openxmlformats.org/officeDocument/2006/relationships/slide" Target="slides/slide103.xml"/><Relationship Id="rId125" Type="http://schemas.openxmlformats.org/officeDocument/2006/relationships/slide" Target="slides/slide102.xml"/><Relationship Id="rId124" Type="http://schemas.openxmlformats.org/officeDocument/2006/relationships/slide" Target="slides/slide101.xml"/><Relationship Id="rId123" Type="http://schemas.openxmlformats.org/officeDocument/2006/relationships/slide" Target="slides/slide100.xml"/><Relationship Id="rId122" Type="http://schemas.openxmlformats.org/officeDocument/2006/relationships/slide" Target="slides/slide99.xml"/><Relationship Id="rId121" Type="http://schemas.openxmlformats.org/officeDocument/2006/relationships/slide" Target="slides/slide98.xml"/><Relationship Id="rId120" Type="http://schemas.openxmlformats.org/officeDocument/2006/relationships/slide" Target="slides/slide97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96.xml"/><Relationship Id="rId118" Type="http://schemas.openxmlformats.org/officeDocument/2006/relationships/slide" Target="slides/slide95.xml"/><Relationship Id="rId117" Type="http://schemas.openxmlformats.org/officeDocument/2006/relationships/slide" Target="slides/slide94.xml"/><Relationship Id="rId116" Type="http://schemas.openxmlformats.org/officeDocument/2006/relationships/slide" Target="slides/slide93.xml"/><Relationship Id="rId115" Type="http://schemas.openxmlformats.org/officeDocument/2006/relationships/slide" Target="slides/slide92.xml"/><Relationship Id="rId114" Type="http://schemas.openxmlformats.org/officeDocument/2006/relationships/slide" Target="slides/slide91.xml"/><Relationship Id="rId113" Type="http://schemas.openxmlformats.org/officeDocument/2006/relationships/slide" Target="slides/slide90.xml"/><Relationship Id="rId112" Type="http://schemas.openxmlformats.org/officeDocument/2006/relationships/slide" Target="slides/slide89.xml"/><Relationship Id="rId111" Type="http://schemas.openxmlformats.org/officeDocument/2006/relationships/slide" Target="slides/slide88.xml"/><Relationship Id="rId110" Type="http://schemas.openxmlformats.org/officeDocument/2006/relationships/slide" Target="slides/slide87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86.xml"/><Relationship Id="rId108" Type="http://schemas.openxmlformats.org/officeDocument/2006/relationships/slide" Target="slides/slide85.xml"/><Relationship Id="rId107" Type="http://schemas.openxmlformats.org/officeDocument/2006/relationships/slide" Target="slides/slide84.xml"/><Relationship Id="rId106" Type="http://schemas.openxmlformats.org/officeDocument/2006/relationships/slide" Target="slides/slide83.xml"/><Relationship Id="rId105" Type="http://schemas.openxmlformats.org/officeDocument/2006/relationships/slide" Target="slides/slide82.xml"/><Relationship Id="rId104" Type="http://schemas.openxmlformats.org/officeDocument/2006/relationships/slide" Target="slides/slide81.xml"/><Relationship Id="rId103" Type="http://schemas.openxmlformats.org/officeDocument/2006/relationships/slide" Target="slides/slide80.xml"/><Relationship Id="rId102" Type="http://schemas.openxmlformats.org/officeDocument/2006/relationships/slide" Target="slides/slide79.xml"/><Relationship Id="rId101" Type="http://schemas.openxmlformats.org/officeDocument/2006/relationships/slide" Target="slides/slide78.xml"/><Relationship Id="rId100" Type="http://schemas.openxmlformats.org/officeDocument/2006/relationships/slide" Target="slides/slide77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48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1.000 1.000 24575,'0.000'0.000'0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0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0.000 1.000 24575,'0.000'0.000'0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2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0.000 1.000 24575,'0.000'0.000'0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3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1.000 0.000 24575,'0.000'0.000'0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4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1.000 0.000 24575,'0.000'0.000'0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5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0.000 1.000 24575,'0.000'0.000'0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5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0.000 1.000 24575,'0.000'0.000'0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6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1.000 1.000 24575,'0.000'0.000'0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7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1.000 1.000 24575,'0.000'0.000'0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7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0.000 0.000 24575,'0.000'0.000'0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7:58"/>
    </inkml:context>
    <inkml:brush xml:id="br0">
      <inkml:brushProperty name="width" value="0.2" units="cm"/>
      <inkml:brushProperty name="height" value="0.2" units="cm"/>
      <inkml:brushProperty name="color" value="#000000"/>
    </inkml:brush>
  </inkml:definitions>
  <inkml:trace contextRef="#ctx0" brushRef="#br0">0.000 1.000 24575,'0.000'0.000'0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8: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0.000 1.000 24575,'0.000'0.000'0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18: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1.000 1.000 24575,'0.000'0.000'0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49: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0.000 1.000 24575,'0.000'0.000'0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49: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0.000 1.000 24575,'0.000'0.000'0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49: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0.000 1.000 24575,'0.000'0.000'0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9T05:49: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0.000 1.000 24575,'0.000'0.000'0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zh-CN" dirty="0"/>
          </a:p>
          <a:p>
            <a:r>
              <a:rPr kumimoji="1" lang="en-GB" altLang="zh-CN" dirty="0"/>
              <a:t>160*160 + 166*166+ 172*172 + 174*174 + 180*180  = 145416k^2 + </a:t>
            </a:r>
            <a:endParaRPr kumimoji="1" lang="en-GB" altLang="zh-CN" dirty="0"/>
          </a:p>
          <a:p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2*160*156 + 2*166*160.6 + 2*172*165.1 + 2*174*168.5 + 2*180*175 = 281671.6 </a:t>
            </a:r>
            <a:endParaRPr kumimoji="1" lang="en-GB" altLang="zh-CN" dirty="0"/>
          </a:p>
          <a:p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156.3*156.3 + 160.6*160.6 + 165.1*165.1 + 168.5*168.5 + 175*175 = 136496.32</a:t>
            </a:r>
            <a:endParaRPr kumimoji="1" lang="en-GB" altLang="zh-CN" dirty="0"/>
          </a:p>
          <a:p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L(</a:t>
            </a:r>
            <a:r>
              <a:rPr kumimoji="1" lang="en-GB" altLang="zh-CN" dirty="0" err="1"/>
              <a:t>k,b</a:t>
            </a:r>
            <a:r>
              <a:rPr kumimoji="1" lang="en-GB" altLang="zh-CN" dirty="0"/>
              <a:t>=100)= 145416k^2 - 281671.6k + 136496.32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8" Type="http://schemas.openxmlformats.org/officeDocument/2006/relationships/theme" Target="../theme/theme6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8" Type="http://schemas.openxmlformats.org/officeDocument/2006/relationships/theme" Target="../theme/theme8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8" Type="http://schemas.openxmlformats.org/officeDocument/2006/relationships/theme" Target="../theme/theme9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0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8" Type="http://schemas.openxmlformats.org/officeDocument/2006/relationships/theme" Target="../theme/theme10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54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8" Type="http://schemas.openxmlformats.org/officeDocument/2006/relationships/theme" Target="../theme/theme11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9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8" Type="http://schemas.openxmlformats.org/officeDocument/2006/relationships/theme" Target="../theme/theme12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0.xml"/><Relationship Id="rId18" Type="http://schemas.openxmlformats.org/officeDocument/2006/relationships/theme" Target="../theme/theme13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99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2.xml"/><Relationship Id="rId8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15.xml"/><Relationship Id="rId18" Type="http://schemas.openxmlformats.org/officeDocument/2006/relationships/theme" Target="../theme/theme14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27.xml"/><Relationship Id="rId13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1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31.xml"/><Relationship Id="rId2" Type="http://schemas.openxmlformats.org/officeDocument/2006/relationships/slideLayout" Target="../slideLayouts/slideLayout130.xml"/><Relationship Id="rId18" Type="http://schemas.openxmlformats.org/officeDocument/2006/relationships/theme" Target="../theme/theme15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29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8" Type="http://schemas.openxmlformats.org/officeDocument/2006/relationships/theme" Target="../theme/theme16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57.xml"/><Relationship Id="rId13" Type="http://schemas.openxmlformats.org/officeDocument/2006/relationships/slideLayout" Target="../slideLayouts/slideLayout156.xml"/><Relationship Id="rId12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8" Type="http://schemas.openxmlformats.org/officeDocument/2006/relationships/theme" Target="../theme/theme17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59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7.xml"/><Relationship Id="rId3" Type="http://schemas.openxmlformats.org/officeDocument/2006/relationships/slideLayout" Target="../slideLayouts/slideLayout176.xml"/><Relationship Id="rId2" Type="http://schemas.openxmlformats.org/officeDocument/2006/relationships/slideLayout" Target="../slideLayouts/slideLayout175.xml"/><Relationship Id="rId18" Type="http://schemas.openxmlformats.org/officeDocument/2006/relationships/theme" Target="../theme/theme18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88.xml"/><Relationship Id="rId14" Type="http://schemas.openxmlformats.org/officeDocument/2006/relationships/slideLayout" Target="../slideLayouts/slideLayout187.xml"/><Relationship Id="rId13" Type="http://schemas.openxmlformats.org/officeDocument/2006/relationships/slideLayout" Target="../slideLayouts/slideLayout186.xml"/><Relationship Id="rId12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74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7.xml"/><Relationship Id="rId8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92.xml"/><Relationship Id="rId3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90.xml"/><Relationship Id="rId18" Type="http://schemas.openxmlformats.org/officeDocument/2006/relationships/theme" Target="../theme/theme19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3.xml"/><Relationship Id="rId14" Type="http://schemas.openxmlformats.org/officeDocument/2006/relationships/slideLayout" Target="../slideLayouts/slideLayout202.xml"/><Relationship Id="rId13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2.xml"/><Relationship Id="rId8" Type="http://schemas.openxmlformats.org/officeDocument/2006/relationships/slideLayout" Target="../slideLayouts/slideLayout211.xml"/><Relationship Id="rId7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7.xml"/><Relationship Id="rId3" Type="http://schemas.openxmlformats.org/officeDocument/2006/relationships/slideLayout" Target="../slideLayouts/slideLayout206.xml"/><Relationship Id="rId2" Type="http://schemas.openxmlformats.org/officeDocument/2006/relationships/slideLayout" Target="../slideLayouts/slideLayout205.xml"/><Relationship Id="rId18" Type="http://schemas.openxmlformats.org/officeDocument/2006/relationships/theme" Target="../theme/theme20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18.xml"/><Relationship Id="rId14" Type="http://schemas.openxmlformats.org/officeDocument/2006/relationships/slideLayout" Target="../slideLayouts/slideLayout217.xml"/><Relationship Id="rId13" Type="http://schemas.openxmlformats.org/officeDocument/2006/relationships/slideLayout" Target="../slideLayouts/slideLayout216.xml"/><Relationship Id="rId12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14.xml"/><Relationship Id="rId10" Type="http://schemas.openxmlformats.org/officeDocument/2006/relationships/slideLayout" Target="../slideLayouts/slideLayout213.xml"/><Relationship Id="rId1" Type="http://schemas.openxmlformats.org/officeDocument/2006/relationships/slideLayout" Target="../slideLayouts/slideLayout204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7.xml"/><Relationship Id="rId8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25.xml"/><Relationship Id="rId6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22.xml"/><Relationship Id="rId3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220.xml"/><Relationship Id="rId18" Type="http://schemas.openxmlformats.org/officeDocument/2006/relationships/theme" Target="../theme/theme21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33.xml"/><Relationship Id="rId14" Type="http://schemas.openxmlformats.org/officeDocument/2006/relationships/slideLayout" Target="../slideLayouts/slideLayout232.xml"/><Relationship Id="rId13" Type="http://schemas.openxmlformats.org/officeDocument/2006/relationships/slideLayout" Target="../slideLayouts/slideLayout231.xml"/><Relationship Id="rId12" Type="http://schemas.openxmlformats.org/officeDocument/2006/relationships/slideLayout" Target="../slideLayouts/slideLayout230.xml"/><Relationship Id="rId11" Type="http://schemas.openxmlformats.org/officeDocument/2006/relationships/slideLayout" Target="../slideLayouts/slideLayout229.xml"/><Relationship Id="rId10" Type="http://schemas.openxmlformats.org/officeDocument/2006/relationships/slideLayout" Target="../slideLayouts/slideLayout228.xml"/><Relationship Id="rId1" Type="http://schemas.openxmlformats.org/officeDocument/2006/relationships/slideLayout" Target="../slideLayouts/slideLayout2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5.png"/><Relationship Id="rId3" Type="http://schemas.openxmlformats.org/officeDocument/2006/relationships/image" Target="../media/image26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03.xml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8.xml"/><Relationship Id="rId8" Type="http://schemas.openxmlformats.org/officeDocument/2006/relationships/image" Target="../media/image72.png"/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6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3" Type="http://schemas.openxmlformats.org/officeDocument/2006/relationships/notesSlide" Target="../notesSlides/notesSlide2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95.png"/><Relationship Id="rId10" Type="http://schemas.openxmlformats.org/officeDocument/2006/relationships/image" Target="../media/image94.png"/><Relationship Id="rId1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48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178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1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7.png"/><Relationship Id="rId2" Type="http://schemas.openxmlformats.org/officeDocument/2006/relationships/image" Target="../media/image26.png"/><Relationship Id="rId1" Type="http://schemas.openxmlformats.org/officeDocument/2006/relationships/image" Target="../media/image126.pn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0.png"/><Relationship Id="rId3" Type="http://schemas.openxmlformats.org/officeDocument/2006/relationships/image" Target="../media/image26.png"/><Relationship Id="rId2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2.png"/><Relationship Id="rId1" Type="http://schemas.openxmlformats.org/officeDocument/2006/relationships/image" Target="../media/image131.png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6.png"/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image" Target="../media/image133.png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42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4.xml"/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image" Target="../media/image14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8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0.png"/><Relationship Id="rId1" Type="http://schemas.openxmlformats.org/officeDocument/2006/relationships/image" Target="../media/image149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image" Target="../media/image151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image" Target="../media/image157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1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6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9.xml"/><Relationship Id="rId2" Type="http://schemas.openxmlformats.org/officeDocument/2006/relationships/image" Target="../media/image163.png"/><Relationship Id="rId1" Type="http://schemas.openxmlformats.org/officeDocument/2006/relationships/image" Target="../media/image36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165.png"/><Relationship Id="rId1" Type="http://schemas.openxmlformats.org/officeDocument/2006/relationships/image" Target="../media/image164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167.png"/><Relationship Id="rId1" Type="http://schemas.openxmlformats.org/officeDocument/2006/relationships/image" Target="../media/image166.png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28.xml"/><Relationship Id="rId4" Type="http://schemas.openxmlformats.org/officeDocument/2006/relationships/image" Target="../media/image170.png"/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tags" Target="../tags/tag4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171.png"/><Relationship Id="rId1" Type="http://schemas.openxmlformats.org/officeDocument/2006/relationships/tags" Target="../tags/tag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1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81.png"/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image" Target="../media/image178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83.png"/><Relationship Id="rId1" Type="http://schemas.openxmlformats.org/officeDocument/2006/relationships/image" Target="../media/image18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6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8.pn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0.png"/><Relationship Id="rId1" Type="http://schemas.openxmlformats.org/officeDocument/2006/relationships/image" Target="../media/image189.png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2.png"/><Relationship Id="rId1" Type="http://schemas.openxmlformats.org/officeDocument/2006/relationships/image" Target="../media/image191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9" Type="http://schemas.openxmlformats.org/officeDocument/2006/relationships/customXml" Target="../ink/ink8.xml"/><Relationship Id="rId8" Type="http://schemas.openxmlformats.org/officeDocument/2006/relationships/customXml" Target="../ink/ink7.xml"/><Relationship Id="rId7" Type="http://schemas.openxmlformats.org/officeDocument/2006/relationships/customXml" Target="../ink/ink6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customXml" Target="../ink/ink3.xml"/><Relationship Id="rId3" Type="http://schemas.openxmlformats.org/officeDocument/2006/relationships/customXml" Target="../ink/ink2.xml"/><Relationship Id="rId2" Type="http://schemas.openxmlformats.org/officeDocument/2006/relationships/image" Target="../media/image193.png"/><Relationship Id="rId18" Type="http://schemas.openxmlformats.org/officeDocument/2006/relationships/notesSlide" Target="../notesSlides/notesSlide66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95.png"/><Relationship Id="rId15" Type="http://schemas.openxmlformats.org/officeDocument/2006/relationships/customXml" Target="../ink/ink13.xml"/><Relationship Id="rId14" Type="http://schemas.openxmlformats.org/officeDocument/2006/relationships/image" Target="../media/image194.png"/><Relationship Id="rId13" Type="http://schemas.openxmlformats.org/officeDocument/2006/relationships/customXml" Target="../ink/ink12.xml"/><Relationship Id="rId12" Type="http://schemas.openxmlformats.org/officeDocument/2006/relationships/customXml" Target="../ink/ink11.xml"/><Relationship Id="rId11" Type="http://schemas.openxmlformats.org/officeDocument/2006/relationships/customXml" Target="../ink/ink10.xml"/><Relationship Id="rId10" Type="http://schemas.openxmlformats.org/officeDocument/2006/relationships/customXml" Target="../ink/ink9.xml"/><Relationship Id="rId1" Type="http://schemas.openxmlformats.org/officeDocument/2006/relationships/customXml" Target="../ink/ink1.xml"/></Relationships>
</file>

<file path=ppt/slides/_rels/slide10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7.png"/><Relationship Id="rId3" Type="http://schemas.openxmlformats.org/officeDocument/2006/relationships/image" Target="../media/image194.png"/><Relationship Id="rId2" Type="http://schemas.openxmlformats.org/officeDocument/2006/relationships/customXml" Target="../ink/ink14.xml"/><Relationship Id="rId1" Type="http://schemas.openxmlformats.org/officeDocument/2006/relationships/image" Target="../media/image196.png"/></Relationships>
</file>

<file path=ppt/slides/_rels/slide10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9.png"/><Relationship Id="rId3" Type="http://schemas.openxmlformats.org/officeDocument/2006/relationships/image" Target="../media/image198.png"/><Relationship Id="rId2" Type="http://schemas.openxmlformats.org/officeDocument/2006/relationships/image" Target="../media/image194.png"/><Relationship Id="rId1" Type="http://schemas.openxmlformats.org/officeDocument/2006/relationships/customXml" Target="../ink/ink15.xml"/></Relationships>
</file>

<file path=ppt/slides/_rels/slide10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4.png"/><Relationship Id="rId1" Type="http://schemas.openxmlformats.org/officeDocument/2006/relationships/customXml" Target="../ink/ink16.xml"/></Relationships>
</file>

<file path=ppt/slides/_rels/slide10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4.png"/><Relationship Id="rId1" Type="http://schemas.openxmlformats.org/officeDocument/2006/relationships/customXml" Target="../ink/ink1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线性回归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25036" y="652717"/>
            <a:ext cx="7228417" cy="503942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、损失函数、导数和矩阵、正规方程法、梯度下降算法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lvl="1">
              <a:lnSpc>
                <a:spcPct val="200000"/>
              </a:lnSpc>
            </a:pP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89818" y="744855"/>
            <a:ext cx="6298881" cy="4855845"/>
          </a:xfrm>
        </p:spPr>
        <p:txBody>
          <a:bodyPr/>
          <a:lstStyle/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理解线性回归是什么？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知道一元线性回归和多元线性回归的区别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知道线性回归的应用场景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984567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线性回归概念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举个栗子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57755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043" y="2701410"/>
            <a:ext cx="713495" cy="2091449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98234" y="3215145"/>
            <a:ext cx="683267" cy="162238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71" y="2388350"/>
            <a:ext cx="1226005" cy="2421907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09836" y="2990550"/>
            <a:ext cx="875725" cy="180231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857" y="2467113"/>
            <a:ext cx="826279" cy="242190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82290" y="3468327"/>
            <a:ext cx="518783" cy="1359367"/>
          </a:xfrm>
          <a:prstGeom prst="rect">
            <a:avLst/>
          </a:prstGeom>
        </p:spPr>
      </p:pic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6" y="1292883"/>
            <a:ext cx="9457758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假如有了以下身高和体重数据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假如已知播仔的</a:t>
            </a:r>
            <a:r>
              <a:rPr lang="zh-CN" altLang="en-US" dirty="0">
                <a:solidFill>
                  <a:srgbClr val="AD2A26"/>
                </a:solidFill>
              </a:rPr>
              <a:t>身高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，你能预测播仔</a:t>
            </a:r>
            <a:r>
              <a:rPr lang="zh-CN" altLang="en-US" dirty="0">
                <a:solidFill>
                  <a:srgbClr val="AD2A26"/>
                </a:solidFill>
              </a:rPr>
              <a:t>体重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吗？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572764" y="2245365"/>
          <a:ext cx="2140914" cy="3026234"/>
        </p:xfrm>
        <a:graphic>
          <a:graphicData uri="http://schemas.openxmlformats.org/drawingml/2006/table">
            <a:tbl>
              <a:tblPr/>
              <a:tblGrid>
                <a:gridCol w="543640"/>
                <a:gridCol w="604089"/>
                <a:gridCol w="993185"/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编号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身高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体重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160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56.3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166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60.6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3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172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65.1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68.5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180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75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？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占位符 2"/>
          <p:cNvSpPr txBox="1"/>
          <p:nvPr/>
        </p:nvSpPr>
        <p:spPr>
          <a:xfrm>
            <a:off x="841506" y="5313883"/>
            <a:ext cx="9457758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这样的问题是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回归问题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，该如何求解呢？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9845675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线性回归概念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举个栗子 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194" y="3084870"/>
            <a:ext cx="713495" cy="2091449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82385" y="3598605"/>
            <a:ext cx="683267" cy="162238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622" y="2771810"/>
            <a:ext cx="1226005" cy="2421907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93987" y="3374010"/>
            <a:ext cx="875725" cy="18023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6440" y="4001728"/>
            <a:ext cx="518783" cy="1209426"/>
          </a:xfrm>
          <a:prstGeom prst="rect">
            <a:avLst/>
          </a:prstGeom>
        </p:spPr>
      </p:pic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5" y="1292883"/>
            <a:ext cx="7515913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思路：先从已知</a:t>
            </a:r>
            <a:r>
              <a:rPr lang="zh-CN" altLang="en-US" dirty="0">
                <a:solidFill>
                  <a:srgbClr val="AD2A26"/>
                </a:solidFill>
              </a:rPr>
              <a:t>身高</a:t>
            </a:r>
            <a:r>
              <a:rPr lang="en-US" altLang="zh-CN" dirty="0">
                <a:solidFill>
                  <a:srgbClr val="AD2A26"/>
                </a:solidFill>
              </a:rPr>
              <a:t>X</a:t>
            </a:r>
            <a:r>
              <a:rPr lang="zh-CN" altLang="en-US" dirty="0">
                <a:solidFill>
                  <a:srgbClr val="AD2A26"/>
                </a:solidFill>
              </a:rPr>
              <a:t>和体重</a:t>
            </a:r>
            <a:r>
              <a:rPr lang="en-US" altLang="zh-CN" dirty="0">
                <a:solidFill>
                  <a:srgbClr val="AD2A26"/>
                </a:solidFill>
              </a:rPr>
              <a:t>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</a:t>
            </a:r>
            <a:r>
              <a:rPr lang="zh-CN" altLang="en-US" dirty="0">
                <a:solidFill>
                  <a:srgbClr val="AD2A26"/>
                </a:solidFill>
              </a:rPr>
              <a:t>找规律，再预测</a:t>
            </a:r>
            <a:endParaRPr lang="zh-CN" altLang="en-US" dirty="0">
              <a:solidFill>
                <a:srgbClr val="AD2A2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AD2A26"/>
              </a:solidFill>
            </a:endParaRPr>
          </a:p>
        </p:txBody>
      </p:sp>
      <p:cxnSp>
        <p:nvCxnSpPr>
          <p:cNvPr id="6" name="直线箭头连接符 5"/>
          <p:cNvCxnSpPr/>
          <p:nvPr/>
        </p:nvCxnSpPr>
        <p:spPr>
          <a:xfrm>
            <a:off x="1121077" y="5603559"/>
            <a:ext cx="6896767" cy="24789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V="1">
            <a:off x="1147837" y="2130158"/>
            <a:ext cx="1" cy="3443257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2"/>
          <p:cNvSpPr txBox="1"/>
          <p:nvPr/>
        </p:nvSpPr>
        <p:spPr>
          <a:xfrm>
            <a:off x="7218168" y="5211154"/>
            <a:ext cx="1059547" cy="41719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147837" y="1849474"/>
            <a:ext cx="87984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体重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 flipV="1">
            <a:off x="698087" y="2533630"/>
            <a:ext cx="7030064" cy="1571674"/>
          </a:xfrm>
          <a:prstGeom prst="line">
            <a:avLst/>
          </a:prstGeom>
          <a:ln w="3492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782" y="4242958"/>
            <a:ext cx="826279" cy="2421907"/>
          </a:xfrm>
          <a:prstGeom prst="rect">
            <a:avLst/>
          </a:prstGeom>
        </p:spPr>
      </p:pic>
      <p:sp>
        <p:nvSpPr>
          <p:cNvPr id="13" name="文本占位符 2"/>
          <p:cNvSpPr txBox="1"/>
          <p:nvPr/>
        </p:nvSpPr>
        <p:spPr>
          <a:xfrm>
            <a:off x="7111174" y="5141516"/>
            <a:ext cx="119868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身高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72 -0.04537 L -0.33437 -0.2046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33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5208139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线性回归概念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举个栗子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375" y="1374140"/>
            <a:ext cx="7220585" cy="41846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数学问题：用一条线</a:t>
            </a:r>
            <a:r>
              <a:rPr lang="zh-CN" altLang="en-US" dirty="0">
                <a:solidFill>
                  <a:srgbClr val="AD2A26"/>
                </a:solidFill>
              </a:rPr>
              <a:t>来拟合身高和体重之间的关系，再对新数据进行预测</a:t>
            </a:r>
            <a:endParaRPr lang="zh-CN" altLang="en-US" dirty="0">
              <a:solidFill>
                <a:srgbClr val="AD2A26"/>
              </a:solidFill>
            </a:endParaRPr>
          </a:p>
        </p:txBody>
      </p:sp>
      <p:cxnSp>
        <p:nvCxnSpPr>
          <p:cNvPr id="6" name="直线箭头连接符 5"/>
          <p:cNvCxnSpPr/>
          <p:nvPr/>
        </p:nvCxnSpPr>
        <p:spPr>
          <a:xfrm>
            <a:off x="1130705" y="5565059"/>
            <a:ext cx="6788737" cy="14175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V="1">
            <a:off x="1147837" y="2130158"/>
            <a:ext cx="1" cy="3443257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2"/>
          <p:cNvSpPr txBox="1"/>
          <p:nvPr/>
        </p:nvSpPr>
        <p:spPr>
          <a:xfrm>
            <a:off x="7111174" y="5131891"/>
            <a:ext cx="119868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身高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147837" y="1849474"/>
            <a:ext cx="87984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体重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 flipV="1">
            <a:off x="698087" y="2563129"/>
            <a:ext cx="7030064" cy="1571674"/>
          </a:xfrm>
          <a:prstGeom prst="line">
            <a:avLst/>
          </a:prstGeom>
          <a:ln w="3492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1376272" y="2771810"/>
            <a:ext cx="6078187" cy="2510565"/>
            <a:chOff x="1376272" y="2771810"/>
            <a:chExt cx="6078187" cy="2510565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026" y="3084870"/>
              <a:ext cx="713495" cy="2091449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92217" y="3598605"/>
              <a:ext cx="683267" cy="1622382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8454" y="2771810"/>
              <a:ext cx="1226005" cy="2421907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903818" y="3459946"/>
              <a:ext cx="875725" cy="1716374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376272" y="4001728"/>
              <a:ext cx="518783" cy="1209426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0904" y="2860468"/>
              <a:ext cx="826278" cy="2421907"/>
            </a:xfrm>
            <a:prstGeom prst="rect">
              <a:avLst/>
            </a:prstGeom>
          </p:spPr>
        </p:pic>
      </p:grpSp>
      <p:sp>
        <p:nvSpPr>
          <p:cNvPr id="5" name="椭圆 4"/>
          <p:cNvSpPr/>
          <p:nvPr/>
        </p:nvSpPr>
        <p:spPr>
          <a:xfrm>
            <a:off x="5633717" y="3054688"/>
            <a:ext cx="98424" cy="145784"/>
          </a:xfrm>
          <a:prstGeom prst="ellipse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569691" y="4018518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321347" y="3554199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419499" y="3459946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439008" y="3144785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31624" y="2714684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文本占位符 2"/>
          <p:cNvSpPr txBox="1"/>
          <p:nvPr/>
        </p:nvSpPr>
        <p:spPr>
          <a:xfrm>
            <a:off x="8966680" y="4295120"/>
            <a:ext cx="2651038" cy="231960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方程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k160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56.3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k166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60.6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–-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(2)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</a:rPr>
              <a:t>。。。。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斜率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截距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8966680" y="1137563"/>
          <a:ext cx="2140914" cy="3026234"/>
        </p:xfrm>
        <a:graphic>
          <a:graphicData uri="http://schemas.openxmlformats.org/drawingml/2006/table">
            <a:tbl>
              <a:tblPr/>
              <a:tblGrid>
                <a:gridCol w="543640"/>
                <a:gridCol w="604089"/>
                <a:gridCol w="993185"/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编号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身高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体重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160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56.3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166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60.6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3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172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65.1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68.5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180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75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？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0" name="直线箭头连接符 29"/>
          <p:cNvCxnSpPr/>
          <p:nvPr/>
        </p:nvCxnSpPr>
        <p:spPr>
          <a:xfrm flipV="1">
            <a:off x="5697291" y="3159458"/>
            <a:ext cx="0" cy="2366272"/>
          </a:xfrm>
          <a:prstGeom prst="straightConnector1">
            <a:avLst/>
          </a:prstGeom>
          <a:ln w="25400">
            <a:solidFill>
              <a:srgbClr val="AD2A2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 flipH="1">
            <a:off x="1163632" y="3054688"/>
            <a:ext cx="4470085" cy="37482"/>
          </a:xfrm>
          <a:prstGeom prst="straightConnector1">
            <a:avLst/>
          </a:prstGeom>
          <a:ln w="25400">
            <a:solidFill>
              <a:srgbClr val="AD2A2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/>
          <p:cNvCxnSpPr/>
          <p:nvPr/>
        </p:nvCxnSpPr>
        <p:spPr>
          <a:xfrm flipH="1" flipV="1">
            <a:off x="1618903" y="4171636"/>
            <a:ext cx="16760" cy="1392154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 flipH="1" flipV="1">
            <a:off x="2380447" y="3688289"/>
            <a:ext cx="28499" cy="183744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/>
          <p:cNvCxnSpPr/>
          <p:nvPr/>
        </p:nvCxnSpPr>
        <p:spPr>
          <a:xfrm flipV="1">
            <a:off x="6870332" y="2819935"/>
            <a:ext cx="0" cy="27534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/>
          <p:cNvCxnSpPr/>
          <p:nvPr/>
        </p:nvCxnSpPr>
        <p:spPr>
          <a:xfrm flipV="1">
            <a:off x="1130705" y="2764644"/>
            <a:ext cx="5713434" cy="38126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/>
          <p:nvPr/>
        </p:nvCxnSpPr>
        <p:spPr>
          <a:xfrm flipV="1">
            <a:off x="1145890" y="4040228"/>
            <a:ext cx="489773" cy="843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/>
          <p:cNvCxnSpPr/>
          <p:nvPr/>
        </p:nvCxnSpPr>
        <p:spPr>
          <a:xfrm flipV="1">
            <a:off x="1202149" y="3604424"/>
            <a:ext cx="1133612" cy="10587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线性回归概念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41281" y="2238155"/>
            <a:ext cx="8415519" cy="1335183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591540" y="1348069"/>
            <a:ext cx="7365260" cy="781278"/>
          </a:xfrm>
        </p:spPr>
        <p:txBody>
          <a:bodyPr/>
          <a:lstStyle/>
          <a:p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利用</a:t>
            </a:r>
            <a:r>
              <a:rPr lang="zh-CN" altLang="en-US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回归方程</a:t>
            </a:r>
            <a:r>
              <a:rPr lang="en-US" altLang="zh-CN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(</a:t>
            </a:r>
            <a:r>
              <a:rPr lang="zh-CN" altLang="en-US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函数</a:t>
            </a: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)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对 </a:t>
            </a:r>
            <a:r>
              <a:rPr lang="zh-CN" altLang="en-US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一个或多个自变量</a:t>
            </a:r>
            <a:r>
              <a:rPr lang="en-US" altLang="zh-CN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(</a:t>
            </a:r>
            <a:r>
              <a:rPr lang="zh-CN" altLang="en-US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特征值</a:t>
            </a:r>
            <a:r>
              <a:rPr lang="en-US" altLang="zh-CN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)</a:t>
            </a:r>
            <a:r>
              <a:rPr lang="zh-CN" altLang="en-US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和因变量</a:t>
            </a:r>
            <a:r>
              <a:rPr lang="en-US" altLang="zh-CN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(</a:t>
            </a:r>
            <a:r>
              <a:rPr lang="zh-CN" altLang="en-US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目标值</a:t>
            </a:r>
            <a:r>
              <a:rPr lang="en-US" altLang="zh-CN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)</a:t>
            </a:r>
            <a:r>
              <a:rPr lang="zh-CN" altLang="en-US" sz="1600" b="1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之间</a:t>
            </a:r>
            <a:r>
              <a:rPr lang="zh-CN" altLang="en-US" sz="1600" b="0" i="0" u="none" strike="noStrike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关系进行建模的一种分析方式。</a:t>
            </a:r>
            <a:endParaRPr lang="en-US" altLang="zh-CN" sz="1400" dirty="0">
              <a:solidFill>
                <a:srgbClr val="AD2A2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Shape 2678"/>
          <p:cNvSpPr/>
          <p:nvPr/>
        </p:nvSpPr>
        <p:spPr>
          <a:xfrm>
            <a:off x="4345066" y="2458924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0" marR="0" lvl="0" indent="0" algn="ctr" defTabSz="22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kumimoji="0" sz="156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黑体" panose="02010609060101010101" pitchFamily="49" charset="-122"/>
              <a:cs typeface="Arial" panose="020B0604020202020204"/>
              <a:sym typeface="Gill Sans" panose="020B0502020104020203"/>
            </a:endParaRPr>
          </a:p>
        </p:txBody>
      </p:sp>
      <p:sp>
        <p:nvSpPr>
          <p:cNvPr id="14" name="Shape 2678"/>
          <p:cNvSpPr/>
          <p:nvPr/>
        </p:nvSpPr>
        <p:spPr>
          <a:xfrm>
            <a:off x="3043532" y="2458924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0" marR="0" lvl="0" indent="0" algn="ctr" defTabSz="22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kumimoji="0" sz="156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黑体" panose="02010609060101010101" pitchFamily="49" charset="-122"/>
              <a:cs typeface="Arial" panose="020B0604020202020204"/>
              <a:sym typeface="Gill Sans" panose="020B0502020104020203"/>
            </a:endParaRPr>
          </a:p>
        </p:txBody>
      </p:sp>
      <p:sp>
        <p:nvSpPr>
          <p:cNvPr id="15" name="Shape 2678"/>
          <p:cNvSpPr/>
          <p:nvPr/>
        </p:nvSpPr>
        <p:spPr>
          <a:xfrm>
            <a:off x="1857613" y="2458924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0" marR="0" lvl="0" indent="0" algn="ctr" defTabSz="22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kumimoji="0" sz="156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黑体" panose="02010609060101010101" pitchFamily="49" charset="-122"/>
              <a:cs typeface="Arial" panose="020B0604020202020204"/>
              <a:sym typeface="Gill Sans" panose="020B0502020104020203"/>
            </a:endParaRPr>
          </a:p>
        </p:txBody>
      </p:sp>
      <p:sp>
        <p:nvSpPr>
          <p:cNvPr id="16" name="Shape 2678"/>
          <p:cNvSpPr/>
          <p:nvPr/>
        </p:nvSpPr>
        <p:spPr>
          <a:xfrm>
            <a:off x="5604556" y="2458924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0" marR="0" lvl="0" indent="0" algn="ctr" defTabSz="22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kumimoji="0" sz="156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黑体" panose="02010609060101010101" pitchFamily="49" charset="-122"/>
              <a:cs typeface="Arial" panose="020B0604020202020204"/>
              <a:sym typeface="Gill Sans" panose="020B0502020104020203"/>
            </a:endParaRPr>
          </a:p>
        </p:txBody>
      </p:sp>
      <p:sp>
        <p:nvSpPr>
          <p:cNvPr id="18" name="文本占位符 2"/>
          <p:cNvSpPr txBox="1"/>
          <p:nvPr/>
        </p:nvSpPr>
        <p:spPr>
          <a:xfrm>
            <a:off x="1809485" y="3094494"/>
            <a:ext cx="7788443" cy="4959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房子面积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房子位置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房子楼层     房子朝向              房子价格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Shape 2784"/>
          <p:cNvSpPr/>
          <p:nvPr/>
        </p:nvSpPr>
        <p:spPr>
          <a:xfrm>
            <a:off x="7897969" y="2430745"/>
            <a:ext cx="733927" cy="66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F0000"/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marL="0" marR="0" lvl="0" indent="0" algn="ctr" defTabSz="227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kumimoji="0" sz="156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黑体" panose="02010609060101010101" pitchFamily="49" charset="-122"/>
              <a:cs typeface="Arial" panose="020B0604020202020204"/>
              <a:sym typeface="Gill Sans" panose="020B0502020104020203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占位符 2"/>
              <p:cNvSpPr txBox="1"/>
              <p:nvPr/>
            </p:nvSpPr>
            <p:spPr>
              <a:xfrm>
                <a:off x="857237" y="3532100"/>
                <a:ext cx="9699318" cy="517190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数学</a:t>
                </a:r>
                <a14:m>
                  <m:oMath xmlns:m="http://schemas.openxmlformats.org/officeDocument/2006/math">
                    <m:r>
                      <a:rPr kumimoji="0" lang="zh-CN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rPr>
                      <m:t>公式</m:t>
                    </m:r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：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zh-CN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zh-CN" alt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…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kumimoji="0" lang="en-US" altLang="zh-CN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x</m:t>
                    </m:r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20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37" y="3532100"/>
                <a:ext cx="9699318" cy="517190"/>
              </a:xfrm>
              <a:prstGeom prst="rect">
                <a:avLst/>
              </a:prstGeom>
              <a:blipFill rotWithShape="1">
                <a:blip r:embed="rId1"/>
                <a:stretch>
                  <a:fillRect l="-6" t="-44" r="3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占位符 2"/>
              <p:cNvSpPr txBox="1"/>
              <p:nvPr/>
            </p:nvSpPr>
            <p:spPr>
              <a:xfrm>
                <a:off x="1541281" y="4045695"/>
                <a:ext cx="9431519" cy="1023595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其中 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w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为：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eqArr>
                                  <m:eqArr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w</m:t>
                                    </m:r>
                                  </m:e>
                                </m:eqArr>
                              </m:e>
                              <m:sub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⋮</m:t>
                            </m:r>
                          </m:e>
                        </m:eqArr>
                      </m:e>
                    </m:d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x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为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eqArr>
                                  <m:eqArr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</m:eqArr>
                              </m:e>
                              <m:sub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⋮</m:t>
                            </m:r>
                          </m:e>
                        </m:eqArr>
                      </m:e>
                    </m:d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     根据矩阵运算：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x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为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[b,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]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@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eqArr>
                                  <m:eqArr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x</m:t>
                                    </m:r>
                                  </m:e>
                                </m:eqArr>
                              </m:e>
                              <m:sub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⋮</m:t>
                            </m:r>
                          </m:e>
                        </m:eqArr>
                      </m:e>
                    </m:d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阿里巴巴普惠体" panose="00020600040101010101" pitchFamily="18" charset="-122"/>
                  </a:rPr>
                  <a:t> 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黑体" panose="02010609060101010101" pitchFamily="49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21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281" y="4045695"/>
                <a:ext cx="9431519" cy="1023595"/>
              </a:xfrm>
              <a:prstGeom prst="rect">
                <a:avLst/>
              </a:prstGeom>
              <a:blipFill rotWithShape="1">
                <a:blip r:embed="rId2"/>
                <a:stretch>
                  <a:fillRect l="-1" t="-1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三角形 21"/>
          <p:cNvSpPr/>
          <p:nvPr/>
        </p:nvSpPr>
        <p:spPr>
          <a:xfrm rot="2651319">
            <a:off x="851566" y="557755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01708" y="4096393"/>
            <a:ext cx="8455092" cy="1023595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1202017" y="1552385"/>
            <a:ext cx="924565" cy="61010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定义</a:t>
            </a:r>
            <a:endParaRPr lang="en-US" altLang="zh-CN" dirty="0">
              <a:solidFill>
                <a:srgbClr val="AD2A2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线性回归概念</a:t>
            </a: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57755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710527" y="1552385"/>
            <a:ext cx="1841515" cy="61010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线性回归分类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685492" y="3324231"/>
          <a:ext cx="2140914" cy="3026234"/>
        </p:xfrm>
        <a:graphic>
          <a:graphicData uri="http://schemas.openxmlformats.org/drawingml/2006/table">
            <a:tbl>
              <a:tblPr/>
              <a:tblGrid>
                <a:gridCol w="543640"/>
                <a:gridCol w="604089"/>
                <a:gridCol w="993185"/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编号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身高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体重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160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56.3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166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60.6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3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172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65.1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68.5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180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75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2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176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？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5584987" y="3360542"/>
          <a:ext cx="5608529" cy="2009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519"/>
                <a:gridCol w="704090"/>
                <a:gridCol w="740647"/>
                <a:gridCol w="944389"/>
                <a:gridCol w="1285942"/>
                <a:gridCol w="1285942"/>
              </a:tblGrid>
              <a:tr h="3187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2000" b="0" dirty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面积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位置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楼层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朝向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房子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价格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684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80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4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100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121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4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80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4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…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4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</a:t>
                      </a: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2</a:t>
                      </a:r>
                      <a:endParaRPr lang="zh-CN" altLang="en-US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?</a:t>
                      </a:r>
                      <a:endParaRPr lang="en-US" altLang="zh-CN" sz="14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1202055" y="2197100"/>
            <a:ext cx="428117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一元线性回归：</a:t>
            </a:r>
            <a:r>
              <a:rPr kumimoji="1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wx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+b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1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noProof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目标值</a:t>
            </a:r>
            <a:r>
              <a:rPr kumimoji="1" lang="en-US" altLang="zh-CN" sz="1400" noProof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1" sz="1400" noProof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因标量</a:t>
            </a:r>
            <a:r>
              <a:rPr kumimoji="1" lang="en-US" altLang="zh-CN" sz="1400" noProof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1" lang="zh-CN" altLang="en-US" sz="1400" noProof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只与</a:t>
            </a:r>
            <a:r>
              <a:rPr kumimoji="1"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一个特征</a:t>
            </a:r>
            <a:r>
              <a:rPr kumimoji="1"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1" sz="140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自变量</a:t>
            </a:r>
            <a:r>
              <a:rPr kumimoji="1"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1"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有关系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2"/>
              <p:cNvSpPr txBox="1"/>
              <p:nvPr/>
            </p:nvSpPr>
            <p:spPr>
              <a:xfrm>
                <a:off x="5695315" y="2236470"/>
                <a:ext cx="5626100" cy="516890"/>
              </a:xfrm>
              <a:prstGeom prst="rect">
                <a:avLst/>
              </a:prstGeom>
            </p:spPr>
            <p:txBody>
              <a:bodyPr anchor="ctr" anchorCtr="0"/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lang="zh-CN" altLang="en-US" sz="2000" b="0" i="0" kern="1200" dirty="0">
                    <a:solidFill>
                      <a:srgbClr val="AD2A26"/>
                    </a:solidFill>
                    <a:latin typeface="Alibaba PuHuiTi Medium" pitchFamily="18" charset="-122"/>
                    <a:ea typeface="Alibaba PuHuiTi Medium" pitchFamily="18" charset="-122"/>
                    <a:cs typeface="Alibaba PuHuiTi Medium" pitchFamily="18" charset="-122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609600" algn="l" rtl="0" fontAlgn="base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1219200" algn="l" rtl="0" fontAlgn="base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2438400" algn="l" rtl="0" fontAlgn="base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多</a:t>
                </a:r>
                <a:r>
                  <a:rPr kumimoji="1" lang="zh-CN" altLang="en-US" sz="1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元线性回归：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sz="1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… 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zh-CN" altLang="en-US" sz="1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1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en-US" sz="1400" noProof="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目标值</a:t>
                </a:r>
                <a:r>
                  <a:rPr kumimoji="1" lang="en-US" altLang="zh-CN" sz="1400" noProof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(</a:t>
                </a:r>
                <a:r>
                  <a:rPr kumimoji="1" sz="1400" noProof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因标量</a:t>
                </a:r>
                <a:r>
                  <a:rPr kumimoji="1" lang="en-US" altLang="zh-CN" sz="1400" noProof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)</a:t>
                </a:r>
                <a:r>
                  <a:rPr kumimoji="1" lang="zh-CN" altLang="en-US" sz="1400" noProof="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同时与多</a:t>
                </a:r>
                <a:r>
                  <a:rPr kumimoji="1"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个特征</a:t>
                </a:r>
                <a:r>
                  <a:rPr kumimoji="1"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kumimoji="1" sz="140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自</a:t>
                </a:r>
                <a:r>
                  <a:rPr kumimoji="1" sz="140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变量</a:t>
                </a:r>
                <a:r>
                  <a:rPr kumimoji="1"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1"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有关系</a:t>
                </a:r>
                <a:endParaRPr kumimoji="1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0" name="标题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315" y="2236470"/>
                <a:ext cx="5626100" cy="516890"/>
              </a:xfrm>
              <a:prstGeom prst="rect">
                <a:avLst/>
              </a:prstGeom>
              <a:blipFill rotWithShape="1">
                <a:blip r:embed="rId2"/>
                <a:stretch>
                  <a:fillRect t="-1474" b="-17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5208139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线性回归概念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5834589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应用常见场景是非常多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8195" y="1755966"/>
            <a:ext cx="3391268" cy="354548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83" y="2082085"/>
            <a:ext cx="2032666" cy="2893249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107" y="1855452"/>
            <a:ext cx="3704954" cy="3399035"/>
          </a:xfrm>
          <a:prstGeom prst="rect">
            <a:avLst/>
          </a:prstGeom>
        </p:spPr>
      </p:pic>
      <p:sp>
        <p:nvSpPr>
          <p:cNvPr id="33" name="文本占位符 2"/>
          <p:cNvSpPr txBox="1"/>
          <p:nvPr/>
        </p:nvSpPr>
        <p:spPr>
          <a:xfrm>
            <a:off x="1384191" y="5363571"/>
            <a:ext cx="2265865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钢轨伸缩长度与温度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占位符 2"/>
          <p:cNvSpPr txBox="1"/>
          <p:nvPr/>
        </p:nvSpPr>
        <p:spPr>
          <a:xfrm>
            <a:off x="4569504" y="5399783"/>
            <a:ext cx="2265865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昆虫鸣叫次数与天气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占位符 2"/>
          <p:cNvSpPr txBox="1"/>
          <p:nvPr/>
        </p:nvSpPr>
        <p:spPr>
          <a:xfrm>
            <a:off x="8316653" y="5381232"/>
            <a:ext cx="287705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国内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GDP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与双十一销售额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3394388" y="5952547"/>
            <a:ext cx="5403224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如何利用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线性回归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来快速的解决实际问题呢？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59170" y="1336350"/>
            <a:ext cx="439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线性回归概念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6"/>
              <p:cNvSpPr txBox="1"/>
              <p:nvPr/>
            </p:nvSpPr>
            <p:spPr>
              <a:xfrm>
                <a:off x="4840605" y="1952625"/>
                <a:ext cx="6699885" cy="1219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利用 回归方程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函数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对 一个或多个自变量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特征值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和因变量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目标值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之间 关系进行建模的一种分析方式。</a:t>
                </a:r>
                <a:endParaRPr lang="en-US" altLang="zh-CN" sz="1600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数学公式：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16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lang="en-US" altLang="zh-CN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…</a:t>
                </a:r>
                <a:r>
                  <a:rPr lang="en-US" altLang="zh-CN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1600" dirty="0">
                  <a:solidFill>
                    <a:prstClr val="black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2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605" y="1952625"/>
                <a:ext cx="6699885" cy="12198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659170" y="3429000"/>
            <a:ext cx="670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线性回归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927026" y="4111302"/>
            <a:ext cx="4821012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一元线性回归、多元线性回归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02176" y="749269"/>
            <a:ext cx="7228417" cy="4897152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导数和矩阵、正规方程法、梯度下降算法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457200" lvl="1" indent="-457200">
              <a:lnSpc>
                <a:spcPct val="200000"/>
              </a:lnSpc>
              <a:buFont typeface="Wingdings" panose="05000000000000000000" pitchFamily="2" charset="2"/>
              <a:buChar char="u"/>
            </a:pP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539115"/>
            <a:ext cx="6298881" cy="4855845"/>
          </a:xfrm>
        </p:spPr>
        <p:txBody>
          <a:bodyPr/>
          <a:lstStyle/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知道线性回归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的使用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知道损失函数是什么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一元线性回归案例：预测播仔身高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570933" y="4008379"/>
            <a:ext cx="7603992" cy="4771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需求：播仔身高是</a:t>
            </a:r>
            <a:r>
              <a:rPr lang="en-US" altLang="zh-CN" dirty="0">
                <a:solidFill>
                  <a:srgbClr val="AD2A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176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，请预测体重？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1488885" y="1672696"/>
            <a:ext cx="2085532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已知数据：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9901" y="5355170"/>
            <a:ext cx="57918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对于这个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回归案例如何利用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快速求解呢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？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9" name="图片 8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67" y="5182766"/>
            <a:ext cx="1409816" cy="1409816"/>
          </a:xfrm>
          <a:prstGeom prst="rect">
            <a:avLst/>
          </a:prstGeom>
        </p:spPr>
      </p:pic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3750657" y="1634418"/>
          <a:ext cx="1446032" cy="1953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26"/>
                <a:gridCol w="921706"/>
              </a:tblGrid>
              <a:tr h="307489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buNone/>
                      </a:pPr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+mn-cs"/>
                        </a:rPr>
                        <a:t>编号</a:t>
                      </a:r>
                      <a:endParaRPr lang="zh-CN" altLang="en-US" sz="1200" b="0" kern="120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+mn-cs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身高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70471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160</a:t>
                      </a:r>
                      <a:endParaRPr lang="zh-CN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47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166</a:t>
                      </a:r>
                      <a:endParaRPr lang="zh-CN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47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172</a:t>
                      </a:r>
                      <a:endParaRPr lang="zh-CN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47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174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47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180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47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176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6159598" y="1630958"/>
          <a:ext cx="835716" cy="195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716"/>
              </a:tblGrid>
              <a:tr h="27695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体重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2980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56.3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9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60.6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9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65.1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9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68.5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9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75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920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AD2A26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？</a:t>
                      </a:r>
                      <a:endParaRPr lang="en-US" altLang="zh-CN" sz="1200" b="0" dirty="0">
                        <a:solidFill>
                          <a:srgbClr val="AD2A26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2" name="图形 11" descr="问号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2929" y="2585516"/>
            <a:ext cx="517190" cy="517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</a:t>
            </a:r>
            <a:r>
              <a:rPr kumimoji="1" lang="en-US" altLang="zh-CN" dirty="0">
                <a:solidFill>
                  <a:srgbClr val="595959"/>
                </a:solidFill>
              </a:rPr>
              <a:t>API</a:t>
            </a:r>
            <a:r>
              <a:rPr kumimoji="1" lang="zh-CN" altLang="en-US" dirty="0">
                <a:solidFill>
                  <a:srgbClr val="595959"/>
                </a:solidFill>
              </a:rPr>
              <a:t>介绍</a:t>
            </a:r>
            <a:endParaRPr kumimoji="1" lang="zh-CN" altLang="en-US" dirty="0"/>
          </a:p>
        </p:txBody>
      </p:sp>
      <p:sp>
        <p:nvSpPr>
          <p:cNvPr id="15" name="文本框 13"/>
          <p:cNvSpPr txBox="1"/>
          <p:nvPr/>
        </p:nvSpPr>
        <p:spPr>
          <a:xfrm>
            <a:off x="2984243" y="2720348"/>
            <a:ext cx="1941180" cy="1370880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身高数据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[[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160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66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…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Y:</a:t>
            </a:r>
            <a:r>
              <a:rPr lang="zh-CN" altLang="en-US" sz="1400" dirty="0">
                <a:solidFill>
                  <a:srgbClr val="AD2A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体重数据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=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en-US" altLang="zh-CN" sz="1400" noProof="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56.3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60.6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…]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3"/>
          <p:cNvSpPr txBox="1"/>
          <p:nvPr/>
        </p:nvSpPr>
        <p:spPr>
          <a:xfrm>
            <a:off x="5115197" y="2715426"/>
            <a:ext cx="1751039" cy="1111643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使用类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LinearRegression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实例化对象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微软雅黑" panose="020B0503020204020204" pitchFamily="34" charset="-122"/>
            </a:endParaRPr>
          </a:p>
        </p:txBody>
      </p:sp>
      <p:sp>
        <p:nvSpPr>
          <p:cNvPr id="5" name="任意形状 4"/>
          <p:cNvSpPr/>
          <p:nvPr/>
        </p:nvSpPr>
        <p:spPr>
          <a:xfrm>
            <a:off x="1313567" y="1531276"/>
            <a:ext cx="2029674" cy="725981"/>
          </a:xfrm>
          <a:custGeom>
            <a:avLst/>
            <a:gdLst>
              <a:gd name="connsiteX0" fmla="*/ 0 w 2704111"/>
              <a:gd name="connsiteY0" fmla="*/ 0 h 967216"/>
              <a:gd name="connsiteX1" fmla="*/ 2142444 w 2704111"/>
              <a:gd name="connsiteY1" fmla="*/ 0 h 967216"/>
              <a:gd name="connsiteX2" fmla="*/ 2704111 w 2704111"/>
              <a:gd name="connsiteY2" fmla="*/ 494759 h 967216"/>
              <a:gd name="connsiteX3" fmla="*/ 2142444 w 2704111"/>
              <a:gd name="connsiteY3" fmla="*/ 967216 h 967216"/>
              <a:gd name="connsiteX4" fmla="*/ 0 w 2704111"/>
              <a:gd name="connsiteY4" fmla="*/ 967216 h 967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4111" h="967216">
                <a:moveTo>
                  <a:pt x="0" y="0"/>
                </a:moveTo>
                <a:lnTo>
                  <a:pt x="2142444" y="0"/>
                </a:lnTo>
                <a:lnTo>
                  <a:pt x="2704111" y="494759"/>
                </a:lnTo>
                <a:lnTo>
                  <a:pt x="2142444" y="967216"/>
                </a:lnTo>
                <a:lnTo>
                  <a:pt x="0" y="967216"/>
                </a:lnTo>
                <a:close/>
              </a:path>
            </a:pathLst>
          </a:cu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任意多边形 3"/>
          <p:cNvSpPr/>
          <p:nvPr/>
        </p:nvSpPr>
        <p:spPr bwMode="auto">
          <a:xfrm>
            <a:off x="3006481" y="1531276"/>
            <a:ext cx="2045947" cy="725981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4C525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7" name="文本框 35"/>
          <p:cNvSpPr txBox="1">
            <a:spLocks noChangeArrowheads="1"/>
          </p:cNvSpPr>
          <p:nvPr/>
        </p:nvSpPr>
        <p:spPr bwMode="auto">
          <a:xfrm>
            <a:off x="3243157" y="1642916"/>
            <a:ext cx="1730766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准备</a:t>
            </a:r>
            <a:endParaRPr kumimoji="0" lang="en-US" altLang="zh-CN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kumimoji="0" lang="zh-CN" altLang="en-US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43"/>
          <p:cNvSpPr txBox="1">
            <a:spLocks noChangeArrowheads="1"/>
          </p:cNvSpPr>
          <p:nvPr/>
        </p:nvSpPr>
        <p:spPr bwMode="auto">
          <a:xfrm>
            <a:off x="1301181" y="1608579"/>
            <a:ext cx="1778646" cy="57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导入</a:t>
            </a:r>
            <a:endParaRPr kumimoji="0" lang="en-US" altLang="zh-CN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线性回归包</a:t>
            </a:r>
            <a:endParaRPr kumimoji="0" lang="en-US" altLang="zh-CN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任意多边形 10"/>
          <p:cNvSpPr/>
          <p:nvPr/>
        </p:nvSpPr>
        <p:spPr bwMode="auto">
          <a:xfrm>
            <a:off x="6424853" y="1531276"/>
            <a:ext cx="2044254" cy="725981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4C5252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10" name="文本框 46"/>
          <p:cNvSpPr txBox="1">
            <a:spLocks noChangeArrowheads="1"/>
          </p:cNvSpPr>
          <p:nvPr/>
        </p:nvSpPr>
        <p:spPr bwMode="auto">
          <a:xfrm>
            <a:off x="6666427" y="1608578"/>
            <a:ext cx="1729333" cy="57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训练</a:t>
            </a:r>
            <a:endParaRPr kumimoji="0" lang="en-US" altLang="zh-CN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线性回归模型</a:t>
            </a:r>
            <a:endParaRPr kumimoji="0" lang="zh-CN" altLang="en-US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任意多边形 13"/>
          <p:cNvSpPr/>
          <p:nvPr/>
        </p:nvSpPr>
        <p:spPr bwMode="auto">
          <a:xfrm>
            <a:off x="4715666" y="1531276"/>
            <a:ext cx="2044254" cy="725981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49"/>
          <p:cNvSpPr txBox="1">
            <a:spLocks noChangeArrowheads="1"/>
          </p:cNvSpPr>
          <p:nvPr/>
        </p:nvSpPr>
        <p:spPr bwMode="auto">
          <a:xfrm>
            <a:off x="4972016" y="1642915"/>
            <a:ext cx="1710179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实例化</a:t>
            </a:r>
            <a:endParaRPr kumimoji="0" lang="en-US" altLang="zh-CN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线性回归模型</a:t>
            </a:r>
            <a:endParaRPr kumimoji="0" lang="zh-CN" altLang="en-US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任意多边形 10"/>
          <p:cNvSpPr/>
          <p:nvPr/>
        </p:nvSpPr>
        <p:spPr bwMode="auto">
          <a:xfrm>
            <a:off x="8128442" y="1531276"/>
            <a:ext cx="2044254" cy="725981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3" name="文本框 46"/>
          <p:cNvSpPr txBox="1">
            <a:spLocks noChangeArrowheads="1"/>
          </p:cNvSpPr>
          <p:nvPr/>
        </p:nvSpPr>
        <p:spPr bwMode="auto">
          <a:xfrm>
            <a:off x="8271930" y="1592456"/>
            <a:ext cx="1729333" cy="57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模型</a:t>
            </a:r>
            <a:endParaRPr kumimoji="0" lang="en-US" altLang="zh-CN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预测</a:t>
            </a:r>
            <a:endParaRPr kumimoji="0" lang="zh-CN" altLang="en-US" sz="2000" b="1" i="0" u="none" strike="noStrike" kern="1200" cap="none" spc="0" normalizeH="0" baseline="-3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13"/>
          <p:cNvSpPr txBox="1"/>
          <p:nvPr/>
        </p:nvSpPr>
        <p:spPr>
          <a:xfrm>
            <a:off x="6906585" y="2710473"/>
            <a:ext cx="1655063" cy="1370175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(x, y)</a:t>
            </a:r>
            <a:b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数据中获取规律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查看模型参数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斜率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coef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微软雅黑" panose="020B0503020204020204" pitchFamily="34" charset="-122"/>
              </a:rPr>
              <a:t>截距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intercept_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13"/>
          <p:cNvSpPr txBox="1"/>
          <p:nvPr/>
        </p:nvSpPr>
        <p:spPr>
          <a:xfrm>
            <a:off x="8825588" y="2702429"/>
            <a:ext cx="1710813" cy="595283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estimator.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predict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([[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176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]])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13"/>
          <p:cNvSpPr txBox="1"/>
          <p:nvPr/>
        </p:nvSpPr>
        <p:spPr>
          <a:xfrm>
            <a:off x="892154" y="2715127"/>
            <a:ext cx="2030250" cy="1111643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导包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linear_model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LinearRegression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5770" y="2419863"/>
            <a:ext cx="9890986" cy="2385050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227" y="4697552"/>
            <a:ext cx="2101868" cy="21018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</a:t>
            </a:r>
            <a:r>
              <a:rPr kumimoji="1" lang="en-US" altLang="zh-CN" dirty="0">
                <a:solidFill>
                  <a:srgbClr val="595959"/>
                </a:solidFill>
              </a:rPr>
              <a:t>API</a:t>
            </a:r>
            <a:r>
              <a:rPr kumimoji="1" lang="zh-CN" altLang="en-US" dirty="0">
                <a:solidFill>
                  <a:srgbClr val="595959"/>
                </a:solidFill>
              </a:rPr>
              <a:t>介绍</a:t>
            </a:r>
            <a:endParaRPr kumimoji="1" lang="zh-CN" altLang="en-US" dirty="0"/>
          </a:p>
        </p:txBody>
      </p:sp>
      <p:sp>
        <p:nvSpPr>
          <p:cNvPr id="2" name="TextBox 3"/>
          <p:cNvSpPr txBox="1"/>
          <p:nvPr/>
        </p:nvSpPr>
        <p:spPr>
          <a:xfrm>
            <a:off x="2032612" y="1519309"/>
            <a:ext cx="6334774" cy="490640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400" dirty="0" err="1"/>
              <a:t>sklearn.linear_model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 err="1"/>
              <a:t>LinearRegression</a:t>
            </a:r>
            <a:endParaRPr lang="en-GB" altLang="zh-CN" sz="1400" dirty="0"/>
          </a:p>
          <a:p>
            <a:pPr>
              <a:defRPr/>
            </a:pP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dm01_lr</a:t>
            </a:r>
            <a:r>
              <a:rPr lang="zh-CN" altLang="en-US" sz="1400" dirty="0">
                <a:solidFill>
                  <a:srgbClr val="00627A"/>
                </a:solidFill>
                <a:effectLst/>
              </a:rPr>
              <a:t>预测播仔身高</a:t>
            </a:r>
            <a:r>
              <a:rPr lang="en-US" altLang="zh-CN" sz="1400" dirty="0"/>
              <a:t>():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# 1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准备数据身高和体重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/>
              <a:t>x = [[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160</a:t>
            </a:r>
            <a:r>
              <a:rPr lang="en-GB" altLang="zh-CN" sz="1400" dirty="0"/>
              <a:t>]</a:t>
            </a:r>
            <a:r>
              <a:rPr lang="en-US" altLang="zh-CN" sz="1400" dirty="0"/>
              <a:t>,</a:t>
            </a:r>
            <a:r>
              <a:rPr lang="en-GB" altLang="zh-CN" sz="1400" dirty="0"/>
              <a:t>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166</a:t>
            </a:r>
            <a:r>
              <a:rPr lang="en-GB" altLang="zh-CN" sz="1400" dirty="0"/>
              <a:t>], 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172</a:t>
            </a:r>
            <a:r>
              <a:rPr lang="en-GB" altLang="zh-CN" sz="1400" dirty="0"/>
              <a:t>],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174</a:t>
            </a:r>
            <a:r>
              <a:rPr lang="en-GB" altLang="zh-CN" sz="1400" dirty="0"/>
              <a:t>]</a:t>
            </a:r>
            <a:r>
              <a:rPr lang="en-US" altLang="zh-CN" sz="1400" dirty="0"/>
              <a:t>,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180</a:t>
            </a:r>
            <a:r>
              <a:rPr lang="en-GB" altLang="zh-CN" sz="1400" dirty="0"/>
              <a:t>]]</a:t>
            </a:r>
            <a:br>
              <a:rPr lang="en-GB" altLang="zh-CN" sz="1400" dirty="0"/>
            </a:br>
            <a:r>
              <a:rPr lang="en-GB" altLang="zh-CN" sz="1400" dirty="0"/>
              <a:t>    y =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56.3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60.6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65.1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68.5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75</a:t>
            </a:r>
            <a:r>
              <a:rPr lang="en-GB" altLang="zh-CN" sz="1400" dirty="0"/>
              <a:t>]</a:t>
            </a:r>
            <a:endParaRPr lang="en-GB" altLang="zh-CN" sz="1400" dirty="0"/>
          </a:p>
          <a:p>
            <a:pPr>
              <a:defRPr/>
            </a:pP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2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实例化 线性回归模型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estimator</a:t>
            </a:r>
            <a:br>
              <a:rPr lang="en-GB" altLang="zh-CN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/>
              <a:t>estimator = </a:t>
            </a:r>
            <a:r>
              <a:rPr lang="en-GB" altLang="zh-CN" sz="1400" dirty="0" err="1"/>
              <a:t>LinearRegression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训练 线性回归模型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fit() h(w) = w1x1 + w2x2 + b</a:t>
            </a:r>
            <a:br>
              <a:rPr lang="en-GB" altLang="zh-CN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estimator.fit</a:t>
            </a:r>
            <a:r>
              <a:rPr lang="en-GB" altLang="zh-CN" sz="1400" dirty="0"/>
              <a:t>(x, y)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4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打印 线性回归模型参数 </a:t>
            </a:r>
            <a:r>
              <a:rPr lang="en-GB" altLang="zh-CN" sz="1400" i="1" dirty="0" err="1">
                <a:solidFill>
                  <a:srgbClr val="8C8C8C"/>
                </a:solidFill>
                <a:effectLst/>
              </a:rPr>
              <a:t>coef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_ intercept_</a:t>
            </a:r>
            <a:br>
              <a:rPr lang="en-GB" altLang="zh-CN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estimator.coef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_--&gt;'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estimator.coef</a:t>
            </a:r>
            <a:r>
              <a:rPr lang="en-GB" altLang="zh-CN" sz="1400" dirty="0"/>
              <a:t>_)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estimator.intercept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_--&gt;'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estimator.intercept</a:t>
            </a:r>
            <a:r>
              <a:rPr lang="en-GB" altLang="zh-CN" sz="1400" dirty="0"/>
              <a:t>_)</a:t>
            </a:r>
            <a:endParaRPr lang="en-GB" altLang="zh-CN" sz="1400" dirty="0"/>
          </a:p>
          <a:p>
            <a:pPr>
              <a:lnSpc>
                <a:spcPct val="150000"/>
              </a:lnSpc>
              <a:defRPr/>
            </a:pP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5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模型预测</a:t>
            </a:r>
            <a:r>
              <a:rPr lang="en-GB" altLang="zh-CN" sz="1400" i="1" dirty="0" err="1">
                <a:solidFill>
                  <a:srgbClr val="8C8C8C"/>
                </a:solidFill>
                <a:effectLst/>
              </a:rPr>
              <a:t>predit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()</a:t>
            </a:r>
            <a:br>
              <a:rPr lang="en-GB" altLang="zh-CN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myres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estimator.predict</a:t>
            </a:r>
            <a:r>
              <a:rPr lang="en-GB" altLang="zh-CN" sz="1400" dirty="0"/>
              <a:t>([[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176</a:t>
            </a:r>
            <a:r>
              <a:rPr lang="en-GB" altLang="zh-CN" sz="1400" dirty="0"/>
              <a:t>]])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myres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myres</a:t>
            </a:r>
            <a:r>
              <a:rPr lang="en-GB" altLang="zh-CN" sz="1400" dirty="0"/>
              <a:t>) </a:t>
            </a:r>
            <a:br>
              <a:rPr lang="en-GB" altLang="zh-CN" sz="1400" dirty="0">
                <a:solidFill>
                  <a:srgbClr val="0033B3"/>
                </a:solidFill>
                <a:effectLst/>
              </a:rPr>
            </a:br>
            <a:endParaRPr lang="en-US" altLang="zh-CN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705002" y="2791985"/>
            <a:ext cx="67090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5074920" y="3251200"/>
            <a:ext cx="686752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导包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:from sklearn.linear_model import LinearRegression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实例化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 = </a:t>
            </a:r>
            <a:r>
              <a:rPr kumimoji="0" lang="en-GB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LinearRegression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训练模型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GB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estimator.fit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(x</a:t>
            </a: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_train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y</a:t>
            </a: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_train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kumimoji="0" lang="en-GB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模型预测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GB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estimator.predict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x_test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kumimoji="0" lang="en-GB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701727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线性回归的求解方法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67768" y="1337107"/>
            <a:ext cx="7677091" cy="424512"/>
          </a:xfrm>
        </p:spPr>
        <p:txBody>
          <a:bodyPr/>
          <a:lstStyle/>
          <a:p>
            <a:r>
              <a:rPr lang="zh-CN" altLang="en-US" dirty="0"/>
              <a:t>       通过线性回归</a:t>
            </a:r>
            <a:r>
              <a:rPr lang="en-US" altLang="zh-CN" dirty="0"/>
              <a:t>API</a:t>
            </a:r>
            <a:r>
              <a:rPr lang="zh-CN" altLang="en-US" dirty="0"/>
              <a:t>可快速的找到拟合结果</a:t>
            </a:r>
            <a:r>
              <a:rPr lang="zh-CN" altLang="en-US" dirty="0">
                <a:solidFill>
                  <a:srgbClr val="AD2A26"/>
                </a:solidFill>
              </a:rPr>
              <a:t>，那是怎么求解的呢？</a:t>
            </a:r>
            <a:endParaRPr lang="zh-CN" altLang="en-US" dirty="0">
              <a:solidFill>
                <a:srgbClr val="AD2A26"/>
              </a:solidFill>
            </a:endParaRPr>
          </a:p>
        </p:txBody>
      </p:sp>
      <p:cxnSp>
        <p:nvCxnSpPr>
          <p:cNvPr id="6" name="直线箭头连接符 5"/>
          <p:cNvCxnSpPr/>
          <p:nvPr/>
        </p:nvCxnSpPr>
        <p:spPr>
          <a:xfrm>
            <a:off x="1130705" y="5565059"/>
            <a:ext cx="6788737" cy="14175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V="1">
            <a:off x="1147837" y="2130158"/>
            <a:ext cx="1" cy="3443257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2"/>
          <p:cNvSpPr txBox="1"/>
          <p:nvPr/>
        </p:nvSpPr>
        <p:spPr>
          <a:xfrm>
            <a:off x="7111174" y="5131891"/>
            <a:ext cx="119868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身高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147837" y="1849474"/>
            <a:ext cx="87984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体重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 flipV="1">
            <a:off x="698087" y="2563129"/>
            <a:ext cx="7030064" cy="1571674"/>
          </a:xfrm>
          <a:prstGeom prst="line">
            <a:avLst/>
          </a:prstGeom>
          <a:ln w="3492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1376272" y="2771810"/>
            <a:ext cx="6078187" cy="2510565"/>
            <a:chOff x="1376272" y="2771810"/>
            <a:chExt cx="6078187" cy="2510565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3026" y="3084870"/>
              <a:ext cx="713495" cy="2091449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92217" y="3598605"/>
              <a:ext cx="683267" cy="1622382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8454" y="2771810"/>
              <a:ext cx="1226005" cy="2421907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903818" y="3459946"/>
              <a:ext cx="875725" cy="1716374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376272" y="4001728"/>
              <a:ext cx="518783" cy="1209426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0904" y="2860468"/>
              <a:ext cx="826278" cy="2421907"/>
            </a:xfrm>
            <a:prstGeom prst="rect">
              <a:avLst/>
            </a:prstGeom>
          </p:spPr>
        </p:pic>
      </p:grpSp>
      <p:sp>
        <p:nvSpPr>
          <p:cNvPr id="5" name="椭圆 4"/>
          <p:cNvSpPr/>
          <p:nvPr/>
        </p:nvSpPr>
        <p:spPr>
          <a:xfrm>
            <a:off x="5633717" y="3054688"/>
            <a:ext cx="98424" cy="145784"/>
          </a:xfrm>
          <a:prstGeom prst="ellipse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569691" y="4018518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321347" y="3554199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419499" y="3459946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439008" y="3144785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31624" y="2714684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9" name="直线连接符 18"/>
          <p:cNvCxnSpPr/>
          <p:nvPr/>
        </p:nvCxnSpPr>
        <p:spPr>
          <a:xfrm flipV="1">
            <a:off x="841504" y="1681680"/>
            <a:ext cx="4978110" cy="2867073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V="1">
            <a:off x="710880" y="3134005"/>
            <a:ext cx="7017271" cy="600213"/>
          </a:xfrm>
          <a:prstGeom prst="line">
            <a:avLst/>
          </a:prstGeom>
          <a:ln w="222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 descr="01 (106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7776" y="3429000"/>
            <a:ext cx="1197717" cy="1197717"/>
          </a:xfrm>
          <a:prstGeom prst="rect">
            <a:avLst/>
          </a:prstGeom>
        </p:spPr>
      </p:pic>
      <p:sp>
        <p:nvSpPr>
          <p:cNvPr id="16" name="文本占位符 2"/>
          <p:cNvSpPr txBox="1"/>
          <p:nvPr/>
        </p:nvSpPr>
        <p:spPr>
          <a:xfrm>
            <a:off x="8518597" y="2535574"/>
            <a:ext cx="2962523" cy="17507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如何学习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数据分布规律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？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如何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找到最优解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？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743576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损失函数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6612952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需要设置一个</a:t>
            </a:r>
            <a:r>
              <a:rPr lang="zh-CN" altLang="en-US" dirty="0">
                <a:solidFill>
                  <a:srgbClr val="AD2A26"/>
                </a:solidFill>
              </a:rPr>
              <a:t>评判标准</a:t>
            </a:r>
            <a:endParaRPr lang="en-US" altLang="zh-CN" dirty="0">
              <a:solidFill>
                <a:srgbClr val="AD2A26"/>
              </a:solidFill>
            </a:endParaRPr>
          </a:p>
          <a:p>
            <a:pPr marL="1276350" lvl="1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/>
          <p:cNvCxnSpPr/>
          <p:nvPr/>
        </p:nvCxnSpPr>
        <p:spPr>
          <a:xfrm>
            <a:off x="1137055" y="5552359"/>
            <a:ext cx="5897880" cy="12065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V="1">
            <a:off x="1147837" y="2130158"/>
            <a:ext cx="1" cy="3443257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2"/>
          <p:cNvSpPr txBox="1"/>
          <p:nvPr/>
        </p:nvSpPr>
        <p:spPr>
          <a:xfrm>
            <a:off x="5854509" y="5070296"/>
            <a:ext cx="119868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身高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147837" y="1849474"/>
            <a:ext cx="87984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体重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 flipV="1">
            <a:off x="698087" y="2714684"/>
            <a:ext cx="6330394" cy="1420119"/>
          </a:xfrm>
          <a:prstGeom prst="line">
            <a:avLst/>
          </a:prstGeom>
          <a:ln w="3492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5641466" y="3116680"/>
            <a:ext cx="98424" cy="1457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569691" y="4018518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321347" y="3554199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419499" y="3459946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439008" y="3005303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31624" y="2714684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9" name="直线连接符 18"/>
          <p:cNvCxnSpPr/>
          <p:nvPr/>
        </p:nvCxnSpPr>
        <p:spPr>
          <a:xfrm flipV="1">
            <a:off x="841504" y="1681680"/>
            <a:ext cx="4978110" cy="2867073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V="1">
            <a:off x="710880" y="3290569"/>
            <a:ext cx="6120744" cy="443649"/>
          </a:xfrm>
          <a:prstGeom prst="line">
            <a:avLst/>
          </a:prstGeom>
          <a:ln w="222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左大括号 24"/>
          <p:cNvSpPr/>
          <p:nvPr/>
        </p:nvSpPr>
        <p:spPr>
          <a:xfrm>
            <a:off x="4384765" y="3093433"/>
            <a:ext cx="98424" cy="197136"/>
          </a:xfrm>
          <a:prstGeom prst="lef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文本占位符 2"/>
          <p:cNvSpPr txBox="1"/>
          <p:nvPr/>
        </p:nvSpPr>
        <p:spPr>
          <a:xfrm>
            <a:off x="4494372" y="2747058"/>
            <a:ext cx="1055070" cy="385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占位符 2"/>
          <p:cNvSpPr txBox="1"/>
          <p:nvPr/>
        </p:nvSpPr>
        <p:spPr>
          <a:xfrm>
            <a:off x="5659355" y="2952183"/>
            <a:ext cx="1055070" cy="385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左大括号 36"/>
          <p:cNvSpPr/>
          <p:nvPr/>
        </p:nvSpPr>
        <p:spPr>
          <a:xfrm>
            <a:off x="5583297" y="3005613"/>
            <a:ext cx="98424" cy="197136"/>
          </a:xfrm>
          <a:prstGeom prst="lef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右大括号 38"/>
          <p:cNvSpPr/>
          <p:nvPr/>
        </p:nvSpPr>
        <p:spPr>
          <a:xfrm>
            <a:off x="4440162" y="2447259"/>
            <a:ext cx="142648" cy="596191"/>
          </a:xfrm>
          <a:prstGeom prst="rightBrac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" name="右大括号 39"/>
          <p:cNvSpPr/>
          <p:nvPr/>
        </p:nvSpPr>
        <p:spPr>
          <a:xfrm>
            <a:off x="5700134" y="1739911"/>
            <a:ext cx="154560" cy="1410288"/>
          </a:xfrm>
          <a:prstGeom prst="rightBrac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文本占位符 2"/>
          <p:cNvSpPr txBox="1"/>
          <p:nvPr/>
        </p:nvSpPr>
        <p:spPr>
          <a:xfrm>
            <a:off x="7579176" y="1514337"/>
            <a:ext cx="4114768" cy="123278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400" dirty="0">
                <a:solidFill>
                  <a:prstClr val="black"/>
                </a:solidFill>
              </a:rPr>
              <a:t>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误差概念：用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预测值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–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真实值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就是误差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文本占位符 2"/>
          <p:cNvSpPr txBox="1"/>
          <p:nvPr/>
        </p:nvSpPr>
        <p:spPr>
          <a:xfrm>
            <a:off x="7579360" y="1956435"/>
            <a:ext cx="4032250" cy="17437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400" dirty="0">
                <a:solidFill>
                  <a:prstClr val="black"/>
                </a:solidFill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、损失函数：衡量每个样本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预测值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与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真实值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效果的函数，也叫代价函数、成本函数、目标函数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4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1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常见损失函数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6"/>
              <p:cNvSpPr txBox="1"/>
              <p:nvPr/>
            </p:nvSpPr>
            <p:spPr>
              <a:xfrm>
                <a:off x="7677846" y="3337305"/>
                <a:ext cx="6758020" cy="2353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最小二乘法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误差平方和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1028700" marR="0" lvl="1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均方误差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</a:t>
                </a:r>
                <a:r>
                  <a:rPr lang="zh-CN" altLang="en-US" sz="140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误差平方和取平均值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1028700" marR="0" lvl="1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平均绝对误差 </a:t>
                </a:r>
                <a:r>
                  <a:rPr lang="zh-CN" altLang="en-US" sz="140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误差绝对值和取平均值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1028700" marR="0" lvl="1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zh-CN" altLang="en-US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m</m:t>
                        </m:r>
                      </m:sup>
                      <m:e>
                        <m:d>
                          <m:dPr>
                            <m:begChr m:val="⌈"/>
                            <m:endChr m:val="⌉"/>
                            <m:ctrlPr>
                              <a:rPr kumimoji="0" lang="zh-CN" altLang="en-US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nary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GB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6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846" y="3337305"/>
                <a:ext cx="6758020" cy="2353310"/>
              </a:xfrm>
              <a:prstGeom prst="rect">
                <a:avLst/>
              </a:prstGeom>
              <a:blipFill rotWithShape="1">
                <a:blip r:embed="rId1"/>
                <a:stretch>
                  <a:fillRect l="-1" t="-16" r="6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1137285" y="5768975"/>
            <a:ext cx="6096000" cy="41402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1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图中“</a:t>
            </a:r>
            <a:r>
              <a:rPr kumimoji="1" lang="zh-CN" altLang="en-US" sz="140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红色直线能更好的</a:t>
            </a:r>
            <a:r>
              <a:rPr kumimoji="1"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拟合所有点”</a:t>
            </a:r>
            <a:r>
              <a:rPr kumimoji="1" lang="zh-CN" altLang="en-US" sz="140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也就是</a:t>
            </a:r>
            <a:r>
              <a:rPr lang="zh-CN" altLang="en-US" sz="1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误差最小；</a:t>
            </a:r>
            <a:r>
              <a:rPr lang="zh-CN" altLang="en-US" sz="140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endParaRPr lang="zh-CN" altLang="en-US" sz="140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5208139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损失函数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6612952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损失函数数学</a:t>
            </a:r>
            <a:r>
              <a:rPr lang="zh-CN" altLang="en-US" dirty="0">
                <a:solidFill>
                  <a:srgbClr val="AD2A26"/>
                </a:solidFill>
              </a:rPr>
              <a:t>如何表达</a:t>
            </a:r>
            <a:r>
              <a:rPr lang="zh-CN" altLang="en-US" dirty="0">
                <a:solidFill>
                  <a:schemeClr val="tx1"/>
                </a:solidFill>
              </a:rPr>
              <a:t>呢？又如何求损失函数的</a:t>
            </a:r>
            <a:r>
              <a:rPr lang="zh-CN" altLang="en-US" dirty="0">
                <a:solidFill>
                  <a:srgbClr val="AD2A26"/>
                </a:solidFill>
              </a:rPr>
              <a:t>最小值</a:t>
            </a:r>
            <a:r>
              <a:rPr lang="zh-CN" altLang="en-US" dirty="0">
                <a:solidFill>
                  <a:schemeClr val="tx1"/>
                </a:solidFill>
              </a:rPr>
              <a:t>呢？</a:t>
            </a:r>
            <a:endParaRPr lang="en-US" altLang="zh-CN" dirty="0">
              <a:solidFill>
                <a:schemeClr val="tx1"/>
              </a:solidFill>
            </a:endParaRPr>
          </a:p>
          <a:p>
            <a:pPr marL="1276350" lvl="1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/>
          <p:cNvCxnSpPr/>
          <p:nvPr/>
        </p:nvCxnSpPr>
        <p:spPr>
          <a:xfrm>
            <a:off x="1130705" y="5565059"/>
            <a:ext cx="6788737" cy="14175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V="1">
            <a:off x="1147837" y="2130158"/>
            <a:ext cx="1" cy="3443257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2"/>
          <p:cNvSpPr txBox="1"/>
          <p:nvPr/>
        </p:nvSpPr>
        <p:spPr>
          <a:xfrm>
            <a:off x="7121856" y="5543803"/>
            <a:ext cx="119868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身高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147837" y="1849474"/>
            <a:ext cx="87984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体重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 flipV="1">
            <a:off x="698087" y="2714684"/>
            <a:ext cx="6330394" cy="1420119"/>
          </a:xfrm>
          <a:prstGeom prst="line">
            <a:avLst/>
          </a:prstGeom>
          <a:ln w="3492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5641466" y="3116680"/>
            <a:ext cx="98424" cy="1457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569691" y="4018518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321347" y="3554199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419499" y="3459946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439008" y="3005303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31624" y="2714684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9" name="直线连接符 18"/>
          <p:cNvCxnSpPr/>
          <p:nvPr/>
        </p:nvCxnSpPr>
        <p:spPr>
          <a:xfrm flipV="1">
            <a:off x="841504" y="1681680"/>
            <a:ext cx="4978110" cy="2867073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V="1">
            <a:off x="710880" y="3290569"/>
            <a:ext cx="6120744" cy="443649"/>
          </a:xfrm>
          <a:prstGeom prst="line">
            <a:avLst/>
          </a:prstGeom>
          <a:ln w="222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左大括号 24"/>
          <p:cNvSpPr/>
          <p:nvPr/>
        </p:nvSpPr>
        <p:spPr>
          <a:xfrm>
            <a:off x="4384765" y="3093433"/>
            <a:ext cx="98424" cy="197136"/>
          </a:xfrm>
          <a:prstGeom prst="lef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文本占位符 2"/>
          <p:cNvSpPr txBox="1"/>
          <p:nvPr/>
        </p:nvSpPr>
        <p:spPr>
          <a:xfrm>
            <a:off x="4494372" y="2747058"/>
            <a:ext cx="1055070" cy="385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占位符 2"/>
          <p:cNvSpPr txBox="1"/>
          <p:nvPr/>
        </p:nvSpPr>
        <p:spPr>
          <a:xfrm>
            <a:off x="5659355" y="2952183"/>
            <a:ext cx="1055070" cy="385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左大括号 36"/>
          <p:cNvSpPr/>
          <p:nvPr/>
        </p:nvSpPr>
        <p:spPr>
          <a:xfrm>
            <a:off x="5583297" y="3005613"/>
            <a:ext cx="98424" cy="197136"/>
          </a:xfrm>
          <a:prstGeom prst="lef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右大括号 38"/>
          <p:cNvSpPr/>
          <p:nvPr/>
        </p:nvSpPr>
        <p:spPr>
          <a:xfrm>
            <a:off x="4440162" y="2447259"/>
            <a:ext cx="142648" cy="596191"/>
          </a:xfrm>
          <a:prstGeom prst="rightBrac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" name="右大括号 39"/>
          <p:cNvSpPr/>
          <p:nvPr/>
        </p:nvSpPr>
        <p:spPr>
          <a:xfrm>
            <a:off x="5637072" y="1792461"/>
            <a:ext cx="142645" cy="1183653"/>
          </a:xfrm>
          <a:prstGeom prst="rightBrac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9293" y="1098574"/>
            <a:ext cx="2234870" cy="20725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占位符 2"/>
              <p:cNvSpPr txBox="1"/>
              <p:nvPr/>
            </p:nvSpPr>
            <p:spPr>
              <a:xfrm>
                <a:off x="4028339" y="3673052"/>
                <a:ext cx="6612949" cy="688619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假设线性方程式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y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kx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b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，每个样本的（真实值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-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预测值）来形成损失函数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损失函数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L(k,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b)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172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174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68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求此损失函数小值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17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339" y="3673052"/>
                <a:ext cx="6612949" cy="688619"/>
              </a:xfrm>
              <a:prstGeom prst="rect">
                <a:avLst/>
              </a:prstGeom>
              <a:blipFill rotWithShape="1">
                <a:blip r:embed="rId2"/>
                <a:stretch>
                  <a:fillRect l="-8" t="-31" r="9" b="-102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占位符 2"/>
          <p:cNvSpPr txBox="1"/>
          <p:nvPr/>
        </p:nvSpPr>
        <p:spPr>
          <a:xfrm>
            <a:off x="4060090" y="4816178"/>
            <a:ext cx="6788731" cy="7326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损失函数是关于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的函数，展开会变成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二元二次方程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>
                <a:solidFill>
                  <a:prstClr val="black"/>
                </a:solidFill>
              </a:rPr>
              <a:t>为简化计算，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先固定截距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en-US" altLang="zh-CN" sz="1200" dirty="0">
                <a:solidFill>
                  <a:prstClr val="black"/>
                </a:solidFill>
              </a:rPr>
              <a:t>,x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可设置成一个负值，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固定成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-100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占位符 2"/>
              <p:cNvSpPr txBox="1"/>
              <p:nvPr/>
            </p:nvSpPr>
            <p:spPr>
              <a:xfrm>
                <a:off x="4026067" y="5939722"/>
                <a:ext cx="7102447" cy="676250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损失函数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L(k,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b=-100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172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65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174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68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20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67" y="5939722"/>
                <a:ext cx="7102447" cy="676250"/>
              </a:xfrm>
              <a:prstGeom prst="rect">
                <a:avLst/>
              </a:prstGeom>
              <a:blipFill rotWithShape="1">
                <a:blip r:embed="rId3"/>
                <a:stretch>
                  <a:fillRect l="-2" t="-84" r="2" b="-65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 descr="01 (13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045190" y="5058410"/>
            <a:ext cx="1729105" cy="1729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723307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求损失函数最小值（求损失函数最优解）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5834589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当损失函数取</a:t>
            </a:r>
            <a:r>
              <a:rPr lang="zh-CN" altLang="en-US" dirty="0">
                <a:solidFill>
                  <a:srgbClr val="AD2A26"/>
                </a:solidFill>
              </a:rPr>
              <a:t>最小值时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zh-CN" altLang="en-US" dirty="0">
                <a:solidFill>
                  <a:srgbClr val="AD2A26"/>
                </a:solidFill>
              </a:rPr>
              <a:t>得到</a:t>
            </a:r>
            <a:r>
              <a:rPr lang="en-US" altLang="zh-CN" dirty="0">
                <a:solidFill>
                  <a:srgbClr val="AD2A26"/>
                </a:solidFill>
              </a:rPr>
              <a:t>k</a:t>
            </a:r>
            <a:r>
              <a:rPr lang="zh-CN" altLang="en-US" dirty="0">
                <a:solidFill>
                  <a:srgbClr val="AD2A26"/>
                </a:solidFill>
              </a:rPr>
              <a:t>就是最优解</a:t>
            </a:r>
            <a:endParaRPr lang="zh-CN" altLang="en-US" dirty="0">
              <a:solidFill>
                <a:srgbClr val="AD2A2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占位符 2"/>
              <p:cNvSpPr txBox="1"/>
              <p:nvPr/>
            </p:nvSpPr>
            <p:spPr>
              <a:xfrm>
                <a:off x="841504" y="1810073"/>
                <a:ext cx="7102447" cy="499578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损失函数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L(k,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b=-100)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+(−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+(−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172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+(−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174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+(−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68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+(−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5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04" y="1810073"/>
                <a:ext cx="7102447" cy="499578"/>
              </a:xfrm>
              <a:prstGeom prst="rect">
                <a:avLst/>
              </a:prstGeom>
              <a:blipFill rotWithShape="1">
                <a:blip r:embed="rId1"/>
                <a:stretch>
                  <a:fillRect l="-2" t="-65" r="1" b="-84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占位符 2"/>
              <p:cNvSpPr txBox="1"/>
              <p:nvPr/>
            </p:nvSpPr>
            <p:spPr>
              <a:xfrm>
                <a:off x="869920" y="2388669"/>
                <a:ext cx="5806173" cy="499578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200" dirty="0">
                    <a:solidFill>
                      <a:prstClr val="black"/>
                    </a:solidFill>
                  </a:rPr>
                  <a:t>                                    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156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                                        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172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174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168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175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6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920" y="2388669"/>
                <a:ext cx="5806173" cy="499578"/>
              </a:xfrm>
              <a:prstGeom prst="rect">
                <a:avLst/>
              </a:prstGeom>
              <a:blipFill rotWithShape="1">
                <a:blip r:embed="rId2"/>
                <a:stretch>
                  <a:fillRect l="-10" t="-87" r="6" b="-123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占位符 2"/>
              <p:cNvSpPr txBox="1"/>
              <p:nvPr/>
            </p:nvSpPr>
            <p:spPr>
              <a:xfrm>
                <a:off x="882838" y="2959514"/>
                <a:ext cx="7102447" cy="720293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200" dirty="0">
                    <a:solidFill>
                      <a:prstClr val="black"/>
                    </a:solidFill>
                  </a:rPr>
                  <a:t>                                    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2</m:t>
                    </m:r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160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156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156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0" lang="zh-CN" altLang="en-US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…</a:t>
                </a:r>
                <a:endPara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200" dirty="0">
                    <a:solidFill>
                      <a:prstClr val="black"/>
                    </a:solidFill>
                  </a:rPr>
                  <a:t>                                    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en-US" altLang="zh-CN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45416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zh-CN" alt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zh-CN" altLang="en-US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kumimoji="0" lang="en-US" altLang="zh-CN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281671.6</a:t>
                </a:r>
                <a:r>
                  <a:rPr kumimoji="0" lang="zh-CN" altLang="en-US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k</a:t>
                </a:r>
                <a:r>
                  <a:rPr kumimoji="0" lang="zh-CN" altLang="en-US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:r>
                  <a:rPr kumimoji="0" lang="en-US" altLang="zh-CN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136496.32</a:t>
                </a:r>
                <a:r>
                  <a:rPr kumimoji="0" lang="zh-CN" altLang="en-US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   </a:t>
                </a:r>
                <a:endPara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7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38" y="2959514"/>
                <a:ext cx="7102447" cy="720293"/>
              </a:xfrm>
              <a:prstGeom prst="rect">
                <a:avLst/>
              </a:prstGeom>
              <a:blipFill rotWithShape="1">
                <a:blip r:embed="rId3"/>
                <a:stretch>
                  <a:fillRect l="-3" t="-57" r="2" b="-79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占位符 2"/>
          <p:cNvSpPr txBox="1"/>
          <p:nvPr/>
        </p:nvSpPr>
        <p:spPr>
          <a:xfrm>
            <a:off x="946180" y="3856843"/>
            <a:ext cx="5138850" cy="8097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-(-281671.6)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145416)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0.9685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让损失函数值最小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，就相当于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直线拟合了所有的点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！！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946180" y="4312659"/>
            <a:ext cx="710244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970837" y="4774640"/>
            <a:ext cx="5138850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截距等于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-100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情况下，最优解，求播仔体重：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0.9685x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(-100)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0.9685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176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–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70.456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761" y="2161886"/>
            <a:ext cx="2234870" cy="2072579"/>
          </a:xfrm>
          <a:prstGeom prst="rect">
            <a:avLst/>
          </a:prstGeom>
        </p:spPr>
      </p:pic>
      <p:sp>
        <p:nvSpPr>
          <p:cNvPr id="13" name="文本占位符 2"/>
          <p:cNvSpPr txBox="1"/>
          <p:nvPr/>
        </p:nvSpPr>
        <p:spPr>
          <a:xfrm>
            <a:off x="970837" y="5565593"/>
            <a:ext cx="10363773" cy="109140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想求一条直线更好的拟合所有点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==&gt;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引入损失函数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衡量预测值和真实值效果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Loss(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k,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==&gt;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通过一个优化方法，求损失函数最小值，得到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最优解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1760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损失函数的种类和数学表达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3" y="1292883"/>
            <a:ext cx="7682384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损失函数用来衡量</a:t>
            </a:r>
            <a:r>
              <a:rPr lang="zh-CN" altLang="en-US" dirty="0">
                <a:solidFill>
                  <a:srgbClr val="AD2A26"/>
                </a:solidFill>
              </a:rPr>
              <a:t>真实值和预测值之间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的差异，为优化参数指明了方向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6350" lvl="1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5199721" y="4816514"/>
            <a:ext cx="6612952" cy="7795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2763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占位符 2"/>
              <p:cNvSpPr txBox="1"/>
              <p:nvPr/>
            </p:nvSpPr>
            <p:spPr>
              <a:xfrm>
                <a:off x="1277338" y="4914685"/>
                <a:ext cx="4905021" cy="838925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平均绝对误差 </a:t>
                </a:r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kumimoji="0" lang="en-GB" altLang="zh-CN" sz="1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libaba PuHuiTi" pitchFamily="18" charset="-122"/>
                    <a:cs typeface="Alibaba PuHuiTi" pitchFamily="18" charset="-122"/>
                  </a:rPr>
                  <a:t>Mean Absolute Error , MAE</a:t>
                </a:r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AD2A26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D2A26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损失函数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J(w,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b)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zh-CN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m</m:t>
                        </m:r>
                      </m:sup>
                      <m:e>
                        <m:d>
                          <m:dPr>
                            <m:begChr m:val="⌈"/>
                            <m:endChr m:val="⌉"/>
                            <m:ctrlPr>
                              <a:rPr kumimoji="0" lang="zh-CN" alt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0" lang="zh-CN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zh-CN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4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338" y="4914685"/>
                <a:ext cx="4905021" cy="838925"/>
              </a:xfrm>
              <a:prstGeom prst="rect">
                <a:avLst/>
              </a:prstGeom>
              <a:blipFill rotWithShape="1">
                <a:blip r:embed="rId1"/>
                <a:stretch>
                  <a:fillRect l="-7" t="-50" r="13" b="-180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占位符 2"/>
              <p:cNvSpPr txBox="1"/>
              <p:nvPr/>
            </p:nvSpPr>
            <p:spPr>
              <a:xfrm>
                <a:off x="1228041" y="3449880"/>
                <a:ext cx="5800440" cy="1178953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均方误差 </a:t>
                </a:r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kumimoji="0" lang="en-GB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libaba PuHuiTi" pitchFamily="18" charset="-122"/>
                    <a:cs typeface="Alibaba PuHuiTi" pitchFamily="18" charset="-122"/>
                  </a:rPr>
                  <a:t>M</a:t>
                </a:r>
                <a:r>
                  <a:rPr kumimoji="0" lang="en-GB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rial" panose="020B0604020202020204" pitchFamily="34" charset="0"/>
                  </a:rPr>
                  <a:t>ean-Square Error, MSE</a:t>
                </a:r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AD2A26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D2A26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损失函数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J(w,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b)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0" lang="en-GB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0" lang="zh-CN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zh-CN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0" lang="zh-CN" alt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7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041" y="3449880"/>
                <a:ext cx="5800440" cy="1178953"/>
              </a:xfrm>
              <a:prstGeom prst="rect">
                <a:avLst/>
              </a:prstGeom>
              <a:blipFill rotWithShape="1">
                <a:blip r:embed="rId2"/>
                <a:stretch>
                  <a:fillRect l="-10" t="-47" r="5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423" y="1357169"/>
            <a:ext cx="1991536" cy="18469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占位符 2"/>
              <p:cNvSpPr txBox="1"/>
              <p:nvPr/>
            </p:nvSpPr>
            <p:spPr>
              <a:xfrm>
                <a:off x="1290271" y="1983030"/>
                <a:ext cx="5800440" cy="1178953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最小二乘（</a:t>
                </a:r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Least Squares, LS</a:t>
                </a:r>
                <a:r>
                  <a:rPr kumimoji="0" lang="zh-CN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）</a:t>
                </a:r>
                <a:endParaRPr kumimoji="0" lang="zh-CN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AD2A26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D2A26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损失函数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J(w,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b)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GB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0" lang="zh-CN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zh-CN" alt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0" lang="zh-CN" alt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endParaRPr kumimoji="0" lang="en-US" altLang="zh-CN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5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271" y="1983030"/>
                <a:ext cx="5800440" cy="1178953"/>
              </a:xfrm>
              <a:prstGeom prst="rect">
                <a:avLst/>
              </a:prstGeom>
              <a:blipFill rotWithShape="1">
                <a:blip r:embed="rId4"/>
                <a:stretch>
                  <a:fillRect l="-10" t="-47" r="5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线性回归问题求解</a:t>
            </a:r>
            <a:r>
              <a:rPr kumimoji="1" lang="zh-CN" altLang="en-US" dirty="0"/>
              <a:t>需要什么</a:t>
            </a:r>
            <a:r>
              <a:rPr kumimoji="1" lang="zh-CN" altLang="en-US" dirty="0">
                <a:solidFill>
                  <a:srgbClr val="595959"/>
                </a:solidFill>
              </a:rPr>
              <a:t>？</a:t>
            </a:r>
            <a:endParaRPr kumimoji="1"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480799" y="1877759"/>
            <a:ext cx="9549747" cy="967216"/>
            <a:chOff x="1480799" y="1877759"/>
            <a:chExt cx="9549747" cy="967216"/>
          </a:xfrm>
        </p:grpSpPr>
        <p:sp>
          <p:nvSpPr>
            <p:cNvPr id="5" name="任意形状 4"/>
            <p:cNvSpPr/>
            <p:nvPr/>
          </p:nvSpPr>
          <p:spPr>
            <a:xfrm>
              <a:off x="1497301" y="1877759"/>
              <a:ext cx="2704111" cy="967216"/>
            </a:xfrm>
            <a:custGeom>
              <a:avLst/>
              <a:gdLst>
                <a:gd name="connsiteX0" fmla="*/ 0 w 2704111"/>
                <a:gd name="connsiteY0" fmla="*/ 0 h 967216"/>
                <a:gd name="connsiteX1" fmla="*/ 2142444 w 2704111"/>
                <a:gd name="connsiteY1" fmla="*/ 0 h 967216"/>
                <a:gd name="connsiteX2" fmla="*/ 2704111 w 2704111"/>
                <a:gd name="connsiteY2" fmla="*/ 494759 h 967216"/>
                <a:gd name="connsiteX3" fmla="*/ 2142444 w 2704111"/>
                <a:gd name="connsiteY3" fmla="*/ 967216 h 967216"/>
                <a:gd name="connsiteX4" fmla="*/ 0 w 2704111"/>
                <a:gd name="connsiteY4" fmla="*/ 967216 h 96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4111" h="967216">
                  <a:moveTo>
                    <a:pt x="0" y="0"/>
                  </a:moveTo>
                  <a:lnTo>
                    <a:pt x="2142444" y="0"/>
                  </a:lnTo>
                  <a:lnTo>
                    <a:pt x="2704111" y="494759"/>
                  </a:lnTo>
                  <a:lnTo>
                    <a:pt x="2142444" y="967216"/>
                  </a:lnTo>
                  <a:lnTo>
                    <a:pt x="0" y="967216"/>
                  </a:lnTo>
                  <a:close/>
                </a:path>
              </a:pathLst>
            </a:custGeom>
            <a:solidFill>
              <a:srgbClr val="AD2A26"/>
            </a:solidFill>
            <a:ln w="381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任意多边形 3"/>
            <p:cNvSpPr/>
            <p:nvPr/>
          </p:nvSpPr>
          <p:spPr bwMode="auto">
            <a:xfrm>
              <a:off x="3752750" y="1877759"/>
              <a:ext cx="2725792" cy="967216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4C5252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7" name="文本框 35"/>
            <p:cNvSpPr txBox="1">
              <a:spLocks noChangeArrowheads="1"/>
            </p:cNvSpPr>
            <p:nvPr/>
          </p:nvSpPr>
          <p:spPr bwMode="auto">
            <a:xfrm>
              <a:off x="4068072" y="2161312"/>
              <a:ext cx="230588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线性回归模型</a:t>
              </a:r>
              <a:endPara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文本框 43"/>
            <p:cNvSpPr txBox="1">
              <a:spLocks noChangeArrowheads="1"/>
            </p:cNvSpPr>
            <p:nvPr/>
          </p:nvSpPr>
          <p:spPr bwMode="auto">
            <a:xfrm>
              <a:off x="1480799" y="2140569"/>
              <a:ext cx="2369670" cy="441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数据</a:t>
              </a:r>
              <a:endPara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任意多边形 10"/>
            <p:cNvSpPr/>
            <p:nvPr/>
          </p:nvSpPr>
          <p:spPr bwMode="auto">
            <a:xfrm>
              <a:off x="8307009" y="1877759"/>
              <a:ext cx="2723537" cy="967216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4C5252"/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10" name="文本框 46"/>
            <p:cNvSpPr txBox="1">
              <a:spLocks noChangeArrowheads="1"/>
            </p:cNvSpPr>
            <p:nvPr/>
          </p:nvSpPr>
          <p:spPr bwMode="auto">
            <a:xfrm>
              <a:off x="8628855" y="2140569"/>
              <a:ext cx="2303971" cy="441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20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优化方法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任意多边形 13"/>
            <p:cNvSpPr/>
            <p:nvPr/>
          </p:nvSpPr>
          <p:spPr bwMode="auto">
            <a:xfrm>
              <a:off x="6029879" y="1877759"/>
              <a:ext cx="2723537" cy="967216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AD2A26"/>
            </a:solidFill>
            <a:ln w="381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文本框 49"/>
            <p:cNvSpPr txBox="1">
              <a:spLocks noChangeArrowheads="1"/>
            </p:cNvSpPr>
            <p:nvPr/>
          </p:nvSpPr>
          <p:spPr bwMode="auto">
            <a:xfrm>
              <a:off x="6371410" y="2140569"/>
              <a:ext cx="2278452" cy="441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损失函数</a:t>
              </a:r>
              <a:endParaRPr kumimoji="0" lang="zh-CN" altLang="en-US" sz="2000" b="1" i="0" u="none" strike="noStrike" kern="120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5" name="文本框 13"/>
          <p:cNvSpPr txBox="1"/>
          <p:nvPr/>
        </p:nvSpPr>
        <p:spPr>
          <a:xfrm>
            <a:off x="1466511" y="3379150"/>
            <a:ext cx="2286239" cy="927682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样本数据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特征值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和目标值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组成，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假设数据分布线性的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3"/>
          <p:cNvSpPr txBox="1"/>
          <p:nvPr/>
        </p:nvSpPr>
        <p:spPr>
          <a:xfrm>
            <a:off x="3800475" y="3378835"/>
            <a:ext cx="2570480" cy="1824355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线性方程式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（假设函数）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、样本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特征值有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个，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=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kx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线性关系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 、样本特征值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由多个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</p:txBody>
      </p:sp>
      <p:sp>
        <p:nvSpPr>
          <p:cNvPr id="17" name="文本框 13"/>
          <p:cNvSpPr txBox="1"/>
          <p:nvPr/>
        </p:nvSpPr>
        <p:spPr>
          <a:xfrm>
            <a:off x="6121560" y="3429068"/>
            <a:ext cx="2368740" cy="1455420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损失函数种类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LS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MSE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MAE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3"/>
          <p:cNvSpPr txBox="1"/>
          <p:nvPr/>
        </p:nvSpPr>
        <p:spPr>
          <a:xfrm>
            <a:off x="8625592" y="3370681"/>
            <a:ext cx="2834887" cy="1455420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让损失函数最小的方法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通过求方程法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（求导、求偏导）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2</a:t>
            </a:r>
            <a:r>
              <a:rPr lang="zh-CN" altLang="en-US" sz="140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、</a:t>
            </a:r>
            <a:r>
              <a:rPr lang="zh-CN" altLang="en-US" sz="140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梯度下降法</a:t>
            </a:r>
            <a:r>
              <a:rPr lang="zh-CN" altLang="en-US" sz="140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：</a:t>
            </a:r>
            <a:r>
              <a:rPr lang="zh-CN" altLang="en-US" sz="1400" dirty="0">
                <a:solidFill>
                  <a:srgbClr val="222222"/>
                </a:solidFill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利用梯度逐步</a:t>
            </a:r>
            <a:r>
              <a:rPr lang="zh-CN" altLang="en-US" sz="140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逼近最优解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59170" y="2104581"/>
            <a:ext cx="439591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损失函数概念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9122" y="3323573"/>
            <a:ext cx="67090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回归问题中的损失函数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5143561" y="2544299"/>
            <a:ext cx="6758020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误差：预测值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真实值的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差值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损失函数：衡量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2A26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预测值和真实值效果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的函数，也叫代价函数、目标函数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6"/>
              <p:cNvSpPr txBox="1"/>
              <p:nvPr/>
            </p:nvSpPr>
            <p:spPr>
              <a:xfrm>
                <a:off x="5143561" y="3831335"/>
                <a:ext cx="6758020" cy="2353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最小二乘法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误差平方和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1028700" marR="0" lvl="1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均方误差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</a:t>
                </a:r>
                <a:r>
                  <a:rPr lang="zh-CN" altLang="en-US" sz="140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误差平方和取平均值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1028700" marR="0" lvl="1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A26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平均绝对误差 </a:t>
                </a:r>
                <a:r>
                  <a:rPr lang="zh-CN" altLang="en-US" sz="140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误差绝对值和取平均值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1028700" marR="0" lvl="1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zh-CN" altLang="en-US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m</m:t>
                        </m:r>
                      </m:sup>
                      <m:e>
                        <m:d>
                          <m:dPr>
                            <m:begChr m:val="⌈"/>
                            <m:endChr m:val="⌉"/>
                            <m:ctrlPr>
                              <a:rPr kumimoji="0" lang="zh-CN" altLang="en-US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)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nary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GB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6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61" y="3831335"/>
                <a:ext cx="6758020" cy="2353310"/>
              </a:xfrm>
              <a:prstGeom prst="rect">
                <a:avLst/>
              </a:prstGeom>
              <a:blipFill rotWithShape="1">
                <a:blip r:embed="rId1"/>
                <a:stretch>
                  <a:fillRect l="-1" t="-16" r="6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321575" y="1175540"/>
            <a:ext cx="9214230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有关损失函数下列说法正确的是？（多选）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77752" y="1825152"/>
            <a:ext cx="8163517" cy="2189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）损失函数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(Loss Function)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又被称为代价函数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(Cost Function)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）损失函数可用来描述预测值的分布，看是否为均匀分布还是正态分布、或其他分布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）损失函数可用来描述输出（预测值）和观测结果（真实值）效果，可衡量模型效果好坏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）不同的任务比如分类、回归、聚类问题，一般会采用各自的损失函数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）线性回归求解一般需要数据、假设函数、损失函数、损失函数优化方法等部分，相互配合共同完成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87540" y="5317600"/>
            <a:ext cx="390468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US" altLang="zh-CN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ACDE</a:t>
            </a:r>
            <a:endParaRPr lang="en-US" altLang="zh-CN" sz="1600" b="1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</a:t>
            </a:r>
            <a:r>
              <a:rPr kumimoji="1" lang="zh-CN" altLang="en-US" sz="1600" b="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导数和矩阵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、正规方程法、梯度下降算法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32998" y="506095"/>
            <a:ext cx="6298881" cy="4855845"/>
          </a:xfrm>
        </p:spPr>
        <p:txBody>
          <a:bodyPr/>
          <a:lstStyle/>
          <a:p>
            <a:r>
              <a:rPr kumimoji="1" lang="zh-CN" altLang="en-US" dirty="0"/>
              <a:t>知道什么是导数</a:t>
            </a:r>
            <a:endParaRPr kumimoji="1" lang="en-US" altLang="zh-CN" dirty="0"/>
          </a:p>
          <a:p>
            <a:r>
              <a:rPr kumimoji="1" lang="zh-CN" altLang="en-US" dirty="0"/>
              <a:t>知道什么是偏导</a:t>
            </a:r>
            <a:endParaRPr kumimoji="1" lang="en-US" altLang="zh-CN" dirty="0"/>
          </a:p>
          <a:p>
            <a:r>
              <a:rPr kumimoji="1" lang="zh-CN" altLang="en-US" dirty="0"/>
              <a:t>知道向量和矩阵的简单运算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基本概念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555" y="3702211"/>
            <a:ext cx="4397115" cy="290451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79500" y="1356995"/>
            <a:ext cx="666940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导数是微积分的核心概念，描述 函数在某一点处的瞬时变化率</a:t>
            </a:r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" y="1785620"/>
            <a:ext cx="91694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导数的几何意义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75" y="3028315"/>
            <a:ext cx="3148965" cy="29902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1356995"/>
            <a:ext cx="6089015" cy="1167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导数的入门案例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356995"/>
            <a:ext cx="7213600" cy="3543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890" y="1195070"/>
            <a:ext cx="2793365" cy="360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常见函数的导数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577689"/>
            <a:ext cx="11213805" cy="44112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导数的四则运算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761295"/>
            <a:ext cx="10699223" cy="236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81321" y="4597980"/>
            <a:ext cx="7623411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复合函数求导：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g(h)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是外函数 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h(x)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是内函数。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先对外函数求导，再对内函数求导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081321" y="4944255"/>
                <a:ext cx="4100279" cy="382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举个例子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计算该函数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的导函数 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21" y="4944255"/>
                <a:ext cx="4100279" cy="382990"/>
              </a:xfrm>
              <a:prstGeom prst="rect">
                <a:avLst/>
              </a:prstGeom>
              <a:blipFill rotWithShape="1">
                <a:blip r:embed="rId2"/>
                <a:stretch>
                  <a:fillRect l="-13" t="-38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141059" y="5624452"/>
                <a:ext cx="7232542" cy="393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e>
                      <m:sup>
                        <m:r>
                          <a:rPr lang="zh-CN" altLang="en-US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‘</m:t>
                        </m:r>
                      </m:sup>
                    </m:sSup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sup>
                    </m:sSup>
                    <m:r>
                      <a:rPr lang="zh-CN" altLang="en-US" sz="1400" b="0" i="1" smtClean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400" dirty="0"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+</m:t>
                    </m:r>
                    <m:r>
                      <m:rPr>
                        <m:nor/>
                      </m:rPr>
                      <a:rPr lang="en-US" altLang="zh-CN" sz="1400" dirty="0"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2</m:t>
                    </m:r>
                    <m:r>
                      <m:rPr>
                        <m:nor/>
                      </m:rPr>
                      <a:rPr lang="en-US" altLang="zh-CN" sz="1400" dirty="0"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x</m:t>
                    </m:r>
                  </m:oMath>
                </a14:m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)(2x+2)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+3</a:t>
                </a:r>
                <a:r>
                  <a:rPr lang="en-US" altLang="zh-CN" sz="1400" dirty="0"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+2x)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+12</a:t>
                </a:r>
                <a:r>
                  <a:rPr lang="en-US" altLang="zh-CN" sz="1400" dirty="0"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+8x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059" y="5624452"/>
                <a:ext cx="7232542" cy="393569"/>
              </a:xfrm>
              <a:prstGeom prst="rect">
                <a:avLst/>
              </a:prstGeom>
              <a:blipFill rotWithShape="1">
                <a:blip r:embed="rId3"/>
                <a:stretch>
                  <a:fillRect l="-7" t="-65" r="5" b="-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导数与运算规则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46176"/>
            <a:ext cx="5328344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求导练习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050" y="1794786"/>
            <a:ext cx="4597400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导数与运算规则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2353650" y="1541273"/>
            <a:ext cx="779029" cy="491118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</a:rPr>
              <a:t>1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</a:rPr>
              <a:t>2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</a:rPr>
              <a:t>3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</a:rPr>
              <a:t>4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</a:rPr>
              <a:t>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4894" y="1540884"/>
            <a:ext cx="2259105" cy="106019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339" y="2913881"/>
            <a:ext cx="3368882" cy="5151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807" y="3741803"/>
            <a:ext cx="6272386" cy="3958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339" y="4497127"/>
            <a:ext cx="5328345" cy="6732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339" y="5537391"/>
            <a:ext cx="4232328" cy="643408"/>
          </a:xfrm>
          <a:prstGeom prst="rect">
            <a:avLst/>
          </a:prstGeom>
        </p:spPr>
      </p:pic>
      <p:sp>
        <p:nvSpPr>
          <p:cNvPr id="6" name="文本占位符 2"/>
          <p:cNvSpPr txBox="1"/>
          <p:nvPr/>
        </p:nvSpPr>
        <p:spPr>
          <a:xfrm>
            <a:off x="1022877" y="1346176"/>
            <a:ext cx="5328344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参考答案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1068579"/>
            <a:ext cx="8364294" cy="517190"/>
          </a:xfrm>
        </p:spPr>
        <p:txBody>
          <a:bodyPr/>
          <a:lstStyle/>
          <a:p>
            <a:r>
              <a:rPr kumimoji="1"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导数求极值</a:t>
            </a:r>
            <a:endParaRPr kumimoji="1"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574775"/>
            <a:ext cx="5845756" cy="10057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导数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的位置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</a:rPr>
              <a:t>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函数的极值点 </a:t>
            </a:r>
            <a:endParaRPr kumimoji="0" lang="zh-CN" alt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81321" y="2355337"/>
                <a:ext cx="7623411" cy="590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求函数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4x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的极小值   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21" y="2355337"/>
                <a:ext cx="7623411" cy="590611"/>
              </a:xfrm>
              <a:prstGeom prst="rect">
                <a:avLst/>
              </a:prstGeom>
              <a:blipFill rotWithShape="1">
                <a:blip r:embed="rId1"/>
                <a:stretch>
                  <a:fillRect l="-7" t="-21" r="2" b="-5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842632" y="3307391"/>
                <a:ext cx="7232542" cy="1250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求导法：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ea typeface="Alibaba PuHuiTi" pitchFamily="18" charset="-122"/>
                    <a:cs typeface="Alibaba PuHuiTi" pitchFamily="18" charset="-122"/>
                  </a:rPr>
                  <a:t>对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ea typeface="Alibaba PuHuiTi" pitchFamily="18" charset="-122"/>
                    <a:cs typeface="Alibaba PuHuiTi" pitchFamily="18" charset="-122"/>
                  </a:rPr>
                  <a:t>求导，令导数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ea typeface="Alibaba PuHuiTi" pitchFamily="18" charset="-122"/>
                    <a:cs typeface="Alibaba PuHuiTi" pitchFamily="18" charset="-122"/>
                  </a:rPr>
                  <a:t>=0</a:t>
                </a:r>
                <a:r>
                  <a:rPr lang="zh-CN" altLang="en-US" sz="2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：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‘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2x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-4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lang="zh-CN" altLang="en-US" sz="2400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。所以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极小值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lang="en-US" altLang="zh-CN" sz="2400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632" y="3307391"/>
                <a:ext cx="7232542" cy="1250950"/>
              </a:xfrm>
              <a:prstGeom prst="rect">
                <a:avLst/>
              </a:prstGeom>
              <a:blipFill rotWithShape="1">
                <a:blip r:embed="rId2"/>
                <a:stretch>
                  <a:fillRect l="-7" t="-25" r="5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31911" y="2011992"/>
            <a:ext cx="21478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 </a:t>
            </a:r>
            <a:r>
              <a:rPr kumimoji="1" lang="en-GB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Derivative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742500" y="2413803"/>
            <a:ext cx="688352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导数是微积分中的一个核心概念，它用于描述函数在某一点上的瞬时变化率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49245" y="2898687"/>
            <a:ext cx="34935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导数的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求解方法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4742740" y="3267394"/>
            <a:ext cx="6652916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常数、指数函数、幂指数、正弦余弦都有自己的导函数，会查表应用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特别注意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复合函数求导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：先对外函数求导，在对内函数求导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26331" y="4192200"/>
            <a:ext cx="559237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利用导数求极值</a:t>
            </a:r>
            <a:endParaRPr kumimoji="1" lang="en-US" altLang="zh-CN" b="1" dirty="0">
              <a:solidFill>
                <a:prstClr val="black">
                  <a:lumMod val="65000"/>
                  <a:lumOff val="3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4742546" y="4649486"/>
            <a:ext cx="6758020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导数为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的位置即为极值点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偏导</a:t>
            </a:r>
            <a:endParaRPr kumimoji="1"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255" y="1440180"/>
            <a:ext cx="9099550" cy="4743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81321" y="1882949"/>
                <a:ext cx="6449031" cy="474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1.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计算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Z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2xy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在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方向的偏导数    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21" y="1882949"/>
                <a:ext cx="6449031" cy="474980"/>
              </a:xfrm>
              <a:prstGeom prst="rect">
                <a:avLst/>
              </a:prstGeom>
              <a:blipFill rotWithShape="1">
                <a:blip r:embed="rId1"/>
                <a:stretch>
                  <a:fillRect l="-9" t="-37" r="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818606" y="2215368"/>
                <a:ext cx="6866268" cy="1039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den>
                    </m:f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n-US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xy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2x</a:t>
                </a:r>
                <a:r>
                  <a:rPr kumimoji="0" lang="zh-CN" altLang="en-US" sz="1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2y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–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2x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2y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</a:t>
                </a:r>
                <a:endParaRPr lang="en-US" altLang="zh-CN" sz="1400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den>
                    </m:f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xy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en-US" altLang="zh-CN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2x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–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6y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2x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–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6y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06" y="2215368"/>
                <a:ext cx="6866268" cy="1039965"/>
              </a:xfrm>
              <a:prstGeom prst="rect">
                <a:avLst/>
              </a:prstGeom>
              <a:blipFill rotWithShape="1">
                <a:blip r:embed="rId2"/>
                <a:stretch>
                  <a:fillRect l="-9" t="-47" r="9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63391" y="3255333"/>
                <a:ext cx="4396114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2.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计算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Z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sup>
                    </m:sSup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在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方向的偏导数    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91" y="3255333"/>
                <a:ext cx="4396114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9" t="-70" r="9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758069" y="3745648"/>
                <a:ext cx="7402871" cy="10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den>
                    </m:f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n-US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y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p>
                    </m:s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lang="zh-CN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den>
                    </m:f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y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en-US" altLang="zh-CN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ln</a:t>
                </a:r>
                <a:r>
                  <a:rPr lang="en-US" altLang="zh-CN" sz="1400" b="1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endParaRPr lang="en-US" altLang="zh-CN" sz="1400" b="1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069" y="3745648"/>
                <a:ext cx="7402871" cy="1057910"/>
              </a:xfrm>
              <a:prstGeom prst="rect">
                <a:avLst/>
              </a:prstGeom>
              <a:blipFill rotWithShape="1">
                <a:blip r:embed="rId4"/>
                <a:stretch>
                  <a:fillRect l="-5" t="-40" r="6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081405" y="4883785"/>
                <a:ext cx="8293735" cy="502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3.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计算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Z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e</m:t>
                        </m:r>
                      </m:e>
                      <m:sup>
                        <m: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sup>
                    </m:sSup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在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方向的偏导数  注意：本题目是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复合函数、多元函数求偏导    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5" y="4883785"/>
                <a:ext cx="8293735" cy="5022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818606" y="5382214"/>
                <a:ext cx="6416754" cy="1039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den>
                    </m:f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n-US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e</m:t>
                            </m:r>
                          </m:e>
                          <m:sup>
                            <m:r>
                              <a:rPr lang="zh-CN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0" lang="en-US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400" dirty="0">
                        <a:solidFill>
                          <a:prstClr val="black"/>
                        </a:solidFill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e</m:t>
                        </m:r>
                      </m:e>
                      <m:sup>
                        <m:r>
                          <a:rPr lang="zh-CN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400" dirty="0">
                        <a:solidFill>
                          <a:prstClr val="black"/>
                        </a:solidFill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)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4x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e</m:t>
                        </m:r>
                      </m:e>
                      <m:sup>
                        <m:r>
                          <a:rPr lang="zh-CN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sup>
                    </m:s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den>
                    </m:f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e</m:t>
                            </m:r>
                          </m:e>
                          <m:sup>
                            <m:r>
                              <a:rPr lang="zh-CN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zh-CN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a:rPr lang="en-US" altLang="zh-CN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a:rPr lang="zh-CN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400" dirty="0">
                        <a:solidFill>
                          <a:prstClr val="black"/>
                        </a:solidFill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e</m:t>
                        </m:r>
                      </m:e>
                      <m:sup>
                        <m:r>
                          <a:rPr lang="zh-CN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400" dirty="0">
                        <a:solidFill>
                          <a:prstClr val="black"/>
                        </a:solidFill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)</m:t>
                    </m:r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-3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e</m:t>
                        </m:r>
                      </m:e>
                      <m:sup>
                        <m:r>
                          <a:rPr lang="zh-CN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sup>
                    </m:s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06" y="5382214"/>
                <a:ext cx="6416754" cy="1039965"/>
              </a:xfrm>
              <a:prstGeom prst="rect">
                <a:avLst/>
              </a:prstGeom>
              <a:blipFill rotWithShape="1">
                <a:blip r:embed="rId6"/>
                <a:stretch>
                  <a:fillRect l="-9" t="-57" r="1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偏导</a:t>
            </a:r>
            <a:endParaRPr kumimoji="1"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122572" y="1421741"/>
            <a:ext cx="5328344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求偏导练习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偏导</a:t>
            </a:r>
            <a:endParaRPr kumimoji="1"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82345" y="1795145"/>
                <a:ext cx="8233410" cy="522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Z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是关于</a:t>
                </a: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和</a:t>
                </a: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的函数记成</a:t>
                </a: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z(</a:t>
                </a:r>
                <a:r>
                  <a:rPr lang="en-US" altLang="zh-CN" dirty="0" err="1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x,y</a:t>
                </a: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zh-CN" altLang="en-US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，求解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z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noProof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的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极小值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?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45" y="1795145"/>
                <a:ext cx="8233410" cy="52260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377950" y="2251075"/>
                <a:ext cx="9390380" cy="1105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zh-CN" altLang="en-US" b="0" i="0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2(x-2)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2(x-2)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2x-4 = 0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lang="zh-CN" altLang="en-US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所以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x=2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时可以在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方向求导极小值</a:t>
                </a:r>
                <a:endParaRPr lang="en-US" altLang="zh-CN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950" y="2251075"/>
                <a:ext cx="9390380" cy="11055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00810" y="3670300"/>
                <a:ext cx="9186545" cy="1156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z</m:t>
                        </m:r>
                      </m:num>
                      <m:den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den>
                    </m:f>
                  </m:oMath>
                </a14:m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zh-CN" altLang="en-US" b="0" i="0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y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2(y-3)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2(y-3)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2y-6 = 0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lang="en-US" altLang="zh-CN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所以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y=3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时可以在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方向求导极小值</a:t>
                </a:r>
                <a:endParaRPr lang="en-US" altLang="zh-CN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810" y="3670300"/>
                <a:ext cx="9186545" cy="11563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占位符 2"/>
          <p:cNvSpPr txBox="1"/>
          <p:nvPr/>
        </p:nvSpPr>
        <p:spPr>
          <a:xfrm>
            <a:off x="1022877" y="1346176"/>
            <a:ext cx="5328344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求偏导练习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18965" y="2578100"/>
            <a:ext cx="1894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偏导数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4570095" y="3138170"/>
            <a:ext cx="607377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偏导数是多元函数微积分中的一个基本概念，对于一个给定的多元函数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f(x1,x2,…,xn)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，它的偏导数表示当且仅当一个变量变化而其他所有变量保持不变时，函数值的变化率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基础数学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机器学习中常见的数据表述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027291" y="2385724"/>
            <a:ext cx="4912332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标量</a:t>
            </a:r>
            <a:r>
              <a:rPr lang="en-GB" altLang="zh-CN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scalar</a:t>
            </a: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 ：</a:t>
            </a:r>
            <a:r>
              <a:rPr lang="zh-CN" altLang="en-US" sz="1400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一个独立存在的数，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只有大小没有方向</a:t>
            </a:r>
            <a:endParaRPr lang="zh-CN" altLang="en-GB" sz="1400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1315085" y="1571625"/>
            <a:ext cx="60159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宗旨：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用到就学什么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，不要盲目的展开、大篇幅学数学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027291" y="3047270"/>
            <a:ext cx="6344227" cy="44166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向量</a:t>
            </a:r>
            <a:r>
              <a:rPr lang="en-GB" altLang="zh-CN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vector</a:t>
            </a: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 ：</a:t>
            </a:r>
            <a:r>
              <a:rPr lang="zh-CN" altLang="en-US" sz="1400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向量指一列顺序排列的元素。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默认是列向量</a:t>
            </a:r>
            <a:endParaRPr lang="zh-CN" altLang="en-GB" sz="1400" dirty="0"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 flipH="1">
            <a:off x="1707281" y="3463695"/>
            <a:ext cx="2483054" cy="8973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比如张三的数理化成绩信息：</a:t>
            </a:r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70,80,90</a:t>
            </a:r>
            <a:endParaRPr lang="en-US" altLang="zh-CN" sz="12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向量有大小和方向</a:t>
            </a:r>
            <a:endParaRPr lang="en-US" altLang="zh-CN" sz="12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4190335" y="3462892"/>
                <a:ext cx="630149" cy="596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Alibaba PuHuiTi" pitchFamily="18" charset="-122"/>
                              <a:cs typeface="Alibaba PuHuiTi" pitchFamily="18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70</m:t>
                              </m:r>
                            </m:num>
                            <m:den>
                              <m:eqArr>
                                <m:eqArrPr>
                                  <m:ctrlPr>
                                    <a:rPr lang="en-US" altLang="zh-CN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libaba PuHuiTi" pitchFamily="18" charset="-122"/>
                                      <a:cs typeface="Alibaba PuHuiTi" pitchFamily="18" charset="-122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libaba PuHuiTi" pitchFamily="18" charset="-122"/>
                                      <a:cs typeface="Alibaba PuHuiTi" pitchFamily="18" charset="-122"/>
                                    </a:rPr>
                                    <m:t>80</m:t>
                                  </m:r>
                                </m:e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Alibaba PuHuiTi" pitchFamily="18" charset="-122"/>
                                      <a:cs typeface="Alibaba PuHuiTi" pitchFamily="18" charset="-122"/>
                                    </a:rPr>
                                    <m:t>90</m:t>
                                  </m:r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2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335" y="3462892"/>
                <a:ext cx="630149" cy="596958"/>
              </a:xfrm>
              <a:prstGeom prst="rect">
                <a:avLst/>
              </a:prstGeom>
              <a:blipFill rotWithShape="1">
                <a:blip r:embed="rId1"/>
                <a:stretch>
                  <a:fillRect l="-96" t="-40" r="32" b="-9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4704437" y="3541599"/>
                <a:ext cx="846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∈</m:t>
                    </m:r>
                    <m:sSup>
                      <m:sSupPr>
                        <m:ctrlPr>
                          <a:rPr lang="en-US" altLang="zh-CN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R</m:t>
                        </m:r>
                      </m:e>
                      <m:sup>
                        <m:r>
                          <a:rPr lang="en-US" altLang="zh-CN" sz="1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437" y="3541599"/>
                <a:ext cx="84681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42" t="-55" r="10" b="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占位符 2"/>
          <p:cNvSpPr txBox="1"/>
          <p:nvPr/>
        </p:nvSpPr>
        <p:spPr>
          <a:xfrm>
            <a:off x="1027292" y="4264524"/>
            <a:ext cx="4523960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矩阵</a:t>
            </a:r>
            <a:r>
              <a:rPr lang="en-GB" altLang="zh-CN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matrix</a:t>
            </a: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 ：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二维数组</a:t>
            </a:r>
            <a:endParaRPr lang="zh-CN" altLang="en-GB" sz="1400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4190335" y="4738062"/>
                <a:ext cx="846814" cy="458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Alibaba PuHuiTi" pitchFamily="18" charset="-122"/>
                              <a:cs typeface="Alibaba PuHuiTi" pitchFamily="18" charset="-12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70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,</m:t>
                              </m:r>
                              <m:r>
                                <a:rPr lang="zh-CN" alt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80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,</m:t>
                              </m:r>
                              <m:r>
                                <a:rPr lang="zh-CN" alt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90</m:t>
                              </m:r>
                            </m:num>
                            <m:den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75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,</m:t>
                              </m:r>
                              <m:r>
                                <a:rPr lang="zh-CN" alt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85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,</m:t>
                              </m:r>
                              <m:r>
                                <a:rPr lang="zh-CN" altLang="en-US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95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2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335" y="4738062"/>
                <a:ext cx="846814" cy="458715"/>
              </a:xfrm>
              <a:prstGeom prst="rect">
                <a:avLst/>
              </a:prstGeom>
              <a:blipFill rotWithShape="1">
                <a:blip r:embed="rId3"/>
                <a:stretch>
                  <a:fillRect l="-71" t="-71" r="-9784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083103" y="4778275"/>
                <a:ext cx="9996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Alibaba PuHuiTi" pitchFamily="18" charset="-122"/>
                          <a:cs typeface="Alibaba PuHuiTi" pitchFamily="18" charset="-122"/>
                        </a:rPr>
                        <m:t>∈</m:t>
                      </m:r>
                      <m:sSup>
                        <m:sSupPr>
                          <m:ctrlPr>
                            <a:rPr lang="en-US" altLang="zh-CN" sz="1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Alibaba PuHuiTi" pitchFamily="18" charset="-122"/>
                              <a:cs typeface="Alibaba PuHuiTi" pitchFamily="18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Alibaba PuHuiTi" pitchFamily="18" charset="-122"/>
                              <a:cs typeface="Alibaba PuHuiTi" pitchFamily="18" charset="-122"/>
                            </a:rPr>
                            <m:t>R</m:t>
                          </m:r>
                        </m:e>
                        <m:sup>
                          <m:r>
                            <a:rPr lang="en-US" altLang="zh-CN" sz="1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Alibaba PuHuiTi" pitchFamily="18" charset="-122"/>
                              <a:cs typeface="Alibaba PuHuiTi" pitchFamily="18" charset="-122"/>
                            </a:rPr>
                            <m:t>2</m:t>
                          </m:r>
                          <m:r>
                            <a:rPr lang="zh-CN" altLang="en-US" sz="1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Alibaba PuHuiTi" pitchFamily="18" charset="-122"/>
                              <a:cs typeface="Alibaba PuHuiTi" pitchFamily="18" charset="-122"/>
                            </a:rPr>
                            <m:t>∗</m:t>
                          </m:r>
                          <m:r>
                            <a:rPr lang="en-US" altLang="zh-CN" sz="1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Alibaba PuHuiTi" pitchFamily="18" charset="-122"/>
                              <a:cs typeface="Alibaba PuHuiTi" pitchFamily="18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103" y="4778275"/>
                <a:ext cx="9996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56" t="-145" r="8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2"/>
          <p:cNvSpPr txBox="1"/>
          <p:nvPr/>
        </p:nvSpPr>
        <p:spPr>
          <a:xfrm flipH="1">
            <a:off x="1613190" y="4657744"/>
            <a:ext cx="2483054" cy="62036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比如张三、李四的数理化成绩信息：</a:t>
            </a:r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70,80,90</a:t>
            </a: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</a:t>
            </a:r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75,85,95</a:t>
            </a:r>
            <a:endParaRPr lang="en-US" altLang="zh-CN" sz="12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304527" y="3875651"/>
            <a:ext cx="1077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</a:t>
            </a: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代表多少行 </a:t>
            </a:r>
            <a:endParaRPr lang="en-US" altLang="zh-CN" sz="12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代表特征数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6" name="文本占位符 2"/>
          <p:cNvSpPr txBox="1"/>
          <p:nvPr/>
        </p:nvSpPr>
        <p:spPr>
          <a:xfrm>
            <a:off x="1027291" y="5420526"/>
            <a:ext cx="5260317" cy="38350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张量</a:t>
            </a:r>
            <a:r>
              <a:rPr lang="en-US" altLang="zh-CN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 ：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数组</a:t>
            </a:r>
            <a:r>
              <a:rPr lang="zh-CN" altLang="en-US" sz="1400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，张量是基于向量和矩阵的推广 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1478022" y="5905641"/>
                <a:ext cx="821026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数学中</m:t>
                    </m:r>
                    <m:r>
                      <a:rPr lang="zh-CN" alt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的</m:t>
                    </m:r>
                    <m:r>
                      <a:rPr lang="zh-CN" altLang="en-US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张量</m:t>
                    </m:r>
                    <m:r>
                      <a:rPr lang="zh-CN" altLang="en-US" sz="1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a:rPr lang="en-US" altLang="zh-CN" sz="1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𝑡𝑒𝑛𝑠𝑜𝑟</m:t>
                    </m:r>
                    <m:r>
                      <a:rPr lang="zh-CN" altLang="en-US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∈</m:t>
                    </m:r>
                    <m:sSup>
                      <m:sSupPr>
                        <m:ctrlPr>
                          <a:rPr lang="en-US" altLang="zh-CN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R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lang="zh-CN" altLang="en-US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∗</m:t>
                        </m:r>
                        <m:r>
                          <a:rPr lang="en-US" altLang="zh-CN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zh-CN" altLang="en-US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∗</m:t>
                        </m:r>
                        <m:r>
                          <a:rPr lang="en-US" altLang="zh-CN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矩阵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或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endParaRPr lang="en-US" altLang="zh-CN" sz="12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022" y="5905641"/>
                <a:ext cx="8210264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5" t="-51" r="1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0186" y="1862490"/>
            <a:ext cx="630148" cy="1081471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531" y="3973053"/>
            <a:ext cx="665529" cy="23440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967" y="4419897"/>
            <a:ext cx="1818884" cy="97479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基础数学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向量和矩阵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范数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Norm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1671715" y="1719704"/>
            <a:ext cx="5927490" cy="103156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范数</a:t>
            </a:r>
            <a:r>
              <a:rPr lang="en-US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范数</a:t>
            </a:r>
            <a:r>
              <a:rPr lang="en-US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)-</a:t>
            </a:r>
            <a:r>
              <a:rPr lang="zh-CN" alt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向量中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各个元素绝对值之和</a:t>
            </a:r>
            <a:endParaRPr lang="en-US" altLang="zh-CN" sz="1400" b="0" i="0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范数</a:t>
            </a:r>
            <a:r>
              <a:rPr lang="en-US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范数</a:t>
            </a:r>
            <a:r>
              <a:rPr lang="en-US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)-</a:t>
            </a:r>
            <a:r>
              <a:rPr lang="zh-CN" alt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向量的模长，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每个元素平方求和，再开平方根</a:t>
            </a:r>
            <a:endParaRPr lang="en-US" altLang="zh-CN" sz="1400" b="0" i="0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GB" altLang="zh-CN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p-</a:t>
            </a:r>
            <a:r>
              <a:rPr lang="zh-CN" alt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范数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：向量中每一个元素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幂求和，在开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次根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985" y="1311275"/>
            <a:ext cx="9171305" cy="499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norm)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是数学中的一种基本概念，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用于度量向量或者矩阵的大小或者长度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1019633" y="2730813"/>
            <a:ext cx="1584136" cy="38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范数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2"/>
              <p:cNvSpPr txBox="1"/>
              <p:nvPr/>
            </p:nvSpPr>
            <p:spPr>
              <a:xfrm flipH="1">
                <a:off x="1684220" y="3122396"/>
                <a:ext cx="4412218" cy="3829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</m:d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84220" y="3122396"/>
                <a:ext cx="4412218" cy="382990"/>
              </a:xfrm>
              <a:prstGeom prst="rect">
                <a:avLst/>
              </a:prstGeom>
              <a:blipFill rotWithShape="1">
                <a:blip r:embed="rId1"/>
                <a:stretch>
                  <a:fillRect l="-5" t="-26" r="10" b="49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占位符 2"/>
          <p:cNvSpPr txBox="1"/>
          <p:nvPr/>
        </p:nvSpPr>
        <p:spPr>
          <a:xfrm>
            <a:off x="1019633" y="3658563"/>
            <a:ext cx="1584136" cy="38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范数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2"/>
              <p:cNvSpPr txBox="1"/>
              <p:nvPr/>
            </p:nvSpPr>
            <p:spPr>
              <a:xfrm flipH="1">
                <a:off x="1680845" y="4033520"/>
                <a:ext cx="5327650" cy="5124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</m:d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kumimoji="0" lang="zh-CN" altLang="en-US" sz="14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radPr>
                      <m:deg>
                        <m:r>
                          <a:rPr kumimoji="0" lang="en-US" altLang="zh-CN" sz="14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deg>
                      <m:e>
                        <m:sSup>
                          <m:sSupPr>
                            <m:ctrlPr>
                              <a:rPr kumimoji="0" lang="en-US" altLang="zh-CN" sz="1400" b="0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e>
                          <m:sup>
                            <m:r>
                              <a:rPr kumimoji="0" lang="en-US" altLang="zh-CN" sz="1400" b="0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14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(−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  <m:r>
                              <a:rPr lang="en-US" altLang="zh-CN" sz="1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radPr>
                      <m:deg/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14</m:t>
                        </m:r>
                      </m:e>
                    </m:ra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7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80845" y="4033520"/>
                <a:ext cx="5327650" cy="5124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2"/>
              <p:cNvSpPr txBox="1"/>
              <p:nvPr/>
            </p:nvSpPr>
            <p:spPr>
              <a:xfrm flipH="1">
                <a:off x="1680210" y="4573270"/>
                <a:ext cx="6867525" cy="4260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</a:t>
                </a:r>
                <a:r>
                  <a:rPr lang="zh-CN" altLang="en-US" sz="1400" noProof="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注意：</a:t>
                </a:r>
                <a:r>
                  <a:rPr lang="zh-CN" altLang="en-US" sz="1400" noProof="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向量的转置</a:t>
                </a:r>
                <a:r>
                  <a:rPr lang="en-US" altLang="zh-CN" sz="1400" noProof="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@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向量       </a:t>
                </a:r>
                <a:r>
                  <a:rPr lang="zh-CN" altLang="en-US" sz="1400" noProof="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  <m:r>
                      <a:rPr lang="en-US" altLang="zh-CN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+</m:t>
                    </m:r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  <m:r>
                      <a:rPr lang="en-US" altLang="zh-CN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+</m:t>
                    </m:r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(−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14</a:t>
                </a:r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  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2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80210" y="4573270"/>
                <a:ext cx="6867525" cy="4260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2"/>
              <p:cNvSpPr txBox="1"/>
              <p:nvPr/>
            </p:nvSpPr>
            <p:spPr>
              <a:xfrm flipH="1">
                <a:off x="1680538" y="5007680"/>
                <a:ext cx="5172147" cy="3861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为向量：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lang="zh-CN" altLang="en-US" sz="1400" dirty="0">
                    <a:solidFill>
                      <a:prstClr val="black"/>
                    </a:solidFill>
                    <a:ea typeface="Alibaba PuHuiTi" pitchFamily="18" charset="-122"/>
                    <a:cs typeface="Alibaba PuHuiTi" pitchFamily="18" charset="-122"/>
                  </a:rPr>
                  <a:t>  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</m:d>
                      </m:e>
                      <m:sub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是一样的</a:t>
                </a:r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5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80538" y="5007680"/>
                <a:ext cx="5172147" cy="386131"/>
              </a:xfrm>
              <a:prstGeom prst="rect">
                <a:avLst/>
              </a:prstGeom>
              <a:blipFill rotWithShape="1">
                <a:blip r:embed="rId4"/>
                <a:stretch>
                  <a:fillRect l="-6" t="-18" r="8" b="3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占位符 2"/>
          <p:cNvSpPr txBox="1"/>
          <p:nvPr/>
        </p:nvSpPr>
        <p:spPr>
          <a:xfrm>
            <a:off x="1019633" y="5585184"/>
            <a:ext cx="1584136" cy="38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Lp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范数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7558" y="5644922"/>
            <a:ext cx="2949731" cy="3832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基础数学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向量和矩阵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向量运算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1671715" y="1797528"/>
            <a:ext cx="4514398" cy="34336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几何意义上表示：向量</a:t>
            </a:r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(1,1),</a:t>
            </a: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向量（</a:t>
            </a:r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1,2</a:t>
            </a:r>
            <a:r>
              <a:rPr lang="zh-CN" altLang="en-US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009392" y="2471130"/>
            <a:ext cx="318322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向量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基运算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5328344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向量是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有大小和方向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5" name="直线箭头连接符 4"/>
          <p:cNvCxnSpPr/>
          <p:nvPr/>
        </p:nvCxnSpPr>
        <p:spPr>
          <a:xfrm>
            <a:off x="7206071" y="2471836"/>
            <a:ext cx="1575881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/>
          <p:nvPr/>
        </p:nvCxnSpPr>
        <p:spPr>
          <a:xfrm flipV="1">
            <a:off x="7206071" y="1298189"/>
            <a:ext cx="0" cy="119749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/>
          <p:nvPr/>
        </p:nvCxnSpPr>
        <p:spPr>
          <a:xfrm flipV="1">
            <a:off x="7206071" y="2149826"/>
            <a:ext cx="379379" cy="3220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/>
          <p:nvPr/>
        </p:nvCxnSpPr>
        <p:spPr>
          <a:xfrm flipV="1">
            <a:off x="7206071" y="1815379"/>
            <a:ext cx="379379" cy="6564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"/>
          <p:cNvSpPr txBox="1"/>
          <p:nvPr/>
        </p:nvSpPr>
        <p:spPr>
          <a:xfrm flipH="1">
            <a:off x="7585450" y="1588030"/>
            <a:ext cx="783427" cy="34336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(1,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文本框 2"/>
          <p:cNvSpPr txBox="1"/>
          <p:nvPr/>
        </p:nvSpPr>
        <p:spPr>
          <a:xfrm flipH="1">
            <a:off x="7604173" y="2047408"/>
            <a:ext cx="783427" cy="34336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A(1,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2"/>
              <p:cNvSpPr txBox="1"/>
              <p:nvPr/>
            </p:nvSpPr>
            <p:spPr>
              <a:xfrm flipH="1">
                <a:off x="1671955" y="3005455"/>
                <a:ext cx="2329180" cy="9467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e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e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6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7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9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4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71955" y="3005455"/>
                <a:ext cx="2329180" cy="94678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2"/>
              <p:cNvSpPr txBox="1"/>
              <p:nvPr/>
            </p:nvSpPr>
            <p:spPr>
              <a:xfrm flipH="1">
                <a:off x="4416425" y="2978150"/>
                <a:ext cx="2508250" cy="9391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e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e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6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9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16425" y="2978150"/>
                <a:ext cx="2508250" cy="9391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2"/>
              <p:cNvSpPr txBox="1"/>
              <p:nvPr/>
            </p:nvSpPr>
            <p:spPr>
              <a:xfrm flipH="1">
                <a:off x="7205980" y="3002280"/>
                <a:ext cx="2356485" cy="9391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3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*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6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12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15</m:t>
                            </m:r>
                          </m:e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18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4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05980" y="3002280"/>
                <a:ext cx="2356485" cy="9391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占位符 2"/>
          <p:cNvSpPr txBox="1"/>
          <p:nvPr/>
        </p:nvSpPr>
        <p:spPr>
          <a:xfrm>
            <a:off x="1015876" y="4316147"/>
            <a:ext cx="318322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向量矩阵转置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Transpose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2"/>
              <p:cNvSpPr txBox="1"/>
              <p:nvPr/>
            </p:nvSpPr>
            <p:spPr>
              <a:xfrm flipH="1">
                <a:off x="1678199" y="4850735"/>
                <a:ext cx="1095968" cy="9535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eqArrPr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e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e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7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78199" y="4850735"/>
                <a:ext cx="1095968" cy="953531"/>
              </a:xfrm>
              <a:prstGeom prst="rect">
                <a:avLst/>
              </a:prstGeom>
              <a:blipFill rotWithShape="1">
                <a:blip r:embed="rId4"/>
                <a:stretch>
                  <a:fillRect l="-48" t="-63" r="44" b="38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2"/>
              <p:cNvSpPr txBox="1"/>
              <p:nvPr/>
            </p:nvSpPr>
            <p:spPr>
              <a:xfrm flipH="1">
                <a:off x="2834890" y="5273367"/>
                <a:ext cx="1367458" cy="3829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8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34890" y="5273367"/>
                <a:ext cx="1367458" cy="382990"/>
              </a:xfrm>
              <a:prstGeom prst="rect">
                <a:avLst/>
              </a:prstGeom>
              <a:blipFill rotWithShape="1">
                <a:blip r:embed="rId5"/>
                <a:stretch>
                  <a:fillRect l="-18" t="-85" r="40" b="108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2"/>
              <p:cNvSpPr txBox="1"/>
              <p:nvPr/>
            </p:nvSpPr>
            <p:spPr>
              <a:xfrm flipH="1">
                <a:off x="5818942" y="5099442"/>
                <a:ext cx="2073434" cy="5863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</m:t>
                              </m:r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9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18942" y="5099442"/>
                <a:ext cx="2073434" cy="586379"/>
              </a:xfrm>
              <a:prstGeom prst="rect">
                <a:avLst/>
              </a:prstGeom>
              <a:blipFill rotWithShape="1">
                <a:blip r:embed="rId6"/>
                <a:stretch>
                  <a:fillRect l="-21" t="-67" r="29" b="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2"/>
              <p:cNvSpPr txBox="1"/>
              <p:nvPr/>
            </p:nvSpPr>
            <p:spPr>
              <a:xfrm flipH="1">
                <a:off x="8150338" y="4831499"/>
                <a:ext cx="2073434" cy="9727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𝑌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</m:t>
                              </m:r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12</m:t>
                              </m:r>
                            </m:e>
                            <m:e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22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13</m:t>
                              </m:r>
                            </m:e>
                            <m:e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50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150338" y="4831499"/>
                <a:ext cx="2073434" cy="972767"/>
              </a:xfrm>
              <a:prstGeom prst="rect">
                <a:avLst/>
              </a:prstGeom>
              <a:blipFill rotWithShape="1">
                <a:blip r:embed="rId7"/>
                <a:stretch>
                  <a:fillRect l="-5" t="-43" r="13" b="38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基础数学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向量和矩阵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Matrix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041337" y="2055960"/>
            <a:ext cx="318322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矩阵在机器学习中的表达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82040" y="1240155"/>
            <a:ext cx="9065260" cy="499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矩阵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是一个按照长方形排列的复数或实数集合，它由若干行和若干列组成。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     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1022877" y="4134249"/>
            <a:ext cx="2333166" cy="38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矩阵加法和减法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893260" y="2490466"/>
                <a:ext cx="2079363" cy="451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260" y="2490466"/>
                <a:ext cx="2079363" cy="451598"/>
              </a:xfrm>
              <a:prstGeom prst="rect">
                <a:avLst/>
              </a:prstGeom>
              <a:blipFill rotWithShape="1">
                <a:blip r:embed="rId1"/>
                <a:stretch>
                  <a:fillRect l="-16" t="-140" r="3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857384" y="3056728"/>
                <a:ext cx="2624113" cy="451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384" y="3056728"/>
                <a:ext cx="2624113" cy="451598"/>
              </a:xfrm>
              <a:prstGeom prst="rect">
                <a:avLst/>
              </a:prstGeom>
              <a:blipFill rotWithShape="1">
                <a:blip r:embed="rId2"/>
                <a:stretch>
                  <a:fillRect t="-105" r="12" b="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879796" y="3703358"/>
                <a:ext cx="260170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一个矩阵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行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列：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796" y="3703358"/>
                <a:ext cx="2601701" cy="307777"/>
              </a:xfrm>
              <a:prstGeom prst="rect">
                <a:avLst/>
              </a:prstGeom>
              <a:blipFill rotWithShape="1">
                <a:blip r:embed="rId3"/>
                <a:stretch>
                  <a:fillRect l="-8" t="-12" r="12" b="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4794848" y="3687938"/>
                <a:ext cx="363903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一个数据集</a:t>
                </a:r>
                <a:r>
                  <a:rPr kumimoji="1"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14:m>
                  <m:oMath xmlns:m="http://schemas.openxmlformats.org/officeDocument/2006/math">
                    <m:r>
                      <a:rPr lang="zh-CN" altLang="en-US" sz="1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zh-CN" altLang="en-US" sz="1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1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多少行数据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D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特征数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848" y="3687938"/>
                <a:ext cx="3639033" cy="311560"/>
              </a:xfrm>
              <a:prstGeom prst="rect">
                <a:avLst/>
              </a:prstGeom>
              <a:blipFill rotWithShape="1">
                <a:blip r:embed="rId4"/>
                <a:stretch>
                  <a:fillRect l="-16" t="-158" r="12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1824990" y="4714875"/>
                <a:ext cx="4394200" cy="661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 </a:t>
                </a:r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990" y="4714875"/>
                <a:ext cx="4394200" cy="6616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5732442" y="4684519"/>
                <a:ext cx="3567200" cy="451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zh-CN" altLang="en-US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42" y="4684519"/>
                <a:ext cx="3567200" cy="451598"/>
              </a:xfrm>
              <a:prstGeom prst="rect">
                <a:avLst/>
              </a:prstGeom>
              <a:blipFill rotWithShape="1">
                <a:blip r:embed="rId6"/>
                <a:stretch>
                  <a:fillRect l="-8" t="-27" r="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占位符 2"/>
          <p:cNvSpPr txBox="1"/>
          <p:nvPr/>
        </p:nvSpPr>
        <p:spPr>
          <a:xfrm>
            <a:off x="1022874" y="5067854"/>
            <a:ext cx="5543295" cy="3372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矩阵乘法 ：对应行列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元素相乘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，然后再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加和再一起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3826707" y="5479637"/>
                <a:ext cx="1750490" cy="628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1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kumimoji="1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kumimoji="1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kumimoji="1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707" y="5479637"/>
                <a:ext cx="1750490" cy="628505"/>
              </a:xfrm>
              <a:prstGeom prst="rect">
                <a:avLst/>
              </a:prstGeom>
              <a:blipFill rotWithShape="1">
                <a:blip r:embed="rId7"/>
                <a:stretch>
                  <a:fillRect l="-11" t="-35" r="3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1824990" y="5535930"/>
                <a:ext cx="2084705" cy="446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    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    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990" y="5535930"/>
                <a:ext cx="2084705" cy="44640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1879796" y="6245206"/>
                <a:ext cx="3639033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noProof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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 </a:t>
                </a:r>
                <a:r>
                  <a:rPr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A@B=C</a:t>
                </a: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796" y="6245206"/>
                <a:ext cx="3639033" cy="311560"/>
              </a:xfrm>
              <a:prstGeom prst="rect">
                <a:avLst/>
              </a:prstGeom>
              <a:blipFill rotWithShape="1">
                <a:blip r:embed="rId9"/>
                <a:stretch>
                  <a:fillRect l="-5" t="-198" r="1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5617210" y="5505450"/>
                <a:ext cx="5821680" cy="469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kumimoji="1" lang="en-US" altLang="zh-CN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C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34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210" y="5505450"/>
                <a:ext cx="5821680" cy="4692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0335" y="1675765"/>
            <a:ext cx="3384550" cy="3365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基础数学向量和矩阵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Matrix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占位符 2"/>
              <p:cNvSpPr txBox="1"/>
              <p:nvPr/>
            </p:nvSpPr>
            <p:spPr>
              <a:xfrm>
                <a:off x="1087755" y="2405380"/>
                <a:ext cx="8521700" cy="4081145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方阵：</a:t>
                </a:r>
                <a:r>
                  <a:rPr lang="zh-CN" altLang="en-US" sz="1400" b="0" i="0" dirty="0">
                    <a:solidFill>
                      <a:srgbClr val="FF0000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一种特殊的矩阵，其</a:t>
                </a:r>
                <a:r>
                  <a:rPr lang="zh-CN" altLang="en-US" sz="1400" i="0" dirty="0">
                    <a:solidFill>
                      <a:srgbClr val="FF0000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行数</a:t>
                </a:r>
                <a:r>
                  <a:rPr lang="en-US" altLang="zh-CN" sz="1400" i="0" dirty="0">
                    <a:solidFill>
                      <a:srgbClr val="FF0000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i="0" dirty="0">
                    <a:solidFill>
                      <a:srgbClr val="FF0000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列数</a:t>
                </a:r>
                <a:endParaRPr lang="zh-CN" altLang="en-US" sz="1400" i="0" dirty="0">
                  <a:solidFill>
                    <a:srgbClr val="FF0000"/>
                  </a:solidFill>
                  <a:effectLst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lang="zh-CN" altLang="en-US" sz="1400" i="0" dirty="0">
                  <a:solidFill>
                    <a:srgbClr val="FF0000"/>
                  </a:solidFill>
                  <a:effectLst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lang="zh-CN" altLang="en-US" sz="1400" i="0" dirty="0">
                  <a:solidFill>
                    <a:srgbClr val="FF0000"/>
                  </a:solidFill>
                  <a:effectLst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6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对称方阵：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一种特殊的方阵，沿着主对角线，其元素对称</a:t>
                </a:r>
                <a:r>
                  <a:rPr lang="en-US" altLang="zh-CN" sz="16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.</a:t>
                </a:r>
                <a:r>
                  <a:rPr lang="zh-CN" altLang="en-US" sz="16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160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160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ij</m:t>
                        </m:r>
                      </m:sub>
                    </m:sSub>
                  </m:oMath>
                </a14:m>
                <a:r>
                  <a:rPr lang="zh-CN" altLang="en-US" sz="16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 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160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160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ji</m:t>
                        </m:r>
                      </m:sub>
                    </m:sSub>
                  </m:oMath>
                </a14:m>
                <a:r>
                  <a:rPr lang="zh-CN" altLang="en-US" sz="1600" b="0" i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 </a:t>
                </a:r>
                <a:endParaRPr lang="zh-CN" altLang="en-US" sz="1600" b="0" i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lang="zh-CN" altLang="en-US" sz="1600" b="0" i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lang="zh-CN" altLang="en-US" sz="1600" b="0" i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单位阵：</a:t>
                </a:r>
                <a:r>
                  <a:rPr lang="zh-CN" altLang="en-US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一种特殊的对角方阵</a:t>
                </a:r>
                <a:r>
                  <a:rPr lang="zh-CN" altLang="en-US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，用</a:t>
                </a:r>
                <a:r>
                  <a:rPr lang="zh-CN" altLang="en-US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符号</a:t>
                </a:r>
                <a:r>
                  <a:rPr lang="en-GB" altLang="zh-CN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E </a:t>
                </a:r>
                <a:r>
                  <a:rPr lang="zh-CN" altLang="en-US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或者 </a:t>
                </a:r>
                <a:r>
                  <a:rPr lang="en-GB" altLang="zh-CN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I</a:t>
                </a:r>
                <a:r>
                  <a:rPr lang="zh-CN" altLang="en-GB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表示</a:t>
                </a:r>
                <a:r>
                  <a:rPr lang="en-US" altLang="zh-CN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.</a:t>
                </a:r>
                <a:r>
                  <a:rPr lang="en-US" altLang="en-GB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 </a:t>
                </a:r>
                <a:r>
                  <a:rPr lang="zh-CN" altLang="en-US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主对角线为</a:t>
                </a:r>
                <a:r>
                  <a:rPr lang="en-US" altLang="zh-CN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1</a:t>
                </a:r>
                <a:r>
                  <a:rPr lang="zh-CN" altLang="en-US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，其他为</a:t>
                </a:r>
                <a:r>
                  <a:rPr lang="en-US" altLang="zh-CN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0</a:t>
                </a:r>
                <a:endParaRPr lang="en-US" altLang="zh-CN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+mn-ea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+mn-ea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+mn-ea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同阶方阵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指的是具有相同的行数和列数的两个方阵</a:t>
                </a: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9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55" y="2405380"/>
                <a:ext cx="8521700" cy="4081145"/>
              </a:xfrm>
              <a:prstGeom prst="rect">
                <a:avLst/>
              </a:prstGeom>
              <a:blipFill rotWithShape="1">
                <a:blip r:embed="rId1"/>
                <a:stretch>
                  <a:fillRect b="-9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2684780" y="5263515"/>
                <a:ext cx="2032000" cy="77152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I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780" y="5263515"/>
                <a:ext cx="2032000" cy="7715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占位符 2"/>
          <p:cNvSpPr txBox="1"/>
          <p:nvPr/>
        </p:nvSpPr>
        <p:spPr>
          <a:xfrm>
            <a:off x="1082040" y="1240155"/>
            <a:ext cx="9065260" cy="499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矩阵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</a:rPr>
              <a:t>: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是一个按照长方形排列的复数或实数集合，它由若干行和若干列组成。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     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710" y="1684655"/>
            <a:ext cx="1855470" cy="8928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140" y="2799080"/>
            <a:ext cx="1844040" cy="9474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815" y="4004310"/>
            <a:ext cx="1728470" cy="8362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基础数学向量和矩阵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Matrix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1222" y="1723034"/>
            <a:ext cx="5067399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矩阵的乘法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不满足交换律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A×B≠B×A</a:t>
            </a:r>
            <a:endParaRPr lang="en-GB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022876" y="1311007"/>
            <a:ext cx="314056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矩阵乘法的性质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255482" y="2042282"/>
                <a:ext cx="4748303" cy="403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e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g: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  <m:r>
                          <a:rPr kumimoji="0" lang="zh-CN" altLang="en-US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A@B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eqArr>
                          <m:eqArrPr>
                            <m:ctrlPr>
                              <a:rPr kumimoji="0" lang="en-US" altLang="zh-CN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eqArrPr>
                          <m:e>
                            <m:r>
                              <a:rPr kumimoji="0" lang="en-US" altLang="zh-CN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5</m:t>
                            </m:r>
                            <m:r>
                              <a:rPr kumimoji="0" lang="zh-CN" altLang="en-US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∗</m:t>
                            </m:r>
                            <m:r>
                              <a:rPr kumimoji="0" lang="en-US" altLang="zh-CN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5</m:t>
                            </m:r>
                          </m:e>
                          <m:e>
                            <m:r>
                              <a:rPr kumimoji="0" lang="zh-CN" altLang="en-US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</m:e>
                        </m:eqAr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noProof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B</a:t>
                </a:r>
                <a:r>
                  <a:rPr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@A=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eqArr>
                          <m:eqArr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400" b="0" i="1" dirty="0" smtClean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82" y="2042282"/>
                <a:ext cx="4748303" cy="403700"/>
              </a:xfrm>
              <a:prstGeom prst="rect">
                <a:avLst/>
              </a:prstGeom>
              <a:blipFill rotWithShape="1">
                <a:blip r:embed="rId1"/>
                <a:stretch>
                  <a:fillRect l="-13" t="-30" r="8" b="-26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255482" y="3468968"/>
                <a:ext cx="5322365" cy="326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e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g: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  <m:r>
                          <a:rPr kumimoji="0" lang="zh-CN" altLang="en-US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:r>
                  <a:rPr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C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eqArr>
                          <m:eqArrPr>
                            <m:ctrlPr>
                              <a:rPr kumimoji="0" lang="en-US" altLang="zh-CN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eqArrPr>
                          <m:e>
                            <m:r>
                              <a:rPr kumimoji="0" lang="en-US" altLang="zh-CN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5</m:t>
                            </m:r>
                            <m:r>
                              <a:rPr kumimoji="0" lang="zh-CN" altLang="en-US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∗</m:t>
                            </m:r>
                            <m:r>
                              <a:rPr kumimoji="0" lang="en-US" altLang="zh-CN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e>
                          <m:e>
                            <m:r>
                              <a:rPr kumimoji="0" lang="zh-CN" altLang="en-US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</m:e>
                        </m:eqAr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GB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（</a:t>
                </a:r>
                <a:r>
                  <a:rPr lang="en-GB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A×B</a:t>
                </a:r>
                <a:r>
                  <a:rPr lang="zh-CN" altLang="en-GB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）</a:t>
                </a:r>
                <a:r>
                  <a:rPr lang="en-GB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×C</a:t>
                </a:r>
                <a:r>
                  <a:rPr lang="zh-CN" altLang="en-GB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数据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形状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eqArr>
                          <m:eqArr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zh-CN" altLang="en-US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zh-CN" altLang="en-US" sz="1400" i="1" dirty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sup>
                    </m:sSup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82" y="3468968"/>
                <a:ext cx="5322365" cy="326115"/>
              </a:xfrm>
              <a:prstGeom prst="rect">
                <a:avLst/>
              </a:prstGeom>
              <a:blipFill rotWithShape="1">
                <a:blip r:embed="rId2"/>
                <a:stretch>
                  <a:fillRect l="-11" t="-183" r="7" b="-8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2255481" y="2584822"/>
                <a:ext cx="7151165" cy="383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GB" sz="1400" i="0" dirty="0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特殊</a:t>
                </a:r>
                <a:r>
                  <a:rPr lang="zh-CN" altLang="en-US" sz="1400" i="0" dirty="0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条件下满足：</a:t>
                </a:r>
                <a:r>
                  <a:rPr lang="en-GB" altLang="zh-CN" sz="1400" i="0" dirty="0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 AB=BA </a:t>
                </a:r>
                <a:r>
                  <a:rPr lang="zh-CN" altLang="en-US" sz="1400" i="0" dirty="0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的前提是</a:t>
                </a:r>
                <a:r>
                  <a:rPr lang="en-GB" altLang="zh-CN" sz="140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lang="zh-CN" altLang="en-GB" sz="140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lang="en-GB" altLang="zh-CN" sz="140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lang="zh-CN" altLang="en-US" sz="140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是同阶方阵</a:t>
                </a:r>
                <a:r>
                  <a:rPr lang="zh-CN" altLang="en-US" sz="1400" i="0" dirty="0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</a:t>
                </a:r>
                <a:r>
                  <a:rPr lang="en-US" altLang="zh-CN" sz="1400" i="0" dirty="0" err="1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eg</a:t>
                </a:r>
                <a:r>
                  <a:rPr lang="en-US" altLang="zh-CN" sz="1400" i="0" dirty="0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r>
                  <a:rPr lang="zh-CN" altLang="en-US" sz="1400" i="0" dirty="0">
                    <a:solidFill>
                      <a:srgbClr val="121212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12121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12121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121212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 smtClean="0">
                            <a:solidFill>
                              <a:srgbClr val="121212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smtClean="0">
                            <a:solidFill>
                              <a:srgbClr val="121212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rgbClr val="121212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i="0" dirty="0">
                    <a:solidFill>
                      <a:srgbClr val="333333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i="0" dirty="0">
                    <a:solidFill>
                      <a:srgbClr val="333333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i="0" dirty="0">
                    <a:solidFill>
                      <a:srgbClr val="333333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rgbClr val="121212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>
                            <a:solidFill>
                              <a:srgbClr val="12121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lang="en-GB" altLang="zh-CN" sz="1400" i="0" dirty="0">
                  <a:solidFill>
                    <a:srgbClr val="333333"/>
                  </a:solidFill>
                  <a:effectLst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81" y="2584822"/>
                <a:ext cx="7151165" cy="383951"/>
              </a:xfrm>
              <a:prstGeom prst="rect">
                <a:avLst/>
              </a:prstGeom>
              <a:blipFill rotWithShape="1">
                <a:blip r:embed="rId3"/>
                <a:stretch>
                  <a:fillRect l="-8" t="-97" r="5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1411221" y="3030728"/>
            <a:ext cx="5067399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矩阵的乘法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满足结合律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。即：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A×</a:t>
            </a:r>
            <a:r>
              <a:rPr lang="zh-CN" altLang="en-GB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B×C</a:t>
            </a:r>
            <a:r>
              <a:rPr lang="zh-CN" altLang="en-GB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zh-CN" altLang="en-GB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A×B</a:t>
            </a:r>
            <a:r>
              <a:rPr lang="zh-CN" altLang="en-GB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×C</a:t>
            </a:r>
            <a:endParaRPr lang="en-GB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55482" y="4284429"/>
            <a:ext cx="6129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g: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A@I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</a:t>
            </a: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I@A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r>
              <a: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</a:t>
            </a:r>
            <a:r>
              <a:rPr kumimoji="1"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为单位矩阵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11221" y="3855915"/>
            <a:ext cx="5067399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矩阵与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单位矩阵相乘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等于矩阵本身</a:t>
            </a:r>
            <a:endParaRPr lang="en-GB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437161" y="4618497"/>
            <a:ext cx="1763238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矩阵的逆</a:t>
            </a:r>
            <a:endParaRPr lang="en-GB" altLang="zh-CN" sz="1400" b="0" i="0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2755265" y="4622165"/>
                <a:ext cx="6651625" cy="446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若矩阵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A@B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单位矩阵 则</a:t>
                </a:r>
                <a:r>
                  <a:rPr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</a:t>
                </a:r>
                <a:r>
                  <a:rPr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的逆矩阵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，记为：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p>
                    </m:sSup>
                  </m:oMath>
                </a14:m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265" y="4622165"/>
                <a:ext cx="6651625" cy="4464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基础数学向量和矩阵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Matrix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1032605" y="2669314"/>
            <a:ext cx="2333166" cy="38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矩阵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@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矩阵的转置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1766801" y="3196074"/>
                <a:ext cx="2639829" cy="319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A@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是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方阵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801" y="3196074"/>
                <a:ext cx="2639829" cy="319405"/>
              </a:xfrm>
              <a:prstGeom prst="rect">
                <a:avLst/>
              </a:prstGeom>
              <a:blipFill rotWithShape="1">
                <a:blip r:embed="rId1"/>
                <a:stretch>
                  <a:fillRect l="-9" t="-37" r="14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1766415" y="3696292"/>
                <a:ext cx="6760918" cy="634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   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@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1" lang="en-US" altLang="zh-CN" sz="1400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kumimoji="1" lang="en-US" altLang="zh-CN" sz="1400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kumimoji="1" lang="en-US" altLang="zh-CN" sz="1400" i="1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77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415" y="3696292"/>
                <a:ext cx="6760918" cy="634276"/>
              </a:xfrm>
              <a:prstGeom prst="rect">
                <a:avLst/>
              </a:prstGeom>
              <a:blipFill rotWithShape="1">
                <a:blip r:embed="rId2"/>
                <a:stretch>
                  <a:fillRect l="-7" t="-93" r="8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781020" y="4973763"/>
                <a:ext cx="6760918" cy="679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1" lang="en-US" altLang="zh-CN" sz="1400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kumimoji="1" lang="en-US" altLang="zh-CN" sz="1400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kumimoji="1" lang="en-US" altLang="zh-CN" sz="1400" i="1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@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zh-CN" altLang="en-US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m:rPr>
                                  <m:brk m:alnAt="7"/>
                                </m:rP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020" y="4973763"/>
                <a:ext cx="6760918" cy="679289"/>
              </a:xfrm>
              <a:prstGeom prst="rect">
                <a:avLst/>
              </a:prstGeom>
              <a:blipFill rotWithShape="1">
                <a:blip r:embed="rId3"/>
                <a:stretch>
                  <a:fillRect l="-7" t="-65" r="8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占位符 2"/>
          <p:cNvSpPr txBox="1"/>
          <p:nvPr/>
        </p:nvSpPr>
        <p:spPr>
          <a:xfrm>
            <a:off x="4756630" y="4942051"/>
            <a:ext cx="6050603" cy="38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 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文本占位符 2"/>
          <p:cNvSpPr txBox="1"/>
          <p:nvPr/>
        </p:nvSpPr>
        <p:spPr>
          <a:xfrm>
            <a:off x="1032605" y="1743834"/>
            <a:ext cx="2333166" cy="38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矩阵转置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842770" y="2063750"/>
                <a:ext cx="4580890" cy="628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=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kumimoji="1" lang="zh-CN" altLang="en-US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i="1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=</a:t>
                </a:r>
                <a:r>
                  <a: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1" lang="en-US" altLang="zh-CN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kumimoji="1" lang="en-US" altLang="zh-CN" sz="1400" b="0" i="1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kumimoji="1" lang="en-US" altLang="zh-CN" sz="1400" b="0" i="1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1400" i="1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770" y="2063750"/>
                <a:ext cx="4580890" cy="6286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842770" y="4511675"/>
                <a:ext cx="6096000" cy="31940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@A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  是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方阵</a:t>
                </a:r>
                <a:endParaRPr lang="zh-CN" altLang="en-US" sz="1400" dirty="0">
                  <a:solidFill>
                    <a:schemeClr val="accent2">
                      <a:lumMod val="7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+mn-ea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770" y="4511675"/>
                <a:ext cx="6096000" cy="3194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基础数学向量和矩阵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矩阵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Matrix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411222" y="1723034"/>
                <a:ext cx="5067399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lang="en-GB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GB" altLang="zh-CN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GB" altLang="zh-CN" dirty="0">
                            <a:solidFill>
                              <a:srgbClr val="333333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</m:e>
                      <m:sup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endParaRPr kumimoji="0" lang="en-GB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222" y="1723034"/>
                <a:ext cx="5067399" cy="471539"/>
              </a:xfrm>
              <a:prstGeom prst="rect">
                <a:avLst/>
              </a:prstGeom>
              <a:blipFill rotWithShape="1">
                <a:blip r:embed="rId1"/>
                <a:stretch>
                  <a:fillRect l="-5" t="-59" r="7" b="-2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占位符 2"/>
          <p:cNvSpPr txBox="1"/>
          <p:nvPr/>
        </p:nvSpPr>
        <p:spPr>
          <a:xfrm>
            <a:off x="1022876" y="1311007"/>
            <a:ext cx="314056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</a:rPr>
              <a:t>矩阵转置的性质</a:t>
            </a:r>
            <a:endParaRPr kumimoji="0" lang="zh-CN" alt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434505" y="2186288"/>
                <a:ext cx="2777571" cy="466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𝐴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𝐵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GB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505" y="2186288"/>
                <a:ext cx="2777571" cy="466025"/>
              </a:xfrm>
              <a:prstGeom prst="rect">
                <a:avLst/>
              </a:prstGeom>
              <a:blipFill rotWithShape="1">
                <a:blip r:embed="rId2"/>
                <a:stretch>
                  <a:fillRect l="-1" t="-133" r="4" b="-1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450715" y="2581883"/>
                <a:ext cx="3238017" cy="466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𝑘𝐴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:r>
                  <a:rPr lang="zh-CN" altLang="en-US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为一个常数</a:t>
                </a:r>
                <a:endParaRPr kumimoji="0" lang="en-GB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715" y="2581883"/>
                <a:ext cx="3238017" cy="466025"/>
              </a:xfrm>
              <a:prstGeom prst="rect">
                <a:avLst/>
              </a:prstGeom>
              <a:blipFill rotWithShape="1">
                <a:blip r:embed="rId3"/>
                <a:stretch>
                  <a:fillRect l="-12" t="-130" r="16" b="-1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450716" y="3082132"/>
                <a:ext cx="2712722" cy="466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B</m:t>
                        </m:r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B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GB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kumimoji="0" lang="en-GB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716" y="3082132"/>
                <a:ext cx="2712722" cy="466025"/>
              </a:xfrm>
              <a:prstGeom prst="rect">
                <a:avLst/>
              </a:prstGeom>
              <a:blipFill rotWithShape="1">
                <a:blip r:embed="rId4"/>
                <a:stretch>
                  <a:fillRect l="-14" t="-102" r="14" b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96782" y="4103819"/>
                <a:ext cx="6792490" cy="1119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比如：</a:t>
                </a:r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/>
                <a:r>
                  <a:rPr lang="zh-CN" altLang="en-US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i="1" smtClean="0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zh-CN" i="1">
                                    <a:solidFill>
                                      <a:prstClr val="black">
                                        <a:lumMod val="65000"/>
                                        <a:lumOff val="3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zh-CN" i="1">
                                        <a:solidFill>
                                          <a:prstClr val="black">
                                            <a:lumMod val="65000"/>
                                            <a:lumOff val="3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kumimoji="1" lang="zh-CN" altLang="en-US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kumimoji="1" lang="zh-CN" altLang="en-US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</m:t>
                                      </m:r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kumimoji="1" lang="en-US" altLang="zh-CN" b="0" i="1" smtClean="0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@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zh-CN" i="1">
                                    <a:solidFill>
                                      <a:prstClr val="black">
                                        <a:lumMod val="65000"/>
                                        <a:lumOff val="3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zh-CN" i="1">
                                        <a:solidFill>
                                          <a:prstClr val="black">
                                            <a:lumMod val="65000"/>
                                            <a:lumOff val="3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kumimoji="1" lang="en-US" altLang="zh-CN" i="1">
                                              <a:solidFill>
                                                <a:prstClr val="black">
                                                  <a:lumMod val="65000"/>
                                                  <a:lumOff val="3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kumimoji="1" lang="en-US" altLang="zh-CN" i="1">
                                              <a:solidFill>
                                                <a:prstClr val="black">
                                                  <a:lumMod val="65000"/>
                                                  <a:lumOff val="3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kumimoji="1" lang="en-US" altLang="zh-CN" i="1">
                                              <a:solidFill>
                                                <a:prstClr val="black">
                                                  <a:lumMod val="65000"/>
                                                  <a:lumOff val="3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kumimoji="1" lang="en-US" altLang="zh-CN" i="1">
                                              <a:solidFill>
                                                <a:prstClr val="black">
                                                  <a:lumMod val="65000"/>
                                                  <a:lumOff val="3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kumimoji="1" lang="en-US" altLang="zh-CN" i="1">
                                              <a:solidFill>
                                                <a:prstClr val="black">
                                                  <a:lumMod val="65000"/>
                                                  <a:lumOff val="3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kumimoji="1" lang="en-US" altLang="zh-CN" i="1">
                                              <a:solidFill>
                                                <a:prstClr val="black">
                                                  <a:lumMod val="65000"/>
                                                  <a:lumOff val="3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i="1">
                                    <a:solidFill>
                                      <a:prstClr val="black">
                                        <a:lumMod val="65000"/>
                                        <a:lumOff val="3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  <m:e>
                                  <m:eqArr>
                                    <m:eqArrPr>
                                      <m:ctrlP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kumimoji="1" lang="en-US" altLang="zh-CN" i="1">
                                          <a:solidFill>
                                            <a:prstClr val="black">
                                              <a:lumMod val="65000"/>
                                              <a:lumOff val="3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@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i="1">
                                    <a:solidFill>
                                      <a:prstClr val="black">
                                        <a:lumMod val="65000"/>
                                        <a:lumOff val="3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zh-CN" altLang="en-US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kumimoji="1" lang="zh-CN" altLang="en-US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kumimoji="1" lang="en-US" altLang="zh-CN" i="1">
                                      <a:solidFill>
                                        <a:prstClr val="black">
                                          <a:lumMod val="65000"/>
                                          <a:lumOff val="3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kumimoji="0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782" y="4103819"/>
                <a:ext cx="6792490" cy="1119217"/>
              </a:xfrm>
              <a:prstGeom prst="rect">
                <a:avLst/>
              </a:prstGeom>
              <a:blipFill rotWithShape="1">
                <a:blip r:embed="rId5"/>
                <a:stretch>
                  <a:fillRect l="-1" t="-40" r="9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42177" y="2927733"/>
            <a:ext cx="21478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矩阵的运算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6"/>
              <p:cNvSpPr txBox="1"/>
              <p:nvPr/>
            </p:nvSpPr>
            <p:spPr>
              <a:xfrm>
                <a:off x="4809544" y="3328520"/>
                <a:ext cx="7068229" cy="2403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矩阵数学表示 </a:t>
                </a:r>
                <a:r>
                  <a:rPr kumimoji="1"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zh-CN" altLang="en-US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14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矩阵加减法：形状相同对应元素加减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矩阵乘法：条件</a:t>
                </a: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altLang="zh-CN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:r>
                  <a:rPr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</a:t>
                </a: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 </a:t>
                </a:r>
                <a:r>
                  <a:rPr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A@B=C</a:t>
                </a: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  <a:sym typeface="Wingdings" panose="05000000000000000000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矩阵的乘法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不满足交换律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</a:t>
                </a:r>
                <a:r>
                  <a:rPr lang="en-GB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A×B≠B×A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；矩阵的乘法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满足结合律</a:t>
                </a:r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矩阵与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单位矩阵相乘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等于矩阵本身</a:t>
                </a:r>
                <a:endParaRPr lang="en-GB" altLang="zh-CN" sz="1400" dirty="0">
                  <a:solidFill>
                    <a:srgbClr val="333333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A@B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单位矩阵 则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的逆矩阵，记为：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p>
                    </m:sSup>
                  </m:oMath>
                </a14:m>
                <a:endParaRPr lang="en-GB" altLang="zh-CN" sz="1400" dirty="0">
                  <a:solidFill>
                    <a:srgbClr val="333333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7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GB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矩阵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转置：</a:t>
                </a:r>
                <a:r>
                  <a:rPr lang="en-GB" altLang="zh-CN" sz="1400" dirty="0">
                    <a:solidFill>
                      <a:schemeClr val="accent2">
                        <a:lumMod val="75000"/>
                      </a:schemeClr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𝐴</m:t>
                        </m:r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𝐵</m:t>
                        </m:r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B</m:t>
                        </m:r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B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GB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1400" i="1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Alibaba PuHuiTi" pitchFamily="18" charset="-122"/>
                  <a:cs typeface="Alibaba PuHuiTi" pitchFamily="18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400" i="1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...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8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544" y="3328520"/>
                <a:ext cx="7068229" cy="2403475"/>
              </a:xfrm>
              <a:prstGeom prst="rect">
                <a:avLst/>
              </a:prstGeom>
              <a:blipFill rotWithShape="1">
                <a:blip r:embed="rId1"/>
                <a:stretch>
                  <a:fillRect l="-1" t="-20" r="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4449162" y="1357378"/>
            <a:ext cx="21478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矩阵的概念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4809544" y="1687680"/>
            <a:ext cx="7068229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方阵</a:t>
            </a: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对称方阵</a:t>
            </a: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单位阵</a:t>
            </a: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同阶方阵</a:t>
            </a: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矩阵的逆</a:t>
            </a:r>
            <a:endParaRPr lang="zh-CN" altLang="en-US" sz="1400" dirty="0">
              <a:solidFill>
                <a:prstClr val="black">
                  <a:lumMod val="75000"/>
                  <a:lumOff val="2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57500" y="777223"/>
            <a:ext cx="6053036" cy="555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 已知函数f(x,y)，其中x，y均为变量，那么f(x,y)的偏导数df/dx是（）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A. f(x,y)的导数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B. f(x,y)的一阶偏导数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C. f(x,y)的二阶偏导数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D. f(x,y)的对x的偏导数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 已知函数f(x)，令g(x)=f'(x)，则g'(x)=（）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A. f''(x)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B. f'(x)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C. f(x)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D. 不能确定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 已知函数f(x)，若在x=a时，函数取极小值，则（）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A. f'(a)=0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B. f'(a)&gt;0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C. f'(a)&lt;0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D. 不能确定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08006" y="6446165"/>
            <a:ext cx="3345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答案 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答案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答案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936" y="979715"/>
            <a:ext cx="7226300" cy="1066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478" y="2046515"/>
            <a:ext cx="7205436" cy="10344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145490"/>
            <a:ext cx="7772400" cy="12630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478" y="4463565"/>
            <a:ext cx="7205436" cy="2195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857500" y="777240"/>
                <a:ext cx="6609080" cy="1790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有关矩阵相乘说法正确的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R="0" lvl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defRPr/>
                </a:pP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A.</a:t>
                </a:r>
                <a:r>
                  <a:rPr lang="zh-CN" altLang="en-US" sz="1400" noProof="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两个矩阵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能相乘的条件为：</a:t>
                </a: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altLang="zh-CN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14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140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:r>
                  <a:rPr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</a:t>
                </a: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 </a:t>
                </a:r>
                <a:r>
                  <a:rPr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A@B=C</a:t>
                </a:r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B. </a:t>
                </a: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zh-CN" altLang="en-US" sz="1400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A@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=C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@A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=D,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则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C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和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D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都是方阵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C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. </a:t>
                </a: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zh-CN" altLang="en-US" sz="1400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A@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=C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@A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=D,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则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C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和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D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都是方阵，而且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C=D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D. </a:t>
                </a:r>
                <a:r>
                  <a:rPr kumimoji="1" lang="en-US" altLang="zh-CN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1400" i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zh-CN" altLang="en-US" sz="14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则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的逆矩阵一定存在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0" y="777240"/>
                <a:ext cx="6609080" cy="17900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3060296" y="2639616"/>
            <a:ext cx="7152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答案解析：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矩阵条件错应该中间一致。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 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错 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错 有些矩阵不一定有逆 答案：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937748" y="3152930"/>
                <a:ext cx="6053036" cy="12656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2. 已知 </a:t>
                </a:r>
                <a:r>
                  <a:rPr kumimoji="1" lang="zh-CN" altLang="en-US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矩阵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  <m:r>
                                <a:rPr kumimoji="1" lang="zh-CN" alt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  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，</a:t>
                </a:r>
                <a:r>
                  <a:rPr kumimoji="1" lang="en-US" altLang="zh-CN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B</a:t>
                </a:r>
                <a:r>
                  <a:rPr kumimoji="1" lang="zh-CN" altLang="en-US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 smtClean="0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请计算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A@B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()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48" y="3152930"/>
                <a:ext cx="6053036" cy="1265667"/>
              </a:xfrm>
              <a:prstGeom prst="rect">
                <a:avLst/>
              </a:prstGeom>
              <a:blipFill rotWithShape="1">
                <a:blip r:embed="rId3"/>
                <a:stretch>
                  <a:fillRect l="-4" t="-12" r="8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937748" y="4541978"/>
                <a:ext cx="6053036" cy="622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. 已知 </a:t>
                </a:r>
                <a:r>
                  <a:rPr kumimoji="1" lang="zh-CN" altLang="en-US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矩阵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1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R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∗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，请计算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的逆？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48" y="4541978"/>
                <a:ext cx="6053036" cy="622300"/>
              </a:xfrm>
              <a:prstGeom prst="rect">
                <a:avLst/>
              </a:prstGeom>
              <a:blipFill rotWithShape="1">
                <a:blip r:embed="rId4"/>
                <a:stretch>
                  <a:fillRect l="-4" t="-74" r="8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320453" y="3519591"/>
                <a:ext cx="2576932" cy="450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答案解析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−</m:t>
                              </m:r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−</m:t>
                              </m:r>
                              <m: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453" y="3519591"/>
                <a:ext cx="2576932" cy="450188"/>
              </a:xfrm>
              <a:prstGeom prst="rect">
                <a:avLst/>
              </a:prstGeom>
              <a:blipFill rotWithShape="1">
                <a:blip r:embed="rId5"/>
                <a:stretch>
                  <a:fillRect l="-2" t="-94" r="6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060296" y="5394106"/>
                <a:ext cx="4495536" cy="470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答案解析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1" lang="en-US" altLang="zh-CN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1" lang="zh-CN" altLang="en-US" sz="14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@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d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1400" i="1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296" y="5394106"/>
                <a:ext cx="4495536" cy="470193"/>
              </a:xfrm>
              <a:prstGeom prst="rect">
                <a:avLst/>
              </a:prstGeom>
              <a:blipFill rotWithShape="1">
                <a:blip r:embed="rId6"/>
                <a:stretch>
                  <a:fillRect l="-5" t="-88" r="13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819178" y="5426203"/>
                <a:ext cx="2576932" cy="450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最终求：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Alibaba PuHuiTi" pitchFamily="18" charset="-122"/>
                                  <a:cs typeface="Alibaba PuHuiTi" pitchFamily="18" charset="-122"/>
                                </a:rPr>
                                <m:t>d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1400" i="1"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1400" i="1">
                                <a:solidFill>
                                  <a:prstClr val="black">
                                    <a:lumMod val="65000"/>
                                    <a:lumOff val="3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solidFill>
                                    <a:prstClr val="black">
                                      <a:lumMod val="65000"/>
                                      <a:lumOff val="3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178" y="5426203"/>
                <a:ext cx="2576932" cy="450850"/>
              </a:xfrm>
              <a:prstGeom prst="rect">
                <a:avLst/>
              </a:prstGeom>
              <a:blipFill rotWithShape="1">
                <a:blip r:embed="rId7"/>
                <a:stretch>
                  <a:fillRect l="-21" t="-28" r="1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8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、损失函数、导数和矩阵、</a:t>
            </a:r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正规方程法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、梯度下降算法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</a:rPr>
              <a:t>知道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正规方程法求解过程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1760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一元线性回归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解析解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3" y="1292883"/>
            <a:ext cx="7682384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损失函数用来衡量</a:t>
            </a:r>
            <a:r>
              <a:rPr lang="zh-CN" altLang="en-US" dirty="0">
                <a:solidFill>
                  <a:srgbClr val="AD2A26"/>
                </a:solidFill>
              </a:rPr>
              <a:t>真实值和预测值之间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的差异，为优化参数指明了方向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6350" lvl="1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/>
          <p:cNvCxnSpPr/>
          <p:nvPr/>
        </p:nvCxnSpPr>
        <p:spPr>
          <a:xfrm>
            <a:off x="1130705" y="5565059"/>
            <a:ext cx="6788737" cy="14175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/>
          <p:cNvCxnSpPr/>
          <p:nvPr/>
        </p:nvCxnSpPr>
        <p:spPr>
          <a:xfrm flipV="1">
            <a:off x="1147837" y="2130158"/>
            <a:ext cx="1" cy="3443257"/>
          </a:xfrm>
          <a:prstGeom prst="straightConnector1">
            <a:avLst/>
          </a:prstGeom>
          <a:ln w="539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2"/>
          <p:cNvSpPr txBox="1"/>
          <p:nvPr/>
        </p:nvSpPr>
        <p:spPr>
          <a:xfrm>
            <a:off x="7111174" y="5131891"/>
            <a:ext cx="119868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身高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147837" y="1849474"/>
            <a:ext cx="87984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体重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 flipV="1">
            <a:off x="698087" y="2714684"/>
            <a:ext cx="6330394" cy="1420119"/>
          </a:xfrm>
          <a:prstGeom prst="line">
            <a:avLst/>
          </a:prstGeom>
          <a:ln w="34925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5641466" y="3116680"/>
            <a:ext cx="98424" cy="1457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569691" y="4018518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321347" y="3554199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419499" y="3459946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439008" y="3005303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31624" y="2714684"/>
            <a:ext cx="98424" cy="14578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9" name="直线连接符 18"/>
          <p:cNvCxnSpPr/>
          <p:nvPr/>
        </p:nvCxnSpPr>
        <p:spPr>
          <a:xfrm flipV="1">
            <a:off x="841504" y="1681680"/>
            <a:ext cx="4978110" cy="2867073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V="1">
            <a:off x="710880" y="3290569"/>
            <a:ext cx="6120744" cy="443649"/>
          </a:xfrm>
          <a:prstGeom prst="line">
            <a:avLst/>
          </a:prstGeom>
          <a:ln w="222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左大括号 24"/>
          <p:cNvSpPr/>
          <p:nvPr/>
        </p:nvSpPr>
        <p:spPr>
          <a:xfrm>
            <a:off x="4384765" y="3093433"/>
            <a:ext cx="98424" cy="197136"/>
          </a:xfrm>
          <a:prstGeom prst="lef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文本占位符 2"/>
          <p:cNvSpPr txBox="1"/>
          <p:nvPr/>
        </p:nvSpPr>
        <p:spPr>
          <a:xfrm>
            <a:off x="4494372" y="2747058"/>
            <a:ext cx="1055070" cy="385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占位符 2"/>
          <p:cNvSpPr txBox="1"/>
          <p:nvPr/>
        </p:nvSpPr>
        <p:spPr>
          <a:xfrm>
            <a:off x="5659355" y="2952183"/>
            <a:ext cx="1055070" cy="385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左大括号 36"/>
          <p:cNvSpPr/>
          <p:nvPr/>
        </p:nvSpPr>
        <p:spPr>
          <a:xfrm>
            <a:off x="5583297" y="3005613"/>
            <a:ext cx="98424" cy="197136"/>
          </a:xfrm>
          <a:prstGeom prst="lef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右大括号 38"/>
          <p:cNvSpPr/>
          <p:nvPr/>
        </p:nvSpPr>
        <p:spPr>
          <a:xfrm>
            <a:off x="4440162" y="2447259"/>
            <a:ext cx="142648" cy="596191"/>
          </a:xfrm>
          <a:prstGeom prst="rightBrac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" name="右大括号 39"/>
          <p:cNvSpPr/>
          <p:nvPr/>
        </p:nvSpPr>
        <p:spPr>
          <a:xfrm>
            <a:off x="5637072" y="1792461"/>
            <a:ext cx="142645" cy="1183653"/>
          </a:xfrm>
          <a:prstGeom prst="rightBrac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占位符 2"/>
              <p:cNvSpPr txBox="1"/>
              <p:nvPr/>
            </p:nvSpPr>
            <p:spPr>
              <a:xfrm>
                <a:off x="1591725" y="4287824"/>
                <a:ext cx="6327717" cy="1178953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损失函数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J(k,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b)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166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kumimoji="0" lang="zh-CN" alt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zh-CN" altLang="en-US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                          </m:t>
                    </m:r>
                    <m:r>
                      <a:rPr kumimoji="0" lang="en-US" altLang="zh-C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172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65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174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D2A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求此损失函数小值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17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725" y="4287824"/>
                <a:ext cx="6327717" cy="1178953"/>
              </a:xfrm>
              <a:prstGeom prst="rect">
                <a:avLst/>
              </a:prstGeom>
              <a:blipFill rotWithShape="1">
                <a:blip r:embed="rId1"/>
                <a:stretch>
                  <a:fillRect l="-7" t="-26" r="6" b="-30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885" y="2330271"/>
            <a:ext cx="1991536" cy="18469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占位符 2"/>
              <p:cNvSpPr txBox="1"/>
              <p:nvPr/>
            </p:nvSpPr>
            <p:spPr>
              <a:xfrm>
                <a:off x="1568450" y="5642610"/>
                <a:ext cx="9216390" cy="819150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spcBef>
                    <a:spcPts val="0"/>
                  </a:spcBef>
                </a:pPr>
                <a:r>
                  <a:rPr lang="zh-CN" altLang="en-US" sz="1400" dirty="0">
                    <a:solidFill>
                      <a:prstClr val="black"/>
                    </a:solidFill>
                  </a:rPr>
                  <a:t>求损失函数最小值：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损失函数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J(k,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b)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GB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400" i="1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GB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solidFill>
                                          <a:prstClr val="black">
                                            <a:lumMod val="75000"/>
                                            <a:lumOff val="2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altLang="zh-CN" sz="1400" i="1">
                                <a:solidFill>
                                  <a:prstClr val="black">
                                    <a:lumMod val="75000"/>
                                    <a:lumOff val="2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其中</a:t>
                </a:r>
                <a:r>
                  <a:rPr kumimoji="0" lang="en-US" altLang="zh-CN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i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代表第几个样本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mc:Choice>
        <mc:Fallback>
          <p:sp>
            <p:nvSpPr>
              <p:cNvPr id="16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450" y="5642610"/>
                <a:ext cx="9216390" cy="819150"/>
              </a:xfrm>
              <a:prstGeom prst="rect">
                <a:avLst/>
              </a:prstGeom>
              <a:blipFill rotWithShape="1">
                <a:blip r:embed="rId3"/>
                <a:stretch>
                  <a:fillRect b="-11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1760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一元线性回归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解析解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占位符 2"/>
              <p:cNvSpPr txBox="1"/>
              <p:nvPr/>
            </p:nvSpPr>
            <p:spPr>
              <a:xfrm>
                <a:off x="1003935" y="1423035"/>
                <a:ext cx="9678035" cy="1733550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spcBef>
                    <a:spcPts val="0"/>
                  </a:spcBef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一元线性回归损失函数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J(k,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GB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GB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GB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的极小值                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损失函数是关于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的函数，对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分别求导设置成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，得到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个方程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400" dirty="0"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lang="en-GB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𝐽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𝑘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lang="zh-CN" altLang="en-US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𝑏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num>
                      <m:den>
                        <m:r>
                          <a:rPr lang="en-GB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𝑘</m:t>
                        </m:r>
                      </m:den>
                    </m:f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GB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GB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k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zh-CN" alt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------1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r>
                  <a:rPr lang="zh-CN" altLang="en-US" sz="1400" dirty="0"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lang="en-GB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𝐽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𝑎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a:rPr lang="zh-CN" altLang="en-US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𝑏</m:t>
                        </m:r>
                        <m: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num>
                      <m:den>
                        <m:r>
                          <a:rPr lang="en-GB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1400" i="1" dirty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b</m:t>
                        </m:r>
                      </m:den>
                    </m:f>
                  </m:oMath>
                </a14:m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GB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GB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k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𝑘𝑥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zh-CN" alt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     </a:t>
                </a:r>
                <a:r>
                  <a:rPr lang="en-US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------2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6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35" y="1423035"/>
                <a:ext cx="9678035" cy="1733550"/>
              </a:xfrm>
              <a:prstGeom prst="rect">
                <a:avLst/>
              </a:prstGeom>
              <a:blipFill rotWithShape="1">
                <a:blip r:embed="rId1"/>
                <a:stretch>
                  <a:fillRect b="-44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占位符 2"/>
              <p:cNvSpPr txBox="1"/>
              <p:nvPr/>
            </p:nvSpPr>
            <p:spPr>
              <a:xfrm>
                <a:off x="1003829" y="3162977"/>
                <a:ext cx="9390132" cy="1024034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spcBef>
                    <a:spcPts val="0"/>
                  </a:spcBef>
                  <a:defRPr/>
                </a:pPr>
                <a:r>
                  <a:rPr lang="zh-CN" altLang="en-US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对</a:t>
                </a: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式、</a:t>
                </a: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式化简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12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代表第</a:t>
                </a:r>
                <a:r>
                  <a:rPr lang="en-US" altLang="zh-CN" sz="1200" dirty="0" err="1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lang="zh-CN" altLang="en-US" sz="12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个样本的预测值</a:t>
                </a:r>
                <a:endParaRPr lang="en-GB" altLang="zh-CN" sz="1200" i="1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nary>
                          <m:naryPr>
                            <m:chr m:val="∑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m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</m:e>
                    </m:nary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---3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r>
                  <a:rPr lang="en-GB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GB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zh-CN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𝑏𝑚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                                        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---4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0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829" y="3162977"/>
                <a:ext cx="9390132" cy="1024034"/>
              </a:xfrm>
              <a:prstGeom prst="rect">
                <a:avLst/>
              </a:prstGeom>
              <a:blipFill rotWithShape="1">
                <a:blip r:embed="rId2"/>
                <a:stretch>
                  <a:fillRect l="-6" t="-4" r="3" b="-3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386" y="5327545"/>
            <a:ext cx="1465263" cy="13588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占位符 2"/>
              <p:cNvSpPr txBox="1"/>
              <p:nvPr/>
            </p:nvSpPr>
            <p:spPr>
              <a:xfrm>
                <a:off x="1003828" y="4346784"/>
                <a:ext cx="9589831" cy="1024034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对数据带入</a:t>
                </a: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lang="zh-CN" altLang="en-US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式、</a:t>
                </a: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lang="zh-CN" altLang="en-US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式求解</a:t>
                </a: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:r>
                  <a:rPr lang="zh-CN" altLang="en-US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endParaRPr lang="en-GB" altLang="zh-CN" sz="1200" i="1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en-US" altLang="zh-CN" sz="1200" i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160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16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6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172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74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8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0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(160+166+172+174+180)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–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(160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56.3+166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60.6+172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65.1+174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68.5+180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75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---5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k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(160+166+172+174+180)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en-GB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（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56.3+60.6+65.1+68.5+75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kumimoji="0" lang="zh-CN" altLang="en-US" sz="1200" b="0" i="0" u="none" strike="noStrike" kern="1200" cap="none" spc="0" normalizeH="0" noProof="0" dirty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                          </a:t>
                </a:r>
                <a:r>
                  <a:rPr lang="en-US" altLang="zh-CN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---6</a:t>
                </a:r>
                <a:r>
                  <a:rPr lang="zh-CN" altLang="en-US" sz="12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式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4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828" y="4346784"/>
                <a:ext cx="9589831" cy="1024034"/>
              </a:xfrm>
              <a:prstGeom prst="rect">
                <a:avLst/>
              </a:prstGeom>
              <a:blipFill rotWithShape="1">
                <a:blip r:embed="rId4"/>
                <a:stretch>
                  <a:fillRect l="-6" t="-20" r="6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/>
          <p:cNvSpPr txBox="1"/>
          <p:nvPr/>
        </p:nvSpPr>
        <p:spPr>
          <a:xfrm>
            <a:off x="1058545" y="5436870"/>
            <a:ext cx="389572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145416*</a:t>
            </a:r>
            <a:r>
              <a:rPr lang="en-GB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+ 852*b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55683.8 = 0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852*</a:t>
            </a:r>
            <a:r>
              <a:rPr lang="en-GB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+  5*b  - 325.5 = 0    请求解</a:t>
            </a:r>
            <a:r>
              <a:rPr lang="en-GB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、b的值 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59403" y="6044270"/>
            <a:ext cx="449060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solidFill>
                  <a:srgbClr val="37415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lang="en-US" altLang="zh-CN" sz="1200" b="0" i="0" dirty="0">
                <a:solidFill>
                  <a:srgbClr val="37415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200" b="0" i="0" dirty="0">
                <a:solidFill>
                  <a:srgbClr val="37415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200" b="0" i="0" dirty="0">
                <a:solidFill>
                  <a:srgbClr val="37415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200" b="0" i="0" dirty="0">
                <a:solidFill>
                  <a:srgbClr val="37415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进行预测：</a:t>
            </a:r>
            <a:endParaRPr lang="en-GB" altLang="zh-CN" sz="1200" b="0" i="0" dirty="0">
              <a:solidFill>
                <a:srgbClr val="37415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k≈0.9294,b≈−93.2698  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预测结果为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176*k+b = 70.3046</a:t>
            </a:r>
            <a:endParaRPr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1760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多元线性回归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 正规方程法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75454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占位符 2"/>
              <p:cNvSpPr txBox="1"/>
              <p:nvPr/>
            </p:nvSpPr>
            <p:spPr>
              <a:xfrm>
                <a:off x="1669460" y="1726864"/>
                <a:ext cx="7216345" cy="1074400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spcBef>
                    <a:spcPts val="0"/>
                  </a:spcBef>
                  <a:defRPr/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多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元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线性回归方程式：</a:t>
                </a: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 y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=</a:t>
                </a:r>
                <a:r>
                  <a:rPr kumimoji="0" lang="zh-CN" altLang="en-US" sz="1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+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…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x</m:t>
                    </m:r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有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数据集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D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),…,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)},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d</m:t>
                        </m:r>
                      </m:sup>
                    </m:sSup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∈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R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14:m>
                  <m:oMath xmlns:m="http://schemas.openxmlformats.org/officeDocument/2006/math">
                    <m:r>
                      <a:rPr lang="zh-CN" altLang="en-US" sz="1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a:rPr lang="zh-CN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∈</m:t>
                    </m:r>
                  </m:oMath>
                </a14:m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R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其中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模型权重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w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是一个向量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w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,</m:t>
                    </m:r>
                    <m:r>
                      <a:rPr kumimoji="0" lang="zh-CN" altLang="en-US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….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}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;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其中代表特征数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6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460" y="1726864"/>
                <a:ext cx="7216345" cy="1074400"/>
              </a:xfrm>
              <a:prstGeom prst="rect">
                <a:avLst/>
              </a:prstGeom>
              <a:blipFill rotWithShape="1">
                <a:blip r:embed="rId1"/>
                <a:stretch>
                  <a:fillRect l="-1" t="-28" r="3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占位符 2"/>
              <p:cNvSpPr txBox="1"/>
              <p:nvPr/>
            </p:nvSpPr>
            <p:spPr>
              <a:xfrm>
                <a:off x="1639570" y="3110230"/>
                <a:ext cx="9894570" cy="3167380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spcBef>
                    <a:spcPts val="0"/>
                  </a:spcBef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预测值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…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endParaRPr lang="en-US" altLang="zh-CN" sz="1400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个样本的损失</a:t>
                </a:r>
                <a:endParaRPr lang="en-US" altLang="zh-CN" sz="1400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CN" altLang="en-US" sz="1400" b="0" i="0" smtClean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trlPr>
                              <a:rPr lang="zh-CN" altLang="en-US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accPr>
                          <m:e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1400" i="1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…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CN" altLang="en-US" sz="1400" dirty="0">
                            <a:solidFill>
                              <a:prstClr val="black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（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400" i="1" dirty="0" smtClean="0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 dirty="0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400" b="0" i="1" dirty="0" smtClean="0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400" b="0" i="1" dirty="0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zh-CN" altLang="en-US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zh-CN" altLang="en-US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4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)² </m:t>
                        </m:r>
                      </m:e>
                    </m:nary>
                  </m:oMath>
                </a14:m>
                <a:endParaRPr lang="en-US" altLang="zh-CN" sz="1400" dirty="0">
                  <a:solidFill>
                    <a:prstClr val="black"/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...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个样本样本损失最小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相当于把第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个样本损失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第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个样本损失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…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第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个样本的损失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Loss(W)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1400" i="1" dirty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lang="en-US" altLang="zh-CN" sz="1400" b="0" i="1" dirty="0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acc>
                              <m:accPr>
                                <m:ctrlPr>
                                  <a:rPr lang="zh-CN" altLang="en-US" sz="1400" i="1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  <a:ea typeface="Alibaba PuHuiTi" pitchFamily="18" charset="-122"/>
                                        <a:cs typeface="Alibaba PuHuiTi" pitchFamily="18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  <a:ea typeface="Alibaba PuHuiTi" pitchFamily="18" charset="-122"/>
                                        <a:cs typeface="Alibaba PuHuiTi" pitchFamily="18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latin typeface="Cambria Math" panose="02040503050406030204" pitchFamily="18" charset="0"/>
                                        <a:ea typeface="Alibaba PuHuiTi" pitchFamily="18" charset="-122"/>
                                        <a:cs typeface="Alibaba PuHuiTi" pitchFamily="18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14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400" i="1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400" b="0" i="1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400" b="0" i="1" dirty="0" smtClean="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zh-CN" altLang="en-US" sz="1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14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sz="14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zh-CN" sz="1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zh-CN" sz="1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1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sz="1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Alibaba PuHuiTi" pitchFamily="18" charset="-122"/>
                                        <a:cs typeface="Alibaba PuHuiTi" pitchFamily="18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Alibaba PuHuiTi" pitchFamily="18" charset="-122"/>
                                        <a:cs typeface="Alibaba PuHuiTi" pitchFamily="18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Alibaba PuHuiTi" pitchFamily="18" charset="-122"/>
                                        <a:cs typeface="Alibaba PuHuiTi" pitchFamily="18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只要让多元线性回归损失函数取最小值，此时的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权重</a:t>
                </a:r>
                <a:r>
                  <a:rPr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W(w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就是一个向量</a:t>
                </a:r>
                <a:r>
                  <a:rPr lang="en-US" altLang="zh-CN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就是最优解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！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求最优解的方法：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解矩阵方程（也就是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正规方程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）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通过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梯度下降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的方法求解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570" y="3110230"/>
                <a:ext cx="9894570" cy="31673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占位符 2"/>
          <p:cNvSpPr txBox="1"/>
          <p:nvPr/>
        </p:nvSpPr>
        <p:spPr>
          <a:xfrm>
            <a:off x="1060391" y="2713796"/>
            <a:ext cx="4273804" cy="35188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多元线性回归方程的损失函数：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1052005" y="1351958"/>
            <a:ext cx="5263953" cy="35188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defRPr/>
            </a:pPr>
            <a:r>
              <a:rPr lang="zh-CN" altLang="en-US" sz="1800" b="1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多元线性回归方程的已知：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1760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多元线性回归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正规方程法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1381507" y="5640239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1052005" y="1351958"/>
            <a:ext cx="5338403" cy="35188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损失函数普通方式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转成矩阵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（正规方程）：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896" y="1919361"/>
            <a:ext cx="5417313" cy="36563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08" y="2165683"/>
            <a:ext cx="1606366" cy="566953"/>
          </a:xfrm>
          <a:prstGeom prst="rect">
            <a:avLst/>
          </a:prstGeom>
        </p:spPr>
      </p:pic>
      <p:sp>
        <p:nvSpPr>
          <p:cNvPr id="36" name="文本占位符 2"/>
          <p:cNvSpPr txBox="1"/>
          <p:nvPr/>
        </p:nvSpPr>
        <p:spPr>
          <a:xfrm>
            <a:off x="1097410" y="2931763"/>
            <a:ext cx="4205795" cy="35188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损失函数最小值：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370" y="2241412"/>
            <a:ext cx="1460500" cy="3683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498" y="3390252"/>
            <a:ext cx="6912589" cy="308597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17601" cy="517190"/>
          </a:xfrm>
        </p:spPr>
        <p:txBody>
          <a:bodyPr/>
          <a:lstStyle/>
          <a:p>
            <a:r>
              <a:rPr kumimoji="1" lang="zh-CN" altLang="en-US" dirty="0">
                <a:solidFill>
                  <a:srgbClr val="595959"/>
                </a:solidFill>
              </a:rPr>
              <a:t>多元线性回归 </a:t>
            </a:r>
            <a:r>
              <a:rPr kumimoji="1" lang="en-US" altLang="zh-CN" dirty="0">
                <a:solidFill>
                  <a:srgbClr val="595959"/>
                </a:solidFill>
              </a:rPr>
              <a:t>–</a:t>
            </a:r>
            <a:r>
              <a:rPr kumimoji="1" lang="zh-CN" altLang="en-US" dirty="0">
                <a:solidFill>
                  <a:srgbClr val="595959"/>
                </a:solidFill>
              </a:rPr>
              <a:t>正规方程法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22" name="三角形 21"/>
          <p:cNvSpPr/>
          <p:nvPr/>
        </p:nvSpPr>
        <p:spPr>
          <a:xfrm rot="2651319">
            <a:off x="851566" y="533047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03829" y="2653049"/>
            <a:ext cx="4273804" cy="35188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844951" y="5292102"/>
            <a:ext cx="4504702" cy="35188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正规方程的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51" y="5792020"/>
            <a:ext cx="2233430" cy="5045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06" y="1830753"/>
            <a:ext cx="5240066" cy="149321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51" y="3705587"/>
            <a:ext cx="2672233" cy="122159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481" y="1894425"/>
            <a:ext cx="3374055" cy="1365865"/>
          </a:xfrm>
          <a:prstGeom prst="rect">
            <a:avLst/>
          </a:prstGeom>
        </p:spPr>
      </p:pic>
      <p:sp>
        <p:nvSpPr>
          <p:cNvPr id="14" name="文本占位符 2"/>
          <p:cNvSpPr txBox="1"/>
          <p:nvPr/>
        </p:nvSpPr>
        <p:spPr>
          <a:xfrm>
            <a:off x="981706" y="1334194"/>
            <a:ext cx="4504702" cy="35188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正规方程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公式的解释说明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731" y="5318553"/>
            <a:ext cx="8668324" cy="150704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442176" y="1700802"/>
            <a:ext cx="559237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多元线性回归的正规方程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6"/>
              <p:cNvSpPr txBox="1"/>
              <p:nvPr/>
            </p:nvSpPr>
            <p:spPr>
              <a:xfrm>
                <a:off x="4725908" y="2245346"/>
                <a:ext cx="6758020" cy="1971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线性回归最小而成损失函数</a:t>
                </a:r>
                <a:endPara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 </a:t>
                </a:r>
                <a:r>
                  <a:rPr lang="en-US" altLang="zh-C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J(w)</a:t>
                </a: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Xw</m:t>
                            </m:r>
                            <m:r>
                              <a:rPr lang="en-US" altLang="zh-CN" sz="16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y</m:t>
                            </m:r>
                          </m:e>
                        </m:d>
                      </m:e>
                      <m:sub>
                        <m:r>
                          <a:rPr lang="en-US" altLang="zh-CN" sz="160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1600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取值最小 </a:t>
                </a:r>
                <a:endPara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zh-CN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其解为：</a:t>
                </a:r>
                <a:r>
                  <a:rPr lang="en-US" altLang="zh-CN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w</a:t>
                </a:r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6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zh-CN" altLang="en-US" sz="1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（</m:t>
                            </m:r>
                            <m:r>
                              <m:rPr>
                                <m:nor/>
                              </m:rPr>
                              <a:rPr lang="en-US" altLang="zh-CN" sz="1600" dirty="0">
                                <a:solidFill>
                                  <a:prstClr val="black"/>
                                </a:solidFill>
                                <a:latin typeface="Alibaba PuHuiTi" pitchFamily="18" charset="-122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𝑋</m:t>
                        </m:r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p>
                    </m:sSup>
                    <m:r>
                      <a:rPr lang="zh-CN" altLang="en-US" sz="1600" i="1"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600" dirty="0"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endParaRPr lang="en-US" altLang="zh-CN" sz="16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1.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计算量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比较大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2.X.T@X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一定有逆矩阵吗？如果没有逆矩阵，方程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无解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3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908" y="2245346"/>
                <a:ext cx="6758020" cy="1971675"/>
              </a:xfrm>
              <a:prstGeom prst="rect">
                <a:avLst/>
              </a:prstGeom>
              <a:blipFill rotWithShape="1">
                <a:blip r:embed="rId1"/>
                <a:stretch>
                  <a:fillRect l="-4" t="-31" r="9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05331" y="1170330"/>
            <a:ext cx="4408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、关于损失函数下列说法正确的是？（</a:t>
            </a:r>
            <a:r>
              <a:rPr lang="zh-CN" altLang="en-US" sz="1600" b="1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多选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4932" y="1675008"/>
            <a:ext cx="69847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）损失函数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(Loss Function)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又被称为代价函数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(Cost Function)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、目标函数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）它是模型输出（预测值）和观测结果（真实值）之间概率分布差异的量化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）线性回归的损失函数形如：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）线性回归可采用的是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来衡量模型的损失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136" y="2911192"/>
            <a:ext cx="6398418" cy="5504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270644" y="2459370"/>
            <a:ext cx="1247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ABCD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05331" y="4087901"/>
            <a:ext cx="4264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 关于正规方程的说法正确的是（多选）？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93363" y="4654069"/>
            <a:ext cx="622959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）它是线性回归中参数向量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的解析式，通过损失函数求解而来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）方阵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</a:t>
            </a:r>
            <a:r>
              <a:rPr lang="en-US" altLang="zh-CN" sz="14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一定是可逆的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）使用正规方程求解最优参数时，它的计算规模随着数据维度的增加而增加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是特征矩阵，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是目标值向量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038" y="3963862"/>
            <a:ext cx="2246631" cy="61118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0236992" y="4931382"/>
            <a:ext cx="1139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ACD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47896" y="675577"/>
            <a:ext cx="7228417" cy="524516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、损失函数、导数和矩阵、正规方程法、</a:t>
            </a:r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梯度下降算法</a:t>
            </a:r>
            <a:endParaRPr kumimoji="1"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66958" y="401955"/>
            <a:ext cx="6298881" cy="4855845"/>
          </a:xfrm>
        </p:spPr>
        <p:txBody>
          <a:bodyPr/>
          <a:lstStyle/>
          <a:p>
            <a:r>
              <a:rPr kumimoji="1" lang="zh-CN" altLang="en-US" dirty="0"/>
              <a:t>掌握梯度下降算法的思想</a:t>
            </a:r>
            <a:endParaRPr kumimoji="1" lang="en-US" altLang="zh-CN" dirty="0"/>
          </a:p>
          <a:p>
            <a:r>
              <a:rPr kumimoji="1" lang="zh-CN" altLang="en-US" dirty="0"/>
              <a:t>知道梯度下降算法的分类</a:t>
            </a:r>
            <a:endParaRPr kumimoji="1" lang="en-US" altLang="zh-CN" dirty="0"/>
          </a:p>
          <a:p>
            <a:r>
              <a:rPr kumimoji="1" lang="zh-CN" altLang="en-US" dirty="0"/>
              <a:t>知道正规方程和梯度下降算法的特点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梯度下降和梯度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1671713" y="1719704"/>
            <a:ext cx="8980071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顾名思义：沿着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梯度下降的方向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求解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极小值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举个例子：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坡度最陡下山法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6" y="1311007"/>
            <a:ext cx="645768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什么是梯度下降法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2626946"/>
            <a:ext cx="3727704" cy="20388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2"/>
              <p:cNvSpPr txBox="1"/>
              <p:nvPr/>
            </p:nvSpPr>
            <p:spPr>
              <a:xfrm flipH="1">
                <a:off x="6510528" y="2370914"/>
                <a:ext cx="5570004" cy="17479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marL="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输入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初始化位置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S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；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每步距离为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。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输出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：从位置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S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到达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山底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步骤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：令初始化位置为山的任意位置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S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步骤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：在当前位置环顾四周，如果四周都比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S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高返回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S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；否则执行步骤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步骤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3: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在当前位置环顾四周，寻找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坡度最陡的方向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，令其为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方向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步骤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：沿着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方向往下走，长度为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，到达新的位置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S</m:t>
                        </m:r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‘</m:t>
                        </m:r>
                      </m:sup>
                    </m:sSup>
                  </m:oMath>
                </a14:m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步骤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S</m:t>
                        </m:r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‘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位置环顾四周，如果四周都比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S</m:t>
                        </m:r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‘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高，则返回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S</m:t>
                        </m:r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‘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。否则转到步骤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9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10528" y="2370914"/>
                <a:ext cx="5570004" cy="1747914"/>
              </a:xfrm>
              <a:prstGeom prst="rect">
                <a:avLst/>
              </a:prstGeom>
              <a:blipFill rotWithShape="1">
                <a:blip r:embed="rId2"/>
                <a:stretch>
                  <a:fillRect l="-9" t="-26" r="5" b="12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55" y="4770038"/>
            <a:ext cx="2452769" cy="18435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17876" y="5243149"/>
            <a:ext cx="2709773" cy="897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梯度下降过程就和下山场景类似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可微分的损失函数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，代表着一座山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寻找的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函数的最小值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，也就是山底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梯度下降和梯度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1671712" y="1719704"/>
            <a:ext cx="8258672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单变量函数中，梯度就是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某一点切线斜率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（某一点的导数）；有方向为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函数增长最快的方向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多变量函数中，梯度就是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某一个点的偏导数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；有方向：偏导数分量的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向量方向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535049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什么是梯度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gradient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grad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 flipH="1">
            <a:off x="1671712" y="3830895"/>
            <a:ext cx="4586848" cy="38523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循环迭代求当前点的梯度，更新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当前的权重参数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1022876" y="3449630"/>
            <a:ext cx="645768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梯度下降公式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0336" y="4216129"/>
            <a:ext cx="1856232" cy="49239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763776" y="4776534"/>
            <a:ext cx="7685024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l-G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α: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学习率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步长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不能太大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也不能太小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机器学习中：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0.001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~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0.01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梯度是上升最快的方向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我们需要是下降最快的方向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所以需要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加负号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梯度下降和梯度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535049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单变量梯度下降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–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举个栗子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043851" y="1810585"/>
                <a:ext cx="5698352" cy="644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函数：</a:t>
                </a:r>
                <a:r>
                  <a:rPr kumimoji="0" lang="en-GB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l-GR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l-GR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求当 </a:t>
                </a:r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为何值时，</a:t>
                </a:r>
                <a:r>
                  <a:rPr kumimoji="0" lang="en-GB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值最小    </a:t>
                </a:r>
                <a:r>
                  <a:rPr kumimoji="0" lang="en-GB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函数关于 </a:t>
                </a:r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的导数为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2</a:t>
                </a:r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</a:t>
                </a:r>
                <a:endParaRPr kumimoji="0" lang="el-GR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初始化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Wingdings" panose="05000000000000000000" pitchFamily="2" charset="2"/>
                  </a:rPr>
                  <a:t> ：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起点为：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，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学习率：</a:t>
                </a:r>
                <a:r>
                  <a:rPr kumimoji="0" lang="el-GR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α = 0.4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851" y="1810585"/>
                <a:ext cx="5698352" cy="644151"/>
              </a:xfrm>
              <a:prstGeom prst="rect">
                <a:avLst/>
              </a:prstGeom>
              <a:blipFill rotWithShape="1">
                <a:blip r:embed="rId1"/>
                <a:stretch>
                  <a:fillRect l="-7" t="-31" r="5" b="-36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043851" y="2619199"/>
            <a:ext cx="5698352" cy="283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我们开始进行梯度下降的迭代计算过程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第一步：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θ = 1</a:t>
            </a:r>
            <a:endParaRPr kumimoji="0" lang="el-GR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第二步：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θ = θ - α * (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2θ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1 - 0.4 *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0.2</a:t>
            </a:r>
            <a:endParaRPr kumimoji="0" lang="el-GR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第三步：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θ = θ - α * (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2θ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0.2 - 0.4 *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0.2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0.04</a:t>
            </a:r>
            <a:endParaRPr kumimoji="0" lang="el-GR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第四步：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θ = θ - α * (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2θ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0.04 - 0.4 *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0.04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0.008</a:t>
            </a:r>
            <a:endParaRPr kumimoji="0" lang="el-GR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第五步：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θ = θ - α * (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2θ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0.008 - 0.4 *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0.008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0.0016</a:t>
            </a:r>
            <a:endParaRPr kumimoji="0" lang="el-GR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....</a:t>
            </a:r>
            <a:endParaRPr kumimoji="0" lang="el-GR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步：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θ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已经极其接近最优值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J(</a:t>
            </a:r>
            <a:r>
              <a:rPr kumimoji="0" lang="el-GR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θ)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也接近最小值。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 panose="02000503000000020004" pitchFamily="2" charset="0"/>
                <a:ea typeface="黑体" panose="02010609060101010101" pitchFamily="49" charset="-122"/>
                <a:cs typeface="+mn-cs"/>
              </a:rPr>
              <a:t>小结：经过四次的运算，即走了四步，基本抵达了函数的最低点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159" y="2002536"/>
            <a:ext cx="3553028" cy="357530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梯度下降和梯度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535049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多变量梯度下降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–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举个栗子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598162" y="1828197"/>
                <a:ext cx="6597732" cy="1677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函数：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l-GR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l-GR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zh-CN" altLang="el-G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l-G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为何值时，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的值最小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函数关于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的导数为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函数关于 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θ2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的导数为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endParaRPr kumimoji="0" lang="el-G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则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的梯度为：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endParaRPr kumimoji="0" lang="el-G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初始化： 起点为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(1, 3)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学习率为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α = 0.1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黑体" panose="02010609060101010101" pitchFamily="49" charset="-122"/>
                    <a:cs typeface="+mn-cs"/>
                  </a:rPr>
                  <a:t>最小值是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黑体" panose="02010609060101010101" pitchFamily="49" charset="-122"/>
                    <a:cs typeface="+mn-cs"/>
                  </a:rPr>
                  <a:t>(0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黑体" panose="02010609060101010101" pitchFamily="49" charset="-122"/>
                    <a:cs typeface="+mn-cs"/>
                  </a:rPr>
                  <a:t>，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黑体" panose="02010609060101010101" pitchFamily="49" charset="-122"/>
                    <a:cs typeface="+mn-cs"/>
                  </a:rPr>
                  <a:t>0)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黑体" panose="02010609060101010101" pitchFamily="49" charset="-122"/>
                    <a:cs typeface="+mn-cs"/>
                  </a:rPr>
                  <a:t>点，下面使用梯度下降法一步步的计算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162" y="1828197"/>
                <a:ext cx="6597732" cy="1677767"/>
              </a:xfrm>
              <a:prstGeom prst="rect">
                <a:avLst/>
              </a:prstGeom>
              <a:blipFill rotWithShape="1">
                <a:blip r:embed="rId1"/>
                <a:stretch>
                  <a:fillRect l="-8" t="-2" r="9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598162" y="3753050"/>
                <a:ext cx="9090158" cy="1677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我们开始进行梯度下降的迭代计算过程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第一步：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- α * 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 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-α*2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-α*2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= (1-0.1*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3-0.1*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)=(0.8, 2.4)</a:t>
                </a:r>
                <a:endParaRPr kumimoji="0" lang="el-G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第二步：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- α * (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= 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-α*2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-α*2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 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 (0.8-0.1*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1.6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2.4-0.1*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4.8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)=(0.64, 1.92)</a:t>
                </a:r>
                <a:endParaRPr kumimoji="0" lang="el-G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...</a:t>
                </a:r>
                <a:endParaRPr kumimoji="0" lang="el-G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步：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kumimoji="0" lang="zh-CN" altLang="el-G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l-GR" altLang="zh-CN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θ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已经极其接近最优值，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:r>
                  <a:rPr kumimoji="0" lang="el-GR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θ)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也接近最小值。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162" y="3753050"/>
                <a:ext cx="9090158" cy="1677895"/>
              </a:xfrm>
              <a:prstGeom prst="rect">
                <a:avLst/>
              </a:prstGeom>
              <a:blipFill rotWithShape="1">
                <a:blip r:embed="rId2"/>
                <a:stretch>
                  <a:fillRect l="-6" t="-12" b="-3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894" y="1075324"/>
            <a:ext cx="2644046" cy="244238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5232720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梯度下降和梯度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431721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梯度下降优化过程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5190" y="1708470"/>
            <a:ext cx="3422250" cy="2001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给定初始位置、步长（学习率）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计算该点当前的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梯度的负方向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向该负方向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移动步长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重复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2-3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步 直至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收敛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两次差距小于指定的阈值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达到指定的迭代次数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1022877" y="4014067"/>
            <a:ext cx="4006323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24426" y="4719467"/>
            <a:ext cx="4519174" cy="1677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黑体" panose="02010609060101010101" pitchFamily="49" charset="-122"/>
                <a:cs typeface="+mn-cs"/>
              </a:rPr>
              <a:t>步长决定了在梯度下降迭代的过程中，每一步沿梯度负方向前进的长度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学习率太小，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下降的速度会慢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学习率太大：容易造成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错过最低点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、产生下降过程中的震荡、甚至梯度爆炸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889" y="4697903"/>
            <a:ext cx="2199220" cy="1704636"/>
          </a:xfrm>
          <a:prstGeom prst="rect">
            <a:avLst/>
          </a:prstGeom>
        </p:spPr>
      </p:pic>
      <p:sp>
        <p:nvSpPr>
          <p:cNvPr id="9" name="文本占位符 2"/>
          <p:cNvSpPr txBox="1"/>
          <p:nvPr/>
        </p:nvSpPr>
        <p:spPr>
          <a:xfrm>
            <a:off x="5511480" y="1221545"/>
            <a:ext cx="4823187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梯度下降公式中，为什么梯度要乘以一个负号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036" y="4580773"/>
            <a:ext cx="1746538" cy="1959215"/>
          </a:xfrm>
          <a:prstGeom prst="rect">
            <a:avLst/>
          </a:prstGeom>
        </p:spPr>
      </p:pic>
      <p:sp>
        <p:nvSpPr>
          <p:cNvPr id="13" name="文本占位符 2"/>
          <p:cNvSpPr txBox="1"/>
          <p:nvPr/>
        </p:nvSpPr>
        <p:spPr>
          <a:xfrm>
            <a:off x="1022876" y="4176561"/>
            <a:ext cx="431721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有关学习率步长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 rate)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52093" y="1775870"/>
            <a:ext cx="4389965" cy="103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梯度的方向实际就是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函数在此点上升最快的方向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需要朝着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下降最快的方向走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，负梯度方向， 所以加上负号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926" y="1671654"/>
            <a:ext cx="1964858" cy="1898111"/>
          </a:xfrm>
          <a:prstGeom prst="rect">
            <a:avLst/>
          </a:prstGeom>
        </p:spPr>
      </p:pic>
      <p:cxnSp>
        <p:nvCxnSpPr>
          <p:cNvPr id="19" name="直线连接符 18"/>
          <p:cNvCxnSpPr/>
          <p:nvPr/>
        </p:nvCxnSpPr>
        <p:spPr>
          <a:xfrm flipV="1">
            <a:off x="2103120" y="3874739"/>
            <a:ext cx="7919806" cy="57032"/>
          </a:xfrm>
          <a:prstGeom prst="line">
            <a:avLst/>
          </a:prstGeom>
          <a:ln w="25400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梯度下降法分类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43305" y="1311275"/>
            <a:ext cx="4846320" cy="40576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FGD</a:t>
            </a:r>
            <a:r>
              <a:rPr kumimoji="0" lang="en-US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(Full Gradient Descent)</a:t>
            </a:r>
            <a:endParaRPr kumimoji="0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6401" y="1648025"/>
            <a:ext cx="3978035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每次迭代时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全部样本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的梯度值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6325393" y="1301105"/>
            <a:ext cx="3593598" cy="4060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随机梯度下降算法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SGD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62423" y="1674062"/>
            <a:ext cx="3978036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每次迭代时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选择并使用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一个样本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梯度值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1043197" y="2979206"/>
            <a:ext cx="4636243" cy="4060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小批量梯度下降算法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mini-</a:t>
            </a:r>
            <a:r>
              <a:rPr kumimoji="0" lang="en-GB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batch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34386" y="3429000"/>
            <a:ext cx="4455555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每次迭代时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随机选择并使用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小批量的样本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梯度值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个样本中，选择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个样本进行迭代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(1&lt;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x&lt;m),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占位符 2"/>
          <p:cNvSpPr txBox="1"/>
          <p:nvPr/>
        </p:nvSpPr>
        <p:spPr>
          <a:xfrm>
            <a:off x="1043197" y="4426956"/>
            <a:ext cx="4636243" cy="4060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随机平均梯度下降算法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SAG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11054" y="4964525"/>
            <a:ext cx="4455555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每次迭代时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随机选择一个样本的梯度值和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以往样本的梯度值的均值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90840" y="4518396"/>
            <a:ext cx="5181400" cy="2005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随机选择一个样本，假设选择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样本，计算其梯度值并存储到列表：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D]</a:t>
            </a:r>
            <a:r>
              <a:rPr kumimoji="0" lang="zh-CN" alt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然后使用列表中的梯度值均值，更新模型参数。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随机再选择一个样本，假设选择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样本，计算其梯度值并存储到列表：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D, G]</a:t>
            </a:r>
            <a:r>
              <a:rPr kumimoji="0" lang="zh-CN" alt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然后使用列表中的梯度值均值，更新模型参数。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随机再选择一个样本，假设又选择了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重新计算该样本梯度值，并更新列表中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样本的梯度值，使用列表中梯度值均值，更新模型参数。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...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以此类推，直到算法收敛。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209" y="1979548"/>
            <a:ext cx="4343400" cy="65189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536503" y="2534572"/>
            <a:ext cx="3893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有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个样本，求梯度时用了所有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个样本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423" y="2097842"/>
            <a:ext cx="3724036" cy="497866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762423" y="2556913"/>
            <a:ext cx="44555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 Mono" panose="020F0502020204030204" pitchFamily="34" charset="0"/>
                <a:ea typeface="黑体" panose="02010609060101010101" pitchFamily="49" charset="-122"/>
                <a:cs typeface="+mn-cs"/>
              </a:rPr>
              <a:t>from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 Mono" panose="020F050202020403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 Mono" panose="020F0502020204030204" pitchFamily="34" charset="0"/>
                <a:ea typeface="黑体" panose="02010609060101010101" pitchFamily="49" charset="-122"/>
                <a:cs typeface="+mn-cs"/>
              </a:rPr>
              <a:t>sklearn.linear_model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 Mono" panose="020F0502020204030204" pitchFamily="34" charset="0"/>
                <a:ea typeface="黑体" panose="02010609060101010101" pitchFamily="49" charset="-122"/>
                <a:cs typeface="+mn-cs"/>
              </a:rPr>
              <a:t> import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 Mono" panose="020F0502020204030204" pitchFamily="34" charset="0"/>
                <a:ea typeface="黑体" panose="02010609060101010101" pitchFamily="49" charset="-122"/>
                <a:cs typeface="+mn-cs"/>
              </a:rPr>
              <a:t>SGDRegressor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51" y="3241556"/>
            <a:ext cx="3368040" cy="490386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550951" y="3760472"/>
            <a:ext cx="48987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batch_size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=1</a:t>
            </a:r>
            <a:r>
              <a:rPr kumimoji="0" lang="zh-CN" alt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则变成了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</a:t>
            </a:r>
            <a:r>
              <a:rPr kumimoji="0" lang="zh-CN" alt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batch_size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=n</a:t>
            </a:r>
            <a:r>
              <a:rPr kumimoji="0" lang="zh-CN" alt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则变成了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FGD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503" y="5797053"/>
            <a:ext cx="3939898" cy="471667"/>
          </a:xfrm>
          <a:prstGeom prst="rect">
            <a:avLst/>
          </a:prstGeom>
        </p:spPr>
      </p:pic>
      <p:cxnSp>
        <p:nvCxnSpPr>
          <p:cNvPr id="26" name="直线连接符 25"/>
          <p:cNvCxnSpPr/>
          <p:nvPr/>
        </p:nvCxnSpPr>
        <p:spPr>
          <a:xfrm>
            <a:off x="1771600" y="2975211"/>
            <a:ext cx="7409602" cy="29882"/>
          </a:xfrm>
          <a:prstGeom prst="line">
            <a:avLst/>
          </a:prstGeom>
          <a:ln w="25400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/>
          <p:cNvCxnSpPr/>
          <p:nvPr/>
        </p:nvCxnSpPr>
        <p:spPr>
          <a:xfrm>
            <a:off x="1771600" y="4327361"/>
            <a:ext cx="7409602" cy="29882"/>
          </a:xfrm>
          <a:prstGeom prst="line">
            <a:avLst/>
          </a:prstGeom>
          <a:ln w="25400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梯度下降法分类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196534" y="1348240"/>
            <a:ext cx="3051283" cy="4060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全梯度下降算法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FGD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6325393" y="1348240"/>
            <a:ext cx="3593598" cy="4060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随机梯度下降算法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SGD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62423" y="1674062"/>
            <a:ext cx="3978036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简单，高效，不稳定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每次只使用一个样本迭代，若遇上噪声则容易陷入局部最优解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1196534" y="2886198"/>
            <a:ext cx="4636243" cy="4060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小批量梯度下降算法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mini-</a:t>
            </a:r>
            <a:r>
              <a:rPr kumimoji="0" lang="en-GB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batch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30626" y="3307080"/>
            <a:ext cx="8248094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结合了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的胆大和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的心细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，它的表现也正好居于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二者之间。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目前使用最多，正是因为它避开了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运算效率低成本大和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收敛效果不稳定的缺点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占位符 2"/>
          <p:cNvSpPr txBox="1"/>
          <p:nvPr/>
        </p:nvSpPr>
        <p:spPr>
          <a:xfrm>
            <a:off x="1196534" y="4426956"/>
            <a:ext cx="4636243" cy="4060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随机平均梯度下降算法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SAG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58094" y="4883245"/>
            <a:ext cx="7936146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初期表现不佳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，优化速度较慢。这是因为我们常将初始梯度设为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而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SAG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每轮梯度更新都结合了上一轮梯度值。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36502" y="1769432"/>
            <a:ext cx="3893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由于使用全部数据集，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训练速度较慢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26" name="直线连接符 25"/>
          <p:cNvCxnSpPr/>
          <p:nvPr/>
        </p:nvCxnSpPr>
        <p:spPr>
          <a:xfrm>
            <a:off x="2150958" y="2661437"/>
            <a:ext cx="7409602" cy="29882"/>
          </a:xfrm>
          <a:prstGeom prst="line">
            <a:avLst/>
          </a:prstGeom>
          <a:ln w="25400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/>
          <p:cNvCxnSpPr/>
          <p:nvPr/>
        </p:nvCxnSpPr>
        <p:spPr>
          <a:xfrm>
            <a:off x="2177839" y="4327756"/>
            <a:ext cx="7409602" cy="29882"/>
          </a:xfrm>
          <a:prstGeom prst="line">
            <a:avLst/>
          </a:prstGeom>
          <a:ln w="25400">
            <a:solidFill>
              <a:srgbClr val="AD2A2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196534" y="5874706"/>
            <a:ext cx="6300386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目前使用较多的是：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小批量梯度下降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梯度下降法与正规方程对比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对角圆角矩形 10"/>
          <p:cNvSpPr/>
          <p:nvPr/>
        </p:nvSpPr>
        <p:spPr>
          <a:xfrm>
            <a:off x="6463265" y="2321066"/>
            <a:ext cx="3972096" cy="3540410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对角圆角矩形 11"/>
          <p:cNvSpPr/>
          <p:nvPr/>
        </p:nvSpPr>
        <p:spPr>
          <a:xfrm>
            <a:off x="1484865" y="2321066"/>
            <a:ext cx="3972096" cy="3540410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对角圆角矩形 12"/>
          <p:cNvSpPr/>
          <p:nvPr/>
        </p:nvSpPr>
        <p:spPr>
          <a:xfrm>
            <a:off x="1386021" y="2221406"/>
            <a:ext cx="3972096" cy="3540410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AD2A26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932069" y="1979689"/>
            <a:ext cx="2880000" cy="443707"/>
          </a:xfrm>
          <a:prstGeom prst="rect">
            <a:avLst/>
          </a:pr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梯度下降</a:t>
            </a:r>
            <a:endParaRPr lang="zh-CN" altLang="en-US" sz="16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20" name="TextBox 17"/>
          <p:cNvSpPr txBox="1"/>
          <p:nvPr/>
        </p:nvSpPr>
        <p:spPr>
          <a:xfrm>
            <a:off x="1614157" y="2596533"/>
            <a:ext cx="3606800" cy="3940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需要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选择学习率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需要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迭代求解</a:t>
            </a:r>
            <a:endParaRPr lang="en-US" altLang="zh-CN" sz="1400" b="0" i="0" dirty="0">
              <a:solidFill>
                <a:schemeClr val="accent2">
                  <a:lumMod val="7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特征数量较大可以使用</a:t>
            </a:r>
            <a:endParaRPr lang="en-US" altLang="zh-CN" sz="14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应用场景：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更加普适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，迭代的计算方式，适合于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嘈杂、大数据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应用场景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注意：梯度下降在各种损失函数（目标函数）求解中大量使用。深度学习中更是如此，深度学习模型参数很轻松就上亿，只能通过迭代的方式求最优解。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3" name="对角圆角矩形 22"/>
          <p:cNvSpPr/>
          <p:nvPr/>
        </p:nvSpPr>
        <p:spPr>
          <a:xfrm>
            <a:off x="6364421" y="2221406"/>
            <a:ext cx="3972096" cy="3540410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48504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6910469" y="1951408"/>
            <a:ext cx="2880000" cy="443707"/>
          </a:xfrm>
          <a:prstGeom prst="rect">
            <a:avLst/>
          </a:prstGeom>
          <a:solidFill>
            <a:srgbClr val="48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正规方程</a:t>
            </a:r>
            <a:endParaRPr lang="zh-CN" altLang="en-US" sz="16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17"/>
              <p:cNvSpPr txBox="1"/>
              <p:nvPr/>
            </p:nvSpPr>
            <p:spPr>
              <a:xfrm>
                <a:off x="6364421" y="2508128"/>
                <a:ext cx="3972096" cy="3628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不需要</a:t>
                </a: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学习率</a:t>
                </a:r>
                <a:endPara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1400" b="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Helvetica Neue" panose="02000503000000020004" pitchFamily="2" charset="0"/>
                  </a:rPr>
                  <a:t>一次运算得出</a:t>
                </a:r>
                <a:r>
                  <a:rPr lang="zh-CN" altLang="en-US" sz="1400" b="0" i="0" dirty="0">
                    <a:solidFill>
                      <a:srgbClr val="333333"/>
                    </a:solidFill>
                    <a:effectLst/>
                    <a:latin typeface="Helvetica Neue" panose="02000503000000020004" pitchFamily="2" charset="0"/>
                  </a:rPr>
                  <a:t>，一蹴而就</a:t>
                </a:r>
                <a:endParaRPr lang="en-US" altLang="zh-CN" sz="1400" b="0" i="0" dirty="0">
                  <a:solidFill>
                    <a:srgbClr val="333333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应用场景：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小数据量场景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、精准的数据场景</a:t>
                </a:r>
                <a:endParaRPr lang="en-US" altLang="zh-CN" sz="1400" dirty="0">
                  <a:solidFill>
                    <a:srgbClr val="333333"/>
                  </a:solidFill>
                  <a:latin typeface="Helvetica Neue" panose="02000503000000020004" pitchFamily="2" charset="0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缺点：计算量大、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容易收到噪声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、特征强相关性的影响</a:t>
                </a:r>
                <a:endParaRPr lang="en-US" altLang="zh-CN" sz="1400" dirty="0">
                  <a:solidFill>
                    <a:srgbClr val="333333"/>
                  </a:solidFill>
                  <a:latin typeface="Helvetica Neue" panose="02000503000000020004" pitchFamily="2" charset="0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注意：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阿里巴巴普惠体" panose="00020600040101010101" pitchFamily="18" charset="-122"/>
                            <a:cs typeface="阿里巴巴普惠体" panose="00020600040101010101" pitchFamily="18" charset="-122"/>
                            <a:sym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阿里巴巴普惠体" panose="00020600040101010101" pitchFamily="18" charset="-122"/>
                            <a:cs typeface="阿里巴巴普惠体" panose="00020600040101010101" pitchFamily="18" charset="-122"/>
                            <a:sym typeface="Arial" panose="020B0604020202020204" pitchFamily="34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阿里巴巴普惠体" panose="00020600040101010101" pitchFamily="18" charset="-122"/>
                            <a:cs typeface="阿里巴巴普惠体" panose="00020600040101010101" pitchFamily="18" charset="-122"/>
                            <a:sym typeface="Arial" panose="020B0604020202020204" pitchFamily="34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  <a:sym typeface="Arial" panose="020B0604020202020204" pitchFamily="34" charset="0"/>
                      </a:rPr>
                      <m:t>X</m:t>
                    </m:r>
                  </m:oMath>
                </a14:m>
                <a:r>
                  <a:rPr lang="zh-CN" altLang="en-US" sz="1400" b="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Helvetica Neue" panose="02000503000000020004" pitchFamily="2" charset="0"/>
                  </a:rPr>
                  <a:t>的逆矩阵</a:t>
                </a:r>
                <a:r>
                  <a:rPr lang="zh-CN" altLang="en-US" sz="1400" b="0" i="0" dirty="0">
                    <a:solidFill>
                      <a:srgbClr val="333333"/>
                    </a:solidFill>
                    <a:effectLst/>
                    <a:latin typeface="Helvetica Neue" panose="02000503000000020004" pitchFamily="2" charset="0"/>
                  </a:rPr>
                  <a:t>不存在时，无法求解</a:t>
                </a:r>
                <a:endParaRPr lang="en-US" altLang="zh-CN" sz="1400" b="0" i="0" dirty="0">
                  <a:solidFill>
                    <a:srgbClr val="333333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Helvetica Neue" panose="02000503000000020004" pitchFamily="2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注意：计算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阿里巴巴普惠体" panose="00020600040101010101" pitchFamily="18" charset="-122"/>
                            <a:cs typeface="阿里巴巴普惠体" panose="00020600040101010101" pitchFamily="18" charset="-122"/>
                            <a:sym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阿里巴巴普惠体" panose="00020600040101010101" pitchFamily="18" charset="-122"/>
                            <a:cs typeface="阿里巴巴普惠体" panose="00020600040101010101" pitchFamily="18" charset="-122"/>
                            <a:sym typeface="Arial" panose="020B0604020202020204" pitchFamily="34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阿里巴巴普惠体" panose="00020600040101010101" pitchFamily="18" charset="-122"/>
                            <a:cs typeface="阿里巴巴普惠体" panose="00020600040101010101" pitchFamily="18" charset="-122"/>
                            <a:sym typeface="Arial" panose="020B0604020202020204" pitchFamily="34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4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  <a:sym typeface="Arial" panose="020B0604020202020204" pitchFamily="34" charset="0"/>
                      </a:rPr>
                      <m:t>X</m:t>
                    </m:r>
                  </m:oMath>
                </a14:m>
                <a:r>
                  <a:rPr lang="zh-CN" altLang="en-US" sz="1400" b="0" i="0" dirty="0">
                    <a:solidFill>
                      <a:srgbClr val="333333"/>
                    </a:solidFill>
                    <a:effectLst/>
                    <a:latin typeface="Helvetica Neue" panose="02000503000000020004" pitchFamily="2" charset="0"/>
                  </a:rPr>
                  <a:t>的逆矩阵</a:t>
                </a:r>
                <a:r>
                  <a:rPr lang="zh-CN" altLang="en-US" sz="1400" b="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Helvetica Neue" panose="02000503000000020004" pitchFamily="2" charset="0"/>
                  </a:rPr>
                  <a:t>非常耗时</a:t>
                </a:r>
                <a:endParaRPr lang="en-US" altLang="zh-CN" sz="1400" b="0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1400" b="0" i="0" dirty="0">
                    <a:solidFill>
                      <a:srgbClr val="333333"/>
                    </a:solidFill>
                    <a:effectLst/>
                    <a:latin typeface="Helvetica Neue" panose="02000503000000020004" pitchFamily="2" charset="0"/>
                  </a:rPr>
                  <a:t>如果数据规律不是线性的，无法使用或效果不好</a:t>
                </a:r>
                <a:endParaRPr lang="en-US" altLang="zh-CN" sz="1400" dirty="0">
                  <a:solidFill>
                    <a:srgbClr val="333333"/>
                  </a:solidFill>
                  <a:latin typeface="Helvetica Neue" panose="02000503000000020004" pitchFamily="2" charset="0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endParaRPr lang="en-US" altLang="zh-CN" sz="1400" dirty="0">
                  <a:solidFill>
                    <a:srgbClr val="333333"/>
                  </a:solidFill>
                  <a:latin typeface="Helvetica Neue" panose="02000503000000020004" pitchFamily="2" charset="0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endPara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421" y="2508128"/>
                <a:ext cx="3972096" cy="3628301"/>
              </a:xfrm>
              <a:prstGeom prst="rect">
                <a:avLst/>
              </a:prstGeom>
              <a:blipFill rotWithShape="1">
                <a:blip r:embed="rId1"/>
                <a:stretch>
                  <a:fillRect l="-11" t="-14" r="1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78222" y="992142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梯度概念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173117" y="209410"/>
            <a:ext cx="4269059" cy="610724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6"/>
              <p:cNvSpPr txBox="1"/>
              <p:nvPr/>
            </p:nvSpPr>
            <p:spPr>
              <a:xfrm>
                <a:off x="4785697" y="2395461"/>
                <a:ext cx="6864752" cy="1677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梯度下降公式： 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1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w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w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* 梯度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1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…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…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*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，梯度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2…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梯度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n)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学习率 俗称步长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1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学习率太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小学的慢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；学习率太大，梯度下降中</a:t>
                </a:r>
                <a:r>
                  <a:rPr lang="zh-CN" altLang="en-US" sz="1400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抖动、震荡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、易错过最优解</a:t>
                </a:r>
                <a:endPara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97" y="2395461"/>
                <a:ext cx="6864752" cy="1677895"/>
              </a:xfrm>
              <a:prstGeom prst="rect">
                <a:avLst/>
              </a:prstGeom>
              <a:blipFill rotWithShape="1">
                <a:blip r:embed="rId1"/>
                <a:stretch>
                  <a:fillRect l="-5" t="-14" r="2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78222" y="2131795"/>
            <a:ext cx="214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梯度下降法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683959" y="1341694"/>
            <a:ext cx="7068229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梯度的方向就是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上升最快的方向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梯度：单变量函数就是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；多变量函数就是偏导数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78222" y="4323324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3.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梯度下降算法分类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4683959" y="4672876"/>
            <a:ext cx="7068229" cy="1535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全梯度下降：使用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全部样本的梯度值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随机梯度下降：随机选择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一个样本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的梯度值更新权重</a:t>
            </a:r>
            <a:endParaRPr lang="zh-CN" altLang="en-US" sz="16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小批量梯度下降：随机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选择小部分样本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的梯度值更新权重</a:t>
            </a:r>
            <a:endParaRPr lang="zh-CN" altLang="en-US" sz="16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随机平均梯度下降：使用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以前产生的梯度值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来指导当前的梯度计算</a:t>
            </a:r>
            <a:endParaRPr lang="zh-CN" altLang="en-US" sz="16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7440" y="5627370"/>
            <a:ext cx="1028700" cy="1028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60636" y="1207670"/>
            <a:ext cx="394462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、关于梯度下降说法正确的是？（</a:t>
            </a:r>
            <a:r>
              <a:rPr lang="zh-CN" altLang="en-US" sz="1600" b="1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多选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92684" y="1870009"/>
            <a:ext cx="572945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）目的是求解一组权重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的值，使得关于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的函数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J(w)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取得最小值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）梯度的本质是一个矢量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）沿着梯度的方向是函数值下降最快的方向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）权重的迭代公式中步长需要手动设定，不可过大或过小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558" y="1077429"/>
            <a:ext cx="2312293" cy="6267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96170" y="2178444"/>
            <a:ext cx="114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ABD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 上升</a:t>
            </a:r>
            <a:endParaRPr lang="zh-CN" altLang="en-US" sz="1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60636" y="4000538"/>
            <a:ext cx="5262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 下列关于其它常见的梯度下降方法的描述正确的是？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20245" y="4653628"/>
            <a:ext cx="568296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）全梯度下降每次更新权重都要使用全部的数据集数据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）随机梯度下降每次更新权重只需要使用数据集中某一个样本的数据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）小批量梯度下降法综合了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FGD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的优势，缓解了两者的缺陷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SAG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在任何情况下都比其它梯度下降方法表现要好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62638" y="5036312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错误，每个方法有自己的应用场景</a:t>
            </a:r>
            <a:endParaRPr lang="zh-CN" altLang="en-US" sz="1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57432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案例银行信贷 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710565" y="1356995"/>
            <a:ext cx="4647565" cy="499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案例：梯度下降法计算每个样本产生的梯度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62857" y="3037227"/>
                <a:ext cx="8362042" cy="2863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已知：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数据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假设函数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损失函数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ℎ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…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-…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置换成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zh-CN" altLang="en-US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US" altLang="zh-CN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条样本，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ℎ</m:t>
                        </m:r>
                      </m:e>
                      <m:sub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个样本的预测值，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个样本真实值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目标：计算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8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个样本的产生的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平均梯度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，带入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梯度下降公式更新权重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i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𝜶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𝝏</m:t>
                        </m:r>
                      </m:num>
                      <m:den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CN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J(</a:t>
                </a: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𝜽</m:t>
                    </m:r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梯度下降法的梯度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向量表示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𝜽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i</m:t>
                        </m:r>
                        <m: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40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𝜽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140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  - 𝜶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𝝏</m:t>
                        </m:r>
                      </m:num>
                      <m:den>
                        <m:r>
                          <a:rPr kumimoji="0" lang="zh-CN" altLang="en-US" sz="1400" b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sSub>
                          <m:sSubPr>
                            <m:ctrlPr>
                              <a:rPr kumimoji="0" lang="zh-CN" altLang="en-US" sz="1400" b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Alibaba PuHuiTi" pitchFamily="18" charset="-122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Pr>
                          <m:e>
                            <m:r>
                              <a:rPr kumimoji="0" lang="zh-CN" altLang="en-US" sz="1400" b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Alibaba PuHuiTi" pitchFamily="18" charset="-122"/>
                                <a:ea typeface="Alibaba PuHuiTi" pitchFamily="18" charset="-122"/>
                                <a:cs typeface="Alibaba PuHuiTi" pitchFamily="18" charset="-122"/>
                              </a:rPr>
                              <m:t>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zh-CN" altLang="en-US" sz="1400" b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Alibaba PuHuiTi" pitchFamily="18" charset="-122"/>
                                <a:ea typeface="Alibaba PuHuiTi" pitchFamily="18" charset="-122"/>
                                <a:cs typeface="Alibaba PuHuiTi" pitchFamily="18" charset="-122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40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J(</a:t>
                </a:r>
                <a14:m>
                  <m:oMath xmlns:m="http://schemas.openxmlformats.org/officeDocument/2006/math">
                    <m:r>
                      <a:rPr kumimoji="0" lang="zh-CN" altLang="en-US" sz="1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𝜽</m:t>
                    </m:r>
                  </m:oMath>
                </a14:m>
                <a:r>
                  <a:rPr lang="zh-CN" altLang="en-US" sz="140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)</a:t>
                </a:r>
                <a:endParaRPr lang="zh-CN" altLang="en-US" sz="140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57" y="3037227"/>
                <a:ext cx="8362042" cy="2863215"/>
              </a:xfrm>
              <a:prstGeom prst="rect">
                <a:avLst/>
              </a:prstGeom>
              <a:blipFill rotWithShape="1">
                <a:blip r:embed="rId1"/>
                <a:stretch>
                  <a:fillRect l="-6" t="-1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824" y="995377"/>
            <a:ext cx="4167515" cy="24333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44518" y="1830358"/>
            <a:ext cx="6357432" cy="103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银行信贷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只考虑每月薪资（元）、存款余额（元）、房产面积（平方米）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已知：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位贷款人的数据 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目标：计算数据样本产生的梯度，求解线性回归模型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57432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案例银行信贷 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885717" y="1311007"/>
            <a:ext cx="431721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梯度下降法的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标量表示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885825" y="1790065"/>
                <a:ext cx="11196320" cy="1348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zh-CN" altLang="en-US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θ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是一个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向量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a:rPr kumimoji="0" lang="en-US" altLang="zh-C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a:rPr kumimoji="0" lang="en-US" altLang="zh-CN" sz="12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a:rPr kumimoji="0" lang="en-US" altLang="zh-C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…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黑体" panose="02010609060101010101" pitchFamily="49" charset="-122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altLang="zh-CN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，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损失函数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对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向量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zh-CN" altLang="en-US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θ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求导，如下：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mbria Math" panose="02040503050406030204" pitchFamily="18" charset="0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f>
                          <m:fPr>
                            <m:ctrlPr>
                              <a:rPr kumimoji="0" lang="en-US" altLang="zh-CN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fPr>
                          <m:num>
                            <m:r>
                              <a:rPr kumimoji="0" lang="en-US" altLang="zh-CN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  <m:r>
                              <a:rPr kumimoji="0" lang="en-US" altLang="zh-CN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𝑖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=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333333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333333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kumimoji="0" lang="zh-CN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>
                                                    <a:lumMod val="85000"/>
                                                    <a:lumOff val="15000"/>
                                                  </a:prst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>
                                                    <a:lumMod val="85000"/>
                                                    <a:lumOff val="15000"/>
                                                  </a:prst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333333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333333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1F497D">
                                            <a:lumMod val="60000"/>
                                            <a:lumOff val="4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1F497D">
                                            <a:lumMod val="60000"/>
                                            <a:lumOff val="4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1F497D">
                                                <a:lumMod val="60000"/>
                                                <a:lumOff val="40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1F497D">
                                                <a:lumMod val="60000"/>
                                                <a:lumOff val="40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>
                                        <a:lumMod val="60000"/>
                                        <a:lumOff val="4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−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F49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sup>
                        </m:sSup>
                      </m:e>
                    </m:nary>
                    <m:sSubSup>
                      <m:sSubSup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</m:e>
                          <m:sub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  <m:sub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′</m:t>
                        </m:r>
                      </m:sup>
                    </m:sSub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</m:e>
                    </m:nary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+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−…</m:t>
                        </m:r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…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黑体" panose="02010609060101010101" pitchFamily="49" charset="-122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𝑑</m:t>
                            </m:r>
                          </m:sub>
                        </m:s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i</m:t>
                            </m:r>
                          </m:sup>
                        </m:sSup>
                      </m:e>
                    </m:nary>
                  </m:oMath>
                </a14:m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线性回归梯度下降法的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梯度向量表示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i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#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i</m:t>
                        </m:r>
                      </m:sup>
                    </m:s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为第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个样本的向量表示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kumimoji="0" lang="en-US" altLang="zh-C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,</m:t>
                    </m:r>
                    <m:r>
                      <m:rPr>
                        <m:nor/>
                      </m:rPr>
                      <a:rPr kumimoji="0" lang="zh-CN" altLang="en-US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kumimoji="0" lang="en-US" altLang="zh-C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,</m:t>
                    </m:r>
                    <m:r>
                      <m:rPr>
                        <m:nor/>
                      </m:rPr>
                      <a:rPr kumimoji="0" lang="zh-CN" altLang="en-US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kumimoji="0" lang="en-US" altLang="zh-C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,</m:t>
                    </m:r>
                    <m:r>
                      <m:rPr>
                        <m:nor/>
                      </m:rPr>
                      <a:rPr kumimoji="0" lang="zh-CN" altLang="en-US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…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libri" panose="020F0502020204030204"/>
                        <a:ea typeface="黑体" panose="02010609060101010101" pitchFamily="49" charset="-122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𝑑</m:t>
                        </m:r>
                      </m:sub>
                    </m:sSub>
                    <m:r>
                      <m:rPr>
                        <m:nor/>
                      </m:rPr>
                      <a:rPr kumimoji="0" lang="en-US" altLang="zh-C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1790065"/>
                <a:ext cx="11196320" cy="134874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85717" y="3184792"/>
                <a:ext cx="10620060" cy="1861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梯度下降法的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梯度向量表示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改写成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标量表示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：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mbria Math" panose="02040503050406030204" pitchFamily="18" charset="0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a:rPr kumimoji="0" lang="en-US" altLang="zh-C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a:rPr kumimoji="0" lang="en-US" altLang="zh-CN" sz="12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a:rPr kumimoji="0" lang="en-US" altLang="zh-C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zh-CN" alt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…</m:t>
                        </m:r>
                        <m:r>
                          <m:rPr>
                            <m:nor/>
                          </m:rPr>
                          <a:rPr kumimoji="0" lang="en-US" altLang="zh-CN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黑体" panose="02010609060101010101" pitchFamily="49" charset="-122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d</m:t>
                            </m:r>
                          </m:sub>
                        </m:s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𝜕</m:t>
                        </m:r>
                        <m:sSub>
                          <m:sSubPr>
                            <m:ctrlP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zh-CN" altLang="en-US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j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Calibri" panose="020F0502020204030204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bSup>
                          <m:sSubSupPr>
                            <m:ctrlP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j</m:t>
                            </m:r>
                          </m:sub>
                          <m:sup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(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𝑖</m:t>
                            </m:r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33333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#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个样本的第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个特征值，可看成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3333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ij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就是第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行第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j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列的数据值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有了每个分量的梯度，带入标量梯度下降公式计算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zh-CN" alt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</m:sub>
                    </m:sSub>
                    <m:r>
                      <a:rPr kumimoji="0" lang="en-US" altLang="zh-CN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: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zh-CN" altLang="en-US" sz="1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𝜶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kumimoji="0" lang="zh-CN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bSup>
                          <m:sSub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j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#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8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</a:t>
                </a:r>
                <a:r>
                  <a:rPr lang="zh-CN" altLang="en-US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分别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在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个特征值分量上产生偏导数，计算每个分量的平均偏导数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7" y="3184792"/>
                <a:ext cx="10620060" cy="1861820"/>
              </a:xfrm>
              <a:prstGeom prst="rect">
                <a:avLst/>
              </a:prstGeom>
              <a:blipFill rotWithShape="1">
                <a:blip r:embed="rId2"/>
                <a:stretch>
                  <a:fillRect l="-5" t="-14" r="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57432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案例银行信贷 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885717" y="1311007"/>
            <a:ext cx="4814043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593330" y="981710"/>
          <a:ext cx="4275455" cy="2672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395"/>
                <a:gridCol w="536575"/>
                <a:gridCol w="646430"/>
                <a:gridCol w="831215"/>
                <a:gridCol w="647700"/>
                <a:gridCol w="1120140"/>
              </a:tblGrid>
              <a:tr h="478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贷款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编号</a:t>
                      </a:r>
                      <a:endParaRPr lang="zh-CN" altLang="en-US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姓名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每月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工资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存款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余额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房产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面积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授信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额度</a:t>
                      </a:r>
                      <a:r>
                        <a:rPr lang="en-US" altLang="zh-CN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元</a:t>
                      </a:r>
                      <a:r>
                        <a:rPr lang="en-US" altLang="zh-CN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)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张一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6000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12000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55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30000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张二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65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45300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张三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7500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16000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46000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赵六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10000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15000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75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55500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钱七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9000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21000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58000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孙八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12000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19000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85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75400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周九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11000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26000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90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81000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吴十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13000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32000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76800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85717" y="1682167"/>
                <a:ext cx="5736750" cy="512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根据标量梯度下降来计算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zh-CN" alt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</m:sub>
                    </m:sSub>
                    <m:r>
                      <a:rPr kumimoji="0" lang="en-US" altLang="zh-CN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504D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: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zh-CN" alt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j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𝜶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altLang="zh-CN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altLang="zh-CN" sz="1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kumimoji="0" lang="zh-CN" alt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en-US" altLang="zh-CN" sz="14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en-US" altLang="zh-CN" sz="14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kumimoji="0" lang="zh-CN" altLang="en-US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bSup>
                          <m:sSubSupPr>
                            <m:ctrlPr>
                              <a:rPr kumimoji="0" lang="en-US" altLang="zh-CN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j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altLang="zh-CN" sz="1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</m:nary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7" y="1682167"/>
                <a:ext cx="5736750" cy="512191"/>
              </a:xfrm>
              <a:prstGeom prst="rect">
                <a:avLst/>
              </a:prstGeom>
              <a:blipFill rotWithShape="1">
                <a:blip r:embed="rId2"/>
                <a:stretch>
                  <a:fillRect l="-9" t="-10" r="1" b="-93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15365" y="2646045"/>
                <a:ext cx="7009130" cy="755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线性回归式为：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ℎ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假设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，学习率𝜶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0.001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zh-CN" altLang="en-US" sz="1400" b="0" i="0" u="none" strike="noStrike" kern="1200" cap="none" spc="0" normalizeH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。计算如下：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65" y="2646045"/>
                <a:ext cx="7009130" cy="7556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15671" y="3511799"/>
                <a:ext cx="9681878" cy="2820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8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个样本会在各个分量上产生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8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个梯度。先在偏置分量上计算平均梯度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张一 样本：在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偏置分量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上产生的梯度</a:t>
                </a:r>
                <a14:m>
                  <m:oMath xmlns:m="http://schemas.openxmlformats.org/officeDocument/2006/math">
                    <m:r>
                      <a:rPr kumimoji="0" lang="en-US" altLang="zh-CN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6000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12000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55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30000)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-11944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个样本，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在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偏置分量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上产生的梯度 </a:t>
                </a:r>
                <a14:m>
                  <m:oMath xmlns:m="http://schemas.openxmlformats.org/officeDocument/2006/math">
                    <m:r>
                      <a:rPr kumimoji="0" lang="en-US" altLang="zh-CN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8000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10000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65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45300)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-27234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个样本，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在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偏置分量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上产生的梯度 </a:t>
                </a:r>
                <a14:m>
                  <m:oMath xmlns:m="http://schemas.openxmlformats.org/officeDocument/2006/math">
                    <m:r>
                      <a:rPr kumimoji="0" lang="en-US" altLang="zh-CN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3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e>
                        </m:d>
                      </m:sup>
                    </m:sSub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7500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16000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+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46000)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*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-22439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个样本，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在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偏置分量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上产生的梯度 </a:t>
                </a:r>
                <a14:m>
                  <m:oMath xmlns:m="http://schemas.openxmlformats.org/officeDocument/2006/math">
                    <m:r>
                      <a:rPr kumimoji="0" lang="en-US" altLang="zh-CN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(</m:t>
                    </m:r>
                    <m:sSup>
                      <m:s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kumimoji="0" lang="zh-CN" altLang="en-US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>
                                                <a:lumMod val="85000"/>
                                                <a:lumOff val="15000"/>
                                              </a:prst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4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kumimoji="0" lang="en-US" altLang="zh-C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>
                                        <a:lumMod val="85000"/>
                                        <a:lumOff val="15000"/>
                                      </a:prst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>
                                            <a:lumMod val="85000"/>
                                            <a:lumOff val="15000"/>
                                          </a:prst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kumimoji="0" lang="zh-CN" altLang="en-US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</m:sup>
                    </m:sSup>
                    <m:sSubSup>
                      <m:sSubSup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dPr>
                          <m:e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4</m:t>
                            </m:r>
                          </m:e>
                        </m:d>
                      </m:sup>
                    </m:sSubSup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-30424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5/6/7/8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计算数据 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-27929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-44314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-43909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-31719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的梯度为：𝛻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kumimoji="0" lang="zh-CN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bSup>
                          <m:sSub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0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-29989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再更新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的梯度为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𝜶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（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0.001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*</a:t>
                </a:r>
                <a:r>
                  <a:rPr lang="en-US" altLang="zh-CN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(-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29989</a:t>
                </a:r>
                <a:r>
                  <a:rPr lang="en-US" altLang="zh-CN" sz="1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en-US" altLang="zh-CN" sz="1200" noProof="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30.989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671" y="3511799"/>
                <a:ext cx="9681878" cy="2820035"/>
              </a:xfrm>
              <a:prstGeom prst="rect">
                <a:avLst/>
              </a:prstGeom>
              <a:blipFill rotWithShape="1">
                <a:blip r:embed="rId4"/>
                <a:stretch>
                  <a:fillRect l="-3" t="-9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6357432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案例银行信贷 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885717" y="1311007"/>
            <a:ext cx="4814043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案例：梯度下降法计算每个样本产生的梯度 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7884161" y="984033"/>
          <a:ext cx="3992879" cy="2688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988"/>
                <a:gridCol w="501263"/>
                <a:gridCol w="724308"/>
                <a:gridCol w="772160"/>
                <a:gridCol w="568960"/>
                <a:gridCol w="965200"/>
              </a:tblGrid>
              <a:tr h="48674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贷款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编号</a:t>
                      </a:r>
                      <a:endParaRPr lang="zh-CN" altLang="en-US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姓名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每月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工资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存款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余额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房产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面积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授信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额度</a:t>
                      </a:r>
                      <a:r>
                        <a:rPr lang="en-US" altLang="zh-CN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元</a:t>
                      </a:r>
                      <a:r>
                        <a:rPr lang="en-US" altLang="zh-CN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)</a:t>
                      </a:r>
                      <a:endParaRPr lang="en-US" altLang="zh-CN" sz="1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张一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6000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12000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55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30000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张二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65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45300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张三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7500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16000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46000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赵六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10000</a:t>
                      </a:r>
                      <a:endParaRPr 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15000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75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55500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钱七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9000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21000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58000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孙八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12000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19000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85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75400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周九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11000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26000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90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81000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2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吴十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13000</a:t>
                      </a:r>
                      <a:endParaRPr lang="zh-CN" alt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32000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76800</a:t>
                      </a:r>
                      <a:endParaRPr lang="en-US" altLang="zh-CN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85717" y="1810585"/>
                <a:ext cx="6998444" cy="3340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计算在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每月工资上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产生的梯度，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的梯度为：𝛻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kumimoji="0" lang="zh-CN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bSup>
                          <m:sSub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-305067937.5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计算在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存款余额上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产生的梯度，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的梯度为：𝛻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kumimoji="0" lang="zh-CN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bSup>
                          <m:sSub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-602021125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计算在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房产面积上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产生的梯度，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的梯度为：𝛻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num>
                      <m:den>
                        <m:r>
                          <a:rPr kumimoji="0" lang="en-US" altLang="zh-C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𝑖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=</m:t>
                        </m:r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  <m: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sup>
                      <m:e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kumimoji="0" lang="zh-CN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en-US" altLang="zh-CN" sz="12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504D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kumimoji="0" lang="en-US" altLang="zh-C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C0504D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zh-CN" sz="12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C0504D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kumimoji="0" lang="zh-CN" altLang="en-US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 </m:t>
                            </m:r>
                          </m:sup>
                        </m:sSup>
                        <m:sSubSup>
                          <m:sSubSupPr>
                            <m:ctrl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zh-CN" sz="1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x</m:t>
                            </m:r>
                          </m:e>
                          <m:sub>
                            <m:r>
                              <a:rPr kumimoji="0" lang="en-US" altLang="zh-CN" sz="1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504D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3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2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C0504D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Alibaba PuHuiTi" pitchFamily="18" charset="-122"/>
                                    <a:cs typeface="Alibaba PuHuiTi" pitchFamily="18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504D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-2283290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再利用梯度下降公式更新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、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         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𝜶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𝛻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1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（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0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.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001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∗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305067937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.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5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）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</m:oMath>
                </a14:m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305068.9375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𝜶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𝛻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1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（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0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.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001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∗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602021125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）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602022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.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125</m:t>
                    </m:r>
                  </m:oMath>
                </a14:m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  <a:cs typeface="+mn-cs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𝜶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𝛻</m:t>
                    </m:r>
                    <m:sSub>
                      <m:sSubPr>
                        <m:ctrlPr>
                          <a:rPr kumimoji="0" lang="en-US" altLang="zh-CN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1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（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0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.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001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∗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−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2283290</m:t>
                    </m:r>
                    <m:r>
                      <m:rPr>
                        <m:nor/>
                      </m:rP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） 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=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2284.29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经过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第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504D">
                        <a:lumMod val="75000"/>
                      </a:srgb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轮迭代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：初始化值</a:t>
                </a:r>
                <a14:m>
                  <m:oMath xmlns:m="http://schemas.openxmlformats.org/officeDocument/2006/math"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𝜽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[1,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]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迭代成：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𝜽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30.989,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sz="120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  <a:sym typeface="+mn-ea"/>
                  </a:rPr>
                  <a:t>305068.9375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602022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.</m:t>
                    </m:r>
                    <m:r>
                      <m:rPr>
                        <m:nor/>
                      </m:rP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Alibaba PuHuiTi" pitchFamily="18" charset="-122"/>
                        <a:ea typeface="Alibaba PuHuiTi" pitchFamily="18" charset="-122"/>
                        <a:cs typeface="Alibaba PuHuiTi" pitchFamily="18" charset="-122"/>
                      </a:rPr>
                      <m:t>125</m:t>
                    </m:r>
                  </m:oMath>
                </a14:m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2284.29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]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后续多次迭代，可计算出最终的向量</a:t>
                </a:r>
                <a14:m>
                  <m:oMath xmlns:m="http://schemas.openxmlformats.org/officeDocument/2006/math">
                    <m:r>
                      <a:rPr kumimoji="0" lang="zh-CN" altLang="en-US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𝜽</m:t>
                    </m:r>
                  </m:oMath>
                </a14:m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！！！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7" y="1810585"/>
                <a:ext cx="6998444" cy="3340735"/>
              </a:xfrm>
              <a:prstGeom prst="rect">
                <a:avLst/>
              </a:prstGeom>
              <a:blipFill rotWithShape="1">
                <a:blip r:embed="rId2"/>
                <a:stretch>
                  <a:fillRect l="-8" t="-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02176" y="852138"/>
            <a:ext cx="7228417" cy="515372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、损失函数、导数和矩阵、正规方程法、梯度下降算法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r>
              <a:rPr kumimoji="1"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457200" lvl="1" indent="-457200">
              <a:lnSpc>
                <a:spcPct val="200000"/>
              </a:lnSpc>
              <a:buFont typeface="Wingdings" panose="05000000000000000000" pitchFamily="2" charset="2"/>
              <a:buChar char="u"/>
            </a:pP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457200" lvl="1" indent="-457200">
              <a:lnSpc>
                <a:spcPct val="200000"/>
              </a:lnSpc>
              <a:buFont typeface="Wingdings" panose="05000000000000000000" pitchFamily="2" charset="2"/>
              <a:buChar char="u"/>
            </a:pP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89818" y="630555"/>
            <a:ext cx="6298881" cy="4855845"/>
          </a:xfrm>
        </p:spPr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掌握常用的回归评估方法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r>
              <a:rPr kumimoji="1" lang="zh-CN" altLang="en-US" dirty="0"/>
              <a:t>了解不同评估方法的特点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线性回归模型评估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三种指标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1422052" y="1769147"/>
            <a:ext cx="4369149" cy="70403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我们希望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衡量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预测值和真实值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之间的差距，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会用到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多种测评函数进行评价</a:t>
            </a:r>
            <a:endParaRPr lang="zh-CN" altLang="en-US" sz="1400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436914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为什么要进行线性回归模型的评估</a:t>
            </a:r>
            <a:endParaRPr kumimoji="0" lang="zh-CN" alt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6433832" y="1290399"/>
            <a:ext cx="4789344" cy="3581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平均绝对误差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Mean Absolute Error MAE</a:t>
            </a:r>
            <a:endParaRPr kumimoji="0" lang="en-GB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564" y="1716596"/>
            <a:ext cx="2382473" cy="5774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2"/>
              <p:cNvSpPr txBox="1"/>
              <p:nvPr/>
            </p:nvSpPr>
            <p:spPr>
              <a:xfrm flipH="1">
                <a:off x="6875216" y="2294061"/>
                <a:ext cx="4570550" cy="13547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 </a:t>
                </a: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为样本数量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:r>
                  <a:rPr lang="en-GB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 </a:t>
                </a: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为实际值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 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为预测值</a:t>
                </a:r>
                <a:endParaRPr lang="en-GB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MAE 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越小模型预测约准确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from </a:t>
                </a:r>
                <a:r>
                  <a:rPr lang="en-GB" altLang="zh-CN" sz="1400" dirty="0" err="1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sklearn.metrics</a:t>
                </a: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import </a:t>
                </a:r>
                <a:r>
                  <a:rPr lang="en-GB" altLang="zh-CN" sz="1400" dirty="0" err="1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mean_absolute_error</a:t>
                </a:r>
                <a:endParaRPr lang="en-GB" altLang="zh-CN" sz="1400" dirty="0">
                  <a:solidFill>
                    <a:schemeClr val="accent2">
                      <a:lumMod val="7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 err="1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mean_absolute_error</a:t>
                </a: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en-GB" altLang="zh-CN" sz="1400" dirty="0" err="1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y_test,y_predict</a:t>
                </a: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endParaRPr lang="zh-CN" altLang="en-US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5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75216" y="2294061"/>
                <a:ext cx="4570550" cy="1354730"/>
              </a:xfrm>
              <a:prstGeom prst="rect">
                <a:avLst/>
              </a:prstGeom>
              <a:blipFill rotWithShape="1">
                <a:blip r:embed="rId2"/>
                <a:stretch>
                  <a:fillRect l="-2" t="-33" r="12" b="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占位符 2"/>
          <p:cNvSpPr txBox="1"/>
          <p:nvPr/>
        </p:nvSpPr>
        <p:spPr>
          <a:xfrm>
            <a:off x="1084066" y="3996813"/>
            <a:ext cx="4789344" cy="3581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均方误差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Mean Squared Error MSE</a:t>
            </a:r>
            <a:endParaRPr kumimoji="0" lang="en-GB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2"/>
              <p:cNvSpPr txBox="1"/>
              <p:nvPr/>
            </p:nvSpPr>
            <p:spPr>
              <a:xfrm flipH="1">
                <a:off x="1525450" y="5000475"/>
                <a:ext cx="4570550" cy="13547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 </a:t>
                </a: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为样本数量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:r>
                  <a:rPr lang="en-GB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 </a:t>
                </a: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为实际值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 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为预测值</a:t>
                </a:r>
                <a:endParaRPr lang="en-GB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MSE 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越小模型预测约准确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from </a:t>
                </a:r>
                <a:r>
                  <a:rPr lang="en-GB" altLang="zh-CN" sz="1400" dirty="0" err="1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sklearn.metrics</a:t>
                </a: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import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GB" altLang="zh-CN" sz="1400" dirty="0" err="1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mean_squared_error</a:t>
                </a:r>
                <a:endParaRPr lang="en-GB" altLang="zh-CN" sz="1400" dirty="0">
                  <a:solidFill>
                    <a:schemeClr val="accent2">
                      <a:lumMod val="7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 err="1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mean_squared_error</a:t>
                </a: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(</a:t>
                </a:r>
                <a:r>
                  <a:rPr lang="en-GB" altLang="zh-CN" sz="1400" dirty="0" err="1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y_test,y_predict</a:t>
                </a: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endParaRPr lang="en-GB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9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25450" y="5000475"/>
                <a:ext cx="4570550" cy="1354730"/>
              </a:xfrm>
              <a:prstGeom prst="rect">
                <a:avLst/>
              </a:prstGeom>
              <a:blipFill rotWithShape="1">
                <a:blip r:embed="rId3"/>
                <a:stretch>
                  <a:fillRect l="-4" t="-36" b="9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占位符 2"/>
          <p:cNvSpPr txBox="1"/>
          <p:nvPr/>
        </p:nvSpPr>
        <p:spPr>
          <a:xfrm>
            <a:off x="6544190" y="3959736"/>
            <a:ext cx="4789344" cy="3581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均方根误差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Root Mean Squared Error (RMSE)</a:t>
            </a:r>
            <a:endParaRPr kumimoji="0" lang="en-GB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"/>
              <p:cNvSpPr txBox="1"/>
              <p:nvPr/>
            </p:nvSpPr>
            <p:spPr>
              <a:xfrm flipH="1">
                <a:off x="6985574" y="4963398"/>
                <a:ext cx="4570550" cy="10604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 </a:t>
                </a: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为样本数量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:r>
                  <a:rPr lang="en-GB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 </a:t>
                </a:r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为实际值</a:t>
                </a:r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 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为预测值</a:t>
                </a:r>
                <a:endParaRPr lang="en-GB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RMSE </a:t>
                </a:r>
                <a:r>
                  <a:rPr lang="zh-CN" altLang="en-US" sz="14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越小模型预测约准确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altLang="zh-CN" sz="1400" b="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Roboto" panose="02000000000000000000" pitchFamily="2" charset="0"/>
                  </a:rPr>
                  <a:t>RMSE </a:t>
                </a:r>
                <a:r>
                  <a:rPr lang="zh-CN" altLang="en-US" sz="1400" b="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Roboto" panose="02000000000000000000" pitchFamily="2" charset="0"/>
                  </a:rPr>
                  <a:t>是 </a:t>
                </a:r>
                <a:r>
                  <a:rPr lang="en-GB" altLang="zh-CN" sz="1400" b="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Roboto" panose="02000000000000000000" pitchFamily="2" charset="0"/>
                  </a:rPr>
                  <a:t>MSE </a:t>
                </a:r>
                <a:r>
                  <a:rPr lang="zh-CN" altLang="en-US" sz="1400" b="0" i="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Roboto" panose="02000000000000000000" pitchFamily="2" charset="0"/>
                  </a:rPr>
                  <a:t>的平方根</a:t>
                </a:r>
                <a:r>
                  <a:rPr lang="zh-CN" altLang="en-US" sz="1400" b="0" i="0" dirty="0">
                    <a:effectLst/>
                    <a:latin typeface="Roboto" panose="02000000000000000000" pitchFamily="2" charset="0"/>
                  </a:rPr>
                  <a:t>，某些情况下比</a:t>
                </a:r>
                <a:r>
                  <a:rPr lang="en-GB" altLang="zh-CN" sz="1400" b="0" i="0" dirty="0">
                    <a:effectLst/>
                    <a:latin typeface="Roboto" panose="02000000000000000000" pitchFamily="2" charset="0"/>
                  </a:rPr>
                  <a:t>MS</a:t>
                </a:r>
                <a:r>
                  <a:rPr lang="en-US" altLang="en-GB" sz="1400" b="0" i="0" dirty="0">
                    <a:effectLst/>
                    <a:latin typeface="Roboto" panose="02000000000000000000" pitchFamily="2" charset="0"/>
                  </a:rPr>
                  <a:t>E</a:t>
                </a:r>
                <a:r>
                  <a:rPr lang="zh-CN" altLang="en-US" sz="1400" b="0" i="0" dirty="0">
                    <a:effectLst/>
                    <a:latin typeface="Roboto" panose="02000000000000000000" pitchFamily="2" charset="0"/>
                  </a:rPr>
                  <a:t>更有用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22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85574" y="4963398"/>
                <a:ext cx="4570550" cy="1060450"/>
              </a:xfrm>
              <a:prstGeom prst="rect">
                <a:avLst/>
              </a:prstGeom>
              <a:blipFill rotWithShape="1">
                <a:blip r:embed="rId4"/>
                <a:stretch>
                  <a:fillRect l="-13" t="-22" r="9" b="22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975" y="4447282"/>
            <a:ext cx="2224531" cy="57589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683" y="4421108"/>
            <a:ext cx="2224531" cy="62079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线性回归模型评估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三种指标对比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8625620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举个栗子：我们绘制了一条直线 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y = 2x +5 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用来拟合 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y = 2x + 5 + e. 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这些数据点，其中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为噪声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随机值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605" y="1810585"/>
            <a:ext cx="4294082" cy="28291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085" y="2389050"/>
            <a:ext cx="2487385" cy="551258"/>
          </a:xfrm>
          <a:prstGeom prst="rect">
            <a:avLst/>
          </a:prstGeom>
        </p:spPr>
      </p:pic>
      <p:sp>
        <p:nvSpPr>
          <p:cNvPr id="11" name="文本框 2"/>
          <p:cNvSpPr txBox="1"/>
          <p:nvPr/>
        </p:nvSpPr>
        <p:spPr>
          <a:xfrm flipH="1">
            <a:off x="1900852" y="5277507"/>
            <a:ext cx="8625620" cy="13503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的计算公式中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有一个平方项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，因此大的误差将被平方，因此会增加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的值，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大多数情况下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RMSE&gt;MAE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 ，比如</a:t>
            </a:r>
            <a:r>
              <a:rPr lang="zh-CN" altLang="en-US" sz="1400" dirty="0">
                <a:latin typeface="Roboto" panose="02000000000000000000" pitchFamily="2" charset="0"/>
              </a:rPr>
              <a:t>两个误差大小为</a:t>
            </a:r>
            <a:r>
              <a:rPr lang="en-US" altLang="zh-CN" sz="1400" dirty="0">
                <a:latin typeface="Roboto" panose="02000000000000000000" pitchFamily="2" charset="0"/>
              </a:rPr>
              <a:t>1,</a:t>
            </a:r>
            <a:r>
              <a:rPr lang="zh-CN" altLang="en-US" sz="1400" dirty="0">
                <a:latin typeface="Roboto" panose="02000000000000000000" pitchFamily="2" charset="0"/>
              </a:rPr>
              <a:t> </a:t>
            </a:r>
            <a:r>
              <a:rPr lang="en-US" altLang="zh-CN" sz="1400" dirty="0">
                <a:latin typeface="Roboto" panose="02000000000000000000" pitchFamily="2" charset="0"/>
              </a:rPr>
              <a:t>3</a:t>
            </a:r>
            <a:r>
              <a:rPr lang="zh-CN" altLang="en-US" sz="1400" dirty="0">
                <a:latin typeface="Roboto" panose="02000000000000000000" pitchFamily="2" charset="0"/>
              </a:rPr>
              <a:t>求</a:t>
            </a:r>
            <a:r>
              <a:rPr lang="en-US" altLang="zh-CN" sz="1400" dirty="0">
                <a:latin typeface="Roboto" panose="02000000000000000000" pitchFamily="2" charset="0"/>
              </a:rPr>
              <a:t>MAE</a:t>
            </a:r>
            <a:r>
              <a:rPr lang="zh-CN" altLang="en-US" sz="1400" dirty="0">
                <a:latin typeface="Roboto" panose="02000000000000000000" pitchFamily="2" charset="0"/>
              </a:rPr>
              <a:t>和</a:t>
            </a:r>
            <a:r>
              <a:rPr lang="en-US" altLang="zh-CN" sz="1400" dirty="0">
                <a:latin typeface="Roboto" panose="02000000000000000000" pitchFamily="2" charset="0"/>
              </a:rPr>
              <a:t>RMSE</a:t>
            </a:r>
            <a:r>
              <a:rPr lang="zh-CN" altLang="en-US" sz="1400" dirty="0">
                <a:latin typeface="Roboto" panose="02000000000000000000" pitchFamily="2" charset="0"/>
              </a:rPr>
              <a:t>：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RMSE 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会放大预测误差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较大的样本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对结果的影响，而 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MAE 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只是给出了平均误差</a:t>
            </a:r>
            <a:endParaRPr lang="en-US" altLang="zh-CN" sz="1400" b="0" i="0" dirty="0">
              <a:solidFill>
                <a:schemeClr val="accent2">
                  <a:lumMod val="75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结论：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 RMSE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&gt;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 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MAE</a:t>
            </a:r>
            <a:r>
              <a:rPr lang="zh-CN" altLang="en-GB" sz="1400" b="0" i="0" dirty="0">
                <a:effectLst/>
                <a:latin typeface="Roboto" panose="02000000000000000000" pitchFamily="2" charset="0"/>
              </a:rPr>
              <a:t>都能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反应真实误差，但是</a:t>
            </a:r>
            <a:r>
              <a:rPr lang="en-US" altLang="zh-CN" sz="1400" b="0" i="0" dirty="0">
                <a:effectLst/>
                <a:latin typeface="Roboto" panose="02000000000000000000" pitchFamily="2" charset="0"/>
              </a:rPr>
              <a:t>RMSE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会对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异常点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更加敏感</a:t>
            </a:r>
            <a:endParaRPr lang="en-GB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文本框 2"/>
          <p:cNvSpPr txBox="1"/>
          <p:nvPr/>
        </p:nvSpPr>
        <p:spPr>
          <a:xfrm flipH="1">
            <a:off x="1900852" y="4751988"/>
            <a:ext cx="8625620" cy="38523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非常接近，都表明模型的误差很低。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或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越小，误差越小！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870" y="3209290"/>
            <a:ext cx="1465580" cy="6172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870" y="3755390"/>
            <a:ext cx="4424045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线性回归模型评估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三种指标对比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8625620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再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举个栗子：橙色线 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 = 2x +5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r>
              <a:rPr lang="zh-CN" altLang="en-GB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蓝色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的点</a:t>
            </a:r>
            <a:r>
              <a:rPr lang="zh-CN" altLang="en-US" sz="14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 </a:t>
            </a:r>
            <a:r>
              <a:rPr lang="en-GB" altLang="zh-CN" sz="14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 = y + sin(x)*exp(x/20) + e</a:t>
            </a:r>
            <a:r>
              <a:rPr lang="en-GB" altLang="zh-CN" sz="14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 </a:t>
            </a:r>
            <a:r>
              <a:rPr lang="zh-CN" altLang="en-US" sz="14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其中 </a:t>
            </a:r>
            <a:r>
              <a:rPr lang="en-GB" altLang="zh-CN" sz="14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exp() </a:t>
            </a:r>
            <a:r>
              <a:rPr lang="zh-CN" altLang="en-US" sz="14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表示指数函数</a:t>
            </a: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2"/>
          <p:cNvSpPr txBox="1"/>
          <p:nvPr/>
        </p:nvSpPr>
        <p:spPr>
          <a:xfrm flipH="1">
            <a:off x="1022877" y="4445670"/>
            <a:ext cx="8625620" cy="10302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对比</a:t>
            </a:r>
            <a:r>
              <a:rPr lang="zh-CN" altLang="en-US" sz="14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第一张图，所有指标都变大了，</a:t>
            </a:r>
            <a:r>
              <a:rPr lang="en-GB" altLang="zh-CN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 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几乎是 </a:t>
            </a:r>
            <a:r>
              <a:rPr lang="en-GB" altLang="zh-CN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 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值的两倍</a:t>
            </a:r>
            <a:r>
              <a:rPr lang="zh-CN" altLang="en-US" sz="14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，因为它对预测误差较大的点比较敏感</a:t>
            </a:r>
            <a:endParaRPr lang="en-US" altLang="zh-CN" sz="14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400" b="0" i="0" dirty="0">
                <a:effectLst/>
                <a:latin typeface="Roboto" panose="02000000000000000000" pitchFamily="2" charset="0"/>
              </a:rPr>
              <a:t>MAE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和</a:t>
            </a:r>
            <a:r>
              <a:rPr lang="en-US" altLang="zh-CN" sz="1400" b="0" i="0" dirty="0">
                <a:effectLst/>
                <a:latin typeface="Roboto" panose="02000000000000000000" pitchFamily="2" charset="0"/>
              </a:rPr>
              <a:t>RMSE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同样是真实反应误差，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能不能说</a:t>
            </a:r>
            <a:r>
              <a:rPr lang="en-US" altLang="zh-CN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RMSE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是更好的指标？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我们只按照</a:t>
            </a:r>
            <a:r>
              <a:rPr lang="en-US" altLang="zh-CN" sz="1400" b="0" i="0" dirty="0">
                <a:effectLst/>
                <a:latin typeface="Roboto" panose="02000000000000000000" pitchFamily="2" charset="0"/>
              </a:rPr>
              <a:t>RMSE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指标来优化模型，让模型的误差</a:t>
            </a:r>
            <a:r>
              <a:rPr lang="zh-CN" altLang="en-US" sz="1400" dirty="0">
                <a:latin typeface="Roboto" panose="02000000000000000000" pitchFamily="2" charset="0"/>
              </a:rPr>
              <a:t>降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的更低？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298" y="1785614"/>
            <a:ext cx="4257202" cy="26600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995" y="2550338"/>
            <a:ext cx="3970837" cy="932685"/>
          </a:xfrm>
          <a:prstGeom prst="rect">
            <a:avLst/>
          </a:prstGeom>
        </p:spPr>
      </p:pic>
      <p:sp>
        <p:nvSpPr>
          <p:cNvPr id="5" name="文本框 2"/>
          <p:cNvSpPr txBox="1"/>
          <p:nvPr/>
        </p:nvSpPr>
        <p:spPr>
          <a:xfrm flipH="1">
            <a:off x="1123950" y="5603240"/>
            <a:ext cx="9057005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一直按照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指标来训练模型，如果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指标训练的非常低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，说明什么？</a:t>
            </a:r>
            <a:endParaRPr lang="en-US" altLang="zh-CN" sz="14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说明模型对异常点（对噪声）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也拟合的非常好。这样模型就容易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。所以评价指标要综合的看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!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78222" y="992142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一般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</a:t>
            </a:r>
            <a:r>
              <a:rPr kumimoji="1" lang="en-GB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 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 </a:t>
            </a:r>
            <a:r>
              <a:rPr kumimoji="1" lang="en-GB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 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这两个指标</a:t>
            </a:r>
            <a:endParaRPr kumimoji="1" lang="en-US" altLang="zh-CN" b="1" dirty="0">
              <a:solidFill>
                <a:prstClr val="black">
                  <a:lumMod val="65000"/>
                  <a:lumOff val="3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173117" y="209410"/>
            <a:ext cx="4269059" cy="610724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28855" y="1575026"/>
            <a:ext cx="6472718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反应的是“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真实”的平均误差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会将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误差大的数据点放大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 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不能体现出误差大的数据点，</a:t>
            </a: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放大大误差的数据点对指标的影响， 但是对异常数据比较敏感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TextBox 6"/>
          <p:cNvSpPr txBox="1"/>
          <p:nvPr/>
        </p:nvSpPr>
        <p:spPr>
          <a:xfrm>
            <a:off x="4828855" y="3329388"/>
            <a:ext cx="6472718" cy="1535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都能反映出预测值和真实值之间的误差</a:t>
            </a:r>
            <a:endParaRPr lang="en-US" altLang="zh-CN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对误差大小不敏感</a:t>
            </a:r>
            <a:endParaRPr lang="en-GB" altLang="zh-CN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会放大预测误差较大的样本的影响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对异常数据敏感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43292" y="2881107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综合结论</a:t>
            </a:r>
            <a:endParaRPr kumimoji="1" lang="en-US" altLang="zh-CN" b="1" dirty="0">
              <a:solidFill>
                <a:prstClr val="black">
                  <a:lumMod val="65000"/>
                  <a:lumOff val="3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02176" y="852138"/>
            <a:ext cx="7228417" cy="515372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、损失函数、导数和矩阵、正规方程法、梯度下降算法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r>
              <a:rPr kumimoji="1"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457200" lvl="1" indent="-457200">
              <a:lnSpc>
                <a:spcPct val="200000"/>
              </a:lnSpc>
              <a:buFont typeface="Wingdings" panose="05000000000000000000" pitchFamily="2" charset="2"/>
              <a:buChar char="u"/>
            </a:pP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457200" lvl="1" indent="-457200">
              <a:lnSpc>
                <a:spcPct val="200000"/>
              </a:lnSpc>
              <a:buFont typeface="Wingdings" panose="05000000000000000000" pitchFamily="2" charset="2"/>
              <a:buChar char="u"/>
            </a:pPr>
            <a:endParaRPr kumimoji="1" lang="en-US" altLang="zh-CN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线性回归正规方程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和梯度下降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9030" y="1705610"/>
            <a:ext cx="893000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1: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sklearn.linear_model.LinearRegression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fit_intercept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=True)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正规方程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参数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fit_intercept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是否计算偏置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LinearRegression.coef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 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回归系数）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LinearRegression.intercept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偏置）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455" y="3033395"/>
            <a:ext cx="11282680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2: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sklearn.linear_model.SGDRegressor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(loss="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squared_loss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",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fit_intercept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=True,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learning_rate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='constant', eta0=0.01)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SGDRegressor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类实现了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随机梯度下降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学习，它支持不同的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正则化惩罚项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，来拟合线性回归模型。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参数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损失函数类型）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loss=”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squared_loss</a:t>
            </a:r>
            <a:r>
              <a:rPr kumimoji="0" lang="en-US" alt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fit_intercept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是否计算偏置）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learning_rate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学习率策略）：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string, optional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，可以配置学习率随着迭代次数不断减小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00150" marR="0" lvl="2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比如：学习率不断变小策略：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‘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invscaling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’: eta = eta0 / pow(t, 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power_t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=0.25)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eta0=0.01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（学习率的值）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	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SGDRegressor.coef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 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回归系数）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SGDRegressor.intercept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 </a:t>
            </a:r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偏置）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862857" y="1250047"/>
            <a:ext cx="663101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defRPr/>
            </a:pPr>
            <a:r>
              <a:rPr kumimoji="0" lang="en-GB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提供两种实现的</a:t>
            </a:r>
            <a:r>
              <a:rPr kumimoji="0" lang="en-GB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0" lang="zh-CN" alt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根据选择使用</a:t>
            </a:r>
            <a:endParaRPr kumimoji="0" lang="zh-CN" altLang="en-GB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波士顿房价预测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862857" y="1250047"/>
            <a:ext cx="663101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GB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案例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背景 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数据来源</a:t>
            </a:r>
            <a:endParaRPr kumimoji="0" lang="zh-CN" altLang="en-GB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00" y="1749625"/>
            <a:ext cx="8364293" cy="461856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波士顿房价预测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862857" y="1250047"/>
            <a:ext cx="663101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案例背景 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数据属性</a:t>
            </a:r>
            <a:endParaRPr kumimoji="0" lang="zh-CN" altLang="en-GB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219" y="1710041"/>
            <a:ext cx="6748955" cy="50871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波士顿房价预测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862858" y="1250047"/>
            <a:ext cx="2899846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案例分析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0638" y="1709082"/>
            <a:ext cx="7530662" cy="135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回归当中的数据大小不一致，是否会导致结果影响较大。所以需要做标准化处理。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数据分割与标准化处理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回归预测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线性回归的算法效果评估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862858" y="3239602"/>
            <a:ext cx="2899846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回归性能评估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4512" y="3739180"/>
            <a:ext cx="7530662" cy="2001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均方误差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Mean Squared Error)MSE)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评价机制：</a:t>
            </a:r>
            <a:endParaRPr lang="en-US" altLang="zh-CN" sz="14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sklearn.metrics.mean_squared_error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均方误差回归损失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真实值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预测值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浮点数结果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2124" y="3701013"/>
            <a:ext cx="2979176" cy="598867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波士顿房价预测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862858" y="1250047"/>
            <a:ext cx="2899846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导入库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35783" y="1749625"/>
            <a:ext cx="7009431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sklearn.datasets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load_boston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sklearn.preprocessing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StandardScaler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特征处理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sklearn.model_selection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train_test_split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数据集划分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LinearRegression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正规方程的回归模型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SGDRegressor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梯度下降的回归模型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sklearn.metrics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mean_squared_error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均方误差评估</a:t>
            </a:r>
            <a:endParaRPr lang="en-US" altLang="zh-CN" sz="1400" i="1" dirty="0">
              <a:solidFill>
                <a:srgbClr val="8C8C8C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Ridge,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RidgeCV</a:t>
            </a:r>
            <a:endParaRPr lang="en-GB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endParaRPr lang="en-US" altLang="zh-CN" sz="1400" dirty="0">
              <a:solidFill>
                <a:srgbClr val="0033B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波士顿房价预测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862858" y="1250047"/>
            <a:ext cx="2899846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正规方程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35783" y="1749625"/>
            <a:ext cx="7009431" cy="489364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正规方程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linear_model1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获取数据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load_boston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数据集划分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train_test_split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data.data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data.target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random_state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22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特征工程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标准化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transfer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StandardScaler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transfer.fit_transform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transfer.transform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4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机器学习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正规方程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LinearRegression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estimator.fit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5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模型评估 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获取模型系数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y_predict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estimator.predict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“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预测值为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y_predict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“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模型的权重系数为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estimator.coef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模型的偏置为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estimator.intercept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5.2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评价 均方误差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error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mean_squared_error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y_predict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误差为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error)</a:t>
            </a:r>
            <a:endParaRPr lang="en-US" altLang="zh-CN" sz="1200" dirty="0">
              <a:solidFill>
                <a:srgbClr val="0033B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波士顿房价预测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862858" y="1250047"/>
            <a:ext cx="2899846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35783" y="1718094"/>
            <a:ext cx="7009431" cy="50783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梯度下降方式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200" dirty="0">
                <a:solidFill>
                  <a:srgbClr val="00627A"/>
                </a:solidFill>
                <a:effectLst/>
              </a:rPr>
              <a:t>linear_model2</a:t>
            </a:r>
            <a:r>
              <a:rPr lang="en-GB" altLang="zh-CN" sz="1200" dirty="0"/>
              <a:t>():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获取数据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data = </a:t>
            </a:r>
            <a:r>
              <a:rPr lang="en-GB" altLang="zh-CN" sz="1200" dirty="0" err="1"/>
              <a:t>load_boston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数据集划分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train_test_split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data.data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data.target</a:t>
            </a:r>
            <a:r>
              <a:rPr lang="en-GB" altLang="zh-CN" sz="1200" dirty="0"/>
              <a:t>, 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random_state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22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3.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特征工程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标准化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transfer = </a:t>
            </a:r>
            <a:r>
              <a:rPr lang="en-GB" altLang="zh-CN" sz="1200" dirty="0" err="1"/>
              <a:t>StandardScaler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transfer.fit_transform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4.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机器学习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线性回归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正规方程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200" i="1" dirty="0">
                <a:solidFill>
                  <a:srgbClr val="8C8C8C"/>
                </a:solidFill>
                <a:effectLst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estimator = </a:t>
            </a:r>
            <a:r>
              <a:rPr lang="en-GB" altLang="zh-CN" sz="1200" dirty="0" err="1"/>
              <a:t>SGDRegressor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estimator =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SGDRegressor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(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max_iter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=1000,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learning_rate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="constant", eta0=0.001)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estimator.fit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5.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模型评估 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# 5.1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获取模型参数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y_predict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estimator.predict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effectLst/>
              </a:rPr>
              <a:t>预测值为</a:t>
            </a:r>
            <a:r>
              <a:rPr lang="en-US" altLang="zh-CN" sz="12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y_predict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effectLst/>
              </a:rPr>
              <a:t>模型的权重系数为</a:t>
            </a:r>
            <a:r>
              <a:rPr lang="en-US" altLang="zh-CN" sz="12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estimator.coef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effectLst/>
              </a:rPr>
              <a:t>模型的偏置为</a:t>
            </a:r>
            <a:r>
              <a:rPr lang="en-US" altLang="zh-CN" sz="12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estimator.intercept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5.2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评价 均方误差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error = </a:t>
            </a:r>
            <a:r>
              <a:rPr lang="en-GB" altLang="zh-CN" sz="1200" dirty="0" err="1"/>
              <a:t>mean_squared_error</a:t>
            </a:r>
            <a:r>
              <a:rPr lang="en-GB" altLang="zh-CN" sz="1200" dirty="0"/>
              <a:t>(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y_predict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effectLst/>
              </a:rPr>
              <a:t>误差为</a:t>
            </a:r>
            <a:r>
              <a:rPr lang="en-US" altLang="zh-CN" sz="1200" dirty="0">
                <a:solidFill>
                  <a:srgbClr val="067D17"/>
                </a:solidFill>
                <a:effectLst/>
              </a:rPr>
              <a:t>:</a:t>
            </a:r>
            <a:r>
              <a:rPr lang="en-US" altLang="zh-CN" sz="1200" dirty="0">
                <a:solidFill>
                  <a:srgbClr val="0037A6"/>
                </a:solidFill>
                <a:effectLst/>
              </a:rPr>
              <a:t>\</a:t>
            </a:r>
            <a:r>
              <a:rPr lang="en-GB" altLang="zh-CN" sz="1200" dirty="0">
                <a:solidFill>
                  <a:srgbClr val="0037A6"/>
                </a:solidFill>
                <a:effectLst/>
              </a:rPr>
              <a:t>n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"</a:t>
            </a:r>
            <a:r>
              <a:rPr lang="en-GB" altLang="zh-CN" sz="1200" dirty="0"/>
              <a:t>, error)</a:t>
            </a:r>
            <a:endParaRPr lang="en-US" altLang="zh-CN" sz="1200" dirty="0">
              <a:solidFill>
                <a:srgbClr val="0033B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78222" y="1427038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正规方程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173117" y="209410"/>
            <a:ext cx="4269059" cy="610724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78222" y="3494564"/>
            <a:ext cx="500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梯线性回归性能评估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4789012" y="1829503"/>
            <a:ext cx="3892527" cy="3820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400" dirty="0" err="1"/>
              <a:t>sklearn.linear_model.LinearRegression</a:t>
            </a:r>
            <a:r>
              <a:rPr lang="en-GB" altLang="zh-CN" sz="1400" dirty="0"/>
              <a:t>()</a:t>
            </a:r>
            <a:endParaRPr lang="en-GB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4178222" y="2475292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梯度下降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89012" y="2885932"/>
            <a:ext cx="3892527" cy="3820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400" dirty="0" err="1"/>
              <a:t>sklearn.linear_model.SGDRegressor</a:t>
            </a:r>
            <a:r>
              <a:rPr lang="en-GB" altLang="zh-CN" sz="1400" dirty="0"/>
              <a:t>(</a:t>
            </a:r>
            <a:r>
              <a:rPr lang="zh-CN" altLang="en-GB" sz="1400" dirty="0"/>
              <a:t>）</a:t>
            </a:r>
            <a:endParaRPr lang="zh-CN" altLang="en-GB" sz="1400" dirty="0"/>
          </a:p>
        </p:txBody>
      </p:sp>
      <p:sp>
        <p:nvSpPr>
          <p:cNvPr id="9" name="TextBox 6"/>
          <p:cNvSpPr txBox="1"/>
          <p:nvPr/>
        </p:nvSpPr>
        <p:spPr>
          <a:xfrm>
            <a:off x="4789012" y="3968456"/>
            <a:ext cx="3892527" cy="3820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altLang="zh-CN" sz="1400" dirty="0" err="1"/>
              <a:t>sklearn.metrics.mean_squared_error</a:t>
            </a:r>
            <a:endParaRPr lang="zh-CN" altLang="en-GB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35212" y="2072374"/>
            <a:ext cx="24482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最小二乘法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均方误差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平均绝对误差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决定性系数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11076" y="1479547"/>
            <a:ext cx="5844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、本案例中，以下哪个选项是用来评估线性回归模型的方法？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74561" y="4037183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16477" y="538417"/>
            <a:ext cx="6279184" cy="5290883"/>
          </a:xfrm>
        </p:spPr>
        <p:txBody>
          <a:bodyPr anchor="t"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定义、线性回归的分类、应用场景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线性回归问题的求解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、损失函数、导数和矩阵、正规方程法、梯度下降算法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回归模型评估方法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RMSE</a:t>
            </a:r>
            <a:endParaRPr kumimoji="1"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和案例 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1"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、案例波士顿房价预测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出现原因、解决方法、</a:t>
            </a:r>
            <a:r>
              <a:rPr lang="en-US" altLang="zh-CN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lang="en-US" altLang="zh-CN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en-US" altLang="zh-CN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掌握过拟合、欠拟合的概念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掌握过拟合、欠拟合产生的原因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知道什么是正则化，以及正则化的方法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5604166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欠拟合与过拟合概念复习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 flipH="1">
            <a:off x="1945668" y="5029837"/>
            <a:ext cx="7060537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欠拟合：模型在训练集上表现不好，在测试集上也表现不好。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模型过于简单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过拟合：模型在训练集上表现好，在测试集上表现不好。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模型过于复杂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844" y="1991962"/>
            <a:ext cx="5455356" cy="2723894"/>
          </a:xfrm>
          <a:prstGeom prst="rect">
            <a:avLst/>
          </a:prstGeom>
        </p:spPr>
      </p:pic>
      <p:sp>
        <p:nvSpPr>
          <p:cNvPr id="2" name="文本框 2"/>
          <p:cNvSpPr txBox="1"/>
          <p:nvPr/>
        </p:nvSpPr>
        <p:spPr>
          <a:xfrm flipH="1">
            <a:off x="1945668" y="5738236"/>
            <a:ext cx="5463800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欠拟合在训练集和测试集上的误差都较大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过拟合在训练集上误差较小，而测试集上误差较大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8317421" y="1388552"/>
            <a:ext cx="3494365" cy="80371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通过代码展示欠拟合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myret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--&gt; 3.0750025765636577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1065" y="1340859"/>
            <a:ext cx="5632284" cy="54476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numpy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as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matplotlib.pyplot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as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sklearn.linear_model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LinearRegression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sklearn.metrics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mean_squared_error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计算均方误差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sklearn.model_selection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train_test_split</a:t>
            </a:r>
            <a:endParaRPr kumimoji="0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8C8C8C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dm01_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模型欠拟合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():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1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准备数据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y(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增加上噪声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np.random.seed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666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np.random.uniform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y =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0.5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*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x +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np.random.normal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2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实例化线性回归模型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LinearRegression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3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训练模型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x.reshape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estimator.fit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4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模型预测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5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计算均方误差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mean_squared_error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(y,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--&gt;'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6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plt.scatter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plt.plot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color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'r'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plt.show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8346815" y="5055001"/>
            <a:ext cx="3845185" cy="111323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数据是抛物线非线性的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用线性模型去拟合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模型过于简单，出现欠拟合</a:t>
            </a:r>
            <a:b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lang="zh-CN" alt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0680" y="2408004"/>
            <a:ext cx="3249650" cy="243126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8317421" y="1388552"/>
            <a:ext cx="3494365" cy="80371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通过代码展示欠拟合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myret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--&gt; 1.0987392142417856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4074" y="1225689"/>
            <a:ext cx="5962223" cy="489364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dm02_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ok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():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1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准备数据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y(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增加上噪声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np.random.seed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666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np.random.uniform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y =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0.5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*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x +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np.random.normal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2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实例化线性回归模型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LinearRegression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3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训练模型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x.reshape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print(‘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X.shape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--&gt;’, 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X.shape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X2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np.hstack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([X,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])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数据增加二次项</a:t>
            </a: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estimator.fit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(X2,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4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模型预测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(X2)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5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计算均方误差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mean_squared_error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(y,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‘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--&gt;’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6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plt.scatter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plt.plot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color=‘r’)</a:t>
            </a: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plot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折线图时 需要对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进行排序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取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排序后对应的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值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plt.plot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[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np.argsort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(x)],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color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'r'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plt.show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占位符 2"/>
              <p:cNvSpPr txBox="1"/>
              <p:nvPr/>
            </p:nvSpPr>
            <p:spPr>
              <a:xfrm>
                <a:off x="8346815" y="5055001"/>
                <a:ext cx="3719494" cy="1113231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数据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是一元二次方程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抛物线形状的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给模型送入的数据，增加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  <m:r>
                      <a:rPr kumimoji="0" lang="zh-CN" alt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项</m:t>
                    </m:r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特征，</m:t>
                    </m:r>
                  </m:oMath>
                </a14:m>
                <a:endPara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mbria Math" panose="02040503050406030204" pitchFamily="18" charset="0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再用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线性模型去拟合。模型很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ok</a:t>
                </a:r>
                <a:b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</a:br>
                <a:endParaRPr kumimoji="0" lang="zh-CN" alt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7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815" y="5055001"/>
                <a:ext cx="3719494" cy="1113231"/>
              </a:xfrm>
              <a:prstGeom prst="rect">
                <a:avLst/>
              </a:prstGeom>
              <a:blipFill rotWithShape="1">
                <a:blip r:embed="rId1"/>
                <a:stretch>
                  <a:fillRect l="-10" t="-36" r="1" b="-2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004" y="2232419"/>
            <a:ext cx="3365135" cy="258517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8317421" y="1388552"/>
            <a:ext cx="3494365" cy="80371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通过代码展示欠拟合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myret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--&gt;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1.0508466763764124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1064" y="1265443"/>
            <a:ext cx="6459803" cy="526297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dm03_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模型过拟合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():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1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准备数据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y(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增加上噪声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np.random.seed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666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np.random.uniform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y =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0.5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*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x +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np.random.normal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2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实例化线性回归模型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LinearRegression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3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训练模型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x.reshape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print(‘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X.shape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--&gt;’, 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X.shape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X3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np.hstack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([X,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4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5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8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9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X**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])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数据增加高次项</a:t>
            </a: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estimator.fit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(X3,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4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模型预测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(X3)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5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计算均方误差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mean_squared_error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(y,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‘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--&gt;’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6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plt.scatter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plt.plot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</a:t>
            </a:r>
            <a:r>
              <a:rPr kumimoji="0" lang="en-GB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color=‘r’)</a:t>
            </a: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画图时输入的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: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要求是从小到大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plt.plot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[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np.argsort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(x)],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color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‘r’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plt.show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占位符 2"/>
              <p:cNvSpPr txBox="1"/>
              <p:nvPr/>
            </p:nvSpPr>
            <p:spPr>
              <a:xfrm>
                <a:off x="7740896" y="5130415"/>
                <a:ext cx="4451104" cy="1113231"/>
              </a:xfrm>
              <a:prstGeom prst="rect">
                <a:avLst/>
              </a:prstGeom>
            </p:spPr>
            <p:txBody>
              <a:bodyPr/>
              <a:lstStyle>
                <a:lvl1pPr marL="0" indent="0" algn="l" rtl="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defRPr>
                </a:lvl1pPr>
                <a:lvl2pPr marL="990600" indent="-3810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数据是抛物线形状的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,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给模型送入的数据，增加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zh-CN" altLang="en-US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zh-CN" altLang="en-US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Alibaba PuHuiTi" pitchFamily="18" charset="-122"/>
                    <a:cs typeface="Alibaba PuHuiTi" pitchFamily="18" charset="-122"/>
                  </a:rPr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x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4</m:t>
                        </m:r>
                      </m:sup>
                    </m:sSup>
                    <m:r>
                      <a:rPr kumimoji="0" lang="zh-CN" alt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…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Alibaba PuHuiTi" pitchFamily="18" charset="-122"/>
                    <a:cs typeface="Alibaba PuHuiTi" pitchFamily="18" charset="-122"/>
                  </a:rPr>
                  <a:t>高次项特征，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14:m>
                  <m:oMath xmlns:m="http://schemas.openxmlformats.org/officeDocument/2006/math">
                    <m:r>
                      <a:rPr kumimoji="0" lang="zh-CN" altLang="en-US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再用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线性模型去拟合。模型过于复杂，出现过拟合</a:t>
                </a:r>
                <a:b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</a:br>
                <a:endParaRPr kumimoji="0" lang="zh-CN" alt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7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96" y="5130415"/>
                <a:ext cx="4451104" cy="1113231"/>
              </a:xfrm>
              <a:prstGeom prst="rect">
                <a:avLst/>
              </a:prstGeom>
              <a:blipFill rotWithShape="1">
                <a:blip r:embed="rId1"/>
                <a:stretch>
                  <a:fillRect l="-6" t="-22" b="-29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691" y="2233107"/>
            <a:ext cx="3719494" cy="2781058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出现原因和解决方案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4633205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欠拟合出现的原因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 flipH="1">
            <a:off x="1398913" y="1794809"/>
            <a:ext cx="3635000" cy="38523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学习到数据的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特征过少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22877" y="2164893"/>
            <a:ext cx="6247167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解决办法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【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从数据、模型、算法的角度去想解决方案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】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 flipH="1">
            <a:off x="1398913" y="2550127"/>
            <a:ext cx="8244708" cy="1677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添加其他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有时出现欠拟合是因为特征项不够导致的，可以添加其他特征项来解决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“组合”、“泛化”、“相关性”三类特征是特征添加的重要手段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添加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多项式特征项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模型过于简单时的常用套路，例如将线性模型通过添加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二次项或三次项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使模型泛化能力更强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出现原因和解决方案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4633205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过拟合出现的原因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 flipH="1">
            <a:off x="1398912" y="1794809"/>
            <a:ext cx="8518085" cy="38523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原始特征过多，存在一些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嘈杂特征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 模型过于复杂是因为模型尝试去兼顾各个测试数据点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22877" y="2164893"/>
            <a:ext cx="4633205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解决办法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 flipH="1">
            <a:off x="1398913" y="2550127"/>
            <a:ext cx="8244708" cy="2725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重新清洗数据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对于过多异常点数据、数据不纯的地方再处理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增大数据的训练量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对原来的数据训练的太过了，增加数据量的情况下，会缓解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解决模型过拟合的方法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，在机器学习、深度学习中大量使用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减少特征维度，防止维灾难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由于特征多，样本数量少，导致学习不充分，泛化能力差。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正则化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占位符 2"/>
          <p:cNvSpPr txBox="1"/>
          <p:nvPr/>
        </p:nvSpPr>
        <p:spPr>
          <a:xfrm>
            <a:off x="1022877" y="1311007"/>
            <a:ext cx="4633205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正则化概念（出现的原因）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 flipH="1">
            <a:off x="1398912" y="1794809"/>
            <a:ext cx="6765158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在模型训练时，数据中有些特征影响模型复杂度、或者某个特征的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异常值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较多，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所以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要尽量减少这个特征的影响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（甚至删除某个特征的影响），这就是正则化。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 flipH="1">
            <a:off x="1398913" y="3445675"/>
            <a:ext cx="6199091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在损失函数中增加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9" name="直线箭头连接符 8"/>
          <p:cNvCxnSpPr/>
          <p:nvPr/>
        </p:nvCxnSpPr>
        <p:spPr>
          <a:xfrm>
            <a:off x="8465270" y="4015819"/>
            <a:ext cx="3083263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/>
          <p:nvPr/>
        </p:nvCxnSpPr>
        <p:spPr>
          <a:xfrm flipV="1">
            <a:off x="8922470" y="2009422"/>
            <a:ext cx="0" cy="2192664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3" name="墨迹 22"/>
              <p14:cNvContentPartPr/>
              <p14:nvPr/>
            </p14:nvContentPartPr>
            <p14:xfrm>
              <a:off x="9571236" y="3543684"/>
              <a:ext cx="360" cy="36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2"/>
            </p:blipFill>
            <p:spPr>
              <a:xfrm>
                <a:off x="9571236" y="354368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4" name="墨迹 23"/>
              <p14:cNvContentPartPr/>
              <p14:nvPr/>
            </p14:nvContentPartPr>
            <p14:xfrm>
              <a:off x="9914676" y="3442524"/>
              <a:ext cx="360" cy="36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2"/>
            </p:blipFill>
            <p:spPr>
              <a:xfrm>
                <a:off x="9914676" y="344252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5" name="墨迹 24"/>
              <p14:cNvContentPartPr/>
              <p14:nvPr/>
            </p14:nvContentPartPr>
            <p14:xfrm>
              <a:off x="9924396" y="3160644"/>
              <a:ext cx="360" cy="36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"/>
            </p:blipFill>
            <p:spPr>
              <a:xfrm>
                <a:off x="9924396" y="316064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6" name="墨迹 25"/>
              <p14:cNvContentPartPr/>
              <p14:nvPr/>
            </p14:nvContentPartPr>
            <p14:xfrm>
              <a:off x="10241196" y="3229404"/>
              <a:ext cx="360" cy="36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"/>
            </p:blipFill>
            <p:spPr>
              <a:xfrm>
                <a:off x="10241196" y="322940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7" name="墨迹 26"/>
              <p14:cNvContentPartPr/>
              <p14:nvPr/>
            </p14:nvContentPartPr>
            <p14:xfrm>
              <a:off x="10178196" y="3008724"/>
              <a:ext cx="360" cy="36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"/>
            </p:blipFill>
            <p:spPr>
              <a:xfrm>
                <a:off x="10178196" y="300872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8" name="墨迹 27"/>
              <p14:cNvContentPartPr/>
              <p14:nvPr/>
            </p14:nvContentPartPr>
            <p14:xfrm>
              <a:off x="10518036" y="3072444"/>
              <a:ext cx="360" cy="36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"/>
            </p:blipFill>
            <p:spPr>
              <a:xfrm>
                <a:off x="10518036" y="307244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9" name="墨迹 28"/>
              <p14:cNvContentPartPr/>
              <p14:nvPr/>
            </p14:nvContentPartPr>
            <p14:xfrm>
              <a:off x="10416516" y="2823324"/>
              <a:ext cx="360" cy="36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"/>
            </p:blipFill>
            <p:spPr>
              <a:xfrm>
                <a:off x="10416516" y="282332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0" name="墨迹 29"/>
              <p14:cNvContentPartPr/>
              <p14:nvPr/>
            </p14:nvContentPartPr>
            <p14:xfrm>
              <a:off x="10706676" y="2884164"/>
              <a:ext cx="360" cy="3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"/>
            </p:blipFill>
            <p:spPr>
              <a:xfrm>
                <a:off x="10706676" y="288416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1" name="墨迹 30"/>
              <p14:cNvContentPartPr/>
              <p14:nvPr/>
            </p14:nvContentPartPr>
            <p14:xfrm>
              <a:off x="10706676" y="2662404"/>
              <a:ext cx="360" cy="36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"/>
            </p:blipFill>
            <p:spPr>
              <a:xfrm>
                <a:off x="10706676" y="266240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2" name="墨迹 31"/>
              <p14:cNvContentPartPr/>
              <p14:nvPr/>
            </p14:nvContentPartPr>
            <p14:xfrm>
              <a:off x="10887036" y="2688324"/>
              <a:ext cx="360" cy="3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"/>
            </p:blipFill>
            <p:spPr>
              <a:xfrm>
                <a:off x="10887036" y="268832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33" name="墨迹 32"/>
              <p14:cNvContentPartPr/>
              <p14:nvPr/>
            </p14:nvContentPartPr>
            <p14:xfrm>
              <a:off x="10999716" y="2505084"/>
              <a:ext cx="360" cy="36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2"/>
            </p:blipFill>
            <p:spPr>
              <a:xfrm>
                <a:off x="10999716" y="250508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4" name="墨迹 33"/>
              <p14:cNvContentPartPr/>
              <p14:nvPr/>
            </p14:nvContentPartPr>
            <p14:xfrm>
              <a:off x="9459996" y="2170284"/>
              <a:ext cx="360" cy="36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14"/>
            </p:blipFill>
            <p:spPr>
              <a:xfrm>
                <a:off x="9459996" y="217028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5" name="墨迹 34"/>
              <p14:cNvContentPartPr/>
              <p14:nvPr/>
            </p14:nvContentPartPr>
            <p14:xfrm>
              <a:off x="9442716" y="2200164"/>
              <a:ext cx="360" cy="36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16"/>
            </p:blipFill>
            <p:spPr>
              <a:xfrm>
                <a:off x="9442716" y="2200164"/>
                <a:ext cx="360" cy="360"/>
              </a:xfrm>
              <a:prstGeom prst="rect"/>
            </p:spPr>
          </p:pic>
        </mc:Fallback>
      </mc:AlternateContent>
      <p:cxnSp>
        <p:nvCxnSpPr>
          <p:cNvPr id="37" name="直线连接符 36"/>
          <p:cNvCxnSpPr/>
          <p:nvPr/>
        </p:nvCxnSpPr>
        <p:spPr>
          <a:xfrm flipV="1">
            <a:off x="9189156" y="2302933"/>
            <a:ext cx="2133600" cy="156066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/>
          <p:cNvCxnSpPr/>
          <p:nvPr/>
        </p:nvCxnSpPr>
        <p:spPr>
          <a:xfrm flipV="1">
            <a:off x="9189156" y="1930400"/>
            <a:ext cx="1375200" cy="2103917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占位符 2"/>
          <p:cNvSpPr txBox="1"/>
          <p:nvPr/>
        </p:nvSpPr>
        <p:spPr>
          <a:xfrm>
            <a:off x="1022876" y="2841753"/>
            <a:ext cx="6459800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正则化如何消除异常点带来的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值过大过小的影响？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4" name="文本框 2"/>
          <p:cNvSpPr txBox="1"/>
          <p:nvPr/>
        </p:nvSpPr>
        <p:spPr>
          <a:xfrm flipH="1">
            <a:off x="10999716" y="3531102"/>
            <a:ext cx="435531" cy="38523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5" name="文本框 2"/>
          <p:cNvSpPr txBox="1"/>
          <p:nvPr/>
        </p:nvSpPr>
        <p:spPr>
          <a:xfrm flipH="1">
            <a:off x="9018076" y="1796433"/>
            <a:ext cx="435531" cy="38523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6" name="文本框 2"/>
          <p:cNvSpPr txBox="1"/>
          <p:nvPr/>
        </p:nvSpPr>
        <p:spPr>
          <a:xfrm flipH="1">
            <a:off x="8741038" y="4395953"/>
            <a:ext cx="2807495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红色异常点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en-US" altLang="zh-CN" sz="14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x1,x2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),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会让对应的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权重系数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577" y="1829053"/>
            <a:ext cx="3131508" cy="74036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46577" y="2501381"/>
            <a:ext cx="8370711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l-G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α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叫做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惩罚系数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，该值越大则权重调整的幅度就越大，即：表示对特征权重惩罚力度就越大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022877" y="1311007"/>
            <a:ext cx="5445656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正则化，在损失函数中添加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正则化项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15205" y="5689936"/>
            <a:ext cx="6325759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正则化的线性回归模型是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Lasso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0691" y="2897876"/>
            <a:ext cx="7464526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正则化会使得权重趋向于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甚至等于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，使得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某些特征失效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，达到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特征筛选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的目的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21" name="直线箭头连接符 20"/>
          <p:cNvCxnSpPr/>
          <p:nvPr/>
        </p:nvCxnSpPr>
        <p:spPr>
          <a:xfrm>
            <a:off x="2615782" y="4983486"/>
            <a:ext cx="2216706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 flipV="1">
            <a:off x="3621908" y="3753357"/>
            <a:ext cx="0" cy="160355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0" name="墨迹 49"/>
              <p14:cNvContentPartPr/>
              <p14:nvPr/>
            </p14:nvContentPartPr>
            <p14:xfrm>
              <a:off x="3075003" y="3137951"/>
              <a:ext cx="360" cy="36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3"/>
            </p:blipFill>
            <p:spPr>
              <a:xfrm>
                <a:off x="3075003" y="3137951"/>
                <a:ext cx="360" cy="360"/>
              </a:xfrm>
              <a:prstGeom prst="rect"/>
            </p:spPr>
          </p:pic>
        </mc:Fallback>
      </mc:AlternateContent>
      <p:cxnSp>
        <p:nvCxnSpPr>
          <p:cNvPr id="52" name="直线连接符 51"/>
          <p:cNvCxnSpPr/>
          <p:nvPr/>
        </p:nvCxnSpPr>
        <p:spPr>
          <a:xfrm flipV="1">
            <a:off x="3690889" y="4083903"/>
            <a:ext cx="704800" cy="8723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/>
          <p:cNvCxnSpPr/>
          <p:nvPr/>
        </p:nvCxnSpPr>
        <p:spPr>
          <a:xfrm flipH="1" flipV="1">
            <a:off x="2615782" y="4030529"/>
            <a:ext cx="1011721" cy="950950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2"/>
          <p:cNvSpPr txBox="1"/>
          <p:nvPr/>
        </p:nvSpPr>
        <p:spPr>
          <a:xfrm flipH="1">
            <a:off x="3607758" y="3643288"/>
            <a:ext cx="435531" cy="38523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2"/>
              <p:cNvSpPr txBox="1"/>
              <p:nvPr/>
            </p:nvSpPr>
            <p:spPr>
              <a:xfrm flipH="1">
                <a:off x="5206920" y="3751356"/>
                <a:ext cx="2807495" cy="13547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y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图像的导函数为分段函数 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大于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导数为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小于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导数为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-1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等于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-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导数为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67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6920" y="3751356"/>
                <a:ext cx="2807495" cy="1354730"/>
              </a:xfrm>
              <a:prstGeom prst="rect">
                <a:avLst/>
              </a:prstGeom>
              <a:blipFill rotWithShape="1">
                <a:blip r:embed="rId4"/>
                <a:stretch>
                  <a:fillRect l="-20" t="-30" r="3" b="-21464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2137965" y="6218963"/>
            <a:ext cx="6137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kumimoji="0" lang="en-GB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</a:t>
            </a: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import Lasso</a:t>
            </a:r>
            <a:endParaRPr lang="zh-CN" altLang="en-US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6577" y="2501381"/>
            <a:ext cx="8370711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l-G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α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叫做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惩罚系数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，该值越大则权重调整的幅度就越大，即：表示对特征权重惩罚力度就越大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022877" y="1311007"/>
            <a:ext cx="5445656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正则化，在损失函数中添加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正则化项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15205" y="5622202"/>
            <a:ext cx="6325759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黑体" panose="02010609060101010101" pitchFamily="49" charset="-122"/>
                <a:cs typeface="+mn-cs"/>
              </a:rPr>
              <a:t>使用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黑体" panose="02010609060101010101" pitchFamily="49" charset="-122"/>
                <a:cs typeface="+mn-cs"/>
              </a:rPr>
              <a:t>L2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黑体" panose="02010609060101010101" pitchFamily="49" charset="-122"/>
                <a:cs typeface="+mn-cs"/>
              </a:rPr>
              <a:t>正则化的线性回归模型是岭回归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0691" y="2897876"/>
            <a:ext cx="7464526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正则化会使得权重趋向于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，一般不等于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50" name="墨迹 49"/>
              <p14:cNvContentPartPr/>
              <p14:nvPr/>
            </p14:nvContentPartPr>
            <p14:xfrm>
              <a:off x="10024443" y="2475087"/>
              <a:ext cx="360" cy="36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2"/>
            </p:blipFill>
            <p:spPr>
              <a:xfrm>
                <a:off x="10024443" y="2475087"/>
                <a:ext cx="360" cy="360"/>
              </a:xfrm>
              <a:prstGeom prst="rect"/>
            </p:spPr>
          </p:pic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365" y="1841634"/>
            <a:ext cx="2288456" cy="65938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733" y="3874869"/>
            <a:ext cx="1930400" cy="1371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063115" y="6075909"/>
            <a:ext cx="6137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kumimoji="0" lang="en-GB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</a:t>
            </a: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import Ridge</a:t>
            </a:r>
            <a:endParaRPr lang="zh-CN" altLang="en-US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-Lasso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50" name="墨迹 49"/>
              <p14:cNvContentPartPr/>
              <p14:nvPr/>
            </p14:nvContentPartPr>
            <p14:xfrm>
              <a:off x="9572883" y="2350908"/>
              <a:ext cx="360" cy="36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2"/>
            </p:blipFill>
            <p:spPr>
              <a:xfrm>
                <a:off x="9572883" y="2350908"/>
                <a:ext cx="360" cy="360"/>
              </a:xfrm>
              <a:prstGeom prst="rect"/>
            </p:spPr>
          </p:pic>
        </mc:Fallback>
      </mc:AlternateContent>
      <p:sp>
        <p:nvSpPr>
          <p:cNvPr id="9" name="文本占位符 2"/>
          <p:cNvSpPr txBox="1"/>
          <p:nvPr/>
        </p:nvSpPr>
        <p:spPr>
          <a:xfrm>
            <a:off x="8422591" y="1357169"/>
            <a:ext cx="3769409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对过拟合模型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正则化调整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12041" y="1357169"/>
            <a:ext cx="7374932" cy="54476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sklearn.linear_model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Lasso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dm04_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模型过拟合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_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正则化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():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1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准备数据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y(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增加上噪声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np.random.seed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666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np.random.uniform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y =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0.5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*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x +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np.random.normal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2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实例化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L1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正则化模型 做实验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: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alpha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惩罚力度越来越大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k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值越来越小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返回会欠拟合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 = Lasso(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alpha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0.005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normalize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True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# 3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训练模型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x.reshape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X3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np.hstack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([X,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4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5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8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9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])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数据增加二次项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estimator.fit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(X3,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estimator.coef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_'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estimator.coef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_)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4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模型预测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(X3)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5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计算均方误差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mean_squared_error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(y,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--&gt;'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6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plt.scatter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画图时输入的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: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要求是从小到大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plt.plot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[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np.argsort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(x)],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color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'r'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plt.show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9015441" y="2122792"/>
            <a:ext cx="2657270" cy="130620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Lasso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会将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高次方项系数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变为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欠拟合与过拟合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-Ridge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50" name="墨迹 49"/>
              <p14:cNvContentPartPr/>
              <p14:nvPr/>
            </p14:nvContentPartPr>
            <p14:xfrm>
              <a:off x="9572883" y="2350908"/>
              <a:ext cx="360" cy="36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2"/>
            </p:blipFill>
            <p:spPr>
              <a:xfrm>
                <a:off x="9572883" y="2350908"/>
                <a:ext cx="360" cy="360"/>
              </a:xfrm>
              <a:prstGeom prst="rect"/>
            </p:spPr>
          </p:pic>
        </mc:Fallback>
      </mc:AlternateContent>
      <p:sp>
        <p:nvSpPr>
          <p:cNvPr id="9" name="文本占位符 2"/>
          <p:cNvSpPr txBox="1"/>
          <p:nvPr/>
        </p:nvSpPr>
        <p:spPr>
          <a:xfrm>
            <a:off x="8422591" y="1357169"/>
            <a:ext cx="3769409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对过拟合模型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正则化调整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12041" y="1357169"/>
            <a:ext cx="7374932" cy="54476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from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sklearn.linear_model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import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Ridge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dm05_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模型过拟合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_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正则化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():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1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准备数据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y(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增加上噪声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np.random.seed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666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np.random.uniform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y =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0.5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*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x +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+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np.random.normal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2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实例化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L2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正则化模型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 = Ridge(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alpha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0.005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normalize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True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# 3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训练模型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x.reshape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(-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X3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np.hstack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([X,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4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5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6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8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9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X **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])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数据增加二次项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estimator.fit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(X3,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‘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estimator.coef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_’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estimator.coef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_)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4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模型预测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estimator.predict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(X3)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5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计算均方误差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mean_squared_error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(y,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‘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--&gt;’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myret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6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plt.scatter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(x, y)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画图时输入的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: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要求是从小到大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plt.plot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y_predict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[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np.argsort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(x)],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color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‘r’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plt.show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33B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9015440" y="2122791"/>
            <a:ext cx="2792737" cy="180574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Ridge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线性回归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不会将系数变为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但是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对高次方项系数影响较大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8422591" y="3814051"/>
            <a:ext cx="3247961" cy="3669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工程开发中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使用建议：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一般倾向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78222" y="992142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欠拟合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173117" y="209410"/>
            <a:ext cx="4269059" cy="610724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28855" y="1337957"/>
            <a:ext cx="6472718" cy="1535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在训练集上表现不好，在测试集上表现不好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方法，继续学习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添加其他特征项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添加多项式特征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TextBox 6"/>
          <p:cNvSpPr txBox="1"/>
          <p:nvPr/>
        </p:nvSpPr>
        <p:spPr>
          <a:xfrm>
            <a:off x="4828855" y="3329388"/>
            <a:ext cx="6472718" cy="22737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在训练集上表现好，在测试集上表现不好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</a:t>
            </a:r>
            <a:endParaRPr kumimoji="0" lang="en-GB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重新清洗数据集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增大数据的训练量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正则化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减少特征维度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43292" y="2881107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过拟合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78222" y="992142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正则化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173117" y="209410"/>
            <a:ext cx="4269059" cy="610724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28540" y="1337945"/>
            <a:ext cx="662368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异常点数据会造成权重系数过大、过小。尽量减少这些特征的影响（甚至删除某个特征的影响），这就是正则化。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为了减少过拟合的影响，控制模型的参数。尤其是高次项的权重参数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TextBox 6"/>
          <p:cNvSpPr txBox="1"/>
          <p:nvPr/>
        </p:nvSpPr>
        <p:spPr>
          <a:xfrm>
            <a:off x="4828855" y="2881443"/>
            <a:ext cx="6472718" cy="8297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会直接把高次项前面的系数变为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Lasso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回归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78222" y="2531075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02400" y="3816886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正则化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4828855" y="4186218"/>
            <a:ext cx="6472718" cy="8297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把高次项前面的系数变成特别小的值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岭回归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3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09098" y="2238068"/>
            <a:ext cx="64807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欠拟合：模型学习到的特征过少，无法准确的预测未知样本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过拟合：模型学习到的特征过多，导致模型只能在训练样本上得到较好的预测结果，而在未知样本上的效果不好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欠拟合可以通过增加特征来解决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过拟合可以通过正则化、异常值检测、特征降维等方法来解决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77050" y="1645241"/>
            <a:ext cx="3813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、下列关于欠拟合与过拟合的描述正确的是？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31127" y="4512211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ABCD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31127" y="4267906"/>
            <a:ext cx="7332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答案解析：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欠拟合出现的原因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过拟合出现的原因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增加模型的复杂度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减低模型复杂度。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27931" y="2363221"/>
            <a:ext cx="69847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）使用岭回归能够防止训练所得的模型发生过拟合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B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）使用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Lasso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回归也能防止模型产生过拟合，这时所得模型的权重系数部分为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0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C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）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L2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正则化能够让模型产生一些平滑的权重系数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D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）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Early stopping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是当模型训练到某个固定的验证错误率阈值时，及时停止模型训练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9899" y="1766959"/>
            <a:ext cx="4389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下列关于过拟合问题的解决方式以及描述正确的是？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05788" y="4306224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ABCD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43572" y="1794093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填空：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15579" y="2132647"/>
            <a:ext cx="851867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sklearn.linear_model.Ridge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岭回归的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中：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alpha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表示正则化系数，正则化系数越大，表示正则化力度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______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所得模型的权重系数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______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；反之，所得模型的权重系数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______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sklearn.linear_model.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SGDRegressor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使用随机梯度下降法优化的线性回归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15579" y="5570462"/>
            <a:ext cx="24218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答案：越大；越小；越大。 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2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3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4.xml><?xml version="1.0" encoding="utf-8"?>
<p:tagLst xmlns:p="http://schemas.openxmlformats.org/presentationml/2006/main">
  <p:tag name="KSO_WM_UNIT_TABLE_BEAUTIFY" val="smartTable{1e11dfa9-d914-4dea-821c-25c8e179f4e8}"/>
  <p:tag name="TABLE_ENDDRAG_ORIGIN_RECT" val="336*207"/>
  <p:tag name="TABLE_ENDDRAG_RECT" val="597*77*336*207"/>
</p:tagLst>
</file>

<file path=ppt/tags/tag5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6.xml><?xml version="1.0" encoding="utf-8"?>
<p:tagLst xmlns:p="http://schemas.openxmlformats.org/presentationml/2006/main">
  <p:tag name="commondata" val="eyJoZGlkIjoiZDQyYmI2YWIwMGE0NjZkZjEwMWNhNGQwYzZmYTJjZTA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31584</Words>
  <Application>WPS 演示</Application>
  <PresentationFormat>宽屏</PresentationFormat>
  <Paragraphs>2002</Paragraphs>
  <Slides>111</Slides>
  <Notes>67</Notes>
  <HiddenSlides>1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21</vt:i4>
      </vt:variant>
      <vt:variant>
        <vt:lpstr>幻灯片标题</vt:lpstr>
      </vt:variant>
      <vt:variant>
        <vt:i4>111</vt:i4>
      </vt:variant>
    </vt:vector>
  </HeadingPairs>
  <TitlesOfParts>
    <vt:vector size="162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Medium</vt:lpstr>
      <vt:lpstr>Segoe UI Light</vt:lpstr>
      <vt:lpstr>微软雅黑 Light</vt:lpstr>
      <vt:lpstr>华文楷体</vt:lpstr>
      <vt:lpstr>Alibaba PuHuiTi</vt:lpstr>
      <vt:lpstr>Alibaba PuHuiTi M</vt:lpstr>
      <vt:lpstr>Open Sans</vt:lpstr>
      <vt:lpstr>Calibri</vt:lpstr>
      <vt:lpstr>Roboto</vt:lpstr>
      <vt:lpstr>等线</vt:lpstr>
      <vt:lpstr>Gill Sans</vt:lpstr>
      <vt:lpstr>Arial</vt:lpstr>
      <vt:lpstr>Cambria Math</vt:lpstr>
      <vt:lpstr>Arial Unicode MS</vt:lpstr>
      <vt:lpstr>Helvetica Neue</vt:lpstr>
      <vt:lpstr>Roboto Mono</vt:lpstr>
      <vt:lpstr>BatangChe</vt:lpstr>
      <vt:lpstr>Segoe Print</vt:lpstr>
      <vt:lpstr>Gill Sans MT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13_正文设计方案</vt:lpstr>
      <vt:lpstr>14_正文设计方案</vt:lpstr>
      <vt:lpstr>线性回归</vt:lpstr>
      <vt:lpstr>PowerPoint 演示文稿</vt:lpstr>
      <vt:lpstr>PowerPoint 演示文稿</vt:lpstr>
      <vt:lpstr>线性回归概念 – 举个栗子</vt:lpstr>
      <vt:lpstr>线性回归概念 – 举个栗子 </vt:lpstr>
      <vt:lpstr>线性回归概念 – 举个栗子</vt:lpstr>
      <vt:lpstr>线性回归概念</vt:lpstr>
      <vt:lpstr>线性回归概念</vt:lpstr>
      <vt:lpstr>线性回归概念</vt:lpstr>
      <vt:lpstr>PowerPoint 演示文稿</vt:lpstr>
      <vt:lpstr>PowerPoint 演示文稿</vt:lpstr>
      <vt:lpstr>PowerPoint 演示文稿</vt:lpstr>
      <vt:lpstr>PowerPoint 演示文稿</vt:lpstr>
      <vt:lpstr>线性回归API介绍</vt:lpstr>
      <vt:lpstr>线性回归API介绍</vt:lpstr>
      <vt:lpstr>PowerPoint 演示文稿</vt:lpstr>
      <vt:lpstr>线性回归的求解方法</vt:lpstr>
      <vt:lpstr>损失函数</vt:lpstr>
      <vt:lpstr>损失函数</vt:lpstr>
      <vt:lpstr>求损失函数最小值（求损失函数最优解）</vt:lpstr>
      <vt:lpstr>损失函数的种类和数学表达</vt:lpstr>
      <vt:lpstr>线性回归问题求解需要什么？</vt:lpstr>
      <vt:lpstr>PowerPoint 演示文稿</vt:lpstr>
      <vt:lpstr>PowerPoint 演示文稿</vt:lpstr>
      <vt:lpstr>PowerPoint 演示文稿</vt:lpstr>
      <vt:lpstr>PowerPoint 演示文稿</vt:lpstr>
      <vt:lpstr>导数 – 基本概念</vt:lpstr>
      <vt:lpstr>导数的几何意义</vt:lpstr>
      <vt:lpstr>导数的入门案例</vt:lpstr>
      <vt:lpstr>常见函数的导数</vt:lpstr>
      <vt:lpstr>导数的四则运算</vt:lpstr>
      <vt:lpstr>导数与运算规则</vt:lpstr>
      <vt:lpstr>导数与运算规则</vt:lpstr>
      <vt:lpstr>导数求极值</vt:lpstr>
      <vt:lpstr>PowerPoint 演示文稿</vt:lpstr>
      <vt:lpstr>偏导</vt:lpstr>
      <vt:lpstr>偏导</vt:lpstr>
      <vt:lpstr>偏导</vt:lpstr>
      <vt:lpstr>PowerPoint 演示文稿</vt:lpstr>
      <vt:lpstr> 基础数学 – 机器学习中常见的数据表述</vt:lpstr>
      <vt:lpstr> 基础数学向量和矩阵 – 范数Norm</vt:lpstr>
      <vt:lpstr> 基础数学向量和矩阵 – 向量运算</vt:lpstr>
      <vt:lpstr>基础数学向量和矩阵 – 矩阵 Matrix 1</vt:lpstr>
      <vt:lpstr> 基础数学向量和矩阵 – 矩阵 Matrix 2</vt:lpstr>
      <vt:lpstr> 基础数学向量和矩阵 – 矩阵 Matrix 3</vt:lpstr>
      <vt:lpstr> 基础数学向量和矩阵 – 矩阵 Matrix 4</vt:lpstr>
      <vt:lpstr> 基础数学向量和矩阵 – 矩阵 Matrix 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一元线性回归 – 解析解</vt:lpstr>
      <vt:lpstr>一元线性回归 – 解析解</vt:lpstr>
      <vt:lpstr>多元线性回归 – 正规方程法</vt:lpstr>
      <vt:lpstr>多元线性回归 –正规方程法</vt:lpstr>
      <vt:lpstr>多元线性回归 –正规方程法</vt:lpstr>
      <vt:lpstr>PowerPoint 演示文稿</vt:lpstr>
      <vt:lpstr>PowerPoint 演示文稿</vt:lpstr>
      <vt:lpstr>PowerPoint 演示文稿</vt:lpstr>
      <vt:lpstr>PowerPoint 演示文稿</vt:lpstr>
      <vt:lpstr> 梯度下降法 – 梯度下降和梯度</vt:lpstr>
      <vt:lpstr> 梯度下降法 – 梯度下降和梯度</vt:lpstr>
      <vt:lpstr> 梯度下降法 – 梯度下降和梯度</vt:lpstr>
      <vt:lpstr> 梯度下降法 – 梯度下降和梯度</vt:lpstr>
      <vt:lpstr> 梯度下降法 – 梯度下降和梯度</vt:lpstr>
      <vt:lpstr> 梯度下降法分类</vt:lpstr>
      <vt:lpstr> 梯度下降法分类</vt:lpstr>
      <vt:lpstr> 梯度下降法与正规方程对比</vt:lpstr>
      <vt:lpstr>PowerPoint 演示文稿</vt:lpstr>
      <vt:lpstr>PowerPoint 演示文稿</vt:lpstr>
      <vt:lpstr> 梯度下降法 –案例银行信贷 </vt:lpstr>
      <vt:lpstr> 梯度下降法-案例银行信贷 </vt:lpstr>
      <vt:lpstr> 梯度下降法 – 案例银行信贷 </vt:lpstr>
      <vt:lpstr> 梯度下降法 – 案例银行信贷 </vt:lpstr>
      <vt:lpstr>PowerPoint 演示文稿</vt:lpstr>
      <vt:lpstr>PowerPoint 演示文稿</vt:lpstr>
      <vt:lpstr> 线性回归模型评估 – MAE、MSE、RMSE三种指标</vt:lpstr>
      <vt:lpstr> 线性回归模型评估 – MAE、MSE、RMSE三种指标对比</vt:lpstr>
      <vt:lpstr> 线性回归模型评估 – MAE、MSE、RMSE三种指标对比2</vt:lpstr>
      <vt:lpstr>PowerPoint 演示文稿</vt:lpstr>
      <vt:lpstr>PowerPoint 演示文稿</vt:lpstr>
      <vt:lpstr>线性回归正规方程API和梯度下降API</vt:lpstr>
      <vt:lpstr>波士顿房价预测</vt:lpstr>
      <vt:lpstr>波士顿房价预测</vt:lpstr>
      <vt:lpstr>波士顿房价预测</vt:lpstr>
      <vt:lpstr>波士顿房价预测</vt:lpstr>
      <vt:lpstr>波士顿房价预测</vt:lpstr>
      <vt:lpstr>波士顿房价预测</vt:lpstr>
      <vt:lpstr>PowerPoint 演示文稿</vt:lpstr>
      <vt:lpstr>PowerPoint 演示文稿</vt:lpstr>
      <vt:lpstr>PowerPoint 演示文稿</vt:lpstr>
      <vt:lpstr>PowerPoint 演示文稿</vt:lpstr>
      <vt:lpstr> 欠拟合与过拟合</vt:lpstr>
      <vt:lpstr> 欠拟合与过拟</vt:lpstr>
      <vt:lpstr> 欠拟合与过拟</vt:lpstr>
      <vt:lpstr> 欠拟合与过拟</vt:lpstr>
      <vt:lpstr> 欠拟合与过拟合 – 出现原因和解决方案</vt:lpstr>
      <vt:lpstr> 欠拟合与过拟合 – 出现原因和解决方案</vt:lpstr>
      <vt:lpstr> 欠拟合与过拟合 – 正则化</vt:lpstr>
      <vt:lpstr> 欠拟合与过拟合 – L1正则化</vt:lpstr>
      <vt:lpstr> 欠拟合与过拟合 – L2正则化</vt:lpstr>
      <vt:lpstr> 欠拟合与过拟合-Lasso回归</vt:lpstr>
      <vt:lpstr> 欠拟合与过拟合-Ridge回归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1220</cp:revision>
  <dcterms:created xsi:type="dcterms:W3CDTF">2020-03-31T02:23:00Z</dcterms:created>
  <dcterms:modified xsi:type="dcterms:W3CDTF">2025-05-26T15:43:33Z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D65358F038704CF3867F074A82B0F375_12</vt:lpwstr>
  </property>
  <property fmtid="{D5CDD505-2E9C-101B-9397-08002B2CF9AE}" pid="3" name="KSOProductBuildVer">
    <vt:lpwstr>2052-12.1.0.21171</vt:lpwstr>
  </property>
</Properties>
</file>